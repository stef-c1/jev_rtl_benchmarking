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deck reports the completed KEV v1.0 runs of the four sizes KEV-0.8B, KEV-4B, KEV-9B, and KEV-27B (B = about a billion parameters) on dataset v1 of the JEV_RTL study. RTL means register-transfer level: source code that describes digital hardware. KEV is the open decision model of the Jev family: it returns typed answers only (a yes probability, one choice, or one level), no text. Dataset v1 has 151 designs; the test split has 123 designs and 725 questions, the development split 28 designs and 150 questions. Experiment 1 (15 October 2026) sends the questions without examples. Experiment 2 (16 October 2026) sends the same 725 test questions, one per request, each with three solved development designs before the design. Each result slide shows both experiments side by side: the light bar is the score without examples, the dark bar the score with three examples. All findings are specific to this dataset and tool flow. No Jev, base Qwen, or commercial LLM result is included.</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design gets one QuestaSim vlog -sv run (compile check) and one run of MV’s flow at 500 MHz: Design Compiler U-2022.12-SP2 with compile_ultra (synthesis, cell area, worst slack) and PrimeTime (power with the power testbench), NanGate 15 nm, typical corner, 0.8 V, 25 C. These runs give the correct answers. The model receives the state fields rtl (all source files, top module last), top, flow (a fixed text with the tool, library, and constraints), and for the power questions tb_power. The correct_answer and evidence fields stay local for scoring; the Condor client sends only the state, the model name, and the questions to /v1/systemone. The questions of one design go in up to three requests (basic, reason, performance) so that no question shows the answer of another question; a pair request holds two designs. The score of a question type is the share of its test questions with a correct answer (plain accuracy; MV, 2026-10-19). The reference is the score of one fixed answer for every design, computed from the test labels.</a:t>
            </a:r>
          </a:p>
          <a:p/>
          <a:p>
            <a:r>
              <a:t>Evidence and reproducibility</a:t>
            </a:r>
          </a:p>
          <a:p>
            <a:r>
              <a:t>notes/README.md; notes/DATASET.md; harness/build.py; condor/kev_client.py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figure (presentations/src/plot_dataset_sources.py) counts the designs and the questions of dataset v1 per source dataset, both splits together. REvolution ASP-DAC 2026: LLM-written candidates of the REvolution loop for RTLLM and VerilogEval problems; these designs also form the pairs. MetRex: a public set of designs of many sizes. RTLLM v2.0: public, verified designs and ChatGPT-written files. ARES: own medium designs (v0). VerilogEval: public reference designs. A script edit of a base design (a mutant with one injected synthesis error, a trap pair of an accepted edit and a rejected twin, or a noncompile edit with one removed semicolon or one undeclared name) counts for the source of its base design. The plan ran 159 designs; 8 are excluded by the dataset rules (an unintended error class, or a twin that did not synthesize), so 151 designs remain: 123 in the test split and 28 in the development split. The split is per base design, so no edit of a test design is in the development split. Test designs per group: metrex 31 (of 40), mutant 9 (of 16), natural 17 (of 20), noncompile 8 (of 8), reference 11 (of 15), revold 28 (of 32), revolution 9 (of 10), trap 10 (of 10). The appendix lists the groups with their synthesis failures.</a:t>
            </a:r>
          </a:p>
          <a:p/>
          <a:p>
            <a:r>
              <a:t>Evidence and reproducibility</a:t>
            </a:r>
          </a:p>
          <a:p>
            <a:r>
              <a:t>presentations/src/plot_dataset_sources.py; presentations/data/dataset_v1_sources.csv; data/questions/dataset_v1.card.md; notes/DATASET.md</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question types of dataset v1 (notes/README.md). Does it compile: can QuestaSim vlog -sv accept the source? Does it synthesize: can Design Compiler build a complete gate-level netlist (no error, no unresolved module, no unmapped register)? In the test split 99 designs compile and synthesize, 15 compile but fail synthesis, and 9 fail both. Why does synthesis fail: the prompt states that Design Compiler does not synthesize the module and offers ten reasons; only designs that fail synthesis with messages of one class get this question (16 test designs; 8 further test designs with an injected compile error get no reason question). Area, power, reachable frequency, and slack: the model chooses one of five levels (next slide); only designs that synthesize get these questions (92 test designs; 85 of them have a usable power value). Pairs: two REvolution candidates of one problem, with the same flow and the same power testbench; a pair counts for a metric only if the two values differ by at least 10%. Each pair is asked in both orders (A/B and B/A), so 23 area pairs give 46 questions, 22 power pairs 44, and 6 frequency pairs 12. The yes/no answer of KEV is a probability; 0.5 or more counts as yes, as in the scorer. Test questions: 123 + 123 + 16 + 92 + 85 + 92 + 92 + 46 + 44 + 12 = 725.</a:t>
            </a:r>
          </a:p>
          <a:p/>
          <a:p>
            <a:r>
              <a:t>Evidence and reproducibility</a:t>
            </a:r>
          </a:p>
          <a:p>
            <a:r>
              <a:t>notes/README.md; notes/DATASET.md; notes/synth_yesno.md; notes/synth_reason.md; harness/build.py; data/questions/dataset_v1.jsonl</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RTL_flow_Nangate15: NanGate 15 nm, typical corner at 0.8 V and 25 C, Design Compiler compile_ultra -gate_clock, a 500 MHz target, input and output delay of 10% of the period, and 50 ps setup clock uncertainty. Area is the total cell area divided by 0.196608 µm², the area of NAND2_X1. Power is the PrimeTime total of dynamic and leakage power with the supplied power testbench; a power value counts only if the switching annotation is at least 95%. In the test split 85 of the 92 performance requests have a power label; the other 7 are excluded, not model errors. Worst slack is the smallest timing margin after synthesis at 500 MHz; a positive slack means that the netlist meets the target. Reachable frequency is the harness formula 1000 / (period in ns − slack in ns) MHz of that same netlist; it is not a new synthesis at a faster target. The example mac_int8 has 1437.97 ps of slack: 1 / (2 − 1.43797) ns = 1.779 GHz. The level ranges are lower-inclusive and upper-exclusive, except the open first and last ranges. Test labels per level 1 to 5: area 33, 28, 20, 9, 2; power 23, 37, 18, 7, 0; frequency 13, 16, 18, 45, 0; slack 0, 5, 8, 16, 63. So no test design has a negative slack (level 1), a frequency of 4 GHz or more (level 5), or a power of 10 mW or more (level 5).</a:t>
            </a:r>
          </a:p>
          <a:p/>
          <a:p>
            <a:r>
              <a:t>Evidence and reproducibility</a:t>
            </a:r>
          </a:p>
          <a:p>
            <a:r>
              <a:t>harness/build.py: AREA_EDGES_GE, POWER_EDGES_UW, SLACK_EDGES_NS, REACH_EDGES_MHZ; notes/DATASET.md; flow/RTL_flow_Nangate15/summary.sh</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2 (MV, 2026-10-16) asks the 725 test questions of experiment 1 again. Each request holds one question; experiment 1 sent up to four questions in one request (test split: 123 basic requests with 2 questions; 10 pair requests with 1 question; 28 pair requests with 2 questions; 12 pair requests with 3 questions; 7 performance requests with 3 questions; 85 performance requests with 4 questions; 16 reason requests with 1 question). The state of each request is the state of experiment 1 with one new first field, examples; the analysis checks this for all 725 requests. Kev answers each question in its own row (the state followed by that question), and the Kev README reports that asking questions together or separately gives probabilities within 4e-6 in its fp32 tests. One question per request therefore should not change an answer by itself; the examples are the change. Rules of the example sets (harness/fewshot.py): compile and synth get the two shortest development designs that the tool rejects (with different errors or classes) and the working base design of the first one; reason gets the three shortest failed designs of three classes; each level question gets the shortest development design in each level range 1 to 2, 3, and 4 to 5, with the exact value and the level text. A pair question gets the three designs of its metric with the exact value only, no level and no solved pair (MV’s rule). A failed example also shows the first vlog or DC error (an addition that MV accepted). No example shares a base design with a test design (checked here); harness/fewshot.py also excludes an example that implements the function of a test design. Exact Kev input tokens: median 2,155, maximum 8,607. 3 requests exceed 8,192 tokens, the validated context of Kev-0.8B, 4B, and 9B (Kev README; Kev-27B: 65,536): metrex_19218:area, metrex_19218:power, metrex_19218:slack. They are scored like all others.</a:t>
            </a:r>
          </a:p>
          <a:p/>
          <a:p>
            <a:r>
              <a:t>Evidence and reproducibility</a:t>
            </a:r>
          </a:p>
          <a:p>
            <a:r>
              <a:t>data/questions/dataset_v1_fewshot3.jsonl; data/questions/dataset_v1_fewshot3.card.md; harness/fewshot.py; notes/VERIFICATION.md item 14; condor/kev_src/README.md</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Every result slide uses this chart form. One panel is one question. Each model has two bars: the light bar is the score without examples (experiment 1, 15 October 2026) and the dark bar the score with three solved examples (experiment 2, 16 October 2026). The score is plain accuracy: the share of the test questions of that type with a correct answer (MV, 2026-10-19). For a yes/no question the label gives the score and then the correct answers on the designs where the tool says yes and on the designs where it says no; the two counts add up to the correct answers of the bar. A yes probability of 0.5 or more counts as yes, exactly as in the saved scorer. The dashed lines are the scores of a constant answer, computed from the test labels: for synthesis always yes scores 80.5% (99 of 123) and always no 19.5% (24 of 123). For a level question the label gives the score and the count of exact levels, and the dashed line is the most common level of the test labels. For a pair question the dashed line is 50%: both orders of each pair are asked, so a model that always answers A or always B is right exactly once per pair. A constant answer is a descriptive reference from the test labels, not a separate run and not a predictor chosen on the development split.</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scores of KEV-27B, the largest size, on the ten question keys, without examples and with three examples, with the score of a constant answer. The constant answer is the most common test label of each question: Does it compile?: “yes”: 92.7%; Does it synthesize?: “yes”: 80.5%; Why does synthesis fail? (told that it fails): one reason: 31.3%; Area level: level 1: 35.9%; Power level: level 2: 43.5%; Frequency level: level 4: 48.9%; Slack level: level 5: 68.5%; Smaller area of two designs: A: 50.0%; Lower power of two designs: A: 50.0%; Higher frequency of two designs: A: 50.0%. Compile: 122 of 123 without examples, 117 with examples; the examples add 6 wrong “no” answers on designs that compile. Synthesis: 102 and 108 of 123, against 99 for always yes; the best score of any size and experiment is 9 designs above always yes. Reason: 15 and 14 of 16, when the prompt says that synthesis failed. Area: 61 and 48 of 92 exact, all 92 within one level in both experiments. Power, frequency, slack: the best exact count of any size and experiment is 39 of 85 (constant 37), 36 of 92 (constant 45), and 63 of 92 (constant 63; this count is KEV-0.8B with level 5 for every design). Pairs with examples: 41 of 46, 35 of 44, 11 of 12; KEV-27B has the highest count of the four sizes on each pair question with examples. A smaller size leads in two places without examples: KEV-9B on the area pairs (40 of 46) and KEV-4B on the exact power level (39 of 85).</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One test set of 123 designs answers both questions. Each bar is the share of the 123 designs with a correct answer; beside it the correct answers on the designs where the tool says yes and where it says no. “Yes” answers of 123 without examples: compile 4, 123, 121, 115, synthesis 123, 122, 119, 118; with examples: compile 1, 119, 117, 108, synthesis 0, 120, 118, 108 (0.8B, 4B, 9B, 27B). Compile, KEV-27B: 114 of 114 yes and 8 of 9 no without examples; with examples 108 of 114 and 9 of 9, so the examples catch the last compile error but add 6 wrong no answers (p = 0.031 within the 114 designs that compile). KEV-0.8B answers no to compile for 119 of 123 designs without examples and 122 with examples: its 9 of 9 on the compile errors is a near-constant no, not a detection (MV asked about this on 2026-10-16). Synthesis, KEV-27B: 98 of 99 yes and 4 of 24 no without examples; 96 of 99 and 12 of 24 with examples (within the 24 failures: 8 gained, 0 lost, p = 0.0078; all 123: p = 0.11). Designs above the nearer constant answer, synthesis: without examples 0, -1, 0, 3; with examples -75, 1, 3, 9 (0.8B with examples: 0 yes answers, so it sits on the always-no line). In this test set every design that vlog rejects also fails synthesis. One design changes a score by 0.8 percentage points. The appendix gives every yes probability and the class counts.</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 derived subgroup analysis of the synthesis answers: the 24 failing test designs are split by the compile label of the same design. All bars are synthesis yes/no decisions at the 0.5 threshold; the right panel is not the separate compile answer. Failures that compile (15), answered no: without examples 0, 0, 1, 0; with examples 15, 1, 2, 4 (0.8B, 4B, 9B, 27B). Failures that do not compile (9): without examples 0, 0, 1, 4; with examples 9, 1, 2, 8. KEV-0.8B with examples gives every one of the 123 designs a synthesis probability below 0.5, so its 15 of 15 and 9 of 9 are a constant no, not a detection. Ranking (AUROC of the 99 successes against each subgroup), KEV-27B: 0.881 for the 15 and 0.980 for the 9 with examples (without examples 0.713 and 0.982). The 15 failures that compile are 9 mutants with one injected synthesis error and 6 rejected trap twins; the 9 that do not compile are 8 noncompile edits and 1 natural failure. Small subgroups: no general claim.</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ten options of the failure-reason question exactly as the model reads them (option name, then its text). Every one of the 25 reason questions in dataset v1 offers the same ten options in the same order. The columns count the reason questions whose correct answer is that option: 16 in the test split and 9 in the development split. In the test split, 8 of the ten options occur; event_list and unbounded_loop occur only in the development split, once each. The correct answer comes from the Design Compiler message IDs (and the vlog result to separate illegal_code from unsupported_construct), with the rules in notes/synth_reason.md; a design is kept only if all its messages belong to one class. 22 of the 25 failing designs are injected one-construct edits of a working design (mutants and the rejected twins of the trap pairs). The other 3 are natural failures: one MetRex design and two LLM-written candidates. 8 further test designs fail synthesis with illegal_code; they are the injected compile errors (one removed semicolon or one undeclared name) and get only the yes/no questions, by the dataset rules. MV asked for this table on 2026-10-16.</a:t>
            </a:r>
          </a:p>
          <a:p/>
          <a:p>
            <a:r>
              <a:t>Evidence and reproducibility</a:t>
            </a:r>
          </a:p>
          <a:p>
            <a:r>
              <a:t>data/questions/dataset_v1.jsonl (records with request = reason); notes/synth_reason.md; notes/DATASET.md; presentations/data/verified_metrics.json</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Left panel: correct reason choices of 16 without examples 5, 9, 11, 15, with examples 1, 10, 11, 14 (0.8B, 4B, 9B, 27B). The dashed line is the most common class, simulation_statement (5 of 16). The instruction states the failure, so this score is conditional on a known failure; it is not detection. KEV-27B without examples is wrong on the one multiple_drivers design (it chooses async_reset); with examples it is wrong on the multiple_drivers design and the async_reset design, and chooses event_list for both. event_list is one of the three example classes and the class of no test design; the models choose it 16 times with examples (7, 3, 4, 2) and 6 times without (0, 3, 3, 0). This is an observation on one example set; the cause is not tested. Right table: for each of the 16 reason-test designs, the synthesis yes/no answer of the same design (from its own request, where the prompt does not state the failure) is matched with the reason answer. Says that synthesis fails: 0, 0, 1, 0 without examples, 16, 1, 2, 5 with examples; names the reason: 5, 9, 11, 15 and 1, 10, 11, 14; both: 0, 0, 1, 0 and 1, 1, 2, 5. KEV-0.8B with examples answers no to the synthesis question for every one of the 123 designs, so its 16 of 16 carries no information. The reason subset has 16 known failures; the full synthesis test has 24 failures, because 8 noncompile designs get no reason request. These are matched saved answers, not a deployed detection-and-diagnosis pipeline.</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levels of 92: without examples 33, 33, 53, 61, with examples 2, 46, 50, 48 (0.8B, 4B, 9B, 27B); within one level: 61, 65, 83, 92 and 11, 86, 85, 92. KEV-27B: 61 to 48 exact (p = 0.029, paired McNemar test), all 92 within one level in both experiments. The dashed line is always level 1, the most common test label (33 of 92). Exact power levels of 85: without examples 23, 39, 34, 9, with examples 0, 34, 24, 36; within one level: 70, 78, 79, 55 and 7, 75, 59, 74. KEV-27B: 9 to 36 exact (p &lt; 0.001); KEV-4B has the best count without examples (39). Always level 2 scores 37 of 85; only the KEV-4B bar without examples is above it, by 2 designs. KEV-0.8B with examples chooses level 5 for all 92 area designs and all 85 power designs, so its exact scores are 2 of 92 and 0 of 85. The level ranges are decades, so a within-one answer can still be off by a factor of 10. Power depends on the synthesized design and on the stimulus of its testbench, which the model receives. The examples of the area question: 71.5 GE (level 1)  •  1,323.3 GE (level 3)  •  519,474.0 GE (level 5); of the power question: 12.48 µW (level 2)  •  300.8 µW (level 3)  •  26.2 mW (level 5).</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frequency levels of 92: without examples 13, 11, 13, 13, with examples 22, 21, 15, 36 (0.8B, 4B, 9B, 27B). Exact slack levels of 92: 8, 4, 3, 30 and 63, 10, 15, 60. The constant answers are the most common test labels: frequency level 4 (45 of 92) and slack level 5 (63 of 92). KEV-27B improves with examples on both (frequency p &lt; 0.001, slack p &lt; 0.001) and stays below the constant answer. KEV-0.8B with examples chooses slack level 5 for all 92 designs; it ties the constant answer and does not beat it. Both timing levels come from the same netlist synthesized at 500 MHz, so the two questions are linked: the reachable frequency is 1 / (2 ns − slack). No test design misses the 500 MHz target, so missed timing violations are not tested. The examples of the frequency question: 612 MHz (level 1)  •  2,137 MHz (level 3)  •  3,572 MHz (level 4); of the slack question: +0.365 ns (level 2)  •  +0.962 ns (level 3)  •  +1.532 ns (level 5). Level accuracy is not a timing error in picoseconds or MHz.</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frequency: tool counts at levels 1 to 5 13, 16, 18, 45, 0; chosen without examples 90, 0, 0, 0, 2; with examples 29, 1, 30, 32, 0. Power: tool 23, 37, 18, 7, 0; chosen without examples 0, 0, 54, 30, 1; with examples 0, 41, 25, 13, 6. “Closer” means a smaller sum over the five levels of |chosen count − tool count|: frequency 56 with examples against 158 without; power 46 against 120. Equal counts do not mean correct answers: a design can get a level of the right count but the wrong design; the exact scores are on the two previous slides. Without examples KEV-27B chooses the lowest frequency level for nearly every design and only the high power levels 3 to 5, although 60 of the 85 power labels are levels 1 and 2. These counts show a bias in the chosen levels, not its cause. Both charts use the same 0 to 100 scale.</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two REvolution candidates of the same problem with the same flow and the same power testbench; a question is kept for a metric if the two values differ by at least 10%, so there are no ties. Each pair is sent as A/B and as B/A, so the correct letters are balanced and a constant letter scores exactly 50%. Correct answers without examples: area 22, 35, 40, 36 of 46, power 28, 25, 29, 31 of 44, frequency 8, 10, 9, 10 of 12 (0.8B, 4B, 9B, 27B); with examples: area 23, 31, 35, 41, power 24, 28, 31, 35, frequency 6, 6, 9, 11. Pairs right in both orders, KEV-27B: area 17 to 20 of 23, power 14 to 17 of 22, frequency 5 to 5 of 6 (the appendix has all sizes). Paired McNemar tests of KEV-27B: area p = 0.062, power p = 0.12, frequency p = 1: KEV-27B has the highest count with examples, but no change against experiment 1 has p &lt; 0.05. Without examples KEV-9B leads the area pairs with 40 of 46. KEV-0.8B with examples answers A for all 46 area questions and B for all 12 frequency questions; KEV-4B answers B for all 12 frequency questions. The two orders share designs and different pairs can share candidates, so the questions are not independent samples. The pair questions show the three examples of their metric with the exact values only.</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Supported: the measured scores of KEV-27B that are far above the constant answer in at least one experiment: the compile check, the failure reason with a known failure, the exact area level, and the pair questions. Not supported: the synthesis check (the best score of any size and experiment is 9 designs above always yes), the power, frequency, and slack levels (only KEV-4B on power without examples is above the dashed line, by 2 designs), and KEV-0.8B as a whole (with examples it gives one answer to every design in 6 of 10 question keys: synthesizes, area, power, slack, smaller_area, higher_reach). The yes/no examples hold one yes and two no designs (MV’s setup); the effect of this mix is not measured. event_list is the class of one reason example and of no test design. Any threshold or example-set choice must use the development split, not these test labels. The test set has no negative-slack design, no level-5 power design, and no level-5 frequency design. Not measured: Jev, base Qwen, commercial LLMs, renamed or commented controls, energy per operation, post-route timing, and measured silicon.</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tables give all primary scores of the four sizes in both experiments with the paired test of each change, the yes/no class counts, every yes probability, the reason classes, the probability metrics, the level tolerance and error, the pair order counts, the design groups, the Condor runs, and the files with their checksums. There is no single overall score across the question types, because the types have different meanings, counts, and label mixes.</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complete primary table of both experiments from the saved scorer, reproduced from the raw answers. Yes/no scores use the threshold 0.5. The reason score is conditional on the prompt stating the failure. Area, power, frequency, and slack require the exact level. Pair scores count both orders of each pair as separate questions. For each size and question key the questions are matched one to one (the question ID of experiment 1 is in the field source_question_id of experiment 2). b = questions correct only without examples, c = questions correct only with examples; the exact two-sided McNemar p value is the binomial test of b against b + c with probability 0.5 (the rule of harness/compare.py; the analysis recomputes it and checks it against each compare_with_dataset_v1.json). p &lt; 0.05: 0.8B Does it synthesize?, 0.8B Area: exact level, 0.8B Power: exact level, 0.8B Slack: exact level, 9B Slack: exact level, 27B Area: exact level, 27B Power: exact level, 27B Frequency: exact level, 27B Slack: exact level. The KEV-0.8B changes with p &lt; 0.05 come with one answer for every design (synthesis no; area, power, and slack level 5). The test counts changed answers only; it says nothing about the reason for a change. No correction for the 40 tests is applied. Counts per cell: 0.8B Does it compile? 13 → 10 of 123 (p = 0.38), Does it synthesize? 99 → 24 of 123 (p &lt; 0.001), Failure reason (told) 5 → 1 of 16 (p = 0.22), Area: exact level 33 → 2 of 92 (p &lt; 0.001), Power: exact level 23 → 0 of 85 (p &lt; 0.001), Frequency: exact level 13 → 22 of 92 (p = 0.11), Slack: exact level 8 → 63 of 92 (p &lt; 0.001), Pair: smaller area 22 → 23 of 46 (p = 1), Pair: lower power 28 → 24 of 44 (p = 0.29), Pair: higher frequency 8 → 6 of 12 (p = 0.62); 4B Does it compile? 114 → 116 of 123 (p = 0.62), Does it synthesize? 98 → 100 of 123 (p = 0.5), Failure reason (told) 9 → 10 of 16 (p = 1), Area: exact level 33 → 46 of 92 (p = 0.098), Power: exact level 39 → 34 of 85 (p = 0.38), Frequency: exact level 11 → 21 of 92 (p = 0.064), Slack: exact level 4 → 10 of 92 (p = 0.11), Pair: smaller area 35 → 31 of 46 (p = 0.39), Pair: lower power 25 → 28 of 44 (p = 0.45), Pair: higher frequency 10 → 6 of 12 (p = 0.12); 9B Does it compile? 116 → 116 of 123 (p = 1), Does it synthesize? 99 → 102 of 123 (p = 0.25), Failure reason (told) 11 → 11 of 16 (p = 1), Area: exact level 53 → 50 of 92 (p = 0.76), Power: exact level 34 → 24 of 85 (p = 0.12), Frequency: exact level 13 → 15 of 92 (p = 0.85), Slack: exact level 3 → 15 of 92 (p = 0.0042), Pair: smaller area 40 → 35 of 46 (p = 0.27), Pair: lower power 29 → 31 of 44 (p = 0.82), Pair: higher frequency 9 → 9 of 12 (p = 1); 27B Does it compile? 122 → 117 of 123 (p = 0.12), Does it synthesize? 102 → 108 of 123 (p = 0.11), Failure reason (told) 15 → 14 of 16 (p = 1), Area: exact level 61 → 48 of 92 (p = 0.029), Power: exact level 9 → 36 of 85 (p &lt; 0.001), Frequency: exact level 13 → 36 of 92 (p &lt; 0.001), Slack: exact level 30 → 60 of 92 (p &lt; 0.001), Pair: smaller area 36 → 41 of 46 (p = 0.062), Pair: lower power 31 → 35 of 44 (p = 0.12), Pair: higher frequency 10 → 11 of 12 (p = 1).</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four binary groups (compile: 114 designs that compile and 9 that do not; synthesis: 99 that synthesize and 24 that do not) with the correct answers of each size in both experiments; wrong counts are the group size minus the correct count. The all-designs rows are plain accuracy, the score of the result slides. The yes rows count the answers with a yes probability of 0.5 or more among all 123 designs: correct answers on the yes group plus wrong answers on the no group. Paired McNemar tests within each group, no examples against three examples: 0.8B compiles yes group 1 gained, 4 lost (p = 0.38); 0.8B compiles no group 0 gained, 0 lost (p = 1); 0.8B synthesizes yes group 0 gained, 99 lost (p &lt; 0.001); 0.8B synthesizes no group 24 gained, 0 lost (p &lt; 0.001); 4B compiles yes group 0 gained, 1 lost (p = 1); 4B compiles no group 3 gained, 0 lost (p = 0.25); 4B synthesizes yes group 0 gained, 0 lost (p = 1); 4B synthesizes no group 2 gained, 0 lost (p = 0.5); 9B compiles yes group 0 gained, 2 lost (p = 0.5); 9B compiles no group 2 gained, 0 lost (p = 0.5); 9B synthesizes yes group 1 gained, 0 lost (p = 1); 9B synthesizes no group 2 gained, 0 lost (p = 0.5); 27B compiles yes group 0 gained, 6 lost (p = 0.031); 27B compiles no group 1 gained, 0 lost (p = 1); 27B synthesizes yes group 0 gained, 2 lost (p = 0.5); 27B synthesizes no group 8 gained, 0 lost (p = 0.0078). KEV-0.8B answers yes to synthesis for all 123 designs without examples and no for all 123 with examples. KEV-4B answers yes to compile for all 123 designs without examples.</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test design in experiment 1. In each model row, the upper teal dots are the designs that the tool accepts and the lower orange dots the designs that the tool rejects. The small vertical spread in each lane comes from a fixed hash of the question ID and only reduces overlap; it carries no data. A probability of 0.5 or more counts as yes, as in the saved scorer. “Yes” answers of 123: compile 4, 123, 121, 115, synthesis 123, 122, 119, 118 (0.8B, 4B, 9B, 27B). KEV-0.8B probabilities: compile 0.30 to 0.53, synthesis 0.52 to 0.74, for successes and failures alike (AUROC 0.563 and 0.490; 0.5 is chance). KEV-27B synthesis: the 9 failures that also fail vlog: 4 below 0.5 (AUROC against the successes 0.982); the 15 failures that pass vlog: 0 below 0.5, probabilities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test design in experiment 2. In each model row, the upper teal dots are the designs that the tool accepts and the lower orange dots the designs that the tool rejects. The small vertical spread in each lane comes from a fixed hash of the question ID and only reduces overlap; it carries no data. A probability of 0.5 or more counts as yes, as in the saved scorer. “Yes” answers of 123: compile 1, 119, 117, 108, synthesis 0, 120, 118, 108 (0.8B, 4B, 9B, 27B). KEV-0.8B probabilities: compile 0.21 to 0.50, synthesis 0.14 to 0.49, for successes and failures alike (AUROC 0.577 and 0.566; 0.5 is chance). KEV-27B synthesis: the 9 failures that also fail vlog: 8 below 0.5 (AUROC against the successes 0.980); the 15 failures that pass vlog: 4 below 0.5, probabilities 0.20 to 0.87 (AUROC 0.881).</a:t>
            </a:r>
          </a:p>
          <a:p/>
          <a:p>
            <a:r>
              <a:t>Evidence and reproducibility</a:t>
            </a:r>
          </a:p>
          <a:p>
            <a:r>
              <a:t>results/kev/*/dataset_v1*__*.jsonl; presentations/src/analyse_kev.py; github.com/jaredpalmer/kev README and evals/ (commit 5e42a7a)</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of the 16 test designs, with the correct answers of each size in both experiments. The scorer’s balanced accuracy weights the eight observed class recalls equally; event_list and unbounded_loop have no test design and are excluded from it. Five simulation-only designs and three timing-control designs give those classes more weight in the plain score than the one-design classes. Wrong answers with examples, per size (true class: chosen class and count): 0.8B: multiple_drivers → async_reset ×1, illegal_code → async_reset ×1, unsupported_construct → event_list ×1, timing_control → event_list ×2, simulation_statement → async_reset ×3, event_list ×1, multiple_drivers ×1, async_reset → multiple_drivers ×1, mixed_assignments → event_list ×2, instance_mismatch → multiple_drivers ×1, event_list ×1; 4B: multiple_drivers → event_list ×1, illegal_code → unbounded_loop ×1, async_reset → event_list ×1, mixed_assignments → event_list ×1, async_reset ×1, instance_mismatch → multiple_drivers ×1; 9B: multiple_drivers → event_list ×1, illegal_code → unbounded_loop ×1, async_reset → event_list ×1, mixed_assignments → event_list ×2; 27B: multiple_drivers → event_list ×1, async_reset → event_list ×1. event_list answers per size: 0, 3, 3, 0 without examples, 7, 3, 4, 2 with examples. Do not read this as a broad ten-class validation.</a:t>
            </a:r>
          </a:p>
          <a:p/>
          <a:p>
            <a:r>
              <a:t>Evidence and reproducibility</a:t>
            </a:r>
          </a:p>
          <a:p>
            <a:r>
              <a:t>notes/synth_reason.md; data/questions/dataset_v1.jsonl; presentations/data/verified_metrics.json; presentations/data/verified_metrics_fewshot3.json</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design that the tool accepts has a higher yes probability than a randomly chosen design that the tool rejects, ties counted as half. It ranges from 0 to 1; 0.5 is chance. It does not depend on the decision threshold and is not failure recall. The Brier score is the mean of (yes probability − truth)², from 0 to 1, lower is better; it measures probability error, not calibration alone. Both use all 123 test designs. KEV-27B synthesis AUROC 0.814 to 0.918; its failure recall at 0.5 is 16.7% to 50.0%. Any threshold tuning must use the development split, not these test labels; no recalibrated or alternative-threshold result has been run.</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most likely level against the true level: the two differ by at most one. The mean absolute level error (mae_levels) uses the probability-weighted expected level, sum(k × p_k) / sum(p_k), and averages |expected − true|; so it is not the error of the most likely level and need not follow the exact score. Counts: 92 area, 85 power, 92 frequency, 92 slack. KEV-0.8B with examples gives level 5 to every design for area, power, and slack, so its within-one score is the share of true levels 4 and 5: area 12.0%, power 8.2%, slack 85.9%. All values come from the scorer and are verified against the raw answers with a tolerance of 1e-12.</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 pair with opposite correct letters in the two orders, the two answers of a model fall into 0, 1, or 2 correct. The both-orders count is read from the paired saved answers, not estimated from percentages. One order correct equals the same letter in both orders (the scorer’s same_letter_both_orders rate times the number of pairs); it is not an accuracy measure. A consistent swap of the letter can still choose the wrong design in both orders. A model with one letter for every question has every pair in one order correct (KEV-0.8B area and frequency, KEV-4B frequency, with examples). The pairs share designs and problem families, so the questions are not independent samples. Each row triplet sums to the number of pairs (checked).</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the retained basic design records only, not on requests or pair questions. All retained designs total 151 and test designs 123. The plan ran 159 designs; 8 were excluded: 4 mutants with an unintended class, 2 trap twins that did not synthesize as required, and 2 noncompile designs whose DC class was not the intended one. Twelve retained performance designs across both splits have no usable power value, leaving 98 power questions overall and 85 in the test split. The dataset also skips pairs with incompatible testbenches or with a metric difference below 10%. Some groups contain near variants; the split per base design prevents a design and its edit from being in different splits (checked in analyse_kev.py). Names of the sources follow MV (2026-10-16): the REvolution v0 designs are ARES.</a:t>
            </a:r>
          </a:p>
          <a:p/>
          <a:p>
            <a:r>
              <a:t>Evidence and reproducibility</a:t>
            </a:r>
          </a:p>
          <a:p>
            <a:r>
              <a:t>data/questions/dataset_v1.card.md; notes/DATASET.md; harness/build.py; presentations/data/verified_metrics.json</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1: Condor jobs 4.0, 5.0, 6.0, 7.0 completed with return code 0 on 15 October 2026; job execution seconds 125, 187, 204, 400 (setup, smoke file, and inference, without the queue wait); median server-reported model times 109.0, 201.4, 243.7, 668.3 ms over the 348 requests. KEV-0.8B ran on euler (RTX 3080 Ti); the larger sizes on aristoteles (A100-SXM4-80GB). Experiment 2: jobs 8.0, 9.0, 10.0, 11.0 on goryu, hawberry, euler, aristoteles; execution seconds 276, 599, 418, 1074; median model times 178.9, 555.2, 300.7, 1062.0 ms over the 725 requests; peak GPU memory of the Kev server 6,668, 21,736, 28,458, 74,418 MiB. Every model used the same v1.0 checkpoint revision in both experiments. The requests above 8,192 tokens are metrex_19218:area, metrex_19218:power, metrex_19218:slack; Kev-27B is validated to 65,536 tokens. No dollar cost is measured.</a:t>
            </a:r>
          </a:p>
          <a:p/>
          <a:p>
            <a:r>
              <a:t>Evidence and reproducibility</a:t>
            </a:r>
          </a:p>
          <a:p>
            <a:r>
              <a:t>results/kev/*/manifest.json; condor/logs/*.log</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"job_1": "4.0",</a:t>
            </a:r>
          </a:p>
          <a:p>
            <a:r>
              <a:t>    "job_2": "8.0",</a:t>
            </a:r>
          </a:p>
          <a:p>
            <a:r>
              <a:t>    "revision": "bf75a6a8848ea6960ff2ed108d9ed44c2941174f",</a:t>
            </a:r>
          </a:p>
          <a:p>
            <a:r>
              <a:t>    "answers_1": "results/kev/dataset_v1_kev-0.8b_20261014/dataset_v1__kev-0.8b.jsonl",</a:t>
            </a:r>
          </a:p>
          <a:p>
            <a:r>
              <a:t>    "answers_1_sha256": "c2b175aacc788e57d7b3fbc042432c9d3fac78384ae37bc976f8bf52d9c22046",</a:t>
            </a:r>
          </a:p>
          <a:p>
            <a:r>
              <a:t>    "answers_2": "results/kev/dataset_v1_fewshot3_kev-0.8b_20261016/dataset_v1_fewshot3__kev-0.8b.jsonl",</a:t>
            </a:r>
          </a:p>
          <a:p>
            <a:r>
              <a:t>    "answers_2_sha256": "8f99dca6875fb0d3e1347ceec24b5ca87e15305b713faedc4e36d029e9460fad"</a:t>
            </a:r>
          </a:p>
          <a:p>
            <a:r>
              <a:t>  },</a:t>
            </a:r>
          </a:p>
          <a:p>
            <a:r>
              <a:t>  "kev-4b": {</a:t>
            </a:r>
          </a:p>
          <a:p>
            <a:r>
              <a:t>    "job_1": "5.0",</a:t>
            </a:r>
          </a:p>
          <a:p>
            <a:r>
              <a:t>    "job_2": "9.0",</a:t>
            </a:r>
          </a:p>
          <a:p>
            <a:r>
              <a:t>    "revision": "6cfce5c2fa4b4bd64026336ab649c5ca78857d52",</a:t>
            </a:r>
          </a:p>
          <a:p>
            <a:r>
              <a:t>    "answers_1": "results/kev/dataset_v1_kev-4b_20261015/dataset_v1__kev-4b.jsonl",</a:t>
            </a:r>
          </a:p>
          <a:p>
            <a:r>
              <a:t>    "answers_1_sha256": "9f68340c80d407377a5288c970bab9a1af2a203aa6128c56a80555dece270b6e",</a:t>
            </a:r>
          </a:p>
          <a:p>
            <a:r>
              <a:t>    "answers_2": "results/kev/dataset_v1_fewshot3_kev-4b_20261016/dataset_v1_fewshot3__kev-4b.jsonl",</a:t>
            </a:r>
          </a:p>
          <a:p>
            <a:r>
              <a:t>    "answers_2_sha256": "e09c42166afd73b1e8dbde69b397e057b8de695bfddcfd6a5650bf8e664ec13f"</a:t>
            </a:r>
          </a:p>
          <a:p>
            <a:r>
              <a:t>  },</a:t>
            </a:r>
          </a:p>
          <a:p>
            <a:r>
              <a:t>  "kev-9b": {</a:t>
            </a:r>
          </a:p>
          <a:p>
            <a:r>
              <a:t>    "job_1": "6.0",</a:t>
            </a:r>
          </a:p>
          <a:p>
            <a:r>
              <a:t>    "job_2": "10.0",</a:t>
            </a:r>
          </a:p>
          <a:p>
            <a:r>
              <a:t>    "revision": "db029f08b290afd9fee4aa4bbcd9ae48602d1eb0",</a:t>
            </a:r>
          </a:p>
          <a:p>
            <a:r>
              <a:t>    "answers_1": "results/kev/dataset_v1_kev-9b_20261015/dataset_v1__kev-9b.jsonl",</a:t>
            </a:r>
          </a:p>
          <a:p>
            <a:r>
              <a:t>    "answers_1_sha256": "5c69346a7c9211caaff5f0e6067e82a5f6022519029d5cd1634697a1710fde34",</a:t>
            </a:r>
          </a:p>
          <a:p>
            <a:r>
              <a:t>    "answers_2": "results/kev/dataset_v1_fewshot3_kev-9b_20261016/dataset_v1_fewshot3__kev-9b.jsonl",</a:t>
            </a:r>
          </a:p>
          <a:p>
            <a:r>
              <a:t>    "answers_2_sha256": "b71ac8dd4a892adcfe5471e56ae757f62889a420024fa706eb2f93fea7b3cf5b"</a:t>
            </a:r>
          </a:p>
          <a:p>
            <a:r>
              <a:t>  },</a:t>
            </a:r>
          </a:p>
          <a:p>
            <a:r>
              <a:t>  "kev-27b": {</a:t>
            </a:r>
          </a:p>
          <a:p>
            <a:r>
              <a:t>    "job_1": "7.0",</a:t>
            </a:r>
          </a:p>
          <a:p>
            <a:r>
              <a:t>    "job_2": "11.0",</a:t>
            </a:r>
          </a:p>
          <a:p>
            <a:r>
              <a:t>    "revision": "af0e6d551bdc2cc724f3e9d7a8bee1cd4fb8f7bf",</a:t>
            </a:r>
          </a:p>
          <a:p>
            <a:r>
              <a:t>    "answers_1": "results/kev/dataset_v1_kev-27b_20261015/dataset_v1__kev-27b.jsonl",</a:t>
            </a:r>
          </a:p>
          <a:p>
            <a:r>
              <a:t>    "answers_1_sha256": "c643020e0b73e9627c81fb7b0429556c70969cfef7074b7e4f6fc71d1349bf19",</a:t>
            </a:r>
          </a:p>
          <a:p>
            <a:r>
              <a:t>    "answers_2": "results/kev/dataset_v1_fewshot3_kev-27b_20261016/dataset_v1_fewshot3__kev-27b.jsonl",</a:t>
            </a:r>
          </a:p>
          <a:p>
            <a:r>
              <a:t>    "answers_2_sha256": "6df2d313de200b3c7b222a8b607ea5de9f2ac53a26c6d96b4d9c357b6abf4fea"</a:t>
            </a:r>
          </a:p>
          <a:p>
            <a:r>
              <a:t>  }</a:t>
            </a:r>
          </a:p>
          <a:p>
            <a:r>
              <a:t>}</a:t>
            </a:r>
          </a:p>
          <a:p>
            <a:r>
              <a:t>All times are the local time of mercury (CEST) as recorded in the manifests. The build verifies unique request IDs, HTTP 200 for every answer, the answer key of each question, no shared base design between the splits, the dataset fingerprints, the server input tokens against the builder counts (experiment 2), the smoke answers, the saved scores against freshly recomputed scores (tolerance 1e-12), and every paired comparison against compare_with_dataset_v1.json. The theme and the slide masters come from the supplied TinyTapeOut reference deck.</a:t>
            </a:r>
          </a:p>
          <a:p/>
          <a:p>
            <a:r>
              <a:t>Evidence and reproducibility</a:t>
            </a:r>
          </a:p>
          <a:p>
            <a:r>
              <a:t>data/questions/dataset_v1.jsonl; data/questions/dataset_v1_fewshot3.jsonl; results/kev/*/; harness/score.py; harness/compare.py</a:t>
            </a:r>
          </a:p>
          <a:p>
            <a:r>
              <a:t>All results use the test split: 123 designs, 725 questions. No examples = experiment 1 (Condor jobs 4.0 to 7.0, 15 October 2026); three examples = experiment 2 (Condor jobs 8.0 to 11.0, 16 October 2026).</a:t>
            </a:r>
          </a:p>
          <a:p>
            <a:r>
              <a:t>Dataset SHA-256: 96814ea63d89b98af7f87c5f6d8e5fe0f35ec710c30755c9d0723fbec4ddbe2a (dataset_v1.jsonl); 4c4d74d86c5e96e7440a7fa7716945f9212b3382ad7b6e0584e0414ca53b5f15 (dataset_v1_fewshot3.jsonl).</a:t>
            </a:r>
          </a:p>
          <a:p>
            <a:r>
              <a:t>Verified calculations: presentations/data/verified_metrics.json, verified_metrics_fewshot3.json, compare_fewshot3.csv (presentations/src/analyse_kev.py).</a:t>
            </a:r>
          </a:p>
          <a:p>
            <a:r>
              <a:t>Rebuild: /users/micas/scuycken/no_backup/miniconda3/envs/mx_env/bin/python presentations/src/build_kev_findings.py</a:t>
            </a:r>
          </a:p>
          <a:p>
            <a:r>
              <a:t>Visual style: pwp_example/TinyTapeOut 2026 jullie feedback.pptx; theme and slide masters retained. All charts and tables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JEV_RTL STUDY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9144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Eight questions, four model sizes, 123 test designs,</a:t>
            </a:r>
          </a:p>
          <a:p>
            <a:pPr algn="l">
              <a:lnSpc>
                <a:spcPct val="109000"/>
              </a:lnSpc>
              <a:spcBef>
                <a:spcPts val="0"/>
              </a:spcBef>
              <a:spcAft>
                <a:spcPts val="0"/>
              </a:spcAft>
            </a:pPr>
            <a:r>
              <a:rPr sz="2300" b="0">
                <a:solidFill>
                  <a:srgbClr val="BFDDEC"/>
                </a:solidFill>
                <a:latin typeface="Arial"/>
              </a:rPr>
              <a:t>without and with three solved examples</a:t>
            </a:r>
          </a:p>
        </p:txBody>
      </p:sp>
      <p:sp>
        <p:nvSpPr>
          <p:cNvPr id="6" name="TextBox 5"/>
          <p:cNvSpPr txBox="1"/>
          <p:nvPr/>
        </p:nvSpPr>
        <p:spPr>
          <a:xfrm>
            <a:off x="813816" y="5760720"/>
            <a:ext cx="1042416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Runs of 15 October 2026 (no examples) and 16 October 2026 (three examples)  •  Deck of 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test in one picture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tools and KEV get the same RTL design. The score counts the KEV answers that agree with the tools.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2286000"/>
            <a:ext cx="2468880" cy="141732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2286000"/>
            <a:ext cx="24688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414016"/>
            <a:ext cx="201168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RTL design</a:t>
            </a:r>
          </a:p>
        </p:txBody>
      </p:sp>
      <p:sp>
        <p:nvSpPr>
          <p:cNvPr id="9" name="TextBox 8"/>
          <p:cNvSpPr txBox="1"/>
          <p:nvPr/>
        </p:nvSpPr>
        <p:spPr>
          <a:xfrm>
            <a:off x="1042416" y="2788920"/>
            <a:ext cx="2011680" cy="85039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Verilog source, top module, flow description. Power questions also get the testbench.</a:t>
            </a:r>
          </a:p>
        </p:txBody>
      </p:sp>
      <p:sp>
        <p:nvSpPr>
          <p:cNvPr id="10" name="Rounded Rectangle 9"/>
          <p:cNvSpPr/>
          <p:nvPr/>
        </p:nvSpPr>
        <p:spPr>
          <a:xfrm>
            <a:off x="4069080" y="1810512"/>
            <a:ext cx="3657600" cy="118872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69080" y="1810512"/>
            <a:ext cx="365760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938528"/>
            <a:ext cx="320040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Reference tools</a:t>
            </a:r>
          </a:p>
        </p:txBody>
      </p:sp>
      <p:sp>
        <p:nvSpPr>
          <p:cNvPr id="13" name="TextBox 12"/>
          <p:cNvSpPr txBox="1"/>
          <p:nvPr/>
        </p:nvSpPr>
        <p:spPr>
          <a:xfrm>
            <a:off x="4297680" y="2313432"/>
            <a:ext cx="3200400" cy="62179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QuestaSim vlog, Design Compiler, PrimeTime give the correct answer.</a:t>
            </a:r>
          </a:p>
        </p:txBody>
      </p:sp>
      <p:sp>
        <p:nvSpPr>
          <p:cNvPr id="14" name="Rounded Rectangle 13"/>
          <p:cNvSpPr/>
          <p:nvPr/>
        </p:nvSpPr>
        <p:spPr>
          <a:xfrm>
            <a:off x="4069080" y="2990088"/>
            <a:ext cx="3657600" cy="118872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69080" y="2990088"/>
            <a:ext cx="365760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3118104"/>
            <a:ext cx="320040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KEV 0.8B, 4B, 9B, 27B</a:t>
            </a:r>
          </a:p>
        </p:txBody>
      </p:sp>
      <p:sp>
        <p:nvSpPr>
          <p:cNvPr id="17" name="TextBox 16"/>
          <p:cNvSpPr txBox="1"/>
          <p:nvPr/>
        </p:nvSpPr>
        <p:spPr>
          <a:xfrm>
            <a:off x="4297680" y="3493008"/>
            <a:ext cx="3200400" cy="62179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One typed answer per question, no text: a yes probability, a choice, or a level.</a:t>
            </a:r>
          </a:p>
        </p:txBody>
      </p:sp>
      <p:sp>
        <p:nvSpPr>
          <p:cNvPr id="18" name="Rounded Rectangle 17"/>
          <p:cNvSpPr/>
          <p:nvPr/>
        </p:nvSpPr>
        <p:spPr>
          <a:xfrm>
            <a:off x="8503920" y="2286000"/>
            <a:ext cx="2871216" cy="141732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03920" y="2286000"/>
            <a:ext cx="2871216"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2414016"/>
            <a:ext cx="2414016"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Score</a:t>
            </a:r>
          </a:p>
        </p:txBody>
      </p:sp>
      <p:sp>
        <p:nvSpPr>
          <p:cNvPr id="21" name="TextBox 20"/>
          <p:cNvSpPr txBox="1"/>
          <p:nvPr/>
        </p:nvSpPr>
        <p:spPr>
          <a:xfrm>
            <a:off x="8732520" y="2788920"/>
            <a:ext cx="2414016" cy="85039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Correct answers divided by questions. Reference: the score of one fixed answer for every design.</a:t>
            </a:r>
          </a:p>
        </p:txBody>
      </p:sp>
      <p:cxnSp>
        <p:nvCxnSpPr>
          <p:cNvPr id="22" name="Connector 21"/>
          <p:cNvCxnSpPr/>
          <p:nvPr/>
        </p:nvCxnSpPr>
        <p:spPr>
          <a:xfrm flipV="1">
            <a:off x="3282696" y="2404872"/>
            <a:ext cx="786384" cy="338328"/>
          </a:xfrm>
          <a:prstGeom prst="line">
            <a:avLst/>
          </a:prstGeom>
          <a:ln w="25400">
            <a:solidFill>
              <a:srgbClr val="1D8D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82696" y="3246120"/>
            <a:ext cx="786384" cy="338328"/>
          </a:xfrm>
          <a:prstGeom prst="line">
            <a:avLst/>
          </a:prstGeom>
          <a:ln w="25400">
            <a:solidFill>
              <a:srgbClr val="1D8D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26679" y="2404872"/>
            <a:ext cx="777241" cy="338328"/>
          </a:xfrm>
          <a:prstGeom prst="line">
            <a:avLst/>
          </a:prstGeom>
          <a:ln w="25400">
            <a:solidFill>
              <a:srgbClr val="1D8D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726679" y="3246120"/>
            <a:ext cx="777241" cy="338328"/>
          </a:xfrm>
          <a:prstGeom prst="line">
            <a:avLst/>
          </a:prstGeom>
          <a:ln w="25400">
            <a:solidFill>
              <a:srgbClr val="1D8D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816" y="4434840"/>
            <a:ext cx="3383280" cy="11430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 y="443484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4562855"/>
            <a:ext cx="292608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Four KEV sizes</a:t>
            </a:r>
          </a:p>
        </p:txBody>
      </p:sp>
      <p:sp>
        <p:nvSpPr>
          <p:cNvPr id="29" name="TextBox 28"/>
          <p:cNvSpPr txBox="1"/>
          <p:nvPr/>
        </p:nvSpPr>
        <p:spPr>
          <a:xfrm>
            <a:off x="1042416" y="4937759"/>
            <a:ext cx="2926080" cy="57607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KEV v1.0 with 0.8B, 4B, 9B, and 27B parameters. Each size answers every question.</a:t>
            </a:r>
          </a:p>
        </p:txBody>
      </p:sp>
      <p:sp>
        <p:nvSpPr>
          <p:cNvPr id="30" name="Rounded Rectangle 29"/>
          <p:cNvSpPr/>
          <p:nvPr/>
        </p:nvSpPr>
        <p:spPr>
          <a:xfrm>
            <a:off x="4398264" y="4434840"/>
            <a:ext cx="3383280" cy="11430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98264" y="443484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26864" y="4562855"/>
            <a:ext cx="292608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123 test designs</a:t>
            </a:r>
          </a:p>
        </p:txBody>
      </p:sp>
      <p:sp>
        <p:nvSpPr>
          <p:cNvPr id="33" name="TextBox 32"/>
          <p:cNvSpPr txBox="1"/>
          <p:nvPr/>
        </p:nvSpPr>
        <p:spPr>
          <a:xfrm>
            <a:off x="4626864" y="4937759"/>
            <a:ext cx="2926080" cy="57607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From 151 designs of five sources. The 28 development designs serve only as examples.</a:t>
            </a:r>
          </a:p>
        </p:txBody>
      </p:sp>
      <p:sp>
        <p:nvSpPr>
          <p:cNvPr id="34" name="Rounded Rectangle 33"/>
          <p:cNvSpPr/>
          <p:nvPr/>
        </p:nvSpPr>
        <p:spPr>
          <a:xfrm>
            <a:off x="7991856" y="4434840"/>
            <a:ext cx="3383280" cy="11430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91856" y="443484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0456" y="4562855"/>
            <a:ext cx="292608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Two experiments</a:t>
            </a:r>
          </a:p>
        </p:txBody>
      </p:sp>
      <p:sp>
        <p:nvSpPr>
          <p:cNvPr id="37" name="TextBox 36"/>
          <p:cNvSpPr txBox="1"/>
          <p:nvPr/>
        </p:nvSpPr>
        <p:spPr>
          <a:xfrm>
            <a:off x="8220456" y="4937759"/>
            <a:ext cx="2926080" cy="576072"/>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00407A"/>
                </a:solidFill>
                <a:latin typeface="Arial"/>
              </a:rPr>
              <a:t>No examples (15 October). Three solved development examples before each question (16 October).</a:t>
            </a:r>
          </a:p>
        </p:txBody>
      </p:sp>
      <p:sp>
        <p:nvSpPr>
          <p:cNvPr id="38" name="Rounded Rectangle 3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 never sees the tool logs. A tool run of each design gives the correct answer of every question about that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designs: 151 designs from five sources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875 questions on 151 designs, both splits. An edit (mutant, trap, noncompile) counts for the source of its base design.</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pic>
        <p:nvPicPr>
          <p:cNvPr id="6" name="Picture 5" descr="dataset_v1_sources.png"/>
          <p:cNvPicPr>
            <a:picLocks noChangeAspect="1"/>
          </p:cNvPicPr>
          <p:nvPr/>
        </p:nvPicPr>
        <p:blipFill>
          <a:blip r:embed="rId2"/>
          <a:stretch>
            <a:fillRect/>
          </a:stretch>
        </p:blipFill>
        <p:spPr>
          <a:xfrm>
            <a:off x="813816" y="1828800"/>
            <a:ext cx="10561320" cy="3398825"/>
          </a:xfrm>
          <a:prstGeom prst="rect">
            <a:avLst/>
          </a:prstGeom>
        </p:spPr>
      </p:pic>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Test split: 123 designs, 725 questions. Development split: 28 designs, 150 questions, used only for the examples of experiment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eight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question has a typed answer. The correct answer of every question comes from a tool run of the same design.</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graphicFrame>
        <p:nvGraphicFramePr>
          <p:cNvPr id="6" name="Table 5"/>
          <p:cNvGraphicFramePr>
            <a:graphicFrameLocks noGrp="1"/>
          </p:cNvGraphicFramePr>
          <p:nvPr/>
        </p:nvGraphicFramePr>
        <p:xfrm>
          <a:off x="813816" y="1810512"/>
          <a:ext cx="10561320" cy="3749032"/>
        </p:xfrm>
        <a:graphic>
          <a:graphicData uri="http://schemas.openxmlformats.org/drawingml/2006/table">
            <a:tbl>
              <a:tblPr firstRow="1" bandRow="1">
                <a:tableStyleId>{5C22544A-7EE6-4342-B048-85BDC9FD1C3A}</a:tableStyleId>
              </a:tblPr>
              <a:tblGrid>
                <a:gridCol w="3886200"/>
                <a:gridCol w="1737360"/>
                <a:gridCol w="2331720"/>
                <a:gridCol w="2606040"/>
              </a:tblGrid>
              <a:tr h="411480">
                <a:tc>
                  <a:txBody>
                    <a:bodyPr/>
                    <a:lstStyle/>
                    <a:p>
                      <a:pPr algn="l">
                        <a:lnSpc>
                          <a:spcPct val="103000"/>
                        </a:lnSpc>
                        <a:spcBef>
                          <a:spcPts val="0"/>
                        </a:spcBef>
                        <a:spcAft>
                          <a:spcPts val="0"/>
                        </a:spcAft>
                      </a:pPr>
                      <a:r>
                        <a:rPr sz="14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400" b="1">
                          <a:solidFill>
                            <a:srgbClr val="FFFFFF"/>
                          </a:solidFill>
                          <a:latin typeface="Arial"/>
                        </a:rPr>
                        <a:t>KEV answers with</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400" b="1">
                          <a:solidFill>
                            <a:srgbClr val="FFFFFF"/>
                          </a:solidFill>
                          <a:latin typeface="Arial"/>
                        </a:rPr>
                        <a:t>Correct answer from</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400" b="1">
                          <a:solidFill>
                            <a:srgbClr val="FFFFFF"/>
                          </a:solidFill>
                          <a:latin typeface="Arial"/>
                        </a:rPr>
                        <a:t>Test questions</a:t>
                      </a:r>
                    </a:p>
                  </a:txBody>
                  <a:tcPr marL="109728" marR="91440" marT="45720" marB="36576" anchor="ctr">
                    <a:solidFill>
                      <a:srgbClr val="00407A"/>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Does it compile?</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a yes probability</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QuestaSim vlog -sv</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123 designs: 114 yes, 9 no</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Does it synthesize?</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a yes probability</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Design Compiler, compile_ultra</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123 designs: 99 yes, 24 no</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Why does synthesis fail?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one of ten reasons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the Design Compiler message</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16 designs; the prompt says that it fails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Area level</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one of five levels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Design Compiler, cell area</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92 designs</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Power level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one of five levels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PrimeTime, with the testbench</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85 designs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Reachable clock frequency level</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one of five levels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Design Compiler, worst slack</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92 designs</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Timing margin (slack) level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one of five levels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Design Compiler, worst slack</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92 designs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Which of two designs has the smaller area, the lower power, the higher frequency?</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A or B</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the same tool runs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23, 22, 6 pairs, each asked in both orders</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Compile and synthesize are two questions in one request; the power question of a design is in the same request as its area and timing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five levels of area, power, and timing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chooses a level from the source code and the flow description, not an exact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graphicFrame>
        <p:nvGraphicFramePr>
          <p:cNvPr id="6" name="Table 5"/>
          <p:cNvGraphicFramePr>
            <a:graphicFrameLocks noGrp="1"/>
          </p:cNvGraphicFramePr>
          <p:nvPr/>
        </p:nvGraphicFramePr>
        <p:xfrm>
          <a:off x="813816" y="1810512"/>
          <a:ext cx="10561320" cy="2194560"/>
        </p:xfrm>
        <a:graphic>
          <a:graphicData uri="http://schemas.openxmlformats.org/drawingml/2006/table">
            <a:tbl>
              <a:tblPr firstRow="1" bandRow="1">
                <a:tableStyleId>{5C22544A-7EE6-4342-B048-85BDC9FD1C3A}</a:tableStyleId>
              </a:tblPr>
              <a:tblGrid>
                <a:gridCol w="2834640"/>
                <a:gridCol w="1051560"/>
                <a:gridCol w="1280160"/>
                <a:gridCol w="1691640"/>
                <a:gridCol w="1965960"/>
                <a:gridCol w="1737360"/>
              </a:tblGrid>
              <a:tr h="411480">
                <a:tc>
                  <a:txBody>
                    <a:bodyPr/>
                    <a:lstStyle/>
                    <a:p>
                      <a:pPr algn="l">
                        <a:lnSpc>
                          <a:spcPct val="103000"/>
                        </a:lnSpc>
                        <a:spcBef>
                          <a:spcPts val="0"/>
                        </a:spcBef>
                        <a:spcAft>
                          <a:spcPts val="0"/>
                        </a:spcAft>
                      </a:pPr>
                      <a:r>
                        <a:rPr sz="14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Level 1</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Level 2</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Level 3</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Level 4</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Level 5</a:t>
                      </a:r>
                    </a:p>
                  </a:txBody>
                  <a:tcPr marL="109728" marR="91440" marT="45720" marB="36576" anchor="ctr">
                    <a:solidFill>
                      <a:srgbClr val="00407A"/>
                    </a:solidFill>
                    <a:lnL>
                      <a:noFill/>
                    </a:lnL>
                    <a:lnR>
                      <a:noFill/>
                    </a:lnR>
                    <a:lnT>
                      <a:noFill/>
                    </a:lnT>
                    <a:lnB>
                      <a:noFill/>
                    </a:lnB>
                  </a:tcPr>
                </a:tc>
              </a:tr>
              <a:tr h="445770">
                <a:tc>
                  <a:txBody>
                    <a:bodyPr/>
                    <a:lstStyle/>
                    <a:p>
                      <a:pPr algn="l">
                        <a:lnSpc>
                          <a:spcPct val="103000"/>
                        </a:lnSpc>
                        <a:spcBef>
                          <a:spcPts val="0"/>
                        </a:spcBef>
                        <a:spcAft>
                          <a:spcPts val="0"/>
                        </a:spcAft>
                      </a:pPr>
                      <a:r>
                        <a:rPr sz="1400" b="1">
                          <a:solidFill>
                            <a:srgbClr val="00407A"/>
                          </a:solidFill>
                          <a:latin typeface="Arial"/>
                        </a:rPr>
                        <a:t>Area (gate equivalents)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below 100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 to 1,000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 to 10,000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10,000 to 100,000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100,000 or more</a:t>
                      </a:r>
                    </a:p>
                  </a:txBody>
                  <a:tcPr marL="109728" marR="91440" marT="45720" marB="36576" anchor="ctr">
                    <a:solidFill>
                      <a:srgbClr val="E3EFF5"/>
                    </a:solidFill>
                    <a:lnL>
                      <a:noFill/>
                    </a:lnL>
                    <a:lnR>
                      <a:noFill/>
                    </a:lnR>
                    <a:lnT>
                      <a:noFill/>
                    </a:lnT>
                    <a:lnB>
                      <a:noFill/>
                    </a:lnB>
                  </a:tcPr>
                </a:tc>
              </a:tr>
              <a:tr h="445770">
                <a:tc>
                  <a:txBody>
                    <a:bodyPr/>
                    <a:lstStyle/>
                    <a:p>
                      <a:pPr algn="l">
                        <a:lnSpc>
                          <a:spcPct val="103000"/>
                        </a:lnSpc>
                        <a:spcBef>
                          <a:spcPts val="0"/>
                        </a:spcBef>
                        <a:spcAft>
                          <a:spcPts val="0"/>
                        </a:spcAft>
                      </a:pPr>
                      <a:r>
                        <a:rPr sz="1400" b="1">
                          <a:solidFill>
                            <a:srgbClr val="00407A"/>
                          </a:solidFill>
                          <a:latin typeface="Arial"/>
                        </a:rPr>
                        <a:t>Power (microwatts)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below 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 to 100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 to 1,000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 to 10,000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10,000 or more</a:t>
                      </a:r>
                    </a:p>
                  </a:txBody>
                  <a:tcPr marL="109728" marR="91440" marT="45720" marB="36576" anchor="ctr">
                    <a:solidFill>
                      <a:srgbClr val="FFFFFF"/>
                    </a:solidFill>
                    <a:lnL>
                      <a:noFill/>
                    </a:lnL>
                    <a:lnR>
                      <a:noFill/>
                    </a:lnR>
                    <a:lnT>
                      <a:noFill/>
                    </a:lnT>
                    <a:lnB>
                      <a:noFill/>
                    </a:lnB>
                  </a:tcPr>
                </a:tc>
              </a:tr>
              <a:tr h="445770">
                <a:tc>
                  <a:txBody>
                    <a:bodyPr/>
                    <a:lstStyle/>
                    <a:p>
                      <a:pPr algn="l">
                        <a:lnSpc>
                          <a:spcPct val="103000"/>
                        </a:lnSpc>
                        <a:spcBef>
                          <a:spcPts val="0"/>
                        </a:spcBef>
                        <a:spcAft>
                          <a:spcPts val="0"/>
                        </a:spcAft>
                      </a:pPr>
                      <a:r>
                        <a:rPr sz="1400" b="1">
                          <a:solidFill>
                            <a:srgbClr val="00407A"/>
                          </a:solidFill>
                          <a:latin typeface="Arial"/>
                        </a:rPr>
                        <a:t>Timing margin, slack (ns)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negative</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to 0.5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0.5 to 1.0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 to 1.5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1.5 or more</a:t>
                      </a:r>
                    </a:p>
                  </a:txBody>
                  <a:tcPr marL="109728" marR="91440" marT="45720" marB="36576" anchor="ctr">
                    <a:solidFill>
                      <a:srgbClr val="E3EFF5"/>
                    </a:solidFill>
                    <a:lnL>
                      <a:noFill/>
                    </a:lnL>
                    <a:lnR>
                      <a:noFill/>
                    </a:lnR>
                    <a:lnT>
                      <a:noFill/>
                    </a:lnT>
                    <a:lnB>
                      <a:noFill/>
                    </a:lnB>
                  </a:tcPr>
                </a:tc>
              </a:tr>
              <a:tr h="445770">
                <a:tc>
                  <a:txBody>
                    <a:bodyPr/>
                    <a:lstStyle/>
                    <a:p>
                      <a:pPr algn="l">
                        <a:lnSpc>
                          <a:spcPct val="103000"/>
                        </a:lnSpc>
                        <a:spcBef>
                          <a:spcPts val="0"/>
                        </a:spcBef>
                        <a:spcAft>
                          <a:spcPts val="0"/>
                        </a:spcAft>
                      </a:pPr>
                      <a:r>
                        <a:rPr sz="1400" b="1">
                          <a:solidFill>
                            <a:srgbClr val="00407A"/>
                          </a:solidFill>
                          <a:latin typeface="Arial"/>
                        </a:rPr>
                        <a:t>Reachable frequency (GHz)</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below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to 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to 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to 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 or more</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06240"/>
            <a:ext cx="5166360" cy="13716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0624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334255"/>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Units</a:t>
            </a:r>
          </a:p>
        </p:txBody>
      </p:sp>
      <p:sp>
        <p:nvSpPr>
          <p:cNvPr id="10" name="TextBox 9"/>
          <p:cNvSpPr txBox="1"/>
          <p:nvPr/>
        </p:nvSpPr>
        <p:spPr>
          <a:xfrm>
            <a:off x="1042416" y="4709159"/>
            <a:ext cx="4709160" cy="80467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1 gate equivalent (GE) = the area of one NAND2 gate = 0.196608 µm² in NanGate 15 nm.</a:t>
            </a:r>
          </a:p>
          <a:p>
            <a:pPr algn="l">
              <a:lnSpc>
                <a:spcPct val="109000"/>
              </a:lnSpc>
              <a:spcBef>
                <a:spcPts val="0"/>
              </a:spcBef>
              <a:spcAft>
                <a:spcPts val="0"/>
              </a:spcAft>
            </a:pPr>
            <a:r>
              <a:rPr sz="1350" b="0">
                <a:solidFill>
                  <a:srgbClr val="00407A"/>
                </a:solidFill>
                <a:latin typeface="Arial"/>
              </a:rPr>
              <a:t>Power = dynamic + leakage power for the testbench stimulus.</a:t>
            </a:r>
          </a:p>
        </p:txBody>
      </p:sp>
      <p:sp>
        <p:nvSpPr>
          <p:cNvPr id="11" name="Rounded Rectangle 10"/>
          <p:cNvSpPr/>
          <p:nvPr/>
        </p:nvSpPr>
        <p:spPr>
          <a:xfrm>
            <a:off x="6208776" y="4206240"/>
            <a:ext cx="5166360" cy="13716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0624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334255"/>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Reachable frequency</a:t>
            </a:r>
          </a:p>
        </p:txBody>
      </p:sp>
      <p:sp>
        <p:nvSpPr>
          <p:cNvPr id="14" name="TextBox 13"/>
          <p:cNvSpPr txBox="1"/>
          <p:nvPr/>
        </p:nvSpPr>
        <p:spPr>
          <a:xfrm>
            <a:off x="6437376" y="4709159"/>
            <a:ext cx="4709160" cy="80467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Reachable frequency = 1 / (2 ns − worst slack), from the netlist synthesized at 500 MHz.</a:t>
            </a:r>
          </a:p>
          <a:p>
            <a:pPr algn="l">
              <a:lnSpc>
                <a:spcPct val="109000"/>
              </a:lnSpc>
              <a:spcBef>
                <a:spcPts val="0"/>
              </a:spcBef>
              <a:spcAft>
                <a:spcPts val="0"/>
              </a:spcAft>
            </a:pPr>
            <a:r>
              <a:rPr sz="1350" b="0">
                <a:solidFill>
                  <a:srgbClr val="00407A"/>
                </a:solidFill>
                <a:latin typeface="Arial"/>
              </a:rPr>
              <a:t>Example: 1.438 ns of slack gives 1 / 0.562 ns = 1.78 GHz.</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One level of area or power is a factor of 10. No test design misses the 500 MHz target (slack level 1), reaches 4 GHz, or uses 10 mW or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Experiment 2: three solved examples per question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same 725 test questions, one per request. The three examples are development designs with their tool result.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graphicFrame>
        <p:nvGraphicFramePr>
          <p:cNvPr id="6" name="Table 5"/>
          <p:cNvGraphicFramePr>
            <a:graphicFrameLocks noGrp="1"/>
          </p:cNvGraphicFramePr>
          <p:nvPr/>
        </p:nvGraphicFramePr>
        <p:xfrm>
          <a:off x="813816" y="1810512"/>
          <a:ext cx="10561320" cy="3703312"/>
        </p:xfrm>
        <a:graphic>
          <a:graphicData uri="http://schemas.openxmlformats.org/drawingml/2006/table">
            <a:tbl>
              <a:tblPr firstRow="1" bandRow="1">
                <a:tableStyleId>{5C22544A-7EE6-4342-B048-85BDC9FD1C3A}</a:tableStyleId>
              </a:tblPr>
              <a:tblGrid>
                <a:gridCol w="2514600"/>
                <a:gridCol w="8046720"/>
              </a:tblGrid>
              <a:tr h="411480">
                <a:tc>
                  <a:txBody>
                    <a:bodyPr/>
                    <a:lstStyle/>
                    <a:p>
                      <a:pPr algn="l">
                        <a:lnSpc>
                          <a:spcPct val="103000"/>
                        </a:lnSpc>
                        <a:spcBef>
                          <a:spcPts val="0"/>
                        </a:spcBef>
                        <a:spcAft>
                          <a:spcPts val="0"/>
                        </a:spcAft>
                      </a:pPr>
                      <a:r>
                        <a:rPr sz="15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500" b="1">
                          <a:solidFill>
                            <a:srgbClr val="FFFFFF"/>
                          </a:solidFill>
                          <a:latin typeface="Arial"/>
                        </a:rPr>
                        <a:t>The three examples before the design, with their tool result</a:t>
                      </a:r>
                    </a:p>
                  </a:txBody>
                  <a:tcPr marL="109728" marR="91440" marT="45720" marB="36576" anchor="ctr">
                    <a:solidFill>
                      <a:srgbClr val="00407A"/>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Does it compile?</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compiles, 2 fail; each failure with its first vlog error</a:t>
                      </a:r>
                    </a:p>
                  </a:txBody>
                  <a:tcPr marL="109728" marR="91440" marT="45720" marB="36576" anchor="ctr">
                    <a:solidFill>
                      <a:srgbClr val="E3EFF5"/>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Does it synthesize?</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synthesizes, 2 fail; each failure with its first DC error</a:t>
                      </a:r>
                    </a:p>
                  </a:txBody>
                  <a:tcPr marL="109728" marR="91440" marT="45720" marB="36576" anchor="ctr">
                    <a:solidFill>
                      <a:srgbClr val="FFFFFF"/>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Why does synthesis fail?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multiple_drivers, illegal_code and event_list; each with its first DC error</a:t>
                      </a:r>
                    </a:p>
                  </a:txBody>
                  <a:tcPr marL="109728" marR="91440" marT="45720" marB="36576" anchor="ctr">
                    <a:solidFill>
                      <a:srgbClr val="E3EFF5"/>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Area level</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71.5 GE (level 1)  •  1,323.3 GE (level 3)  •  519,474.0 GE (level 5)</a:t>
                      </a:r>
                    </a:p>
                  </a:txBody>
                  <a:tcPr marL="109728" marR="91440" marT="45720" marB="36576" anchor="ctr">
                    <a:solidFill>
                      <a:srgbClr val="FFFFFF"/>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Power level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12.48 µW (level 2)  •  300.8 µW (level 3)  •  26.2 mW (level 5)</a:t>
                      </a:r>
                    </a:p>
                  </a:txBody>
                  <a:tcPr marL="109728" marR="91440" marT="45720" marB="36576" anchor="ctr">
                    <a:solidFill>
                      <a:srgbClr val="E3EFF5"/>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Frequency level</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612 MHz (level 1)  •  2,137 MHz (level 3)  •  3,572 MHz (level 4)</a:t>
                      </a:r>
                    </a:p>
                  </a:txBody>
                  <a:tcPr marL="109728" marR="91440" marT="45720" marB="36576" anchor="ctr">
                    <a:solidFill>
                      <a:srgbClr val="FFFFFF"/>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Slack level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+0.365 ns (level 2)  •  +0.962 ns (level 3)  •  +1.532 ns (level 5)</a:t>
                      </a:r>
                    </a:p>
                  </a:txBody>
                  <a:tcPr marL="109728" marR="91440" marT="45720" marB="36576" anchor="ctr">
                    <a:solidFill>
                      <a:srgbClr val="E3EFF5"/>
                    </a:solidFill>
                    <a:lnL>
                      <a:noFill/>
                    </a:lnL>
                    <a:lnR>
                      <a:noFill/>
                    </a:lnR>
                    <a:lnT>
                      <a:noFill/>
                    </a:lnT>
                    <a:lnB>
                      <a:noFill/>
                    </a:lnB>
                  </a:tcPr>
                </a:tc>
              </a:tr>
              <a:tr h="411479">
                <a:tc>
                  <a:txBody>
                    <a:bodyPr/>
                    <a:lstStyle/>
                    <a:p>
                      <a:pPr algn="l">
                        <a:lnSpc>
                          <a:spcPct val="103000"/>
                        </a:lnSpc>
                        <a:spcBef>
                          <a:spcPts val="0"/>
                        </a:spcBef>
                        <a:spcAft>
                          <a:spcPts val="0"/>
                        </a:spcAft>
                      </a:pPr>
                      <a:r>
                        <a:rPr sz="1500" b="1">
                          <a:solidFill>
                            <a:srgbClr val="00407A"/>
                          </a:solidFill>
                          <a:latin typeface="Arial"/>
                        </a:rPr>
                        <a:t>Which of two designs?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The three designs of the metric (area, power, or frequency), with the exact value only</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questions of one kind get the same three examples. No example shares a base design with a test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result charts</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same chart form on every result slide. The example: the synthesis question.</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The tool says “yes” for 99 of the 123 designs and “no” for 24</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26106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4094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35570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558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2033536"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87687"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2" name="Rectangle 21"/>
          <p:cNvSpPr/>
          <p:nvPr/>
        </p:nvSpPr>
        <p:spPr>
          <a:xfrm>
            <a:off x="1664208" y="2743200"/>
            <a:ext cx="152347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48456" y="271576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80.5% · 99 of 99 yes · 0 of 24 no</a:t>
            </a:r>
          </a:p>
        </p:txBody>
      </p:sp>
      <p:sp>
        <p:nvSpPr>
          <p:cNvPr id="24" name="Rectangle 23"/>
          <p:cNvSpPr/>
          <p:nvPr/>
        </p:nvSpPr>
        <p:spPr>
          <a:xfrm>
            <a:off x="1664208" y="2990088"/>
            <a:ext cx="36932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2962656"/>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19.5% · 0 of 99 yes · 24 of 24 no</a:t>
            </a:r>
          </a:p>
        </p:txBody>
      </p:sp>
      <p:sp>
        <p:nvSpPr>
          <p:cNvPr id="26" name="TextBox 25"/>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7" name="Rectangle 26"/>
          <p:cNvSpPr/>
          <p:nvPr/>
        </p:nvSpPr>
        <p:spPr>
          <a:xfrm>
            <a:off x="1664208" y="3364992"/>
            <a:ext cx="150809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33756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79.7% · 98 of 99 yes · 0 of 24 no</a:t>
            </a:r>
          </a:p>
        </p:txBody>
      </p:sp>
      <p:sp>
        <p:nvSpPr>
          <p:cNvPr id="29" name="Rectangle 28"/>
          <p:cNvSpPr/>
          <p:nvPr/>
        </p:nvSpPr>
        <p:spPr>
          <a:xfrm>
            <a:off x="1664208" y="3611880"/>
            <a:ext cx="153886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48456" y="358444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81.3% · 98 of 99 yes · 2 of 24 no</a:t>
            </a:r>
          </a:p>
        </p:txBody>
      </p:sp>
      <p:sp>
        <p:nvSpPr>
          <p:cNvPr id="31" name="TextBox 30"/>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2" name="Rectangle 31"/>
          <p:cNvSpPr/>
          <p:nvPr/>
        </p:nvSpPr>
        <p:spPr>
          <a:xfrm>
            <a:off x="1664208" y="3986784"/>
            <a:ext cx="152347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48456" y="395935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80.5% · 97 of 99 yes · 2 of 24 no</a:t>
            </a:r>
          </a:p>
        </p:txBody>
      </p:sp>
      <p:sp>
        <p:nvSpPr>
          <p:cNvPr id="34" name="Rectangle 33"/>
          <p:cNvSpPr/>
          <p:nvPr/>
        </p:nvSpPr>
        <p:spPr>
          <a:xfrm>
            <a:off x="1664208" y="4233672"/>
            <a:ext cx="156964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420624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82.9% · 98 of 99 yes · 4 of 24 no</a:t>
            </a:r>
          </a:p>
        </p:txBody>
      </p:sp>
      <p:sp>
        <p:nvSpPr>
          <p:cNvPr id="36" name="TextBox 35"/>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7" name="Rectangle 36"/>
          <p:cNvSpPr/>
          <p:nvPr/>
        </p:nvSpPr>
        <p:spPr>
          <a:xfrm>
            <a:off x="1664208" y="4608576"/>
            <a:ext cx="1569645"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48456" y="4581144"/>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82.9% · 98 of 99 yes · 4 of 24 no</a:t>
            </a:r>
          </a:p>
        </p:txBody>
      </p:sp>
      <p:sp>
        <p:nvSpPr>
          <p:cNvPr id="39" name="Rectangle 38"/>
          <p:cNvSpPr/>
          <p:nvPr/>
        </p:nvSpPr>
        <p:spPr>
          <a:xfrm>
            <a:off x="1664208" y="4855464"/>
            <a:ext cx="166197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82803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87.8% · 96 of 99 yes · 12 of 24 no</a:t>
            </a:r>
          </a:p>
        </p:txBody>
      </p:sp>
      <p:sp>
        <p:nvSpPr>
          <p:cNvPr id="41" name="TextBox 40"/>
          <p:cNvSpPr txBox="1"/>
          <p:nvPr/>
        </p:nvSpPr>
        <p:spPr>
          <a:xfrm>
            <a:off x="99669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19.5% · always “yes” = 80.5%</a:t>
            </a:r>
          </a:p>
        </p:txBody>
      </p:sp>
      <p:sp>
        <p:nvSpPr>
          <p:cNvPr id="42" name="Rounded Rectangle 41"/>
          <p:cNvSpPr/>
          <p:nvPr/>
        </p:nvSpPr>
        <p:spPr>
          <a:xfrm>
            <a:off x="6208776" y="1828800"/>
            <a:ext cx="5166360" cy="11430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37376" y="1956816"/>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Two bars per model</a:t>
            </a:r>
          </a:p>
        </p:txBody>
      </p:sp>
      <p:sp>
        <p:nvSpPr>
          <p:cNvPr id="45" name="TextBox 44"/>
          <p:cNvSpPr txBox="1"/>
          <p:nvPr/>
        </p:nvSpPr>
        <p:spPr>
          <a:xfrm>
            <a:off x="6437376" y="2331720"/>
            <a:ext cx="4709160" cy="57607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Light bar: the score without examples (experiment 1).</a:t>
            </a:r>
          </a:p>
          <a:p>
            <a:pPr algn="l">
              <a:lnSpc>
                <a:spcPct val="109000"/>
              </a:lnSpc>
              <a:spcBef>
                <a:spcPts val="0"/>
              </a:spcBef>
              <a:spcAft>
                <a:spcPts val="0"/>
              </a:spcAft>
            </a:pPr>
            <a:r>
              <a:rPr sz="1350" b="0">
                <a:solidFill>
                  <a:srgbClr val="00407A"/>
                </a:solidFill>
                <a:latin typeface="Arial"/>
              </a:rPr>
              <a:t>Dark bar: the score with three solved examples (experiment 2).</a:t>
            </a:r>
          </a:p>
        </p:txBody>
      </p:sp>
      <p:sp>
        <p:nvSpPr>
          <p:cNvPr id="46" name="Rounded Rectangle 45"/>
          <p:cNvSpPr/>
          <p:nvPr/>
        </p:nvSpPr>
        <p:spPr>
          <a:xfrm>
            <a:off x="6208776" y="3127248"/>
            <a:ext cx="5166360" cy="114300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08776" y="3127248"/>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37376" y="3255264"/>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The label beside a bar</a:t>
            </a:r>
          </a:p>
        </p:txBody>
      </p:sp>
      <p:sp>
        <p:nvSpPr>
          <p:cNvPr id="49" name="TextBox 48"/>
          <p:cNvSpPr txBox="1"/>
          <p:nvPr/>
        </p:nvSpPr>
        <p:spPr>
          <a:xfrm>
            <a:off x="6437376" y="3630168"/>
            <a:ext cx="4709160" cy="57607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The score, then the correct answers on the designs where the tool says “yes”, and on the designs where it says “no”.</a:t>
            </a:r>
          </a:p>
        </p:txBody>
      </p:sp>
      <p:sp>
        <p:nvSpPr>
          <p:cNvPr id="50" name="Rounded Rectangle 49"/>
          <p:cNvSpPr/>
          <p:nvPr/>
        </p:nvSpPr>
        <p:spPr>
          <a:xfrm>
            <a:off x="6208776" y="4425696"/>
            <a:ext cx="5166360" cy="115214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08776" y="4425696"/>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37376" y="4553712"/>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The dashed lines</a:t>
            </a:r>
          </a:p>
        </p:txBody>
      </p:sp>
      <p:sp>
        <p:nvSpPr>
          <p:cNvPr id="53" name="TextBox 52"/>
          <p:cNvSpPr txBox="1"/>
          <p:nvPr/>
        </p:nvSpPr>
        <p:spPr>
          <a:xfrm>
            <a:off x="6437376" y="4928616"/>
            <a:ext cx="4709160" cy="585216"/>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The score of a model that always answers “no”, and of one that always answers “yes”. A bar at a dashed line shows no skill.</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score is the share of the test questions with a correct answer. Each question has the same weight.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findings in one table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the largest size. Each score: correct answers in % (count). The other sizes are on the result slides.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10512"/>
          <a:ext cx="10561320" cy="3794760"/>
        </p:xfrm>
        <a:graphic>
          <a:graphicData uri="http://schemas.openxmlformats.org/drawingml/2006/table">
            <a:tbl>
              <a:tblPr firstRow="1" bandRow="1">
                <a:tableStyleId>{5C22544A-7EE6-4342-B048-85BDC9FD1C3A}</a:tableStyleId>
              </a:tblPr>
              <a:tblGrid>
                <a:gridCol w="2926080"/>
                <a:gridCol w="1691640"/>
                <a:gridCol w="1691640"/>
                <a:gridCol w="1691640"/>
                <a:gridCol w="2560320"/>
              </a:tblGrid>
              <a:tr h="411480">
                <a:tc>
                  <a:txBody>
                    <a:bodyPr/>
                    <a:lstStyle/>
                    <a:p>
                      <a:pPr algn="l">
                        <a:lnSpc>
                          <a:spcPct val="103000"/>
                        </a:lnSpc>
                        <a:spcBef>
                          <a:spcPts val="0"/>
                        </a:spcBef>
                        <a:spcAft>
                          <a:spcPts val="0"/>
                        </a:spcAft>
                      </a:pPr>
                      <a:r>
                        <a:rPr sz="13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No examples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Three examples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Always the same answer</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300" b="1">
                          <a:solidFill>
                            <a:srgbClr val="FFFFFF"/>
                          </a:solidFill>
                          <a:latin typeface="Arial"/>
                        </a:rPr>
                        <a:t>Finding</a:t>
                      </a:r>
                    </a:p>
                  </a:txBody>
                  <a:tcPr marL="109728" marR="91440" marT="45720" marB="36576" anchor="ctr">
                    <a:solidFill>
                      <a:srgbClr val="00407A"/>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Does it compile?</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99.2% (122 of 123)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95.1% (117 of 123)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“yes”: 92.7%</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Reliable without examples</a:t>
                      </a:r>
                    </a:p>
                  </a:txBody>
                  <a:tcPr marL="109728" marR="91440" marT="45720" marB="36576" anchor="ctr">
                    <a:solidFill>
                      <a:srgbClr val="E3EFF5"/>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Does it synthesize?</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82.9% (102 of 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87.8% (108 of 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“yes”: 80.5%</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Close to always “yes”</a:t>
                      </a:r>
                    </a:p>
                  </a:txBody>
                  <a:tcPr marL="109728" marR="91440" marT="45720" marB="36576" anchor="ctr">
                    <a:solidFill>
                      <a:srgbClr val="FFFFFF"/>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Why does synthesis fail? (told that it fails)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93.8% (15 of 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87.5% (14 of 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one reason: 31.3%</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Good, when told that it fails</a:t>
                      </a:r>
                    </a:p>
                  </a:txBody>
                  <a:tcPr marL="109728" marR="91440" marT="45720" marB="36576" anchor="ctr">
                    <a:solidFill>
                      <a:srgbClr val="E3EFF5"/>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Area level</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66.3% (61 of 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52.2% (48 of 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level 1: 35.9%</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Usable; all within one level</a:t>
                      </a:r>
                    </a:p>
                  </a:txBody>
                  <a:tcPr marL="109728" marR="91440" marT="45720" marB="36576" anchor="ctr">
                    <a:solidFill>
                      <a:srgbClr val="FFFFFF"/>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Power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10.6% (9 of 85)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42.4% (36 of 85)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level 2: 43.5%</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Close to the constant answer</a:t>
                      </a:r>
                    </a:p>
                  </a:txBody>
                  <a:tcPr marL="109728" marR="91440" marT="45720" marB="36576" anchor="ctr">
                    <a:solidFill>
                      <a:srgbClr val="E3EFF5"/>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Frequency level</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14.1% (13 of 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39.1% (36 of 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level 4: 48.9%</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Below the constant answer</a:t>
                      </a:r>
                    </a:p>
                  </a:txBody>
                  <a:tcPr marL="109728" marR="91440" marT="45720" marB="36576" anchor="ctr">
                    <a:solidFill>
                      <a:srgbClr val="FFFFFF"/>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Slack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32.6% (30 of 92)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65.2% (60 of 92)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level 5: 68.5%</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Not above the constant answer</a:t>
                      </a:r>
                    </a:p>
                  </a:txBody>
                  <a:tcPr marL="109728" marR="91440" marT="45720" marB="36576" anchor="ctr">
                    <a:solidFill>
                      <a:srgbClr val="E3EFF5"/>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Smaller area of two designs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78.3% (36 of 46)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89.1% (41 of 46)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A: 50.0%</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Good with examples</a:t>
                      </a:r>
                    </a:p>
                  </a:txBody>
                  <a:tcPr marL="109728" marR="91440" marT="45720" marB="36576" anchor="ctr">
                    <a:solidFill>
                      <a:srgbClr val="FFFFFF"/>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Lower power of two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70.5% (31 of 44)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79.5% (35 of 44)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A: 50.0%</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Good with examples</a:t>
                      </a:r>
                    </a:p>
                  </a:txBody>
                  <a:tcPr marL="109728" marR="91440" marT="45720" marB="36576" anchor="ctr">
                    <a:solidFill>
                      <a:srgbClr val="E3EFF5"/>
                    </a:solidFill>
                    <a:lnL>
                      <a:noFill/>
                    </a:lnL>
                    <a:lnR>
                      <a:noFill/>
                    </a:lnR>
                    <a:lnT>
                      <a:noFill/>
                    </a:lnT>
                    <a:lnB>
                      <a:noFill/>
                    </a:lnB>
                  </a:tcPr>
                </a:tc>
              </a:tr>
              <a:tr h="338328">
                <a:tc>
                  <a:txBody>
                    <a:bodyPr/>
                    <a:lstStyle/>
                    <a:p>
                      <a:pPr algn="l">
                        <a:lnSpc>
                          <a:spcPct val="103000"/>
                        </a:lnSpc>
                        <a:spcBef>
                          <a:spcPts val="0"/>
                        </a:spcBef>
                        <a:spcAft>
                          <a:spcPts val="0"/>
                        </a:spcAft>
                      </a:pPr>
                      <a:r>
                        <a:rPr sz="1250" b="0">
                          <a:solidFill>
                            <a:srgbClr val="00407A"/>
                          </a:solidFill>
                          <a:latin typeface="Arial"/>
                        </a:rPr>
                        <a:t>Higher frequency of two designs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83.3% (10 of 12)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91.7% (11 of 12)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A: 50.0%</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250" b="0">
                          <a:solidFill>
                            <a:srgbClr val="00407A"/>
                          </a:solidFill>
                          <a:latin typeface="Arial"/>
                        </a:rPr>
                        <a:t>Good; only 6 pairs</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is reliable on the compile check, and good on the failure reason and on the better of two designs. It is weak on the synthesis check and on the power and timing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only the compile check is reliable</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Compile: KEV-27B gets 122 of 123 right. Synthesis: all scores near always “yes”.</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The tool says “yes” for 114 of the 123 designs and “no” for 9</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26106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4094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35570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558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1802706"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18517"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2" name="Rectangle 21"/>
          <p:cNvSpPr/>
          <p:nvPr/>
        </p:nvSpPr>
        <p:spPr>
          <a:xfrm>
            <a:off x="1664208" y="2743200"/>
            <a:ext cx="20005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48456" y="271576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10.6% · 4 of 114 yes · 9 of 9 no</a:t>
            </a:r>
          </a:p>
        </p:txBody>
      </p:sp>
      <p:sp>
        <p:nvSpPr>
          <p:cNvPr id="24" name="Rectangle 23"/>
          <p:cNvSpPr/>
          <p:nvPr/>
        </p:nvSpPr>
        <p:spPr>
          <a:xfrm>
            <a:off x="1664208" y="2990088"/>
            <a:ext cx="15388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2962656"/>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8.1% · 1 of 114 yes · 9 of 9 no</a:t>
            </a:r>
          </a:p>
        </p:txBody>
      </p:sp>
      <p:sp>
        <p:nvSpPr>
          <p:cNvPr id="26" name="TextBox 25"/>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7" name="Rectangle 26"/>
          <p:cNvSpPr/>
          <p:nvPr/>
        </p:nvSpPr>
        <p:spPr>
          <a:xfrm>
            <a:off x="1664208" y="3364992"/>
            <a:ext cx="175430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33756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92.7% · 114 of 114 yes · 0 of 9 no</a:t>
            </a:r>
          </a:p>
        </p:txBody>
      </p:sp>
      <p:sp>
        <p:nvSpPr>
          <p:cNvPr id="29" name="Rectangle 28"/>
          <p:cNvSpPr/>
          <p:nvPr/>
        </p:nvSpPr>
        <p:spPr>
          <a:xfrm>
            <a:off x="1664208" y="3611880"/>
            <a:ext cx="178508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48456" y="358444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94.3% · 113 of 114 yes · 3 of 9 no</a:t>
            </a:r>
          </a:p>
        </p:txBody>
      </p:sp>
      <p:sp>
        <p:nvSpPr>
          <p:cNvPr id="31" name="TextBox 30"/>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2" name="Rectangle 31"/>
          <p:cNvSpPr/>
          <p:nvPr/>
        </p:nvSpPr>
        <p:spPr>
          <a:xfrm>
            <a:off x="1664208" y="3986784"/>
            <a:ext cx="1785087"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48456" y="395935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94.3% · 114 of 114 yes · 2 of 9 no</a:t>
            </a:r>
          </a:p>
        </p:txBody>
      </p:sp>
      <p:sp>
        <p:nvSpPr>
          <p:cNvPr id="34" name="Rectangle 33"/>
          <p:cNvSpPr/>
          <p:nvPr/>
        </p:nvSpPr>
        <p:spPr>
          <a:xfrm>
            <a:off x="1664208" y="4233672"/>
            <a:ext cx="178508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420624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94.3% · 112 of 114 yes · 4 of 9 no</a:t>
            </a:r>
          </a:p>
        </p:txBody>
      </p:sp>
      <p:sp>
        <p:nvSpPr>
          <p:cNvPr id="36" name="TextBox 35"/>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7" name="Rectangle 36"/>
          <p:cNvSpPr/>
          <p:nvPr/>
        </p:nvSpPr>
        <p:spPr>
          <a:xfrm>
            <a:off x="1664208" y="4608576"/>
            <a:ext cx="187741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48456" y="4581144"/>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99.2% · 114 of 114 yes · 8 of 9 no</a:t>
            </a:r>
          </a:p>
        </p:txBody>
      </p:sp>
      <p:sp>
        <p:nvSpPr>
          <p:cNvPr id="39" name="Rectangle 38"/>
          <p:cNvSpPr/>
          <p:nvPr/>
        </p:nvSpPr>
        <p:spPr>
          <a:xfrm>
            <a:off x="1664208" y="4855464"/>
            <a:ext cx="180047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82803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95.1% · 108 of 114 yes · 9 of 9 no</a:t>
            </a:r>
          </a:p>
        </p:txBody>
      </p:sp>
      <p:sp>
        <p:nvSpPr>
          <p:cNvPr id="41" name="TextBox 40"/>
          <p:cNvSpPr txBox="1"/>
          <p:nvPr/>
        </p:nvSpPr>
        <p:spPr>
          <a:xfrm>
            <a:off x="99669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7.3% · always “yes” = 92.7%</a:t>
            </a:r>
          </a:p>
        </p:txBody>
      </p:sp>
      <p:sp>
        <p:nvSpPr>
          <p:cNvPr id="42" name="Rounded Rectangle 41"/>
          <p:cNvSpPr/>
          <p:nvPr/>
        </p:nvSpPr>
        <p:spPr>
          <a:xfrm>
            <a:off x="620877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994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44" name="TextBox 43"/>
          <p:cNvSpPr txBox="1"/>
          <p:nvPr/>
        </p:nvSpPr>
        <p:spPr>
          <a:xfrm>
            <a:off x="640994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The tool says “yes” for 99 of the 123 designs and “no” for 24</a:t>
            </a:r>
          </a:p>
        </p:txBody>
      </p:sp>
      <p:cxnSp>
        <p:nvCxnSpPr>
          <p:cNvPr id="45" name="Connector 44"/>
          <p:cNvCxnSpPr/>
          <p:nvPr/>
        </p:nvCxnSpPr>
        <p:spPr>
          <a:xfrm>
            <a:off x="705916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7" name="Connector 46"/>
          <p:cNvCxnSpPr/>
          <p:nvPr/>
        </p:nvCxnSpPr>
        <p:spPr>
          <a:xfrm>
            <a:off x="800557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80440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9" name="Connector 48"/>
          <p:cNvCxnSpPr/>
          <p:nvPr/>
        </p:nvCxnSpPr>
        <p:spPr>
          <a:xfrm>
            <a:off x="895197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75080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51" name="Connector 50"/>
          <p:cNvCxnSpPr/>
          <p:nvPr/>
        </p:nvCxnSpPr>
        <p:spPr>
          <a:xfrm>
            <a:off x="7428496"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582647"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39165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4" name="Rectangle 53"/>
          <p:cNvSpPr/>
          <p:nvPr/>
        </p:nvSpPr>
        <p:spPr>
          <a:xfrm>
            <a:off x="7059168" y="2743200"/>
            <a:ext cx="152347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43416" y="271576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80.5% · 99 of 99 yes · 0 of 24 no</a:t>
            </a:r>
          </a:p>
        </p:txBody>
      </p:sp>
      <p:sp>
        <p:nvSpPr>
          <p:cNvPr id="56" name="Rectangle 55"/>
          <p:cNvSpPr/>
          <p:nvPr/>
        </p:nvSpPr>
        <p:spPr>
          <a:xfrm>
            <a:off x="7059168" y="2990088"/>
            <a:ext cx="36932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43416" y="2962656"/>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19.5% · 0 of 99 yes · 24 of 24 no</a:t>
            </a:r>
          </a:p>
        </p:txBody>
      </p:sp>
      <p:sp>
        <p:nvSpPr>
          <p:cNvPr id="58" name="TextBox 57"/>
          <p:cNvSpPr txBox="1"/>
          <p:nvPr/>
        </p:nvSpPr>
        <p:spPr>
          <a:xfrm>
            <a:off x="639165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9" name="Rectangle 58"/>
          <p:cNvSpPr/>
          <p:nvPr/>
        </p:nvSpPr>
        <p:spPr>
          <a:xfrm>
            <a:off x="7059168" y="3364992"/>
            <a:ext cx="150809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43416" y="333756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79.7% · 98 of 99 yes · 0 of 24 no</a:t>
            </a:r>
          </a:p>
        </p:txBody>
      </p:sp>
      <p:sp>
        <p:nvSpPr>
          <p:cNvPr id="61" name="Rectangle 60"/>
          <p:cNvSpPr/>
          <p:nvPr/>
        </p:nvSpPr>
        <p:spPr>
          <a:xfrm>
            <a:off x="7059168" y="3611880"/>
            <a:ext cx="153886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43416" y="3584448"/>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81.3% · 98 of 99 yes · 2 of 24 no</a:t>
            </a:r>
          </a:p>
        </p:txBody>
      </p:sp>
      <p:sp>
        <p:nvSpPr>
          <p:cNvPr id="63" name="TextBox 62"/>
          <p:cNvSpPr txBox="1"/>
          <p:nvPr/>
        </p:nvSpPr>
        <p:spPr>
          <a:xfrm>
            <a:off x="639165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64" name="Rectangle 63"/>
          <p:cNvSpPr/>
          <p:nvPr/>
        </p:nvSpPr>
        <p:spPr>
          <a:xfrm>
            <a:off x="7059168" y="3986784"/>
            <a:ext cx="152347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43416" y="395935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80.5% · 97 of 99 yes · 2 of 24 no</a:t>
            </a:r>
          </a:p>
        </p:txBody>
      </p:sp>
      <p:sp>
        <p:nvSpPr>
          <p:cNvPr id="66" name="Rectangle 65"/>
          <p:cNvSpPr/>
          <p:nvPr/>
        </p:nvSpPr>
        <p:spPr>
          <a:xfrm>
            <a:off x="7059168" y="4233672"/>
            <a:ext cx="156964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043416" y="4206240"/>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82.9% · 98 of 99 yes · 4 of 24 no</a:t>
            </a:r>
          </a:p>
        </p:txBody>
      </p:sp>
      <p:sp>
        <p:nvSpPr>
          <p:cNvPr id="68" name="TextBox 67"/>
          <p:cNvSpPr txBox="1"/>
          <p:nvPr/>
        </p:nvSpPr>
        <p:spPr>
          <a:xfrm>
            <a:off x="639165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69" name="Rectangle 68"/>
          <p:cNvSpPr/>
          <p:nvPr/>
        </p:nvSpPr>
        <p:spPr>
          <a:xfrm>
            <a:off x="7059168" y="4608576"/>
            <a:ext cx="1569645"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43416" y="4581144"/>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82.9% · 98 of 99 yes · 4 of 24 no</a:t>
            </a:r>
          </a:p>
        </p:txBody>
      </p:sp>
      <p:sp>
        <p:nvSpPr>
          <p:cNvPr id="71" name="Rectangle 70"/>
          <p:cNvSpPr/>
          <p:nvPr/>
        </p:nvSpPr>
        <p:spPr>
          <a:xfrm>
            <a:off x="7059168" y="4855464"/>
            <a:ext cx="166197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43416" y="4828032"/>
            <a:ext cx="22860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87.8% · 96 of 99 yes · 12 of 24 no</a:t>
            </a:r>
          </a:p>
        </p:txBody>
      </p:sp>
      <p:sp>
        <p:nvSpPr>
          <p:cNvPr id="73" name="TextBox 72"/>
          <p:cNvSpPr txBox="1"/>
          <p:nvPr/>
        </p:nvSpPr>
        <p:spPr>
          <a:xfrm>
            <a:off x="639165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lines: always “no” = 19.5% · always “yes” = 80.5%</a:t>
            </a:r>
          </a:p>
        </p:txBody>
      </p:sp>
      <p:sp>
        <p:nvSpPr>
          <p:cNvPr id="74" name="Rounded Rectangle 7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Synthesis: the best score, KEV-27B with examples, is 9 designs above always “yes”. KEV-0.8B with examples answers “no” to every design on synthesis.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KEV misses most synthesis failures that compile</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24 synthesis failures split by the compile check. Bars: failures answered “no”.</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Failures whose source compiles</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only synthesis rejects them</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30678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666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44714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02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9" name="TextBox 18"/>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0" name="TextBox 19"/>
          <p:cNvSpPr txBox="1"/>
          <p:nvPr/>
        </p:nvSpPr>
        <p:spPr>
          <a:xfrm>
            <a:off x="456285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15</a:t>
            </a:r>
          </a:p>
        </p:txBody>
      </p:sp>
      <p:sp>
        <p:nvSpPr>
          <p:cNvPr id="21" name="Rectangle 20"/>
          <p:cNvSpPr/>
          <p:nvPr/>
        </p:nvSpPr>
        <p:spPr>
          <a:xfrm>
            <a:off x="1664208" y="2990088"/>
            <a:ext cx="280720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100.0% · 15 of 15</a:t>
            </a:r>
          </a:p>
        </p:txBody>
      </p:sp>
      <p:sp>
        <p:nvSpPr>
          <p:cNvPr id="23" name="TextBox 22"/>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4" name="TextBox 23"/>
          <p:cNvSpPr txBox="1"/>
          <p:nvPr/>
        </p:nvSpPr>
        <p:spPr>
          <a:xfrm>
            <a:off x="456285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15</a:t>
            </a:r>
          </a:p>
        </p:txBody>
      </p:sp>
      <p:sp>
        <p:nvSpPr>
          <p:cNvPr id="25" name="Rectangle 24"/>
          <p:cNvSpPr/>
          <p:nvPr/>
        </p:nvSpPr>
        <p:spPr>
          <a:xfrm>
            <a:off x="1664208" y="3611880"/>
            <a:ext cx="18714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285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6.7% · 1 of 15</a:t>
            </a:r>
          </a:p>
        </p:txBody>
      </p:sp>
      <p:sp>
        <p:nvSpPr>
          <p:cNvPr id="27" name="TextBox 26"/>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8" name="Rectangle 27"/>
          <p:cNvSpPr/>
          <p:nvPr/>
        </p:nvSpPr>
        <p:spPr>
          <a:xfrm>
            <a:off x="1664208" y="3986784"/>
            <a:ext cx="187147"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285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6.7% · 1 of 15</a:t>
            </a:r>
          </a:p>
        </p:txBody>
      </p:sp>
      <p:sp>
        <p:nvSpPr>
          <p:cNvPr id="30" name="Rectangle 29"/>
          <p:cNvSpPr/>
          <p:nvPr/>
        </p:nvSpPr>
        <p:spPr>
          <a:xfrm>
            <a:off x="1664208" y="4233672"/>
            <a:ext cx="37429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6285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13.3% · 2 of 15</a:t>
            </a:r>
          </a:p>
        </p:txBody>
      </p:sp>
      <p:sp>
        <p:nvSpPr>
          <p:cNvPr id="32" name="TextBox 31"/>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3" name="TextBox 32"/>
          <p:cNvSpPr txBox="1"/>
          <p:nvPr/>
        </p:nvSpPr>
        <p:spPr>
          <a:xfrm>
            <a:off x="456285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15</a:t>
            </a:r>
          </a:p>
        </p:txBody>
      </p:sp>
      <p:sp>
        <p:nvSpPr>
          <p:cNvPr id="34" name="Rectangle 33"/>
          <p:cNvSpPr/>
          <p:nvPr/>
        </p:nvSpPr>
        <p:spPr>
          <a:xfrm>
            <a:off x="1664208" y="4855464"/>
            <a:ext cx="74858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6285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26.7% · 4 of 15</a:t>
            </a:r>
          </a:p>
        </p:txBody>
      </p:sp>
      <p:sp>
        <p:nvSpPr>
          <p:cNvPr id="36" name="Rounded Rectangle 35"/>
          <p:cNvSpPr/>
          <p:nvPr/>
        </p:nvSpPr>
        <p:spPr>
          <a:xfrm>
            <a:off x="620877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994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Failures whose source does not compile</a:t>
            </a:r>
          </a:p>
        </p:txBody>
      </p:sp>
      <p:sp>
        <p:nvSpPr>
          <p:cNvPr id="38" name="TextBox 37"/>
          <p:cNvSpPr txBox="1"/>
          <p:nvPr/>
        </p:nvSpPr>
        <p:spPr>
          <a:xfrm>
            <a:off x="640994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vlog rejects them too</a:t>
            </a:r>
          </a:p>
        </p:txBody>
      </p:sp>
      <p:cxnSp>
        <p:nvCxnSpPr>
          <p:cNvPr id="39" name="Connector 38"/>
          <p:cNvCxnSpPr/>
          <p:nvPr/>
        </p:nvCxnSpPr>
        <p:spPr>
          <a:xfrm>
            <a:off x="705916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1" name="Connector 40"/>
          <p:cNvCxnSpPr/>
          <p:nvPr/>
        </p:nvCxnSpPr>
        <p:spPr>
          <a:xfrm>
            <a:off x="846277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6160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3" name="Connector 42"/>
          <p:cNvCxnSpPr/>
          <p:nvPr/>
        </p:nvCxnSpPr>
        <p:spPr>
          <a:xfrm>
            <a:off x="986637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6520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5" name="TextBox 44"/>
          <p:cNvSpPr txBox="1"/>
          <p:nvPr/>
        </p:nvSpPr>
        <p:spPr>
          <a:xfrm>
            <a:off x="639165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TextBox 45"/>
          <p:cNvSpPr txBox="1"/>
          <p:nvPr/>
        </p:nvSpPr>
        <p:spPr>
          <a:xfrm>
            <a:off x="995781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9</a:t>
            </a:r>
          </a:p>
        </p:txBody>
      </p:sp>
      <p:sp>
        <p:nvSpPr>
          <p:cNvPr id="47" name="Rectangle 46"/>
          <p:cNvSpPr/>
          <p:nvPr/>
        </p:nvSpPr>
        <p:spPr>
          <a:xfrm>
            <a:off x="7059168" y="2990088"/>
            <a:ext cx="280720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5781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100.0% · 9 of 9</a:t>
            </a:r>
          </a:p>
        </p:txBody>
      </p:sp>
      <p:sp>
        <p:nvSpPr>
          <p:cNvPr id="49" name="TextBox 48"/>
          <p:cNvSpPr txBox="1"/>
          <p:nvPr/>
        </p:nvSpPr>
        <p:spPr>
          <a:xfrm>
            <a:off x="639165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0" name="TextBox 49"/>
          <p:cNvSpPr txBox="1"/>
          <p:nvPr/>
        </p:nvSpPr>
        <p:spPr>
          <a:xfrm>
            <a:off x="995781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9</a:t>
            </a:r>
          </a:p>
        </p:txBody>
      </p:sp>
      <p:sp>
        <p:nvSpPr>
          <p:cNvPr id="51" name="Rectangle 50"/>
          <p:cNvSpPr/>
          <p:nvPr/>
        </p:nvSpPr>
        <p:spPr>
          <a:xfrm>
            <a:off x="7059168" y="3611880"/>
            <a:ext cx="311912"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5781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11.1% · 1 of 9</a:t>
            </a:r>
          </a:p>
        </p:txBody>
      </p:sp>
      <p:sp>
        <p:nvSpPr>
          <p:cNvPr id="53" name="TextBox 52"/>
          <p:cNvSpPr txBox="1"/>
          <p:nvPr/>
        </p:nvSpPr>
        <p:spPr>
          <a:xfrm>
            <a:off x="639165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4" name="Rectangle 53"/>
          <p:cNvSpPr/>
          <p:nvPr/>
        </p:nvSpPr>
        <p:spPr>
          <a:xfrm>
            <a:off x="7059168" y="3986784"/>
            <a:ext cx="31191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5781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11.1% · 1 of 9</a:t>
            </a:r>
          </a:p>
        </p:txBody>
      </p:sp>
      <p:sp>
        <p:nvSpPr>
          <p:cNvPr id="56" name="Rectangle 55"/>
          <p:cNvSpPr/>
          <p:nvPr/>
        </p:nvSpPr>
        <p:spPr>
          <a:xfrm>
            <a:off x="7059168" y="4233672"/>
            <a:ext cx="62382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5781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22.2% · 2 of 9</a:t>
            </a:r>
          </a:p>
        </p:txBody>
      </p:sp>
      <p:sp>
        <p:nvSpPr>
          <p:cNvPr id="58" name="TextBox 57"/>
          <p:cNvSpPr txBox="1"/>
          <p:nvPr/>
        </p:nvSpPr>
        <p:spPr>
          <a:xfrm>
            <a:off x="639165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9" name="Rectangle 58"/>
          <p:cNvSpPr/>
          <p:nvPr/>
        </p:nvSpPr>
        <p:spPr>
          <a:xfrm>
            <a:off x="7059168" y="4608576"/>
            <a:ext cx="1247648"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5781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44.4% · 4 of 9</a:t>
            </a:r>
          </a:p>
        </p:txBody>
      </p:sp>
      <p:sp>
        <p:nvSpPr>
          <p:cNvPr id="61" name="Rectangle 60"/>
          <p:cNvSpPr/>
          <p:nvPr/>
        </p:nvSpPr>
        <p:spPr>
          <a:xfrm>
            <a:off x="7059168" y="4855464"/>
            <a:ext cx="249529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5781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88.9% · 8 of 9</a:t>
            </a:r>
          </a:p>
        </p:txBody>
      </p:sp>
      <p:sp>
        <p:nvSpPr>
          <p:cNvPr id="63" name="Rounded Rectangle 6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catches 4 of the 15 failures that compile with examples, 0 without; and 8 of the 9 that do not compile (4 without). KEV-0.8B’s full bars are a constant “no”.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ten failure reasons and how often each occurs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says that synthesis failed. 25 reason questions: 16 in the test split, 9 in the development split (dev).</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graphicFrame>
        <p:nvGraphicFramePr>
          <p:cNvPr id="6" name="Table 5"/>
          <p:cNvGraphicFramePr>
            <a:graphicFrameLocks noGrp="1"/>
          </p:cNvGraphicFramePr>
          <p:nvPr/>
        </p:nvGraphicFramePr>
        <p:xfrm>
          <a:off x="813816" y="1783080"/>
          <a:ext cx="10561320" cy="3749040"/>
        </p:xfrm>
        <a:graphic>
          <a:graphicData uri="http://schemas.openxmlformats.org/drawingml/2006/table">
            <a:tbl>
              <a:tblPr firstRow="1" bandRow="1">
                <a:tableStyleId>{5C22544A-7EE6-4342-B048-85BDC9FD1C3A}</a:tableStyleId>
              </a:tblPr>
              <a:tblGrid>
                <a:gridCol w="2103120"/>
                <a:gridCol w="6995160"/>
                <a:gridCol w="640080"/>
                <a:gridCol w="822960"/>
              </a:tblGrid>
              <a:tr h="365760">
                <a:tc>
                  <a:txBody>
                    <a:bodyPr/>
                    <a:lstStyle/>
                    <a:p>
                      <a:pPr algn="l">
                        <a:lnSpc>
                          <a:spcPct val="103000"/>
                        </a:lnSpc>
                        <a:spcBef>
                          <a:spcPts val="0"/>
                        </a:spcBef>
                        <a:spcAft>
                          <a:spcPts val="0"/>
                        </a:spcAft>
                      </a:pPr>
                      <a:r>
                        <a:rPr sz="1300" b="1">
                          <a:solidFill>
                            <a:srgbClr val="FFFFFF"/>
                          </a:solidFill>
                          <a:latin typeface="Arial"/>
                        </a:rPr>
                        <a:t>Reason</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300" b="1">
                          <a:solidFill>
                            <a:srgbClr val="FFFFFF"/>
                          </a:solidFill>
                          <a:latin typeface="Arial"/>
                        </a:rPr>
                        <a:t>Text of the option, as the model reads it</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Test</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Dev</a:t>
                      </a:r>
                    </a:p>
                  </a:txBody>
                  <a:tcPr marL="109728" marR="91440" marT="45720" marB="36576" anchor="ctr">
                    <a:solidFill>
                      <a:srgbClr val="00407A"/>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illegal_code</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not legal Verilog or SystemVerilog: a syntax error, an undeclared name, a non-constant range, or a procedural assignment to a net.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45720"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unsupported_construct</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legal for a simulator, but it uses a data type or construct that synthesis does not support: real, time, string, trireg, a class, a dynamic array, a DPI import, or a user-defined primitive.</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timing_control</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timing control that synthesis does not support: wait, fork-join, or an event trigger (-&gt;).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simulation_statement</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statement or system function for simulation only: force-release, procedural assign-deassign, or $random.</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event_list</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event list that synthesis does not support: both edges of one signal, edge and level events mixed, or different edges in one process.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async_reset</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asynchronous reset or set that synthesis cannot build: statements outside the reset if-else, a second edge signal without the reset template, or a reset to a non-constant value.</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FFFFFF"/>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multiple_drivers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signal has more than one driver, for example assignments in two always blocks.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45720" marB="36576" anchor="ctr">
                    <a:solidFill>
                      <a:srgbClr val="E3EFF5"/>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mixed_assignments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One variable gets blocking and nonblocking assignments in the same always block.</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unbounded_loop</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loop or a recursion that synthesis cannot unroll: a forever loop with no timing control, or a recursion with no constant limit.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45720"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instance_mismatch</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module instance does not match a module: a missing module, an unknown parameter, or an unknown port.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22 of the 25 failures are injected edits. 8 more test designs with an injected compile error get no reason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KEV-27B names a known failure but does not detect it</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Left: the reason question. Right: synthesis and reason answers of the 16 designs.</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Why does synthesis fail?</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designs · the prompt says that synthesis failed</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30678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666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44714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02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2541460"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1" name="Rectangle 20"/>
          <p:cNvSpPr/>
          <p:nvPr/>
        </p:nvSpPr>
        <p:spPr>
          <a:xfrm>
            <a:off x="1664208" y="2743200"/>
            <a:ext cx="87725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31.3% · 5 of 16</a:t>
            </a:r>
          </a:p>
        </p:txBody>
      </p:sp>
      <p:sp>
        <p:nvSpPr>
          <p:cNvPr id="23" name="Rectangle 22"/>
          <p:cNvSpPr/>
          <p:nvPr/>
        </p:nvSpPr>
        <p:spPr>
          <a:xfrm>
            <a:off x="1664208" y="2990088"/>
            <a:ext cx="175450"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6.3% · 1 of 16</a:t>
            </a:r>
          </a:p>
        </p:txBody>
      </p:sp>
      <p:sp>
        <p:nvSpPr>
          <p:cNvPr id="25" name="TextBox 24"/>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6" name="Rectangle 25"/>
          <p:cNvSpPr/>
          <p:nvPr/>
        </p:nvSpPr>
        <p:spPr>
          <a:xfrm>
            <a:off x="1664208" y="3364992"/>
            <a:ext cx="1579054"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6285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56.3% · 9 of 16</a:t>
            </a:r>
          </a:p>
        </p:txBody>
      </p:sp>
      <p:sp>
        <p:nvSpPr>
          <p:cNvPr id="28" name="Rectangle 27"/>
          <p:cNvSpPr/>
          <p:nvPr/>
        </p:nvSpPr>
        <p:spPr>
          <a:xfrm>
            <a:off x="1664208" y="3611880"/>
            <a:ext cx="175450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285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62.5% · 10 of 16</a:t>
            </a:r>
          </a:p>
        </p:txBody>
      </p:sp>
      <p:sp>
        <p:nvSpPr>
          <p:cNvPr id="30" name="TextBox 29"/>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1" name="Rectangle 30"/>
          <p:cNvSpPr/>
          <p:nvPr/>
        </p:nvSpPr>
        <p:spPr>
          <a:xfrm>
            <a:off x="1664208" y="3986784"/>
            <a:ext cx="1929955"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285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68.8% · 11 of 16</a:t>
            </a:r>
          </a:p>
        </p:txBody>
      </p:sp>
      <p:sp>
        <p:nvSpPr>
          <p:cNvPr id="33" name="Rectangle 32"/>
          <p:cNvSpPr/>
          <p:nvPr/>
        </p:nvSpPr>
        <p:spPr>
          <a:xfrm>
            <a:off x="1664208" y="4233672"/>
            <a:ext cx="192995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68.8% · 11 of 16</a:t>
            </a:r>
          </a:p>
        </p:txBody>
      </p:sp>
      <p:sp>
        <p:nvSpPr>
          <p:cNvPr id="35" name="TextBox 34"/>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6" name="Rectangle 35"/>
          <p:cNvSpPr/>
          <p:nvPr/>
        </p:nvSpPr>
        <p:spPr>
          <a:xfrm>
            <a:off x="1664208" y="4608576"/>
            <a:ext cx="2631757"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285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93.8% · 15 of 16</a:t>
            </a:r>
          </a:p>
        </p:txBody>
      </p:sp>
      <p:sp>
        <p:nvSpPr>
          <p:cNvPr id="38" name="Rectangle 37"/>
          <p:cNvSpPr/>
          <p:nvPr/>
        </p:nvSpPr>
        <p:spPr>
          <a:xfrm>
            <a:off x="1664208" y="4855464"/>
            <a:ext cx="245630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285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87.5% · 14 of 16</a:t>
            </a:r>
          </a:p>
        </p:txBody>
      </p:sp>
      <p:sp>
        <p:nvSpPr>
          <p:cNvPr id="40" name="TextBox 39"/>
          <p:cNvSpPr txBox="1"/>
          <p:nvPr/>
        </p:nvSpPr>
        <p:spPr>
          <a:xfrm>
            <a:off x="99669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simulation_statement = 31.3% (5 of 16)</a:t>
            </a:r>
          </a:p>
        </p:txBody>
      </p:sp>
      <p:graphicFrame>
        <p:nvGraphicFramePr>
          <p:cNvPr id="41" name="Table 40"/>
          <p:cNvGraphicFramePr>
            <a:graphicFrameLocks noGrp="1"/>
          </p:cNvGraphicFramePr>
          <p:nvPr/>
        </p:nvGraphicFramePr>
        <p:xfrm>
          <a:off x="6208776" y="1828800"/>
          <a:ext cx="5166360" cy="2468880"/>
        </p:xfrm>
        <a:graphic>
          <a:graphicData uri="http://schemas.openxmlformats.org/drawingml/2006/table">
            <a:tbl>
              <a:tblPr firstRow="1" bandRow="1">
                <a:tableStyleId>{5C22544A-7EE6-4342-B048-85BDC9FD1C3A}</a:tableStyleId>
              </a:tblPr>
              <a:tblGrid>
                <a:gridCol w="1325880"/>
                <a:gridCol w="1371600"/>
                <a:gridCol w="1371600"/>
                <a:gridCol w="1097280"/>
              </a:tblGrid>
              <a:tr h="566928">
                <a:tc>
                  <a:txBody>
                    <a:bodyPr/>
                    <a:lstStyle/>
                    <a:p>
                      <a:pPr algn="l">
                        <a:lnSpc>
                          <a:spcPct val="103000"/>
                        </a:lnSpc>
                        <a:spcBef>
                          <a:spcPts val="0"/>
                        </a:spcBef>
                        <a:spcAft>
                          <a:spcPts val="0"/>
                        </a:spcAft>
                      </a:pPr>
                      <a:r>
                        <a:rPr sz="1300" b="1">
                          <a:solidFill>
                            <a:srgbClr val="FFFFFF"/>
                          </a:solidFill>
                          <a:latin typeface="Arial"/>
                        </a:rPr>
                        <a:t>Model</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Says that</a:t>
                      </a:r>
                    </a:p>
                    <a:p>
                      <a:pPr algn="ctr">
                        <a:lnSpc>
                          <a:spcPct val="103000"/>
                        </a:lnSpc>
                        <a:spcBef>
                          <a:spcPts val="0"/>
                        </a:spcBef>
                        <a:spcAft>
                          <a:spcPts val="0"/>
                        </a:spcAft>
                      </a:pPr>
                      <a:r>
                        <a:rPr sz="1300" b="1">
                          <a:solidFill>
                            <a:srgbClr val="FFFFFF"/>
                          </a:solidFill>
                          <a:latin typeface="Arial"/>
                        </a:rPr>
                        <a:t>synthesis fails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Names the</a:t>
                      </a:r>
                    </a:p>
                    <a:p>
                      <a:pPr algn="ctr">
                        <a:lnSpc>
                          <a:spcPct val="103000"/>
                        </a:lnSpc>
                        <a:spcBef>
                          <a:spcPts val="0"/>
                        </a:spcBef>
                        <a:spcAft>
                          <a:spcPts val="0"/>
                        </a:spcAft>
                      </a:pPr>
                      <a:r>
                        <a:rPr sz="1300" b="1">
                          <a:solidFill>
                            <a:srgbClr val="FFFFFF"/>
                          </a:solidFill>
                          <a:latin typeface="Arial"/>
                        </a:rPr>
                        <a:t>correct reason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Both</a:t>
                      </a:r>
                    </a:p>
                  </a:txBody>
                  <a:tcPr marL="109728" marR="91440" marT="45720" marB="36576" anchor="ctr">
                    <a:solidFill>
                      <a:srgbClr val="00407A"/>
                    </a:solidFill>
                    <a:lnL>
                      <a:noFill/>
                    </a:lnL>
                    <a:lnR>
                      <a:noFill/>
                    </a:lnR>
                    <a:lnT>
                      <a:noFill/>
                    </a:lnT>
                    <a:lnB>
                      <a:noFill/>
                    </a:lnB>
                  </a:tcPr>
                </a:tc>
              </a:tr>
              <a:tr h="475488">
                <a:tc>
                  <a:txBody>
                    <a:bodyPr/>
                    <a:lstStyle/>
                    <a:p>
                      <a:pPr algn="l">
                        <a:lnSpc>
                          <a:spcPct val="103000"/>
                        </a:lnSpc>
                        <a:spcBef>
                          <a:spcPts val="0"/>
                        </a:spcBef>
                        <a:spcAft>
                          <a:spcPts val="0"/>
                        </a:spcAft>
                      </a:pPr>
                      <a:r>
                        <a:rPr sz="1500" b="0">
                          <a:solidFill>
                            <a:srgbClr val="00407A"/>
                          </a:solidFill>
                          <a:latin typeface="Arial"/>
                        </a:rPr>
                        <a:t>KEV-0.8B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5 → 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1</a:t>
                      </a:r>
                    </a:p>
                  </a:txBody>
                  <a:tcPr marL="109728" marR="91440" marT="45720" marB="36576" anchor="ctr">
                    <a:solidFill>
                      <a:srgbClr val="E3EFF5"/>
                    </a:solidFill>
                    <a:lnL>
                      <a:noFill/>
                    </a:lnL>
                    <a:lnR>
                      <a:noFill/>
                    </a:lnR>
                    <a:lnT>
                      <a:noFill/>
                    </a:lnT>
                    <a:lnB>
                      <a:noFill/>
                    </a:lnB>
                  </a:tcPr>
                </a:tc>
              </a:tr>
              <a:tr h="475488">
                <a:tc>
                  <a:txBody>
                    <a:bodyPr/>
                    <a:lstStyle/>
                    <a:p>
                      <a:pPr algn="l">
                        <a:lnSpc>
                          <a:spcPct val="103000"/>
                        </a:lnSpc>
                        <a:spcBef>
                          <a:spcPts val="0"/>
                        </a:spcBef>
                        <a:spcAft>
                          <a:spcPts val="0"/>
                        </a:spcAft>
                      </a:pPr>
                      <a:r>
                        <a:rPr sz="1500" b="0">
                          <a:solidFill>
                            <a:srgbClr val="00407A"/>
                          </a:solidFill>
                          <a:latin typeface="Arial"/>
                        </a:rPr>
                        <a:t>KEV-4B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 → 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1</a:t>
                      </a:r>
                    </a:p>
                  </a:txBody>
                  <a:tcPr marL="109728" marR="91440" marT="45720" marB="36576" anchor="ctr">
                    <a:solidFill>
                      <a:srgbClr val="FFFFFF"/>
                    </a:solidFill>
                    <a:lnL>
                      <a:noFill/>
                    </a:lnL>
                    <a:lnR>
                      <a:noFill/>
                    </a:lnR>
                    <a:lnT>
                      <a:noFill/>
                    </a:lnT>
                    <a:lnB>
                      <a:noFill/>
                    </a:lnB>
                  </a:tcPr>
                </a:tc>
              </a:tr>
              <a:tr h="475488">
                <a:tc>
                  <a:txBody>
                    <a:bodyPr/>
                    <a:lstStyle/>
                    <a:p>
                      <a:pPr algn="l">
                        <a:lnSpc>
                          <a:spcPct val="103000"/>
                        </a:lnSpc>
                        <a:spcBef>
                          <a:spcPts val="0"/>
                        </a:spcBef>
                        <a:spcAft>
                          <a:spcPts val="0"/>
                        </a:spcAft>
                      </a:pPr>
                      <a:r>
                        <a:rPr sz="1500" b="0">
                          <a:solidFill>
                            <a:srgbClr val="00407A"/>
                          </a:solidFill>
                          <a:latin typeface="Arial"/>
                        </a:rPr>
                        <a:t>KEV-9B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 → 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 → 11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 → 2</a:t>
                      </a:r>
                    </a:p>
                  </a:txBody>
                  <a:tcPr marL="109728" marR="91440" marT="45720" marB="36576" anchor="ctr">
                    <a:solidFill>
                      <a:srgbClr val="E3EFF5"/>
                    </a:solidFill>
                    <a:lnL>
                      <a:noFill/>
                    </a:lnL>
                    <a:lnR>
                      <a:noFill/>
                    </a:lnR>
                    <a:lnT>
                      <a:noFill/>
                    </a:lnT>
                    <a:lnB>
                      <a:noFill/>
                    </a:lnB>
                  </a:tcPr>
                </a:tc>
              </a:tr>
              <a:tr h="475488">
                <a:tc>
                  <a:txBody>
                    <a:bodyPr/>
                    <a:lstStyle/>
                    <a:p>
                      <a:pPr algn="l">
                        <a:lnSpc>
                          <a:spcPct val="103000"/>
                        </a:lnSpc>
                        <a:spcBef>
                          <a:spcPts val="0"/>
                        </a:spcBef>
                        <a:spcAft>
                          <a:spcPts val="0"/>
                        </a:spcAft>
                      </a:pPr>
                      <a:r>
                        <a:rPr sz="1500" b="0">
                          <a:solidFill>
                            <a:srgbClr val="00407A"/>
                          </a:solidFill>
                          <a:latin typeface="Arial"/>
                        </a:rPr>
                        <a:t>KEV-27B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15 → 14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5</a:t>
                      </a:r>
                    </a:p>
                  </a:txBody>
                  <a:tcPr marL="109728" marR="91440" marT="45720" marB="36576" anchor="ctr">
                    <a:solidFill>
                      <a:srgbClr val="FFFFFF"/>
                    </a:solidFill>
                    <a:lnL>
                      <a:noFill/>
                    </a:lnL>
                    <a:lnR>
                      <a:noFill/>
                    </a:lnR>
                    <a:lnT>
                      <a:noFill/>
                    </a:lnT>
                    <a:lnB>
                      <a:noFill/>
                    </a:lnB>
                  </a:tcPr>
                </a:tc>
              </a:tr>
            </a:tbl>
          </a:graphicData>
        </a:graphic>
      </p:graphicFrame>
      <p:sp>
        <p:nvSpPr>
          <p:cNvPr id="42" name="TextBox 41"/>
          <p:cNvSpPr txBox="1"/>
          <p:nvPr/>
        </p:nvSpPr>
        <p:spPr>
          <a:xfrm>
            <a:off x="6263640" y="4434840"/>
            <a:ext cx="5120640" cy="109728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Each cell: designs of 16, no examples → three examples.</a:t>
            </a:r>
          </a:p>
          <a:p>
            <a:pPr algn="l">
              <a:lnSpc>
                <a:spcPct val="109000"/>
              </a:lnSpc>
              <a:spcBef>
                <a:spcPts val="0"/>
              </a:spcBef>
              <a:spcAft>
                <a:spcPts val="0"/>
              </a:spcAft>
            </a:pPr>
            <a:r>
              <a:rPr sz="1300" b="0">
                <a:solidFill>
                  <a:srgbClr val="4A5A66"/>
                </a:solidFill>
                <a:latin typeface="Arial"/>
              </a:rPr>
              <a:t>The synthesis answer comes from the yes/no request of the same design, where the prompt does not say that it fails.</a:t>
            </a:r>
          </a:p>
        </p:txBody>
      </p:sp>
      <p:sp>
        <p:nvSpPr>
          <p:cNvPr id="43" name="Rounded Rectangle 4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names the reason for 15 of 16 known failures without examples, but it says “synthesis fails” for 0 of these 16 designs when the prompt does not tell it (5 with examples).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are usable; power levels are not</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Bars: exact level. Dashed line: the most common level of the tool labels.</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Area level</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92 designs · all five levels occur</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30678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666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44714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02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2671141"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1" name="Rectangle 20"/>
          <p:cNvSpPr/>
          <p:nvPr/>
        </p:nvSpPr>
        <p:spPr>
          <a:xfrm>
            <a:off x="1664208" y="2743200"/>
            <a:ext cx="100693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35.9% · 33 of 92</a:t>
            </a:r>
          </a:p>
        </p:txBody>
      </p:sp>
      <p:sp>
        <p:nvSpPr>
          <p:cNvPr id="23" name="Rectangle 22"/>
          <p:cNvSpPr/>
          <p:nvPr/>
        </p:nvSpPr>
        <p:spPr>
          <a:xfrm>
            <a:off x="1664208" y="2990088"/>
            <a:ext cx="6102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2.2% · 2 of 92</a:t>
            </a:r>
          </a:p>
        </p:txBody>
      </p:sp>
      <p:sp>
        <p:nvSpPr>
          <p:cNvPr id="25" name="TextBox 24"/>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6" name="Rectangle 25"/>
          <p:cNvSpPr/>
          <p:nvPr/>
        </p:nvSpPr>
        <p:spPr>
          <a:xfrm>
            <a:off x="1664208" y="3364992"/>
            <a:ext cx="100693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6285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35.9% · 33 of 92</a:t>
            </a:r>
          </a:p>
        </p:txBody>
      </p:sp>
      <p:sp>
        <p:nvSpPr>
          <p:cNvPr id="28" name="Rectangle 27"/>
          <p:cNvSpPr/>
          <p:nvPr/>
        </p:nvSpPr>
        <p:spPr>
          <a:xfrm>
            <a:off x="1664208" y="3611880"/>
            <a:ext cx="140360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285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50.0% · 46 of 92</a:t>
            </a:r>
          </a:p>
        </p:txBody>
      </p:sp>
      <p:sp>
        <p:nvSpPr>
          <p:cNvPr id="30" name="TextBox 29"/>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1" name="Rectangle 30"/>
          <p:cNvSpPr/>
          <p:nvPr/>
        </p:nvSpPr>
        <p:spPr>
          <a:xfrm>
            <a:off x="1664208" y="3986784"/>
            <a:ext cx="1617195"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285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57.6% · 53 of 92</a:t>
            </a:r>
          </a:p>
        </p:txBody>
      </p:sp>
      <p:sp>
        <p:nvSpPr>
          <p:cNvPr id="33" name="Rectangle 32"/>
          <p:cNvSpPr/>
          <p:nvPr/>
        </p:nvSpPr>
        <p:spPr>
          <a:xfrm>
            <a:off x="1664208" y="4233672"/>
            <a:ext cx="152565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54.3% · 50 of 92</a:t>
            </a:r>
          </a:p>
        </p:txBody>
      </p:sp>
      <p:sp>
        <p:nvSpPr>
          <p:cNvPr id="35" name="TextBox 34"/>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6" name="Rectangle 35"/>
          <p:cNvSpPr/>
          <p:nvPr/>
        </p:nvSpPr>
        <p:spPr>
          <a:xfrm>
            <a:off x="1664208" y="4608576"/>
            <a:ext cx="186130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285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66.3% · 61 of 92</a:t>
            </a:r>
          </a:p>
        </p:txBody>
      </p:sp>
      <p:sp>
        <p:nvSpPr>
          <p:cNvPr id="38" name="Rectangle 37"/>
          <p:cNvSpPr/>
          <p:nvPr/>
        </p:nvSpPr>
        <p:spPr>
          <a:xfrm>
            <a:off x="1664208" y="4855464"/>
            <a:ext cx="1464630"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285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52.2% · 48 of 92</a:t>
            </a:r>
          </a:p>
        </p:txBody>
      </p:sp>
      <p:sp>
        <p:nvSpPr>
          <p:cNvPr id="40" name="TextBox 39"/>
          <p:cNvSpPr txBox="1"/>
          <p:nvPr/>
        </p:nvSpPr>
        <p:spPr>
          <a:xfrm>
            <a:off x="99669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 (33 of 92)</a:t>
            </a:r>
          </a:p>
        </p:txBody>
      </p:sp>
      <p:sp>
        <p:nvSpPr>
          <p:cNvPr id="41" name="Rounded Rectangle 40"/>
          <p:cNvSpPr/>
          <p:nvPr/>
        </p:nvSpPr>
        <p:spPr>
          <a:xfrm>
            <a:off x="620877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Power level</a:t>
            </a:r>
          </a:p>
        </p:txBody>
      </p:sp>
      <p:sp>
        <p:nvSpPr>
          <p:cNvPr id="43" name="TextBox 42"/>
          <p:cNvSpPr txBox="1"/>
          <p:nvPr/>
        </p:nvSpPr>
        <p:spPr>
          <a:xfrm>
            <a:off x="640994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85 designs · levels 1 to 4 occur</a:t>
            </a:r>
          </a:p>
        </p:txBody>
      </p:sp>
      <p:cxnSp>
        <p:nvCxnSpPr>
          <p:cNvPr id="44" name="Connector 43"/>
          <p:cNvCxnSpPr/>
          <p:nvPr/>
        </p:nvCxnSpPr>
        <p:spPr>
          <a:xfrm>
            <a:off x="705916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85800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6" name="Connector 45"/>
          <p:cNvCxnSpPr/>
          <p:nvPr/>
        </p:nvCxnSpPr>
        <p:spPr>
          <a:xfrm>
            <a:off x="846277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26160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8" name="Connector 47"/>
          <p:cNvCxnSpPr/>
          <p:nvPr/>
        </p:nvCxnSpPr>
        <p:spPr>
          <a:xfrm>
            <a:off x="986637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6520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50" name="Connector 49"/>
          <p:cNvCxnSpPr/>
          <p:nvPr/>
        </p:nvCxnSpPr>
        <p:spPr>
          <a:xfrm>
            <a:off x="8281129"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9165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 name="Rectangle 51"/>
          <p:cNvSpPr/>
          <p:nvPr/>
        </p:nvSpPr>
        <p:spPr>
          <a:xfrm>
            <a:off x="7059168" y="2743200"/>
            <a:ext cx="759597"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5781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27.1% · 23 of 85</a:t>
            </a:r>
          </a:p>
        </p:txBody>
      </p:sp>
      <p:sp>
        <p:nvSpPr>
          <p:cNvPr id="54" name="TextBox 53"/>
          <p:cNvSpPr txBox="1"/>
          <p:nvPr/>
        </p:nvSpPr>
        <p:spPr>
          <a:xfrm>
            <a:off x="995781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0.0% · 0 of 85</a:t>
            </a:r>
          </a:p>
        </p:txBody>
      </p:sp>
      <p:sp>
        <p:nvSpPr>
          <p:cNvPr id="55" name="TextBox 54"/>
          <p:cNvSpPr txBox="1"/>
          <p:nvPr/>
        </p:nvSpPr>
        <p:spPr>
          <a:xfrm>
            <a:off x="639165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6" name="Rectangle 55"/>
          <p:cNvSpPr/>
          <p:nvPr/>
        </p:nvSpPr>
        <p:spPr>
          <a:xfrm>
            <a:off x="7059168" y="3364992"/>
            <a:ext cx="128801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5781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45.9% · 39 of 85</a:t>
            </a:r>
          </a:p>
        </p:txBody>
      </p:sp>
      <p:sp>
        <p:nvSpPr>
          <p:cNvPr id="58" name="Rectangle 57"/>
          <p:cNvSpPr/>
          <p:nvPr/>
        </p:nvSpPr>
        <p:spPr>
          <a:xfrm>
            <a:off x="7059168" y="3611880"/>
            <a:ext cx="1122883"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95781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40.0% · 34 of 85</a:t>
            </a:r>
          </a:p>
        </p:txBody>
      </p:sp>
      <p:sp>
        <p:nvSpPr>
          <p:cNvPr id="60" name="TextBox 59"/>
          <p:cNvSpPr txBox="1"/>
          <p:nvPr/>
        </p:nvSpPr>
        <p:spPr>
          <a:xfrm>
            <a:off x="639165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61" name="Rectangle 60"/>
          <p:cNvSpPr/>
          <p:nvPr/>
        </p:nvSpPr>
        <p:spPr>
          <a:xfrm>
            <a:off x="7059168" y="3986784"/>
            <a:ext cx="112288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5781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40.0% · 34 of 85</a:t>
            </a:r>
          </a:p>
        </p:txBody>
      </p:sp>
      <p:sp>
        <p:nvSpPr>
          <p:cNvPr id="63" name="Rectangle 62"/>
          <p:cNvSpPr/>
          <p:nvPr/>
        </p:nvSpPr>
        <p:spPr>
          <a:xfrm>
            <a:off x="7059168" y="4233672"/>
            <a:ext cx="792623"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5781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28.2% · 24 of 85</a:t>
            </a:r>
          </a:p>
        </p:txBody>
      </p:sp>
      <p:sp>
        <p:nvSpPr>
          <p:cNvPr id="65" name="TextBox 64"/>
          <p:cNvSpPr txBox="1"/>
          <p:nvPr/>
        </p:nvSpPr>
        <p:spPr>
          <a:xfrm>
            <a:off x="639165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66" name="Rectangle 65"/>
          <p:cNvSpPr/>
          <p:nvPr/>
        </p:nvSpPr>
        <p:spPr>
          <a:xfrm>
            <a:off x="7059168" y="4608576"/>
            <a:ext cx="29723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5781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10.6% · 9 of 85</a:t>
            </a:r>
          </a:p>
        </p:txBody>
      </p:sp>
      <p:sp>
        <p:nvSpPr>
          <p:cNvPr id="68" name="Rectangle 67"/>
          <p:cNvSpPr/>
          <p:nvPr/>
        </p:nvSpPr>
        <p:spPr>
          <a:xfrm>
            <a:off x="7059168" y="4855464"/>
            <a:ext cx="118893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5781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42.4% · 36 of 85</a:t>
            </a:r>
          </a:p>
        </p:txBody>
      </p:sp>
      <p:sp>
        <p:nvSpPr>
          <p:cNvPr id="70" name="TextBox 69"/>
          <p:cNvSpPr txBox="1"/>
          <p:nvPr/>
        </p:nvSpPr>
        <p:spPr>
          <a:xfrm>
            <a:off x="639165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 (37 of 85)</a:t>
            </a:r>
          </a:p>
        </p:txBody>
      </p:sp>
      <p:sp>
        <p:nvSpPr>
          <p:cNvPr id="71" name="Rounded Rectangle 7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Area: KEV-27B is exact for 61 of 92 designs and within one level for all 92; with examples the exact count drops to 48. Power: only KEV-4B without examples (39 of 85) is above always level 2 (37 of 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no model beats a constant answer</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Bars: exact level. Dashed line: the most common tool level. No slack is negative.</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sp>
        <p:nvSpPr>
          <p:cNvPr id="10" name="Rounded Rectangle 9"/>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Reachable clock frequency level</a:t>
            </a:r>
          </a:p>
        </p:txBody>
      </p:sp>
      <p:sp>
        <p:nvSpPr>
          <p:cNvPr id="12" name="TextBox 11"/>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92 designs · levels 1 to 4 occur</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306781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6664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447141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024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3037298"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1" name="Rectangle 20"/>
          <p:cNvSpPr/>
          <p:nvPr/>
        </p:nvSpPr>
        <p:spPr>
          <a:xfrm>
            <a:off x="1664208" y="2743200"/>
            <a:ext cx="39667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14.1% · 13 of 92</a:t>
            </a:r>
          </a:p>
        </p:txBody>
      </p:sp>
      <p:sp>
        <p:nvSpPr>
          <p:cNvPr id="23" name="Rectangle 22"/>
          <p:cNvSpPr/>
          <p:nvPr/>
        </p:nvSpPr>
        <p:spPr>
          <a:xfrm>
            <a:off x="1664208" y="2990088"/>
            <a:ext cx="671288"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23.9% · 22 of 92</a:t>
            </a:r>
          </a:p>
        </p:txBody>
      </p:sp>
      <p:sp>
        <p:nvSpPr>
          <p:cNvPr id="25" name="TextBox 24"/>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6" name="Rectangle 25"/>
          <p:cNvSpPr/>
          <p:nvPr/>
        </p:nvSpPr>
        <p:spPr>
          <a:xfrm>
            <a:off x="1664208" y="3364992"/>
            <a:ext cx="335644"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6285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12.0% · 11 of 92</a:t>
            </a:r>
          </a:p>
        </p:txBody>
      </p:sp>
      <p:sp>
        <p:nvSpPr>
          <p:cNvPr id="28" name="Rectangle 27"/>
          <p:cNvSpPr/>
          <p:nvPr/>
        </p:nvSpPr>
        <p:spPr>
          <a:xfrm>
            <a:off x="1664208" y="3611880"/>
            <a:ext cx="64077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285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22.8% · 21 of 92</a:t>
            </a:r>
          </a:p>
        </p:txBody>
      </p:sp>
      <p:sp>
        <p:nvSpPr>
          <p:cNvPr id="30" name="TextBox 29"/>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1" name="Rectangle 30"/>
          <p:cNvSpPr/>
          <p:nvPr/>
        </p:nvSpPr>
        <p:spPr>
          <a:xfrm>
            <a:off x="1664208" y="3986784"/>
            <a:ext cx="39667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285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14.1% · 13 of 92</a:t>
            </a:r>
          </a:p>
        </p:txBody>
      </p:sp>
      <p:sp>
        <p:nvSpPr>
          <p:cNvPr id="33" name="Rectangle 32"/>
          <p:cNvSpPr/>
          <p:nvPr/>
        </p:nvSpPr>
        <p:spPr>
          <a:xfrm>
            <a:off x="1664208" y="4233672"/>
            <a:ext cx="45769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16.3% · 15 of 92</a:t>
            </a:r>
          </a:p>
        </p:txBody>
      </p:sp>
      <p:sp>
        <p:nvSpPr>
          <p:cNvPr id="35" name="TextBox 34"/>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6" name="Rectangle 35"/>
          <p:cNvSpPr/>
          <p:nvPr/>
        </p:nvSpPr>
        <p:spPr>
          <a:xfrm>
            <a:off x="1664208" y="4608576"/>
            <a:ext cx="39667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285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14.1% · 13 of 92</a:t>
            </a:r>
          </a:p>
        </p:txBody>
      </p:sp>
      <p:sp>
        <p:nvSpPr>
          <p:cNvPr id="38" name="Rectangle 37"/>
          <p:cNvSpPr/>
          <p:nvPr/>
        </p:nvSpPr>
        <p:spPr>
          <a:xfrm>
            <a:off x="1664208" y="4855464"/>
            <a:ext cx="1098472"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285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39.1% · 36 of 92</a:t>
            </a:r>
          </a:p>
        </p:txBody>
      </p:sp>
      <p:sp>
        <p:nvSpPr>
          <p:cNvPr id="40" name="TextBox 39"/>
          <p:cNvSpPr txBox="1"/>
          <p:nvPr/>
        </p:nvSpPr>
        <p:spPr>
          <a:xfrm>
            <a:off x="99669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 (45 of 92)</a:t>
            </a:r>
          </a:p>
        </p:txBody>
      </p:sp>
      <p:sp>
        <p:nvSpPr>
          <p:cNvPr id="41" name="Rounded Rectangle 40"/>
          <p:cNvSpPr/>
          <p:nvPr/>
        </p:nvSpPr>
        <p:spPr>
          <a:xfrm>
            <a:off x="620877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Timing margin (slack) level</a:t>
            </a:r>
          </a:p>
        </p:txBody>
      </p:sp>
      <p:sp>
        <p:nvSpPr>
          <p:cNvPr id="43" name="TextBox 42"/>
          <p:cNvSpPr txBox="1"/>
          <p:nvPr/>
        </p:nvSpPr>
        <p:spPr>
          <a:xfrm>
            <a:off x="640994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92 designs · levels 2 to 5 occur</a:t>
            </a:r>
          </a:p>
        </p:txBody>
      </p:sp>
      <p:cxnSp>
        <p:nvCxnSpPr>
          <p:cNvPr id="44" name="Connector 43"/>
          <p:cNvCxnSpPr/>
          <p:nvPr/>
        </p:nvCxnSpPr>
        <p:spPr>
          <a:xfrm>
            <a:off x="705916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85800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6" name="Connector 45"/>
          <p:cNvCxnSpPr/>
          <p:nvPr/>
        </p:nvCxnSpPr>
        <p:spPr>
          <a:xfrm>
            <a:off x="846277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26160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8" name="Connector 47"/>
          <p:cNvCxnSpPr/>
          <p:nvPr/>
        </p:nvCxnSpPr>
        <p:spPr>
          <a:xfrm>
            <a:off x="986637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6520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50" name="Connector 49"/>
          <p:cNvCxnSpPr/>
          <p:nvPr/>
        </p:nvCxnSpPr>
        <p:spPr>
          <a:xfrm>
            <a:off x="8981495"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9165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 name="Rectangle 51"/>
          <p:cNvSpPr/>
          <p:nvPr/>
        </p:nvSpPr>
        <p:spPr>
          <a:xfrm>
            <a:off x="7059168" y="2743200"/>
            <a:ext cx="244105"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57816" y="271576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8.7% · 8 of 92</a:t>
            </a:r>
          </a:p>
        </p:txBody>
      </p:sp>
      <p:sp>
        <p:nvSpPr>
          <p:cNvPr id="54" name="Rectangle 53"/>
          <p:cNvSpPr/>
          <p:nvPr/>
        </p:nvSpPr>
        <p:spPr>
          <a:xfrm>
            <a:off x="7059168" y="2990088"/>
            <a:ext cx="192232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57816" y="2962656"/>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68.5% · 63 of 92</a:t>
            </a:r>
          </a:p>
        </p:txBody>
      </p:sp>
      <p:sp>
        <p:nvSpPr>
          <p:cNvPr id="56" name="TextBox 55"/>
          <p:cNvSpPr txBox="1"/>
          <p:nvPr/>
        </p:nvSpPr>
        <p:spPr>
          <a:xfrm>
            <a:off x="639165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7" name="Rectangle 56"/>
          <p:cNvSpPr/>
          <p:nvPr/>
        </p:nvSpPr>
        <p:spPr>
          <a:xfrm>
            <a:off x="7059168" y="3364992"/>
            <a:ext cx="12205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57816" y="333756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4.3% · 4 of 92</a:t>
            </a:r>
          </a:p>
        </p:txBody>
      </p:sp>
      <p:sp>
        <p:nvSpPr>
          <p:cNvPr id="59" name="Rectangle 58"/>
          <p:cNvSpPr/>
          <p:nvPr/>
        </p:nvSpPr>
        <p:spPr>
          <a:xfrm>
            <a:off x="7059168" y="3611880"/>
            <a:ext cx="305131"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57816" y="3584448"/>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10.9% · 10 of 92</a:t>
            </a:r>
          </a:p>
        </p:txBody>
      </p:sp>
      <p:sp>
        <p:nvSpPr>
          <p:cNvPr id="61" name="TextBox 60"/>
          <p:cNvSpPr txBox="1"/>
          <p:nvPr/>
        </p:nvSpPr>
        <p:spPr>
          <a:xfrm>
            <a:off x="639165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62" name="Rectangle 61"/>
          <p:cNvSpPr/>
          <p:nvPr/>
        </p:nvSpPr>
        <p:spPr>
          <a:xfrm>
            <a:off x="7059168" y="3986784"/>
            <a:ext cx="91539"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957816" y="395935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3.3% · 3 of 92</a:t>
            </a:r>
          </a:p>
        </p:txBody>
      </p:sp>
      <p:sp>
        <p:nvSpPr>
          <p:cNvPr id="64" name="Rectangle 63"/>
          <p:cNvSpPr/>
          <p:nvPr/>
        </p:nvSpPr>
        <p:spPr>
          <a:xfrm>
            <a:off x="7059168" y="4233672"/>
            <a:ext cx="45769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57816" y="4206240"/>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16.3% · 15 of 92</a:t>
            </a:r>
          </a:p>
        </p:txBody>
      </p:sp>
      <p:sp>
        <p:nvSpPr>
          <p:cNvPr id="66" name="TextBox 65"/>
          <p:cNvSpPr txBox="1"/>
          <p:nvPr/>
        </p:nvSpPr>
        <p:spPr>
          <a:xfrm>
            <a:off x="639165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67" name="Rectangle 66"/>
          <p:cNvSpPr/>
          <p:nvPr/>
        </p:nvSpPr>
        <p:spPr>
          <a:xfrm>
            <a:off x="7059168" y="4608576"/>
            <a:ext cx="915393"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57816" y="4581144"/>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32.6% · 30 of 92</a:t>
            </a:r>
          </a:p>
        </p:txBody>
      </p:sp>
      <p:sp>
        <p:nvSpPr>
          <p:cNvPr id="69" name="Rectangle 68"/>
          <p:cNvSpPr/>
          <p:nvPr/>
        </p:nvSpPr>
        <p:spPr>
          <a:xfrm>
            <a:off x="7059168" y="4855464"/>
            <a:ext cx="1830787"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957816" y="4828032"/>
            <a:ext cx="137160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65.2% · 60 of 92</a:t>
            </a:r>
          </a:p>
        </p:txBody>
      </p:sp>
      <p:sp>
        <p:nvSpPr>
          <p:cNvPr id="71" name="TextBox 70"/>
          <p:cNvSpPr txBox="1"/>
          <p:nvPr/>
        </p:nvSpPr>
        <p:spPr>
          <a:xfrm>
            <a:off x="6391656" y="533095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 (63 of 92)</a:t>
            </a:r>
          </a:p>
        </p:txBody>
      </p:sp>
      <p:sp>
        <p:nvSpPr>
          <p:cNvPr id="72" name="Rounded Rectangle 7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With examples KEV-27B reaches 36 of 92 (frequency) and 60 of 92 (slack); the constant answers score 45 and 63. KEV-0.8B’s 63 of 92 is level 5 for every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KEV-27B’s chosen levels do not match the tool’s levels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Designs at each level: the tool, then KEV-27B without and with examples. Equal counts are not correct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Reachable clock frequency level</a:t>
            </a:r>
          </a:p>
        </p:txBody>
      </p:sp>
      <p:sp>
        <p:nvSpPr>
          <p:cNvPr id="8" name="TextBox 7"/>
          <p:cNvSpPr txBox="1"/>
          <p:nvPr/>
        </p:nvSpPr>
        <p:spPr>
          <a:xfrm>
            <a:off x="101498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92 designs · counts at each level</a:t>
            </a:r>
          </a:p>
        </p:txBody>
      </p:sp>
      <p:cxnSp>
        <p:nvCxnSpPr>
          <p:cNvPr id="9" name="Connector 8"/>
          <p:cNvCxnSpPr/>
          <p:nvPr/>
        </p:nvCxnSpPr>
        <p:spPr>
          <a:xfrm>
            <a:off x="1389888" y="466344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562855"/>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22910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128515"/>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79476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69417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042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5983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9260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8254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81328" y="4437583"/>
            <a:ext cx="192024" cy="225856"/>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4218127"/>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13</a:t>
            </a:r>
          </a:p>
        </p:txBody>
      </p:sp>
      <p:sp>
        <p:nvSpPr>
          <p:cNvPr id="21" name="Rectangle 20"/>
          <p:cNvSpPr/>
          <p:nvPr/>
        </p:nvSpPr>
        <p:spPr>
          <a:xfrm>
            <a:off x="1719072" y="3099816"/>
            <a:ext cx="192024" cy="156362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5064" y="2880360"/>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90</a:t>
            </a:r>
          </a:p>
        </p:txBody>
      </p:sp>
      <p:sp>
        <p:nvSpPr>
          <p:cNvPr id="23" name="Rectangle 22"/>
          <p:cNvSpPr/>
          <p:nvPr/>
        </p:nvSpPr>
        <p:spPr>
          <a:xfrm>
            <a:off x="1956816" y="4159605"/>
            <a:ext cx="192024" cy="50383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92808" y="3940149"/>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29</a:t>
            </a:r>
          </a:p>
        </p:txBody>
      </p:sp>
      <p:sp>
        <p:nvSpPr>
          <p:cNvPr id="25" name="TextBox 24"/>
          <p:cNvSpPr txBox="1"/>
          <p:nvPr/>
        </p:nvSpPr>
        <p:spPr>
          <a:xfrm>
            <a:off x="1645920"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6" name="Rectangle 25"/>
          <p:cNvSpPr/>
          <p:nvPr/>
        </p:nvSpPr>
        <p:spPr>
          <a:xfrm>
            <a:off x="2335377" y="4385462"/>
            <a:ext cx="192024" cy="277977"/>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71369" y="4166006"/>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16</a:t>
            </a:r>
          </a:p>
        </p:txBody>
      </p:sp>
      <p:sp>
        <p:nvSpPr>
          <p:cNvPr id="28" name="TextBox 27"/>
          <p:cNvSpPr txBox="1"/>
          <p:nvPr/>
        </p:nvSpPr>
        <p:spPr>
          <a:xfrm>
            <a:off x="2509113"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29" name="Rectangle 28"/>
          <p:cNvSpPr/>
          <p:nvPr/>
        </p:nvSpPr>
        <p:spPr>
          <a:xfrm>
            <a:off x="2810865" y="4646066"/>
            <a:ext cx="192024" cy="17373"/>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6857" y="4426610"/>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a:t>
            </a:r>
          </a:p>
        </p:txBody>
      </p:sp>
      <p:sp>
        <p:nvSpPr>
          <p:cNvPr id="31" name="TextBox 30"/>
          <p:cNvSpPr txBox="1"/>
          <p:nvPr/>
        </p:nvSpPr>
        <p:spPr>
          <a:xfrm>
            <a:off x="2499969"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32" name="Rectangle 31"/>
          <p:cNvSpPr/>
          <p:nvPr/>
        </p:nvSpPr>
        <p:spPr>
          <a:xfrm>
            <a:off x="3189427" y="4350715"/>
            <a:ext cx="192024" cy="312724"/>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25419" y="4131259"/>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18</a:t>
            </a:r>
          </a:p>
        </p:txBody>
      </p:sp>
      <p:sp>
        <p:nvSpPr>
          <p:cNvPr id="34" name="TextBox 33"/>
          <p:cNvSpPr txBox="1"/>
          <p:nvPr/>
        </p:nvSpPr>
        <p:spPr>
          <a:xfrm>
            <a:off x="3363163"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35" name="Rectangle 34"/>
          <p:cNvSpPr/>
          <p:nvPr/>
        </p:nvSpPr>
        <p:spPr>
          <a:xfrm>
            <a:off x="3664915" y="4142232"/>
            <a:ext cx="192024" cy="521207"/>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00907" y="3922776"/>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30</a:t>
            </a:r>
          </a:p>
        </p:txBody>
      </p:sp>
      <p:sp>
        <p:nvSpPr>
          <p:cNvPr id="37" name="TextBox 36"/>
          <p:cNvSpPr txBox="1"/>
          <p:nvPr/>
        </p:nvSpPr>
        <p:spPr>
          <a:xfrm>
            <a:off x="3354019"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8" name="Rectangle 37"/>
          <p:cNvSpPr/>
          <p:nvPr/>
        </p:nvSpPr>
        <p:spPr>
          <a:xfrm>
            <a:off x="4043476" y="3881628"/>
            <a:ext cx="192024" cy="781812"/>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79468" y="3662172"/>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45</a:t>
            </a:r>
          </a:p>
        </p:txBody>
      </p:sp>
      <p:sp>
        <p:nvSpPr>
          <p:cNvPr id="40" name="TextBox 39"/>
          <p:cNvSpPr txBox="1"/>
          <p:nvPr/>
        </p:nvSpPr>
        <p:spPr>
          <a:xfrm>
            <a:off x="4217212"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41" name="Rectangle 40"/>
          <p:cNvSpPr/>
          <p:nvPr/>
        </p:nvSpPr>
        <p:spPr>
          <a:xfrm>
            <a:off x="4518964" y="4107484"/>
            <a:ext cx="192024" cy="55595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54956" y="3888028"/>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32</a:t>
            </a:r>
          </a:p>
        </p:txBody>
      </p:sp>
      <p:sp>
        <p:nvSpPr>
          <p:cNvPr id="43" name="TextBox 42"/>
          <p:cNvSpPr txBox="1"/>
          <p:nvPr/>
        </p:nvSpPr>
        <p:spPr>
          <a:xfrm>
            <a:off x="4208068"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44" name="TextBox 43"/>
          <p:cNvSpPr txBox="1"/>
          <p:nvPr/>
        </p:nvSpPr>
        <p:spPr>
          <a:xfrm>
            <a:off x="4833518"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45" name="Rectangle 44"/>
          <p:cNvSpPr/>
          <p:nvPr/>
        </p:nvSpPr>
        <p:spPr>
          <a:xfrm>
            <a:off x="5135270" y="4628692"/>
            <a:ext cx="192024" cy="34747"/>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1262" y="4409236"/>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2</a:t>
            </a:r>
          </a:p>
        </p:txBody>
      </p:sp>
      <p:sp>
        <p:nvSpPr>
          <p:cNvPr id="47" name="TextBox 46"/>
          <p:cNvSpPr txBox="1"/>
          <p:nvPr/>
        </p:nvSpPr>
        <p:spPr>
          <a:xfrm>
            <a:off x="5309006"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48" name="TextBox 47"/>
          <p:cNvSpPr txBox="1"/>
          <p:nvPr/>
        </p:nvSpPr>
        <p:spPr>
          <a:xfrm>
            <a:off x="5062118"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9" name="TextBox 48"/>
          <p:cNvSpPr txBox="1"/>
          <p:nvPr/>
        </p:nvSpPr>
        <p:spPr>
          <a:xfrm>
            <a:off x="1014984" y="5120640"/>
            <a:ext cx="54864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a:t>
            </a:r>
          </a:p>
        </p:txBody>
      </p:sp>
      <p:sp>
        <p:nvSpPr>
          <p:cNvPr id="50" name="Rectangle 49"/>
          <p:cNvSpPr/>
          <p:nvPr/>
        </p:nvSpPr>
        <p:spPr>
          <a:xfrm>
            <a:off x="1728216" y="5166359"/>
            <a:ext cx="164592" cy="164592"/>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956816" y="5120640"/>
            <a:ext cx="50292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52" name="Rectangle 51"/>
          <p:cNvSpPr/>
          <p:nvPr/>
        </p:nvSpPr>
        <p:spPr>
          <a:xfrm>
            <a:off x="2551176" y="5166359"/>
            <a:ext cx="164592" cy="16459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79776" y="5120640"/>
            <a:ext cx="100584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no examples</a:t>
            </a:r>
          </a:p>
        </p:txBody>
      </p:sp>
      <p:sp>
        <p:nvSpPr>
          <p:cNvPr id="54" name="Rectangle 53"/>
          <p:cNvSpPr/>
          <p:nvPr/>
        </p:nvSpPr>
        <p:spPr>
          <a:xfrm>
            <a:off x="3877056" y="5166359"/>
            <a:ext cx="164592" cy="164592"/>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05656" y="5120640"/>
            <a:ext cx="118872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three examples</a:t>
            </a:r>
          </a:p>
        </p:txBody>
      </p:sp>
      <p:sp>
        <p:nvSpPr>
          <p:cNvPr id="56" name="Rounded Rectangle 55"/>
          <p:cNvSpPr/>
          <p:nvPr/>
        </p:nvSpPr>
        <p:spPr>
          <a:xfrm>
            <a:off x="6208776" y="1828800"/>
            <a:ext cx="516636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9944" y="1975104"/>
            <a:ext cx="476402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Power level</a:t>
            </a:r>
          </a:p>
        </p:txBody>
      </p:sp>
      <p:sp>
        <p:nvSpPr>
          <p:cNvPr id="58" name="TextBox 57"/>
          <p:cNvSpPr txBox="1"/>
          <p:nvPr/>
        </p:nvSpPr>
        <p:spPr>
          <a:xfrm>
            <a:off x="6409944" y="2359152"/>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85 designs · counts at each level</a:t>
            </a:r>
          </a:p>
        </p:txBody>
      </p:sp>
      <p:cxnSp>
        <p:nvCxnSpPr>
          <p:cNvPr id="59" name="Connector 58"/>
          <p:cNvCxnSpPr/>
          <p:nvPr/>
        </p:nvCxnSpPr>
        <p:spPr>
          <a:xfrm>
            <a:off x="6784848" y="466344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272784" y="4562855"/>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61" name="Connector 60"/>
          <p:cNvCxnSpPr/>
          <p:nvPr/>
        </p:nvCxnSpPr>
        <p:spPr>
          <a:xfrm>
            <a:off x="6784848" y="422910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272784" y="4128515"/>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63" name="Connector 62"/>
          <p:cNvCxnSpPr/>
          <p:nvPr/>
        </p:nvCxnSpPr>
        <p:spPr>
          <a:xfrm>
            <a:off x="6784848" y="379476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272784" y="369417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65" name="Connector 64"/>
          <p:cNvCxnSpPr/>
          <p:nvPr/>
        </p:nvCxnSpPr>
        <p:spPr>
          <a:xfrm>
            <a:off x="6784848" y="336042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272784" y="325983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67" name="Connector 66"/>
          <p:cNvCxnSpPr/>
          <p:nvPr/>
        </p:nvCxnSpPr>
        <p:spPr>
          <a:xfrm>
            <a:off x="6784848" y="29260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272784" y="28254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69" name="Rectangle 68"/>
          <p:cNvSpPr/>
          <p:nvPr/>
        </p:nvSpPr>
        <p:spPr>
          <a:xfrm>
            <a:off x="6876288" y="4263847"/>
            <a:ext cx="192024" cy="399592"/>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12279" y="4044391"/>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23</a:t>
            </a:r>
          </a:p>
        </p:txBody>
      </p:sp>
      <p:sp>
        <p:nvSpPr>
          <p:cNvPr id="71" name="TextBox 70"/>
          <p:cNvSpPr txBox="1"/>
          <p:nvPr/>
        </p:nvSpPr>
        <p:spPr>
          <a:xfrm>
            <a:off x="7050023"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72" name="TextBox 71"/>
          <p:cNvSpPr txBox="1"/>
          <p:nvPr/>
        </p:nvSpPr>
        <p:spPr>
          <a:xfrm>
            <a:off x="7287767"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73" name="TextBox 72"/>
          <p:cNvSpPr txBox="1"/>
          <p:nvPr/>
        </p:nvSpPr>
        <p:spPr>
          <a:xfrm>
            <a:off x="7040879"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74" name="Rectangle 73"/>
          <p:cNvSpPr/>
          <p:nvPr/>
        </p:nvSpPr>
        <p:spPr>
          <a:xfrm>
            <a:off x="7730337" y="4020616"/>
            <a:ext cx="192024" cy="642823"/>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666329" y="3801160"/>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37</a:t>
            </a:r>
          </a:p>
        </p:txBody>
      </p:sp>
      <p:sp>
        <p:nvSpPr>
          <p:cNvPr id="76" name="TextBox 75"/>
          <p:cNvSpPr txBox="1"/>
          <p:nvPr/>
        </p:nvSpPr>
        <p:spPr>
          <a:xfrm>
            <a:off x="7904073"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77" name="Rectangle 76"/>
          <p:cNvSpPr/>
          <p:nvPr/>
        </p:nvSpPr>
        <p:spPr>
          <a:xfrm>
            <a:off x="8205825" y="3951122"/>
            <a:ext cx="192024" cy="712317"/>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141817" y="3731666"/>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41</a:t>
            </a:r>
          </a:p>
        </p:txBody>
      </p:sp>
      <p:sp>
        <p:nvSpPr>
          <p:cNvPr id="79" name="TextBox 78"/>
          <p:cNvSpPr txBox="1"/>
          <p:nvPr/>
        </p:nvSpPr>
        <p:spPr>
          <a:xfrm>
            <a:off x="7894929"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80" name="Rectangle 79"/>
          <p:cNvSpPr/>
          <p:nvPr/>
        </p:nvSpPr>
        <p:spPr>
          <a:xfrm>
            <a:off x="8584387" y="4350715"/>
            <a:ext cx="192024" cy="312724"/>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520379" y="4131259"/>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18</a:t>
            </a:r>
          </a:p>
        </p:txBody>
      </p:sp>
      <p:sp>
        <p:nvSpPr>
          <p:cNvPr id="82" name="Rectangle 81"/>
          <p:cNvSpPr/>
          <p:nvPr/>
        </p:nvSpPr>
        <p:spPr>
          <a:xfrm>
            <a:off x="8822131" y="3725265"/>
            <a:ext cx="192024" cy="93817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758123" y="3505809"/>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54</a:t>
            </a:r>
          </a:p>
        </p:txBody>
      </p:sp>
      <p:sp>
        <p:nvSpPr>
          <p:cNvPr id="84" name="Rectangle 83"/>
          <p:cNvSpPr/>
          <p:nvPr/>
        </p:nvSpPr>
        <p:spPr>
          <a:xfrm>
            <a:off x="9059875" y="4229100"/>
            <a:ext cx="192024" cy="43434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995867" y="4009644"/>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25</a:t>
            </a:r>
          </a:p>
        </p:txBody>
      </p:sp>
      <p:sp>
        <p:nvSpPr>
          <p:cNvPr id="86" name="TextBox 85"/>
          <p:cNvSpPr txBox="1"/>
          <p:nvPr/>
        </p:nvSpPr>
        <p:spPr>
          <a:xfrm>
            <a:off x="8748979"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87" name="Rectangle 86"/>
          <p:cNvSpPr/>
          <p:nvPr/>
        </p:nvSpPr>
        <p:spPr>
          <a:xfrm>
            <a:off x="9438436" y="4541824"/>
            <a:ext cx="192024" cy="121615"/>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374428" y="4322368"/>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7</a:t>
            </a:r>
          </a:p>
        </p:txBody>
      </p:sp>
      <p:sp>
        <p:nvSpPr>
          <p:cNvPr id="89" name="Rectangle 88"/>
          <p:cNvSpPr/>
          <p:nvPr/>
        </p:nvSpPr>
        <p:spPr>
          <a:xfrm>
            <a:off x="9676180" y="4142232"/>
            <a:ext cx="192024" cy="521207"/>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612172" y="3922776"/>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30</a:t>
            </a:r>
          </a:p>
        </p:txBody>
      </p:sp>
      <p:sp>
        <p:nvSpPr>
          <p:cNvPr id="91" name="Rectangle 90"/>
          <p:cNvSpPr/>
          <p:nvPr/>
        </p:nvSpPr>
        <p:spPr>
          <a:xfrm>
            <a:off x="9913924" y="4437583"/>
            <a:ext cx="192024" cy="2258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849916" y="4218127"/>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13</a:t>
            </a:r>
          </a:p>
        </p:txBody>
      </p:sp>
      <p:sp>
        <p:nvSpPr>
          <p:cNvPr id="93" name="TextBox 92"/>
          <p:cNvSpPr txBox="1"/>
          <p:nvPr/>
        </p:nvSpPr>
        <p:spPr>
          <a:xfrm>
            <a:off x="9603028"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94" name="TextBox 93"/>
          <p:cNvSpPr txBox="1"/>
          <p:nvPr/>
        </p:nvSpPr>
        <p:spPr>
          <a:xfrm>
            <a:off x="10228478" y="4443983"/>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0</a:t>
            </a:r>
          </a:p>
        </p:txBody>
      </p:sp>
      <p:sp>
        <p:nvSpPr>
          <p:cNvPr id="95" name="Rectangle 94"/>
          <p:cNvSpPr/>
          <p:nvPr/>
        </p:nvSpPr>
        <p:spPr>
          <a:xfrm>
            <a:off x="10530230" y="4646066"/>
            <a:ext cx="192024" cy="1737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466222" y="4426610"/>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1</a:t>
            </a:r>
          </a:p>
        </p:txBody>
      </p:sp>
      <p:sp>
        <p:nvSpPr>
          <p:cNvPr id="97" name="Rectangle 96"/>
          <p:cNvSpPr/>
          <p:nvPr/>
        </p:nvSpPr>
        <p:spPr>
          <a:xfrm>
            <a:off x="10767974" y="4559198"/>
            <a:ext cx="192024" cy="104241"/>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703966" y="4339742"/>
            <a:ext cx="320040" cy="201168"/>
          </a:xfrm>
          <a:prstGeom prst="rect">
            <a:avLst/>
          </a:prstGeom>
          <a:noFill/>
        </p:spPr>
        <p:txBody>
          <a:bodyPr wrap="square" lIns="0" rIns="0" tIns="0" bIns="0" anchor="t">
            <a:noAutofit/>
          </a:bodyPr>
          <a:lstStyle/>
          <a:p>
            <a:pPr algn="ctr">
              <a:lnSpc>
                <a:spcPct val="109000"/>
              </a:lnSpc>
              <a:spcBef>
                <a:spcPts val="0"/>
              </a:spcBef>
              <a:spcAft>
                <a:spcPts val="0"/>
              </a:spcAft>
            </a:pPr>
            <a:r>
              <a:rPr sz="1050" b="0">
                <a:solidFill>
                  <a:srgbClr val="00407A"/>
                </a:solidFill>
                <a:latin typeface="Arial"/>
              </a:rPr>
              <a:t>6</a:t>
            </a:r>
          </a:p>
        </p:txBody>
      </p:sp>
      <p:sp>
        <p:nvSpPr>
          <p:cNvPr id="99" name="TextBox 98"/>
          <p:cNvSpPr txBox="1"/>
          <p:nvPr/>
        </p:nvSpPr>
        <p:spPr>
          <a:xfrm>
            <a:off x="10457078" y="4736592"/>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100" name="TextBox 99"/>
          <p:cNvSpPr txBox="1"/>
          <p:nvPr/>
        </p:nvSpPr>
        <p:spPr>
          <a:xfrm>
            <a:off x="6409944" y="5120640"/>
            <a:ext cx="54864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a:t>
            </a:r>
          </a:p>
        </p:txBody>
      </p:sp>
      <p:sp>
        <p:nvSpPr>
          <p:cNvPr id="101" name="Rectangle 100"/>
          <p:cNvSpPr/>
          <p:nvPr/>
        </p:nvSpPr>
        <p:spPr>
          <a:xfrm>
            <a:off x="7123176" y="5166359"/>
            <a:ext cx="164592" cy="164592"/>
          </a:xfrm>
          <a:prstGeom prst="rect">
            <a:avLst/>
          </a:prstGeom>
          <a:solidFill>
            <a:srgbClr val="B5B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351775" y="5120640"/>
            <a:ext cx="50292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103" name="Rectangle 102"/>
          <p:cNvSpPr/>
          <p:nvPr/>
        </p:nvSpPr>
        <p:spPr>
          <a:xfrm>
            <a:off x="7946136" y="5166359"/>
            <a:ext cx="164592" cy="16459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174736" y="5120640"/>
            <a:ext cx="100584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no examples</a:t>
            </a:r>
          </a:p>
        </p:txBody>
      </p:sp>
      <p:sp>
        <p:nvSpPr>
          <p:cNvPr id="105" name="Rectangle 104"/>
          <p:cNvSpPr/>
          <p:nvPr/>
        </p:nvSpPr>
        <p:spPr>
          <a:xfrm>
            <a:off x="9272016" y="5166359"/>
            <a:ext cx="164592" cy="164592"/>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500616" y="5120640"/>
            <a:ext cx="118872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three examples</a:t>
            </a:r>
          </a:p>
        </p:txBody>
      </p:sp>
      <p:sp>
        <p:nvSpPr>
          <p:cNvPr id="107" name="Rounded Rectangle 10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Without examples KEV-27B puts 90 of 92 designs in frequency level 1 and no design in power level 1 or 2. With examples the counts come closer to the tool’s, but the exact scores stay below the constant answer.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Pairs: KEV-27B with examples picks the better design</a:t>
            </a:r>
          </a:p>
        </p:txBody>
      </p:sp>
      <p:sp>
        <p:nvSpPr>
          <p:cNvPr id="3" name="TextBox 2"/>
          <p:cNvSpPr txBox="1"/>
          <p:nvPr/>
        </p:nvSpPr>
        <p:spPr>
          <a:xfrm>
            <a:off x="813816" y="1261872"/>
            <a:ext cx="763524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designs of one problem, A and B, asked in both orders. Always A scores 50%.</a:t>
            </a:r>
          </a:p>
        </p:txBody>
      </p:sp>
      <p:sp>
        <p:nvSpPr>
          <p:cNvPr id="4" name="Rectangle 3"/>
          <p:cNvSpPr/>
          <p:nvPr/>
        </p:nvSpPr>
        <p:spPr>
          <a:xfrm>
            <a:off x="8549640" y="1353312"/>
            <a:ext cx="182880" cy="18288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05672" y="1298448"/>
            <a:ext cx="109728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no examples</a:t>
            </a:r>
          </a:p>
        </p:txBody>
      </p:sp>
      <p:sp>
        <p:nvSpPr>
          <p:cNvPr id="6" name="Rectangle 5"/>
          <p:cNvSpPr/>
          <p:nvPr/>
        </p:nvSpPr>
        <p:spPr>
          <a:xfrm>
            <a:off x="9921240" y="1353312"/>
            <a:ext cx="182880" cy="18288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77272" y="1298448"/>
            <a:ext cx="1280160" cy="27432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three examples</a:t>
            </a:r>
          </a:p>
        </p:txBody>
      </p:sp>
      <p:sp>
        <p:nvSpPr>
          <p:cNvPr id="8" name="TextBox 7"/>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RESULTS</a:t>
            </a:r>
          </a:p>
        </p:txBody>
      </p:sp>
      <p:sp>
        <p:nvSpPr>
          <p:cNvPr id="9" name="TextBox 8"/>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10" name="Rounded Rectangle 9"/>
          <p:cNvSpPr/>
          <p:nvPr/>
        </p:nvSpPr>
        <p:spPr>
          <a:xfrm>
            <a:off x="813816" y="1828800"/>
            <a:ext cx="338328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1975104"/>
            <a:ext cx="298094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Smaller area</a:t>
            </a:r>
          </a:p>
        </p:txBody>
      </p:sp>
      <p:sp>
        <p:nvSpPr>
          <p:cNvPr id="12" name="TextBox 11"/>
          <p:cNvSpPr txBox="1"/>
          <p:nvPr/>
        </p:nvSpPr>
        <p:spPr>
          <a:xfrm>
            <a:off x="1014984" y="2359152"/>
            <a:ext cx="298094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pairs · 46 questions</a:t>
            </a:r>
          </a:p>
        </p:txBody>
      </p:sp>
      <p:cxnSp>
        <p:nvCxnSpPr>
          <p:cNvPr id="13" name="Connector 12"/>
          <p:cNvCxnSpPr/>
          <p:nvPr/>
        </p:nvCxnSpPr>
        <p:spPr>
          <a:xfrm>
            <a:off x="166420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5" name="Connector 14"/>
          <p:cNvCxnSpPr/>
          <p:nvPr/>
        </p:nvCxnSpPr>
        <p:spPr>
          <a:xfrm>
            <a:off x="219913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99796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7" name="Connector 16"/>
          <p:cNvCxnSpPr/>
          <p:nvPr/>
        </p:nvCxnSpPr>
        <p:spPr>
          <a:xfrm>
            <a:off x="273405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53288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9" name="Connector 18"/>
          <p:cNvCxnSpPr/>
          <p:nvPr/>
        </p:nvCxnSpPr>
        <p:spPr>
          <a:xfrm>
            <a:off x="2199132"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9669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21" name="Rectangle 20"/>
          <p:cNvSpPr/>
          <p:nvPr/>
        </p:nvSpPr>
        <p:spPr>
          <a:xfrm>
            <a:off x="1664208" y="2743200"/>
            <a:ext cx="511666"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25496" y="271576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47.8% · 22 of 46</a:t>
            </a:r>
          </a:p>
        </p:txBody>
      </p:sp>
      <p:sp>
        <p:nvSpPr>
          <p:cNvPr id="23" name="Rectangle 22"/>
          <p:cNvSpPr/>
          <p:nvPr/>
        </p:nvSpPr>
        <p:spPr>
          <a:xfrm>
            <a:off x="1664208" y="2990088"/>
            <a:ext cx="53492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25496" y="2962656"/>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50.0% · 23 of 46</a:t>
            </a:r>
          </a:p>
        </p:txBody>
      </p:sp>
      <p:sp>
        <p:nvSpPr>
          <p:cNvPr id="25" name="TextBox 24"/>
          <p:cNvSpPr txBox="1"/>
          <p:nvPr/>
        </p:nvSpPr>
        <p:spPr>
          <a:xfrm>
            <a:off x="99669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6" name="Rectangle 25"/>
          <p:cNvSpPr/>
          <p:nvPr/>
        </p:nvSpPr>
        <p:spPr>
          <a:xfrm>
            <a:off x="1664208" y="3364992"/>
            <a:ext cx="814014"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25496" y="333756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76.1% · 35 of 46</a:t>
            </a:r>
          </a:p>
        </p:txBody>
      </p:sp>
      <p:sp>
        <p:nvSpPr>
          <p:cNvPr id="28" name="Rectangle 27"/>
          <p:cNvSpPr/>
          <p:nvPr/>
        </p:nvSpPr>
        <p:spPr>
          <a:xfrm>
            <a:off x="1664208" y="3611880"/>
            <a:ext cx="72098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25496" y="358444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67.4% · 31 of 46</a:t>
            </a:r>
          </a:p>
        </p:txBody>
      </p:sp>
      <p:sp>
        <p:nvSpPr>
          <p:cNvPr id="30" name="TextBox 29"/>
          <p:cNvSpPr txBox="1"/>
          <p:nvPr/>
        </p:nvSpPr>
        <p:spPr>
          <a:xfrm>
            <a:off x="99669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1" name="Rectangle 30"/>
          <p:cNvSpPr/>
          <p:nvPr/>
        </p:nvSpPr>
        <p:spPr>
          <a:xfrm>
            <a:off x="1664208" y="3986784"/>
            <a:ext cx="93030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25496" y="395935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87.0% · 40 of 46</a:t>
            </a:r>
          </a:p>
        </p:txBody>
      </p:sp>
      <p:sp>
        <p:nvSpPr>
          <p:cNvPr id="33" name="Rectangle 32"/>
          <p:cNvSpPr/>
          <p:nvPr/>
        </p:nvSpPr>
        <p:spPr>
          <a:xfrm>
            <a:off x="1664208" y="4233672"/>
            <a:ext cx="81401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5496" y="420624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76.1% · 35 of 46</a:t>
            </a:r>
          </a:p>
        </p:txBody>
      </p:sp>
      <p:sp>
        <p:nvSpPr>
          <p:cNvPr id="35" name="TextBox 34"/>
          <p:cNvSpPr txBox="1"/>
          <p:nvPr/>
        </p:nvSpPr>
        <p:spPr>
          <a:xfrm>
            <a:off x="99669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6" name="Rectangle 35"/>
          <p:cNvSpPr/>
          <p:nvPr/>
        </p:nvSpPr>
        <p:spPr>
          <a:xfrm>
            <a:off x="1664208" y="4608576"/>
            <a:ext cx="83727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5496" y="4581144"/>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78.3% · 36 of 46</a:t>
            </a:r>
          </a:p>
        </p:txBody>
      </p:sp>
      <p:sp>
        <p:nvSpPr>
          <p:cNvPr id="38" name="Rectangle 37"/>
          <p:cNvSpPr/>
          <p:nvPr/>
        </p:nvSpPr>
        <p:spPr>
          <a:xfrm>
            <a:off x="1664208" y="4855464"/>
            <a:ext cx="953560"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25496" y="482803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89.1% · 41 of 46</a:t>
            </a:r>
          </a:p>
        </p:txBody>
      </p:sp>
      <p:sp>
        <p:nvSpPr>
          <p:cNvPr id="40" name="TextBox 39"/>
          <p:cNvSpPr txBox="1"/>
          <p:nvPr/>
        </p:nvSpPr>
        <p:spPr>
          <a:xfrm>
            <a:off x="996696" y="5330952"/>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 50%</a:t>
            </a:r>
          </a:p>
        </p:txBody>
      </p:sp>
      <p:sp>
        <p:nvSpPr>
          <p:cNvPr id="41" name="Rounded Rectangle 40"/>
          <p:cNvSpPr/>
          <p:nvPr/>
        </p:nvSpPr>
        <p:spPr>
          <a:xfrm>
            <a:off x="4398264" y="1828800"/>
            <a:ext cx="338328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99431" y="1975104"/>
            <a:ext cx="298094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Lower power</a:t>
            </a:r>
          </a:p>
        </p:txBody>
      </p:sp>
      <p:sp>
        <p:nvSpPr>
          <p:cNvPr id="43" name="TextBox 42"/>
          <p:cNvSpPr txBox="1"/>
          <p:nvPr/>
        </p:nvSpPr>
        <p:spPr>
          <a:xfrm>
            <a:off x="4599431" y="2359152"/>
            <a:ext cx="298094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pairs · 44 questions</a:t>
            </a:r>
          </a:p>
        </p:txBody>
      </p:sp>
      <p:cxnSp>
        <p:nvCxnSpPr>
          <p:cNvPr id="44" name="Connector 43"/>
          <p:cNvCxnSpPr/>
          <p:nvPr/>
        </p:nvCxnSpPr>
        <p:spPr>
          <a:xfrm>
            <a:off x="5248655"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4748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6" name="Connector 45"/>
          <p:cNvCxnSpPr/>
          <p:nvPr/>
        </p:nvCxnSpPr>
        <p:spPr>
          <a:xfrm>
            <a:off x="5783579"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582412"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8" name="Connector 47"/>
          <p:cNvCxnSpPr/>
          <p:nvPr/>
        </p:nvCxnSpPr>
        <p:spPr>
          <a:xfrm>
            <a:off x="6318503"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117336"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50" name="Connector 49"/>
          <p:cNvCxnSpPr/>
          <p:nvPr/>
        </p:nvCxnSpPr>
        <p:spPr>
          <a:xfrm>
            <a:off x="5783579"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581144"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 name="Rectangle 51"/>
          <p:cNvSpPr/>
          <p:nvPr/>
        </p:nvSpPr>
        <p:spPr>
          <a:xfrm>
            <a:off x="5248655" y="2743200"/>
            <a:ext cx="68081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9943" y="271576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63.6% · 28 of 44</a:t>
            </a:r>
          </a:p>
        </p:txBody>
      </p:sp>
      <p:sp>
        <p:nvSpPr>
          <p:cNvPr id="54" name="Rectangle 53"/>
          <p:cNvSpPr/>
          <p:nvPr/>
        </p:nvSpPr>
        <p:spPr>
          <a:xfrm>
            <a:off x="5248655" y="2990088"/>
            <a:ext cx="583553"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9943" y="2962656"/>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54.5% · 24 of 44</a:t>
            </a:r>
          </a:p>
        </p:txBody>
      </p:sp>
      <p:sp>
        <p:nvSpPr>
          <p:cNvPr id="56" name="TextBox 55"/>
          <p:cNvSpPr txBox="1"/>
          <p:nvPr/>
        </p:nvSpPr>
        <p:spPr>
          <a:xfrm>
            <a:off x="4581144"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57" name="Rectangle 56"/>
          <p:cNvSpPr/>
          <p:nvPr/>
        </p:nvSpPr>
        <p:spPr>
          <a:xfrm>
            <a:off x="5248655" y="3364992"/>
            <a:ext cx="607868"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9943" y="333756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56.8% · 25 of 44</a:t>
            </a:r>
          </a:p>
        </p:txBody>
      </p:sp>
      <p:sp>
        <p:nvSpPr>
          <p:cNvPr id="59" name="Rectangle 58"/>
          <p:cNvSpPr/>
          <p:nvPr/>
        </p:nvSpPr>
        <p:spPr>
          <a:xfrm>
            <a:off x="5248655" y="3611880"/>
            <a:ext cx="680812"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9943" y="358444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63.6% · 28 of 44</a:t>
            </a:r>
          </a:p>
        </p:txBody>
      </p:sp>
      <p:sp>
        <p:nvSpPr>
          <p:cNvPr id="61" name="TextBox 60"/>
          <p:cNvSpPr txBox="1"/>
          <p:nvPr/>
        </p:nvSpPr>
        <p:spPr>
          <a:xfrm>
            <a:off x="4581144"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62" name="Rectangle 61"/>
          <p:cNvSpPr/>
          <p:nvPr/>
        </p:nvSpPr>
        <p:spPr>
          <a:xfrm>
            <a:off x="5248655" y="3986784"/>
            <a:ext cx="705127"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9943" y="395935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65.9% · 29 of 44</a:t>
            </a:r>
          </a:p>
        </p:txBody>
      </p:sp>
      <p:sp>
        <p:nvSpPr>
          <p:cNvPr id="64" name="Rectangle 63"/>
          <p:cNvSpPr/>
          <p:nvPr/>
        </p:nvSpPr>
        <p:spPr>
          <a:xfrm>
            <a:off x="5248655" y="4233672"/>
            <a:ext cx="75375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9943" y="420624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70.5% · 31 of 44</a:t>
            </a:r>
          </a:p>
        </p:txBody>
      </p:sp>
      <p:sp>
        <p:nvSpPr>
          <p:cNvPr id="66" name="TextBox 65"/>
          <p:cNvSpPr txBox="1"/>
          <p:nvPr/>
        </p:nvSpPr>
        <p:spPr>
          <a:xfrm>
            <a:off x="4581144"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67" name="Rectangle 66"/>
          <p:cNvSpPr/>
          <p:nvPr/>
        </p:nvSpPr>
        <p:spPr>
          <a:xfrm>
            <a:off x="5248655" y="4608576"/>
            <a:ext cx="753756"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9943" y="4581144"/>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70.5% · 31 of 44</a:t>
            </a:r>
          </a:p>
        </p:txBody>
      </p:sp>
      <p:sp>
        <p:nvSpPr>
          <p:cNvPr id="69" name="Rectangle 68"/>
          <p:cNvSpPr/>
          <p:nvPr/>
        </p:nvSpPr>
        <p:spPr>
          <a:xfrm>
            <a:off x="5248655" y="4855464"/>
            <a:ext cx="851015"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9943" y="482803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79.5% · 35 of 44</a:t>
            </a:r>
          </a:p>
        </p:txBody>
      </p:sp>
      <p:sp>
        <p:nvSpPr>
          <p:cNvPr id="71" name="TextBox 70"/>
          <p:cNvSpPr txBox="1"/>
          <p:nvPr/>
        </p:nvSpPr>
        <p:spPr>
          <a:xfrm>
            <a:off x="4581144" y="5330952"/>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 50%</a:t>
            </a:r>
          </a:p>
        </p:txBody>
      </p:sp>
      <p:sp>
        <p:nvSpPr>
          <p:cNvPr id="72" name="Rounded Rectangle 71"/>
          <p:cNvSpPr/>
          <p:nvPr/>
        </p:nvSpPr>
        <p:spPr>
          <a:xfrm>
            <a:off x="7991856" y="1828800"/>
            <a:ext cx="3383280" cy="3749039"/>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193024" y="1975104"/>
            <a:ext cx="2980944" cy="36576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Higher frequency</a:t>
            </a:r>
          </a:p>
        </p:txBody>
      </p:sp>
      <p:sp>
        <p:nvSpPr>
          <p:cNvPr id="74" name="TextBox 73"/>
          <p:cNvSpPr txBox="1"/>
          <p:nvPr/>
        </p:nvSpPr>
        <p:spPr>
          <a:xfrm>
            <a:off x="8193024" y="2359152"/>
            <a:ext cx="2980944"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pairs · 12 questions</a:t>
            </a:r>
          </a:p>
        </p:txBody>
      </p:sp>
      <p:cxnSp>
        <p:nvCxnSpPr>
          <p:cNvPr id="75" name="Connector 74"/>
          <p:cNvCxnSpPr/>
          <p:nvPr/>
        </p:nvCxnSpPr>
        <p:spPr>
          <a:xfrm>
            <a:off x="8842248"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8641080"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77" name="Connector 76"/>
          <p:cNvCxnSpPr/>
          <p:nvPr/>
        </p:nvCxnSpPr>
        <p:spPr>
          <a:xfrm>
            <a:off x="9377172"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9176004"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79" name="Connector 78"/>
          <p:cNvCxnSpPr/>
          <p:nvPr/>
        </p:nvCxnSpPr>
        <p:spPr>
          <a:xfrm>
            <a:off x="9912096" y="2688336"/>
            <a:ext cx="0" cy="2414016"/>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9710928" y="5120640"/>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81" name="Connector 80"/>
          <p:cNvCxnSpPr/>
          <p:nvPr/>
        </p:nvCxnSpPr>
        <p:spPr>
          <a:xfrm>
            <a:off x="9377172" y="2688336"/>
            <a:ext cx="0" cy="2414016"/>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174736" y="2834640"/>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83" name="Rectangle 82"/>
          <p:cNvSpPr/>
          <p:nvPr/>
        </p:nvSpPr>
        <p:spPr>
          <a:xfrm>
            <a:off x="8842248" y="2743200"/>
            <a:ext cx="713232"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003536" y="271576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66.7% · 8 of 12</a:t>
            </a:r>
          </a:p>
        </p:txBody>
      </p:sp>
      <p:sp>
        <p:nvSpPr>
          <p:cNvPr id="85" name="Rectangle 84"/>
          <p:cNvSpPr/>
          <p:nvPr/>
        </p:nvSpPr>
        <p:spPr>
          <a:xfrm>
            <a:off x="8842248" y="2990088"/>
            <a:ext cx="53492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03536" y="2962656"/>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50.0% · 6 of 12</a:t>
            </a:r>
          </a:p>
        </p:txBody>
      </p:sp>
      <p:sp>
        <p:nvSpPr>
          <p:cNvPr id="87" name="TextBox 86"/>
          <p:cNvSpPr txBox="1"/>
          <p:nvPr/>
        </p:nvSpPr>
        <p:spPr>
          <a:xfrm>
            <a:off x="8174736" y="345643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88" name="Rectangle 87"/>
          <p:cNvSpPr/>
          <p:nvPr/>
        </p:nvSpPr>
        <p:spPr>
          <a:xfrm>
            <a:off x="8842248" y="3364992"/>
            <a:ext cx="89154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03536" y="333756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83.3% · 10 of 12</a:t>
            </a:r>
          </a:p>
        </p:txBody>
      </p:sp>
      <p:sp>
        <p:nvSpPr>
          <p:cNvPr id="90" name="Rectangle 89"/>
          <p:cNvSpPr/>
          <p:nvPr/>
        </p:nvSpPr>
        <p:spPr>
          <a:xfrm>
            <a:off x="8842248" y="3611880"/>
            <a:ext cx="53492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03536" y="3584448"/>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50.0% · 6 of 12</a:t>
            </a:r>
          </a:p>
        </p:txBody>
      </p:sp>
      <p:sp>
        <p:nvSpPr>
          <p:cNvPr id="92" name="TextBox 91"/>
          <p:cNvSpPr txBox="1"/>
          <p:nvPr/>
        </p:nvSpPr>
        <p:spPr>
          <a:xfrm>
            <a:off x="8174736" y="4078224"/>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93" name="Rectangle 92"/>
          <p:cNvSpPr/>
          <p:nvPr/>
        </p:nvSpPr>
        <p:spPr>
          <a:xfrm>
            <a:off x="8842248" y="3986784"/>
            <a:ext cx="802386"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03536" y="395935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75.0% · 9 of 12</a:t>
            </a:r>
          </a:p>
        </p:txBody>
      </p:sp>
      <p:sp>
        <p:nvSpPr>
          <p:cNvPr id="95" name="Rectangle 94"/>
          <p:cNvSpPr/>
          <p:nvPr/>
        </p:nvSpPr>
        <p:spPr>
          <a:xfrm>
            <a:off x="8842248" y="4233672"/>
            <a:ext cx="802386"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03536" y="4206240"/>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75.0% · 9 of 12</a:t>
            </a:r>
          </a:p>
        </p:txBody>
      </p:sp>
      <p:sp>
        <p:nvSpPr>
          <p:cNvPr id="97" name="TextBox 96"/>
          <p:cNvSpPr txBox="1"/>
          <p:nvPr/>
        </p:nvSpPr>
        <p:spPr>
          <a:xfrm>
            <a:off x="8174736" y="4700016"/>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8" name="Rectangle 97"/>
          <p:cNvSpPr/>
          <p:nvPr/>
        </p:nvSpPr>
        <p:spPr>
          <a:xfrm>
            <a:off x="8842248" y="4608576"/>
            <a:ext cx="891540" cy="20116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003536" y="4581144"/>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83.3% · 10 of 12</a:t>
            </a:r>
          </a:p>
        </p:txBody>
      </p:sp>
      <p:sp>
        <p:nvSpPr>
          <p:cNvPr id="100" name="Rectangle 99"/>
          <p:cNvSpPr/>
          <p:nvPr/>
        </p:nvSpPr>
        <p:spPr>
          <a:xfrm>
            <a:off x="8842248" y="4855464"/>
            <a:ext cx="980694" cy="20116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003536" y="4828032"/>
            <a:ext cx="1325880" cy="274320"/>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00407A"/>
                </a:solidFill>
                <a:latin typeface="Arial"/>
              </a:rPr>
              <a:t>91.7% · 11 of 12</a:t>
            </a:r>
          </a:p>
        </p:txBody>
      </p:sp>
      <p:sp>
        <p:nvSpPr>
          <p:cNvPr id="102" name="TextBox 101"/>
          <p:cNvSpPr txBox="1"/>
          <p:nvPr/>
        </p:nvSpPr>
        <p:spPr>
          <a:xfrm>
            <a:off x="8174736" y="5330952"/>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 50%</a:t>
            </a:r>
          </a:p>
        </p:txBody>
      </p:sp>
      <p:sp>
        <p:nvSpPr>
          <p:cNvPr id="103" name="Rounded Rectangle 10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With examples KEV-27B is right for 41 of 46 area, 35 of 44 power, and 11 of 12 frequency questions, and for 20 of 23 area pairs in both orders (17 without).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results support, and what to do next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Observations on dataset v1 and one fixed example set, not a guarantee for other designs or other examples.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CONCLUSION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28800"/>
            <a:ext cx="3383280" cy="374903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Supported</a:t>
            </a:r>
          </a:p>
        </p:txBody>
      </p:sp>
      <p:sp>
        <p:nvSpPr>
          <p:cNvPr id="9" name="TextBox 8"/>
          <p:cNvSpPr txBox="1"/>
          <p:nvPr/>
        </p:nvSpPr>
        <p:spPr>
          <a:xfrm>
            <a:off x="1042416" y="2788920"/>
            <a:ext cx="2926080" cy="2651759"/>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 Compile check: KEV-27B, 122 of 123, no examples needed.</a:t>
            </a:r>
          </a:p>
          <a:p>
            <a:pPr algn="l">
              <a:lnSpc>
                <a:spcPct val="109000"/>
              </a:lnSpc>
              <a:spcBef>
                <a:spcPts val="0"/>
              </a:spcBef>
              <a:spcAft>
                <a:spcPts val="0"/>
              </a:spcAft>
            </a:pPr>
            <a:r>
              <a:rPr sz="1400" b="0">
                <a:solidFill>
                  <a:srgbClr val="00407A"/>
                </a:solidFill>
                <a:latin typeface="Arial"/>
              </a:rPr>
              <a:t>• Failure reason: KEV-27B, 15 of 16, when the prompt says that synthesis failed.</a:t>
            </a:r>
          </a:p>
          <a:p>
            <a:pPr algn="l">
              <a:lnSpc>
                <a:spcPct val="109000"/>
              </a:lnSpc>
              <a:spcBef>
                <a:spcPts val="0"/>
              </a:spcBef>
              <a:spcAft>
                <a:spcPts val="0"/>
              </a:spcAft>
            </a:pPr>
            <a:r>
              <a:rPr sz="1400" b="0">
                <a:solidFill>
                  <a:srgbClr val="00407A"/>
                </a:solidFill>
                <a:latin typeface="Arial"/>
              </a:rPr>
              <a:t>• Area level: KEV-27B, 61 of 92 exact, all 92 within one level.</a:t>
            </a:r>
          </a:p>
          <a:p>
            <a:pPr algn="l">
              <a:lnSpc>
                <a:spcPct val="109000"/>
              </a:lnSpc>
              <a:spcBef>
                <a:spcPts val="0"/>
              </a:spcBef>
              <a:spcAft>
                <a:spcPts val="0"/>
              </a:spcAft>
            </a:pPr>
            <a:r>
              <a:rPr sz="1400" b="0">
                <a:solidFill>
                  <a:srgbClr val="00407A"/>
                </a:solidFill>
                <a:latin typeface="Arial"/>
              </a:rPr>
              <a:t>• Better of two designs: KEV-27B with examples, 41 of 46 (area), 35 of 44 (power).</a:t>
            </a:r>
          </a:p>
        </p:txBody>
      </p:sp>
      <p:sp>
        <p:nvSpPr>
          <p:cNvPr id="10" name="Rounded Rectangle 9"/>
          <p:cNvSpPr/>
          <p:nvPr/>
        </p:nvSpPr>
        <p:spPr>
          <a:xfrm>
            <a:off x="4398264" y="1828800"/>
            <a:ext cx="3383280" cy="374903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Not supported</a:t>
            </a:r>
          </a:p>
        </p:txBody>
      </p:sp>
      <p:sp>
        <p:nvSpPr>
          <p:cNvPr id="13" name="TextBox 12"/>
          <p:cNvSpPr txBox="1"/>
          <p:nvPr/>
        </p:nvSpPr>
        <p:spPr>
          <a:xfrm>
            <a:off x="4626864" y="2788920"/>
            <a:ext cx="2926080" cy="2651759"/>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 Synthesis check: at most 9 designs above always “yes”; KEV-27B misses 12 of 24 failures with examples, 20 without.</a:t>
            </a:r>
          </a:p>
          <a:p>
            <a:pPr algn="l">
              <a:lnSpc>
                <a:spcPct val="109000"/>
              </a:lnSpc>
              <a:spcBef>
                <a:spcPts val="0"/>
              </a:spcBef>
              <a:spcAft>
                <a:spcPts val="0"/>
              </a:spcAft>
            </a:pPr>
            <a:r>
              <a:rPr sz="1400" b="0">
                <a:solidFill>
                  <a:srgbClr val="00407A"/>
                </a:solidFill>
                <a:latin typeface="Arial"/>
              </a:rPr>
              <a:t>• Power, frequency, and slack levels: no score more than 2 designs above the constant answer.</a:t>
            </a:r>
          </a:p>
          <a:p>
            <a:pPr algn="l">
              <a:lnSpc>
                <a:spcPct val="109000"/>
              </a:lnSpc>
              <a:spcBef>
                <a:spcPts val="0"/>
              </a:spcBef>
              <a:spcAft>
                <a:spcPts val="0"/>
              </a:spcAft>
            </a:pPr>
            <a:r>
              <a:rPr sz="1400" b="0">
                <a:solidFill>
                  <a:srgbClr val="00407A"/>
                </a:solidFill>
                <a:latin typeface="Arial"/>
              </a:rPr>
              <a:t>• KEV-0.8B: one answer for every design in 6 of 10 questions with examples.</a:t>
            </a:r>
          </a:p>
        </p:txBody>
      </p:sp>
      <p:sp>
        <p:nvSpPr>
          <p:cNvPr id="14" name="Rounded Rectangle 13"/>
          <p:cNvSpPr/>
          <p:nvPr/>
        </p:nvSpPr>
        <p:spPr>
          <a:xfrm>
            <a:off x="7991856" y="1828800"/>
            <a:ext cx="3383280" cy="374903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steps</a:t>
            </a:r>
          </a:p>
        </p:txBody>
      </p:sp>
      <p:sp>
        <p:nvSpPr>
          <p:cNvPr id="17" name="TextBox 16"/>
          <p:cNvSpPr txBox="1"/>
          <p:nvPr/>
        </p:nvSpPr>
        <p:spPr>
          <a:xfrm>
            <a:off x="8220456" y="2788920"/>
            <a:ext cx="2926080" cy="2651759"/>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 Dataset v2: more synthesis failures of code that compiles, designs that miss the timing target, equal yes and no counts.</a:t>
            </a:r>
          </a:p>
          <a:p>
            <a:pPr algn="l">
              <a:lnSpc>
                <a:spcPct val="109000"/>
              </a:lnSpc>
              <a:spcBef>
                <a:spcPts val="0"/>
              </a:spcBef>
              <a:spcAft>
                <a:spcPts val="0"/>
              </a:spcAft>
            </a:pPr>
            <a:r>
              <a:rPr sz="1400" b="0">
                <a:solidFill>
                  <a:srgbClr val="00407A"/>
                </a:solidFill>
                <a:latin typeface="Arial"/>
              </a:rPr>
              <a:t>• Other example sets, and more than three examples.</a:t>
            </a:r>
          </a:p>
          <a:p>
            <a:pPr algn="l">
              <a:lnSpc>
                <a:spcPct val="109000"/>
              </a:lnSpc>
              <a:spcBef>
                <a:spcPts val="0"/>
              </a:spcBef>
              <a:spcAft>
                <a:spcPts val="0"/>
              </a:spcAft>
            </a:pPr>
            <a:r>
              <a:rPr sz="1400" b="0">
                <a:solidFill>
                  <a:srgbClr val="00407A"/>
                </a:solidFill>
                <a:latin typeface="Arial"/>
              </a:rPr>
              <a:t>• Jev 1.13 and other models under the same protocol.</a:t>
            </a:r>
          </a:p>
          <a:p>
            <a:pPr algn="l">
              <a:lnSpc>
                <a:spcPct val="109000"/>
              </a:lnSpc>
              <a:spcBef>
                <a:spcPts val="0"/>
              </a:spcBef>
              <a:spcAft>
                <a:spcPts val="0"/>
              </a:spcAft>
            </a:pPr>
            <a:r>
              <a:rPr sz="1400" b="0">
                <a:solidFill>
                  <a:srgbClr val="00407A"/>
                </a:solidFill>
                <a:latin typeface="Arial"/>
              </a:rPr>
              <a:t>• Thresholds and example sets chosen on the development split only.</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 does not replace the tools: the best synthesis check misses 12 of 24 failures. KEV can screen compile errors and rank two designs.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APPENDIX</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reproduction</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Every score of every size, the class counts, the probabilities, the level errors, the pair orders, the runs, and the files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score, without and with three examples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cell: correct answers in %, no examples → three examples. Bold: p &lt; 0.05 (9 of 40 changes).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graphicFrame>
        <p:nvGraphicFramePr>
          <p:cNvPr id="6" name="Table 5"/>
          <p:cNvGraphicFramePr>
            <a:graphicFrameLocks noGrp="1"/>
          </p:cNvGraphicFramePr>
          <p:nvPr/>
        </p:nvGraphicFramePr>
        <p:xfrm>
          <a:off x="813816" y="1810512"/>
          <a:ext cx="10561320" cy="3931910"/>
        </p:xfrm>
        <a:graphic>
          <a:graphicData uri="http://schemas.openxmlformats.org/drawingml/2006/table">
            <a:tbl>
              <a:tblPr firstRow="1" bandRow="1">
                <a:tableStyleId>{5C22544A-7EE6-4342-B048-85BDC9FD1C3A}</a:tableStyleId>
              </a:tblPr>
              <a:tblGrid>
                <a:gridCol w="2377440"/>
                <a:gridCol w="594360"/>
                <a:gridCol w="1600200"/>
                <a:gridCol w="1600200"/>
                <a:gridCol w="1600200"/>
                <a:gridCol w="1600200"/>
                <a:gridCol w="1188720"/>
              </a:tblGrid>
              <a:tr h="411480">
                <a:tc>
                  <a:txBody>
                    <a:bodyPr/>
                    <a:lstStyle/>
                    <a:p>
                      <a:pPr algn="l">
                        <a:lnSpc>
                          <a:spcPct val="103000"/>
                        </a:lnSpc>
                        <a:spcBef>
                          <a:spcPts val="0"/>
                        </a:spcBef>
                        <a:spcAft>
                          <a:spcPts val="0"/>
                        </a:spcAft>
                      </a:pPr>
                      <a:r>
                        <a:rPr sz="13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27B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Constant</a:t>
                      </a:r>
                    </a:p>
                  </a:txBody>
                  <a:tcPr marL="109728" marR="91440" marT="45720" marB="36576" anchor="ctr">
                    <a:solidFill>
                      <a:srgbClr val="00407A"/>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Does it compile?</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10.6% → 8.1%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92.7% → 94.3%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94.3% → 94.3%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99.2% → 95.1%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92.7%</a:t>
                      </a:r>
                    </a:p>
                  </a:txBody>
                  <a:tcPr marL="109728" marR="91440" marT="45720" marB="36576" anchor="ctr">
                    <a:solidFill>
                      <a:srgbClr val="E3EFF5"/>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Does it synthesize?</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80.5% → 19.5%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79.7% → 81.3%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80.5% → 82.9%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82.9% → 87.8%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80.5%</a:t>
                      </a:r>
                    </a:p>
                  </a:txBody>
                  <a:tcPr marL="109728" marR="91440" marT="45720" marB="36576" anchor="ctr">
                    <a:solidFill>
                      <a:srgbClr val="FFFFFF"/>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Failure reason (told)</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31.3% → 6.3%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56.3% → 62.5%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68.8% → 68.8%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93.8% → 87.5%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31.3%</a:t>
                      </a:r>
                    </a:p>
                  </a:txBody>
                  <a:tcPr marL="109728" marR="91440" marT="45720" marB="36576" anchor="ctr">
                    <a:solidFill>
                      <a:srgbClr val="E3EFF5"/>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Area: exact level</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35.9% → 2.2%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35.9% → 50.0%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57.6% → 54.3%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66.3% → 52.2%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35.9%</a:t>
                      </a:r>
                    </a:p>
                  </a:txBody>
                  <a:tcPr marL="109728" marR="91440" marT="45720" marB="36576" anchor="ctr">
                    <a:solidFill>
                      <a:srgbClr val="FFFFFF"/>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Power: exact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27.1% → 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45.9% → 40.0%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40.0% → 28.2%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10.6% → 42.4%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43.5%</a:t>
                      </a:r>
                    </a:p>
                  </a:txBody>
                  <a:tcPr marL="109728" marR="91440" marT="45720" marB="36576" anchor="ctr">
                    <a:solidFill>
                      <a:srgbClr val="E3EFF5"/>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Frequency: exact level</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14.1% → 23.9%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12.0% → 22.8%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14.1% → 16.3%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14.1% → 39.1%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48.9%</a:t>
                      </a:r>
                    </a:p>
                  </a:txBody>
                  <a:tcPr marL="109728" marR="91440" marT="45720" marB="36576" anchor="ctr">
                    <a:solidFill>
                      <a:srgbClr val="FFFFFF"/>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Slack: exact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92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8.7% → 68.5%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4.3% → 10.9%</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3.3% → 16.3%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1">
                          <a:solidFill>
                            <a:srgbClr val="00407A"/>
                          </a:solidFill>
                          <a:latin typeface="Arial"/>
                        </a:rPr>
                        <a:t>32.6% → 65.2%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68.5%</a:t>
                      </a:r>
                    </a:p>
                  </a:txBody>
                  <a:tcPr marL="109728" marR="91440" marT="45720" marB="36576" anchor="ctr">
                    <a:solidFill>
                      <a:srgbClr val="E3EFF5"/>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Pair: smaller area</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47.8% → 50.0%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76.1% → 67.4%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87.0% → 76.1%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78.3% → 89.1%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50.0%</a:t>
                      </a:r>
                    </a:p>
                  </a:txBody>
                  <a:tcPr marL="109728" marR="91440" marT="45720" marB="36576" anchor="ctr">
                    <a:solidFill>
                      <a:srgbClr val="FFFFFF"/>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Pair: lower power</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44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63.6% → 54.5%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56.8% → 63.6%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65.9% → 70.5%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70.5% → 79.5%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50.0%</a:t>
                      </a:r>
                    </a:p>
                  </a:txBody>
                  <a:tcPr marL="109728" marR="91440" marT="45720" marB="36576" anchor="ctr">
                    <a:solidFill>
                      <a:srgbClr val="E3EFF5"/>
                    </a:solidFill>
                    <a:lnL>
                      <a:noFill/>
                    </a:lnL>
                    <a:lnR>
                      <a:noFill/>
                    </a:lnR>
                    <a:lnT>
                      <a:noFill/>
                    </a:lnT>
                    <a:lnB>
                      <a:noFill/>
                    </a:lnB>
                  </a:tcPr>
                </a:tc>
              </a:tr>
              <a:tr h="352043">
                <a:tc>
                  <a:txBody>
                    <a:bodyPr/>
                    <a:lstStyle/>
                    <a:p>
                      <a:pPr algn="l">
                        <a:lnSpc>
                          <a:spcPct val="103000"/>
                        </a:lnSpc>
                        <a:spcBef>
                          <a:spcPts val="0"/>
                        </a:spcBef>
                        <a:spcAft>
                          <a:spcPts val="0"/>
                        </a:spcAft>
                      </a:pPr>
                      <a:r>
                        <a:rPr sz="1250" b="0">
                          <a:solidFill>
                            <a:srgbClr val="00407A"/>
                          </a:solidFill>
                          <a:latin typeface="Arial"/>
                        </a:rPr>
                        <a:t>Pair: higher frequency</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12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66.7% → 50.0%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83.3% → 50.0%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75.0% → 75.0%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83.3% → 91.7%</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250" b="0">
                          <a:solidFill>
                            <a:srgbClr val="00407A"/>
                          </a:solidFill>
                          <a:latin typeface="Arial"/>
                        </a:rPr>
                        <a:t>50.0%</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5852160"/>
            <a:ext cx="10424160" cy="457200"/>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Constant: the score of the most common test label (always “yes”, one level, one reason, or one letter). The p value is the exact two-sided McNemar test on the paired questions; with 40 tests about 2 fall below 0.05 by chance.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correct answers per tool outcome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cell: designs of the group with a correct answer, no examples → three examples. “Yes” answers: of 123.</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graphicFrame>
        <p:nvGraphicFramePr>
          <p:cNvPr id="6" name="Table 5"/>
          <p:cNvGraphicFramePr>
            <a:graphicFrameLocks noGrp="1"/>
          </p:cNvGraphicFramePr>
          <p:nvPr/>
        </p:nvGraphicFramePr>
        <p:xfrm>
          <a:off x="813816" y="1810512"/>
          <a:ext cx="10561320" cy="3749032"/>
        </p:xfrm>
        <a:graphic>
          <a:graphicData uri="http://schemas.openxmlformats.org/drawingml/2006/table">
            <a:tbl>
              <a:tblPr firstRow="1" bandRow="1">
                <a:tableStyleId>{5C22544A-7EE6-4342-B048-85BDC9FD1C3A}</a:tableStyleId>
              </a:tblPr>
              <a:tblGrid>
                <a:gridCol w="3108960"/>
                <a:gridCol w="1051560"/>
                <a:gridCol w="1600200"/>
                <a:gridCol w="1600200"/>
                <a:gridCol w="1600200"/>
                <a:gridCol w="1600200"/>
              </a:tblGrid>
              <a:tr h="411480">
                <a:tc>
                  <a:txBody>
                    <a:bodyPr/>
                    <a:lstStyle/>
                    <a:p>
                      <a:pPr algn="l">
                        <a:lnSpc>
                          <a:spcPct val="103000"/>
                        </a:lnSpc>
                        <a:spcBef>
                          <a:spcPts val="0"/>
                        </a:spcBef>
                        <a:spcAft>
                          <a:spcPts val="0"/>
                        </a:spcAft>
                      </a:pPr>
                      <a:r>
                        <a:rPr sz="1400" b="1">
                          <a:solidFill>
                            <a:srgbClr val="FFFFFF"/>
                          </a:solidFill>
                          <a:latin typeface="Arial"/>
                        </a:rPr>
                        <a:t>Group</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Designs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27B</a:t>
                      </a:r>
                    </a:p>
                  </a:txBody>
                  <a:tcPr marL="109728" marR="91440" marT="45720" marB="36576" anchor="ctr">
                    <a:solidFill>
                      <a:srgbClr val="00407A"/>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Compile: the tool says “yes”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4 → 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114 → 113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114 → 112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114 → 108</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Compile: the tool says “no”</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 → 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2 → 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8 → 9</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Compile: all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13 → 10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114 → 116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116 → 116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122 → 117</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Compile: “yes” answers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4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 → 119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121 → 117</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115 → 108</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Synthesis: the tool says “yes”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99</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99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98 → 98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97 → 98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98 → 96</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Synthesis: the tool says “no”</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24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24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 → 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2 → 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4 → 12</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Synthesis: all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99 → 24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98 → 100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99 → 102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102 → 108</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500" b="0">
                          <a:solidFill>
                            <a:srgbClr val="00407A"/>
                          </a:solidFill>
                          <a:latin typeface="Arial"/>
                        </a:rPr>
                        <a:t>Synthesis: “yes” answers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123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122 → 120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119 → 118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118 → 108</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5715000"/>
            <a:ext cx="10424160" cy="2743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designs” is the score of the result slides. The paired tests within each group are in the speaker notes.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 probability of every design, no examples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test design. 0.5 or more counts as “yes”. Teal: the tool says “yes”; orange: it says “no”.</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8" name="TextBox 7"/>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9" name="Connector 8"/>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3" name="Connector 12"/>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Oval 15"/>
          <p:cNvSpPr/>
          <p:nvPr/>
        </p:nvSpPr>
        <p:spPr>
          <a:xfrm>
            <a:off x="286873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3602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80868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2082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83041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0386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88412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6934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7278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5938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83946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99366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5009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9426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1110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80537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77398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83795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81080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87477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1744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07543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3120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7585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79601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83735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78122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80657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2094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84972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74170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91611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77972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86390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00935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01569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93995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81653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6077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89227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89951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80295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84610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87085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85304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84308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04526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91520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64212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68979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54737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88352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76372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85908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86059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02927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94085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89227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92878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82890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80386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85546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83222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00543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89529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85002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10470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94447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67350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82649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9649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96861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2752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15057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07483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05582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85183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02474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82347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82981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79239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73838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83132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91279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81744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06004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86994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85002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85546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66716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61949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74532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68285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71092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5063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84791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76553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90253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23597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00663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5588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87386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299275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273777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08871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92637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85546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76734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62099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64725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279480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83011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14785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86270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277338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77519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88563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02745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78485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77308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55582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98642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02776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140" name="TextBox 13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1" name="Oval 140"/>
          <p:cNvSpPr/>
          <p:nvPr/>
        </p:nvSpPr>
        <p:spPr>
          <a:xfrm>
            <a:off x="440193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21968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45263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97013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34460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43211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7025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42095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34038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37357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31262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34883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423567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21364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23416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14001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85607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29300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8950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26675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399397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34641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37116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25347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31231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27580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33253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15933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30447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21787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36210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28546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72782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8974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25287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04798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17864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92396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15118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18045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22269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35184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18980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2354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42306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32831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29511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16174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33615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43392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02324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31563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33585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09053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28908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31201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45534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36180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35215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1093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28063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7109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396470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38836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49065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9119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42396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4490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34309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31352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21243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24593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30779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9813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36935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18045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18437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37991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23869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29511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10290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04496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29602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22813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93271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422662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24985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398401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399125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26554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19493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370640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2742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22632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389378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375619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16596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02776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06699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397526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40435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52294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18648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451720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445534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20429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86844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437689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444690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41219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426253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432348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432076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425619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430718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96802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86904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429270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15298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81533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81563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432801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97616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265" name="TextBox 264"/>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6" name="Oval 265"/>
          <p:cNvSpPr/>
          <p:nvPr/>
        </p:nvSpPr>
        <p:spPr>
          <a:xfrm>
            <a:off x="435758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26222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21002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07333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28697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34128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17532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26434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23416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6796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0791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9632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18679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22994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14967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05583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8075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03229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7411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7671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13609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17894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25679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22300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0441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1859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22481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04466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3881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2281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7743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5468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393362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04345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24261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389077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05613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4707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17864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05100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18166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4201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0338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0580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2529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26373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7761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99246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24804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33042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67592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418558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20549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399849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10079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20278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37840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041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0851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0549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1243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15691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10742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701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37508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03591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399819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1636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16989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19342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398672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19795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2994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18829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5559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22481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00936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404858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02897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05673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395534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26011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19674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05220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17411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24774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03893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03863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17713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376222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27248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27218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392788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06307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02867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15178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11859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04557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396500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35878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34189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13971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42095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33706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14937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396077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32167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36572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36995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407001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421545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22601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19041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18135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12312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276855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426102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263970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16898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59445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24593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70881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390" name="TextBox 389"/>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1" name="Oval 390"/>
          <p:cNvSpPr/>
          <p:nvPr/>
        </p:nvSpPr>
        <p:spPr>
          <a:xfrm>
            <a:off x="453742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406397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363277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41505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51328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30899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448703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43875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07242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52052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16295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30960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35124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18528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15450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13790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37568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25951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46229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5878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03591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18558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43543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41461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12221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434611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46681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14364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30960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90525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24834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46621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40012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9349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27007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94478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42457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23386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15782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379360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44599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30447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03350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52746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54527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49186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54466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27822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50755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52505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28606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35667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57303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23627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42064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53018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8902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55191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9578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55221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53078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57092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56035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53501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61799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57695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22963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9566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7333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53712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04949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52022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8299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54014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53742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366083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55190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7484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05914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361165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393603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394025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46892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42698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16355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395836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20399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23899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35456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50212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17653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46651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48220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30628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393603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359414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4177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13277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47617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36452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57333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461165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408902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58932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55402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52927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34430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55583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57242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57061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52927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452837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26253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2905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271816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68588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246952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271484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261285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292154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35757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238442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10531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515" name="TextBox 51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the 0.5 threshold</a:t>
            </a:r>
          </a:p>
        </p:txBody>
      </p:sp>
      <p:sp>
        <p:nvSpPr>
          <p:cNvPr id="516" name="Rounded Rectangle 51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518" name="TextBox 517"/>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519" name="Connector 518"/>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1" name="Connector 520"/>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3" name="Connector 522"/>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4" name="TextBox 52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5" name="TextBox 52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6" name="Oval 525"/>
          <p:cNvSpPr/>
          <p:nvPr/>
        </p:nvSpPr>
        <p:spPr>
          <a:xfrm>
            <a:off x="887806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897915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91246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88983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85000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96406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91548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99665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84064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92272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96738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906816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906122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9405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98096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96617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80715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911554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97945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906696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74227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905157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84517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85965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69097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901053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68494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904644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900299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92755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97100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901506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97190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92423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910317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918766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916231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902652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910256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74921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94565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88108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93871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90099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80081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89435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914662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907873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70636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62821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84396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92996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81258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904221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92906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98548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87021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900389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87534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95802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95953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93026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904915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85271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84185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915929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99605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80504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901536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904704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90280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909411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911976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913364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93328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86207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89647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88802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93238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74046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59984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91608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902290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900751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902803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81530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71391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905609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86327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98096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902984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96195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94445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74891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70697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91608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93962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926460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907963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903165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83732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911765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97251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92875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93056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94324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900932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905338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904704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92875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66925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87384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60739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91246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92272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66985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905851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911101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97462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80473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886056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906605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918796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650" name="TextBox 6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1" name="Oval 650"/>
          <p:cNvSpPr/>
          <p:nvPr/>
        </p:nvSpPr>
        <p:spPr>
          <a:xfrm>
            <a:off x="968344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957088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64119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821481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41488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58325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0546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34065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53075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56666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56575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41427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19792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4451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42514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45350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33039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47945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50088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52290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16684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29056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54554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22568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38410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46497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41005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21331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49333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44294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42031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45561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33099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36931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24318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28090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34517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25072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0631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43389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50691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69490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40733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49092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58235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65658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9762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38893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39707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56937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898186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59472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62429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43479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55670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62942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65779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67408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66563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66503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59382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61615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60257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49605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31470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60558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67016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70697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58325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50842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60377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57722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67710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72538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54493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28693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9804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04553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33914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42453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3246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6225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39617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41940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06967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70697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8615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58657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72810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75797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53075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14662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75284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3184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3817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63485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58869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73896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62942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70396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50570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48941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43057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33401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64330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51083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25585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20787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47734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36690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22507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03829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43479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09774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37233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15658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31771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69641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916774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933642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890793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39858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22206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77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775" name="TextBox 77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6" name="Oval 775"/>
          <p:cNvSpPr/>
          <p:nvPr/>
        </p:nvSpPr>
        <p:spPr>
          <a:xfrm>
            <a:off x="960468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776"/>
          <p:cNvSpPr/>
          <p:nvPr/>
        </p:nvSpPr>
        <p:spPr>
          <a:xfrm>
            <a:off x="961675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72749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829658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53829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74771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53648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58838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4813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0921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2822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1343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44415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62912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60045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52864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9472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7360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59231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63968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47251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8929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37293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53799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49997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55308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60226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61705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54765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7722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6304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7257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50993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37384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61011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35030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9062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39888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56605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60921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9502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6895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59895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65507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71904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5839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6835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878210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56032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69279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35724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60890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57149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46859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52381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71391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66111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65658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1102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1132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076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64421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67016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66684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49665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56243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66835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67438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67197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0510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65567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67680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65507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65779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64873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28663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892332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32918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53829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66563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58688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57782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49031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893901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70818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64179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68736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74892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66775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68193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850962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968706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74861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73715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56515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72297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69852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62339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64300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60830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56485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49333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33371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65598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60921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39496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44656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59140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30896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863937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808566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55942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45048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1566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45863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834758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967348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921089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959563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910287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958567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15959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TextBox 89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900" name="TextBox 89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1" name="Oval 900"/>
          <p:cNvSpPr/>
          <p:nvPr/>
        </p:nvSpPr>
        <p:spPr>
          <a:xfrm>
            <a:off x="988289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959050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66865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84432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80927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892936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966412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4186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48609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84548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72991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62701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9720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73021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8627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66956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69762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73654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83401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76732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58446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70939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57782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68434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35151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76521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39436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72206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66654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47734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66412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83371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4620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3443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44354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35302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72870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78995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47191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62429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87475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87837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47975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86720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46557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88108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87626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0951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89496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89074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71874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81198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84005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70848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70456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89587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86358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82375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88169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87354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86358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87022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87927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3087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87837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978030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93117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91518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87203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65205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87082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90160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88531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89436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45923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35815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90975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947945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63214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87294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85694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68344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68676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70758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49031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87927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88561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74711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92936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89466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91186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59050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91096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91669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90613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84970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983492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81530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7027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88682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10196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936599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45954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47975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85936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86238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76068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71361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64029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67499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34125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65567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57239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883793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28301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945048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820123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927094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40521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927486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810739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852923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902803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TextBox 102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1025" name="TextBox 102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the 0.5 threshold</a:t>
            </a:r>
          </a:p>
        </p:txBody>
      </p:sp>
      <p:sp>
        <p:nvSpPr>
          <p:cNvPr id="1026" name="Rounded Rectangle 102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TextBox 1026"/>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for most designs of both groups: 114 of 114 and 8 of 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 probability of every design, three examples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test design. 0.5 or more counts as “yes”. Teal: the tool says “yes”; orange: it says “no”.</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8" name="TextBox 7"/>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9" name="Connector 8"/>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3" name="Connector 12"/>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Oval 15"/>
          <p:cNvSpPr/>
          <p:nvPr/>
        </p:nvSpPr>
        <p:spPr>
          <a:xfrm>
            <a:off x="2748037" y="29200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855159" y="2948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43449" y="29608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95954" y="2969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803257" y="29022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482193" y="2973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731742" y="2935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32647" y="2904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00360" y="2975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04464" y="2944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400720" y="2957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596859" y="2935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48942" y="295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781229" y="28871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420938" y="2957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550691" y="29036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605006" y="291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537716" y="2922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45561" y="2912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613757" y="2925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448699" y="291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10678" y="29284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478874" y="2940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524438" y="2952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525645" y="2965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691911" y="2942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469821" y="2964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701567" y="2896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767651" y="29654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458053" y="2930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437836" y="28998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656908" y="2957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661132" y="298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557631" y="2894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490340" y="29245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502712" y="29643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371450" y="290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432706" y="2962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460769" y="2903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657511" y="29822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615869" y="2947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934821" y="29428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626732" y="295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752865" y="2920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905853" y="29334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394685" y="29247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408867" y="29301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980687" y="2975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808387" y="2973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697946" y="2958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611645" y="29579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633371" y="2963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288770" y="29000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391064" y="295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286054" y="2928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700662" y="29321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737475" y="2929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751959" y="29334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645139" y="2898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252258" y="2893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323472" y="29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406755" y="29530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357268" y="29067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19370" y="29241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82135" y="29236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696135" y="2949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080266" y="2912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020820" y="296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782738" y="28976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688290" y="28972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83825" y="298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547070" y="29462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668072" y="2967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796921" y="29012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779721" y="2977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826794" y="29829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893783" y="29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659020" y="2980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354552" y="2916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564270" y="2948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563968" y="29846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944779" y="2932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410980" y="2969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642122" y="29023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433913" y="28996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698851" y="297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634880" y="2917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538923" y="2979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537716" y="2960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881109" y="2918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867832" y="2937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694928" y="290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694928" y="295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705490" y="2916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904948" y="29528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756486" y="2895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507842" y="295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515989" y="2971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842183" y="2933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607118" y="2929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34458" y="2901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859685" y="2980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2470123" y="2892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2618585" y="2885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633673" y="2945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759202" y="294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840976" y="29225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637595" y="2903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288468" y="2970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767349" y="2906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149669" y="28913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735665" y="2916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482797" y="2905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967410" y="29040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2722086" y="3124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493358" y="30873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963789" y="31152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375675" y="3105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648459" y="31405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621603" y="31375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537716" y="3123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571512" y="31240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491547" y="3152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 of 123</a:t>
            </a:r>
          </a:p>
          <a:p>
            <a:pPr algn="l">
              <a:lnSpc>
                <a:spcPct val="109000"/>
              </a:lnSpc>
              <a:spcBef>
                <a:spcPts val="0"/>
              </a:spcBef>
              <a:spcAft>
                <a:spcPts val="0"/>
              </a:spcAft>
            </a:pPr>
            <a:r>
              <a:rPr sz="1250" b="0">
                <a:solidFill>
                  <a:srgbClr val="00407A"/>
                </a:solidFill>
                <a:latin typeface="Arial"/>
              </a:rPr>
              <a:t>are “yes”</a:t>
            </a:r>
          </a:p>
        </p:txBody>
      </p:sp>
      <p:sp>
        <p:nvSpPr>
          <p:cNvPr id="140" name="TextBox 13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1" name="Oval 140"/>
          <p:cNvSpPr/>
          <p:nvPr/>
        </p:nvSpPr>
        <p:spPr>
          <a:xfrm>
            <a:off x="4453237" y="34230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333442" y="34515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455651" y="34638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417624" y="3472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213043" y="34051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361505" y="34763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37666" y="3438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430908" y="3407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200973" y="3478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390775" y="3447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221492" y="3460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275505" y="3438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956252" y="345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291800" y="33901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324087" y="3460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76952" y="34065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936638" y="341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261625" y="3425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76229" y="3415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88299" y="3428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3956252" y="342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174117" y="34313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248951" y="3443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387154" y="3455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187997" y="346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068202" y="3444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78461" y="3467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013283" y="3399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163254" y="34683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252874" y="34337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203688" y="3402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414915" y="3460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084496" y="348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037121" y="3397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070314" y="3427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233562" y="3467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179850" y="340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4159633" y="3465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050398" y="3406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101093" y="34851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234769" y="3450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397413" y="34457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232053" y="346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67900" y="3423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111352" y="34363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70677" y="3427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271884" y="34330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220285" y="3478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323484" y="3476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418536" y="34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114973" y="34608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390171" y="3466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389266" y="34029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274298" y="346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235372" y="3431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426985" y="34350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479490" y="3432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442374" y="34364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388059" y="3401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367841" y="33964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440865" y="3447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355771" y="34559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329821" y="34096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446900" y="3427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428192" y="34265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332536" y="3452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430606" y="3415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97413" y="347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426985" y="3400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369350" y="34001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369954" y="34838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356978" y="3449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392585" y="3470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418838" y="340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453841" y="3480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207611" y="3485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324389" y="34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459574" y="3483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219681" y="3419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230846" y="3451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084195" y="34875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006946" y="3435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136699" y="3472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224207" y="34052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157520" y="34025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949915" y="3477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197653" y="3420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059753" y="3482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060960" y="34631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280333" y="3421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3608633" y="3440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2533189" y="3411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319259" y="3454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294817" y="3419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092040" y="34557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3564879" y="3398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130966" y="3455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313828" y="3474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339477" y="3436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294214" y="3432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443581" y="34044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508156" y="3483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356677" y="3395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4455953" y="3387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4497595" y="3448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280635" y="344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4368143" y="34254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4442676" y="3405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723601" y="347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364220" y="3409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4434227" y="3394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4340382" y="3419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4294214" y="34084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4356677" y="34069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4150882" y="3627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797832" y="35902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2136385" y="36181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4261021" y="3608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2904344" y="36434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890168" y="36405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1889250" y="3625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4206404" y="36269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753776" y="36555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265" name="TextBox 264"/>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6" name="Oval 265"/>
          <p:cNvSpPr/>
          <p:nvPr/>
        </p:nvSpPr>
        <p:spPr>
          <a:xfrm>
            <a:off x="4439357" y="39259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350038" y="39544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441469" y="39667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025051" y="3975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219681" y="39080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470135" y="39792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311414" y="3941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426683" y="3909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3872666" y="3981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320768" y="3950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56495" y="3962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352150" y="3941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314431" y="395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285765" y="38930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337968" y="396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164461" y="39094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25233" y="391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047381" y="3928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52390" y="3918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345814" y="3930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163254" y="3924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314733" y="39342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355470" y="3946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211232" y="395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065486" y="397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44847" y="3947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342192" y="3970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3822274" y="3901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245028" y="39712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276712" y="39366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272186" y="3905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413708" y="3963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172306" y="398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178945" y="3900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335554" y="3930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4063977" y="3970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172608" y="3911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252572" y="3968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256193" y="3909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187394" y="39880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52874" y="3953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455953" y="39487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340382" y="396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302059" y="3926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293610" y="39392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312923" y="3930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24509" y="393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975866" y="3981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319561" y="3979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412199" y="39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749853" y="39638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4270074" y="3969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350642" y="39058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258909" y="396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3944182" y="3934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417932" y="39380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477981" y="3934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419139" y="39393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377196" y="3904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377196" y="38993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433020" y="3950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417630" y="39589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438150" y="39125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487033" y="3930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500009" y="39294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456557" y="3954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437546" y="3918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446900" y="39740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458971" y="3903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387757" y="39030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185583" y="39868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410690" y="3952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439658" y="3973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391982" y="390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432416" y="3982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315940" y="3988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205499" y="39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451427" y="3986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4065486" y="3922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3909178" y="3954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138510" y="3990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290593" y="3938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63857" y="3975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251969" y="39082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249253" y="39054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311716" y="3980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294214" y="3923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173815" y="398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161141" y="39660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3535006" y="3924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1966499" y="3943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2064870" y="39144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355771" y="3957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3860295" y="39223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3840982" y="39586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3962588" y="3900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042251" y="3958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62712" y="397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281842" y="3939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70979" y="3934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469532" y="39073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302965" y="39864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376894" y="3898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495784" y="3890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480998" y="3951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327708" y="3948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116180" y="39283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456255" y="3908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445995" y="397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276712" y="39123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4235976" y="3897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4362108" y="3922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314431" y="39114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215758" y="39098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3552508" y="4130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044665" y="40931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1744108" y="41210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4182867" y="411102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2099572" y="41463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134889" y="41434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1818339" y="41288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294214" y="41298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2480986" y="41585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117 of 123</a:t>
            </a:r>
          </a:p>
          <a:p>
            <a:pPr algn="l">
              <a:lnSpc>
                <a:spcPct val="109000"/>
              </a:lnSpc>
              <a:spcBef>
                <a:spcPts val="0"/>
              </a:spcBef>
              <a:spcAft>
                <a:spcPts val="0"/>
              </a:spcAft>
            </a:pPr>
            <a:r>
              <a:rPr sz="1250" b="0">
                <a:solidFill>
                  <a:srgbClr val="00407A"/>
                </a:solidFill>
                <a:latin typeface="Arial"/>
              </a:rPr>
              <a:t>are “yes”</a:t>
            </a:r>
          </a:p>
        </p:txBody>
      </p:sp>
      <p:sp>
        <p:nvSpPr>
          <p:cNvPr id="390" name="TextBox 389"/>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1" name="Oval 390"/>
          <p:cNvSpPr/>
          <p:nvPr/>
        </p:nvSpPr>
        <p:spPr>
          <a:xfrm>
            <a:off x="4575749" y="44288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3890772" y="44574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3683166" y="44696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608935" y="4478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253477" y="44110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446593" y="44822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4474360" y="44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259512" y="4412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3702177" y="4484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407974" y="4453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3724204" y="4465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3171998" y="444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491861" y="44621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3673510" y="43959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3393484" y="446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1991243" y="4412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167780" y="4420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3709117" y="4430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143640" y="44209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016602" y="4433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018413" y="4426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3763432" y="44371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529580" y="4448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467118" y="446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3870856" y="447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4271583" y="4450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457764" y="4473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3343695" y="4404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317751" y="44741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920041" y="44395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3611651" y="4408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336459" y="4466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041949" y="449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133682" y="4403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3520824" y="4433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478578" y="4473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181359" y="4414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3709117" y="4471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3652086" y="4411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3492459" y="449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240804" y="4456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2827096" y="44516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3976469" y="446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438451" y="4429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553117" y="4442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250158" y="4433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303266" y="443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3169584" y="4484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052812" y="4481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408578" y="44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3543757" y="44667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375385" y="4472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550100" y="44088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3978883" y="4468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00852" y="4437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504837" y="44409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68205" y="4437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507854" y="44422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284256" y="4407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544668" y="4402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525658" y="4453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504837" y="44618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522640" y="4415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065184" y="4432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606829" y="44323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355168" y="4457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3744724" y="4421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49194" y="44769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21735" y="4406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416725" y="44059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083591" y="44897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435132" y="4455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10872" y="44759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556436" y="440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506949" y="4485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407371" y="4491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327099" y="4470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70921" y="4489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3818351" y="4425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2482495" y="4457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2015383" y="4493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2826190" y="4441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072124" y="4478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124629" y="44111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3588416" y="440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185583" y="4483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3562465" y="4426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3882021" y="448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3914912" y="446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3950518" y="4427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3423358" y="4445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336157" y="4417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243821" y="4460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3970736" y="44252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217267" y="44616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2792092" y="4403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076349" y="4461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122517" y="448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187394" y="4442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067296" y="4437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450220" y="44102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4568808" y="44893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4201878" y="4400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135191" y="4393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509967" y="4454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96991" y="4451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3959873" y="4431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587819" y="4411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549496" y="447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522640" y="44153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461686" y="4400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4410690" y="4425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261926" y="44143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068805" y="44127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2171389" y="46337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001810" y="45961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1760402" y="46239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2014176" y="46139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1690396" y="46493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2389254" y="46463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1709708" y="46317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1938738" y="46327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1930289" y="46614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515" name="TextBox 51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the 0.5 threshold</a:t>
            </a:r>
          </a:p>
        </p:txBody>
      </p:sp>
      <p:sp>
        <p:nvSpPr>
          <p:cNvPr id="516" name="Rounded Rectangle 51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518" name="TextBox 517"/>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519" name="Connector 518"/>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1" name="Connector 520"/>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3" name="Connector 522"/>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4" name="TextBox 52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5" name="TextBox 52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6" name="Oval 525"/>
          <p:cNvSpPr/>
          <p:nvPr/>
        </p:nvSpPr>
        <p:spPr>
          <a:xfrm>
            <a:off x="7709681" y="2902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7731709" y="2969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7976731" y="2916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7877153" y="2928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7769729" y="2885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078120" y="29558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7959531" y="29510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168344" y="291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7857841" y="289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7736235" y="29564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7489704" y="289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7998457" y="29367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035271" y="291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7703646" y="295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7455606" y="29193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7544924" y="29538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7831287" y="29268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7766410" y="2953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7812276" y="289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7596826" y="2924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7898276" y="2887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7534966" y="2950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7914570" y="2932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7808655" y="29788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7736235" y="2964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7576910" y="2956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7822838" y="29096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7617043" y="2980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059713" y="29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7481255" y="2983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7600447" y="29164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7791456" y="2913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7737140" y="2924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7659892" y="2893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7540096" y="2959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7476427" y="2958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7717828" y="29576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7703948" y="2981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7634243" y="29842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7953195" y="294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7713000" y="29398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144204" y="293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342153" y="2917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7666229" y="29707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324350" y="29671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7836417" y="2899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144807" y="2887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377156" y="292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203045" y="2906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114632" y="2894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029236" y="2951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7962549" y="2936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7869006" y="2952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7869911" y="2955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7872627" y="2961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259473" y="29224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7818312" y="29386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7966774" y="29681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7689765" y="29045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7773652" y="2981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7854824" y="29375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7590489" y="297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152049" y="29298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514755" y="2976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191881" y="29141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487296" y="2952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344567" y="2983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106786" y="29296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009321" y="28962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178603" y="2952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002380" y="29849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005096" y="29425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196709" y="2971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107390" y="29598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216624" y="29180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230807" y="2919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81501" y="2885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042212" y="2887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7607689" y="29133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76371" y="2942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084759" y="2960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7822234" y="28966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7925132" y="28921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7932676" y="29042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7969188" y="29428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7934788" y="2964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418496" y="29139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032857" y="29298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423928" y="2964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316806" y="29687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7981861" y="2965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023503" y="2894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7561521" y="2943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128211" y="29580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095320" y="2929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109502" y="2975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7745891" y="29707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7844262" y="2980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7892543" y="2904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117348" y="315255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7873532" y="31366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7766712" y="31526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7550356" y="30906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191579" y="3184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7828571" y="31127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7719940" y="31532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7711491" y="30947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018675" y="31156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7595317" y="31091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7601352" y="31218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261585" y="31745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7631225" y="31628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113425" y="31296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7692481" y="31096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7795077" y="317657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7964359" y="31692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386812" y="31267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127607" y="31849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7722656" y="3164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7794775" y="3171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7968282" y="31319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7990008" y="31082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7482462" y="30969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 of 123</a:t>
            </a:r>
          </a:p>
          <a:p>
            <a:pPr algn="l">
              <a:lnSpc>
                <a:spcPct val="109000"/>
              </a:lnSpc>
              <a:spcBef>
                <a:spcPts val="0"/>
              </a:spcBef>
              <a:spcAft>
                <a:spcPts val="0"/>
              </a:spcAft>
            </a:pPr>
            <a:r>
              <a:rPr sz="1250" b="0">
                <a:solidFill>
                  <a:srgbClr val="00407A"/>
                </a:solidFill>
                <a:latin typeface="Arial"/>
              </a:rPr>
              <a:t>are “yes”</a:t>
            </a:r>
          </a:p>
        </p:txBody>
      </p:sp>
      <p:sp>
        <p:nvSpPr>
          <p:cNvPr id="650" name="TextBox 6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1" name="Oval 650"/>
          <p:cNvSpPr/>
          <p:nvPr/>
        </p:nvSpPr>
        <p:spPr>
          <a:xfrm>
            <a:off x="9760689" y="3405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9463463" y="3472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752542" y="3419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7533458" y="3431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380482" y="3388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676802" y="34587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569982" y="34539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660206" y="341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113733" y="339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584768" y="34593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380482" y="339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249823" y="34397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8692487" y="341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494544" y="34613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365998" y="3422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130329" y="34568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052477" y="34297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445057" y="3456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303233" y="3396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441436" y="3427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8832500" y="3390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270946" y="3453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507821" y="3435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500277" y="34818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192792" y="3467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329184" y="34594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328279" y="34125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201543" y="3483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483379" y="3482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508424" y="3486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166539" y="34193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711805" y="3416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272153" y="3427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269437" y="3396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327072" y="3462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070281" y="3461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353626" y="3460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238658" y="34849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237451" y="34872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416994" y="3447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571491" y="34427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749826" y="34418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462860" y="3420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596838" y="34737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623995" y="34700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591406" y="3402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09210" y="3389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383801" y="342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572698" y="3409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649946" y="3397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8994541" y="34546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599855" y="34395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635160" y="3455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415183" y="3458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13434" y="3464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768535" y="34253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704563" y="34415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676500" y="34710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551877" y="34074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690381" y="34847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578129" y="3440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560024" y="3475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693097" y="3432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82717" y="3479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604985" y="3417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697925" y="3455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700339" y="3486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603778" y="34325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520796" y="33991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441737" y="345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568775" y="3487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13736" y="34455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657188" y="3473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675595" y="34627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404320" y="34210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179515" y="3422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635462" y="3388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086575" y="3390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244995" y="34163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539505" y="3445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549765" y="3463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548859" y="33995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363282" y="3395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498165" y="3407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191585" y="3445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744696" y="3467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789054" y="34168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570284" y="34327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744395" y="3467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719349" y="34716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463463" y="3468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404924" y="3397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702451" y="3446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705770" y="34610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06192" y="3432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599855" y="34782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560024" y="3473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637273" y="3483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578431" y="3406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657490" y="365547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002990" y="36395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423934" y="36555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107094" y="35935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209388" y="3686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525624" y="36157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567870" y="36561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234735" y="35976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8672270" y="36185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477042" y="36120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298707" y="36247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8890738" y="36774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8102864" y="36657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320131" y="36325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8677098" y="36125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020491" y="36794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8783616" y="36721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092912" y="36296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601062" y="36878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8595926" y="36675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9031355" y="3673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8416384" y="36348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060625" y="36111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8921517" y="35999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77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 of 123</a:t>
            </a:r>
          </a:p>
          <a:p>
            <a:pPr algn="l">
              <a:lnSpc>
                <a:spcPct val="109000"/>
              </a:lnSpc>
              <a:spcBef>
                <a:spcPts val="0"/>
              </a:spcBef>
              <a:spcAft>
                <a:spcPts val="0"/>
              </a:spcAft>
            </a:pPr>
            <a:r>
              <a:rPr sz="1250" b="0">
                <a:solidFill>
                  <a:srgbClr val="00407A"/>
                </a:solidFill>
                <a:latin typeface="Arial"/>
              </a:rPr>
              <a:t>are “yes”</a:t>
            </a:r>
          </a:p>
        </p:txBody>
      </p:sp>
      <p:sp>
        <p:nvSpPr>
          <p:cNvPr id="775" name="TextBox 77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6" name="Oval 775"/>
          <p:cNvSpPr/>
          <p:nvPr/>
        </p:nvSpPr>
        <p:spPr>
          <a:xfrm>
            <a:off x="9829489" y="3908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776"/>
          <p:cNvSpPr/>
          <p:nvPr/>
        </p:nvSpPr>
        <p:spPr>
          <a:xfrm>
            <a:off x="9825566" y="3975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768836" y="3922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8172870" y="39341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477646" y="3891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716633" y="39616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755559" y="39568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737454" y="391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164729" y="390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750731" y="3962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743188" y="3901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786338" y="39426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237149" y="392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673785" y="39642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773363" y="3925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574810" y="39597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300216" y="393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03596" y="3959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608908" y="3898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754051" y="3930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435702" y="3893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711202" y="3956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598950" y="3938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257367" y="39847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291163" y="3970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497561" y="39623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675293" y="39155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517779" y="3986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619469" y="3985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682837" y="3989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692795" y="3922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834618" y="3918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648437" y="3930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464670" y="3899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707581" y="3965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358454" y="3964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10657" y="3963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595027" y="39878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663525" y="3990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508123" y="3950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719651" y="39457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844274" y="39447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703658" y="3923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766121" y="3976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773061" y="39730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747110" y="3905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21280" y="3892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297198" y="393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727496" y="3912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840050" y="3900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094421" y="3957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747110" y="39424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791770" y="39586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650550" y="3961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760991" y="3967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885614" y="39282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832204" y="39444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831903" y="39740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780605" y="3910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825566" y="39876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806254" y="3943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840955" y="3978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673483" y="3935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712711" y="3981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709693" y="3920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639687" y="3958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849706" y="3989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813798" y="39354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776380" y="39021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685251" y="395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794184" y="3990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831903" y="39484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788149" y="39768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824359" y="3965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761293" y="39239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591105" y="3925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813496" y="389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173178" y="3893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459239" y="39192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289654" y="3948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805348" y="3965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552179" y="39025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730816" y="3898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657792" y="3910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604080" y="3948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845481" y="3970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749826" y="39197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828583" y="3935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802633" y="396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732928" y="39746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744696" y="3971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9189171" y="3900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9858759" y="39492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829790" y="39639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708788" y="3935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671371" y="3981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789959" y="3976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746809" y="3986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602873" y="3909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834920" y="415839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8974927" y="41424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343064" y="41584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568171" y="40964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768233" y="4189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551273" y="41186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731117" y="41590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592010" y="41006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168953" y="41214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690683" y="41149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393155" y="41276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7396764" y="41803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7382883" y="41686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167746" y="41354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292974" y="41154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358152" y="41824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333710" y="41751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7296281" y="41325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9573905" y="41907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8750725" y="41705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9306854" y="4176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8138772" y="41377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9767629" y="41140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8936906" y="41028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TextBox 89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900" name="TextBox 89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1" name="Oval 900"/>
          <p:cNvSpPr/>
          <p:nvPr/>
        </p:nvSpPr>
        <p:spPr>
          <a:xfrm>
            <a:off x="9956224" y="4411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8723869" y="4478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133648" y="4425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8387114" y="44370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742282" y="4393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9076919" y="4464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9656283" y="44598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972821" y="442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8966780" y="4405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737454" y="4465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006007" y="4404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753447" y="4445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939628" y="4424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384404" y="4467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469800" y="4428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7839736" y="44626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420313" y="443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067867" y="4462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724177" y="44019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640592" y="44332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751033" y="4396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352720" y="4459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679820" y="44413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662922" y="4487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320131" y="447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545842" y="44652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440832" y="4418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206371" y="4489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273360" y="44883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248918" y="4492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8741673" y="4425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803538" y="4421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477042" y="4433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378973" y="4402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8700031" y="4467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8064843" y="4467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603778" y="4466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288749" y="44907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189171" y="4493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208785" y="4453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676802" y="4448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8869615" y="44477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493639" y="4426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840653" y="4479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741075" y="44759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797201" y="4408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907341" y="4395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8727189" y="443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565154" y="4415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60147" y="4403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8879272" y="4460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740472" y="44453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952603" y="44615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668051" y="4464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524116" y="44704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961958" y="44311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36611" y="44473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836127" y="44769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922428" y="4413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916695" y="44906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23333" y="4446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49284" y="4481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876260" y="4438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10005108" y="44848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970709" y="4422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9779398" y="4461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937818" y="4492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965277" y="4438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874148" y="44050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512347" y="446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843369" y="4493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959242" y="44513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58940" y="44797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31481" y="4468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873544" y="4426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050968" y="4428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964372" y="439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9367808" y="4396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015965" y="44221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509933" y="4451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621581" y="4468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587182" y="44054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757672" y="4400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516874" y="4412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476137" y="4451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952603" y="4473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907642" y="44226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713918" y="4438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995754" y="447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932990" y="4477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946568" y="4473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333408" y="44034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985193" y="4452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962561" y="44668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875958" y="443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922730" y="4484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9776079" y="44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913074" y="4489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382292" y="4412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439625" y="466131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7907027" y="46454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7612215" y="46614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7869911" y="45994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8673477" y="46928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008723" y="462155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267325" y="46619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100456" y="46035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657188" y="46243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8904015" y="46178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044330" y="46306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8011433" y="46832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8863882" y="46716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8820430" y="46384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7710284" y="46184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119768" y="46853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9151754" y="46780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7087468" y="46354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7557296" y="46936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7125187" y="46734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7957117" y="4679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108289" y="4640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404610" y="46169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7275158" y="46057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TextBox 102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1025" name="TextBox 102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the 0.5 threshold</a:t>
            </a:r>
          </a:p>
        </p:txBody>
      </p:sp>
      <p:sp>
        <p:nvSpPr>
          <p:cNvPr id="1026" name="Rounded Rectangle 102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TextBox 1026"/>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for most designs of both groups: 108 of 114 and 9 of 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correct answers per class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16 test designs by their true reason. Each cell: correct answers, no examples → three examples.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graphicFrame>
        <p:nvGraphicFramePr>
          <p:cNvPr id="6" name="Table 5"/>
          <p:cNvGraphicFramePr>
            <a:graphicFrameLocks noGrp="1"/>
          </p:cNvGraphicFramePr>
          <p:nvPr/>
        </p:nvGraphicFramePr>
        <p:xfrm>
          <a:off x="813816" y="1810512"/>
          <a:ext cx="10561320" cy="3749031"/>
        </p:xfrm>
        <a:graphic>
          <a:graphicData uri="http://schemas.openxmlformats.org/drawingml/2006/table">
            <a:tbl>
              <a:tblPr firstRow="1" bandRow="1">
                <a:tableStyleId>{5C22544A-7EE6-4342-B048-85BDC9FD1C3A}</a:tableStyleId>
              </a:tblPr>
              <a:tblGrid>
                <a:gridCol w="3566160"/>
                <a:gridCol w="914400"/>
                <a:gridCol w="1520190"/>
                <a:gridCol w="1520190"/>
                <a:gridCol w="1520190"/>
                <a:gridCol w="1520190"/>
              </a:tblGrid>
              <a:tr h="411480">
                <a:tc>
                  <a:txBody>
                    <a:bodyPr/>
                    <a:lstStyle/>
                    <a:p>
                      <a:pPr algn="l">
                        <a:lnSpc>
                          <a:spcPct val="103000"/>
                        </a:lnSpc>
                        <a:spcBef>
                          <a:spcPts val="0"/>
                        </a:spcBef>
                        <a:spcAft>
                          <a:spcPts val="0"/>
                        </a:spcAft>
                      </a:pPr>
                      <a:r>
                        <a:rPr sz="1400" b="1">
                          <a:solidFill>
                            <a:srgbClr val="FFFFFF"/>
                          </a:solidFill>
                          <a:latin typeface="Arial"/>
                        </a:rPr>
                        <a:t>True reason</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Designs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27B</a:t>
                      </a:r>
                    </a:p>
                  </a:txBody>
                  <a:tcPr marL="109728" marR="91440" marT="45720" marB="36576" anchor="ctr">
                    <a:solidFill>
                      <a:srgbClr val="00407A"/>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More than one driver</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Illegal code</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FFFFFF"/>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Unsupported construct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E3EFF5"/>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Unsupported timing control</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3</a:t>
                      </a:r>
                    </a:p>
                  </a:txBody>
                  <a:tcPr marL="109728" marR="91440" marT="45720" marB="36576" anchor="ctr">
                    <a:solidFill>
                      <a:srgbClr val="FFFFFF"/>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Simulation-only statement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5</a:t>
                      </a:r>
                    </a:p>
                  </a:txBody>
                  <a:tcPr marL="109728" marR="91440" marT="45720" marB="36576" anchor="ctr">
                    <a:solidFill>
                      <a:srgbClr val="E3EFF5"/>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Asynchronous reset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0</a:t>
                      </a:r>
                    </a:p>
                  </a:txBody>
                  <a:tcPr marL="109728" marR="91440" marT="45720" marB="36576" anchor="ctr">
                    <a:solidFill>
                      <a:srgbClr val="FFFFFF"/>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Mixed assignment styles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2</a:t>
                      </a:r>
                    </a:p>
                  </a:txBody>
                  <a:tcPr marL="109728" marR="91440" marT="45720" marB="36576" anchor="ctr">
                    <a:solidFill>
                      <a:srgbClr val="E3EFF5"/>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Module-instance mismatch</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2</a:t>
                      </a:r>
                    </a:p>
                  </a:txBody>
                  <a:tcPr marL="109728" marR="91440" marT="45720" marB="36576" anchor="ctr">
                    <a:solidFill>
                      <a:srgbClr val="FFFFFF"/>
                    </a:solidFill>
                    <a:lnL>
                      <a:noFill/>
                    </a:lnL>
                    <a:lnR>
                      <a:noFill/>
                    </a:lnR>
                    <a:lnT>
                      <a:noFill/>
                    </a:lnT>
                    <a:lnB>
                      <a:noFill/>
                    </a:lnB>
                  </a:tcPr>
                </a:tc>
              </a:tr>
              <a:tr h="370839">
                <a:tc>
                  <a:txBody>
                    <a:bodyPr/>
                    <a:lstStyle/>
                    <a:p>
                      <a:pPr algn="l">
                        <a:lnSpc>
                          <a:spcPct val="103000"/>
                        </a:lnSpc>
                        <a:spcBef>
                          <a:spcPts val="0"/>
                        </a:spcBef>
                        <a:spcAft>
                          <a:spcPts val="0"/>
                        </a:spcAft>
                      </a:pPr>
                      <a:r>
                        <a:rPr sz="1400" b="0">
                          <a:solidFill>
                            <a:srgbClr val="00407A"/>
                          </a:solidFill>
                          <a:latin typeface="Arial"/>
                        </a:rPr>
                        <a:t>Equal weight per class (balanced accuracy)</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17.9% → 4.2%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37.5% → 43.8%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50.0% → 50.0%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87.5% → 75.0%</a:t>
                      </a:r>
                    </a:p>
                  </a:txBody>
                  <a:tcPr marL="109728" marR="91440" marT="45720" marB="36576" anchor="ctr">
                    <a:solidFill>
                      <a:srgbClr val="E3EFF5"/>
                    </a:solidFill>
                    <a:lnL>
                      <a:noFill/>
                    </a:lnL>
                    <a:lnR>
                      <a:noFill/>
                    </a:lnR>
                    <a:lnT>
                      <a:noFill/>
                    </a:lnT>
                    <a:lnB>
                      <a:noFill/>
                    </a:lnB>
                  </a:tcPr>
                </a:tc>
              </a:tr>
            </a:tbl>
          </a:graphicData>
        </a:graphic>
      </p:graphicFrame>
      <p:sp>
        <p:nvSpPr>
          <p:cNvPr id="7" name="TextBox 6"/>
          <p:cNvSpPr txBox="1"/>
          <p:nvPr/>
        </p:nvSpPr>
        <p:spPr>
          <a:xfrm>
            <a:off x="868680" y="5669280"/>
            <a:ext cx="10424160" cy="50292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No test design has the reason event_list or unbounded_loop. The models chose event_list 6 times without examples and 16 times with examples (7, 3, 4, 2); it is one of the three example classes.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Ranking score and probability error, yes/no checks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well and still decide badly at the 0.5 threshold. Cells: no examples → three examples.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24</a:t>
            </a:r>
          </a:p>
        </p:txBody>
      </p:sp>
      <p:graphicFrame>
        <p:nvGraphicFramePr>
          <p:cNvPr id="6" name="Table 5"/>
          <p:cNvGraphicFramePr>
            <a:graphicFrameLocks noGrp="1"/>
          </p:cNvGraphicFramePr>
          <p:nvPr/>
        </p:nvGraphicFramePr>
        <p:xfrm>
          <a:off x="813816" y="1828800"/>
          <a:ext cx="10561320" cy="2148840"/>
        </p:xfrm>
        <a:graphic>
          <a:graphicData uri="http://schemas.openxmlformats.org/drawingml/2006/table">
            <a:tbl>
              <a:tblPr firstRow="1" bandRow="1">
                <a:tableStyleId>{5C22544A-7EE6-4342-B048-85BDC9FD1C3A}</a:tableStyleId>
              </a:tblPr>
              <a:tblGrid>
                <a:gridCol w="3611880"/>
                <a:gridCol w="1737360"/>
                <a:gridCol w="1737360"/>
                <a:gridCol w="1737360"/>
                <a:gridCol w="1737360"/>
              </a:tblGrid>
              <a:tr h="411480">
                <a:tc>
                  <a:txBody>
                    <a:bodyPr/>
                    <a:lstStyle/>
                    <a:p>
                      <a:pPr algn="l">
                        <a:lnSpc>
                          <a:spcPct val="103000"/>
                        </a:lnSpc>
                        <a:spcBef>
                          <a:spcPts val="0"/>
                        </a:spcBef>
                        <a:spcAft>
                          <a:spcPts val="0"/>
                        </a:spcAft>
                      </a:pPr>
                      <a:r>
                        <a:rPr sz="1400" b="1">
                          <a:solidFill>
                            <a:srgbClr val="FFFFFF"/>
                          </a:solidFill>
                          <a:latin typeface="Arial"/>
                        </a:rPr>
                        <a:t>Probability metric</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27B</a:t>
                      </a:r>
                    </a:p>
                  </a:txBody>
                  <a:tcPr marL="109728" marR="91440" marT="45720" marB="36576" anchor="ctr">
                    <a:solidFill>
                      <a:srgbClr val="00407A"/>
                    </a:solidFill>
                    <a:lnL>
                      <a:noFill/>
                    </a:lnL>
                    <a:lnR>
                      <a:noFill/>
                    </a:lnR>
                    <a:lnT>
                      <a:noFill/>
                    </a:lnT>
                    <a:lnB>
                      <a:noFill/>
                    </a:lnB>
                  </a:tcPr>
                </a:tc>
              </a:tr>
              <a:tr h="434340">
                <a:tc>
                  <a:txBody>
                    <a:bodyPr/>
                    <a:lstStyle/>
                    <a:p>
                      <a:pPr algn="l">
                        <a:lnSpc>
                          <a:spcPct val="103000"/>
                        </a:lnSpc>
                        <a:spcBef>
                          <a:spcPts val="0"/>
                        </a:spcBef>
                        <a:spcAft>
                          <a:spcPts val="0"/>
                        </a:spcAft>
                      </a:pPr>
                      <a:r>
                        <a:rPr sz="1500" b="0">
                          <a:solidFill>
                            <a:srgbClr val="00407A"/>
                          </a:solidFill>
                          <a:latin typeface="Arial"/>
                        </a:rPr>
                        <a:t>Compile: ranking score (AUROC)</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0.563 → 0.577</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0.763 → 0.868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0.692 → 0.875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0.994 → 0.989</a:t>
                      </a:r>
                    </a:p>
                  </a:txBody>
                  <a:tcPr marL="109728" marR="91440" marT="45720" marB="36576" anchor="ctr">
                    <a:solidFill>
                      <a:srgbClr val="E3EFF5"/>
                    </a:solidFill>
                    <a:lnL>
                      <a:noFill/>
                    </a:lnL>
                    <a:lnR>
                      <a:noFill/>
                    </a:lnR>
                    <a:lnT>
                      <a:noFill/>
                    </a:lnT>
                    <a:lnB>
                      <a:noFill/>
                    </a:lnB>
                  </a:tcPr>
                </a:tc>
              </a:tr>
              <a:tr h="434340">
                <a:tc>
                  <a:txBody>
                    <a:bodyPr/>
                    <a:lstStyle/>
                    <a:p>
                      <a:pPr algn="l">
                        <a:lnSpc>
                          <a:spcPct val="103000"/>
                        </a:lnSpc>
                        <a:spcBef>
                          <a:spcPts val="0"/>
                        </a:spcBef>
                        <a:spcAft>
                          <a:spcPts val="0"/>
                        </a:spcAft>
                      </a:pPr>
                      <a:r>
                        <a:rPr sz="1500" b="0">
                          <a:solidFill>
                            <a:srgbClr val="00407A"/>
                          </a:solidFill>
                          <a:latin typeface="Arial"/>
                        </a:rPr>
                        <a:t>Compile: probability error (Brier)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0.334 → 0.420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0.064 → 0.056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0.066 → 0.057</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0.030 → 0.068</a:t>
                      </a:r>
                    </a:p>
                  </a:txBody>
                  <a:tcPr marL="109728" marR="91440" marT="45720" marB="36576" anchor="ctr">
                    <a:solidFill>
                      <a:srgbClr val="FFFFFF"/>
                    </a:solidFill>
                    <a:lnL>
                      <a:noFill/>
                    </a:lnL>
                    <a:lnR>
                      <a:noFill/>
                    </a:lnR>
                    <a:lnT>
                      <a:noFill/>
                    </a:lnT>
                    <a:lnB>
                      <a:noFill/>
                    </a:lnB>
                  </a:tcPr>
                </a:tc>
              </a:tr>
              <a:tr h="434340">
                <a:tc>
                  <a:txBody>
                    <a:bodyPr/>
                    <a:lstStyle/>
                    <a:p>
                      <a:pPr algn="l">
                        <a:lnSpc>
                          <a:spcPct val="103000"/>
                        </a:lnSpc>
                        <a:spcBef>
                          <a:spcPts val="0"/>
                        </a:spcBef>
                        <a:spcAft>
                          <a:spcPts val="0"/>
                        </a:spcAft>
                      </a:pPr>
                      <a:r>
                        <a:rPr sz="1500" b="0">
                          <a:solidFill>
                            <a:srgbClr val="00407A"/>
                          </a:solidFill>
                          <a:latin typeface="Arial"/>
                        </a:rPr>
                        <a:t>Synthesis: ranking score (AUROC)</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0.490 → 0.566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0.714 → 0.816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0.740 → 0.796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0.814 → 0.918</a:t>
                      </a:r>
                    </a:p>
                  </a:txBody>
                  <a:tcPr marL="109728" marR="91440" marT="45720" marB="36576" anchor="ctr">
                    <a:solidFill>
                      <a:srgbClr val="E3EFF5"/>
                    </a:solidFill>
                    <a:lnL>
                      <a:noFill/>
                    </a:lnL>
                    <a:lnR>
                      <a:noFill/>
                    </a:lnR>
                    <a:lnT>
                      <a:noFill/>
                    </a:lnT>
                    <a:lnB>
                      <a:noFill/>
                    </a:lnB>
                  </a:tcPr>
                </a:tc>
              </a:tr>
              <a:tr h="434340">
                <a:tc>
                  <a:txBody>
                    <a:bodyPr/>
                    <a:lstStyle/>
                    <a:p>
                      <a:pPr algn="l">
                        <a:lnSpc>
                          <a:spcPct val="103000"/>
                        </a:lnSpc>
                        <a:spcBef>
                          <a:spcPts val="0"/>
                        </a:spcBef>
                        <a:spcAft>
                          <a:spcPts val="0"/>
                        </a:spcAft>
                      </a:pPr>
                      <a:r>
                        <a:rPr sz="1500" b="0">
                          <a:solidFill>
                            <a:srgbClr val="00407A"/>
                          </a:solidFill>
                          <a:latin typeface="Arial"/>
                        </a:rPr>
                        <a:t>Synthesis: probability error (Brier)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0.187 → 0.416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0.148 → 0.130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0.144 → 0.123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0.128 → 0.088</a:t>
                      </a:r>
                    </a:p>
                  </a:txBody>
                  <a:tcPr marL="109728" marR="91440" marT="45720"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51960"/>
            <a:ext cx="5166360" cy="1325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5196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379976"/>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Ranking score: higher is better</a:t>
            </a:r>
          </a:p>
        </p:txBody>
      </p:sp>
      <p:sp>
        <p:nvSpPr>
          <p:cNvPr id="10" name="TextBox 9"/>
          <p:cNvSpPr txBox="1"/>
          <p:nvPr/>
        </p:nvSpPr>
        <p:spPr>
          <a:xfrm>
            <a:off x="1042416" y="4754880"/>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Chance = 0.5; perfect ordering = 1. The probability that a design that works gets a higher yes probability than a design that fails.</a:t>
            </a:r>
          </a:p>
        </p:txBody>
      </p:sp>
      <p:sp>
        <p:nvSpPr>
          <p:cNvPr id="11" name="Rounded Rectangle 10"/>
          <p:cNvSpPr/>
          <p:nvPr/>
        </p:nvSpPr>
        <p:spPr>
          <a:xfrm>
            <a:off x="6208776" y="4251960"/>
            <a:ext cx="5166360" cy="1325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5196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379976"/>
            <a:ext cx="4709160" cy="365760"/>
          </a:xfrm>
          <a:prstGeom prst="rect">
            <a:avLst/>
          </a:prstGeom>
          <a:noFill/>
        </p:spPr>
        <p:txBody>
          <a:bodyPr wrap="square" lIns="0" rIns="0" tIns="0" bIns="0" anchor="t">
            <a:noAutofit/>
          </a:bodyPr>
          <a:lstStyle/>
          <a:p>
            <a:pPr algn="l">
              <a:lnSpc>
                <a:spcPct val="109000"/>
              </a:lnSpc>
              <a:spcBef>
                <a:spcPts val="0"/>
              </a:spcBef>
              <a:spcAft>
                <a:spcPts val="0"/>
              </a:spcAft>
            </a:pPr>
            <a:r>
              <a:rPr sz="1700" b="1">
                <a:solidFill>
                  <a:srgbClr val="00407A"/>
                </a:solidFill>
                <a:latin typeface="Arial"/>
              </a:rPr>
              <a:t>Probability error: lower is better</a:t>
            </a:r>
          </a:p>
        </p:txBody>
      </p:sp>
      <p:sp>
        <p:nvSpPr>
          <p:cNvPr id="14" name="TextBox 13"/>
          <p:cNvSpPr txBox="1"/>
          <p:nvPr/>
        </p:nvSpPr>
        <p:spPr>
          <a:xfrm>
            <a:off x="6437376" y="4754880"/>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Mean squared error of the yes probability. Zero is perfect; a confident wrong answer costs more than an unsure one.</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69864"/>
            <a:ext cx="10213848" cy="493776"/>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KEV-27B’s synthesis ranking score rises from 0.814 to 0.918 with examples, while its failure detection at 0.5 rises from 4 to 12 of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Within one level, and mean 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 Each cell: no examples → three examples.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10512"/>
          <a:ext cx="10561320" cy="3657600"/>
        </p:xfrm>
        <a:graphic>
          <a:graphicData uri="http://schemas.openxmlformats.org/drawingml/2006/table">
            <a:tbl>
              <a:tblPr firstRow="1" bandRow="1">
                <a:tableStyleId>{5C22544A-7EE6-4342-B048-85BDC9FD1C3A}</a:tableStyleId>
              </a:tblPr>
              <a:tblGrid>
                <a:gridCol w="1463040"/>
                <a:gridCol w="2011680"/>
                <a:gridCol w="1771650"/>
                <a:gridCol w="1771650"/>
                <a:gridCol w="1771650"/>
                <a:gridCol w="1771650"/>
              </a:tblGrid>
              <a:tr h="411480">
                <a:tc>
                  <a:txBody>
                    <a:bodyPr/>
                    <a:lstStyle/>
                    <a:p>
                      <a:pPr algn="l">
                        <a:lnSpc>
                          <a:spcPct val="103000"/>
                        </a:lnSpc>
                        <a:spcBef>
                          <a:spcPts val="0"/>
                        </a:spcBef>
                        <a:spcAft>
                          <a:spcPts val="0"/>
                        </a:spcAft>
                      </a:pPr>
                      <a:r>
                        <a:rPr sz="1400" b="1">
                          <a:solidFill>
                            <a:srgbClr val="FFFFFF"/>
                          </a:solidFill>
                          <a:latin typeface="Arial"/>
                        </a:rPr>
                        <a:t>Question</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400" b="1">
                          <a:solidFill>
                            <a:srgbClr val="FFFFFF"/>
                          </a:solidFill>
                          <a:latin typeface="Arial"/>
                        </a:rPr>
                        <a:t>Measure</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27B</a:t>
                      </a:r>
                    </a:p>
                  </a:txBody>
                  <a:tcPr marL="109728" marR="91440" marT="45720" marB="36576" anchor="ctr">
                    <a:solidFill>
                      <a:srgbClr val="00407A"/>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Area</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Within one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66.3% → 12.0%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70.7% → 93.5%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90.2% → 92.4%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100.0% → 100.0%</a:t>
                      </a:r>
                    </a:p>
                  </a:txBody>
                  <a:tcPr marL="109728" marR="91440" marT="45720" marB="36576" anchor="ctr">
                    <a:solidFill>
                      <a:srgbClr val="E3EFF5"/>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Area</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Mean level error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0.99 → 1.63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0.71 → 0.88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0.65 → 0.75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0.48 → 0.44</a:t>
                      </a:r>
                    </a:p>
                  </a:txBody>
                  <a:tcPr marL="109728" marR="91440" marT="45720" marB="36576" anchor="ctr">
                    <a:solidFill>
                      <a:srgbClr val="FFFFFF"/>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Power</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Within one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82.4% → 8.2%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91.8% → 88.2%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92.9% → 69.4%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64.7% → 87.1%</a:t>
                      </a:r>
                    </a:p>
                  </a:txBody>
                  <a:tcPr marL="109728" marR="91440" marT="45720" marB="36576" anchor="ctr">
                    <a:solidFill>
                      <a:srgbClr val="E3EFF5"/>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Power</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Mean level error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0.97 → 1.61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0.75 → 0.99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0.90 → 1.06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1.07 → 1.04</a:t>
                      </a:r>
                    </a:p>
                  </a:txBody>
                  <a:tcPr marL="109728" marR="91440" marT="45720" marB="36576" anchor="ctr">
                    <a:solidFill>
                      <a:srgbClr val="FFFFFF"/>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Frequency</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Within one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31.5% → 62.0%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31.5% → 51.1%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33.7% → 51.1%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31.5% → 83.7%</a:t>
                      </a:r>
                    </a:p>
                  </a:txBody>
                  <a:tcPr marL="109728" marR="91440" marT="45720" marB="36576" anchor="ctr">
                    <a:solidFill>
                      <a:srgbClr val="E3EFF5"/>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Frequency</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Mean level error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1.12 → 0.93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1.32 → 1.00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1.21 → 1.05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1.24 → 0.87</a:t>
                      </a:r>
                    </a:p>
                  </a:txBody>
                  <a:tcPr marL="109728" marR="91440" marT="45720" marB="36576" anchor="ctr">
                    <a:solidFill>
                      <a:srgbClr val="FFFFFF"/>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Slack</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Within one level</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30.4% → 85.9%</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28.3% → 32.6%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12.0% → 76.1%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40.2% → 90.2%</a:t>
                      </a:r>
                    </a:p>
                  </a:txBody>
                  <a:tcPr marL="109728" marR="91440" marT="45720" marB="36576" anchor="ctr">
                    <a:solidFill>
                      <a:srgbClr val="E3EFF5"/>
                    </a:solidFill>
                    <a:lnL>
                      <a:noFill/>
                    </a:lnL>
                    <a:lnR>
                      <a:noFill/>
                    </a:lnR>
                    <a:lnT>
                      <a:noFill/>
                    </a:lnT>
                    <a:lnB>
                      <a:noFill/>
                    </a:lnB>
                  </a:tcPr>
                </a:tc>
              </a:tr>
              <a:tr h="405765">
                <a:tc>
                  <a:txBody>
                    <a:bodyPr/>
                    <a:lstStyle/>
                    <a:p>
                      <a:pPr algn="l">
                        <a:lnSpc>
                          <a:spcPct val="103000"/>
                        </a:lnSpc>
                        <a:spcBef>
                          <a:spcPts val="0"/>
                        </a:spcBef>
                        <a:spcAft>
                          <a:spcPts val="0"/>
                        </a:spcAft>
                      </a:pPr>
                      <a:r>
                        <a:rPr sz="1400" b="0">
                          <a:solidFill>
                            <a:srgbClr val="00407A"/>
                          </a:solidFill>
                          <a:latin typeface="Arial"/>
                        </a:rPr>
                        <a:t>Slack</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Mean level error</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1.51 → 0.76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1.65 → 1.44</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1.74 → 1.47</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1.62 → 0.92</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5715000"/>
            <a:ext cx="10424160" cy="4572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Mean level error uses the probability-weighted expected level, not only the most likely level. The level ranges are decades, so one level is not a fixed physical error.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questions: both orders, one order, neither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per pair. Each pair has two answers, one per order. Each cell: no examples → three examples.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10512"/>
          <a:ext cx="10561320" cy="3794760"/>
        </p:xfrm>
        <a:graphic>
          <a:graphicData uri="http://schemas.openxmlformats.org/drawingml/2006/table">
            <a:tbl>
              <a:tblPr firstRow="1" bandRow="1">
                <a:tableStyleId>{5C22544A-7EE6-4342-B048-85BDC9FD1C3A}</a:tableStyleId>
              </a:tblPr>
              <a:tblGrid>
                <a:gridCol w="3108960"/>
                <a:gridCol w="914400"/>
                <a:gridCol w="1634490"/>
                <a:gridCol w="1634490"/>
                <a:gridCol w="1634490"/>
                <a:gridCol w="1634490"/>
              </a:tblGrid>
              <a:tr h="411480">
                <a:tc>
                  <a:txBody>
                    <a:bodyPr/>
                    <a:lstStyle/>
                    <a:p>
                      <a:pPr algn="l">
                        <a:lnSpc>
                          <a:spcPct val="103000"/>
                        </a:lnSpc>
                        <a:spcBef>
                          <a:spcPts val="0"/>
                        </a:spcBef>
                        <a:spcAft>
                          <a:spcPts val="0"/>
                        </a:spcAft>
                      </a:pPr>
                      <a:r>
                        <a:rPr sz="1400" b="1">
                          <a:solidFill>
                            <a:srgbClr val="FFFFFF"/>
                          </a:solidFill>
                          <a:latin typeface="Arial"/>
                        </a:rPr>
                        <a:t>Pair outcome</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Pairs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0.8B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4B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9B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27B</a:t>
                      </a:r>
                    </a:p>
                  </a:txBody>
                  <a:tcPr marL="109728" marR="91440" marT="45720" marB="36576" anchor="ctr">
                    <a:solidFill>
                      <a:srgbClr val="00407A"/>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Area: both orders correct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13 → 10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19 → 12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17 → 20</a:t>
                      </a:r>
                    </a:p>
                  </a:txBody>
                  <a:tcPr marL="109728" marR="91440" marT="45720" marB="36576" anchor="ctr">
                    <a:solidFill>
                      <a:srgbClr val="E3EFF5"/>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Area: one order correct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12 → 23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 → 11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11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1</a:t>
                      </a:r>
                    </a:p>
                  </a:txBody>
                  <a:tcPr marL="109728" marR="91440" marT="45720" marB="36576" anchor="ctr">
                    <a:solidFill>
                      <a:srgbClr val="FFFFFF"/>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Area: neither order correct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23</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 → 2</a:t>
                      </a:r>
                    </a:p>
                  </a:txBody>
                  <a:tcPr marL="109728" marR="91440" marT="45720" marB="36576" anchor="ctr">
                    <a:solidFill>
                      <a:srgbClr val="E3EFF5"/>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Power: both orders correct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 → 3</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 → 11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14 → 17</a:t>
                      </a:r>
                    </a:p>
                  </a:txBody>
                  <a:tcPr marL="109728" marR="91440" marT="45720" marB="36576" anchor="ctr">
                    <a:solidFill>
                      <a:srgbClr val="FFFFFF"/>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Power: one order correct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16 → 18</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19 → 12</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11 → 9</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1</a:t>
                      </a:r>
                    </a:p>
                  </a:txBody>
                  <a:tcPr marL="109728" marR="91440" marT="45720" marB="36576" anchor="ctr">
                    <a:solidFill>
                      <a:srgbClr val="E3EFF5"/>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Power: neither order correct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4</a:t>
                      </a:r>
                    </a:p>
                  </a:txBody>
                  <a:tcPr marL="109728" marR="91440" marT="45720" marB="36576" anchor="ctr">
                    <a:solidFill>
                      <a:srgbClr val="FFFFFF"/>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Frequency: both orders correct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 → 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 → 5</a:t>
                      </a:r>
                    </a:p>
                  </a:txBody>
                  <a:tcPr marL="109728" marR="91440" marT="45720" marB="36576" anchor="ctr">
                    <a:solidFill>
                      <a:srgbClr val="E3EFF5"/>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Frequency: one order correct</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 → 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1</a:t>
                      </a:r>
                    </a:p>
                  </a:txBody>
                  <a:tcPr marL="109728" marR="91440" marT="45720" marB="36576" anchor="ctr">
                    <a:solidFill>
                      <a:srgbClr val="FFFFFF"/>
                    </a:solidFill>
                    <a:lnL>
                      <a:noFill/>
                    </a:lnL>
                    <a:lnR>
                      <a:noFill/>
                    </a:lnR>
                    <a:lnT>
                      <a:noFill/>
                    </a:lnT>
                    <a:lnB>
                      <a:noFill/>
                    </a:lnB>
                  </a:tcPr>
                </a:tc>
              </a:tr>
              <a:tr h="375920">
                <a:tc>
                  <a:txBody>
                    <a:bodyPr/>
                    <a:lstStyle/>
                    <a:p>
                      <a:pPr algn="l">
                        <a:lnSpc>
                          <a:spcPct val="103000"/>
                        </a:lnSpc>
                        <a:spcBef>
                          <a:spcPts val="0"/>
                        </a:spcBef>
                        <a:spcAft>
                          <a:spcPts val="0"/>
                        </a:spcAft>
                      </a:pPr>
                      <a:r>
                        <a:rPr sz="1400" b="0">
                          <a:solidFill>
                            <a:srgbClr val="00407A"/>
                          </a:solidFill>
                          <a:latin typeface="Arial"/>
                        </a:rPr>
                        <a:t>Frequency: neither order correct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0 → 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 → 0</a:t>
                      </a:r>
                    </a:p>
                  </a:txBody>
                  <a:tcPr marL="109728" marR="91440" marT="45720" marB="36576" anchor="ctr">
                    <a:solidFill>
                      <a:srgbClr val="E3EFF5"/>
                    </a:solidFill>
                    <a:lnL>
                      <a:noFill/>
                    </a:lnL>
                    <a:lnR>
                      <a:noFill/>
                    </a:lnR>
                    <a:lnT>
                      <a:noFill/>
                    </a:lnT>
                    <a:lnB>
                      <a:noFill/>
                    </a:lnB>
                  </a:tcPr>
                </a:tc>
              </a:tr>
            </a:tbl>
          </a:graphicData>
        </a:graphic>
      </p:graphicFrame>
      <p:sp>
        <p:nvSpPr>
          <p:cNvPr id="7" name="TextBox 6"/>
          <p:cNvSpPr txBox="1"/>
          <p:nvPr/>
        </p:nvSpPr>
        <p:spPr>
          <a:xfrm>
            <a:off x="868680" y="5760720"/>
            <a:ext cx="10424160" cy="4572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The two correct letters of a pair are opposite, so “one order correct” means the same letter in both orders. A letter swap can still be wrong in both orders.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Design groups in the test split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by the group of the dataset plan. Pairs come from the REvolution candidates.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10512"/>
          <a:ext cx="10561320" cy="3520440"/>
        </p:xfrm>
        <a:graphic>
          <a:graphicData uri="http://schemas.openxmlformats.org/drawingml/2006/table">
            <a:tbl>
              <a:tblPr firstRow="1" bandRow="1">
                <a:tableStyleId>{5C22544A-7EE6-4342-B048-85BDC9FD1C3A}</a:tableStyleId>
              </a:tblPr>
              <a:tblGrid>
                <a:gridCol w="5074920"/>
                <a:gridCol w="1645920"/>
                <a:gridCol w="1737360"/>
                <a:gridCol w="2103120"/>
              </a:tblGrid>
              <a:tr h="411480">
                <a:tc>
                  <a:txBody>
                    <a:bodyPr/>
                    <a:lstStyle/>
                    <a:p>
                      <a:pPr algn="l">
                        <a:lnSpc>
                          <a:spcPct val="103000"/>
                        </a:lnSpc>
                        <a:spcBef>
                          <a:spcPts val="0"/>
                        </a:spcBef>
                        <a:spcAft>
                          <a:spcPts val="0"/>
                        </a:spcAft>
                      </a:pPr>
                      <a:r>
                        <a:rPr sz="1400" b="1">
                          <a:solidFill>
                            <a:srgbClr val="FFFFFF"/>
                          </a:solidFill>
                          <a:latin typeface="Arial"/>
                        </a:rPr>
                        <a:t>Design group</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All retained</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Test designs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Test synthesis failures</a:t>
                      </a:r>
                    </a:p>
                  </a:txBody>
                  <a:tcPr marL="109728" marR="91440" marT="45720" marB="36576" anchor="ctr">
                    <a:solidFill>
                      <a:srgbClr val="00407A"/>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MetRex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40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31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a:t>
                      </a:r>
                    </a:p>
                  </a:txBody>
                  <a:tcPr marL="109728" marR="91440" marT="45720" marB="36576" anchor="ctr">
                    <a:solidFill>
                      <a:srgbClr val="E3EFF5"/>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Injected synthesis errors (mutants)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16</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a:t>
                      </a:r>
                    </a:p>
                  </a:txBody>
                  <a:tcPr marL="109728" marR="91440" marT="45720" marB="36576" anchor="ctr">
                    <a:solidFill>
                      <a:srgbClr val="FFFFFF"/>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LLM-written candidates, natural result</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20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17</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a:t>
                      </a:r>
                    </a:p>
                  </a:txBody>
                  <a:tcPr marL="109728" marR="91440" marT="45720" marB="36576" anchor="ctr">
                    <a:solidFill>
                      <a:srgbClr val="E3EFF5"/>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Injected compile errors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8</a:t>
                      </a:r>
                    </a:p>
                  </a:txBody>
                  <a:tcPr marL="109728" marR="91440" marT="45720" marB="36576" anchor="ctr">
                    <a:solidFill>
                      <a:srgbClr val="FFFFFF"/>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Human-written reference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15</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11</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a:t>
                      </a:r>
                    </a:p>
                  </a:txBody>
                  <a:tcPr marL="109728" marR="91440" marT="45720" marB="36576" anchor="ctr">
                    <a:solidFill>
                      <a:srgbClr val="E3EFF5"/>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REvolution ASP-DAC 2026 candidates (pairs)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32</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28</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a:t>
                      </a:r>
                    </a:p>
                  </a:txBody>
                  <a:tcPr marL="109728" marR="91440" marT="45720" marB="36576" anchor="ctr">
                    <a:solidFill>
                      <a:srgbClr val="FFFFFF"/>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ARES v0 designs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9</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0</a:t>
                      </a:r>
                    </a:p>
                  </a:txBody>
                  <a:tcPr marL="109728" marR="91440" marT="45720" marB="36576" anchor="ctr">
                    <a:solidFill>
                      <a:srgbClr val="E3EFF5"/>
                    </a:solidFill>
                    <a:lnL>
                      <a:noFill/>
                    </a:lnL>
                    <a:lnR>
                      <a:noFill/>
                    </a:lnR>
                    <a:lnT>
                      <a:noFill/>
                    </a:lnT>
                    <a:lnB>
                      <a:noFill/>
                    </a:lnB>
                  </a:tcPr>
                </a:tc>
              </a:tr>
              <a:tr h="388620">
                <a:tc>
                  <a:txBody>
                    <a:bodyPr/>
                    <a:lstStyle/>
                    <a:p>
                      <a:pPr algn="l">
                        <a:lnSpc>
                          <a:spcPct val="103000"/>
                        </a:lnSpc>
                        <a:spcBef>
                          <a:spcPts val="0"/>
                        </a:spcBef>
                        <a:spcAft>
                          <a:spcPts val="0"/>
                        </a:spcAft>
                      </a:pPr>
                      <a:r>
                        <a:rPr sz="1500" b="0">
                          <a:solidFill>
                            <a:srgbClr val="00407A"/>
                          </a:solidFill>
                          <a:latin typeface="Arial"/>
                        </a:rPr>
                        <a:t>Accepted edits and rejected twins (traps)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500" b="0">
                          <a:solidFill>
                            <a:srgbClr val="00407A"/>
                          </a:solidFill>
                          <a:latin typeface="Arial"/>
                        </a:rPr>
                        <a:t>6</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5577840"/>
            <a:ext cx="10424160" cy="5029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Not measured here: energy per operation, functional equivalence, post-route timing, measured chips, other model families, and the rename and comment controls of the earlier plan.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Condor runs of the two experiments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Job times include the setup and differ in hardware: not a speed ranking. All requests answered, zero errors.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10512"/>
          <a:ext cx="10561320" cy="3749032"/>
        </p:xfrm>
        <a:graphic>
          <a:graphicData uri="http://schemas.openxmlformats.org/drawingml/2006/table">
            <a:tbl>
              <a:tblPr firstRow="1" bandRow="1">
                <a:tableStyleId>{5C22544A-7EE6-4342-B048-85BDC9FD1C3A}</a:tableStyleId>
              </a:tblPr>
              <a:tblGrid>
                <a:gridCol w="1737360"/>
                <a:gridCol w="1371600"/>
                <a:gridCol w="822960"/>
                <a:gridCol w="1828800"/>
                <a:gridCol w="1463040"/>
                <a:gridCol w="3337560"/>
              </a:tblGrid>
              <a:tr h="411480">
                <a:tc>
                  <a:txBody>
                    <a:bodyPr/>
                    <a:lstStyle/>
                    <a:p>
                      <a:pPr algn="l">
                        <a:lnSpc>
                          <a:spcPct val="103000"/>
                        </a:lnSpc>
                        <a:spcBef>
                          <a:spcPts val="0"/>
                        </a:spcBef>
                        <a:spcAft>
                          <a:spcPts val="0"/>
                        </a:spcAft>
                      </a:pPr>
                      <a:r>
                        <a:rPr sz="1400" b="1">
                          <a:solidFill>
                            <a:srgbClr val="FFFFFF"/>
                          </a:solidFill>
                          <a:latin typeface="Arial"/>
                        </a:rPr>
                        <a:t>Experiment</a:t>
                      </a:r>
                    </a:p>
                  </a:txBody>
                  <a:tcPr marL="109728" marR="91440" marT="45720"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400" b="1">
                          <a:solidFill>
                            <a:srgbClr val="FFFFFF"/>
                          </a:solidFill>
                          <a:latin typeface="Arial"/>
                        </a:rPr>
                        <a:t>Model</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Job</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GPU</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Job time</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Median model time per request</a:t>
                      </a:r>
                    </a:p>
                  </a:txBody>
                  <a:tcPr marL="109728" marR="91440" marT="45720" marB="36576" anchor="ctr">
                    <a:solidFill>
                      <a:srgbClr val="00407A"/>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no examples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KEV-0.8B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RTX 3080 Ti</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125 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109 ms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no examples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KEV-4B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A100 80 GB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187 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201 ms</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no examples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KEV-9B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A100 80 GB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204 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244 ms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no examples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KEV-27B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7.0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A100 80 GB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400 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668 ms</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three examples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KEV-0.8B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8.0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RTX 5060 Ti</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276 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179 ms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three examples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KEV-4B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RTX 3090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599 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555 ms</a:t>
                      </a:r>
                    </a:p>
                  </a:txBody>
                  <a:tcPr marL="109728" marR="91440" marT="45720" marB="36576" anchor="ctr">
                    <a:solidFill>
                      <a:srgbClr val="FFFFFF"/>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three examples</a:t>
                      </a:r>
                    </a:p>
                  </a:txBody>
                  <a:tcPr marL="109728" marR="91440" marT="45720"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KEV-9B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RTX PRO 5000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418 s</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301 ms</a:t>
                      </a:r>
                    </a:p>
                  </a:txBody>
                  <a:tcPr marL="109728" marR="91440" marT="45720" marB="36576" anchor="ctr">
                    <a:solidFill>
                      <a:srgbClr val="E3EFF5"/>
                    </a:solidFill>
                    <a:lnL>
                      <a:noFill/>
                    </a:lnL>
                    <a:lnR>
                      <a:noFill/>
                    </a:lnR>
                    <a:lnT>
                      <a:noFill/>
                    </a:lnT>
                    <a:lnB>
                      <a:noFill/>
                    </a:lnB>
                  </a:tcPr>
                </a:tc>
              </a:tr>
              <a:tr h="417194">
                <a:tc>
                  <a:txBody>
                    <a:bodyPr/>
                    <a:lstStyle/>
                    <a:p>
                      <a:pPr algn="l">
                        <a:lnSpc>
                          <a:spcPct val="103000"/>
                        </a:lnSpc>
                        <a:spcBef>
                          <a:spcPts val="0"/>
                        </a:spcBef>
                        <a:spcAft>
                          <a:spcPts val="0"/>
                        </a:spcAft>
                      </a:pPr>
                      <a:r>
                        <a:rPr sz="1400" b="0">
                          <a:solidFill>
                            <a:srgbClr val="00407A"/>
                          </a:solidFill>
                          <a:latin typeface="Arial"/>
                        </a:rPr>
                        <a:t>three examples</a:t>
                      </a:r>
                    </a:p>
                  </a:txBody>
                  <a:tcPr marL="109728" marR="91440" marT="45720"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400" b="0">
                          <a:solidFill>
                            <a:srgbClr val="00407A"/>
                          </a:solidFill>
                          <a:latin typeface="Arial"/>
                        </a:rPr>
                        <a:t>KEV-27B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A100 80 GB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1074 s</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1062 ms</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5669280"/>
            <a:ext cx="10424160" cy="54864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No examples: 348 requests per model (both splits), maximum input 7,706 tokens. Three examples: 725 requests per model, maximum input 8,607 tokens; 3 requests exceed 8,192 tokens, the validated context of 0.8B, 4B, and 9B.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Files and checksums for reproduction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question files and the saved answers. No model was rerun for this deck.</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runs of 15 and 16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10512"/>
          <a:ext cx="10561320" cy="2194560"/>
        </p:xfrm>
        <a:graphic>
          <a:graphicData uri="http://schemas.openxmlformats.org/drawingml/2006/table">
            <a:tbl>
              <a:tblPr firstRow="1" bandRow="1">
                <a:tableStyleId>{5C22544A-7EE6-4342-B048-85BDC9FD1C3A}</a:tableStyleId>
              </a:tblPr>
              <a:tblGrid>
                <a:gridCol w="1371600"/>
                <a:gridCol w="1463040"/>
                <a:gridCol w="1737360"/>
                <a:gridCol w="1600200"/>
                <a:gridCol w="1737360"/>
                <a:gridCol w="2651760"/>
              </a:tblGrid>
              <a:tr h="411480">
                <a:tc>
                  <a:txBody>
                    <a:bodyPr/>
                    <a:lstStyle/>
                    <a:p>
                      <a:pPr algn="l">
                        <a:lnSpc>
                          <a:spcPct val="103000"/>
                        </a:lnSpc>
                        <a:spcBef>
                          <a:spcPts val="0"/>
                        </a:spcBef>
                        <a:spcAft>
                          <a:spcPts val="0"/>
                        </a:spcAft>
                      </a:pPr>
                      <a:r>
                        <a:rPr sz="1300" b="1">
                          <a:solidFill>
                            <a:srgbClr val="FFFFFF"/>
                          </a:solidFill>
                          <a:latin typeface="Arial"/>
                        </a:rPr>
                        <a:t>Model</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Job, no examples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Completed</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Job, three examples</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Completed</a:t>
                      </a:r>
                    </a:p>
                  </a:txBody>
                  <a:tcPr marL="109728" marR="91440" marT="45720"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Checkpoint revision (prefix)</a:t>
                      </a:r>
                    </a:p>
                  </a:txBody>
                  <a:tcPr marL="109728" marR="91440" marT="45720" marB="36576" anchor="ctr">
                    <a:solidFill>
                      <a:srgbClr val="00407A"/>
                    </a:solidFill>
                    <a:lnL>
                      <a:noFill/>
                    </a:lnL>
                    <a:lnR>
                      <a:noFill/>
                    </a:lnR>
                    <a:lnT>
                      <a:noFill/>
                    </a:lnT>
                    <a:lnB>
                      <a:noFill/>
                    </a:lnB>
                  </a:tcPr>
                </a:tc>
              </a:tr>
              <a:tr h="445770">
                <a:tc>
                  <a:txBody>
                    <a:bodyPr/>
                    <a:lstStyle/>
                    <a:p>
                      <a:pPr algn="l">
                        <a:lnSpc>
                          <a:spcPct val="103000"/>
                        </a:lnSpc>
                        <a:spcBef>
                          <a:spcPts val="0"/>
                        </a:spcBef>
                        <a:spcAft>
                          <a:spcPts val="0"/>
                        </a:spcAft>
                      </a:pPr>
                      <a:r>
                        <a:rPr sz="1400" b="0">
                          <a:solidFill>
                            <a:srgbClr val="00407A"/>
                          </a:solidFill>
                          <a:latin typeface="Arial"/>
                        </a:rPr>
                        <a:t>KEV-0.8B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4.0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10-15 11:30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8.0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10-16 15:44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bf75a6a8848e</a:t>
                      </a:r>
                    </a:p>
                  </a:txBody>
                  <a:tcPr marL="109728" marR="91440" marT="45720" marB="36576" anchor="ctr">
                    <a:solidFill>
                      <a:srgbClr val="E3EFF5"/>
                    </a:solidFill>
                    <a:lnL>
                      <a:noFill/>
                    </a:lnL>
                    <a:lnR>
                      <a:noFill/>
                    </a:lnR>
                    <a:lnT>
                      <a:noFill/>
                    </a:lnT>
                    <a:lnB>
                      <a:noFill/>
                    </a:lnB>
                  </a:tcPr>
                </a:tc>
              </a:tr>
              <a:tr h="445770">
                <a:tc>
                  <a:txBody>
                    <a:bodyPr/>
                    <a:lstStyle/>
                    <a:p>
                      <a:pPr algn="l">
                        <a:lnSpc>
                          <a:spcPct val="103000"/>
                        </a:lnSpc>
                        <a:spcBef>
                          <a:spcPts val="0"/>
                        </a:spcBef>
                        <a:spcAft>
                          <a:spcPts val="0"/>
                        </a:spcAft>
                      </a:pPr>
                      <a:r>
                        <a:rPr sz="1400" b="0">
                          <a:solidFill>
                            <a:srgbClr val="00407A"/>
                          </a:solidFill>
                          <a:latin typeface="Arial"/>
                        </a:rPr>
                        <a:t>KEV-4B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5.0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10-15 14:31</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9.0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10-16 15:49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6cfce5c2fa4b</a:t>
                      </a:r>
                    </a:p>
                  </a:txBody>
                  <a:tcPr marL="109728" marR="91440" marT="45720" marB="36576" anchor="ctr">
                    <a:solidFill>
                      <a:srgbClr val="FFFFFF"/>
                    </a:solidFill>
                    <a:lnL>
                      <a:noFill/>
                    </a:lnL>
                    <a:lnR>
                      <a:noFill/>
                    </a:lnR>
                    <a:lnT>
                      <a:noFill/>
                    </a:lnT>
                    <a:lnB>
                      <a:noFill/>
                    </a:lnB>
                  </a:tcPr>
                </a:tc>
              </a:tr>
              <a:tr h="445770">
                <a:tc>
                  <a:txBody>
                    <a:bodyPr/>
                    <a:lstStyle/>
                    <a:p>
                      <a:pPr algn="l">
                        <a:lnSpc>
                          <a:spcPct val="103000"/>
                        </a:lnSpc>
                        <a:spcBef>
                          <a:spcPts val="0"/>
                        </a:spcBef>
                        <a:spcAft>
                          <a:spcPts val="0"/>
                        </a:spcAft>
                      </a:pPr>
                      <a:r>
                        <a:rPr sz="1400" b="0">
                          <a:solidFill>
                            <a:srgbClr val="00407A"/>
                          </a:solidFill>
                          <a:latin typeface="Arial"/>
                        </a:rPr>
                        <a:t>KEV-9B</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6.0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10-15 14:34</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10.0</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10-16 15:57</a:t>
                      </a:r>
                    </a:p>
                  </a:txBody>
                  <a:tcPr marL="109728" marR="91440" marT="45720"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db029f08b290</a:t>
                      </a:r>
                    </a:p>
                  </a:txBody>
                  <a:tcPr marL="109728" marR="91440" marT="45720" marB="36576" anchor="ctr">
                    <a:solidFill>
                      <a:srgbClr val="E3EFF5"/>
                    </a:solidFill>
                    <a:lnL>
                      <a:noFill/>
                    </a:lnL>
                    <a:lnR>
                      <a:noFill/>
                    </a:lnR>
                    <a:lnT>
                      <a:noFill/>
                    </a:lnT>
                    <a:lnB>
                      <a:noFill/>
                    </a:lnB>
                  </a:tcPr>
                </a:tc>
              </a:tr>
              <a:tr h="445770">
                <a:tc>
                  <a:txBody>
                    <a:bodyPr/>
                    <a:lstStyle/>
                    <a:p>
                      <a:pPr algn="l">
                        <a:lnSpc>
                          <a:spcPct val="103000"/>
                        </a:lnSpc>
                        <a:spcBef>
                          <a:spcPts val="0"/>
                        </a:spcBef>
                        <a:spcAft>
                          <a:spcPts val="0"/>
                        </a:spcAft>
                      </a:pPr>
                      <a:r>
                        <a:rPr sz="1400" b="0">
                          <a:solidFill>
                            <a:srgbClr val="00407A"/>
                          </a:solidFill>
                          <a:latin typeface="Arial"/>
                        </a:rPr>
                        <a:t>KEV-27B</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7.0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10-15 14:39</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11.0</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10-16 20:15</a:t>
                      </a:r>
                    </a:p>
                  </a:txBody>
                  <a:tcPr marL="109728" marR="91440" marT="45720"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400" b="0">
                          <a:solidFill>
                            <a:srgbClr val="00407A"/>
                          </a:solidFill>
                          <a:latin typeface="Arial"/>
                        </a:rPr>
                        <a:t>af0e6d551bdc</a:t>
                      </a:r>
                    </a:p>
                  </a:txBody>
                  <a:tcPr marL="109728" marR="91440" marT="45720"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51960"/>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Inputs and evidence</a:t>
            </a:r>
          </a:p>
        </p:txBody>
      </p:sp>
      <p:sp>
        <p:nvSpPr>
          <p:cNvPr id="8" name="TextBox 7"/>
          <p:cNvSpPr txBox="1"/>
          <p:nvPr/>
        </p:nvSpPr>
        <p:spPr>
          <a:xfrm>
            <a:off x="960120" y="4709160"/>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Questions: data/questions/dataset_v1.jsonl and dataset_v1_fewshot3.jsonl (harness/fewshot.py)</a:t>
            </a:r>
          </a:p>
          <a:p>
            <a:pPr algn="l">
              <a:lnSpc>
                <a:spcPct val="109000"/>
              </a:lnSpc>
              <a:spcBef>
                <a:spcPts val="0"/>
              </a:spcBef>
              <a:spcAft>
                <a:spcPts val="0"/>
              </a:spcAft>
            </a:pPr>
            <a:r>
              <a:rPr sz="1400" b="0">
                <a:solidFill>
                  <a:srgbClr val="00407A"/>
                </a:solidFill>
                <a:latin typeface="Arial"/>
              </a:rPr>
              <a:t>Answers, scores, manifests, and comparisons: results/kev/dataset_v1_&lt;model&gt;_2026101[45]/ and results/kev/dataset_v1_fewshot3_&lt;model&gt;_20261016/</a:t>
            </a:r>
          </a:p>
          <a:p>
            <a:pPr algn="l">
              <a:lnSpc>
                <a:spcPct val="109000"/>
              </a:lnSpc>
              <a:spcBef>
                <a:spcPts val="0"/>
              </a:spcBef>
              <a:spcAft>
                <a:spcPts val="0"/>
              </a:spcAft>
            </a:pPr>
            <a:r>
              <a:rPr sz="1400" b="0">
                <a:solidFill>
                  <a:srgbClr val="00407A"/>
                </a:solidFill>
                <a:latin typeface="Arial"/>
              </a:rPr>
              <a:t>Verified tables and the build: presentations/data/verified_metrics.json, verified_metrics_fewshot3.json, compare_fewshot3.csv; presentations/src/analyse_kev.py, build_kev_findings.py</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what the four KEV sizes can tell about an RTL design</dc:title>
  <dc:subject>Dataset v1; KEV v1.0 0.8B, 4B, 9B, 27B; 725 test questions; without and with three solved examples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