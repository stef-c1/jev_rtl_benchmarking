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8"/>
    <p:sldId id="257" r:id="rId7"/>
    <p:sldId id="258" r:id="rId6"/>
    <p:sldId id="259" r:id="rId5"/>
    <p:sldId id="260" r:id="rId4"/>
    <p:sldId id="261" r:id="rId3"/>
    <p:sldId id="262" r:id="rId2"/>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B04C1B-7AD6-4013-AE6D-F69CCB37705D}" v="2" dt="2026-10-14T20:03:10.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 Verhelst" userId="731a6a4d-0ae0-40ab-8310-2cd6e3bb0597" providerId="ADAL" clId="{B0FF59DE-8C83-455B-9775-86E18A21BAE3}"/>
    <pc:docChg chg="custSel delSld modSld">
      <pc:chgData name="Marian Verhelst" userId="731a6a4d-0ae0-40ab-8310-2cd6e3bb0597" providerId="ADAL" clId="{B0FF59DE-8C83-455B-9775-86E18A21BAE3}" dt="2026-10-14T20:03:58.793" v="54" actId="20577"/>
      <pc:docMkLst>
        <pc:docMk/>
      </pc:docMkLst>
      <pc:sldChg chg="del">
        <pc:chgData name="Marian Verhelst" userId="731a6a4d-0ae0-40ab-8310-2cd6e3bb0597" providerId="ADAL" clId="{B0FF59DE-8C83-455B-9775-86E18A21BAE3}" dt="2026-10-14T20:01:31.973" v="0" actId="47"/>
        <pc:sldMkLst>
          <pc:docMk/>
          <pc:sldMk cId="0" sldId="257"/>
        </pc:sldMkLst>
      </pc:sldChg>
      <pc:sldChg chg="modSp mod">
        <pc:chgData name="Marian Verhelst" userId="731a6a4d-0ae0-40ab-8310-2cd6e3bb0597" providerId="ADAL" clId="{B0FF59DE-8C83-455B-9775-86E18A21BAE3}" dt="2026-10-14T20:02:06.567" v="10" actId="403"/>
        <pc:sldMkLst>
          <pc:docMk/>
          <pc:sldMk cId="0" sldId="259"/>
        </pc:sldMkLst>
        <pc:spChg chg="mod">
          <ac:chgData name="Marian Verhelst" userId="731a6a4d-0ae0-40ab-8310-2cd6e3bb0597" providerId="ADAL" clId="{B0FF59DE-8C83-455B-9775-86E18A21BAE3}" dt="2026-10-14T20:01:53.987" v="4" actId="20577"/>
          <ac:spMkLst>
            <pc:docMk/>
            <pc:sldMk cId="0" sldId="259"/>
            <ac:spMk id="7" creationId="{00000000-0000-0000-0000-000000000000}"/>
          </ac:spMkLst>
        </pc:spChg>
        <pc:spChg chg="mod">
          <ac:chgData name="Marian Verhelst" userId="731a6a4d-0ae0-40ab-8310-2cd6e3bb0597" providerId="ADAL" clId="{B0FF59DE-8C83-455B-9775-86E18A21BAE3}" dt="2026-10-14T20:02:06.567" v="10" actId="403"/>
          <ac:spMkLst>
            <pc:docMk/>
            <pc:sldMk cId="0" sldId="259"/>
            <ac:spMk id="9" creationId="{00000000-0000-0000-0000-000000000000}"/>
          </ac:spMkLst>
        </pc:spChg>
      </pc:sldChg>
      <pc:sldChg chg="modSp mod">
        <pc:chgData name="Marian Verhelst" userId="731a6a4d-0ae0-40ab-8310-2cd6e3bb0597" providerId="ADAL" clId="{B0FF59DE-8C83-455B-9775-86E18A21BAE3}" dt="2026-10-14T20:02:20.287" v="14" actId="404"/>
        <pc:sldMkLst>
          <pc:docMk/>
          <pc:sldMk cId="0" sldId="260"/>
        </pc:sldMkLst>
        <pc:spChg chg="mod">
          <ac:chgData name="Marian Verhelst" userId="731a6a4d-0ae0-40ab-8310-2cd6e3bb0597" providerId="ADAL" clId="{B0FF59DE-8C83-455B-9775-86E18A21BAE3}" dt="2026-10-14T20:02:20.287" v="14" actId="404"/>
          <ac:spMkLst>
            <pc:docMk/>
            <pc:sldMk cId="0" sldId="260"/>
            <ac:spMk id="12" creationId="{00000000-0000-0000-0000-000000000000}"/>
          </ac:spMkLst>
        </pc:spChg>
      </pc:sldChg>
      <pc:sldChg chg="modSp mod">
        <pc:chgData name="Marian Verhelst" userId="731a6a4d-0ae0-40ab-8310-2cd6e3bb0597" providerId="ADAL" clId="{B0FF59DE-8C83-455B-9775-86E18A21BAE3}" dt="2026-10-14T20:02:51.421" v="15" actId="20577"/>
        <pc:sldMkLst>
          <pc:docMk/>
          <pc:sldMk cId="0" sldId="261"/>
        </pc:sldMkLst>
        <pc:spChg chg="mod">
          <ac:chgData name="Marian Verhelst" userId="731a6a4d-0ae0-40ab-8310-2cd6e3bb0597" providerId="ADAL" clId="{B0FF59DE-8C83-455B-9775-86E18A21BAE3}" dt="2026-10-14T20:02:51.421" v="15" actId="20577"/>
          <ac:spMkLst>
            <pc:docMk/>
            <pc:sldMk cId="0" sldId="261"/>
            <ac:spMk id="6" creationId="{00000000-0000-0000-0000-000000000000}"/>
          </ac:spMkLst>
        </pc:spChg>
      </pc:sldChg>
      <pc:sldChg chg="modSp mod">
        <pc:chgData name="Marian Verhelst" userId="731a6a4d-0ae0-40ab-8310-2cd6e3bb0597" providerId="ADAL" clId="{B0FF59DE-8C83-455B-9775-86E18A21BAE3}" dt="2026-10-14T20:03:37.335" v="35" actId="20577"/>
        <pc:sldMkLst>
          <pc:docMk/>
          <pc:sldMk cId="0" sldId="262"/>
        </pc:sldMkLst>
        <pc:spChg chg="mod">
          <ac:chgData name="Marian Verhelst" userId="731a6a4d-0ae0-40ab-8310-2cd6e3bb0597" providerId="ADAL" clId="{B0FF59DE-8C83-455B-9775-86E18A21BAE3}" dt="2026-10-14T20:03:25.848" v="27" actId="207"/>
          <ac:spMkLst>
            <pc:docMk/>
            <pc:sldMk cId="0" sldId="262"/>
            <ac:spMk id="9" creationId="{00000000-0000-0000-0000-000000000000}"/>
          </ac:spMkLst>
        </pc:spChg>
        <pc:graphicFrameChg chg="mod modGraphic">
          <ac:chgData name="Marian Verhelst" userId="731a6a4d-0ae0-40ab-8310-2cd6e3bb0597" providerId="ADAL" clId="{B0FF59DE-8C83-455B-9775-86E18A21BAE3}" dt="2026-10-14T20:03:37.335" v="35" actId="20577"/>
          <ac:graphicFrameMkLst>
            <pc:docMk/>
            <pc:sldMk cId="0" sldId="262"/>
            <ac:graphicFrameMk id="8" creationId="{00000000-0000-0000-0000-000000000000}"/>
          </ac:graphicFrameMkLst>
        </pc:graphicFrameChg>
      </pc:sldChg>
      <pc:sldChg chg="modSp mod">
        <pc:chgData name="Marian Verhelst" userId="731a6a4d-0ae0-40ab-8310-2cd6e3bb0597" providerId="ADAL" clId="{B0FF59DE-8C83-455B-9775-86E18A21BAE3}" dt="2026-10-14T20:03:58.793" v="54" actId="20577"/>
        <pc:sldMkLst>
          <pc:docMk/>
          <pc:sldMk cId="0" sldId="263"/>
        </pc:sldMkLst>
        <pc:spChg chg="mod">
          <ac:chgData name="Marian Verhelst" userId="731a6a4d-0ae0-40ab-8310-2cd6e3bb0597" providerId="ADAL" clId="{B0FF59DE-8C83-455B-9775-86E18A21BAE3}" dt="2026-10-14T20:03:58.793" v="54"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41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presentation covers the completed KEV-0.8B, KEV-4B, KEV-9B and KEV-27B v1.0 runs. RTL means register-transfer level: code describing digital hardware. The label B denotes approximately billions of model parameters. There are 151 retained designs across development and test; the held-out test has 123 individual designs plus pair requests. The number 725 counts questions, not independent designs. All findings are specific to this dataset and tool flow. No Jev, base Qwen or commercial LLM evaluation is included.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compilation-error result is KEV-27B on the 9 compiler-rejected test designs. The area result is 61/92 exact levels. Synthesis failure detection is 4/24. The 15/16 failure-reason result is conditional on a prompt explicitly stating that synthesis failed. The strongest observed pair-area accuracy is KEV-9B at 40/46 views; the strongest observed pair-power accuracy is KEV-27B at 31/44 views. These are different models and tasks, and not a single combined design or statistically established winner.</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uses Siemens QuestaSim 2022.4 vlog -sv, a compile-only check. Synthesis uses Synopsys Design Compiler U-2022.12-SP2 with analyze, elaborate, link and compile_ultra. A synthesis pass requires no Error lines, no LINK-5/UID-341 unresolved references, no TRANS-4 unmapped generic registers, and an output netlist. Compiler acceptance is not functional correctness, complete simulator elaboration, or a guarantee of synthesizability. There are 99 test designs with both successful compilation and synthesis, 15 that compile but fail synthesis, and 9 that fail both.</a:t>
            </a:r>
          </a:p>
          <a:p/>
          <a:p>
            <a:r>
              <a:t>Evidence and reproducibility</a:t>
            </a:r>
          </a:p>
          <a:p>
            <a:r>
              <a:t>notes/synth_yesno.md; notes/DATASET.md; harness/build.py;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plan ran 159 designs; 8 are excluded under the dataset rules, leaving 151 basic design records. The test split contains 123 basic designs and the development split 28. All four models answered all 348 requests, but reported accuracy uses test only: 281 requests and 725 questions. Performance coverage is 92 area, 92 slack, 92 reachable-frequency, and 85 power questions. The 361 performance questions therefore do not mean 361 distinct designs. There are 25 distinct test pairs, each sent in both orders, containing 46 area, 44 power and 12 frequency questions. Pair metrics overlap in which pairs they cover. The analysis asserts no shared base_design_id between development and test.</a:t>
            </a:r>
          </a:p>
          <a:p/>
          <a:p>
            <a:r>
              <a:t>Evidence and reproducibility</a:t>
            </a:r>
          </a:p>
          <a:p>
            <a:r>
              <a:t>notes/DATASET.md; data/questions/dataset_v1.card.md; data/questions/dataset_v1.jsonl; presentations/src/analyse_kev.py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Condor client sends only state, API model and questions to /v1/systemone. The correct_answer and evidence fields are retained locally in the input file and output records for scoring, not sent in the request payload. The four request groups are deliberately separate. In particular the reason instruction literally states that the tool does not synthesize the module, so its score cannot be read as autonomous failure detection. All models used the same input file SHA-256 and v1.0-tagged checkpoints. Maximum actual reported input length was 7,706 tokens for every model.</a:t>
            </a:r>
          </a:p>
          <a:p/>
          <a:p>
            <a:r>
              <a:t>Evidence and reproducibility</a:t>
            </a:r>
          </a:p>
          <a:p>
            <a:r>
              <a:t>condor/kev_client.py; harness/build.py: V1_QUESTIONS and build_dataset_v1;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Binary predictions use threshold 0.5 exactly as the saved scorer. Class-specific rates use the actual tool outcome as the grouping variable. Binary balanced accuracy is the arithmetic mean of success recognition and failure detection. It equals the accuracy on a test set with equal numbers of “yes” and “no” designs, so always “yes” and always “no” both score 50% whatever the mix of the test set. The yes/no results slide shows this one score per model, with the answer mix of the model beside each bar. For reason labels the scorer averages per-class recall over the eight true classes present. Score probabilities use KEV keys 0 to 4, translated to displayed levels 1 to 5 before scoring. A constant-answer reference is a descriptive frequency of the specified label in this test set; it was not a separate run, not learned on development, and not chosen as a deployable predictor. Pair labels are exactly balanced A/B because both orders are included; always choosing a letter therefore gets 50%. There is no grand overall score across unrelated tasks.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One test set of 123 held-out designs answers both questions; all designs were sent together. Each bar is one score per model and question: balanced accuracy, the mean of the share of “yes” designs answered “yes” and the share of “no” designs answered “no”. It equals the accuracy on a test set with equal numbers of “yes” and “no” designs, so any constant answer scores exactly 50%. Plain accuracy over all 123 designs rewards a constant “yes”: always “yes” scores 80.5% for synthesis (99 of 123) and 92.7% for compilation (114 of 123). Beside each bar is the answer mix of the model (a yes probability of 0.5 or more counts as “yes”); compare it with the answer mix of the tool above the chart. Synthesis: “yes” designs answered “yes” 99, 98, 97, 98 of 99; “no” designs answered “no” 0, 0, 2, 4 of 24 (0.8B, 4B, 9B, 27B). Compilation: 4, 114, 114, 114 of 114 and 9, 0, 2, 8 of 9. With only 9 compile errors, one design changes the balanced score by 5.6 percentage points. KEV-0.8B answers “no” to compilation for 119 of the 123 designs, with yes probabilities between 0.30 and 0.53 for every design: its 9 of 9 on the compile errors is this near-constant “no”, not a detection. The question is yes/no only; it does not ask which error occurred (that is the failure-reason test, where 0.8B is right for 5 of 16). The same KEV-0.8B answers “yes” to synthesis for all 123 designs, so for 119 designs it answers both “does not compile” and “synthesizes”; in this test set, every design that vlog rejects also fails synthesis. The appendix slide “Most failing designs get the same answer as successes” shows every yes probability.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confusion counts: true positive 98, false negative 1, false positive 20, true negative 4. Overall accuracy = (98+4)/123 = 0.8292682927. Success recognition = 98/99 = 0.9898989899. Failure detection = 4/24 = 0.1666666667. Balanced accuracy = (98/99+4/24)/2 = 0.5782828283. The always-yes descriptive reference is 99/123 = 80.5% overall and 50.0% balanced. The matrix contains actual counts, not probabilities. Never interpret overall 82.9% as 82.9% of failures detected.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a derived subgroup analysis using the actual compilation and synthesis labels of the same basic requests. All bars are synthesis yes/no decisions; the right panel is not the separate compilation answer. Compiler-accepted failure detections: 0,0,1,0 of 15. Compiler-rejected failure detections: 0,0,1,4 of 9. Small subgroups do not establish general performance, but clearly localise the observed weakness.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lists the ten options of the failure-reason question exactly as the model reads them (option name, then its text). Every one of the 25 reason questions in dataset v1 offers the same ten options in the same order. The columns count the reason questions whose correct answer is that option: 16 in the test split and 9 in the development split. In the test split, 8 of the ten options occur; event_list and unbounded_loop occur only in the development split, once each. The correct answer comes from the Design Compiler message IDs (and the vlog result to separate illegal_code from unsupported_construct), with the rules in notes/synth_reason.md; a design is kept only if all its messages belong to one class. 22 of the 25 failing designs are injected one-construct edits of a working design (mutants and the rejected twins of the trap pairs). The other 3 are natural failures: one MetRex design and two LLM-written candidates. 8 further test designs fail synthesis with illegal_code; they are the injected compile errors (one removed semicolon or one undeclared name) and get only the yes/no questions, by the dataset rules.</a:t>
            </a:r>
          </a:p>
          <a:p/>
          <a:p>
            <a:r>
              <a:t>Evidence and reproducibility</a:t>
            </a:r>
          </a:p>
          <a:p>
            <a:r>
              <a:t>data/questions/dataset_v1.jsonl (records with request = reason); notes/synth_reason.md; notes/DATASET.md;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Correct reason counts are 5,9,11,15 of 16. Class-balanced reason accuracies are 17.9%,37.5%,50.0%,87.5%, respectively. The reason classes present are multiple_drivers(1), illegal_code(1), unsupported_construct(1), timing_control(3), simulation_statement(5), async_reset(1), mixed_assignments(2), instance_mismatch(2). There are no true event_list or unbounded_loop examples in the held-out reason subset. KEV-27B gets only multiple_drivers wrong, predicting async_reset. The instruction supplies the known failure and therefore this accuracy is conditional, not an end-to-end detection score.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each test reason request, replace :reason: with :basic: in its question ID and inspect the corresponding synthesis probability. The reason subset has 16 known failures, while the full binary synthesis test has 24 failures; 8 noncompile designs do not receive a reason request. Failure flags within the 16-design reason subset are 0,0,1,0. Correct diagnoses when the prompt supplies failure are 5,9,11,15. Both correct counts are 0,0,1,0. In particular KEV-27B flags none of these 16, although its independent reason response is right for 15. These are retrospective conjunctions of saved answers, not measured performance of a deployed routed pipeline.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reference synthesis uses the supplied RTL_flow_Nangate15, NanGate 15nm typical corner at 0.8 V and 25 C, Design Compiler compile_ultra -gate_clock, a 500 MHz target, input/output delay of 10% of period, and 50 ps setup clock uncertainty. Area is the synthesis total cell area divided by 0.196608 square micrometres per NAND2_X1 gate. Power comes from the same design run and PrimeTime total dynamic plus leakage power using its supplied power testbench. The model receives that testbench. Power is only included when the run is successful and switching annotation is at least 95%. In the held-out test 85 of 92 performance requests have a power label; the other seven are excluded, not model errors. Levels use lower-inclusive upper-exclusive ranges, except the first and last open-ended bins.</a:t>
            </a:r>
          </a:p>
          <a:p/>
          <a:p>
            <a:r>
              <a:t>Evidence and reproducibility</a:t>
            </a:r>
          </a:p>
          <a:p>
            <a:r>
              <a:t>harness/build.py: AREA_EDGES_GE, POWER_EDGES_UW and build_dataset_v1; notes/DATASET.md; notes/README.md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Worst slack is the smallest timing margin reported after synthesis at the fixed 500 MHz target. Positive slack means the netlist meets that target. Reachable frequency is the harness formula 1000/(period_ns-slack_ns) MHz, converted here to GHz, from that same netlist. It is not measured silicon frequency, post-route timing or the result of resynthesizing at the inferred faster target. The example mac_int8 has 1437.97 ps of slack, converted to 1.43797 ns: 1/(2-1.43797)=1.779 GHz. A unit conversion bug in the supplied summary.sh is corrected by the harness. Held-out slack truths contain levels 2,3,4,5 only; reachable frequency truths contain levels 1,2,3,4 only. Thus no negative-slack or ≥4 GHz true examples occur.</a:t>
            </a:r>
          </a:p>
          <a:p/>
          <a:p>
            <a:r>
              <a:t>Evidence and reproducibility</a:t>
            </a:r>
          </a:p>
          <a:p>
            <a:r>
              <a:t>notes/DATASET.md; harness/build.py: SLACK_EDGES_NS, REACH_EDGES_MHZ and build_dataset_v1; flow/RTL_flow_Nangate15/summary.sh</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area hits: 33,33,53,61 of 92. Within-one hits: 61,65,83,92. The dashed constant-answer reference is always area level 1, correct for 33/92 test examples. It is descriptive and computed from test labels, not an independently run or development-selected model. Even a within-one prediction can imply a large area difference because the bins have decade-wide boundaries. No physical relative error or post-layout area is reported.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power hits: 23,39,34,9 of 85. Within-one hits: 70,78,79,55. True level counts 1–5: 23,37,18,7,0. KEV-27B chosen-level counts: 0,0,54,30,1. It therefore systematically chooses high levels on this test distribution. This is an observed tendency, not evidence of an identified root cause. Power depends on both the synthesized design and stimulus; it is not a general intrinsic cost of the RTL. The constant-answer level-2 reference is computed from test labels.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Reachable frequency exact hits are 13,11,13,13 of 92. Slack exact hits are 8,4,3,30 of 92. True frequency level 4 is most common with 45/92 and true slack level 5 with 63/92. These are explicitly specified constant-answer references calculated from the test labels, not learned predictive baselines. No negative-slack cases are present, so the benchmark cannot evaluate missed timing violations. Level accuracy is not a timing estimation error in picoseconds or MHz.</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These are the complete true-label and chosen-label distributions for KEV-27B test performance responses. Frequency truths 13,16,18,45,0 and predictions 90,0,0,0,2. Power truths 23,37,18,7,0 and predictions 0,0,54,30,1. Each chart uses the same 0–100-design vertical scale; the two denominators are different and labelled. There is no omission or zoom. Counts at zero are printed as zero rather than represented by a nonzero bar. These distributions establish bias in chosen levels, not its cause.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Pair inputs are old REvolution candidates of the same problem. Both runs must have usable power and at least 95% annotation, the same power testbench, and positive values for compared metrics. A question is retained for a metric if max/min is at least 1.1, so there are no ties. Twenty-five distinct pairs occur in the held-out split and 31 across both splits. The metric subsets overlap; do not sum 23+22+6 as distinct pairs. Each retained pair is sent as AB and BA. A/B labels are therefore balanced. No energy-per-operation pair question is implemented in dataset v1, despite its presence in an older planning note.</a:t>
            </a:r>
          </a:p>
          <a:p/>
          <a:p>
            <a:r>
              <a:t>Evidence and reproducibility</a:t>
            </a:r>
          </a:p>
          <a:p>
            <a:r>
              <a:t>harness/build.py: V1_PAIR_QUESTIONS and build_dataset_v1; data/questions/dataset_v1.jsonl; notes/DATASET.md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full pair accuracy values are taken from the official local harness scorer. Per-view hits: area 22,35,40,36 of 46; power 28,25,29,31 of 44; frequency 8,10,9,10 of 12. The dashed 50% reference is always choosing A or always choosing B because both orders are included. This is not independent random sampling: the two orders share designs, and different pairs can share candidates of a problem. No significance test is claimed, and different per-task maxima belong to different models. All percentage axes are 0–100%.</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Both-order correct counts are derived from matching AB/BA answers and requiring each to equal its label. Area:5,13,19,17 of23; power:6,3,9,14 of22; frequency:3,4,4,5 of6. Same-letter-both-orders is the saved scorer positional inconsistency measure; power counts are16,19,11,3 of22. A consistent switched-letter answer can still choose the wrong design in both orders, so consistency alone does not prove correctness. The both-orders criterion is therefore shown separately from the per-view accuracy. It is a stricter descriptive summary, not a new experiment.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Condor job IDs4.0,5.0,6.0,7.0 completed with return code0. Job execution seconds are125,187,204,400; this includes setup/smoke/inference but excludes idle queue wait. Median server-reported model times are109.05,201.35,243.7,668.3ms. These medians include all348 dataset requests, development plus test, but exclude the separate smoke file. GPU0.8B: euler RTX3080Ti; larger models: aristoteles A100-SXM4-80GB. Sum of client wall times over the348 requests:52.047,99.433,104.114,279.849s. Server model latency and client wall time are distinct measures. Peak sampled GPU memory is recorded for0.8B only (7036MiB); no comparable peak is available for the larger jobs. An earlier0.8B attempt3.0 failed before inference on AMD and was corrected by requiring CUDA. No dollar-cost estimate is measured.</a:t>
            </a:r>
          </a:p>
          <a:p/>
          <a:p>
            <a:r>
              <a:t>Evidence and reproducibility</a:t>
            </a:r>
          </a:p>
          <a:p>
            <a:r>
              <a:t>results/kev/*/manifest.json; condor/logs/4.0.kev-0.8b.log; condor/logs/5.0.kev-4b.log; condor/logs/6.0.kev-9b.log; condor/logs/7.0.kev-27b.log</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distinguishes measured strengths from proposed follow-up work. The test-set probabilities suggest that the fixed0.5 threshold may hide some ranking signal, but any alternative threshold must be selected on development only, frozen and assessed on new held-out data rather than optimised on this test. Expanded failure cases should include compiler-accepted synthesis failures. The current test has no negative-slack cases, no level5 power examples, and no level5 reachable-frequency examples. No confidence interval or paired significance test is claimed here. Jev, base Qwen, commercial LLMs, renamed/comment controls, energy per operation and post-route or measured-silicon validation have no results in this completed evaluation.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Appendix for review and reproduction. The following tables retain all primary question metrics, the class splits, reason coverage, probability metrics, expected-level error and pair-order checks. There is no single overall cross-task accuracy because tasks have different meanings, supports and class distributions.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the complete primary accuracy table from the saved scorer, reproduced from raw answers. The KEV model size is indicated by the four numeric columns; all are KEV v1.0. Yes/no scores use threshold0.5. Reason accuracy is conditional on the prompt supplying failure. Area/power/frequency/slack require exact ordinal level. Pair scores count both presentation orders as separate views; area46views, power44views, frequency12views. No row is a general combined model score. For probability, class and level-error metrics see later appendix slides.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rows show all four binary confusion-matrix supports with correct counts. Wrong counts are n minus correct. Compilation supports114pass/9fail; synthesis99pass/24fail. Balanced accuracy is the arithmetic mean of the two within-group percentages, not weighted by123designs. KEV0.8B synthesis always predicts yes. KEV4B compilation always predicts yes. The source answers are all present and successfully scored; there is no missing-answer adjustment. The “yes” rows count the answers with a yes probability of 0.5 or more among all 123 test designs: correct answers on successes plus wrong answers on failures.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Each dot is the saved noul answer (the yes probability) of one held-out basic request. In each model row, the upper teal dots are the designs that the tool accepts and the lower orange dots are the designs that the tool rejects. The small vertical spread in each lane comes from a fixed hash of the question ID and only reduces overlap; it carries no data. A probability of 0.5 or more counts as “yes”, as in the saved scorer. “Yes” answers of 123, synthesis: 123, 122, 119, 118; compilation: 4, 123, 121, 115 (0.8B, 4B, 9B, 27B). KEV-0.8B gives every design a compile probability between 0.30 and 0.53 and a synthesis probability between 0.52 and 0.74, for successes and failures alike (AUROC 0.563 and 0.490; 0.5 is chance). KEV-27B compile probabilities: successes 0.56 to 0.99, failures 0.24 to 0.68 (AUROC 0.994). KEV-27B synthesis probabilities: the 9 failures that also fail vlog rank below the successes (AUROC 0.982), but only 4 fall below 0.5; the 15 failures that pass vlog get 0.60 to 0.95 (AUROC 0.713). The Kev README names no RTL training data. A search of the Kev suites (evals/) for Verilog terms finds only the C++ logging macro VLOG and the word “vlog” in a text about videos. Kev-27B also trained on C++ code-review questions (devtools-v1) and starts from a post-trained Qwen model whose training data is not published.</a:t>
            </a:r>
          </a:p>
          <a:p/>
          <a:p>
            <a:r>
              <a:t>Evidence and reproducibility</a:t>
            </a:r>
          </a:p>
          <a:p>
            <a:r>
              <a:t>results/kev/*/dataset_v1__*.jsonl; presentations/src/analyse_kev.py; github.com/jaredpalmer/kev README and evals/ (commit 5e42a7a)</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observed reason classes and supports are drawn from the test input. They total16. The offered option list has10classes, so event_list and unbounded_loop have zero true cases and are excluded from the saved scorer balanced accuracy. Correct class counts for every model are recomputed. KEV27B sole mistake is multiple_drivers→async_reset. Five simulation-only examples and three timing-control examples give those classes more influence in pooled accuracy than one-case classes. Balanced accuracy instead weights the eight observed class recalls equally. Do not interpret this as broad10-class validation.</a:t>
            </a:r>
          </a:p>
          <a:p/>
          <a:p>
            <a:r>
              <a:t>Evidence and reproducibility</a:t>
            </a:r>
          </a:p>
          <a:p>
            <a:r>
              <a:t>notes/synth_reason.md; data/questions/dataset_v1.jsonl;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AUROC is the probability that a randomly chosen actual success has a higher predicted yes probability than a randomly chosen actual failure, counting ties as half. It ranges0–1;0.5 corresponds to chance ordering. It is independent of the chosen decision threshold and is not failure recall. Brier score is mean((p_yes-y)^2),0–1with lower better. It measures probability error, not calibration alone. These metrics use all123binary test designs. Synthesis AUROC improves to0.814for27B although its thresholded failure recall is16.7%. Any threshold tuning must use the development split, not these test labels. No recalibrated or alternative-threshold result has been run.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saved scorer computes within_one from the argmax chosen level versus the true integer level. Mean absolute level error (mae_levels) uses the probability-weighted expected level sum(k*p_k)/sum(p_k), then averages abs(expected-true). Therefore it is not the mean absolute error of the argmax level and need not track exact accuracy monotonically. Supports:92area,85power,92reachablefrequency,92slack. Since area and power bins cover decades, ordinal error cannot be read as fixed relative or absolute physical error. All values are retained from the scorer, verified against raw responses with1e-12floating-point tolerance.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an A/B pair with opposite correct labels in AB and BA, each model response falls into0,1or2correct views. Both-order counts are read from paired saved answers, not estimated from percentages. The saved same_letter_both_orders rate equals the one-correct count divided by the number of distinct pairs for this balanced binary protocol. It is not itself an accuracy measure. Questions share design candidates and problem families, so naive independence across views is inappropriate. All row triplets sum to the labelled number of pairs.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group counts are based on retained basic design records only, not requests or pair views. All retained counts total151 and held-out counts123. The original plan159had8excludeddesigns:4mutantswithanunintendedclass,2traptwins that did not synthesize as required, and2noncompile designs whose DC class was not intended. Twelve retained performance cases across both splits have no usable power value, leaving98powerquestions overall and85test. The corpus also skips comparisons with incompatible testbenches or less than10%metric differences. Some source groups contain near variants; base_design_id grouping prevents cross-split leakage as checked in analyse_kev.py. Dataset v1 supersedes older planning sizes such as500perquestiontype. No planned result is presented as completed.</a:t>
            </a:r>
          </a:p>
          <a:p/>
          <a:p>
            <a:r>
              <a:t>Evidence and reproducibility</a:t>
            </a:r>
          </a:p>
          <a:p>
            <a:r>
              <a:t>data/questions/dataset_v1.card.md; notes/DATASET.md; harness/build.py;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Full provenance:</a:t>
            </a:r>
          </a:p>
          <a:p>
            <a:r>
              <a:t>{</a:t>
            </a:r>
          </a:p>
          <a:p>
            <a:r>
              <a:t>  "kev-0.8b": {</a:t>
            </a:r>
          </a:p>
          <a:p>
            <a:r>
              <a:t>    "job": "4.0",</a:t>
            </a:r>
          </a:p>
          <a:p>
            <a:r>
              <a:t>    "revision": "bf75a6a8848ea6960ff2ed108d9ed44c2941174f",</a:t>
            </a:r>
          </a:p>
          <a:p>
            <a:r>
              <a:t>    "answers_file": "results/kev/dataset_v1_kev-0.8b_20261014/dataset_v1__kev-0.8b.jsonl",</a:t>
            </a:r>
          </a:p>
          <a:p>
            <a:r>
              <a:t>    "answers_sha256": "c2b175aacc788e57d7b3fbc042432c9d3fac78384ae37bc976f8bf52d9c22046",</a:t>
            </a:r>
          </a:p>
          <a:p>
            <a:r>
              <a:t>    "dataset_sha256": "96814ea63d89b98af7f87c5f6d8e5fe0f35ec710c30755c9d0723fbec4ddbe2a"</a:t>
            </a:r>
          </a:p>
          <a:p>
            <a:r>
              <a:t>  },</a:t>
            </a:r>
          </a:p>
          <a:p>
            <a:r>
              <a:t>  "kev-4b": {</a:t>
            </a:r>
          </a:p>
          <a:p>
            <a:r>
              <a:t>    "job": "5.0",</a:t>
            </a:r>
          </a:p>
          <a:p>
            <a:r>
              <a:t>    "revision": "6cfce5c2fa4b4bd64026336ab649c5ca78857d52",</a:t>
            </a:r>
          </a:p>
          <a:p>
            <a:r>
              <a:t>    "answers_file": "results/kev/dataset_v1_kev-4b_20261015/dataset_v1__kev-4b.jsonl",</a:t>
            </a:r>
          </a:p>
          <a:p>
            <a:r>
              <a:t>    "answers_sha256": "9f68340c80d407377a5288c970bab9a1af2a203aa6128c56a80555dece270b6e",</a:t>
            </a:r>
          </a:p>
          <a:p>
            <a:r>
              <a:t>    "dataset_sha256": "96814ea63d89b98af7f87c5f6d8e5fe0f35ec710c30755c9d0723fbec4ddbe2a"</a:t>
            </a:r>
          </a:p>
          <a:p>
            <a:r>
              <a:t>  },</a:t>
            </a:r>
          </a:p>
          <a:p>
            <a:r>
              <a:t>  "kev-9b": {</a:t>
            </a:r>
          </a:p>
          <a:p>
            <a:r>
              <a:t>    "job": "6.0",</a:t>
            </a:r>
          </a:p>
          <a:p>
            <a:r>
              <a:t>    "revision": "db029f08b290afd9fee4aa4bbcd9ae48602d1eb0",</a:t>
            </a:r>
          </a:p>
          <a:p>
            <a:r>
              <a:t>    "answers_file": "results/kev/dataset_v1_kev-9b_20261015/dataset_v1__kev-9b.jsonl",</a:t>
            </a:r>
          </a:p>
          <a:p>
            <a:r>
              <a:t>    "answers_sha256": "5c69346a7c9211caaff5f0e6067e82a5f6022519029d5cd1634697a1710fde34",</a:t>
            </a:r>
          </a:p>
          <a:p>
            <a:r>
              <a:t>    "dataset_sha256": "96814ea63d89b98af7f87c5f6d8e5fe0f35ec710c30755c9d0723fbec4ddbe2a"</a:t>
            </a:r>
          </a:p>
          <a:p>
            <a:r>
              <a:t>  },</a:t>
            </a:r>
          </a:p>
          <a:p>
            <a:r>
              <a:t>  "kev-27b": {</a:t>
            </a:r>
          </a:p>
          <a:p>
            <a:r>
              <a:t>    "job": "7.0",</a:t>
            </a:r>
          </a:p>
          <a:p>
            <a:r>
              <a:t>    "revision": "af0e6d551bdc2cc724f3e9d7a8bee1cd4fb8f7bf",</a:t>
            </a:r>
          </a:p>
          <a:p>
            <a:r>
              <a:t>    "answers_file": "results/kev/dataset_v1_kev-27b_20261015/dataset_v1__kev-27b.jsonl",</a:t>
            </a:r>
          </a:p>
          <a:p>
            <a:r>
              <a:t>    "answers_sha256": "c643020e0b73e9627c81fb7b0429556c70969cfef7074b7e4f6fc71d1349bf19",</a:t>
            </a:r>
          </a:p>
          <a:p>
            <a:r>
              <a:t>    "dataset_sha256": "96814ea63d89b98af7f87c5f6d8e5fe0f35ec710c30755c9d0723fbec4ddbe2a"</a:t>
            </a:r>
          </a:p>
          <a:p>
            <a:r>
              <a:t>  }</a:t>
            </a:r>
          </a:p>
          <a:p>
            <a:r>
              <a:t>}</a:t>
            </a:r>
          </a:p>
          <a:p>
            <a:r>
              <a:t>All times are Europe/Paris (CEST) as recorded in the manifests. The build verifies unique request IDs, successful HTTP responses, matching question keys, no cross-split base IDs, input fingerprints, and saved metrics versus freshly recomputed metrics. Numerical floating-point differences up to1e-12are accepted. Theme and slide masters are inherited from the user-supplied reference. This deck is derived from the completed results only.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Rounded Rectangle 1"/>
          <p:cNvSpPr/>
          <p:nvPr/>
        </p:nvSpPr>
        <p:spPr>
          <a:xfrm>
            <a:off x="8549640" y="1325880"/>
            <a:ext cx="1828800" cy="1828800"/>
          </a:xfrm>
          <a:prstGeom prst="roundRect">
            <a:avLst>
              <a:gd name="adj" fmla="val 6000"/>
            </a:avLst>
          </a:prstGeom>
          <a:noFill/>
          <a:ln w="12700">
            <a:solidFill>
              <a:srgbClr val="1D8D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1783080"/>
            <a:ext cx="9144000" cy="32004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RTL TOOL OUTCOMES  •  KEV v1.0</a:t>
            </a:r>
          </a:p>
        </p:txBody>
      </p:sp>
      <p:sp>
        <p:nvSpPr>
          <p:cNvPr id="4" name="TextBox 3"/>
          <p:cNvSpPr txBox="1"/>
          <p:nvPr/>
        </p:nvSpPr>
        <p:spPr>
          <a:xfrm>
            <a:off x="813816" y="2331720"/>
            <a:ext cx="8321040" cy="1481328"/>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What can KEV tell us</a:t>
            </a:r>
          </a:p>
          <a:p>
            <a:pPr algn="l">
              <a:lnSpc>
                <a:spcPct val="109000"/>
              </a:lnSpc>
              <a:spcBef>
                <a:spcPts val="0"/>
              </a:spcBef>
              <a:spcAft>
                <a:spcPts val="0"/>
              </a:spcAft>
            </a:pPr>
            <a:r>
              <a:rPr sz="4300" b="1">
                <a:solidFill>
                  <a:srgbClr val="FFFFFF"/>
                </a:solidFill>
                <a:latin typeface="Arial"/>
              </a:rPr>
              <a:t>about an RTL design?</a:t>
            </a:r>
          </a:p>
        </p:txBody>
      </p:sp>
      <p:sp>
        <p:nvSpPr>
          <p:cNvPr id="5" name="TextBox 4"/>
          <p:cNvSpPr txBox="1"/>
          <p:nvPr/>
        </p:nvSpPr>
        <p:spPr>
          <a:xfrm>
            <a:off x="813816" y="4160520"/>
            <a:ext cx="9052560" cy="77724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The tests, the completed Condor runs, and what the scores mean</a:t>
            </a:r>
          </a:p>
        </p:txBody>
      </p:sp>
      <p:sp>
        <p:nvSpPr>
          <p:cNvPr id="6" name="TextBox 5"/>
          <p:cNvSpPr txBox="1"/>
          <p:nvPr/>
        </p:nvSpPr>
        <p:spPr>
          <a:xfrm>
            <a:off x="813816" y="5596128"/>
            <a:ext cx="10424160" cy="68580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BFDDEC"/>
                </a:solidFill>
                <a:latin typeface="Arial"/>
              </a:rPr>
              <a:t>Four model sizes  •  151 retained designs  •  725 held-out questions</a:t>
            </a:r>
          </a:p>
          <a:p>
            <a:pPr algn="l">
              <a:lnSpc>
                <a:spcPct val="109000"/>
              </a:lnSpc>
              <a:spcBef>
                <a:spcPts val="0"/>
              </a:spcBef>
              <a:spcAft>
                <a:spcPts val="0"/>
              </a:spcAft>
            </a:pPr>
            <a:r>
              <a:rPr sz="1600" b="0">
                <a:solidFill>
                  <a:srgbClr val="BFDDEC"/>
                </a:solidFill>
                <a:latin typeface="Arial"/>
              </a:rPr>
              <a:t>15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completed runs show</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Different tasks reveal different strengths. A single pooled score hides important failures.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Better with 27B</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Compilation errors:</a:t>
            </a:r>
          </a:p>
          <a:p>
            <a:pPr algn="l">
              <a:lnSpc>
                <a:spcPct val="109000"/>
              </a:lnSpc>
              <a:spcBef>
                <a:spcPts val="0"/>
              </a:spcBef>
              <a:spcAft>
                <a:spcPts val="0"/>
              </a:spcAft>
            </a:pPr>
            <a:r>
              <a:rPr sz="1900" b="0">
                <a:solidFill>
                  <a:srgbClr val="00407A"/>
                </a:solidFill>
                <a:latin typeface="Arial"/>
              </a:rPr>
              <a:t>8 of 9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Area levels:</a:t>
            </a:r>
          </a:p>
          <a:p>
            <a:pPr algn="l">
              <a:lnSpc>
                <a:spcPct val="109000"/>
              </a:lnSpc>
              <a:spcBef>
                <a:spcPts val="0"/>
              </a:spcBef>
              <a:spcAft>
                <a:spcPts val="0"/>
              </a:spcAft>
            </a:pPr>
            <a:r>
              <a:rPr sz="1900" b="0">
                <a:solidFill>
                  <a:srgbClr val="00407A"/>
                </a:solidFill>
                <a:latin typeface="Arial"/>
              </a:rPr>
              <a:t>61 of 92 exactly right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Synthesis is weak</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Synthesis failures:</a:t>
            </a:r>
          </a:p>
          <a:p>
            <a:pPr algn="l">
              <a:lnSpc>
                <a:spcPct val="109000"/>
              </a:lnSpc>
              <a:spcBef>
                <a:spcPts val="0"/>
              </a:spcBef>
              <a:spcAft>
                <a:spcPts val="0"/>
              </a:spcAft>
            </a:pPr>
            <a:r>
              <a:rPr sz="1900" b="0">
                <a:solidFill>
                  <a:srgbClr val="00407A"/>
                </a:solidFill>
                <a:latin typeface="Arial"/>
              </a:rPr>
              <a:t>4 of 24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Failure reasons:</a:t>
            </a:r>
          </a:p>
          <a:p>
            <a:pPr algn="l">
              <a:lnSpc>
                <a:spcPct val="109000"/>
              </a:lnSpc>
              <a:spcBef>
                <a:spcPts val="0"/>
              </a:spcBef>
              <a:spcAft>
                <a:spcPts val="0"/>
              </a:spcAft>
            </a:pPr>
            <a:r>
              <a:rPr sz="1900" b="0">
                <a:solidFill>
                  <a:srgbClr val="00407A"/>
                </a:solidFill>
                <a:latin typeface="Arial"/>
              </a:rPr>
              <a:t>15 of 16 right when</a:t>
            </a:r>
          </a:p>
          <a:p>
            <a:pPr algn="l">
              <a:lnSpc>
                <a:spcPct val="109000"/>
              </a:lnSpc>
              <a:spcBef>
                <a:spcPts val="0"/>
              </a:spcBef>
              <a:spcAft>
                <a:spcPts val="0"/>
              </a:spcAft>
            </a:pPr>
            <a:r>
              <a:rPr sz="1900" b="0">
                <a:solidFill>
                  <a:srgbClr val="00407A"/>
                </a:solidFill>
                <a:latin typeface="Arial"/>
              </a:rPr>
              <a:t>failure is supplied</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No single winner</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9B leads area ranking.</a:t>
            </a:r>
          </a:p>
          <a:p>
            <a:pPr algn="l">
              <a:lnSpc>
                <a:spcPct val="109000"/>
              </a:lnSpc>
              <a:spcBef>
                <a:spcPts val="0"/>
              </a:spcBef>
              <a:spcAft>
                <a:spcPts val="0"/>
              </a:spcAft>
            </a:pPr>
            <a:r>
              <a:rPr sz="1800" b="0">
                <a:solidFill>
                  <a:srgbClr val="00407A"/>
                </a:solidFill>
                <a:latin typeface="Arial"/>
              </a:rPr>
              <a:t>27B leads power ranking.</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Absolute power and</a:t>
            </a:r>
          </a:p>
          <a:p>
            <a:pPr algn="l">
              <a:lnSpc>
                <a:spcPct val="109000"/>
              </a:lnSpc>
              <a:spcBef>
                <a:spcPts val="0"/>
              </a:spcBef>
              <a:spcAft>
                <a:spcPts val="0"/>
              </a:spcAft>
            </a:pPr>
            <a:r>
              <a:rPr sz="1800" b="0">
                <a:solidFill>
                  <a:srgbClr val="00407A"/>
                </a:solidFill>
                <a:latin typeface="Arial"/>
              </a:rPr>
              <a:t>clock-frequency levels</a:t>
            </a:r>
          </a:p>
          <a:p>
            <a:pPr algn="l">
              <a:lnSpc>
                <a:spcPct val="109000"/>
              </a:lnSpc>
              <a:spcBef>
                <a:spcPts val="0"/>
              </a:spcBef>
              <a:spcAft>
                <a:spcPts val="0"/>
              </a:spcAft>
            </a:pPr>
            <a:r>
              <a:rPr sz="1800" b="0">
                <a:solidFill>
                  <a:srgbClr val="00407A"/>
                </a:solidFill>
                <a:latin typeface="Arial"/>
              </a:rPr>
              <a:t>remain unreliable.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four runs completed. Every model answered every test question; missing data does not explain the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and synthesis answer different questions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RTL = register-transfer level: source code that describes digital hardware.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compile?</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the simulator compiler</a:t>
            </a:r>
          </a:p>
          <a:p>
            <a:pPr algn="l">
              <a:lnSpc>
                <a:spcPct val="109000"/>
              </a:lnSpc>
              <a:spcBef>
                <a:spcPts val="0"/>
              </a:spcBef>
              <a:spcAft>
                <a:spcPts val="0"/>
              </a:spcAft>
            </a:pPr>
            <a:r>
              <a:rPr sz="1800" b="0">
                <a:solidFill>
                  <a:srgbClr val="00407A"/>
                </a:solidFill>
                <a:latin typeface="Arial"/>
              </a:rPr>
              <a:t>accept the source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Reference: QuestaSim</a:t>
            </a:r>
          </a:p>
          <a:p>
            <a:pPr algn="l">
              <a:lnSpc>
                <a:spcPct val="109000"/>
              </a:lnSpc>
              <a:spcBef>
                <a:spcPts val="0"/>
              </a:spcBef>
              <a:spcAft>
                <a:spcPts val="0"/>
              </a:spcAft>
            </a:pPr>
            <a:r>
              <a:rPr sz="1800" b="0">
                <a:solidFill>
                  <a:srgbClr val="00407A"/>
                </a:solidFill>
                <a:latin typeface="Arial"/>
              </a:rPr>
              <a:t>vlog -sv.</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test whether</a:t>
            </a:r>
          </a:p>
          <a:p>
            <a:pPr algn="l">
              <a:lnSpc>
                <a:spcPct val="109000"/>
              </a:lnSpc>
              <a:spcBef>
                <a:spcPts val="0"/>
              </a:spcBef>
              <a:spcAft>
                <a:spcPts val="0"/>
              </a:spcAft>
            </a:pPr>
            <a:r>
              <a:rPr sz="1800" b="0">
                <a:solidFill>
                  <a:srgbClr val="00407A"/>
                </a:solidFill>
                <a:latin typeface="Arial"/>
              </a:rPr>
              <a:t>the circuit is correct.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synthesize?</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Design Compiler build</a:t>
            </a:r>
          </a:p>
          <a:p>
            <a:pPr algn="l">
              <a:lnSpc>
                <a:spcPct val="109000"/>
              </a:lnSpc>
              <a:spcBef>
                <a:spcPts val="0"/>
              </a:spcBef>
              <a:spcAft>
                <a:spcPts val="0"/>
              </a:spcAft>
            </a:pPr>
            <a:r>
              <a:rPr sz="1800" b="0">
                <a:solidFill>
                  <a:srgbClr val="00407A"/>
                </a:solidFill>
                <a:latin typeface="Arial"/>
              </a:rPr>
              <a:t>a complete gate-level</a:t>
            </a:r>
          </a:p>
          <a:p>
            <a:pPr algn="l">
              <a:lnSpc>
                <a:spcPct val="109000"/>
              </a:lnSpc>
              <a:spcBef>
                <a:spcPts val="0"/>
              </a:spcBef>
              <a:spcAft>
                <a:spcPts val="0"/>
              </a:spcAft>
            </a:pPr>
            <a:r>
              <a:rPr sz="1800" b="0">
                <a:solidFill>
                  <a:srgbClr val="00407A"/>
                </a:solidFill>
                <a:latin typeface="Arial"/>
              </a:rPr>
              <a:t>netlist from the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unresolved modules.</a:t>
            </a:r>
          </a:p>
          <a:p>
            <a:pPr algn="l">
              <a:lnSpc>
                <a:spcPct val="109000"/>
              </a:lnSpc>
              <a:spcBef>
                <a:spcPts val="0"/>
              </a:spcBef>
              <a:spcAft>
                <a:spcPts val="0"/>
              </a:spcAft>
            </a:pPr>
            <a:r>
              <a:rPr sz="1800" b="0">
                <a:solidFill>
                  <a:srgbClr val="00407A"/>
                </a:solidFill>
                <a:latin typeface="Arial"/>
              </a:rPr>
              <a:t>All registers map to cells.</a:t>
            </a:r>
          </a:p>
          <a:p>
            <a:pPr algn="l">
              <a:lnSpc>
                <a:spcPct val="109000"/>
              </a:lnSpc>
              <a:spcBef>
                <a:spcPts val="0"/>
              </a:spcBef>
              <a:spcAft>
                <a:spcPts val="0"/>
              </a:spcAft>
            </a:pPr>
            <a:r>
              <a:rPr sz="1800" b="0">
                <a:solidFill>
                  <a:srgbClr val="00407A"/>
                </a:solidFill>
                <a:latin typeface="Arial"/>
              </a:rPr>
              <a:t>No synthesis errors.</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does it cost?</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Estimate cell area, power,</a:t>
            </a:r>
          </a:p>
          <a:p>
            <a:pPr algn="l">
              <a:lnSpc>
                <a:spcPct val="109000"/>
              </a:lnSpc>
              <a:spcBef>
                <a:spcPts val="0"/>
              </a:spcBef>
              <a:spcAft>
                <a:spcPts val="0"/>
              </a:spcAft>
            </a:pPr>
            <a:r>
              <a:rPr sz="1800" b="0">
                <a:solidFill>
                  <a:srgbClr val="00407A"/>
                </a:solidFill>
                <a:latin typeface="Arial"/>
              </a:rPr>
              <a:t>and timing from the RTL.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The reference comes from</a:t>
            </a:r>
          </a:p>
          <a:p>
            <a:pPr algn="l">
              <a:lnSpc>
                <a:spcPct val="109000"/>
              </a:lnSpc>
              <a:spcBef>
                <a:spcPts val="0"/>
              </a:spcBef>
              <a:spcAft>
                <a:spcPts val="0"/>
              </a:spcAft>
            </a:pPr>
            <a:r>
              <a:rPr sz="1800" b="0">
                <a:solidFill>
                  <a:srgbClr val="00407A"/>
                </a:solidFill>
                <a:latin typeface="Arial"/>
              </a:rPr>
              <a:t>synthesis and power tools.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fabricated-chip or</a:t>
            </a:r>
          </a:p>
          <a:p>
            <a:pPr algn="l">
              <a:lnSpc>
                <a:spcPct val="109000"/>
              </a:lnSpc>
              <a:spcBef>
                <a:spcPts val="0"/>
              </a:spcBef>
              <a:spcAft>
                <a:spcPts val="0"/>
              </a:spcAft>
            </a:pPr>
            <a:r>
              <a:rPr sz="1800" b="0">
                <a:solidFill>
                  <a:srgbClr val="00407A"/>
                </a:solidFill>
                <a:latin typeface="Arial"/>
              </a:rPr>
              <a:t>post-route measurement.</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In the test set, 15 designs compile successfully but still fail synthesis.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dataset and the held-out test set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model request can contain several questions. Questions are not independent design samples.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a:t>
            </a:r>
          </a:p>
        </p:txBody>
      </p:sp>
      <p:sp>
        <p:nvSpPr>
          <p:cNvPr id="6" name="Rounded Rectangle 5"/>
          <p:cNvSpPr/>
          <p:nvPr/>
        </p:nvSpPr>
        <p:spPr>
          <a:xfrm>
            <a:off x="81381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151</a:t>
            </a:r>
          </a:p>
        </p:txBody>
      </p:sp>
      <p:sp>
        <p:nvSpPr>
          <p:cNvPr id="8" name="TextBox 7"/>
          <p:cNvSpPr txBox="1"/>
          <p:nvPr/>
        </p:nvSpPr>
        <p:spPr>
          <a:xfrm>
            <a:off x="209397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retained designs</a:t>
            </a:r>
          </a:p>
        </p:txBody>
      </p:sp>
      <p:sp>
        <p:nvSpPr>
          <p:cNvPr id="9" name="Rounded Rectangle 8"/>
          <p:cNvSpPr/>
          <p:nvPr/>
        </p:nvSpPr>
        <p:spPr>
          <a:xfrm>
            <a:off x="4398264"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348</a:t>
            </a:r>
          </a:p>
        </p:txBody>
      </p:sp>
      <p:sp>
        <p:nvSpPr>
          <p:cNvPr id="11" name="TextBox 10"/>
          <p:cNvSpPr txBox="1"/>
          <p:nvPr/>
        </p:nvSpPr>
        <p:spPr>
          <a:xfrm>
            <a:off x="5678423"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requests across both splits</a:t>
            </a:r>
          </a:p>
        </p:txBody>
      </p:sp>
      <p:sp>
        <p:nvSpPr>
          <p:cNvPr id="12" name="Rounded Rectangle 11"/>
          <p:cNvSpPr/>
          <p:nvPr/>
        </p:nvSpPr>
        <p:spPr>
          <a:xfrm>
            <a:off x="799185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875</a:t>
            </a:r>
          </a:p>
        </p:txBody>
      </p:sp>
      <p:sp>
        <p:nvSpPr>
          <p:cNvPr id="14" name="TextBox 13"/>
          <p:cNvSpPr txBox="1"/>
          <p:nvPr/>
        </p:nvSpPr>
        <p:spPr>
          <a:xfrm>
            <a:off x="927201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questions across both splits</a:t>
            </a:r>
          </a:p>
        </p:txBody>
      </p:sp>
      <p:graphicFrame>
        <p:nvGraphicFramePr>
          <p:cNvPr id="15" name="Table 14"/>
          <p:cNvGraphicFramePr>
            <a:graphicFrameLocks noGrp="1"/>
          </p:cNvGraphicFramePr>
          <p:nvPr/>
        </p:nvGraphicFramePr>
        <p:xfrm>
          <a:off x="813816" y="3200400"/>
          <a:ext cx="10561320" cy="2285998"/>
        </p:xfrm>
        <a:graphic>
          <a:graphicData uri="http://schemas.openxmlformats.org/drawingml/2006/table">
            <a:tbl>
              <a:tblPr firstRow="1" bandRow="1">
                <a:tableStyleId>{5C22544A-7EE6-4342-B048-85BDC9FD1C3A}</a:tableStyleId>
              </a:tblPr>
              <a:tblGrid>
                <a:gridCol w="2971800"/>
                <a:gridCol w="1097280"/>
                <a:gridCol w="1143000"/>
                <a:gridCol w="5349240"/>
              </a:tblGrid>
              <a:tr h="566928">
                <a:tc>
                  <a:txBody>
                    <a:bodyPr/>
                    <a:lstStyle/>
                    <a:p>
                      <a:pPr algn="l">
                        <a:lnSpc>
                          <a:spcPct val="103000"/>
                        </a:lnSpc>
                        <a:spcBef>
                          <a:spcPts val="0"/>
                        </a:spcBef>
                        <a:spcAft>
                          <a:spcPts val="0"/>
                        </a:spcAft>
                      </a:pPr>
                      <a:r>
                        <a:rPr sz="1400" b="1">
                          <a:solidFill>
                            <a:srgbClr val="FFFFFF"/>
                          </a:solidFill>
                          <a:latin typeface="Arial"/>
                        </a:rPr>
                        <a:t>Held-out request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Requests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What is covered</a:t>
                      </a:r>
                    </a:p>
                  </a:txBody>
                  <a:tcPr marL="109728" marR="91440" marT="54864" marB="36576" anchor="ctr">
                    <a:solidFill>
                      <a:srgbClr val="00407A"/>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Basic checks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246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Compilation + synthesis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Failure reason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One of ten reason options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Performance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361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Area, power and two timing levels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Pair comparisons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25 distinct pairs, both orders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TOTAL TEST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725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 individual test designs</a:t>
                      </a:r>
                    </a:p>
                  </a:txBody>
                  <a:tcPr marL="109728" marR="91440" marT="54864" marB="36576" anchor="ctr">
                    <a:solidFill>
                      <a:srgbClr val="E3EFF5"/>
                    </a:solidFill>
                    <a:lnL>
                      <a:noFill/>
                    </a:lnL>
                    <a:lnR>
                      <a:noFill/>
                    </a:lnR>
                    <a:lnT>
                      <a:noFill/>
                    </a:lnT>
                    <a:lnB>
                      <a:noFill/>
                    </a:lnB>
                  </a:tcPr>
                </a:tc>
              </a:tr>
            </a:tbl>
          </a:graphicData>
        </a:graphic>
      </p:graphicFrame>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Development: 28 designs, 67 requests, 150 questions. Related base designs stay in the same split.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model receives for each test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Tool logs and correct answers are used for scoring; they are not sent to the model.</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a:t>
            </a:r>
          </a:p>
        </p:txBody>
      </p:sp>
      <p:sp>
        <p:nvSpPr>
          <p:cNvPr id="6" name="Rounded Rectangle 5"/>
          <p:cNvSpPr/>
          <p:nvPr/>
        </p:nvSpPr>
        <p:spPr>
          <a:xfrm>
            <a:off x="81381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Basic checks</a:t>
            </a:r>
          </a:p>
        </p:txBody>
      </p:sp>
      <p:sp>
        <p:nvSpPr>
          <p:cNvPr id="9" name="TextBox 8"/>
          <p:cNvSpPr txBox="1"/>
          <p:nvPr/>
        </p:nvSpPr>
        <p:spPr>
          <a:xfrm>
            <a:off x="104241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source + top module + tool description.</a:t>
            </a:r>
          </a:p>
          <a:p>
            <a:pPr algn="l">
              <a:lnSpc>
                <a:spcPct val="109000"/>
              </a:lnSpc>
              <a:spcBef>
                <a:spcPts val="0"/>
              </a:spcBef>
              <a:spcAft>
                <a:spcPts val="0"/>
              </a:spcAft>
            </a:pPr>
            <a:r>
              <a:rPr sz="1700" b="0">
                <a:solidFill>
                  <a:srgbClr val="00407A"/>
                </a:solidFill>
                <a:latin typeface="Arial"/>
              </a:rPr>
              <a:t>Questions: does it compile, and does it synthesize?</a:t>
            </a:r>
          </a:p>
        </p:txBody>
      </p:sp>
      <p:sp>
        <p:nvSpPr>
          <p:cNvPr id="10" name="Rounded Rectangle 9"/>
          <p:cNvSpPr/>
          <p:nvPr/>
        </p:nvSpPr>
        <p:spPr>
          <a:xfrm>
            <a:off x="620877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Failure reason</a:t>
            </a:r>
          </a:p>
        </p:txBody>
      </p:sp>
      <p:sp>
        <p:nvSpPr>
          <p:cNvPr id="13" name="TextBox 12"/>
          <p:cNvSpPr txBox="1"/>
          <p:nvPr/>
        </p:nvSpPr>
        <p:spPr>
          <a:xfrm>
            <a:off x="643737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The same source, plus a prompt saying synthesis failed.</a:t>
            </a:r>
          </a:p>
          <a:p>
            <a:pPr algn="l">
              <a:lnSpc>
                <a:spcPct val="109000"/>
              </a:lnSpc>
              <a:spcBef>
                <a:spcPts val="0"/>
              </a:spcBef>
              <a:spcAft>
                <a:spcPts val="0"/>
              </a:spcAft>
            </a:pPr>
            <a:r>
              <a:rPr sz="1700" b="0">
                <a:solidFill>
                  <a:srgbClr val="00407A"/>
                </a:solidFill>
                <a:latin typeface="Arial"/>
              </a:rPr>
              <a:t>Choose one reason from ten descriptions.</a:t>
            </a:r>
          </a:p>
        </p:txBody>
      </p:sp>
      <p:sp>
        <p:nvSpPr>
          <p:cNvPr id="14" name="Rounded Rectangle 13"/>
          <p:cNvSpPr/>
          <p:nvPr/>
        </p:nvSpPr>
        <p:spPr>
          <a:xfrm>
            <a:off x="81381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Performance</a:t>
            </a:r>
          </a:p>
        </p:txBody>
      </p:sp>
      <p:sp>
        <p:nvSpPr>
          <p:cNvPr id="17" name="TextBox 16"/>
          <p:cNvSpPr txBox="1"/>
          <p:nvPr/>
        </p:nvSpPr>
        <p:spPr>
          <a:xfrm>
            <a:off x="104241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 flow + clock target; power also gets its testbench.</a:t>
            </a:r>
          </a:p>
          <a:p>
            <a:pPr algn="l">
              <a:lnSpc>
                <a:spcPct val="109000"/>
              </a:lnSpc>
              <a:spcBef>
                <a:spcPts val="0"/>
              </a:spcBef>
              <a:spcAft>
                <a:spcPts val="0"/>
              </a:spcAft>
            </a:pPr>
            <a:r>
              <a:rPr sz="1700" b="0">
                <a:solidFill>
                  <a:srgbClr val="00407A"/>
                </a:solidFill>
                <a:latin typeface="Arial"/>
              </a:rPr>
              <a:t>Choose a level for each available metric.</a:t>
            </a:r>
          </a:p>
        </p:txBody>
      </p:sp>
      <p:sp>
        <p:nvSpPr>
          <p:cNvPr id="18" name="Rounded Rectangle 17"/>
          <p:cNvSpPr/>
          <p:nvPr/>
        </p:nvSpPr>
        <p:spPr>
          <a:xfrm>
            <a:off x="620877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Pair comparison</a:t>
            </a:r>
          </a:p>
        </p:txBody>
      </p:sp>
      <p:sp>
        <p:nvSpPr>
          <p:cNvPr id="21" name="TextBox 20"/>
          <p:cNvSpPr txBox="1"/>
          <p:nvPr/>
        </p:nvSpPr>
        <p:spPr>
          <a:xfrm>
            <a:off x="643737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Both RTL variants + the same flow and clock.</a:t>
            </a:r>
          </a:p>
          <a:p>
            <a:pPr algn="l">
              <a:lnSpc>
                <a:spcPct val="109000"/>
              </a:lnSpc>
              <a:spcBef>
                <a:spcPts val="0"/>
              </a:spcBef>
              <a:spcAft>
                <a:spcPts val="0"/>
              </a:spcAft>
            </a:pPr>
            <a:r>
              <a:rPr sz="1700" b="0">
                <a:solidFill>
                  <a:srgbClr val="00407A"/>
                </a:solidFill>
                <a:latin typeface="Arial"/>
              </a:rPr>
              <a:t>Power comparisons also share the same testbench.</a:t>
            </a:r>
          </a:p>
        </p:txBody>
      </p:sp>
      <p:sp>
        <p:nvSpPr>
          <p:cNvPr id="22" name="Rounded Rectangle 2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The failure-reason task supplies a key fact that the synthesis yes/no task must discover.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How to read the scores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result needs a denominator and a clear rule for what counts as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6</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Yes or no</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A yes probability of</a:t>
            </a:r>
          </a:p>
          <a:p>
            <a:pPr algn="l">
              <a:lnSpc>
                <a:spcPct val="109000"/>
              </a:lnSpc>
              <a:spcBef>
                <a:spcPts val="0"/>
              </a:spcBef>
              <a:spcAft>
                <a:spcPts val="0"/>
              </a:spcAft>
            </a:pPr>
            <a:r>
              <a:rPr sz="1800" b="0">
                <a:solidFill>
                  <a:srgbClr val="00407A"/>
                </a:solidFill>
                <a:latin typeface="Arial"/>
              </a:rPr>
              <a:t>0.5 or more means yes.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Balanced accuracy gives</a:t>
            </a:r>
          </a:p>
          <a:p>
            <a:pPr algn="l">
              <a:lnSpc>
                <a:spcPct val="109000"/>
              </a:lnSpc>
              <a:spcBef>
                <a:spcPts val="0"/>
              </a:spcBef>
              <a:spcAft>
                <a:spcPts val="0"/>
              </a:spcAft>
            </a:pPr>
            <a:r>
              <a:rPr sz="1800" b="0">
                <a:solidFill>
                  <a:srgbClr val="00407A"/>
                </a:solidFill>
                <a:latin typeface="Arial"/>
              </a:rPr>
              <a:t>“yes” and “no” designs</a:t>
            </a:r>
          </a:p>
          <a:p>
            <a:pPr algn="l">
              <a:lnSpc>
                <a:spcPct val="109000"/>
              </a:lnSpc>
              <a:spcBef>
                <a:spcPts val="0"/>
              </a:spcBef>
              <a:spcAft>
                <a:spcPts val="0"/>
              </a:spcAft>
            </a:pPr>
            <a:r>
              <a:rPr sz="1800" b="0">
                <a:solidFill>
                  <a:srgbClr val="00407A"/>
                </a:solidFill>
                <a:latin typeface="Arial"/>
              </a:rPr>
              <a:t>equal weight.</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Always one answer: 50%.</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Five levels</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Exact: the chosen level</a:t>
            </a:r>
          </a:p>
          <a:p>
            <a:pPr algn="l">
              <a:lnSpc>
                <a:spcPct val="109000"/>
              </a:lnSpc>
              <a:spcBef>
                <a:spcPts val="0"/>
              </a:spcBef>
              <a:spcAft>
                <a:spcPts val="0"/>
              </a:spcAft>
            </a:pPr>
            <a:r>
              <a:rPr sz="1800" b="0">
                <a:solidFill>
                  <a:srgbClr val="00407A"/>
                </a:solidFill>
                <a:latin typeface="Arial"/>
              </a:rPr>
              <a:t>matches the tool label.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Within one: a difference</a:t>
            </a:r>
          </a:p>
          <a:p>
            <a:pPr algn="l">
              <a:lnSpc>
                <a:spcPct val="109000"/>
              </a:lnSpc>
              <a:spcBef>
                <a:spcPts val="0"/>
              </a:spcBef>
              <a:spcAft>
                <a:spcPts val="0"/>
              </a:spcAft>
            </a:pPr>
            <a:r>
              <a:rPr sz="1800" b="0">
                <a:solidFill>
                  <a:srgbClr val="00407A"/>
                </a:solidFill>
                <a:latin typeface="Arial"/>
              </a:rPr>
              <a:t>of at most one level.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mean a fixed</a:t>
            </a:r>
          </a:p>
          <a:p>
            <a:pPr algn="l">
              <a:lnSpc>
                <a:spcPct val="109000"/>
              </a:lnSpc>
              <a:spcBef>
                <a:spcPts val="0"/>
              </a:spcBef>
              <a:spcAft>
                <a:spcPts val="0"/>
              </a:spcAft>
            </a:pPr>
            <a:r>
              <a:rPr sz="1800" b="0">
                <a:solidFill>
                  <a:srgbClr val="00407A"/>
                </a:solidFill>
                <a:latin typeface="Arial"/>
              </a:rPr>
              <a:t>physical error tolerance.</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Choose A or B</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Each pair is sent twice,</a:t>
            </a:r>
          </a:p>
          <a:p>
            <a:pPr algn="l">
              <a:lnSpc>
                <a:spcPct val="109000"/>
              </a:lnSpc>
              <a:spcBef>
                <a:spcPts val="0"/>
              </a:spcBef>
              <a:spcAft>
                <a:spcPts val="0"/>
              </a:spcAft>
            </a:pPr>
            <a:r>
              <a:rPr sz="1800" b="0">
                <a:solidFill>
                  <a:srgbClr val="00407A"/>
                </a:solidFill>
                <a:latin typeface="Arial"/>
              </a:rPr>
              <a:t>with its order swapped.</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We report per-view accuracy</a:t>
            </a:r>
          </a:p>
          <a:p>
            <a:pPr algn="l">
              <a:lnSpc>
                <a:spcPct val="109000"/>
              </a:lnSpc>
              <a:spcBef>
                <a:spcPts val="0"/>
              </a:spcBef>
              <a:spcAft>
                <a:spcPts val="0"/>
              </a:spcAft>
            </a:pPr>
            <a:r>
              <a:rPr sz="1800" b="0">
                <a:solidFill>
                  <a:srgbClr val="00407A"/>
                </a:solidFill>
                <a:latin typeface="Arial"/>
              </a:rPr>
              <a:t>and check both orders.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50% is an always-A or</a:t>
            </a:r>
          </a:p>
          <a:p>
            <a:pPr algn="l">
              <a:lnSpc>
                <a:spcPct val="109000"/>
              </a:lnSpc>
              <a:spcBef>
                <a:spcPts val="0"/>
              </a:spcBef>
              <a:spcAft>
                <a:spcPts val="0"/>
              </a:spcAft>
            </a:pPr>
            <a:r>
              <a:rPr sz="1800" b="0">
                <a:solidFill>
                  <a:srgbClr val="00407A"/>
                </a:solidFill>
                <a:latin typeface="Arial"/>
              </a:rPr>
              <a:t>always-B reference here.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“constant-answer reference” below means always choosing one stated answer, calculated from test labels.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Only KEV-27B’s compilation score is far above 50%</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score per model: “yes” and “no” designs get equal weight. A constant answer scores 50%.</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99 yes · 24 no</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0586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8574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4531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519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30586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13944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86664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123 yes · 0 no</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380374"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336956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49.5%</a:t>
            </a:r>
          </a:p>
          <a:p>
            <a:pPr algn="l">
              <a:lnSpc>
                <a:spcPct val="109000"/>
              </a:lnSpc>
              <a:spcBef>
                <a:spcPts val="0"/>
              </a:spcBef>
              <a:spcAft>
                <a:spcPts val="0"/>
              </a:spcAft>
            </a:pPr>
            <a:r>
              <a:rPr sz="1250" b="0">
                <a:solidFill>
                  <a:srgbClr val="00407A"/>
                </a:solidFill>
                <a:latin typeface="Arial"/>
              </a:rPr>
              <a:t>122 yes · 1 no</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482494"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87248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53.2%</a:t>
            </a:r>
          </a:p>
          <a:p>
            <a:pPr algn="l">
              <a:lnSpc>
                <a:spcPct val="109000"/>
              </a:lnSpc>
              <a:spcBef>
                <a:spcPts val="0"/>
              </a:spcBef>
              <a:spcAft>
                <a:spcPts val="0"/>
              </a:spcAft>
            </a:pPr>
            <a:r>
              <a:rPr sz="1250" b="0">
                <a:solidFill>
                  <a:srgbClr val="00407A"/>
                </a:solidFill>
                <a:latin typeface="Arial"/>
              </a:rPr>
              <a:t>119 yes · 4 no</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1612784"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437540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57.8%</a:t>
            </a:r>
          </a:p>
          <a:p>
            <a:pPr algn="l">
              <a:lnSpc>
                <a:spcPct val="109000"/>
              </a:lnSpc>
              <a:spcBef>
                <a:spcPts val="0"/>
              </a:spcBef>
              <a:spcAft>
                <a:spcPts val="0"/>
              </a:spcAft>
            </a:pPr>
            <a:r>
              <a:rPr sz="1250" b="0">
                <a:solidFill>
                  <a:srgbClr val="00407A"/>
                </a:solidFill>
                <a:latin typeface="Arial"/>
              </a:rPr>
              <a:t>118 yes · 5 no</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Balanced accuracy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“yes” or always “no” = 50%</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114 yes · 9 no</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4536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2524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98480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469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845362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144338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66960" y="286664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51.8%</a:t>
            </a:r>
          </a:p>
          <a:p>
            <a:pPr algn="l">
              <a:lnSpc>
                <a:spcPct val="109000"/>
              </a:lnSpc>
              <a:spcBef>
                <a:spcPts val="0"/>
              </a:spcBef>
              <a:spcAft>
                <a:spcPts val="0"/>
              </a:spcAft>
            </a:pPr>
            <a:r>
              <a:rPr sz="1250" b="0">
                <a:solidFill>
                  <a:srgbClr val="00407A"/>
                </a:solidFill>
                <a:latin typeface="Arial"/>
              </a:rPr>
              <a:t>4 yes · 119 no</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139446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966960" y="336956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123 yes · 0 no</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170434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66960" y="387248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61.1%</a:t>
            </a:r>
          </a:p>
          <a:p>
            <a:pPr algn="l">
              <a:lnSpc>
                <a:spcPct val="109000"/>
              </a:lnSpc>
              <a:spcBef>
                <a:spcPts val="0"/>
              </a:spcBef>
              <a:spcAft>
                <a:spcPts val="0"/>
              </a:spcAft>
            </a:pPr>
            <a:r>
              <a:rPr sz="1250" b="0">
                <a:solidFill>
                  <a:srgbClr val="00407A"/>
                </a:solidFill>
                <a:latin typeface="Arial"/>
              </a:rPr>
              <a:t>121 yes · 2 no</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263398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966960" y="437540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94.4%</a:t>
            </a:r>
          </a:p>
          <a:p>
            <a:pPr algn="l">
              <a:lnSpc>
                <a:spcPct val="109000"/>
              </a:lnSpc>
              <a:spcBef>
                <a:spcPts val="0"/>
              </a:spcBef>
              <a:spcAft>
                <a:spcPts val="0"/>
              </a:spcAft>
            </a:pPr>
            <a:r>
              <a:rPr sz="1250" b="0">
                <a:solidFill>
                  <a:srgbClr val="00407A"/>
                </a:solidFill>
                <a:latin typeface="Arial"/>
              </a:rPr>
              <a:t>115 yes · 8 no</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Balanced accuracy (%) — higher is better</a:t>
            </a:r>
          </a:p>
        </p:txBody>
      </p:sp>
      <p:sp>
        <p:nvSpPr>
          <p:cNvPr id="53" name="TextBox 52"/>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“yes” or always “no” = 50%</a:t>
            </a:r>
          </a:p>
        </p:txBody>
      </p:sp>
      <p:sp>
        <p:nvSpPr>
          <p:cNvPr id="54" name="Rounded Rectangle 5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In the other seven cases, at least 118 of the 123 answers are the same.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Why 82.9% hid poor synthesis failure detection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KEV-27B • 123 held-out designs • a yes/no threshold of 0.5</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8</a:t>
            </a:r>
          </a:p>
        </p:txBody>
      </p:sp>
      <p:graphicFrame>
        <p:nvGraphicFramePr>
          <p:cNvPr id="6" name="Table 5"/>
          <p:cNvGraphicFramePr>
            <a:graphicFrameLocks noGrp="1"/>
          </p:cNvGraphicFramePr>
          <p:nvPr/>
        </p:nvGraphicFramePr>
        <p:xfrm>
          <a:off x="813816" y="1874519"/>
          <a:ext cx="7498080" cy="1737358"/>
        </p:xfrm>
        <a:graphic>
          <a:graphicData uri="http://schemas.openxmlformats.org/drawingml/2006/table">
            <a:tbl>
              <a:tblPr firstRow="1" bandRow="1">
                <a:tableStyleId>{5C22544A-7EE6-4342-B048-85BDC9FD1C3A}</a:tableStyleId>
              </a:tblPr>
              <a:tblGrid>
                <a:gridCol w="2834640"/>
                <a:gridCol w="2331720"/>
                <a:gridCol w="2331720"/>
              </a:tblGrid>
              <a:tr h="566928">
                <a:tc>
                  <a:txBody>
                    <a:bodyPr/>
                    <a:lstStyle/>
                    <a:p>
                      <a:pPr algn="l">
                        <a:lnSpc>
                          <a:spcPct val="103000"/>
                        </a:lnSpc>
                        <a:spcBef>
                          <a:spcPts val="0"/>
                        </a:spcBef>
                        <a:spcAft>
                          <a:spcPts val="0"/>
                        </a:spcAft>
                      </a:pPr>
                      <a:r>
                        <a:rPr sz="1700" b="1">
                          <a:solidFill>
                            <a:srgbClr val="FFFFFF"/>
                          </a:solidFill>
                          <a:latin typeface="Arial"/>
                        </a:rPr>
                        <a:t>Actual tool result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YES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NO</a:t>
                      </a:r>
                    </a:p>
                  </a:txBody>
                  <a:tcPr marL="109728" marR="91440" marT="54864" marB="36576" anchor="ctr">
                    <a:solidFill>
                      <a:srgbClr val="00407A"/>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Synthesizes — 99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98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wrong</a:t>
                      </a:r>
                    </a:p>
                  </a:txBody>
                  <a:tcPr marL="109728" marR="91440" marT="54864" marB="36576" anchor="ctr">
                    <a:solidFill>
                      <a:srgbClr val="E3EFF5"/>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Fails synthesis — 24 designs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 wrong</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correct</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82.9% overall accuracy</a:t>
            </a:r>
          </a:p>
        </p:txBody>
      </p:sp>
      <p:sp>
        <p:nvSpPr>
          <p:cNvPr id="10" name="TextBox 9"/>
          <p:cNvSpPr txBox="1"/>
          <p:nvPr/>
        </p:nvSpPr>
        <p:spPr>
          <a:xfrm>
            <a:off x="104241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102 correct of 123 designs.</a:t>
            </a:r>
          </a:p>
          <a:p>
            <a:pPr algn="l">
              <a:lnSpc>
                <a:spcPct val="109000"/>
              </a:lnSpc>
              <a:spcBef>
                <a:spcPts val="0"/>
              </a:spcBef>
              <a:spcAft>
                <a:spcPts val="0"/>
              </a:spcAft>
            </a:pPr>
            <a:r>
              <a:rPr sz="1700" b="0">
                <a:solidFill>
                  <a:srgbClr val="00407A"/>
                </a:solidFill>
                <a:latin typeface="Arial"/>
              </a:rPr>
              <a:t>Each design has equal weight; the 99 successes dominate.</a:t>
            </a:r>
          </a:p>
        </p:txBody>
      </p:sp>
      <p:sp>
        <p:nvSpPr>
          <p:cNvPr id="11" name="Rounded Rectangle 10"/>
          <p:cNvSpPr/>
          <p:nvPr/>
        </p:nvSpPr>
        <p:spPr>
          <a:xfrm>
            <a:off x="620877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57.8% balanced accuracy</a:t>
            </a:r>
          </a:p>
        </p:txBody>
      </p:sp>
      <p:sp>
        <p:nvSpPr>
          <p:cNvPr id="14" name="TextBox 13"/>
          <p:cNvSpPr txBox="1"/>
          <p:nvPr/>
        </p:nvSpPr>
        <p:spPr>
          <a:xfrm>
            <a:off x="643737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Average of 99.0% success recognition</a:t>
            </a:r>
          </a:p>
          <a:p>
            <a:pPr algn="l">
              <a:lnSpc>
                <a:spcPct val="109000"/>
              </a:lnSpc>
              <a:spcBef>
                <a:spcPts val="0"/>
              </a:spcBef>
              <a:spcAft>
                <a:spcPts val="0"/>
              </a:spcAft>
            </a:pPr>
            <a:r>
              <a:rPr sz="1700" b="0">
                <a:solidFill>
                  <a:srgbClr val="00407A"/>
                </a:solidFill>
                <a:latin typeface="Arial"/>
              </a:rPr>
              <a:t>and 16.7% failure detection. Each group gets half the weight.</a:t>
            </a:r>
          </a:p>
        </p:txBody>
      </p:sp>
      <p:sp>
        <p:nvSpPr>
          <p:cNvPr id="15" name="TextBox 14"/>
          <p:cNvSpPr txBox="1"/>
          <p:nvPr/>
        </p:nvSpPr>
        <p:spPr>
          <a:xfrm>
            <a:off x="8732520" y="1920240"/>
            <a:ext cx="2377440" cy="1371600"/>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20 failures</a:t>
            </a:r>
          </a:p>
          <a:p>
            <a:pPr algn="l">
              <a:lnSpc>
                <a:spcPct val="109000"/>
              </a:lnSpc>
              <a:spcBef>
                <a:spcPts val="0"/>
              </a:spcBef>
              <a:spcAft>
                <a:spcPts val="0"/>
              </a:spcAft>
            </a:pPr>
            <a:r>
              <a:rPr sz="3100" b="1">
                <a:solidFill>
                  <a:srgbClr val="00407A"/>
                </a:solidFill>
                <a:latin typeface="Arial"/>
              </a:rPr>
              <a:t>missed</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Both percentages are correct. They answer different questions about an imbalanced test 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Which synthesis failures do the models detect?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Split the 24 failures again: source accepted by the simulator compiler versus rejected source.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9</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Compiles, but fails synthesis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15 designs • synthesis-specific failure cases</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TextBox 15"/>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7" name="TextBox 16"/>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8" name="TextBox 17"/>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9" name="TextBox 18"/>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0" name="Rectangle 19"/>
          <p:cNvSpPr/>
          <p:nvPr/>
        </p:nvSpPr>
        <p:spPr>
          <a:xfrm>
            <a:off x="1664208" y="3959351"/>
            <a:ext cx="20116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a:t>
            </a:r>
          </a:p>
          <a:p>
            <a:pPr algn="l">
              <a:lnSpc>
                <a:spcPct val="109000"/>
              </a:lnSpc>
              <a:spcBef>
                <a:spcPts val="0"/>
              </a:spcBef>
              <a:spcAft>
                <a:spcPts val="0"/>
              </a:spcAft>
            </a:pPr>
            <a:r>
              <a:rPr sz="1250" b="0">
                <a:solidFill>
                  <a:srgbClr val="00407A"/>
                </a:solidFill>
                <a:latin typeface="Arial"/>
              </a:rPr>
              <a:t>1 of 15</a:t>
            </a:r>
          </a:p>
        </p:txBody>
      </p:sp>
      <p:sp>
        <p:nvSpPr>
          <p:cNvPr id="22" name="TextBox 21"/>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3" name="TextBox 22"/>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24" name="TextBox 23"/>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5" name="Rounded Rectangle 24"/>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Compilation also fails</a:t>
            </a:r>
          </a:p>
        </p:txBody>
      </p:sp>
      <p:sp>
        <p:nvSpPr>
          <p:cNvPr id="27" name="TextBox 26"/>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 both tools reject the design</a:t>
            </a:r>
          </a:p>
        </p:txBody>
      </p:sp>
      <p:cxnSp>
        <p:nvCxnSpPr>
          <p:cNvPr id="28" name="Connector 27"/>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0" name="Connector 29"/>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2" name="Connector 31"/>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4" name="TextBox 33"/>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5" name="TextBox 34"/>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6" name="TextBox 35"/>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37" name="TextBox 36"/>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8" name="TextBox 37"/>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9" name="Rectangle 38"/>
          <p:cNvSpPr/>
          <p:nvPr/>
        </p:nvSpPr>
        <p:spPr>
          <a:xfrm>
            <a:off x="7059168" y="3959351"/>
            <a:ext cx="33528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11.1%</a:t>
            </a:r>
          </a:p>
          <a:p>
            <a:pPr algn="l">
              <a:lnSpc>
                <a:spcPct val="109000"/>
              </a:lnSpc>
              <a:spcBef>
                <a:spcPts val="0"/>
              </a:spcBef>
              <a:spcAft>
                <a:spcPts val="0"/>
              </a:spcAft>
            </a:pPr>
            <a:r>
              <a:rPr sz="1250" b="0">
                <a:solidFill>
                  <a:srgbClr val="00407A"/>
                </a:solidFill>
                <a:latin typeface="Arial"/>
              </a:rPr>
              <a:t>1 of 9</a:t>
            </a:r>
          </a:p>
        </p:txBody>
      </p:sp>
      <p:sp>
        <p:nvSpPr>
          <p:cNvPr id="41" name="TextBox 4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2" name="Rectangle 41"/>
          <p:cNvSpPr/>
          <p:nvPr/>
        </p:nvSpPr>
        <p:spPr>
          <a:xfrm>
            <a:off x="7059168" y="4462272"/>
            <a:ext cx="13411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44.4%</a:t>
            </a:r>
          </a:p>
          <a:p>
            <a:pPr algn="l">
              <a:lnSpc>
                <a:spcPct val="109000"/>
              </a:lnSpc>
              <a:spcBef>
                <a:spcPts val="0"/>
              </a:spcBef>
              <a:spcAft>
                <a:spcPts val="0"/>
              </a:spcAft>
            </a:pPr>
            <a:r>
              <a:rPr sz="1250" b="0">
                <a:solidFill>
                  <a:srgbClr val="00407A"/>
                </a:solidFill>
                <a:latin typeface="Arial"/>
              </a:rPr>
              <a:t>4 of 9</a:t>
            </a:r>
          </a:p>
        </p:txBody>
      </p:sp>
      <p:sp>
        <p:nvSpPr>
          <p:cNvPr id="44" name="TextBox 43"/>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5" name="Rounded Rectangle 4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misses every one of the 15 synthesis failures whose source compiles.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 choose one of ten options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says that synthesis failed. 25 reason questions: 16 test, 9 development (dev).</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a:t>
            </a:r>
          </a:p>
        </p:txBody>
      </p:sp>
      <p:graphicFrame>
        <p:nvGraphicFramePr>
          <p:cNvPr id="6" name="Table 5"/>
          <p:cNvGraphicFramePr>
            <a:graphicFrameLocks noGrp="1"/>
          </p:cNvGraphicFramePr>
          <p:nvPr/>
        </p:nvGraphicFramePr>
        <p:xfrm>
          <a:off x="813816" y="1783080"/>
          <a:ext cx="10561320" cy="3749040"/>
        </p:xfrm>
        <a:graphic>
          <a:graphicData uri="http://schemas.openxmlformats.org/drawingml/2006/table">
            <a:tbl>
              <a:tblPr firstRow="1" bandRow="1">
                <a:tableStyleId>{5C22544A-7EE6-4342-B048-85BDC9FD1C3A}</a:tableStyleId>
              </a:tblPr>
              <a:tblGrid>
                <a:gridCol w="2103120"/>
                <a:gridCol w="6995160"/>
                <a:gridCol w="640080"/>
                <a:gridCol w="822960"/>
              </a:tblGrid>
              <a:tr h="365760">
                <a:tc>
                  <a:txBody>
                    <a:bodyPr/>
                    <a:lstStyle/>
                    <a:p>
                      <a:pPr algn="l">
                        <a:lnSpc>
                          <a:spcPct val="103000"/>
                        </a:lnSpc>
                        <a:spcBef>
                          <a:spcPts val="0"/>
                        </a:spcBef>
                        <a:spcAft>
                          <a:spcPts val="0"/>
                        </a:spcAft>
                      </a:pPr>
                      <a:r>
                        <a:rPr sz="1300" b="1">
                          <a:solidFill>
                            <a:srgbClr val="FFFFFF"/>
                          </a:solidFill>
                          <a:latin typeface="Arial"/>
                        </a:rPr>
                        <a:t>Option</a:t>
                      </a:r>
                    </a:p>
                  </a:txBody>
                  <a:tcPr marL="109728" marR="91440" marT="54864" marB="36576" anchor="ctr">
                    <a:solidFill>
                      <a:srgbClr val="00407A"/>
                    </a:solidFill>
                    <a:lnL>
                      <a:noFill/>
                    </a:lnL>
                    <a:lnR>
                      <a:noFill/>
                    </a:lnR>
                    <a:lnT>
                      <a:noFill/>
                    </a:lnT>
                    <a:lnB>
                      <a:noFill/>
                    </a:lnB>
                  </a:tcPr>
                </a:tc>
                <a:tc>
                  <a:txBody>
                    <a:bodyPr/>
                    <a:lstStyle/>
                    <a:p>
                      <a:pPr algn="l">
                        <a:lnSpc>
                          <a:spcPct val="103000"/>
                        </a:lnSpc>
                        <a:spcBef>
                          <a:spcPts val="0"/>
                        </a:spcBef>
                        <a:spcAft>
                          <a:spcPts val="0"/>
                        </a:spcAft>
                      </a:pPr>
                      <a:r>
                        <a:rPr sz="1300" b="1">
                          <a:solidFill>
                            <a:srgbClr val="FFFFFF"/>
                          </a:solidFill>
                          <a:latin typeface="Arial"/>
                        </a:rPr>
                        <a:t>Text of the option, as the model reads it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Test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300" b="1">
                          <a:solidFill>
                            <a:srgbClr val="FFFFFF"/>
                          </a:solidFill>
                          <a:latin typeface="Arial"/>
                        </a:rPr>
                        <a:t>Dev</a:t>
                      </a:r>
                    </a:p>
                  </a:txBody>
                  <a:tcPr marL="109728" marR="91440" marT="54864" marB="36576" anchor="ctr">
                    <a:solidFill>
                      <a:srgbClr val="00407A"/>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illegal_code</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is not legal Verilog or SystemVerilog: a syntax error, an undeclared name, a non-constant range, or a procedural assignment to a net.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3</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unsupported_construct</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is legal for a simulator, but it uses a data type or construct that synthesis does not support: real, time, string, trireg, a class, a dynamic array, a DPI import, or a user-defined primitive.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timing_control</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uses a timing control that synthesis does not support: wait, fork-join, or an event trigger (-&gt;).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simulation_statement</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The code uses a statement or system function for simulation only: force-release, procedural assign-deassign, or $random.</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event_list</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An event list that synthesis does not support: both edges of one signal, edge and level events mixed, or different edges in one process.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async_reset</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An asynchronous reset or set that synthesis cannot build: statements outside the reset if-else, a second edge signal without the reset template, or a reset to a non-constant value.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228600">
                <a:tc>
                  <a:txBody>
                    <a:bodyPr/>
                    <a:lstStyle/>
                    <a:p>
                      <a:pPr algn="l">
                        <a:lnSpc>
                          <a:spcPct val="103000"/>
                        </a:lnSpc>
                        <a:spcBef>
                          <a:spcPts val="0"/>
                        </a:spcBef>
                        <a:spcAft>
                          <a:spcPts val="0"/>
                        </a:spcAft>
                      </a:pPr>
                      <a:r>
                        <a:rPr sz="1050" b="1">
                          <a:solidFill>
                            <a:srgbClr val="00407A"/>
                          </a:solidFill>
                          <a:latin typeface="Arial"/>
                        </a:rPr>
                        <a:t>multiple_drivers</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signal has more than one driver, for example assignments in two always blocks.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228600">
                <a:tc>
                  <a:txBody>
                    <a:bodyPr/>
                    <a:lstStyle/>
                    <a:p>
                      <a:pPr algn="l">
                        <a:lnSpc>
                          <a:spcPct val="103000"/>
                        </a:lnSpc>
                        <a:spcBef>
                          <a:spcPts val="0"/>
                        </a:spcBef>
                        <a:spcAft>
                          <a:spcPts val="0"/>
                        </a:spcAft>
                      </a:pPr>
                      <a:r>
                        <a:rPr sz="1050" b="1">
                          <a:solidFill>
                            <a:srgbClr val="00407A"/>
                          </a:solidFill>
                          <a:latin typeface="Arial"/>
                        </a:rPr>
                        <a:t>mixed_assignments</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One variable gets blocking and nonblocking assignments in the same always block.</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unbounded_loop</a:t>
                      </a:r>
                    </a:p>
                  </a:txBody>
                  <a:tcPr marL="109728" marR="91440" marT="54864" marB="36576" anchor="ctr">
                    <a:solidFill>
                      <a:srgbClr val="E3EFF5"/>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loop or a recursion that synthesis cannot unroll: a forever loop with no timing control, or a recursion with no constant limit.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65760">
                <a:tc>
                  <a:txBody>
                    <a:bodyPr/>
                    <a:lstStyle/>
                    <a:p>
                      <a:pPr algn="l">
                        <a:lnSpc>
                          <a:spcPct val="103000"/>
                        </a:lnSpc>
                        <a:spcBef>
                          <a:spcPts val="0"/>
                        </a:spcBef>
                        <a:spcAft>
                          <a:spcPts val="0"/>
                        </a:spcAft>
                      </a:pPr>
                      <a:r>
                        <a:rPr sz="1050" b="1">
                          <a:solidFill>
                            <a:srgbClr val="00407A"/>
                          </a:solidFill>
                          <a:latin typeface="Arial"/>
                        </a:rPr>
                        <a:t>instance_mismatch</a:t>
                      </a:r>
                    </a:p>
                  </a:txBody>
                  <a:tcPr marL="109728" marR="91440" marT="54864" marB="36576" anchor="ctr">
                    <a:solidFill>
                      <a:srgbClr val="FFFFFF"/>
                    </a:solidFill>
                    <a:lnL>
                      <a:noFill/>
                    </a:lnL>
                    <a:lnR>
                      <a:noFill/>
                    </a:lnR>
                    <a:lnT>
                      <a:noFill/>
                    </a:lnT>
                    <a:lnB>
                      <a:noFill/>
                    </a:lnB>
                  </a:tcPr>
                </a:tc>
                <a:tc>
                  <a:txBody>
                    <a:bodyPr/>
                    <a:lstStyle/>
                    <a:p>
                      <a:pPr algn="l">
                        <a:lnSpc>
                          <a:spcPct val="103000"/>
                        </a:lnSpc>
                        <a:spcBef>
                          <a:spcPts val="0"/>
                        </a:spcBef>
                        <a:spcAft>
                          <a:spcPts val="0"/>
                        </a:spcAft>
                      </a:pPr>
                      <a:r>
                        <a:rPr sz="1050" b="0">
                          <a:solidFill>
                            <a:srgbClr val="00407A"/>
                          </a:solidFill>
                          <a:latin typeface="Arial"/>
                        </a:rPr>
                        <a:t>A module instance does not match a module: a missing module, an unknown parameter, or an unknown port.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050" b="0">
                          <a:solidFill>
                            <a:srgbClr val="00407A"/>
                          </a:solidFill>
                          <a:latin typeface="Arial"/>
                        </a:rPr>
                        <a:t>0</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22 of the 25 failures are injected edits. 8 more test designs with a compile error get no reason question.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reasons: 27B gets 15 of 16 right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explicitly states that synthesis failed, then offers ten possible reasons.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11</a:t>
            </a:r>
          </a:p>
        </p:txBody>
      </p:sp>
      <p:sp>
        <p:nvSpPr>
          <p:cNvPr id="6" name="Rounded Rectangle 5"/>
          <p:cNvSpPr/>
          <p:nvPr/>
        </p:nvSpPr>
        <p:spPr>
          <a:xfrm>
            <a:off x="813816" y="1828800"/>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correct failure reason</a:t>
            </a:r>
          </a:p>
        </p:txBody>
      </p:sp>
      <p:sp>
        <p:nvSpPr>
          <p:cNvPr id="8" name="TextBox 7"/>
          <p:cNvSpPr txBox="1"/>
          <p:nvPr/>
        </p:nvSpPr>
        <p:spPr>
          <a:xfrm>
            <a:off x="1014984" y="2441448"/>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16 known-failure designs • one choice per design</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62656"/>
            <a:ext cx="94297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31.3%</a:t>
            </a:r>
          </a:p>
          <a:p>
            <a:pPr algn="l">
              <a:lnSpc>
                <a:spcPct val="109000"/>
              </a:lnSpc>
              <a:spcBef>
                <a:spcPts val="0"/>
              </a:spcBef>
              <a:spcAft>
                <a:spcPts val="0"/>
              </a:spcAft>
            </a:pPr>
            <a:r>
              <a:rPr sz="1250" b="0">
                <a:solidFill>
                  <a:srgbClr val="00407A"/>
                </a:solidFill>
                <a:latin typeface="Arial"/>
              </a:rPr>
              <a:t>5 of 16</a:t>
            </a:r>
          </a:p>
        </p:txBody>
      </p:sp>
      <p:sp>
        <p:nvSpPr>
          <p:cNvPr id="18" name="TextBox 17"/>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65575"/>
            <a:ext cx="169735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56.3%</a:t>
            </a:r>
          </a:p>
          <a:p>
            <a:pPr algn="l">
              <a:lnSpc>
                <a:spcPct val="109000"/>
              </a:lnSpc>
              <a:spcBef>
                <a:spcPts val="0"/>
              </a:spcBef>
              <a:spcAft>
                <a:spcPts val="0"/>
              </a:spcAft>
            </a:pPr>
            <a:r>
              <a:rPr sz="1250" b="0">
                <a:solidFill>
                  <a:srgbClr val="00407A"/>
                </a:solidFill>
                <a:latin typeface="Arial"/>
              </a:rPr>
              <a:t>9 of 16</a:t>
            </a:r>
          </a:p>
        </p:txBody>
      </p:sp>
      <p:sp>
        <p:nvSpPr>
          <p:cNvPr id="21" name="TextBox 20"/>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68495"/>
            <a:ext cx="207454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68.8%</a:t>
            </a:r>
          </a:p>
          <a:p>
            <a:pPr algn="l">
              <a:lnSpc>
                <a:spcPct val="109000"/>
              </a:lnSpc>
              <a:spcBef>
                <a:spcPts val="0"/>
              </a:spcBef>
              <a:spcAft>
                <a:spcPts val="0"/>
              </a:spcAft>
            </a:pPr>
            <a:r>
              <a:rPr sz="1250" b="0">
                <a:solidFill>
                  <a:srgbClr val="00407A"/>
                </a:solidFill>
                <a:latin typeface="Arial"/>
              </a:rPr>
              <a:t>11 of 16</a:t>
            </a:r>
          </a:p>
        </p:txBody>
      </p:sp>
      <p:sp>
        <p:nvSpPr>
          <p:cNvPr id="24" name="TextBox 23"/>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71416"/>
            <a:ext cx="2828925"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93.8%</a:t>
            </a:r>
          </a:p>
          <a:p>
            <a:pPr algn="l">
              <a:lnSpc>
                <a:spcPct val="109000"/>
              </a:lnSpc>
              <a:spcBef>
                <a:spcPts val="0"/>
              </a:spcBef>
              <a:spcAft>
                <a:spcPts val="0"/>
              </a:spcAft>
            </a:pPr>
            <a:r>
              <a:rPr sz="1250" b="0">
                <a:solidFill>
                  <a:srgbClr val="00407A"/>
                </a:solidFill>
                <a:latin typeface="Arial"/>
              </a:rPr>
              <a:t>15 of 16</a:t>
            </a:r>
          </a:p>
        </p:txBody>
      </p:sp>
      <p:sp>
        <p:nvSpPr>
          <p:cNvPr id="27" name="TextBox 26"/>
          <p:cNvSpPr txBox="1"/>
          <p:nvPr/>
        </p:nvSpPr>
        <p:spPr>
          <a:xfrm>
            <a:off x="996696" y="5038344"/>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28800"/>
            <a:ext cx="5166360" cy="187451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is measured</a:t>
            </a:r>
          </a:p>
        </p:txBody>
      </p:sp>
      <p:sp>
        <p:nvSpPr>
          <p:cNvPr id="31" name="TextBox 30"/>
          <p:cNvSpPr txBox="1"/>
          <p:nvPr/>
        </p:nvSpPr>
        <p:spPr>
          <a:xfrm>
            <a:off x="6437376" y="2834640"/>
            <a:ext cx="4709160" cy="685799"/>
          </a:xfrm>
          <a:prstGeom prst="rect">
            <a:avLst/>
          </a:prstGeom>
          <a:noFill/>
        </p:spPr>
        <p:txBody>
          <a:bodyPr wrap="square" lIns="0" rIns="0" tIns="0" bIns="0" anchor="t">
            <a:noAutofit/>
          </a:bodyPr>
          <a:lstStyle/>
          <a:p>
            <a:pPr algn="l">
              <a:lnSpc>
                <a:spcPct val="109000"/>
              </a:lnSpc>
              <a:spcBef>
                <a:spcPts val="0"/>
              </a:spcBef>
              <a:spcAft>
                <a:spcPts val="0"/>
              </a:spcAft>
            </a:pPr>
            <a:r>
              <a:rPr sz="2100" b="0">
                <a:solidFill>
                  <a:srgbClr val="00407A"/>
                </a:solidFill>
                <a:latin typeface="Arial"/>
              </a:rPr>
              <a:t>Can the model identify the reason</a:t>
            </a:r>
          </a:p>
          <a:p>
            <a:pPr algn="l">
              <a:lnSpc>
                <a:spcPct val="109000"/>
              </a:lnSpc>
              <a:spcBef>
                <a:spcPts val="0"/>
              </a:spcBef>
              <a:spcAft>
                <a:spcPts val="0"/>
              </a:spcAft>
            </a:pPr>
            <a:r>
              <a:rPr sz="2100" b="0">
                <a:solidFill>
                  <a:srgbClr val="00407A"/>
                </a:solidFill>
                <a:latin typeface="Arial"/>
              </a:rPr>
              <a:t>when failure is already known?</a:t>
            </a:r>
          </a:p>
        </p:txBody>
      </p:sp>
      <p:sp>
        <p:nvSpPr>
          <p:cNvPr id="32" name="Rounded Rectangle 31"/>
          <p:cNvSpPr/>
          <p:nvPr/>
        </p:nvSpPr>
        <p:spPr>
          <a:xfrm>
            <a:off x="6208776" y="3886200"/>
            <a:ext cx="5166360" cy="166420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38862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40325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What the 27B error was</a:t>
            </a:r>
          </a:p>
        </p:txBody>
      </p:sp>
      <p:sp>
        <p:nvSpPr>
          <p:cNvPr id="35" name="TextBox 34"/>
          <p:cNvSpPr txBox="1"/>
          <p:nvPr/>
        </p:nvSpPr>
        <p:spPr>
          <a:xfrm>
            <a:off x="6437376" y="4544568"/>
            <a:ext cx="4709160" cy="91440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A multiple-driver error was labelled</a:t>
            </a:r>
          </a:p>
          <a:p>
            <a:pPr algn="l">
              <a:lnSpc>
                <a:spcPct val="109000"/>
              </a:lnSpc>
              <a:spcBef>
                <a:spcPts val="0"/>
              </a:spcBef>
              <a:spcAft>
                <a:spcPts val="0"/>
              </a:spcAft>
            </a:pPr>
            <a:r>
              <a:rPr sz="1900" b="0">
                <a:solidFill>
                  <a:srgbClr val="00407A"/>
                </a:solidFill>
                <a:latin typeface="Arial"/>
              </a:rPr>
              <a:t>as an asynchronous-reset error.</a:t>
            </a:r>
          </a:p>
        </p:txBody>
      </p:sp>
      <p:sp>
        <p:nvSpPr>
          <p:cNvPr id="36" name="Rounded Rectangle 3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eight of the ten reason classes occur in these 16 test designs. Coverage is limited.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Diagnosing a known failure is not detecting that failure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Match the two saved responses for the same 16 reason-test designs.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12</a:t>
            </a:r>
          </a:p>
        </p:txBody>
      </p:sp>
      <p:graphicFrame>
        <p:nvGraphicFramePr>
          <p:cNvPr id="6" name="Table 5"/>
          <p:cNvGraphicFramePr>
            <a:graphicFrameLocks noGrp="1"/>
          </p:cNvGraphicFramePr>
          <p:nvPr/>
        </p:nvGraphicFramePr>
        <p:xfrm>
          <a:off x="813816" y="1920240"/>
          <a:ext cx="10561320" cy="2514600"/>
        </p:xfrm>
        <a:graphic>
          <a:graphicData uri="http://schemas.openxmlformats.org/drawingml/2006/table">
            <a:tbl>
              <a:tblPr firstRow="1" bandRow="1">
                <a:tableStyleId>{5C22544A-7EE6-4342-B048-85BDC9FD1C3A}</a:tableStyleId>
              </a:tblPr>
              <a:tblGrid>
                <a:gridCol w="1371600"/>
                <a:gridCol w="2743200"/>
                <a:gridCol w="3703320"/>
                <a:gridCol w="27432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Says synthesis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Correct reason when told it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Both answers correct</a:t>
                      </a:r>
                    </a:p>
                  </a:txBody>
                  <a:tcPr marL="109728" marR="91440" marT="54864" marB="36576" anchor="ctr">
                    <a:solidFill>
                      <a:srgbClr val="00407A"/>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15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709160"/>
            <a:ext cx="10561320" cy="84124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910328"/>
            <a:ext cx="10058400" cy="50292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27B: 15 correct diagnoses, but zero failure flags on these same designs.</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This is a linked analysis of existing answers, not a separately run detection-and-diagnosis system.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and power: choose one of five ranges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model estimates a level from source code and flow information, not an exact physical value.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13</a:t>
            </a:r>
          </a:p>
        </p:txBody>
      </p:sp>
      <p:graphicFrame>
        <p:nvGraphicFramePr>
          <p:cNvPr id="6" name="Table 5"/>
          <p:cNvGraphicFramePr>
            <a:graphicFrameLocks noGrp="1"/>
          </p:cNvGraphicFramePr>
          <p:nvPr/>
        </p:nvGraphicFramePr>
        <p:xfrm>
          <a:off x="813816" y="1920240"/>
          <a:ext cx="10561320" cy="2103118"/>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Cell area</a:t>
                      </a:r>
                    </a:p>
                    <a:p>
                      <a:pPr algn="l">
                        <a:lnSpc>
                          <a:spcPct val="103000"/>
                        </a:lnSpc>
                        <a:spcBef>
                          <a:spcPts val="0"/>
                        </a:spcBef>
                        <a:spcAft>
                          <a:spcPts val="0"/>
                        </a:spcAft>
                      </a:pPr>
                      <a:r>
                        <a:rPr sz="1800" b="0">
                          <a:solidFill>
                            <a:srgbClr val="00407A"/>
                          </a:solidFill>
                          <a:latin typeface="Arial"/>
                        </a:rPr>
                        <a:t>(gate equivalents)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 to</a:t>
                      </a:r>
                    </a:p>
                    <a:p>
                      <a:pPr algn="ctr">
                        <a:lnSpc>
                          <a:spcPct val="103000"/>
                        </a:lnSpc>
                        <a:spcBef>
                          <a:spcPts val="0"/>
                        </a:spcBef>
                        <a:spcAft>
                          <a:spcPts val="0"/>
                        </a:spcAft>
                      </a:pPr>
                      <a:r>
                        <a:rPr sz="1800" b="0">
                          <a:solidFill>
                            <a:srgbClr val="00407A"/>
                          </a:solidFill>
                          <a:latin typeface="Arial"/>
                        </a:rPr>
                        <a:t>&lt;100,000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≥100,000</a:t>
                      </a:r>
                    </a:p>
                  </a:txBody>
                  <a:tcPr marL="109728" marR="91440" marT="54864" marB="36576" anchor="ctr">
                    <a:solidFill>
                      <a:srgbClr val="E3EFF5"/>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Total power</a:t>
                      </a:r>
                    </a:p>
                    <a:p>
                      <a:pPr algn="l">
                        <a:lnSpc>
                          <a:spcPct val="103000"/>
                        </a:lnSpc>
                        <a:spcBef>
                          <a:spcPts val="0"/>
                        </a:spcBef>
                        <a:spcAft>
                          <a:spcPts val="0"/>
                        </a:spcAft>
                      </a:pPr>
                      <a:r>
                        <a:rPr sz="1800" b="0">
                          <a:solidFill>
                            <a:srgbClr val="00407A"/>
                          </a:solidFill>
                          <a:latin typeface="Arial"/>
                        </a:rPr>
                        <a:t>(microwatts)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Area reference</a:t>
            </a:r>
          </a:p>
        </p:txBody>
      </p:sp>
      <p:sp>
        <p:nvSpPr>
          <p:cNvPr id="10" name="TextBox 9"/>
          <p:cNvSpPr txBox="1"/>
          <p:nvPr/>
        </p:nvSpPr>
        <p:spPr>
          <a:xfrm>
            <a:off x="104241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 gate equivalent = one two-input NAND gate</a:t>
            </a:r>
          </a:p>
          <a:p>
            <a:pPr algn="l">
              <a:lnSpc>
                <a:spcPct val="109000"/>
              </a:lnSpc>
              <a:spcBef>
                <a:spcPts val="0"/>
              </a:spcBef>
              <a:spcAft>
                <a:spcPts val="0"/>
              </a:spcAft>
            </a:pPr>
            <a:r>
              <a:rPr sz="1700" b="0">
                <a:solidFill>
                  <a:srgbClr val="00407A"/>
                </a:solidFill>
                <a:latin typeface="Arial"/>
              </a:rPr>
              <a:t>= 0.196608 square micrometres in this library.</a:t>
            </a:r>
          </a:p>
        </p:txBody>
      </p:sp>
      <p:sp>
        <p:nvSpPr>
          <p:cNvPr id="11" name="Rounded Rectangle 10"/>
          <p:cNvSpPr/>
          <p:nvPr/>
        </p:nvSpPr>
        <p:spPr>
          <a:xfrm>
            <a:off x="620877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Power reference</a:t>
            </a:r>
          </a:p>
        </p:txBody>
      </p:sp>
      <p:sp>
        <p:nvSpPr>
          <p:cNvPr id="14" name="TextBox 13"/>
          <p:cNvSpPr txBox="1"/>
          <p:nvPr/>
        </p:nvSpPr>
        <p:spPr>
          <a:xfrm>
            <a:off x="643737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Dynamic + leakage, for the supplied stimulus.</a:t>
            </a:r>
          </a:p>
          <a:p>
            <a:pPr algn="l">
              <a:lnSpc>
                <a:spcPct val="109000"/>
              </a:lnSpc>
              <a:spcBef>
                <a:spcPts val="0"/>
              </a:spcBef>
              <a:spcAft>
                <a:spcPts val="0"/>
              </a:spcAft>
            </a:pPr>
            <a:r>
              <a:rPr sz="1700" b="0">
                <a:solidFill>
                  <a:srgbClr val="00407A"/>
                </a:solidFill>
                <a:latin typeface="Arial"/>
              </a:rPr>
              <a:t>1,000 microwatts = 1 milliwatt.</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Exact level is strict; “within one level” can span a large physical range because these bins are logarithmic.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margin at 500 MHz, plus a derived frequency</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clock target is 500 MHz: one cycle lasts 2 nanoseconds (ns).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14</a:t>
            </a:r>
          </a:p>
        </p:txBody>
      </p:sp>
      <p:graphicFrame>
        <p:nvGraphicFramePr>
          <p:cNvPr id="6" name="Table 5"/>
          <p:cNvGraphicFramePr>
            <a:graphicFrameLocks noGrp="1"/>
          </p:cNvGraphicFramePr>
          <p:nvPr/>
        </p:nvGraphicFramePr>
        <p:xfrm>
          <a:off x="813816" y="1874519"/>
          <a:ext cx="10561320" cy="2057400"/>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Worst slack</a:t>
                      </a:r>
                    </a:p>
                    <a:p>
                      <a:pPr algn="l">
                        <a:lnSpc>
                          <a:spcPct val="103000"/>
                        </a:lnSpc>
                        <a:spcBef>
                          <a:spcPts val="0"/>
                        </a:spcBef>
                        <a:spcAft>
                          <a:spcPts val="0"/>
                        </a:spcAft>
                      </a:pPr>
                      <a:r>
                        <a:rPr sz="18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Negative:</a:t>
                      </a:r>
                    </a:p>
                    <a:p>
                      <a:pPr algn="ctr">
                        <a:lnSpc>
                          <a:spcPct val="103000"/>
                        </a:lnSpc>
                        <a:spcBef>
                          <a:spcPts val="0"/>
                        </a:spcBef>
                        <a:spcAft>
                          <a:spcPts val="0"/>
                        </a:spcAft>
                      </a:pPr>
                      <a:r>
                        <a:rPr sz="1800" b="0">
                          <a:solidFill>
                            <a:srgbClr val="00407A"/>
                          </a:solidFill>
                          <a:latin typeface="Arial"/>
                        </a:rPr>
                        <a:t>misses target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 to</a:t>
                      </a:r>
                    </a:p>
                    <a:p>
                      <a:pPr algn="ctr">
                        <a:lnSpc>
                          <a:spcPct val="103000"/>
                        </a:lnSpc>
                        <a:spcBef>
                          <a:spcPts val="0"/>
                        </a:spcBef>
                        <a:spcAft>
                          <a:spcPts val="0"/>
                        </a:spcAft>
                      </a:pPr>
                      <a:r>
                        <a:rPr sz="1800" b="0">
                          <a:solidFill>
                            <a:srgbClr val="00407A"/>
                          </a:solidFill>
                          <a:latin typeface="Arial"/>
                        </a:rPr>
                        <a:t>&lt;0.5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0.5 to</a:t>
                      </a:r>
                    </a:p>
                    <a:p>
                      <a:pPr algn="ctr">
                        <a:lnSpc>
                          <a:spcPct val="103000"/>
                        </a:lnSpc>
                        <a:spcBef>
                          <a:spcPts val="0"/>
                        </a:spcBef>
                        <a:spcAft>
                          <a:spcPts val="0"/>
                        </a:spcAft>
                      </a:pPr>
                      <a:r>
                        <a:rPr sz="1800" b="0">
                          <a:solidFill>
                            <a:srgbClr val="00407A"/>
                          </a:solidFill>
                          <a:latin typeface="Arial"/>
                        </a:rPr>
                        <a:t>&lt;1.0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≥1.5 ns</a:t>
                      </a:r>
                    </a:p>
                  </a:txBody>
                  <a:tcPr marL="109728" marR="91440" marT="54864" marB="36576" anchor="ctr">
                    <a:solidFill>
                      <a:srgbClr val="E3EFF5"/>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Reachable clock</a:t>
                      </a:r>
                    </a:p>
                    <a:p>
                      <a:pPr algn="l">
                        <a:lnSpc>
                          <a:spcPct val="103000"/>
                        </a:lnSpc>
                        <a:spcBef>
                          <a:spcPts val="0"/>
                        </a:spcBef>
                        <a:spcAft>
                          <a:spcPts val="0"/>
                        </a:spcAft>
                      </a:pPr>
                      <a:r>
                        <a:rPr sz="1800" b="0">
                          <a:solidFill>
                            <a:srgbClr val="00407A"/>
                          </a:solidFill>
                          <a:latin typeface="Arial"/>
                        </a:rPr>
                        <a:t>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 to</a:t>
                      </a:r>
                    </a:p>
                    <a:p>
                      <a:pPr algn="ctr">
                        <a:lnSpc>
                          <a:spcPct val="103000"/>
                        </a:lnSpc>
                        <a:spcBef>
                          <a:spcPts val="0"/>
                        </a:spcBef>
                        <a:spcAft>
                          <a:spcPts val="0"/>
                        </a:spcAft>
                      </a:pPr>
                      <a:r>
                        <a:rPr sz="1800" b="0">
                          <a:solidFill>
                            <a:srgbClr val="00407A"/>
                          </a:solidFill>
                          <a:latin typeface="Arial"/>
                        </a:rPr>
                        <a:t>&lt;2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2 to</a:t>
                      </a:r>
                    </a:p>
                    <a:p>
                      <a:pPr algn="ctr">
                        <a:lnSpc>
                          <a:spcPct val="103000"/>
                        </a:lnSpc>
                        <a:spcBef>
                          <a:spcPts val="0"/>
                        </a:spcBef>
                        <a:spcAft>
                          <a:spcPts val="0"/>
                        </a:spcAft>
                      </a:pPr>
                      <a:r>
                        <a:rPr sz="1800" b="0">
                          <a:solidFill>
                            <a:srgbClr val="00407A"/>
                          </a:solidFill>
                          <a:latin typeface="Arial"/>
                        </a:rPr>
                        <a:t>&lt;3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3 to</a:t>
                      </a:r>
                    </a:p>
                    <a:p>
                      <a:pPr algn="ctr">
                        <a:lnSpc>
                          <a:spcPct val="103000"/>
                        </a:lnSpc>
                        <a:spcBef>
                          <a:spcPts val="0"/>
                        </a:spcBef>
                        <a:spcAft>
                          <a:spcPts val="0"/>
                        </a:spcAft>
                      </a:pPr>
                      <a:r>
                        <a:rPr sz="1800" b="0">
                          <a:solidFill>
                            <a:srgbClr val="00407A"/>
                          </a:solidFill>
                          <a:latin typeface="Arial"/>
                        </a:rPr>
                        <a:t>&lt;4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≥4 GHz</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261104"/>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2500" b="1">
                <a:solidFill>
                  <a:srgbClr val="00407A"/>
                </a:solidFill>
                <a:latin typeface="Arial"/>
              </a:rPr>
              <a:t>Reachable frequency (GHz) = 1 ÷ [2 ns − worst slack (ns)]</a:t>
            </a:r>
          </a:p>
        </p:txBody>
      </p:sp>
      <p:sp>
        <p:nvSpPr>
          <p:cNvPr id="8" name="TextBox 7"/>
          <p:cNvSpPr txBox="1"/>
          <p:nvPr/>
        </p:nvSpPr>
        <p:spPr>
          <a:xfrm>
            <a:off x="960120" y="4919472"/>
            <a:ext cx="10149840" cy="6858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Example: 1.438 ns of slack gives a 0.562 ns limiting delay, or about 1.78 GHz.</a:t>
            </a:r>
          </a:p>
          <a:p>
            <a:pPr algn="l">
              <a:lnSpc>
                <a:spcPct val="109000"/>
              </a:lnSpc>
              <a:spcBef>
                <a:spcPts val="0"/>
              </a:spcBef>
              <a:spcAft>
                <a:spcPts val="0"/>
              </a:spcAft>
            </a:pPr>
            <a:r>
              <a:rPr sz="1800" b="0">
                <a:solidFill>
                  <a:srgbClr val="00407A"/>
                </a:solidFill>
                <a:latin typeface="Arial"/>
              </a:rPr>
              <a:t>This is derived from the netlist synthesized at 500 MHz; it is not a new optimized run.</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No negative-slack designs occur in this test split. Timing-violation detection is therefore not evaluated.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levels improve substantially with 9B and 27B</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same flow and target • exact and within-one scores shown separately.</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15</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area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All five true area levels occur</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746579"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1082371"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08237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73835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57.6%</a:t>
            </a:r>
          </a:p>
          <a:p>
            <a:pPr algn="l">
              <a:lnSpc>
                <a:spcPct val="109000"/>
              </a:lnSpc>
              <a:spcBef>
                <a:spcPts val="0"/>
              </a:spcBef>
              <a:spcAft>
                <a:spcPts val="0"/>
              </a:spcAft>
            </a:pPr>
            <a:r>
              <a:rPr sz="1250" b="0">
                <a:solidFill>
                  <a:srgbClr val="00407A"/>
                </a:solidFill>
                <a:latin typeface="Arial"/>
              </a:rPr>
              <a:t>53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2000746"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1 = 35.9%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area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00074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131943"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70.7%</a:t>
            </a:r>
          </a:p>
          <a:p>
            <a:pPr algn="l">
              <a:lnSpc>
                <a:spcPct val="109000"/>
              </a:lnSpc>
              <a:spcBef>
                <a:spcPts val="0"/>
              </a:spcBef>
              <a:spcAft>
                <a:spcPts val="0"/>
              </a:spcAft>
            </a:pPr>
            <a:r>
              <a:rPr sz="1250" b="0">
                <a:solidFill>
                  <a:srgbClr val="00407A"/>
                </a:solidFill>
                <a:latin typeface="Arial"/>
              </a:rPr>
              <a:t>65 of 92</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72232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90.2%</a:t>
            </a:r>
          </a:p>
          <a:p>
            <a:pPr algn="l">
              <a:lnSpc>
                <a:spcPct val="109000"/>
              </a:lnSpc>
              <a:spcBef>
                <a:spcPts val="0"/>
              </a:spcBef>
              <a:spcAft>
                <a:spcPts val="0"/>
              </a:spcAft>
            </a:pPr>
            <a:r>
              <a:rPr sz="1250" b="0">
                <a:solidFill>
                  <a:srgbClr val="00407A"/>
                </a:solidFill>
                <a:latin typeface="Arial"/>
              </a:rPr>
              <a:t>83 of 92</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92 of 92</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61 of 92 exact levels; all 92 estimates are within one level.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Power levels: the largest model performs worst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85 held-out designs with usable power measurements and a supplied stimulus testbench.</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16</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power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Levels 1 to 4 occur; level 5 is absent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977716"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81650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27.1%</a:t>
            </a:r>
          </a:p>
          <a:p>
            <a:pPr algn="l">
              <a:lnSpc>
                <a:spcPct val="109000"/>
              </a:lnSpc>
              <a:spcBef>
                <a:spcPts val="0"/>
              </a:spcBef>
              <a:spcAft>
                <a:spcPts val="0"/>
              </a:spcAft>
            </a:pPr>
            <a:r>
              <a:rPr sz="1250" b="0">
                <a:solidFill>
                  <a:srgbClr val="00407A"/>
                </a:solidFill>
                <a:latin typeface="Arial"/>
              </a:rPr>
              <a:t>23 of 85</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384509"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45.9%</a:t>
            </a:r>
          </a:p>
          <a:p>
            <a:pPr algn="l">
              <a:lnSpc>
                <a:spcPct val="109000"/>
              </a:lnSpc>
              <a:spcBef>
                <a:spcPts val="0"/>
              </a:spcBef>
              <a:spcAft>
                <a:spcPts val="0"/>
              </a:spcAft>
            </a:pPr>
            <a:r>
              <a:rPr sz="1250" b="0">
                <a:solidFill>
                  <a:srgbClr val="00407A"/>
                </a:solidFill>
                <a:latin typeface="Arial"/>
              </a:rPr>
              <a:t>39 of 85</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2070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40.0%</a:t>
            </a:r>
          </a:p>
          <a:p>
            <a:pPr algn="l">
              <a:lnSpc>
                <a:spcPct val="109000"/>
              </a:lnSpc>
              <a:spcBef>
                <a:spcPts val="0"/>
              </a:spcBef>
              <a:spcAft>
                <a:spcPts val="0"/>
              </a:spcAft>
            </a:pPr>
            <a:r>
              <a:rPr sz="1250" b="0">
                <a:solidFill>
                  <a:srgbClr val="00407A"/>
                </a:solidFill>
                <a:latin typeface="Arial"/>
              </a:rPr>
              <a:t>34 of 85</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31950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10.6%</a:t>
            </a:r>
          </a:p>
          <a:p>
            <a:pPr algn="l">
              <a:lnSpc>
                <a:spcPct val="109000"/>
              </a:lnSpc>
              <a:spcBef>
                <a:spcPts val="0"/>
              </a:spcBef>
              <a:spcAft>
                <a:spcPts val="0"/>
              </a:spcAft>
            </a:pPr>
            <a:r>
              <a:rPr sz="1250" b="0">
                <a:solidFill>
                  <a:srgbClr val="00407A"/>
                </a:solidFill>
                <a:latin typeface="Arial"/>
              </a:rPr>
              <a:t>9 of 85</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2 = 43.5%</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power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48501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82.4%</a:t>
            </a:r>
          </a:p>
          <a:p>
            <a:pPr algn="l">
              <a:lnSpc>
                <a:spcPct val="109000"/>
              </a:lnSpc>
              <a:spcBef>
                <a:spcPts val="0"/>
              </a:spcBef>
              <a:spcAft>
                <a:spcPts val="0"/>
              </a:spcAft>
            </a:pPr>
            <a:r>
              <a:rPr sz="1250" b="0">
                <a:solidFill>
                  <a:srgbClr val="00407A"/>
                </a:solidFill>
                <a:latin typeface="Arial"/>
              </a:rPr>
              <a:t>70 of 85</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76901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91.8%</a:t>
            </a:r>
          </a:p>
          <a:p>
            <a:pPr algn="l">
              <a:lnSpc>
                <a:spcPct val="109000"/>
              </a:lnSpc>
              <a:spcBef>
                <a:spcPts val="0"/>
              </a:spcBef>
              <a:spcAft>
                <a:spcPts val="0"/>
              </a:spcAft>
            </a:pPr>
            <a:r>
              <a:rPr sz="1250" b="0">
                <a:solidFill>
                  <a:srgbClr val="00407A"/>
                </a:solidFill>
                <a:latin typeface="Arial"/>
              </a:rPr>
              <a:t>78 of 85</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80451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92.9%</a:t>
            </a:r>
          </a:p>
          <a:p>
            <a:pPr algn="l">
              <a:lnSpc>
                <a:spcPct val="109000"/>
              </a:lnSpc>
              <a:spcBef>
                <a:spcPts val="0"/>
              </a:spcBef>
              <a:spcAft>
                <a:spcPts val="0"/>
              </a:spcAft>
            </a:pPr>
            <a:r>
              <a:rPr sz="1250" b="0">
                <a:solidFill>
                  <a:srgbClr val="00407A"/>
                </a:solidFill>
                <a:latin typeface="Arial"/>
              </a:rPr>
              <a:t>79 of 85</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195251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64.7%</a:t>
            </a:r>
          </a:p>
          <a:p>
            <a:pPr algn="l">
              <a:lnSpc>
                <a:spcPct val="109000"/>
              </a:lnSpc>
              <a:spcBef>
                <a:spcPts val="0"/>
              </a:spcBef>
              <a:spcAft>
                <a:spcPts val="0"/>
              </a:spcAft>
            </a:pPr>
            <a:r>
              <a:rPr sz="1250" b="0">
                <a:solidFill>
                  <a:srgbClr val="00407A"/>
                </a:solidFill>
                <a:latin typeface="Arial"/>
              </a:rPr>
              <a:t>55 of 85</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predicts only levels 3–5, although 60 of the 85 true labels are levels 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levels remain unreliable for every model</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these are level estimates from RTL, not timing-tool replacements.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clock-frequency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Frequency derived from the 500 MHz netlist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31401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42638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36079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a:t>
            </a:r>
          </a:p>
          <a:p>
            <a:pPr algn="l">
              <a:lnSpc>
                <a:spcPct val="109000"/>
              </a:lnSpc>
              <a:spcBef>
                <a:spcPts val="0"/>
              </a:spcBef>
              <a:spcAft>
                <a:spcPts val="0"/>
              </a:spcAft>
            </a:pPr>
            <a:r>
              <a:rPr sz="1250" b="0">
                <a:solidFill>
                  <a:srgbClr val="00407A"/>
                </a:solidFill>
                <a:latin typeface="Arial"/>
              </a:rPr>
              <a:t>11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42638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42638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4 = 48.9%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timing-margin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Worst slack at the 500 MHz target</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912551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262393"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a:t>
            </a:r>
          </a:p>
          <a:p>
            <a:pPr algn="l">
              <a:lnSpc>
                <a:spcPct val="109000"/>
              </a:lnSpc>
              <a:spcBef>
                <a:spcPts val="0"/>
              </a:spcBef>
              <a:spcAft>
                <a:spcPts val="0"/>
              </a:spcAft>
            </a:pPr>
            <a:r>
              <a:rPr sz="1250" b="0">
                <a:solidFill>
                  <a:srgbClr val="00407A"/>
                </a:solidFill>
                <a:latin typeface="Arial"/>
              </a:rPr>
              <a:t>8 of 92</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13119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4.3%</a:t>
            </a:r>
          </a:p>
          <a:p>
            <a:pPr algn="l">
              <a:lnSpc>
                <a:spcPct val="109000"/>
              </a:lnSpc>
              <a:spcBef>
                <a:spcPts val="0"/>
              </a:spcBef>
              <a:spcAft>
                <a:spcPts val="0"/>
              </a:spcAft>
            </a:pPr>
            <a:r>
              <a:rPr sz="1250" b="0">
                <a:solidFill>
                  <a:srgbClr val="00407A"/>
                </a:solidFill>
                <a:latin typeface="Arial"/>
              </a:rPr>
              <a:t>4 of 92</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9839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3.3%</a:t>
            </a:r>
          </a:p>
          <a:p>
            <a:pPr algn="l">
              <a:lnSpc>
                <a:spcPct val="109000"/>
              </a:lnSpc>
              <a:spcBef>
                <a:spcPts val="0"/>
              </a:spcBef>
              <a:spcAft>
                <a:spcPts val="0"/>
              </a:spcAft>
            </a:pPr>
            <a:r>
              <a:rPr sz="1250" b="0">
                <a:solidFill>
                  <a:srgbClr val="00407A"/>
                </a:solidFill>
                <a:latin typeface="Arial"/>
              </a:rPr>
              <a:t>3 of 92</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98397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32.6%</a:t>
            </a:r>
          </a:p>
          <a:p>
            <a:pPr algn="l">
              <a:lnSpc>
                <a:spcPct val="109000"/>
              </a:lnSpc>
              <a:spcBef>
                <a:spcPts val="0"/>
              </a:spcBef>
              <a:spcAft>
                <a:spcPts val="0"/>
              </a:spcAft>
            </a:pPr>
            <a:r>
              <a:rPr sz="1250" b="0">
                <a:solidFill>
                  <a:srgbClr val="00407A"/>
                </a:solidFill>
                <a:latin typeface="Arial"/>
              </a:rPr>
              <a:t>30 of 92</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5 = 68.5%</a:t>
            </a:r>
          </a:p>
        </p:txBody>
      </p:sp>
      <p:sp>
        <p:nvSpPr>
          <p:cNvPr id="54" name="Rounded Rectangle 5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27B’s better slack result still falls below the stated constant-answer reference.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predicted levels reveal the mismatch</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chart heights are design counts, not accuracy. Every level is shown, including zero counts.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18</a:t>
            </a:r>
          </a:p>
        </p:txBody>
      </p:sp>
      <p:sp>
        <p:nvSpPr>
          <p:cNvPr id="6" name="Rounded Rectangle 5"/>
          <p:cNvSpPr/>
          <p:nvPr/>
        </p:nvSpPr>
        <p:spPr>
          <a:xfrm>
            <a:off x="81381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Clock-frequency levels</a:t>
            </a:r>
          </a:p>
        </p:txBody>
      </p:sp>
      <p:sp>
        <p:nvSpPr>
          <p:cNvPr id="8" name="TextBox 7"/>
          <p:cNvSpPr txBox="1"/>
          <p:nvPr/>
        </p:nvSpPr>
        <p:spPr>
          <a:xfrm>
            <a:off x="101498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92 designs • counts at each level</a:t>
            </a:r>
          </a:p>
        </p:txBody>
      </p:sp>
      <p:cxnSp>
        <p:nvCxnSpPr>
          <p:cNvPr id="9" name="Connector 8"/>
          <p:cNvCxnSpPr/>
          <p:nvPr/>
        </p:nvCxnSpPr>
        <p:spPr>
          <a:xfrm>
            <a:off x="138988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7782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138988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7782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13" name="Connector 12"/>
          <p:cNvCxnSpPr/>
          <p:nvPr/>
        </p:nvCxnSpPr>
        <p:spPr>
          <a:xfrm>
            <a:off x="138988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7782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15" name="Connector 14"/>
          <p:cNvCxnSpPr/>
          <p:nvPr/>
        </p:nvCxnSpPr>
        <p:spPr>
          <a:xfrm>
            <a:off x="138988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7782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17" name="Connector 16"/>
          <p:cNvCxnSpPr/>
          <p:nvPr/>
        </p:nvCxnSpPr>
        <p:spPr>
          <a:xfrm>
            <a:off x="138988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782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19" name="Rectangle 18"/>
          <p:cNvSpPr/>
          <p:nvPr/>
        </p:nvSpPr>
        <p:spPr>
          <a:xfrm>
            <a:off x="1463040" y="4544202"/>
            <a:ext cx="201168" cy="247253"/>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35608"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21" name="Rectangle 20"/>
          <p:cNvSpPr/>
          <p:nvPr/>
        </p:nvSpPr>
        <p:spPr>
          <a:xfrm>
            <a:off x="1728216" y="3079699"/>
            <a:ext cx="201168" cy="1711756"/>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00784" y="283281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90</a:t>
            </a:r>
          </a:p>
        </p:txBody>
      </p:sp>
      <p:sp>
        <p:nvSpPr>
          <p:cNvPr id="23" name="TextBox 22"/>
          <p:cNvSpPr txBox="1"/>
          <p:nvPr/>
        </p:nvSpPr>
        <p:spPr>
          <a:xfrm>
            <a:off x="150876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24" name="Rectangle 23"/>
          <p:cNvSpPr/>
          <p:nvPr/>
        </p:nvSpPr>
        <p:spPr>
          <a:xfrm>
            <a:off x="2317089" y="4487143"/>
            <a:ext cx="201168" cy="30431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9657" y="424025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16</a:t>
            </a:r>
          </a:p>
        </p:txBody>
      </p:sp>
      <p:sp>
        <p:nvSpPr>
          <p:cNvPr id="26" name="TextBox 25"/>
          <p:cNvSpPr txBox="1"/>
          <p:nvPr/>
        </p:nvSpPr>
        <p:spPr>
          <a:xfrm>
            <a:off x="255483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27" name="TextBox 26"/>
          <p:cNvSpPr txBox="1"/>
          <p:nvPr/>
        </p:nvSpPr>
        <p:spPr>
          <a:xfrm>
            <a:off x="236280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28" name="Rectangle 27"/>
          <p:cNvSpPr/>
          <p:nvPr/>
        </p:nvSpPr>
        <p:spPr>
          <a:xfrm>
            <a:off x="317113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4370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30" name="TextBox 29"/>
          <p:cNvSpPr txBox="1"/>
          <p:nvPr/>
        </p:nvSpPr>
        <p:spPr>
          <a:xfrm>
            <a:off x="340888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1" name="TextBox 30"/>
          <p:cNvSpPr txBox="1"/>
          <p:nvPr/>
        </p:nvSpPr>
        <p:spPr>
          <a:xfrm>
            <a:off x="321685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32" name="Rectangle 31"/>
          <p:cNvSpPr/>
          <p:nvPr/>
        </p:nvSpPr>
        <p:spPr>
          <a:xfrm>
            <a:off x="4025188" y="3935577"/>
            <a:ext cx="201168" cy="85587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97756" y="368868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45</a:t>
            </a:r>
          </a:p>
        </p:txBody>
      </p:sp>
      <p:sp>
        <p:nvSpPr>
          <p:cNvPr id="34" name="TextBox 33"/>
          <p:cNvSpPr txBox="1"/>
          <p:nvPr/>
        </p:nvSpPr>
        <p:spPr>
          <a:xfrm>
            <a:off x="4262932"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5" name="TextBox 34"/>
          <p:cNvSpPr txBox="1"/>
          <p:nvPr/>
        </p:nvSpPr>
        <p:spPr>
          <a:xfrm>
            <a:off x="407090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36" name="TextBox 35"/>
          <p:cNvSpPr txBox="1"/>
          <p:nvPr/>
        </p:nvSpPr>
        <p:spPr>
          <a:xfrm>
            <a:off x="485180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7" name="Rectangle 36"/>
          <p:cNvSpPr/>
          <p:nvPr/>
        </p:nvSpPr>
        <p:spPr>
          <a:xfrm>
            <a:off x="5144414" y="4753416"/>
            <a:ext cx="201168" cy="3803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16982" y="450652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a:t>
            </a:r>
          </a:p>
        </p:txBody>
      </p:sp>
      <p:sp>
        <p:nvSpPr>
          <p:cNvPr id="39" name="TextBox 38"/>
          <p:cNvSpPr txBox="1"/>
          <p:nvPr/>
        </p:nvSpPr>
        <p:spPr>
          <a:xfrm>
            <a:off x="492495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40" name="TextBox 39"/>
          <p:cNvSpPr txBox="1"/>
          <p:nvPr/>
        </p:nvSpPr>
        <p:spPr>
          <a:xfrm>
            <a:off x="101498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41" name="Rectangle 40"/>
          <p:cNvSpPr/>
          <p:nvPr/>
        </p:nvSpPr>
        <p:spPr>
          <a:xfrm>
            <a:off x="277977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9008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43" name="Rectangle 42"/>
          <p:cNvSpPr/>
          <p:nvPr/>
        </p:nvSpPr>
        <p:spPr>
          <a:xfrm>
            <a:off x="369417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04487"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45" name="Rounded Rectangle 44"/>
          <p:cNvSpPr/>
          <p:nvPr/>
        </p:nvSpPr>
        <p:spPr>
          <a:xfrm>
            <a:off x="620877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994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Power levels</a:t>
            </a:r>
          </a:p>
        </p:txBody>
      </p:sp>
      <p:sp>
        <p:nvSpPr>
          <p:cNvPr id="47" name="TextBox 46"/>
          <p:cNvSpPr txBox="1"/>
          <p:nvPr/>
        </p:nvSpPr>
        <p:spPr>
          <a:xfrm>
            <a:off x="640994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85 designs • counts at each level</a:t>
            </a:r>
          </a:p>
        </p:txBody>
      </p:sp>
      <p:cxnSp>
        <p:nvCxnSpPr>
          <p:cNvPr id="48" name="Connector 47"/>
          <p:cNvCxnSpPr/>
          <p:nvPr/>
        </p:nvCxnSpPr>
        <p:spPr>
          <a:xfrm>
            <a:off x="678484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7278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50" name="Connector 49"/>
          <p:cNvCxnSpPr/>
          <p:nvPr/>
        </p:nvCxnSpPr>
        <p:spPr>
          <a:xfrm>
            <a:off x="678484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7278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52" name="Connector 51"/>
          <p:cNvCxnSpPr/>
          <p:nvPr/>
        </p:nvCxnSpPr>
        <p:spPr>
          <a:xfrm>
            <a:off x="678484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27278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54" name="Connector 53"/>
          <p:cNvCxnSpPr/>
          <p:nvPr/>
        </p:nvCxnSpPr>
        <p:spPr>
          <a:xfrm>
            <a:off x="678484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7278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56" name="Connector 55"/>
          <p:cNvCxnSpPr/>
          <p:nvPr/>
        </p:nvCxnSpPr>
        <p:spPr>
          <a:xfrm>
            <a:off x="678484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27278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58" name="Rectangle 57"/>
          <p:cNvSpPr/>
          <p:nvPr/>
        </p:nvSpPr>
        <p:spPr>
          <a:xfrm>
            <a:off x="6858000" y="4354007"/>
            <a:ext cx="201168" cy="43744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30568" y="410711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23</a:t>
            </a:r>
          </a:p>
        </p:txBody>
      </p:sp>
      <p:sp>
        <p:nvSpPr>
          <p:cNvPr id="60" name="TextBox 59"/>
          <p:cNvSpPr txBox="1"/>
          <p:nvPr/>
        </p:nvSpPr>
        <p:spPr>
          <a:xfrm>
            <a:off x="7095744"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1" name="TextBox 60"/>
          <p:cNvSpPr txBox="1"/>
          <p:nvPr/>
        </p:nvSpPr>
        <p:spPr>
          <a:xfrm>
            <a:off x="690372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62" name="Rectangle 61"/>
          <p:cNvSpPr/>
          <p:nvPr/>
        </p:nvSpPr>
        <p:spPr>
          <a:xfrm>
            <a:off x="7712049" y="4087733"/>
            <a:ext cx="201168" cy="70372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84617" y="384084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37</a:t>
            </a:r>
          </a:p>
        </p:txBody>
      </p:sp>
      <p:sp>
        <p:nvSpPr>
          <p:cNvPr id="64" name="TextBox 63"/>
          <p:cNvSpPr txBox="1"/>
          <p:nvPr/>
        </p:nvSpPr>
        <p:spPr>
          <a:xfrm>
            <a:off x="794979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5" name="TextBox 64"/>
          <p:cNvSpPr txBox="1"/>
          <p:nvPr/>
        </p:nvSpPr>
        <p:spPr>
          <a:xfrm>
            <a:off x="775776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66" name="Rectangle 65"/>
          <p:cNvSpPr/>
          <p:nvPr/>
        </p:nvSpPr>
        <p:spPr>
          <a:xfrm>
            <a:off x="856609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3866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68" name="Rectangle 67"/>
          <p:cNvSpPr/>
          <p:nvPr/>
        </p:nvSpPr>
        <p:spPr>
          <a:xfrm>
            <a:off x="8831275" y="3764401"/>
            <a:ext cx="201168" cy="102705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03843" y="3517513"/>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54</a:t>
            </a:r>
          </a:p>
        </p:txBody>
      </p:sp>
      <p:sp>
        <p:nvSpPr>
          <p:cNvPr id="70" name="TextBox 69"/>
          <p:cNvSpPr txBox="1"/>
          <p:nvPr/>
        </p:nvSpPr>
        <p:spPr>
          <a:xfrm>
            <a:off x="861181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71" name="Rectangle 70"/>
          <p:cNvSpPr/>
          <p:nvPr/>
        </p:nvSpPr>
        <p:spPr>
          <a:xfrm>
            <a:off x="9420148" y="4658319"/>
            <a:ext cx="201168" cy="133136"/>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92716" y="441143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7</a:t>
            </a:r>
          </a:p>
        </p:txBody>
      </p:sp>
      <p:sp>
        <p:nvSpPr>
          <p:cNvPr id="73" name="Rectangle 72"/>
          <p:cNvSpPr/>
          <p:nvPr/>
        </p:nvSpPr>
        <p:spPr>
          <a:xfrm>
            <a:off x="9685324" y="4220870"/>
            <a:ext cx="201168" cy="570585"/>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657892" y="3973982"/>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30</a:t>
            </a:r>
          </a:p>
        </p:txBody>
      </p:sp>
      <p:sp>
        <p:nvSpPr>
          <p:cNvPr id="75" name="TextBox 74"/>
          <p:cNvSpPr txBox="1"/>
          <p:nvPr/>
        </p:nvSpPr>
        <p:spPr>
          <a:xfrm>
            <a:off x="946586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76" name="TextBox 75"/>
          <p:cNvSpPr txBox="1"/>
          <p:nvPr/>
        </p:nvSpPr>
        <p:spPr>
          <a:xfrm>
            <a:off x="1024676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77" name="Rectangle 76"/>
          <p:cNvSpPr/>
          <p:nvPr/>
        </p:nvSpPr>
        <p:spPr>
          <a:xfrm>
            <a:off x="10539374" y="4772436"/>
            <a:ext cx="201168" cy="1901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511942" y="452554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a:t>
            </a:r>
          </a:p>
        </p:txBody>
      </p:sp>
      <p:sp>
        <p:nvSpPr>
          <p:cNvPr id="79" name="TextBox 78"/>
          <p:cNvSpPr txBox="1"/>
          <p:nvPr/>
        </p:nvSpPr>
        <p:spPr>
          <a:xfrm>
            <a:off x="1031991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80" name="TextBox 79"/>
          <p:cNvSpPr txBox="1"/>
          <p:nvPr/>
        </p:nvSpPr>
        <p:spPr>
          <a:xfrm>
            <a:off x="640994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81" name="Rectangle 80"/>
          <p:cNvSpPr/>
          <p:nvPr/>
        </p:nvSpPr>
        <p:spPr>
          <a:xfrm>
            <a:off x="817473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8504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83" name="Rectangle 82"/>
          <p:cNvSpPr/>
          <p:nvPr/>
        </p:nvSpPr>
        <p:spPr>
          <a:xfrm>
            <a:off x="908913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299448"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85" name="Rounded Rectangle 8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usually chooses the lowest frequency level and high power levels; the tool labels have a different distribution.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tests ask which variant is better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Two candidates for the same problem, with the same flow and power stimulus.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19</a:t>
            </a:r>
          </a:p>
        </p:txBody>
      </p:sp>
      <p:sp>
        <p:nvSpPr>
          <p:cNvPr id="6" name="Rounded Rectangle 5"/>
          <p:cNvSpPr/>
          <p:nvPr/>
        </p:nvSpPr>
        <p:spPr>
          <a:xfrm>
            <a:off x="81381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Three comparisons</a:t>
            </a:r>
          </a:p>
        </p:txBody>
      </p:sp>
      <p:sp>
        <p:nvSpPr>
          <p:cNvPr id="9" name="TextBox 8"/>
          <p:cNvSpPr txBox="1"/>
          <p:nvPr/>
        </p:nvSpPr>
        <p:spPr>
          <a:xfrm>
            <a:off x="104241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00407A"/>
                </a:solidFill>
                <a:latin typeface="Arial"/>
              </a:rPr>
              <a:t>Smaller cell area</a:t>
            </a:r>
          </a:p>
          <a:p>
            <a:pPr algn="l">
              <a:lnSpc>
                <a:spcPct val="109000"/>
              </a:lnSpc>
              <a:spcBef>
                <a:spcPts val="0"/>
              </a:spcBef>
              <a:spcAft>
                <a:spcPts val="0"/>
              </a:spcAft>
            </a:pPr>
            <a:r>
              <a:rPr sz="2300" b="0">
                <a:solidFill>
                  <a:srgbClr val="00407A"/>
                </a:solidFill>
                <a:latin typeface="Arial"/>
              </a:rPr>
              <a:t>Lower total power</a:t>
            </a:r>
          </a:p>
          <a:p>
            <a:pPr algn="l">
              <a:lnSpc>
                <a:spcPct val="109000"/>
              </a:lnSpc>
              <a:spcBef>
                <a:spcPts val="0"/>
              </a:spcBef>
              <a:spcAft>
                <a:spcPts val="0"/>
              </a:spcAft>
            </a:pPr>
            <a:r>
              <a:rPr sz="2300" b="0">
                <a:solidFill>
                  <a:srgbClr val="00407A"/>
                </a:solidFill>
                <a:latin typeface="Arial"/>
              </a:rPr>
              <a:t>Higher derived clock frequency</a:t>
            </a:r>
          </a:p>
        </p:txBody>
      </p:sp>
      <p:sp>
        <p:nvSpPr>
          <p:cNvPr id="10" name="Rounded Rectangle 9"/>
          <p:cNvSpPr/>
          <p:nvPr/>
        </p:nvSpPr>
        <p:spPr>
          <a:xfrm>
            <a:off x="620877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Eligibility and coverage</a:t>
            </a:r>
          </a:p>
        </p:txBody>
      </p:sp>
      <p:sp>
        <p:nvSpPr>
          <p:cNvPr id="13" name="TextBox 12"/>
          <p:cNvSpPr txBox="1"/>
          <p:nvPr/>
        </p:nvSpPr>
        <p:spPr>
          <a:xfrm>
            <a:off x="643737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Metric differs by at least 10%.</a:t>
            </a:r>
          </a:p>
          <a:p>
            <a:pPr algn="l">
              <a:lnSpc>
                <a:spcPct val="109000"/>
              </a:lnSpc>
              <a:spcBef>
                <a:spcPts val="0"/>
              </a:spcBef>
              <a:spcAft>
                <a:spcPts val="0"/>
              </a:spcAft>
            </a:pPr>
            <a:r>
              <a:rPr sz="1900" b="0">
                <a:solidFill>
                  <a:srgbClr val="00407A"/>
                </a:solidFill>
                <a:latin typeface="Arial"/>
              </a:rPr>
              <a:t>Area: 23 distinct pairs, 46 views.</a:t>
            </a:r>
          </a:p>
          <a:p>
            <a:pPr algn="l">
              <a:lnSpc>
                <a:spcPct val="109000"/>
              </a:lnSpc>
              <a:spcBef>
                <a:spcPts val="0"/>
              </a:spcBef>
              <a:spcAft>
                <a:spcPts val="0"/>
              </a:spcAft>
            </a:pPr>
            <a:r>
              <a:rPr sz="1900" b="0">
                <a:solidFill>
                  <a:srgbClr val="00407A"/>
                </a:solidFill>
                <a:latin typeface="Arial"/>
              </a:rPr>
              <a:t>Power: 22 pairs, 44 views.</a:t>
            </a:r>
          </a:p>
          <a:p>
            <a:pPr algn="l">
              <a:lnSpc>
                <a:spcPct val="109000"/>
              </a:lnSpc>
              <a:spcBef>
                <a:spcPts val="0"/>
              </a:spcBef>
              <a:spcAft>
                <a:spcPts val="0"/>
              </a:spcAft>
            </a:pPr>
            <a:r>
              <a:rPr sz="1900" b="0">
                <a:solidFill>
                  <a:srgbClr val="00407A"/>
                </a:solidFill>
                <a:latin typeface="Arial"/>
              </a:rPr>
              <a:t>Frequency: 6 pairs, 12 views.</a:t>
            </a:r>
          </a:p>
        </p:txBody>
      </p:sp>
      <p:sp>
        <p:nvSpPr>
          <p:cNvPr id="14" name="TextBox 13"/>
          <p:cNvSpPr txBox="1"/>
          <p:nvPr/>
        </p:nvSpPr>
        <p:spPr>
          <a:xfrm>
            <a:off x="1005840" y="4590288"/>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First request:  [design X = A]  [design Y = B]</a:t>
            </a:r>
          </a:p>
        </p:txBody>
      </p:sp>
      <p:sp>
        <p:nvSpPr>
          <p:cNvPr id="15" name="TextBox 14"/>
          <p:cNvSpPr txBox="1"/>
          <p:nvPr/>
        </p:nvSpPr>
        <p:spPr>
          <a:xfrm>
            <a:off x="1005840" y="5166360"/>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Swap request:  [design Y = A]  [design X = B]</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model tracking the better design should switch letters when the design order is swapped.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rankings improve, but the strongest model varies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Per-view accuracy: each distinct pair contributes its two presentation orders.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20</a:t>
            </a:r>
          </a:p>
        </p:txBody>
      </p:sp>
      <p:sp>
        <p:nvSpPr>
          <p:cNvPr id="6" name="Rounded Rectangle 5"/>
          <p:cNvSpPr/>
          <p:nvPr/>
        </p:nvSpPr>
        <p:spPr>
          <a:xfrm>
            <a:off x="81381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smaller area</a:t>
            </a:r>
          </a:p>
        </p:txBody>
      </p:sp>
      <p:sp>
        <p:nvSpPr>
          <p:cNvPr id="8" name="TextBox 7"/>
          <p:cNvSpPr txBox="1"/>
          <p:nvPr/>
        </p:nvSpPr>
        <p:spPr>
          <a:xfrm>
            <a:off x="101498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23 distinct pairs • 46 views</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22814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0802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28986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69747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28142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62656"/>
            <a:ext cx="590384"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47.8%</a:t>
            </a:r>
          </a:p>
          <a:p>
            <a:pPr algn="l">
              <a:lnSpc>
                <a:spcPct val="109000"/>
              </a:lnSpc>
              <a:spcBef>
                <a:spcPts val="0"/>
              </a:spcBef>
              <a:spcAft>
                <a:spcPts val="0"/>
              </a:spcAft>
            </a:pPr>
            <a:r>
              <a:rPr sz="1250" b="0">
                <a:solidFill>
                  <a:srgbClr val="00407A"/>
                </a:solidFill>
                <a:latin typeface="Arial"/>
              </a:rPr>
              <a:t>22 of 46</a:t>
            </a:r>
          </a:p>
        </p:txBody>
      </p:sp>
      <p:sp>
        <p:nvSpPr>
          <p:cNvPr id="19" name="TextBox 18"/>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65575"/>
            <a:ext cx="939247"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1752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76.1%</a:t>
            </a:r>
          </a:p>
          <a:p>
            <a:pPr algn="l">
              <a:lnSpc>
                <a:spcPct val="109000"/>
              </a:lnSpc>
              <a:spcBef>
                <a:spcPts val="0"/>
              </a:spcBef>
              <a:spcAft>
                <a:spcPts val="0"/>
              </a:spcAft>
            </a:pPr>
            <a:r>
              <a:rPr sz="1250" b="0">
                <a:solidFill>
                  <a:srgbClr val="00407A"/>
                </a:solidFill>
                <a:latin typeface="Arial"/>
              </a:rPr>
              <a:t>35 of 46</a:t>
            </a:r>
          </a:p>
        </p:txBody>
      </p:sp>
      <p:sp>
        <p:nvSpPr>
          <p:cNvPr id="22" name="TextBox 21"/>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68495"/>
            <a:ext cx="107342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87.0%</a:t>
            </a:r>
          </a:p>
          <a:p>
            <a:pPr algn="l">
              <a:lnSpc>
                <a:spcPct val="109000"/>
              </a:lnSpc>
              <a:spcBef>
                <a:spcPts val="0"/>
              </a:spcBef>
              <a:spcAft>
                <a:spcPts val="0"/>
              </a:spcAft>
            </a:pPr>
            <a:r>
              <a:rPr sz="1250" b="0">
                <a:solidFill>
                  <a:srgbClr val="00407A"/>
                </a:solidFill>
                <a:latin typeface="Arial"/>
              </a:rPr>
              <a:t>40 of 46</a:t>
            </a:r>
          </a:p>
        </p:txBody>
      </p:sp>
      <p:sp>
        <p:nvSpPr>
          <p:cNvPr id="25" name="TextBox 24"/>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71416"/>
            <a:ext cx="96608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78.3%</a:t>
            </a:r>
          </a:p>
          <a:p>
            <a:pPr algn="l">
              <a:lnSpc>
                <a:spcPct val="109000"/>
              </a:lnSpc>
              <a:spcBef>
                <a:spcPts val="0"/>
              </a:spcBef>
              <a:spcAft>
                <a:spcPts val="0"/>
              </a:spcAft>
            </a:pPr>
            <a:r>
              <a:rPr sz="1250" b="0">
                <a:solidFill>
                  <a:srgbClr val="00407A"/>
                </a:solidFill>
                <a:latin typeface="Arial"/>
              </a:rPr>
              <a:t>36 of 46</a:t>
            </a:r>
          </a:p>
        </p:txBody>
      </p:sp>
      <p:sp>
        <p:nvSpPr>
          <p:cNvPr id="28" name="TextBox 27"/>
          <p:cNvSpPr txBox="1"/>
          <p:nvPr/>
        </p:nvSpPr>
        <p:spPr>
          <a:xfrm>
            <a:off x="99669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30" name="Rounded Rectangle 29"/>
          <p:cNvSpPr/>
          <p:nvPr/>
        </p:nvSpPr>
        <p:spPr>
          <a:xfrm>
            <a:off x="4398264"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9431"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lower power</a:t>
            </a:r>
          </a:p>
        </p:txBody>
      </p:sp>
      <p:sp>
        <p:nvSpPr>
          <p:cNvPr id="32" name="TextBox 31"/>
          <p:cNvSpPr txBox="1"/>
          <p:nvPr/>
        </p:nvSpPr>
        <p:spPr>
          <a:xfrm>
            <a:off x="4599431"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22 distinct pairs • 44 views</a:t>
            </a:r>
          </a:p>
        </p:txBody>
      </p:sp>
      <p:cxnSp>
        <p:nvCxnSpPr>
          <p:cNvPr id="33" name="Connector 32"/>
          <p:cNvCxnSpPr/>
          <p:nvPr/>
        </p:nvCxnSpPr>
        <p:spPr>
          <a:xfrm>
            <a:off x="524865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4748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586587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4707"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6483096"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28192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5865875"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581144"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5248655" y="2962656"/>
            <a:ext cx="785552"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01968"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63.6%</a:t>
            </a:r>
          </a:p>
          <a:p>
            <a:pPr algn="l">
              <a:lnSpc>
                <a:spcPct val="109000"/>
              </a:lnSpc>
              <a:spcBef>
                <a:spcPts val="0"/>
              </a:spcBef>
              <a:spcAft>
                <a:spcPts val="0"/>
              </a:spcAft>
            </a:pPr>
            <a:r>
              <a:rPr sz="1250" b="0">
                <a:solidFill>
                  <a:srgbClr val="00407A"/>
                </a:solidFill>
                <a:latin typeface="Arial"/>
              </a:rPr>
              <a:t>28 of 44</a:t>
            </a:r>
          </a:p>
        </p:txBody>
      </p:sp>
      <p:sp>
        <p:nvSpPr>
          <p:cNvPr id="43" name="TextBox 42"/>
          <p:cNvSpPr txBox="1"/>
          <p:nvPr/>
        </p:nvSpPr>
        <p:spPr>
          <a:xfrm>
            <a:off x="4581144"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5248655" y="3465575"/>
            <a:ext cx="70138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01968"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56.8%</a:t>
            </a:r>
          </a:p>
          <a:p>
            <a:pPr algn="l">
              <a:lnSpc>
                <a:spcPct val="109000"/>
              </a:lnSpc>
              <a:spcBef>
                <a:spcPts val="0"/>
              </a:spcBef>
              <a:spcAft>
                <a:spcPts val="0"/>
              </a:spcAft>
            </a:pPr>
            <a:r>
              <a:rPr sz="1250" b="0">
                <a:solidFill>
                  <a:srgbClr val="00407A"/>
                </a:solidFill>
                <a:latin typeface="Arial"/>
              </a:rPr>
              <a:t>25 of 44</a:t>
            </a:r>
          </a:p>
        </p:txBody>
      </p:sp>
      <p:sp>
        <p:nvSpPr>
          <p:cNvPr id="46" name="TextBox 45"/>
          <p:cNvSpPr txBox="1"/>
          <p:nvPr/>
        </p:nvSpPr>
        <p:spPr>
          <a:xfrm>
            <a:off x="4581144"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5248655" y="3968495"/>
            <a:ext cx="8136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01968"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65.9%</a:t>
            </a:r>
          </a:p>
          <a:p>
            <a:pPr algn="l">
              <a:lnSpc>
                <a:spcPct val="109000"/>
              </a:lnSpc>
              <a:spcBef>
                <a:spcPts val="0"/>
              </a:spcBef>
              <a:spcAft>
                <a:spcPts val="0"/>
              </a:spcAft>
            </a:pPr>
            <a:r>
              <a:rPr sz="1250" b="0">
                <a:solidFill>
                  <a:srgbClr val="00407A"/>
                </a:solidFill>
                <a:latin typeface="Arial"/>
              </a:rPr>
              <a:t>29 of 44</a:t>
            </a:r>
          </a:p>
        </p:txBody>
      </p:sp>
      <p:sp>
        <p:nvSpPr>
          <p:cNvPr id="49" name="TextBox 48"/>
          <p:cNvSpPr txBox="1"/>
          <p:nvPr/>
        </p:nvSpPr>
        <p:spPr>
          <a:xfrm>
            <a:off x="4581144"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5248655" y="4471416"/>
            <a:ext cx="869719"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01968"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70.5%</a:t>
            </a:r>
          </a:p>
          <a:p>
            <a:pPr algn="l">
              <a:lnSpc>
                <a:spcPct val="109000"/>
              </a:lnSpc>
              <a:spcBef>
                <a:spcPts val="0"/>
              </a:spcBef>
              <a:spcAft>
                <a:spcPts val="0"/>
              </a:spcAft>
            </a:pPr>
            <a:r>
              <a:rPr sz="1250" b="0">
                <a:solidFill>
                  <a:srgbClr val="00407A"/>
                </a:solidFill>
                <a:latin typeface="Arial"/>
              </a:rPr>
              <a:t>31 of 44</a:t>
            </a:r>
          </a:p>
        </p:txBody>
      </p:sp>
      <p:sp>
        <p:nvSpPr>
          <p:cNvPr id="52" name="TextBox 51"/>
          <p:cNvSpPr txBox="1"/>
          <p:nvPr/>
        </p:nvSpPr>
        <p:spPr>
          <a:xfrm>
            <a:off x="4581144"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4581144"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54" name="Rounded Rectangle 53"/>
          <p:cNvSpPr/>
          <p:nvPr/>
        </p:nvSpPr>
        <p:spPr>
          <a:xfrm>
            <a:off x="799185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9302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higher frequency</a:t>
            </a:r>
          </a:p>
        </p:txBody>
      </p:sp>
      <p:sp>
        <p:nvSpPr>
          <p:cNvPr id="56" name="TextBox 55"/>
          <p:cNvSpPr txBox="1"/>
          <p:nvPr/>
        </p:nvSpPr>
        <p:spPr>
          <a:xfrm>
            <a:off x="819302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6 distinct pairs • 12 views</a:t>
            </a:r>
          </a:p>
        </p:txBody>
      </p:sp>
      <p:cxnSp>
        <p:nvCxnSpPr>
          <p:cNvPr id="57" name="Connector 56"/>
          <p:cNvCxnSpPr/>
          <p:nvPr/>
        </p:nvCxnSpPr>
        <p:spPr>
          <a:xfrm>
            <a:off x="88422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64108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9" name="Connector 58"/>
          <p:cNvCxnSpPr/>
          <p:nvPr/>
        </p:nvCxnSpPr>
        <p:spPr>
          <a:xfrm>
            <a:off x="94594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25830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61" name="Connector 60"/>
          <p:cNvCxnSpPr/>
          <p:nvPr/>
        </p:nvCxnSpPr>
        <p:spPr>
          <a:xfrm>
            <a:off x="1007668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87551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63" name="Connector 62"/>
          <p:cNvCxnSpPr/>
          <p:nvPr/>
        </p:nvCxnSpPr>
        <p:spPr>
          <a:xfrm>
            <a:off x="945946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817473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65" name="Rectangle 64"/>
          <p:cNvSpPr/>
          <p:nvPr/>
        </p:nvSpPr>
        <p:spPr>
          <a:xfrm>
            <a:off x="8842248" y="2962656"/>
            <a:ext cx="8229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9556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66.7%</a:t>
            </a:r>
          </a:p>
          <a:p>
            <a:pPr algn="l">
              <a:lnSpc>
                <a:spcPct val="109000"/>
              </a:lnSpc>
              <a:spcBef>
                <a:spcPts val="0"/>
              </a:spcBef>
              <a:spcAft>
                <a:spcPts val="0"/>
              </a:spcAft>
            </a:pPr>
            <a:r>
              <a:rPr sz="1250" b="0">
                <a:solidFill>
                  <a:srgbClr val="00407A"/>
                </a:solidFill>
                <a:latin typeface="Arial"/>
              </a:rPr>
              <a:t>8 of 12</a:t>
            </a:r>
          </a:p>
        </p:txBody>
      </p:sp>
      <p:sp>
        <p:nvSpPr>
          <p:cNvPr id="67" name="TextBox 66"/>
          <p:cNvSpPr txBox="1"/>
          <p:nvPr/>
        </p:nvSpPr>
        <p:spPr>
          <a:xfrm>
            <a:off x="817473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8" name="Rectangle 67"/>
          <p:cNvSpPr/>
          <p:nvPr/>
        </p:nvSpPr>
        <p:spPr>
          <a:xfrm>
            <a:off x="8842248" y="3465575"/>
            <a:ext cx="102870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19556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0" name="TextBox 69"/>
          <p:cNvSpPr txBox="1"/>
          <p:nvPr/>
        </p:nvSpPr>
        <p:spPr>
          <a:xfrm>
            <a:off x="817473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1" name="Rectangle 70"/>
          <p:cNvSpPr/>
          <p:nvPr/>
        </p:nvSpPr>
        <p:spPr>
          <a:xfrm>
            <a:off x="8842248" y="3968495"/>
            <a:ext cx="92583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19556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75.0%</a:t>
            </a:r>
          </a:p>
          <a:p>
            <a:pPr algn="l">
              <a:lnSpc>
                <a:spcPct val="109000"/>
              </a:lnSpc>
              <a:spcBef>
                <a:spcPts val="0"/>
              </a:spcBef>
              <a:spcAft>
                <a:spcPts val="0"/>
              </a:spcAft>
            </a:pPr>
            <a:r>
              <a:rPr sz="1250" b="0">
                <a:solidFill>
                  <a:srgbClr val="00407A"/>
                </a:solidFill>
                <a:latin typeface="Arial"/>
              </a:rPr>
              <a:t>9 of 12</a:t>
            </a:r>
          </a:p>
        </p:txBody>
      </p:sp>
      <p:sp>
        <p:nvSpPr>
          <p:cNvPr id="73" name="TextBox 72"/>
          <p:cNvSpPr txBox="1"/>
          <p:nvPr/>
        </p:nvSpPr>
        <p:spPr>
          <a:xfrm>
            <a:off x="817473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74" name="Rectangle 73"/>
          <p:cNvSpPr/>
          <p:nvPr/>
        </p:nvSpPr>
        <p:spPr>
          <a:xfrm>
            <a:off x="8842248" y="4471416"/>
            <a:ext cx="102870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9556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6" name="TextBox 75"/>
          <p:cNvSpPr txBox="1"/>
          <p:nvPr/>
        </p:nvSpPr>
        <p:spPr>
          <a:xfrm>
            <a:off x="817473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77" name="TextBox 76"/>
          <p:cNvSpPr txBox="1"/>
          <p:nvPr/>
        </p:nvSpPr>
        <p:spPr>
          <a:xfrm>
            <a:off x="817473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78" name="Rounded Rectangle 7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9B leads area ranking (40 of 46 views); 27B leads power ranking (31 of 44). Frequency has only six pairs.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Check the design ranking in both orders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stronger test counts a pair correct only when both presentation orders are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21</a:t>
            </a:r>
          </a:p>
        </p:txBody>
      </p:sp>
      <p:graphicFrame>
        <p:nvGraphicFramePr>
          <p:cNvPr id="6" name="Table 5"/>
          <p:cNvGraphicFramePr>
            <a:graphicFrameLocks noGrp="1"/>
          </p:cNvGraphicFramePr>
          <p:nvPr/>
        </p:nvGraphicFramePr>
        <p:xfrm>
          <a:off x="813816" y="1874519"/>
          <a:ext cx="10561320" cy="2240280"/>
        </p:xfrm>
        <a:graphic>
          <a:graphicData uri="http://schemas.openxmlformats.org/drawingml/2006/table">
            <a:tbl>
              <a:tblPr firstRow="1" bandRow="1">
                <a:tableStyleId>{5C22544A-7EE6-4342-B048-85BDC9FD1C3A}</a:tableStyleId>
              </a:tblPr>
              <a:tblGrid>
                <a:gridCol w="1371600"/>
                <a:gridCol w="3063240"/>
                <a:gridCol w="3063240"/>
                <a:gridCol w="306324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Area: both correct</a:t>
                      </a:r>
                    </a:p>
                    <a:p>
                      <a:pPr algn="ctr">
                        <a:lnSpc>
                          <a:spcPct val="103000"/>
                        </a:lnSpc>
                        <a:spcBef>
                          <a:spcPts val="0"/>
                        </a:spcBef>
                        <a:spcAft>
                          <a:spcPts val="0"/>
                        </a:spcAft>
                      </a:pPr>
                      <a:r>
                        <a:rPr sz="1600" b="1">
                          <a:solidFill>
                            <a:srgbClr val="FFFFFF"/>
                          </a:solidFill>
                          <a:latin typeface="Arial"/>
                        </a:rPr>
                        <a:t>23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Power: both correct</a:t>
                      </a:r>
                    </a:p>
                    <a:p>
                      <a:pPr algn="ctr">
                        <a:lnSpc>
                          <a:spcPct val="103000"/>
                        </a:lnSpc>
                        <a:spcBef>
                          <a:spcPts val="0"/>
                        </a:spcBef>
                        <a:spcAft>
                          <a:spcPts val="0"/>
                        </a:spcAft>
                      </a:pPr>
                      <a:r>
                        <a:rPr sz="1600" b="1">
                          <a:solidFill>
                            <a:srgbClr val="FFFFFF"/>
                          </a:solidFill>
                          <a:latin typeface="Arial"/>
                        </a:rPr>
                        <a:t>22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Frequency: both correct</a:t>
                      </a:r>
                    </a:p>
                    <a:p>
                      <a:pPr algn="ctr">
                        <a:lnSpc>
                          <a:spcPct val="103000"/>
                        </a:lnSpc>
                        <a:spcBef>
                          <a:spcPts val="0"/>
                        </a:spcBef>
                        <a:spcAft>
                          <a:spcPts val="0"/>
                        </a:spcAft>
                      </a:pPr>
                      <a:r>
                        <a:rPr sz="1600" b="1">
                          <a:solidFill>
                            <a:srgbClr val="FFFFFF"/>
                          </a:solidFill>
                          <a:latin typeface="Arial"/>
                        </a:rPr>
                        <a:t>6 pairs</a:t>
                      </a:r>
                    </a:p>
                  </a:txBody>
                  <a:tcPr marL="109728" marR="91440" marT="54864" marB="36576" anchor="ctr">
                    <a:solidFill>
                      <a:srgbClr val="00407A"/>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13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FFFFFF"/>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19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14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462272"/>
            <a:ext cx="10149840" cy="384048"/>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Same letter after swapping the power pair:</a:t>
            </a:r>
          </a:p>
        </p:txBody>
      </p:sp>
      <p:sp>
        <p:nvSpPr>
          <p:cNvPr id="8" name="TextBox 7"/>
          <p:cNvSpPr txBox="1"/>
          <p:nvPr/>
        </p:nvSpPr>
        <p:spPr>
          <a:xfrm>
            <a:off x="987552" y="5010912"/>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0.8B: 16 of 22 pairs   •   4B: 19 of 22   •   9B: 11 of 22   •   27B: 3 of 22</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Keeping the same letter after a swap guarantees at least one wrong view. Lower is better for that error count.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All four Condor evaluations completed</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Observed run times include different hardware and setup costs; they are not a controlled speed ranking.</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EXECUTION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22</a:t>
            </a:r>
          </a:p>
        </p:txBody>
      </p:sp>
      <p:graphicFrame>
        <p:nvGraphicFramePr>
          <p:cNvPr id="6" name="Table 5"/>
          <p:cNvGraphicFramePr>
            <a:graphicFrameLocks noGrp="1"/>
          </p:cNvGraphicFramePr>
          <p:nvPr/>
        </p:nvGraphicFramePr>
        <p:xfrm>
          <a:off x="813816" y="1901952"/>
          <a:ext cx="10561320" cy="2423156"/>
        </p:xfrm>
        <a:graphic>
          <a:graphicData uri="http://schemas.openxmlformats.org/drawingml/2006/table">
            <a:tbl>
              <a:tblPr firstRow="1" bandRow="1">
                <a:tableStyleId>{5C22544A-7EE6-4342-B048-85BDC9FD1C3A}</a:tableStyleId>
              </a:tblPr>
              <a:tblGrid>
                <a:gridCol w="1371600"/>
                <a:gridCol w="731520"/>
                <a:gridCol w="2880360"/>
                <a:gridCol w="2697480"/>
                <a:gridCol w="288036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GPU used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 time</a:t>
                      </a:r>
                    </a:p>
                    <a:p>
                      <a:pPr algn="ctr">
                        <a:lnSpc>
                          <a:spcPct val="103000"/>
                        </a:lnSpc>
                        <a:spcBef>
                          <a:spcPts val="0"/>
                        </a:spcBef>
                        <a:spcAft>
                          <a:spcPts val="0"/>
                        </a:spcAft>
                      </a:pPr>
                      <a:r>
                        <a:rPr sz="1600" b="1">
                          <a:solidFill>
                            <a:srgbClr val="FFFFFF"/>
                          </a:solidFill>
                          <a:latin typeface="Arial"/>
                        </a:rPr>
                        <a:t>including setup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Median model</a:t>
                      </a:r>
                    </a:p>
                    <a:p>
                      <a:pPr algn="ctr">
                        <a:lnSpc>
                          <a:spcPct val="103000"/>
                        </a:lnSpc>
                        <a:spcBef>
                          <a:spcPts val="0"/>
                        </a:spcBef>
                        <a:spcAft>
                          <a:spcPts val="0"/>
                        </a:spcAft>
                      </a:pPr>
                      <a:r>
                        <a:rPr sz="1600" b="1">
                          <a:solidFill>
                            <a:srgbClr val="FFFFFF"/>
                          </a:solidFill>
                          <a:latin typeface="Arial"/>
                        </a:rPr>
                        <a:t>time per request</a:t>
                      </a:r>
                    </a:p>
                  </a:txBody>
                  <a:tcPr marL="109728" marR="91440" marT="54864" marB="36576" anchor="ctr">
                    <a:solidFill>
                      <a:srgbClr val="00407A"/>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3080 Ti</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125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109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187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201 ms</a:t>
                      </a:r>
                    </a:p>
                  </a:txBody>
                  <a:tcPr marL="109728" marR="91440" marT="54864" marB="36576" anchor="ctr">
                    <a:solidFill>
                      <a:srgbClr val="FFFFFF"/>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204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244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400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668 ms</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645152"/>
            <a:ext cx="10149840" cy="82296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Every model: 348 dataset requests answered, 5 smoke requests passed,</a:t>
            </a:r>
          </a:p>
          <a:p>
            <a:pPr algn="l">
              <a:lnSpc>
                <a:spcPct val="109000"/>
              </a:lnSpc>
              <a:spcBef>
                <a:spcPts val="0"/>
              </a:spcBef>
              <a:spcAft>
                <a:spcPts val="0"/>
              </a:spcAft>
            </a:pPr>
            <a:r>
              <a:rPr sz="2300" b="1">
                <a:solidFill>
                  <a:srgbClr val="00407A"/>
                </a:solidFill>
                <a:latin typeface="Arial"/>
              </a:rPr>
              <a:t>725 test questions scored, zero HTTP errors and zero missing answers.</a:t>
            </a:r>
          </a:p>
        </p:txBody>
      </p:sp>
      <p:sp>
        <p:nvSpPr>
          <p:cNvPr id="8" name="Rounded Rectangle 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runs used the same dataset fingerprint and v1.0 checkpoints. Maximum reported input length: 7,706 tokens.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evidence supports—and what needs work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These are observations on dataset v1, not a guarantee for unseen design families.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INTERPRETATION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23</a:t>
            </a:r>
          </a:p>
        </p:txBody>
      </p:sp>
      <p:sp>
        <p:nvSpPr>
          <p:cNvPr id="6" name="Rounded Rectangle 5"/>
          <p:cNvSpPr/>
          <p:nvPr/>
        </p:nvSpPr>
        <p:spPr>
          <a:xfrm>
            <a:off x="81381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Promising in this test</a:t>
            </a:r>
          </a:p>
        </p:txBody>
      </p:sp>
      <p:sp>
        <p:nvSpPr>
          <p:cNvPr id="9" name="TextBox 8"/>
          <p:cNvSpPr txBox="1"/>
          <p:nvPr/>
        </p:nvSpPr>
        <p:spPr>
          <a:xfrm>
            <a:off x="104241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2000" b="0">
                <a:solidFill>
                  <a:srgbClr val="00407A"/>
                </a:solidFill>
                <a:latin typeface="Arial"/>
              </a:rPr>
              <a:t>27B: source-compilation screening.</a:t>
            </a:r>
          </a:p>
          <a:p>
            <a:pPr algn="l">
              <a:lnSpc>
                <a:spcPct val="109000"/>
              </a:lnSpc>
              <a:spcBef>
                <a:spcPts val="0"/>
              </a:spcBef>
              <a:spcAft>
                <a:spcPts val="0"/>
              </a:spcAft>
            </a:pPr>
            <a:r>
              <a:rPr sz="2000" b="0">
                <a:solidFill>
                  <a:srgbClr val="00407A"/>
                </a:solidFill>
                <a:latin typeface="Arial"/>
              </a:rPr>
              <a:t>27B: failure reasons when failure is known.</a:t>
            </a:r>
          </a:p>
          <a:p>
            <a:pPr algn="l">
              <a:lnSpc>
                <a:spcPct val="109000"/>
              </a:lnSpc>
              <a:spcBef>
                <a:spcPts val="0"/>
              </a:spcBef>
              <a:spcAft>
                <a:spcPts val="0"/>
              </a:spcAft>
            </a:pPr>
            <a:r>
              <a:rPr sz="2000" b="0">
                <a:solidFill>
                  <a:srgbClr val="00407A"/>
                </a:solidFill>
                <a:latin typeface="Arial"/>
              </a:rPr>
              <a:t>27B: coarse area levels.</a:t>
            </a:r>
          </a:p>
          <a:p>
            <a:pPr algn="l">
              <a:lnSpc>
                <a:spcPct val="109000"/>
              </a:lnSpc>
              <a:spcBef>
                <a:spcPts val="0"/>
              </a:spcBef>
              <a:spcAft>
                <a:spcPts val="0"/>
              </a:spcAft>
            </a:pPr>
            <a:r>
              <a:rPr sz="2000" b="0">
                <a:solidFill>
                  <a:srgbClr val="00407A"/>
                </a:solidFill>
                <a:latin typeface="Arial"/>
              </a:rPr>
              <a:t>9B: pairwise area ranking.</a:t>
            </a:r>
          </a:p>
          <a:p>
            <a:pPr algn="l">
              <a:lnSpc>
                <a:spcPct val="109000"/>
              </a:lnSpc>
              <a:spcBef>
                <a:spcPts val="0"/>
              </a:spcBef>
              <a:spcAft>
                <a:spcPts val="0"/>
              </a:spcAft>
            </a:pPr>
            <a:r>
              <a:rPr sz="2000" b="0">
                <a:solidFill>
                  <a:srgbClr val="00407A"/>
                </a:solidFill>
                <a:latin typeface="Arial"/>
              </a:rPr>
              <a:t>27B: pairwise power ranking.</a:t>
            </a:r>
          </a:p>
        </p:txBody>
      </p:sp>
      <p:sp>
        <p:nvSpPr>
          <p:cNvPr id="10" name="Rounded Rectangle 9"/>
          <p:cNvSpPr/>
          <p:nvPr/>
        </p:nvSpPr>
        <p:spPr>
          <a:xfrm>
            <a:off x="620877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Next experiments</a:t>
            </a:r>
          </a:p>
        </p:txBody>
      </p:sp>
      <p:sp>
        <p:nvSpPr>
          <p:cNvPr id="13" name="TextBox 12"/>
          <p:cNvSpPr txBox="1"/>
          <p:nvPr/>
        </p:nvSpPr>
        <p:spPr>
          <a:xfrm>
            <a:off x="643737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Choose binary thresholds on development data.</a:t>
            </a:r>
          </a:p>
          <a:p>
            <a:pPr algn="l">
              <a:lnSpc>
                <a:spcPct val="109000"/>
              </a:lnSpc>
              <a:spcBef>
                <a:spcPts val="0"/>
              </a:spcBef>
              <a:spcAft>
                <a:spcPts val="0"/>
              </a:spcAft>
            </a:pPr>
            <a:r>
              <a:rPr sz="1800" b="0">
                <a:solidFill>
                  <a:srgbClr val="00407A"/>
                </a:solidFill>
                <a:latin typeface="Arial"/>
              </a:rPr>
              <a:t>Expand synthesis failures and rare classes.</a:t>
            </a:r>
          </a:p>
          <a:p>
            <a:pPr algn="l">
              <a:lnSpc>
                <a:spcPct val="109000"/>
              </a:lnSpc>
              <a:spcBef>
                <a:spcPts val="0"/>
              </a:spcBef>
              <a:spcAft>
                <a:spcPts val="0"/>
              </a:spcAft>
            </a:pPr>
            <a:r>
              <a:rPr sz="1800" b="0">
                <a:solidFill>
                  <a:srgbClr val="00407A"/>
                </a:solidFill>
                <a:latin typeface="Arial"/>
              </a:rPr>
              <a:t>Add designs that miss the timing target.</a:t>
            </a:r>
          </a:p>
          <a:p>
            <a:pPr algn="l">
              <a:lnSpc>
                <a:spcPct val="109000"/>
              </a:lnSpc>
              <a:spcBef>
                <a:spcPts val="0"/>
              </a:spcBef>
              <a:spcAft>
                <a:spcPts val="0"/>
              </a:spcAft>
            </a:pPr>
            <a:r>
              <a:rPr sz="1800" b="0">
                <a:solidFill>
                  <a:srgbClr val="00407A"/>
                </a:solidFill>
                <a:latin typeface="Arial"/>
              </a:rPr>
              <a:t>Check power and timing across design groups.</a:t>
            </a:r>
          </a:p>
          <a:p>
            <a:pPr algn="l">
              <a:lnSpc>
                <a:spcPct val="109000"/>
              </a:lnSpc>
              <a:spcBef>
                <a:spcPts val="0"/>
              </a:spcBef>
              <a:spcAft>
                <a:spcPts val="0"/>
              </a:spcAft>
            </a:pPr>
            <a:r>
              <a:rPr sz="1800" b="0">
                <a:solidFill>
                  <a:srgbClr val="00407A"/>
                </a:solidFill>
                <a:latin typeface="Arial"/>
              </a:rPr>
              <a:t>Compare other models under the same protocol.</a:t>
            </a:r>
          </a:p>
        </p:txBody>
      </p:sp>
      <p:sp>
        <p:nvSpPr>
          <p:cNvPr id="14" name="Rounded Rectangle 1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 tool verification in the loop. Reliable synthesis-failure screening is not established by these scores.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TextBox 1"/>
          <p:cNvSpPr txBox="1"/>
          <p:nvPr/>
        </p:nvSpPr>
        <p:spPr>
          <a:xfrm>
            <a:off x="813816" y="1828800"/>
            <a:ext cx="10241280" cy="36576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THE DETAIL BEHIND THE NUMBERS</a:t>
            </a:r>
          </a:p>
        </p:txBody>
      </p:sp>
      <p:sp>
        <p:nvSpPr>
          <p:cNvPr id="3" name="TextBox 2"/>
          <p:cNvSpPr txBox="1"/>
          <p:nvPr/>
        </p:nvSpPr>
        <p:spPr>
          <a:xfrm>
            <a:off x="813816" y="2468880"/>
            <a:ext cx="9966960" cy="1508760"/>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Full results and</a:t>
            </a:r>
          </a:p>
          <a:p>
            <a:pPr algn="l">
              <a:lnSpc>
                <a:spcPct val="109000"/>
              </a:lnSpc>
              <a:spcBef>
                <a:spcPts val="0"/>
              </a:spcBef>
              <a:spcAft>
                <a:spcPts val="0"/>
              </a:spcAft>
            </a:pPr>
            <a:r>
              <a:rPr sz="4300" b="1">
                <a:solidFill>
                  <a:srgbClr val="FFFFFF"/>
                </a:solidFill>
                <a:latin typeface="Arial"/>
              </a:rPr>
              <a:t>coverage limits</a:t>
            </a:r>
          </a:p>
        </p:txBody>
      </p:sp>
      <p:sp>
        <p:nvSpPr>
          <p:cNvPr id="4" name="TextBox 3"/>
          <p:cNvSpPr txBox="1"/>
          <p:nvPr/>
        </p:nvSpPr>
        <p:spPr>
          <a:xfrm>
            <a:off x="813816" y="4617720"/>
            <a:ext cx="10241280" cy="68580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Exact counts, probability metrics, level errors and reproducible evidence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Every primary test score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 • each question has equal weight within its row • higher is better.</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graphicFrame>
        <p:nvGraphicFramePr>
          <p:cNvPr id="6" name="Table 5"/>
          <p:cNvGraphicFramePr>
            <a:graphicFrameLocks noGrp="1"/>
          </p:cNvGraphicFramePr>
          <p:nvPr/>
        </p:nvGraphicFramePr>
        <p:xfrm>
          <a:off x="813816" y="1865376"/>
          <a:ext cx="10561319" cy="4114798"/>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Compiles — pooled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99.2%</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Synthesizes — pooled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79.7%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82.9%</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Failure reason — known failure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93.8%</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Area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57.6%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Power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27.1%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Clock frequency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Timing margin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smaller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47.8%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78.3%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lower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higher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868680" y="6099048"/>
            <a:ext cx="10424160" cy="2286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Pooled yes/no scores conceal class imbalance. Use the successful/failing split on the next slide.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every class, count and weighting</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below is measured within the actual tool-outcome group.</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26</a:t>
            </a:r>
          </a:p>
        </p:txBody>
      </p:sp>
      <p:graphicFrame>
        <p:nvGraphicFramePr>
          <p:cNvPr id="6" name="Table 5"/>
          <p:cNvGraphicFramePr>
            <a:graphicFrameLocks noGrp="1"/>
          </p:cNvGraphicFramePr>
          <p:nvPr/>
        </p:nvGraphicFramePr>
        <p:xfrm>
          <a:off x="813816" y="1874519"/>
          <a:ext cx="10515600" cy="3657600"/>
        </p:xfrm>
        <a:graphic>
          <a:graphicData uri="http://schemas.openxmlformats.org/drawingml/2006/table">
            <a:tbl>
              <a:tblPr firstRow="1" bandRow="1">
                <a:tableStyleId>{5C22544A-7EE6-4342-B048-85BDC9FD1C3A}</a:tableStyleId>
              </a:tblPr>
              <a:tblGrid>
                <a:gridCol w="2926080"/>
                <a:gridCol w="1005840"/>
                <a:gridCol w="1645920"/>
                <a:gridCol w="1645920"/>
                <a:gridCol w="1645920"/>
                <a:gridCol w="1645920"/>
              </a:tblGrid>
              <a:tr h="566928">
                <a:tc>
                  <a:txBody>
                    <a:bodyPr/>
                    <a:lstStyle/>
                    <a:p>
                      <a:pPr algn="l">
                        <a:lnSpc>
                          <a:spcPct val="103000"/>
                        </a:lnSpc>
                        <a:spcBef>
                          <a:spcPts val="0"/>
                        </a:spcBef>
                        <a:spcAft>
                          <a:spcPts val="0"/>
                        </a:spcAft>
                      </a:pPr>
                      <a:r>
                        <a:rPr sz="1500" b="1">
                          <a:solidFill>
                            <a:srgbClr val="FFFFFF"/>
                          </a:solidFill>
                          <a:latin typeface="Arial"/>
                        </a:rPr>
                        <a:t>Actual tool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(3.5%)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(22.2%)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8 (88.9%)</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61.1%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94.4%</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115</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97 (98.0%)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(8.3%)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(16.7%)</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49.5%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53.2%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57.8%</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118</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641848"/>
            <a:ext cx="10149840" cy="64008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Group rows: number correct, then the percentage of that group. “Yes” rows count all 123 designs.</a:t>
            </a:r>
          </a:p>
          <a:p>
            <a:pPr algn="l">
              <a:lnSpc>
                <a:spcPct val="109000"/>
              </a:lnSpc>
              <a:spcBef>
                <a:spcPts val="0"/>
              </a:spcBef>
              <a:spcAft>
                <a:spcPts val="0"/>
              </a:spcAft>
            </a:pPr>
            <a:r>
              <a:rPr sz="1600" b="0">
                <a:solidFill>
                  <a:srgbClr val="00407A"/>
                </a:solidFill>
                <a:latin typeface="Arial"/>
              </a:rPr>
              <a:t>Balanced accuracy averages success recognition and failure detection with 50% weight each.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Most failing designs get the same answer as successes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dot is one held-out design. A yes probability of 0.5 or more counts as “yes”.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8" name="TextBox 7"/>
          <p:cNvSpPr txBox="1"/>
          <p:nvPr/>
        </p:nvSpPr>
        <p:spPr>
          <a:xfrm>
            <a:off x="101498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tool synthesizes: 99</a:t>
            </a:r>
            <a:r>
              <a:rPr sz="1250">
                <a:solidFill>
                  <a:srgbClr val="E97132"/>
                </a:solidFill>
                <a:latin typeface="Arial"/>
              </a:rPr>
              <a:t>      ●</a:t>
            </a:r>
            <a:r>
              <a:rPr sz="1250">
                <a:solidFill>
                  <a:srgbClr val="4A5A66"/>
                </a:solidFill>
                <a:latin typeface="Arial"/>
              </a:rPr>
              <a:t> tool fails: 24</a:t>
            </a:r>
          </a:p>
        </p:txBody>
      </p:sp>
      <p:cxnSp>
        <p:nvCxnSpPr>
          <p:cNvPr id="9" name="Connector 8"/>
          <p:cNvCxnSpPr/>
          <p:nvPr/>
        </p:nvCxnSpPr>
        <p:spPr>
          <a:xfrm>
            <a:off x="166420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8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13" name="Connector 12"/>
          <p:cNvCxnSpPr/>
          <p:nvPr/>
        </p:nvCxnSpPr>
        <p:spPr>
          <a:xfrm>
            <a:off x="468172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Oval 15"/>
          <p:cNvSpPr/>
          <p:nvPr/>
        </p:nvSpPr>
        <p:spPr>
          <a:xfrm>
            <a:off x="3483105"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84191"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17504"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94873"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455042"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69104"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520522"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601693"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445687"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527764"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572423"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673208"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666268"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54556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86002"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71216"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412193"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720583"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584493"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72001"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347316"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56612"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450214"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464698"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96018"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615574"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289983"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651482"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608030"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532592"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576044"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620100"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576949"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529273"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708212"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792702"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767355"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631567"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707608"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354256"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550697"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486122"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543757"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506038"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40585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49939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751664"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683770"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311408"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233254"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449007"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535006"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417624"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3647258"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3534101"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590528"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475259"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608935"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480389"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563069"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564578"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535308"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654198"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457757"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446894"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764337"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601090"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3410081"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62040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652086"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3507848"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699159"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724808"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738688"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538325"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467112"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3501511"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3493062"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3537420"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3345506"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3204889"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3521125"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3627946"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3612556"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3633075"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420340"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3318951"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66113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3468319"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586002"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3634886"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566992"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3549490"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353955"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3312011"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521125"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544662"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869649"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684675"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636696" y="31431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3442368"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722696" y="31249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577553" y="318525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3533799" y="31647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3535609" y="31693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3548283" y="31230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3614367" y="3138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3658422" y="309747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3652086" y="31689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3533799" y="31207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274292" y="30954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3478880" y="31286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212433" y="317030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3517504" y="31155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3527764" y="31013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3274896"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3663552"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3716057"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3579665"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409779"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465603"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671096"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793004"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140" name="TextBox 13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41" name="Oval 140"/>
          <p:cNvSpPr/>
          <p:nvPr/>
        </p:nvSpPr>
        <p:spPr>
          <a:xfrm>
            <a:off x="4288481"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175927"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246235"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2819854"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4019921"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4188299"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310509"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394569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4135794"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4171703"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4170797"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4019318"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3802962"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4249555"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030181"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4058546"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935431"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084496"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105921"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127949"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377188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3895600"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4150580"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3830723"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3989143"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4070012"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015093"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381835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4098377"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047984"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025353"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4060658"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3936034"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974357"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384822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3885943"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3950217"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3855768"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4111352"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4038932"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4111956"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4299947"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401237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095963"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187394"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261625"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302663"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3993971"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4002118"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174418"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3586907"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4199766"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229337"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039837"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4161745"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234467"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4262832"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4279126"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4270677"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270074"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4198860"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4221190"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420761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4101093"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3919740"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4210629"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4275204"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4312017"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4188299"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4113464"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4208818"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182264"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4282144"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330424"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4149976"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3891979"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4203085"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3650577"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3944182"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402957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392969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4067296"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4001213"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4024448"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3674717"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4312017"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4291196"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419161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4333140"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4363013"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4135794"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3751664"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435788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4236881"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4243218"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4239899"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4193731"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4344003"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4234467"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4309000" y="36460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411074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4094454" y="36278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4035612" y="3688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3939052" y="36676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4248348" y="367222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4115878" y="36259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3860898" y="3641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3812919" y="360039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4082384" y="36718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3971943" y="362368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3830119" y="35983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3643335" y="363160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4039837" y="367322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3702780" y="36184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3977374" y="36042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3761622"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3922757"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4301456"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3772786"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3941466"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3512978"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4003627"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3827102"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122 of 123</a:t>
            </a:r>
          </a:p>
          <a:p>
            <a:pPr algn="l">
              <a:lnSpc>
                <a:spcPct val="109000"/>
              </a:lnSpc>
              <a:spcBef>
                <a:spcPts val="0"/>
              </a:spcBef>
              <a:spcAft>
                <a:spcPts val="0"/>
              </a:spcAft>
            </a:pPr>
            <a:r>
              <a:rPr sz="1250" b="0">
                <a:solidFill>
                  <a:srgbClr val="00407A"/>
                </a:solidFill>
                <a:latin typeface="Arial"/>
              </a:rPr>
              <a:t>are “yes”</a:t>
            </a:r>
          </a:p>
        </p:txBody>
      </p:sp>
      <p:sp>
        <p:nvSpPr>
          <p:cNvPr id="265" name="TextBox 264"/>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66" name="Oval 265"/>
          <p:cNvSpPr/>
          <p:nvPr/>
        </p:nvSpPr>
        <p:spPr>
          <a:xfrm>
            <a:off x="4209723"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66"/>
          <p:cNvSpPr/>
          <p:nvPr/>
        </p:nvSpPr>
        <p:spPr>
          <a:xfrm>
            <a:off x="4221793"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4332536"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2901628"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4143338"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4352754"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4141527"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4193429"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4253176"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4214250"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4233260"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4218474"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4049191"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4234165"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4205499"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4133682"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4199766"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417864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4197352"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4244727"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407755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4194334"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3977978"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4143036"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4105015"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415812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4207309"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422209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415269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4182264"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4168082"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4277618"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4114973"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3978883"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4215155"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3955346"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4095661"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400392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4171099"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4214250"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4200067"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4273997"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4203990"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4260116"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4324087"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4263435"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4273393"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3387147"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416536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4297835"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3962287"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4213948"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4176531"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4073633"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4128854"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4318958"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4266151"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4261625"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216060"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4216362"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4205801"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4249253"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427520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4271884"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4101696"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4167478"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4273393"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4279428"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4277014"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4110145"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4260719"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4281842"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4260116"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4262832"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4253779"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3891677"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428003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3528367"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3934224"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4143338"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4270677"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4191920"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4182867"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4095359"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3544058"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4313224"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4246839"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4292403"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4353961"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4272790"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4286972"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3114665"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4292102"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435365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4342192"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4170194"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4328010"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430356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4228432"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4248046" y="4148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4213344"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4169892" y="413075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4098377" y="4191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3938750" y="41705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4261021" y="41751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4214250" y="41289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4000006" y="414400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4051605" y="410331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4196446" y="417478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3914006" y="412660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3244419" y="41013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2690704" y="413452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4164461" y="417614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4055528" y="41213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4120707" y="41071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4063675"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2952625"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4278523"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3815937"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4200671"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3707910"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4190713"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3764639"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119 of 123</a:t>
            </a:r>
          </a:p>
          <a:p>
            <a:pPr algn="l">
              <a:lnSpc>
                <a:spcPct val="109000"/>
              </a:lnSpc>
              <a:spcBef>
                <a:spcPts val="0"/>
              </a:spcBef>
              <a:spcAft>
                <a:spcPts val="0"/>
              </a:spcAft>
            </a:pPr>
            <a:r>
              <a:rPr sz="1250" b="0">
                <a:solidFill>
                  <a:srgbClr val="00407A"/>
                </a:solidFill>
                <a:latin typeface="Arial"/>
              </a:rPr>
              <a:t>are “yes”</a:t>
            </a:r>
          </a:p>
        </p:txBody>
      </p:sp>
      <p:sp>
        <p:nvSpPr>
          <p:cNvPr id="390" name="TextBox 389"/>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91" name="Oval 390"/>
          <p:cNvSpPr/>
          <p:nvPr/>
        </p:nvSpPr>
        <p:spPr>
          <a:xfrm>
            <a:off x="4487939"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val 391"/>
          <p:cNvSpPr/>
          <p:nvPr/>
        </p:nvSpPr>
        <p:spPr>
          <a:xfrm>
            <a:off x="4195541"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4273695"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304828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4414311"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3534402"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4269169"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4446900"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4091135"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4450521"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4334950"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423205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4402241"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4335252"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4191316"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4274600"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4302663"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4341589"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4439055"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4372368"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4189506"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4314431"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4182867"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4289386"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3956553"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437025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3999402"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4327105"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427158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4082384"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4269169"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443875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4351245"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4339477"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4048588"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3958062"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4333743"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4394999"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407695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422933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4479791"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4483412"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4084798"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447224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4070616"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4486128"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4481300"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421455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4500009"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449578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4323786"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441702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4445090"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4313526"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4309603"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4500914"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4468627"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4428795"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448673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4478584"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4468627"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4475265"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4484318"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4535917"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4483412"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4385343"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4536219"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4520226"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4477076"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4257098"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4475869"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4506647"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4490353"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4499405"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4064279"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3963192"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4514795"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4084496"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423718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447798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4461988"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4288481"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4291800"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4312621"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4095359"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4484318"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4490654"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4352150"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4534409"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4499707"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4516907"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4195541"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4516002"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4521735"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4511174"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4454746"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4439960"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4420346"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430779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4491861" y="4651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3707005"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3971038" y="46336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4064581" y="4694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4084798" y="46734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4464402" y="46780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4467420" y="463183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4365729" y="46469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4318656" y="460623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4245330" y="46777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280032" y="46295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3946294" y="46042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4260719" y="46374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4177436" y="467906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3442972" y="46242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3888056" y="46100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4055528"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2806275"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3875986"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3010259"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3879908"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271243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3134279"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3633075"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118 of 123</a:t>
            </a:r>
          </a:p>
          <a:p>
            <a:pPr algn="l">
              <a:lnSpc>
                <a:spcPct val="109000"/>
              </a:lnSpc>
              <a:spcBef>
                <a:spcPts val="0"/>
              </a:spcBef>
              <a:spcAft>
                <a:spcPts val="0"/>
              </a:spcAft>
            </a:pPr>
            <a:r>
              <a:rPr sz="1250" b="0">
                <a:solidFill>
                  <a:srgbClr val="00407A"/>
                </a:solidFill>
                <a:latin typeface="Arial"/>
              </a:rPr>
              <a:t>are “yes”</a:t>
            </a:r>
          </a:p>
        </p:txBody>
      </p:sp>
      <p:sp>
        <p:nvSpPr>
          <p:cNvPr id="515" name="TextBox 514"/>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516" name="Rounded Rectangle 515"/>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TextBox 516"/>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518" name="TextBox 517"/>
          <p:cNvSpPr txBox="1"/>
          <p:nvPr/>
        </p:nvSpPr>
        <p:spPr>
          <a:xfrm>
            <a:off x="640994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vlog accepts: 114</a:t>
            </a:r>
            <a:r>
              <a:rPr sz="1250">
                <a:solidFill>
                  <a:srgbClr val="E97132"/>
                </a:solidFill>
                <a:latin typeface="Arial"/>
              </a:rPr>
              <a:t>      ●</a:t>
            </a:r>
            <a:r>
              <a:rPr sz="1250">
                <a:solidFill>
                  <a:srgbClr val="4A5A66"/>
                </a:solidFill>
                <a:latin typeface="Arial"/>
              </a:rPr>
              <a:t> vlog rejects: 9</a:t>
            </a:r>
          </a:p>
        </p:txBody>
      </p:sp>
      <p:cxnSp>
        <p:nvCxnSpPr>
          <p:cNvPr id="519" name="Connector 518"/>
          <p:cNvCxnSpPr/>
          <p:nvPr/>
        </p:nvCxnSpPr>
        <p:spPr>
          <a:xfrm>
            <a:off x="705916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0" name="TextBox 519"/>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21" name="Connector 520"/>
          <p:cNvCxnSpPr/>
          <p:nvPr/>
        </p:nvCxnSpPr>
        <p:spPr>
          <a:xfrm>
            <a:off x="856792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22" name="TextBox 521"/>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523" name="Connector 522"/>
          <p:cNvCxnSpPr/>
          <p:nvPr/>
        </p:nvCxnSpPr>
        <p:spPr>
          <a:xfrm>
            <a:off x="1007668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4" name="TextBox 523"/>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525" name="TextBox 524"/>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6" name="Oval 525"/>
          <p:cNvSpPr/>
          <p:nvPr/>
        </p:nvSpPr>
        <p:spPr>
          <a:xfrm>
            <a:off x="8263697"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Oval 526"/>
          <p:cNvSpPr/>
          <p:nvPr/>
        </p:nvSpPr>
        <p:spPr>
          <a:xfrm>
            <a:off x="8330988"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Oval 527"/>
          <p:cNvSpPr/>
          <p:nvPr/>
        </p:nvSpPr>
        <p:spPr>
          <a:xfrm>
            <a:off x="8203649"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Oval 528"/>
          <p:cNvSpPr/>
          <p:nvPr/>
        </p:nvSpPr>
        <p:spPr>
          <a:xfrm>
            <a:off x="8415780"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Oval 529"/>
          <p:cNvSpPr/>
          <p:nvPr/>
        </p:nvSpPr>
        <p:spPr>
          <a:xfrm>
            <a:off x="8225375"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Oval 530"/>
          <p:cNvSpPr/>
          <p:nvPr/>
        </p:nvSpPr>
        <p:spPr>
          <a:xfrm>
            <a:off x="8198821"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Oval 531"/>
          <p:cNvSpPr/>
          <p:nvPr/>
        </p:nvSpPr>
        <p:spPr>
          <a:xfrm>
            <a:off x="8279087"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Oval 532"/>
          <p:cNvSpPr/>
          <p:nvPr/>
        </p:nvSpPr>
        <p:spPr>
          <a:xfrm>
            <a:off x="8264301"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Oval 533"/>
          <p:cNvSpPr/>
          <p:nvPr/>
        </p:nvSpPr>
        <p:spPr>
          <a:xfrm>
            <a:off x="8167740"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Oval 534"/>
          <p:cNvSpPr/>
          <p:nvPr/>
        </p:nvSpPr>
        <p:spPr>
          <a:xfrm>
            <a:off x="8254343"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Oval 535"/>
          <p:cNvSpPr/>
          <p:nvPr/>
        </p:nvSpPr>
        <p:spPr>
          <a:xfrm>
            <a:off x="8234428"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36"/>
          <p:cNvSpPr/>
          <p:nvPr/>
        </p:nvSpPr>
        <p:spPr>
          <a:xfrm>
            <a:off x="8388623"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537"/>
          <p:cNvSpPr/>
          <p:nvPr/>
        </p:nvSpPr>
        <p:spPr>
          <a:xfrm>
            <a:off x="8445050"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Oval 538"/>
          <p:cNvSpPr/>
          <p:nvPr/>
        </p:nvSpPr>
        <p:spPr>
          <a:xfrm>
            <a:off x="833762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Oval 539"/>
          <p:cNvSpPr/>
          <p:nvPr/>
        </p:nvSpPr>
        <p:spPr>
          <a:xfrm>
            <a:off x="8206063"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Oval 540"/>
          <p:cNvSpPr/>
          <p:nvPr/>
        </p:nvSpPr>
        <p:spPr>
          <a:xfrm>
            <a:off x="8200330"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Oval 541"/>
          <p:cNvSpPr/>
          <p:nvPr/>
        </p:nvSpPr>
        <p:spPr>
          <a:xfrm>
            <a:off x="8168947"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542"/>
          <p:cNvSpPr/>
          <p:nvPr/>
        </p:nvSpPr>
        <p:spPr>
          <a:xfrm>
            <a:off x="8232919"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Oval 543"/>
          <p:cNvSpPr/>
          <p:nvPr/>
        </p:nvSpPr>
        <p:spPr>
          <a:xfrm>
            <a:off x="8205761"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Oval 544"/>
          <p:cNvSpPr/>
          <p:nvPr/>
        </p:nvSpPr>
        <p:spPr>
          <a:xfrm>
            <a:off x="8269733"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Oval 545"/>
          <p:cNvSpPr/>
          <p:nvPr/>
        </p:nvSpPr>
        <p:spPr>
          <a:xfrm>
            <a:off x="8212400"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Oval 546"/>
          <p:cNvSpPr/>
          <p:nvPr/>
        </p:nvSpPr>
        <p:spPr>
          <a:xfrm>
            <a:off x="8470398"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547"/>
          <p:cNvSpPr/>
          <p:nvPr/>
        </p:nvSpPr>
        <p:spPr>
          <a:xfrm>
            <a:off x="8326160"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Oval 548"/>
          <p:cNvSpPr/>
          <p:nvPr/>
        </p:nvSpPr>
        <p:spPr>
          <a:xfrm>
            <a:off x="8370819"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Oval 549"/>
          <p:cNvSpPr/>
          <p:nvPr/>
        </p:nvSpPr>
        <p:spPr>
          <a:xfrm>
            <a:off x="8190975"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Oval 550"/>
          <p:cNvSpPr/>
          <p:nvPr/>
        </p:nvSpPr>
        <p:spPr>
          <a:xfrm>
            <a:off x="8232315"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Oval 551"/>
          <p:cNvSpPr/>
          <p:nvPr/>
        </p:nvSpPr>
        <p:spPr>
          <a:xfrm>
            <a:off x="8176189"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Oval 552"/>
          <p:cNvSpPr/>
          <p:nvPr/>
        </p:nvSpPr>
        <p:spPr>
          <a:xfrm>
            <a:off x="8201537"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Oval 553"/>
          <p:cNvSpPr/>
          <p:nvPr/>
        </p:nvSpPr>
        <p:spPr>
          <a:xfrm>
            <a:off x="8315901"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Oval 554"/>
          <p:cNvSpPr/>
          <p:nvPr/>
        </p:nvSpPr>
        <p:spPr>
          <a:xfrm>
            <a:off x="8244687"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Oval 555"/>
          <p:cNvSpPr/>
          <p:nvPr/>
        </p:nvSpPr>
        <p:spPr>
          <a:xfrm>
            <a:off x="8136660"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Oval 556"/>
          <p:cNvSpPr/>
          <p:nvPr/>
        </p:nvSpPr>
        <p:spPr>
          <a:xfrm>
            <a:off x="8311073"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Oval 557"/>
          <p:cNvSpPr/>
          <p:nvPr/>
        </p:nvSpPr>
        <p:spPr>
          <a:xfrm>
            <a:off x="8174681"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Oval 558"/>
          <p:cNvSpPr/>
          <p:nvPr/>
        </p:nvSpPr>
        <p:spPr>
          <a:xfrm>
            <a:off x="8258869"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Oval 559"/>
          <p:cNvSpPr/>
          <p:nvPr/>
        </p:nvSpPr>
        <p:spPr>
          <a:xfrm>
            <a:off x="8404314"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Oval 560"/>
          <p:cNvSpPr/>
          <p:nvPr/>
        </p:nvSpPr>
        <p:spPr>
          <a:xfrm>
            <a:off x="8410651"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Oval 561"/>
          <p:cNvSpPr/>
          <p:nvPr/>
        </p:nvSpPr>
        <p:spPr>
          <a:xfrm>
            <a:off x="8334911"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Oval 562"/>
          <p:cNvSpPr/>
          <p:nvPr/>
        </p:nvSpPr>
        <p:spPr>
          <a:xfrm>
            <a:off x="8211494"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Oval 563"/>
          <p:cNvSpPr/>
          <p:nvPr/>
        </p:nvSpPr>
        <p:spPr>
          <a:xfrm>
            <a:off x="8355732"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Oval 564"/>
          <p:cNvSpPr/>
          <p:nvPr/>
        </p:nvSpPr>
        <p:spPr>
          <a:xfrm>
            <a:off x="8287234"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Oval 565"/>
          <p:cNvSpPr/>
          <p:nvPr/>
        </p:nvSpPr>
        <p:spPr>
          <a:xfrm>
            <a:off x="8294476"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Oval 566"/>
          <p:cNvSpPr/>
          <p:nvPr/>
        </p:nvSpPr>
        <p:spPr>
          <a:xfrm>
            <a:off x="8197916"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Oval 567"/>
          <p:cNvSpPr/>
          <p:nvPr/>
        </p:nvSpPr>
        <p:spPr>
          <a:xfrm>
            <a:off x="8241066"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Oval 568"/>
          <p:cNvSpPr/>
          <p:nvPr/>
        </p:nvSpPr>
        <p:spPr>
          <a:xfrm>
            <a:off x="8265810"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Oval 569"/>
          <p:cNvSpPr/>
          <p:nvPr/>
        </p:nvSpPr>
        <p:spPr>
          <a:xfrm>
            <a:off x="824800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Oval 570"/>
          <p:cNvSpPr/>
          <p:nvPr/>
        </p:nvSpPr>
        <p:spPr>
          <a:xfrm>
            <a:off x="823804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Oval 571"/>
          <p:cNvSpPr/>
          <p:nvPr/>
        </p:nvSpPr>
        <p:spPr>
          <a:xfrm>
            <a:off x="8440222"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Oval 572"/>
          <p:cNvSpPr/>
          <p:nvPr/>
        </p:nvSpPr>
        <p:spPr>
          <a:xfrm>
            <a:off x="8310167"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Oval 573"/>
          <p:cNvSpPr/>
          <p:nvPr/>
        </p:nvSpPr>
        <p:spPr>
          <a:xfrm>
            <a:off x="8037082"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Oval 574"/>
          <p:cNvSpPr/>
          <p:nvPr/>
        </p:nvSpPr>
        <p:spPr>
          <a:xfrm>
            <a:off x="8084759"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Oval 575"/>
          <p:cNvSpPr/>
          <p:nvPr/>
        </p:nvSpPr>
        <p:spPr>
          <a:xfrm>
            <a:off x="7942332"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Oval 576"/>
          <p:cNvSpPr/>
          <p:nvPr/>
        </p:nvSpPr>
        <p:spPr>
          <a:xfrm>
            <a:off x="8278483"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Oval 577"/>
          <p:cNvSpPr/>
          <p:nvPr/>
        </p:nvSpPr>
        <p:spPr>
          <a:xfrm>
            <a:off x="8158688"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Oval 578"/>
          <p:cNvSpPr/>
          <p:nvPr/>
        </p:nvSpPr>
        <p:spPr>
          <a:xfrm>
            <a:off x="8254041"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Oval 579"/>
          <p:cNvSpPr/>
          <p:nvPr/>
        </p:nvSpPr>
        <p:spPr>
          <a:xfrm>
            <a:off x="8255550"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Oval 580"/>
          <p:cNvSpPr/>
          <p:nvPr/>
        </p:nvSpPr>
        <p:spPr>
          <a:xfrm>
            <a:off x="8424230" y="294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Oval 581"/>
          <p:cNvSpPr/>
          <p:nvPr/>
        </p:nvSpPr>
        <p:spPr>
          <a:xfrm>
            <a:off x="8335816"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Oval 582"/>
          <p:cNvSpPr/>
          <p:nvPr/>
        </p:nvSpPr>
        <p:spPr>
          <a:xfrm>
            <a:off x="8287234"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Oval 583"/>
          <p:cNvSpPr/>
          <p:nvPr/>
        </p:nvSpPr>
        <p:spPr>
          <a:xfrm>
            <a:off x="8323746"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Oval 584"/>
          <p:cNvSpPr/>
          <p:nvPr/>
        </p:nvSpPr>
        <p:spPr>
          <a:xfrm>
            <a:off x="8223866"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Oval 585"/>
          <p:cNvSpPr/>
          <p:nvPr/>
        </p:nvSpPr>
        <p:spPr>
          <a:xfrm>
            <a:off x="8198821"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Oval 586"/>
          <p:cNvSpPr/>
          <p:nvPr/>
        </p:nvSpPr>
        <p:spPr>
          <a:xfrm>
            <a:off x="8250420"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Oval 587"/>
          <p:cNvSpPr/>
          <p:nvPr/>
        </p:nvSpPr>
        <p:spPr>
          <a:xfrm>
            <a:off x="8227185"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Oval 588"/>
          <p:cNvSpPr/>
          <p:nvPr/>
        </p:nvSpPr>
        <p:spPr>
          <a:xfrm>
            <a:off x="8400391"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Oval 589"/>
          <p:cNvSpPr/>
          <p:nvPr/>
        </p:nvSpPr>
        <p:spPr>
          <a:xfrm>
            <a:off x="8290252"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Oval 590"/>
          <p:cNvSpPr/>
          <p:nvPr/>
        </p:nvSpPr>
        <p:spPr>
          <a:xfrm>
            <a:off x="8244989"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Oval 591"/>
          <p:cNvSpPr/>
          <p:nvPr/>
        </p:nvSpPr>
        <p:spPr>
          <a:xfrm>
            <a:off x="8499668"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Oval 592"/>
          <p:cNvSpPr/>
          <p:nvPr/>
        </p:nvSpPr>
        <p:spPr>
          <a:xfrm>
            <a:off x="8339437"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Oval 593"/>
          <p:cNvSpPr/>
          <p:nvPr/>
        </p:nvSpPr>
        <p:spPr>
          <a:xfrm>
            <a:off x="8068464"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Oval 594"/>
          <p:cNvSpPr/>
          <p:nvPr/>
        </p:nvSpPr>
        <p:spPr>
          <a:xfrm>
            <a:off x="822145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Oval 595"/>
          <p:cNvSpPr/>
          <p:nvPr/>
        </p:nvSpPr>
        <p:spPr>
          <a:xfrm>
            <a:off x="8291459"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Oval 596"/>
          <p:cNvSpPr/>
          <p:nvPr/>
        </p:nvSpPr>
        <p:spPr>
          <a:xfrm>
            <a:off x="8363577"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Oval 597"/>
          <p:cNvSpPr/>
          <p:nvPr/>
        </p:nvSpPr>
        <p:spPr>
          <a:xfrm>
            <a:off x="8622481"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Oval 598"/>
          <p:cNvSpPr/>
          <p:nvPr/>
        </p:nvSpPr>
        <p:spPr>
          <a:xfrm>
            <a:off x="8545534"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Oval 599"/>
          <p:cNvSpPr/>
          <p:nvPr/>
        </p:nvSpPr>
        <p:spPr>
          <a:xfrm>
            <a:off x="8469794"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Oval 600"/>
          <p:cNvSpPr/>
          <p:nvPr/>
        </p:nvSpPr>
        <p:spPr>
          <a:xfrm>
            <a:off x="8450784"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Oval 601"/>
          <p:cNvSpPr/>
          <p:nvPr/>
        </p:nvSpPr>
        <p:spPr>
          <a:xfrm>
            <a:off x="8246799"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Oval 602"/>
          <p:cNvSpPr/>
          <p:nvPr/>
        </p:nvSpPr>
        <p:spPr>
          <a:xfrm>
            <a:off x="8419703"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Oval 603"/>
          <p:cNvSpPr/>
          <p:nvPr/>
        </p:nvSpPr>
        <p:spPr>
          <a:xfrm>
            <a:off x="8218435"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Oval 604"/>
          <p:cNvSpPr/>
          <p:nvPr/>
        </p:nvSpPr>
        <p:spPr>
          <a:xfrm>
            <a:off x="8224771" y="2923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Oval 605"/>
          <p:cNvSpPr/>
          <p:nvPr/>
        </p:nvSpPr>
        <p:spPr>
          <a:xfrm>
            <a:off x="8187354" y="29840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Oval 606"/>
          <p:cNvSpPr/>
          <p:nvPr/>
        </p:nvSpPr>
        <p:spPr>
          <a:xfrm>
            <a:off x="8133341" y="2963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Oval 607"/>
          <p:cNvSpPr/>
          <p:nvPr/>
        </p:nvSpPr>
        <p:spPr>
          <a:xfrm>
            <a:off x="8226280" y="29681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Oval 608"/>
          <p:cNvSpPr/>
          <p:nvPr/>
        </p:nvSpPr>
        <p:spPr>
          <a:xfrm>
            <a:off x="8307753" y="29219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Oval 609"/>
          <p:cNvSpPr/>
          <p:nvPr/>
        </p:nvSpPr>
        <p:spPr>
          <a:xfrm>
            <a:off x="8212400" y="2936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Oval 610"/>
          <p:cNvSpPr/>
          <p:nvPr/>
        </p:nvSpPr>
        <p:spPr>
          <a:xfrm>
            <a:off x="8455008" y="2896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Oval 611"/>
          <p:cNvSpPr/>
          <p:nvPr/>
        </p:nvSpPr>
        <p:spPr>
          <a:xfrm>
            <a:off x="8264904" y="2967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Oval 612"/>
          <p:cNvSpPr/>
          <p:nvPr/>
        </p:nvSpPr>
        <p:spPr>
          <a:xfrm>
            <a:off x="8244989"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Oval 613"/>
          <p:cNvSpPr/>
          <p:nvPr/>
        </p:nvSpPr>
        <p:spPr>
          <a:xfrm>
            <a:off x="8250420" y="29195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Oval 614"/>
          <p:cNvSpPr/>
          <p:nvPr/>
        </p:nvSpPr>
        <p:spPr>
          <a:xfrm>
            <a:off x="8062127"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Oval 615"/>
          <p:cNvSpPr/>
          <p:nvPr/>
        </p:nvSpPr>
        <p:spPr>
          <a:xfrm>
            <a:off x="8014450" y="28942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Oval 616"/>
          <p:cNvSpPr/>
          <p:nvPr/>
        </p:nvSpPr>
        <p:spPr>
          <a:xfrm>
            <a:off x="8140281" y="292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Oval 617"/>
          <p:cNvSpPr/>
          <p:nvPr/>
        </p:nvSpPr>
        <p:spPr>
          <a:xfrm>
            <a:off x="8077818"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Oval 618"/>
          <p:cNvSpPr/>
          <p:nvPr/>
        </p:nvSpPr>
        <p:spPr>
          <a:xfrm>
            <a:off x="8105881" y="2969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Oval 619"/>
          <p:cNvSpPr/>
          <p:nvPr/>
        </p:nvSpPr>
        <p:spPr>
          <a:xfrm>
            <a:off x="8245592"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Oval 620"/>
          <p:cNvSpPr/>
          <p:nvPr/>
        </p:nvSpPr>
        <p:spPr>
          <a:xfrm>
            <a:off x="8242877" y="2914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Oval 621"/>
          <p:cNvSpPr/>
          <p:nvPr/>
        </p:nvSpPr>
        <p:spPr>
          <a:xfrm>
            <a:off x="8160498" y="29001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Oval 622"/>
          <p:cNvSpPr/>
          <p:nvPr/>
        </p:nvSpPr>
        <p:spPr>
          <a:xfrm>
            <a:off x="8297494"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Oval 623"/>
          <p:cNvSpPr/>
          <p:nvPr/>
        </p:nvSpPr>
        <p:spPr>
          <a:xfrm>
            <a:off x="8630930"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Oval 624"/>
          <p:cNvSpPr/>
          <p:nvPr/>
        </p:nvSpPr>
        <p:spPr>
          <a:xfrm>
            <a:off x="8401598"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Oval 625"/>
          <p:cNvSpPr/>
          <p:nvPr/>
        </p:nvSpPr>
        <p:spPr>
          <a:xfrm>
            <a:off x="8150842"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Oval 626"/>
          <p:cNvSpPr/>
          <p:nvPr/>
        </p:nvSpPr>
        <p:spPr>
          <a:xfrm>
            <a:off x="8268827"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Oval 627"/>
          <p:cNvSpPr/>
          <p:nvPr/>
        </p:nvSpPr>
        <p:spPr>
          <a:xfrm>
            <a:off x="838771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Oval 628"/>
          <p:cNvSpPr/>
          <p:nvPr/>
        </p:nvSpPr>
        <p:spPr>
          <a:xfrm>
            <a:off x="8132737"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Oval 629"/>
          <p:cNvSpPr/>
          <p:nvPr/>
        </p:nvSpPr>
        <p:spPr>
          <a:xfrm>
            <a:off x="8483675"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Oval 630"/>
          <p:cNvSpPr/>
          <p:nvPr/>
        </p:nvSpPr>
        <p:spPr>
          <a:xfrm>
            <a:off x="8321332"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Oval 631"/>
          <p:cNvSpPr/>
          <p:nvPr/>
        </p:nvSpPr>
        <p:spPr>
          <a:xfrm>
            <a:off x="8250420"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Oval 632"/>
          <p:cNvSpPr/>
          <p:nvPr/>
        </p:nvSpPr>
        <p:spPr>
          <a:xfrm>
            <a:off x="8162309"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Oval 633"/>
          <p:cNvSpPr/>
          <p:nvPr/>
        </p:nvSpPr>
        <p:spPr>
          <a:xfrm>
            <a:off x="8015959"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Oval 634"/>
          <p:cNvSpPr/>
          <p:nvPr/>
        </p:nvSpPr>
        <p:spPr>
          <a:xfrm>
            <a:off x="8042212"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Oval 635"/>
          <p:cNvSpPr/>
          <p:nvPr/>
        </p:nvSpPr>
        <p:spPr>
          <a:xfrm>
            <a:off x="8189768"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Oval 636"/>
          <p:cNvSpPr/>
          <p:nvPr/>
        </p:nvSpPr>
        <p:spPr>
          <a:xfrm>
            <a:off x="8225073"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Oval 637"/>
          <p:cNvSpPr/>
          <p:nvPr/>
        </p:nvSpPr>
        <p:spPr>
          <a:xfrm>
            <a:off x="8542818"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Oval 638"/>
          <p:cNvSpPr/>
          <p:nvPr/>
        </p:nvSpPr>
        <p:spPr>
          <a:xfrm>
            <a:off x="8257662"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Oval 639"/>
          <p:cNvSpPr/>
          <p:nvPr/>
        </p:nvSpPr>
        <p:spPr>
          <a:xfrm>
            <a:off x="8168344"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Oval 640"/>
          <p:cNvSpPr/>
          <p:nvPr/>
        </p:nvSpPr>
        <p:spPr>
          <a:xfrm>
            <a:off x="8170154"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Oval 641"/>
          <p:cNvSpPr/>
          <p:nvPr/>
        </p:nvSpPr>
        <p:spPr>
          <a:xfrm>
            <a:off x="8280596"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Oval 642"/>
          <p:cNvSpPr/>
          <p:nvPr/>
        </p:nvSpPr>
        <p:spPr>
          <a:xfrm>
            <a:off x="8422419"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Oval 643"/>
          <p:cNvSpPr/>
          <p:nvPr/>
        </p:nvSpPr>
        <p:spPr>
          <a:xfrm>
            <a:off x="8179810"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644"/>
          <p:cNvSpPr/>
          <p:nvPr/>
        </p:nvSpPr>
        <p:spPr>
          <a:xfrm>
            <a:off x="8168042"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Oval 645"/>
          <p:cNvSpPr/>
          <p:nvPr/>
        </p:nvSpPr>
        <p:spPr>
          <a:xfrm>
            <a:off x="7950781"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Oval 646"/>
          <p:cNvSpPr/>
          <p:nvPr/>
        </p:nvSpPr>
        <p:spPr>
          <a:xfrm>
            <a:off x="8381381"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Oval 647"/>
          <p:cNvSpPr/>
          <p:nvPr/>
        </p:nvSpPr>
        <p:spPr>
          <a:xfrm>
            <a:off x="8422721"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TextBox 648"/>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 of 123</a:t>
            </a:r>
          </a:p>
          <a:p>
            <a:pPr algn="l">
              <a:lnSpc>
                <a:spcPct val="109000"/>
              </a:lnSpc>
              <a:spcBef>
                <a:spcPts val="0"/>
              </a:spcBef>
              <a:spcAft>
                <a:spcPts val="0"/>
              </a:spcAft>
            </a:pPr>
            <a:r>
              <a:rPr sz="1250" b="0">
                <a:solidFill>
                  <a:srgbClr val="00407A"/>
                </a:solidFill>
                <a:latin typeface="Arial"/>
              </a:rPr>
              <a:t>are “yes”</a:t>
            </a:r>
          </a:p>
        </p:txBody>
      </p:sp>
      <p:sp>
        <p:nvSpPr>
          <p:cNvPr id="650" name="TextBox 649"/>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51" name="Oval 650"/>
          <p:cNvSpPr/>
          <p:nvPr/>
        </p:nvSpPr>
        <p:spPr>
          <a:xfrm>
            <a:off x="9796899"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Oval 651"/>
          <p:cNvSpPr/>
          <p:nvPr/>
        </p:nvSpPr>
        <p:spPr>
          <a:xfrm>
            <a:off x="9614641"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652"/>
          <p:cNvSpPr/>
          <p:nvPr/>
        </p:nvSpPr>
        <p:spPr>
          <a:xfrm>
            <a:off x="9847594"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Oval 653"/>
          <p:cNvSpPr/>
          <p:nvPr/>
        </p:nvSpPr>
        <p:spPr>
          <a:xfrm>
            <a:off x="9365092"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Oval 654"/>
          <p:cNvSpPr/>
          <p:nvPr/>
        </p:nvSpPr>
        <p:spPr>
          <a:xfrm>
            <a:off x="9739567"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Oval 655"/>
          <p:cNvSpPr/>
          <p:nvPr/>
        </p:nvSpPr>
        <p:spPr>
          <a:xfrm>
            <a:off x="9827075"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Oval 656"/>
          <p:cNvSpPr/>
          <p:nvPr/>
        </p:nvSpPr>
        <p:spPr>
          <a:xfrm>
            <a:off x="9765215"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Oval 657"/>
          <p:cNvSpPr/>
          <p:nvPr/>
        </p:nvSpPr>
        <p:spPr>
          <a:xfrm>
            <a:off x="981591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Oval 658"/>
          <p:cNvSpPr/>
          <p:nvPr/>
        </p:nvSpPr>
        <p:spPr>
          <a:xfrm>
            <a:off x="9735342"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Oval 659"/>
          <p:cNvSpPr/>
          <p:nvPr/>
        </p:nvSpPr>
        <p:spPr>
          <a:xfrm>
            <a:off x="9768535"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Oval 660"/>
          <p:cNvSpPr/>
          <p:nvPr/>
        </p:nvSpPr>
        <p:spPr>
          <a:xfrm>
            <a:off x="9707581"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Oval 661"/>
          <p:cNvSpPr/>
          <p:nvPr/>
        </p:nvSpPr>
        <p:spPr>
          <a:xfrm>
            <a:off x="9743791"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Oval 662"/>
          <p:cNvSpPr/>
          <p:nvPr/>
        </p:nvSpPr>
        <p:spPr>
          <a:xfrm>
            <a:off x="9630634"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Oval 663"/>
          <p:cNvSpPr/>
          <p:nvPr/>
        </p:nvSpPr>
        <p:spPr>
          <a:xfrm>
            <a:off x="9608606"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Oval 664"/>
          <p:cNvSpPr/>
          <p:nvPr/>
        </p:nvSpPr>
        <p:spPr>
          <a:xfrm>
            <a:off x="9629125"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Oval 665"/>
          <p:cNvSpPr/>
          <p:nvPr/>
        </p:nvSpPr>
        <p:spPr>
          <a:xfrm>
            <a:off x="9534979"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Oval 666"/>
          <p:cNvSpPr/>
          <p:nvPr/>
        </p:nvSpPr>
        <p:spPr>
          <a:xfrm>
            <a:off x="9251030"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Oval 667"/>
          <p:cNvSpPr/>
          <p:nvPr/>
        </p:nvSpPr>
        <p:spPr>
          <a:xfrm>
            <a:off x="9687967"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Oval 668"/>
          <p:cNvSpPr/>
          <p:nvPr/>
        </p:nvSpPr>
        <p:spPr>
          <a:xfrm>
            <a:off x="9584466"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Oval 669"/>
          <p:cNvSpPr/>
          <p:nvPr/>
        </p:nvSpPr>
        <p:spPr>
          <a:xfrm>
            <a:off x="9661714"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Oval 670"/>
          <p:cNvSpPr/>
          <p:nvPr/>
        </p:nvSpPr>
        <p:spPr>
          <a:xfrm>
            <a:off x="938893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Oval 671"/>
          <p:cNvSpPr/>
          <p:nvPr/>
        </p:nvSpPr>
        <p:spPr>
          <a:xfrm>
            <a:off x="9741377"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Oval 672"/>
          <p:cNvSpPr/>
          <p:nvPr/>
        </p:nvSpPr>
        <p:spPr>
          <a:xfrm>
            <a:off x="9766121"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Oval 673"/>
          <p:cNvSpPr/>
          <p:nvPr/>
        </p:nvSpPr>
        <p:spPr>
          <a:xfrm>
            <a:off x="9648437"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Oval 674"/>
          <p:cNvSpPr/>
          <p:nvPr/>
        </p:nvSpPr>
        <p:spPr>
          <a:xfrm>
            <a:off x="9707279"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Oval 675"/>
          <p:cNvSpPr/>
          <p:nvPr/>
        </p:nvSpPr>
        <p:spPr>
          <a:xfrm>
            <a:off x="9670767"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Oval 676"/>
          <p:cNvSpPr/>
          <p:nvPr/>
        </p:nvSpPr>
        <p:spPr>
          <a:xfrm>
            <a:off x="9727496"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Oval 677"/>
          <p:cNvSpPr/>
          <p:nvPr/>
        </p:nvSpPr>
        <p:spPr>
          <a:xfrm>
            <a:off x="955429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Oval 678"/>
          <p:cNvSpPr/>
          <p:nvPr/>
        </p:nvSpPr>
        <p:spPr>
          <a:xfrm>
            <a:off x="9699433"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Oval 679"/>
          <p:cNvSpPr/>
          <p:nvPr/>
        </p:nvSpPr>
        <p:spPr>
          <a:xfrm>
            <a:off x="9612831"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Oval 680"/>
          <p:cNvSpPr/>
          <p:nvPr/>
        </p:nvSpPr>
        <p:spPr>
          <a:xfrm>
            <a:off x="9757068"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Oval 681"/>
          <p:cNvSpPr/>
          <p:nvPr/>
        </p:nvSpPr>
        <p:spPr>
          <a:xfrm>
            <a:off x="9680423"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Oval 682"/>
          <p:cNvSpPr/>
          <p:nvPr/>
        </p:nvSpPr>
        <p:spPr>
          <a:xfrm>
            <a:off x="9122785"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Oval 683"/>
          <p:cNvSpPr/>
          <p:nvPr/>
        </p:nvSpPr>
        <p:spPr>
          <a:xfrm>
            <a:off x="9384706"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Oval 684"/>
          <p:cNvSpPr/>
          <p:nvPr/>
        </p:nvSpPr>
        <p:spPr>
          <a:xfrm>
            <a:off x="964783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Oval 685"/>
          <p:cNvSpPr/>
          <p:nvPr/>
        </p:nvSpPr>
        <p:spPr>
          <a:xfrm>
            <a:off x="9442944"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Oval 686"/>
          <p:cNvSpPr/>
          <p:nvPr/>
        </p:nvSpPr>
        <p:spPr>
          <a:xfrm>
            <a:off x="9573603"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Oval 687"/>
          <p:cNvSpPr/>
          <p:nvPr/>
        </p:nvSpPr>
        <p:spPr>
          <a:xfrm>
            <a:off x="9318924"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Oval 688"/>
          <p:cNvSpPr/>
          <p:nvPr/>
        </p:nvSpPr>
        <p:spPr>
          <a:xfrm>
            <a:off x="9546143"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Oval 689"/>
          <p:cNvSpPr/>
          <p:nvPr/>
        </p:nvSpPr>
        <p:spPr>
          <a:xfrm>
            <a:off x="9575413"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Oval 690"/>
          <p:cNvSpPr/>
          <p:nvPr/>
        </p:nvSpPr>
        <p:spPr>
          <a:xfrm>
            <a:off x="9617659"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Oval 691"/>
          <p:cNvSpPr/>
          <p:nvPr/>
        </p:nvSpPr>
        <p:spPr>
          <a:xfrm>
            <a:off x="9746809"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Oval 692"/>
          <p:cNvSpPr/>
          <p:nvPr/>
        </p:nvSpPr>
        <p:spPr>
          <a:xfrm>
            <a:off x="958476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Oval 693"/>
          <p:cNvSpPr/>
          <p:nvPr/>
        </p:nvSpPr>
        <p:spPr>
          <a:xfrm>
            <a:off x="9418502"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Oval 694"/>
          <p:cNvSpPr/>
          <p:nvPr/>
        </p:nvSpPr>
        <p:spPr>
          <a:xfrm>
            <a:off x="9818022"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Oval 695"/>
          <p:cNvSpPr/>
          <p:nvPr/>
        </p:nvSpPr>
        <p:spPr>
          <a:xfrm>
            <a:off x="9723272"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Oval 696"/>
          <p:cNvSpPr/>
          <p:nvPr/>
        </p:nvSpPr>
        <p:spPr>
          <a:xfrm>
            <a:off x="9690079"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Oval 697"/>
          <p:cNvSpPr/>
          <p:nvPr/>
        </p:nvSpPr>
        <p:spPr>
          <a:xfrm>
            <a:off x="9556705"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Oval 698"/>
          <p:cNvSpPr/>
          <p:nvPr/>
        </p:nvSpPr>
        <p:spPr>
          <a:xfrm>
            <a:off x="9731117"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Oval 699"/>
          <p:cNvSpPr/>
          <p:nvPr/>
        </p:nvSpPr>
        <p:spPr>
          <a:xfrm>
            <a:off x="9828885"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Oval 700"/>
          <p:cNvSpPr/>
          <p:nvPr/>
        </p:nvSpPr>
        <p:spPr>
          <a:xfrm>
            <a:off x="9418201"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Oval 701"/>
          <p:cNvSpPr/>
          <p:nvPr/>
        </p:nvSpPr>
        <p:spPr>
          <a:xfrm>
            <a:off x="9710598"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Oval 702"/>
          <p:cNvSpPr/>
          <p:nvPr/>
        </p:nvSpPr>
        <p:spPr>
          <a:xfrm>
            <a:off x="9730816"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Oval 703"/>
          <p:cNvSpPr/>
          <p:nvPr/>
        </p:nvSpPr>
        <p:spPr>
          <a:xfrm>
            <a:off x="9485491"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Oval 704"/>
          <p:cNvSpPr/>
          <p:nvPr/>
        </p:nvSpPr>
        <p:spPr>
          <a:xfrm>
            <a:off x="9684044"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Oval 705"/>
          <p:cNvSpPr/>
          <p:nvPr/>
        </p:nvSpPr>
        <p:spPr>
          <a:xfrm>
            <a:off x="9706977" y="344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Oval 706"/>
          <p:cNvSpPr/>
          <p:nvPr/>
        </p:nvSpPr>
        <p:spPr>
          <a:xfrm>
            <a:off x="9850309"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Oval 707"/>
          <p:cNvSpPr/>
          <p:nvPr/>
        </p:nvSpPr>
        <p:spPr>
          <a:xfrm>
            <a:off x="9756766"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Oval 708"/>
          <p:cNvSpPr/>
          <p:nvPr/>
        </p:nvSpPr>
        <p:spPr>
          <a:xfrm>
            <a:off x="9747110"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Oval 709"/>
          <p:cNvSpPr/>
          <p:nvPr/>
        </p:nvSpPr>
        <p:spPr>
          <a:xfrm>
            <a:off x="9605890"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Oval 710"/>
          <p:cNvSpPr/>
          <p:nvPr/>
        </p:nvSpPr>
        <p:spPr>
          <a:xfrm>
            <a:off x="9675595"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Oval 711"/>
          <p:cNvSpPr/>
          <p:nvPr/>
        </p:nvSpPr>
        <p:spPr>
          <a:xfrm>
            <a:off x="9566059"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Oval 712"/>
          <p:cNvSpPr/>
          <p:nvPr/>
        </p:nvSpPr>
        <p:spPr>
          <a:xfrm>
            <a:off x="9359661"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Oval 713"/>
          <p:cNvSpPr/>
          <p:nvPr/>
        </p:nvSpPr>
        <p:spPr>
          <a:xfrm>
            <a:off x="978332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Oval 714"/>
          <p:cNvSpPr/>
          <p:nvPr/>
        </p:nvSpPr>
        <p:spPr>
          <a:xfrm>
            <a:off x="9885614"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Oval 715"/>
          <p:cNvSpPr/>
          <p:nvPr/>
        </p:nvSpPr>
        <p:spPr>
          <a:xfrm>
            <a:off x="9686156"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Oval 716"/>
          <p:cNvSpPr/>
          <p:nvPr/>
        </p:nvSpPr>
        <p:spPr>
          <a:xfrm>
            <a:off x="9818927"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Oval 717"/>
          <p:cNvSpPr/>
          <p:nvPr/>
        </p:nvSpPr>
        <p:spPr>
          <a:xfrm>
            <a:off x="9739868"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Oval 718"/>
          <p:cNvSpPr/>
          <p:nvPr/>
        </p:nvSpPr>
        <p:spPr>
          <a:xfrm>
            <a:off x="9738058"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Oval 719"/>
          <p:cNvSpPr/>
          <p:nvPr/>
        </p:nvSpPr>
        <p:spPr>
          <a:xfrm>
            <a:off x="9708486"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Oval 720"/>
          <p:cNvSpPr/>
          <p:nvPr/>
        </p:nvSpPr>
        <p:spPr>
          <a:xfrm>
            <a:off x="9607399"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Oval 721"/>
          <p:cNvSpPr/>
          <p:nvPr/>
        </p:nvSpPr>
        <p:spPr>
          <a:xfrm>
            <a:off x="9640894"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Oval 722"/>
          <p:cNvSpPr/>
          <p:nvPr/>
        </p:nvSpPr>
        <p:spPr>
          <a:xfrm>
            <a:off x="9702753"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Oval 723"/>
          <p:cNvSpPr/>
          <p:nvPr/>
        </p:nvSpPr>
        <p:spPr>
          <a:xfrm>
            <a:off x="9693097"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Oval 724"/>
          <p:cNvSpPr/>
          <p:nvPr/>
        </p:nvSpPr>
        <p:spPr>
          <a:xfrm>
            <a:off x="9764310"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Oval 725"/>
          <p:cNvSpPr/>
          <p:nvPr/>
        </p:nvSpPr>
        <p:spPr>
          <a:xfrm>
            <a:off x="9575413"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Oval 726"/>
          <p:cNvSpPr/>
          <p:nvPr/>
        </p:nvSpPr>
        <p:spPr>
          <a:xfrm>
            <a:off x="9579336"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Oval 727"/>
          <p:cNvSpPr/>
          <p:nvPr/>
        </p:nvSpPr>
        <p:spPr>
          <a:xfrm>
            <a:off x="9774871"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Oval 728"/>
          <p:cNvSpPr/>
          <p:nvPr/>
        </p:nvSpPr>
        <p:spPr>
          <a:xfrm>
            <a:off x="9633652"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Oval 729"/>
          <p:cNvSpPr/>
          <p:nvPr/>
        </p:nvSpPr>
        <p:spPr>
          <a:xfrm>
            <a:off x="9690079" y="34266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Oval 730"/>
          <p:cNvSpPr/>
          <p:nvPr/>
        </p:nvSpPr>
        <p:spPr>
          <a:xfrm>
            <a:off x="9497863" y="34870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Oval 731"/>
          <p:cNvSpPr/>
          <p:nvPr/>
        </p:nvSpPr>
        <p:spPr>
          <a:xfrm>
            <a:off x="9439927" y="3466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Oval 732"/>
          <p:cNvSpPr/>
          <p:nvPr/>
        </p:nvSpPr>
        <p:spPr>
          <a:xfrm>
            <a:off x="9690984" y="3471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Oval 733"/>
          <p:cNvSpPr/>
          <p:nvPr/>
        </p:nvSpPr>
        <p:spPr>
          <a:xfrm>
            <a:off x="9623090" y="3424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Oval 734"/>
          <p:cNvSpPr/>
          <p:nvPr/>
        </p:nvSpPr>
        <p:spPr>
          <a:xfrm>
            <a:off x="9327675" y="3439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Oval 735"/>
          <p:cNvSpPr/>
          <p:nvPr/>
        </p:nvSpPr>
        <p:spPr>
          <a:xfrm>
            <a:off x="9621581" y="3399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Oval 736"/>
          <p:cNvSpPr/>
          <p:nvPr/>
        </p:nvSpPr>
        <p:spPr>
          <a:xfrm>
            <a:off x="9644816" y="3470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Oval 737"/>
          <p:cNvSpPr/>
          <p:nvPr/>
        </p:nvSpPr>
        <p:spPr>
          <a:xfrm>
            <a:off x="9378973"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Oval 738"/>
          <p:cNvSpPr/>
          <p:nvPr/>
        </p:nvSpPr>
        <p:spPr>
          <a:xfrm>
            <a:off x="9386215" y="34225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Oval 739"/>
          <p:cNvSpPr/>
          <p:nvPr/>
        </p:nvSpPr>
        <p:spPr>
          <a:xfrm>
            <a:off x="966050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Oval 740"/>
          <p:cNvSpPr/>
          <p:nvPr/>
        </p:nvSpPr>
        <p:spPr>
          <a:xfrm>
            <a:off x="9589898" y="33972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Oval 741"/>
          <p:cNvSpPr/>
          <p:nvPr/>
        </p:nvSpPr>
        <p:spPr>
          <a:xfrm>
            <a:off x="9101361" y="3430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Oval 742"/>
          <p:cNvSpPr/>
          <p:nvPr/>
        </p:nvSpPr>
        <p:spPr>
          <a:xfrm>
            <a:off x="966925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Oval 743"/>
          <p:cNvSpPr/>
          <p:nvPr/>
        </p:nvSpPr>
        <p:spPr>
          <a:xfrm>
            <a:off x="9621280" y="3472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Oval 744"/>
          <p:cNvSpPr/>
          <p:nvPr/>
        </p:nvSpPr>
        <p:spPr>
          <a:xfrm>
            <a:off x="9288749"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Oval 745"/>
          <p:cNvSpPr/>
          <p:nvPr/>
        </p:nvSpPr>
        <p:spPr>
          <a:xfrm>
            <a:off x="9151150" y="3417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Oval 746"/>
          <p:cNvSpPr/>
          <p:nvPr/>
        </p:nvSpPr>
        <p:spPr>
          <a:xfrm>
            <a:off x="9560929" y="34030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Oval 747"/>
          <p:cNvSpPr/>
          <p:nvPr/>
        </p:nvSpPr>
        <p:spPr>
          <a:xfrm>
            <a:off x="9422727"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Oval 748"/>
          <p:cNvSpPr/>
          <p:nvPr/>
        </p:nvSpPr>
        <p:spPr>
          <a:xfrm>
            <a:off x="9461955"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Oval 749"/>
          <p:cNvSpPr/>
          <p:nvPr/>
        </p:nvSpPr>
        <p:spPr>
          <a:xfrm>
            <a:off x="9370222"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Oval 750"/>
          <p:cNvSpPr/>
          <p:nvPr/>
        </p:nvSpPr>
        <p:spPr>
          <a:xfrm>
            <a:off x="9799313"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Oval 751"/>
          <p:cNvSpPr/>
          <p:nvPr/>
        </p:nvSpPr>
        <p:spPr>
          <a:xfrm>
            <a:off x="9917902"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Oval 752"/>
          <p:cNvSpPr/>
          <p:nvPr/>
        </p:nvSpPr>
        <p:spPr>
          <a:xfrm>
            <a:off x="958144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Oval 753"/>
          <p:cNvSpPr/>
          <p:nvPr/>
        </p:nvSpPr>
        <p:spPr>
          <a:xfrm>
            <a:off x="9912169"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Oval 754"/>
          <p:cNvSpPr/>
          <p:nvPr/>
        </p:nvSpPr>
        <p:spPr>
          <a:xfrm>
            <a:off x="9850309"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Oval 755"/>
          <p:cNvSpPr/>
          <p:nvPr/>
        </p:nvSpPr>
        <p:spPr>
          <a:xfrm>
            <a:off x="9599252"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Oval 756"/>
          <p:cNvSpPr/>
          <p:nvPr/>
        </p:nvSpPr>
        <p:spPr>
          <a:xfrm>
            <a:off x="9263402"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Oval 757"/>
          <p:cNvSpPr/>
          <p:nvPr/>
        </p:nvSpPr>
        <p:spPr>
          <a:xfrm>
            <a:off x="977185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Oval 758"/>
          <p:cNvSpPr/>
          <p:nvPr/>
        </p:nvSpPr>
        <p:spPr>
          <a:xfrm>
            <a:off x="9841860"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Oval 759"/>
          <p:cNvSpPr/>
          <p:nvPr/>
        </p:nvSpPr>
        <p:spPr>
          <a:xfrm>
            <a:off x="9807159"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Oval 760"/>
          <p:cNvSpPr/>
          <p:nvPr/>
        </p:nvSpPr>
        <p:spPr>
          <a:xfrm>
            <a:off x="9657490"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Oval 761"/>
          <p:cNvSpPr/>
          <p:nvPr/>
        </p:nvSpPr>
        <p:spPr>
          <a:xfrm>
            <a:off x="9718444"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Oval 762"/>
          <p:cNvSpPr/>
          <p:nvPr/>
        </p:nvSpPr>
        <p:spPr>
          <a:xfrm>
            <a:off x="9715728"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Oval 763"/>
          <p:cNvSpPr/>
          <p:nvPr/>
        </p:nvSpPr>
        <p:spPr>
          <a:xfrm>
            <a:off x="9651153"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Oval 764"/>
          <p:cNvSpPr/>
          <p:nvPr/>
        </p:nvSpPr>
        <p:spPr>
          <a:xfrm>
            <a:off x="970214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Oval 765"/>
          <p:cNvSpPr/>
          <p:nvPr/>
        </p:nvSpPr>
        <p:spPr>
          <a:xfrm>
            <a:off x="9362980"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Oval 766"/>
          <p:cNvSpPr/>
          <p:nvPr/>
        </p:nvSpPr>
        <p:spPr>
          <a:xfrm>
            <a:off x="9264005"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Oval 767"/>
          <p:cNvSpPr/>
          <p:nvPr/>
        </p:nvSpPr>
        <p:spPr>
          <a:xfrm>
            <a:off x="9687665"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Oval 768"/>
          <p:cNvSpPr/>
          <p:nvPr/>
        </p:nvSpPr>
        <p:spPr>
          <a:xfrm>
            <a:off x="8547948"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Oval 769"/>
          <p:cNvSpPr/>
          <p:nvPr/>
        </p:nvSpPr>
        <p:spPr>
          <a:xfrm>
            <a:off x="9210294"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Oval 770"/>
          <p:cNvSpPr/>
          <p:nvPr/>
        </p:nvSpPr>
        <p:spPr>
          <a:xfrm>
            <a:off x="9210595"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Oval 771"/>
          <p:cNvSpPr/>
          <p:nvPr/>
        </p:nvSpPr>
        <p:spPr>
          <a:xfrm>
            <a:off x="9722970"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Oval 772"/>
          <p:cNvSpPr/>
          <p:nvPr/>
        </p:nvSpPr>
        <p:spPr>
          <a:xfrm>
            <a:off x="9371127"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TextBox 77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775" name="TextBox 77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76" name="Oval 775"/>
          <p:cNvSpPr/>
          <p:nvPr/>
        </p:nvSpPr>
        <p:spPr>
          <a:xfrm>
            <a:off x="9752542"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Oval 776"/>
          <p:cNvSpPr/>
          <p:nvPr/>
        </p:nvSpPr>
        <p:spPr>
          <a:xfrm>
            <a:off x="9657188"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Oval 777"/>
          <p:cNvSpPr/>
          <p:nvPr/>
        </p:nvSpPr>
        <p:spPr>
          <a:xfrm>
            <a:off x="9604985"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Oval 778"/>
          <p:cNvSpPr/>
          <p:nvPr/>
        </p:nvSpPr>
        <p:spPr>
          <a:xfrm>
            <a:off x="9468291"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Oval 779"/>
          <p:cNvSpPr/>
          <p:nvPr/>
        </p:nvSpPr>
        <p:spPr>
          <a:xfrm>
            <a:off x="9681932"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Oval 780"/>
          <p:cNvSpPr/>
          <p:nvPr/>
        </p:nvSpPr>
        <p:spPr>
          <a:xfrm>
            <a:off x="9736247"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Oval 781"/>
          <p:cNvSpPr/>
          <p:nvPr/>
        </p:nvSpPr>
        <p:spPr>
          <a:xfrm>
            <a:off x="9570284"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Oval 782"/>
          <p:cNvSpPr/>
          <p:nvPr/>
        </p:nvSpPr>
        <p:spPr>
          <a:xfrm>
            <a:off x="9659300"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Oval 783"/>
          <p:cNvSpPr/>
          <p:nvPr/>
        </p:nvSpPr>
        <p:spPr>
          <a:xfrm>
            <a:off x="9629125"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Oval 784"/>
          <p:cNvSpPr/>
          <p:nvPr/>
        </p:nvSpPr>
        <p:spPr>
          <a:xfrm>
            <a:off x="9662922"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Oval 785"/>
          <p:cNvSpPr/>
          <p:nvPr/>
        </p:nvSpPr>
        <p:spPr>
          <a:xfrm>
            <a:off x="9602873"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Oval 786"/>
          <p:cNvSpPr/>
          <p:nvPr/>
        </p:nvSpPr>
        <p:spPr>
          <a:xfrm>
            <a:off x="9691286"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Oval 787"/>
          <p:cNvSpPr/>
          <p:nvPr/>
        </p:nvSpPr>
        <p:spPr>
          <a:xfrm>
            <a:off x="9581750"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Oval 788"/>
          <p:cNvSpPr/>
          <p:nvPr/>
        </p:nvSpPr>
        <p:spPr>
          <a:xfrm>
            <a:off x="9624901"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Oval 789"/>
          <p:cNvSpPr/>
          <p:nvPr/>
        </p:nvSpPr>
        <p:spPr>
          <a:xfrm>
            <a:off x="9544635"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Oval 790"/>
          <p:cNvSpPr/>
          <p:nvPr/>
        </p:nvSpPr>
        <p:spPr>
          <a:xfrm>
            <a:off x="9450790"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Oval 791"/>
          <p:cNvSpPr/>
          <p:nvPr/>
        </p:nvSpPr>
        <p:spPr>
          <a:xfrm>
            <a:off x="9575715"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Oval 792"/>
          <p:cNvSpPr/>
          <p:nvPr/>
        </p:nvSpPr>
        <p:spPr>
          <a:xfrm>
            <a:off x="942725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Oval 793"/>
          <p:cNvSpPr/>
          <p:nvPr/>
        </p:nvSpPr>
        <p:spPr>
          <a:xfrm>
            <a:off x="9569077"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Oval 794"/>
          <p:cNvSpPr/>
          <p:nvPr/>
        </p:nvSpPr>
        <p:spPr>
          <a:xfrm>
            <a:off x="9671672"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Oval 795"/>
          <p:cNvSpPr/>
          <p:nvPr/>
        </p:nvSpPr>
        <p:spPr>
          <a:xfrm>
            <a:off x="953105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Oval 796"/>
          <p:cNvSpPr/>
          <p:nvPr/>
        </p:nvSpPr>
        <p:spPr>
          <a:xfrm>
            <a:off x="9573905"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Oval 797"/>
          <p:cNvSpPr/>
          <p:nvPr/>
        </p:nvSpPr>
        <p:spPr>
          <a:xfrm>
            <a:off x="9651757"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Oval 798"/>
          <p:cNvSpPr/>
          <p:nvPr/>
        </p:nvSpPr>
        <p:spPr>
          <a:xfrm>
            <a:off x="9617960"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Oval 799"/>
          <p:cNvSpPr/>
          <p:nvPr/>
        </p:nvSpPr>
        <p:spPr>
          <a:xfrm>
            <a:off x="9499372"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Oval 800"/>
          <p:cNvSpPr/>
          <p:nvPr/>
        </p:nvSpPr>
        <p:spPr>
          <a:xfrm>
            <a:off x="951355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Oval 801"/>
          <p:cNvSpPr/>
          <p:nvPr/>
        </p:nvSpPr>
        <p:spPr>
          <a:xfrm>
            <a:off x="9619771"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Oval 802"/>
          <p:cNvSpPr/>
          <p:nvPr/>
        </p:nvSpPr>
        <p:spPr>
          <a:xfrm>
            <a:off x="943962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Oval 803"/>
          <p:cNvSpPr/>
          <p:nvPr/>
        </p:nvSpPr>
        <p:spPr>
          <a:xfrm>
            <a:off x="953377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Oval 804"/>
          <p:cNvSpPr/>
          <p:nvPr/>
        </p:nvSpPr>
        <p:spPr>
          <a:xfrm>
            <a:off x="9517779"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Oval 805"/>
          <p:cNvSpPr/>
          <p:nvPr/>
        </p:nvSpPr>
        <p:spPr>
          <a:xfrm>
            <a:off x="9572396"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Oval 806"/>
          <p:cNvSpPr/>
          <p:nvPr/>
        </p:nvSpPr>
        <p:spPr>
          <a:xfrm>
            <a:off x="9649644"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Oval 807"/>
          <p:cNvSpPr/>
          <p:nvPr/>
        </p:nvSpPr>
        <p:spPr>
          <a:xfrm>
            <a:off x="9328580"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Oval 808"/>
          <p:cNvSpPr/>
          <p:nvPr/>
        </p:nvSpPr>
        <p:spPr>
          <a:xfrm>
            <a:off x="9438418"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Oval 809"/>
          <p:cNvSpPr/>
          <p:nvPr/>
        </p:nvSpPr>
        <p:spPr>
          <a:xfrm>
            <a:off x="9637574"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Oval 810"/>
          <p:cNvSpPr/>
          <p:nvPr/>
        </p:nvSpPr>
        <p:spPr>
          <a:xfrm>
            <a:off x="9285732"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Oval 811"/>
          <p:cNvSpPr/>
          <p:nvPr/>
        </p:nvSpPr>
        <p:spPr>
          <a:xfrm>
            <a:off x="9451092"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Oval 812"/>
          <p:cNvSpPr/>
          <p:nvPr/>
        </p:nvSpPr>
        <p:spPr>
          <a:xfrm>
            <a:off x="944203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Oval 813"/>
          <p:cNvSpPr/>
          <p:nvPr/>
        </p:nvSpPr>
        <p:spPr>
          <a:xfrm>
            <a:off x="9573603"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Oval 814"/>
          <p:cNvSpPr/>
          <p:nvPr/>
        </p:nvSpPr>
        <p:spPr>
          <a:xfrm>
            <a:off x="9445962"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Oval 815"/>
          <p:cNvSpPr/>
          <p:nvPr/>
        </p:nvSpPr>
        <p:spPr>
          <a:xfrm>
            <a:off x="9576620"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Oval 816"/>
          <p:cNvSpPr/>
          <p:nvPr/>
        </p:nvSpPr>
        <p:spPr>
          <a:xfrm>
            <a:off x="9636971"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Oval 817"/>
          <p:cNvSpPr/>
          <p:nvPr/>
        </p:nvSpPr>
        <p:spPr>
          <a:xfrm>
            <a:off x="9598347"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Oval 818"/>
          <p:cNvSpPr/>
          <p:nvPr/>
        </p:nvSpPr>
        <p:spPr>
          <a:xfrm>
            <a:off x="9600761"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Oval 819"/>
          <p:cNvSpPr/>
          <p:nvPr/>
        </p:nvSpPr>
        <p:spPr>
          <a:xfrm>
            <a:off x="9720254"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Oval 820"/>
          <p:cNvSpPr/>
          <p:nvPr/>
        </p:nvSpPr>
        <p:spPr>
          <a:xfrm>
            <a:off x="9658697"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Oval 821"/>
          <p:cNvSpPr/>
          <p:nvPr/>
        </p:nvSpPr>
        <p:spPr>
          <a:xfrm>
            <a:off x="9672578"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Oval 822"/>
          <p:cNvSpPr/>
          <p:nvPr/>
        </p:nvSpPr>
        <p:spPr>
          <a:xfrm>
            <a:off x="9387422"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Oval 823"/>
          <p:cNvSpPr/>
          <p:nvPr/>
        </p:nvSpPr>
        <p:spPr>
          <a:xfrm>
            <a:off x="964300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Oval 824"/>
          <p:cNvSpPr/>
          <p:nvPr/>
        </p:nvSpPr>
        <p:spPr>
          <a:xfrm>
            <a:off x="9725384"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Oval 825"/>
          <p:cNvSpPr/>
          <p:nvPr/>
        </p:nvSpPr>
        <p:spPr>
          <a:xfrm>
            <a:off x="9070884"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Oval 826"/>
          <p:cNvSpPr/>
          <p:nvPr/>
        </p:nvSpPr>
        <p:spPr>
          <a:xfrm>
            <a:off x="9580543"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Oval 827"/>
          <p:cNvSpPr/>
          <p:nvPr/>
        </p:nvSpPr>
        <p:spPr>
          <a:xfrm>
            <a:off x="9600459"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Oval 828"/>
          <p:cNvSpPr/>
          <p:nvPr/>
        </p:nvSpPr>
        <p:spPr>
          <a:xfrm>
            <a:off x="9393457"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Oval 829"/>
          <p:cNvSpPr/>
          <p:nvPr/>
        </p:nvSpPr>
        <p:spPr>
          <a:xfrm>
            <a:off x="9495751"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Oval 830"/>
          <p:cNvSpPr/>
          <p:nvPr/>
        </p:nvSpPr>
        <p:spPr>
          <a:xfrm>
            <a:off x="9597743" y="39477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Oval 831"/>
          <p:cNvSpPr/>
          <p:nvPr/>
        </p:nvSpPr>
        <p:spPr>
          <a:xfrm>
            <a:off x="9773363"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Oval 832"/>
          <p:cNvSpPr/>
          <p:nvPr/>
        </p:nvSpPr>
        <p:spPr>
          <a:xfrm>
            <a:off x="9655378"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Oval 833"/>
          <p:cNvSpPr/>
          <p:nvPr/>
        </p:nvSpPr>
        <p:spPr>
          <a:xfrm>
            <a:off x="9603476"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Oval 834"/>
          <p:cNvSpPr/>
          <p:nvPr/>
        </p:nvSpPr>
        <p:spPr>
          <a:xfrm>
            <a:off x="9600459"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Oval 835"/>
          <p:cNvSpPr/>
          <p:nvPr/>
        </p:nvSpPr>
        <p:spPr>
          <a:xfrm>
            <a:off x="9607399"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Oval 836"/>
          <p:cNvSpPr/>
          <p:nvPr/>
        </p:nvSpPr>
        <p:spPr>
          <a:xfrm>
            <a:off x="9551877"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Oval 837"/>
          <p:cNvSpPr/>
          <p:nvPr/>
        </p:nvSpPr>
        <p:spPr>
          <a:xfrm>
            <a:off x="9502389"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Oval 838"/>
          <p:cNvSpPr/>
          <p:nvPr/>
        </p:nvSpPr>
        <p:spPr>
          <a:xfrm>
            <a:off x="967197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Oval 839"/>
          <p:cNvSpPr/>
          <p:nvPr/>
        </p:nvSpPr>
        <p:spPr>
          <a:xfrm>
            <a:off x="9770043"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Oval 840"/>
          <p:cNvSpPr/>
          <p:nvPr/>
        </p:nvSpPr>
        <p:spPr>
          <a:xfrm>
            <a:off x="9430874"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Oval 841"/>
          <p:cNvSpPr/>
          <p:nvPr/>
        </p:nvSpPr>
        <p:spPr>
          <a:xfrm>
            <a:off x="9393155"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Oval 842"/>
          <p:cNvSpPr/>
          <p:nvPr/>
        </p:nvSpPr>
        <p:spPr>
          <a:xfrm>
            <a:off x="9611322"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Oval 843"/>
          <p:cNvSpPr/>
          <p:nvPr/>
        </p:nvSpPr>
        <p:spPr>
          <a:xfrm>
            <a:off x="9564852"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Oval 844"/>
          <p:cNvSpPr/>
          <p:nvPr/>
        </p:nvSpPr>
        <p:spPr>
          <a:xfrm>
            <a:off x="9588389"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Oval 845"/>
          <p:cNvSpPr/>
          <p:nvPr/>
        </p:nvSpPr>
        <p:spPr>
          <a:xfrm>
            <a:off x="9381689"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Oval 846"/>
          <p:cNvSpPr/>
          <p:nvPr/>
        </p:nvSpPr>
        <p:spPr>
          <a:xfrm>
            <a:off x="9592915"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Oval 847"/>
          <p:cNvSpPr/>
          <p:nvPr/>
        </p:nvSpPr>
        <p:spPr>
          <a:xfrm>
            <a:off x="9624901"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Oval 848"/>
          <p:cNvSpPr/>
          <p:nvPr/>
        </p:nvSpPr>
        <p:spPr>
          <a:xfrm>
            <a:off x="9583259"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Oval 849"/>
          <p:cNvSpPr/>
          <p:nvPr/>
        </p:nvSpPr>
        <p:spPr>
          <a:xfrm>
            <a:off x="9650550"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Oval 850"/>
          <p:cNvSpPr/>
          <p:nvPr/>
        </p:nvSpPr>
        <p:spPr>
          <a:xfrm>
            <a:off x="9619771"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Oval 851"/>
          <p:cNvSpPr/>
          <p:nvPr/>
        </p:nvSpPr>
        <p:spPr>
          <a:xfrm>
            <a:off x="9404320"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Oval 852"/>
          <p:cNvSpPr/>
          <p:nvPr/>
        </p:nvSpPr>
        <p:spPr>
          <a:xfrm>
            <a:off x="967499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Oval 853"/>
          <p:cNvSpPr/>
          <p:nvPr/>
        </p:nvSpPr>
        <p:spPr>
          <a:xfrm>
            <a:off x="9443548"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Oval 854"/>
          <p:cNvSpPr/>
          <p:nvPr/>
        </p:nvSpPr>
        <p:spPr>
          <a:xfrm>
            <a:off x="9423934" y="3929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Oval 855"/>
          <p:cNvSpPr/>
          <p:nvPr/>
        </p:nvSpPr>
        <p:spPr>
          <a:xfrm>
            <a:off x="9451695" y="3989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Oval 856"/>
          <p:cNvSpPr/>
          <p:nvPr/>
        </p:nvSpPr>
        <p:spPr>
          <a:xfrm>
            <a:off x="9350306" y="3969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Oval 857"/>
          <p:cNvSpPr/>
          <p:nvPr/>
        </p:nvSpPr>
        <p:spPr>
          <a:xfrm>
            <a:off x="9655076" y="3973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Oval 858"/>
          <p:cNvSpPr/>
          <p:nvPr/>
        </p:nvSpPr>
        <p:spPr>
          <a:xfrm>
            <a:off x="9591708" y="3927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Oval 859"/>
          <p:cNvSpPr/>
          <p:nvPr/>
        </p:nvSpPr>
        <p:spPr>
          <a:xfrm>
            <a:off x="9447169" y="3942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Oval 860"/>
          <p:cNvSpPr/>
          <p:nvPr/>
        </p:nvSpPr>
        <p:spPr>
          <a:xfrm>
            <a:off x="9569077" y="3902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Oval 861"/>
          <p:cNvSpPr/>
          <p:nvPr/>
        </p:nvSpPr>
        <p:spPr>
          <a:xfrm>
            <a:off x="9642704" y="39736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Oval 862"/>
          <p:cNvSpPr/>
          <p:nvPr/>
        </p:nvSpPr>
        <p:spPr>
          <a:xfrm>
            <a:off x="9433892"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Oval 863"/>
          <p:cNvSpPr/>
          <p:nvPr/>
        </p:nvSpPr>
        <p:spPr>
          <a:xfrm>
            <a:off x="9433590" y="39254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Oval 864"/>
          <p:cNvSpPr/>
          <p:nvPr/>
        </p:nvSpPr>
        <p:spPr>
          <a:xfrm>
            <a:off x="9572094"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Oval 865"/>
          <p:cNvSpPr/>
          <p:nvPr/>
        </p:nvSpPr>
        <p:spPr>
          <a:xfrm>
            <a:off x="9157185" y="39001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Oval 866"/>
          <p:cNvSpPr/>
          <p:nvPr/>
        </p:nvSpPr>
        <p:spPr>
          <a:xfrm>
            <a:off x="8667442" y="3933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Oval 867"/>
          <p:cNvSpPr/>
          <p:nvPr/>
        </p:nvSpPr>
        <p:spPr>
          <a:xfrm>
            <a:off x="9667146"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Oval 868"/>
          <p:cNvSpPr/>
          <p:nvPr/>
        </p:nvSpPr>
        <p:spPr>
          <a:xfrm>
            <a:off x="9322847" y="3974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Oval 869"/>
          <p:cNvSpPr/>
          <p:nvPr/>
        </p:nvSpPr>
        <p:spPr>
          <a:xfrm>
            <a:off x="9458032"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Oval 870"/>
          <p:cNvSpPr/>
          <p:nvPr/>
        </p:nvSpPr>
        <p:spPr>
          <a:xfrm>
            <a:off x="9423632" y="3920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Oval 871"/>
          <p:cNvSpPr/>
          <p:nvPr/>
        </p:nvSpPr>
        <p:spPr>
          <a:xfrm>
            <a:off x="9546747" y="39059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Oval 872"/>
          <p:cNvSpPr/>
          <p:nvPr/>
        </p:nvSpPr>
        <p:spPr>
          <a:xfrm>
            <a:off x="9513554"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Oval 873"/>
          <p:cNvSpPr/>
          <p:nvPr/>
        </p:nvSpPr>
        <p:spPr>
          <a:xfrm>
            <a:off x="9440530"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Oval 874"/>
          <p:cNvSpPr/>
          <p:nvPr/>
        </p:nvSpPr>
        <p:spPr>
          <a:xfrm>
            <a:off x="9359962"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Oval 875"/>
          <p:cNvSpPr/>
          <p:nvPr/>
        </p:nvSpPr>
        <p:spPr>
          <a:xfrm>
            <a:off x="9753749"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Oval 876"/>
          <p:cNvSpPr/>
          <p:nvPr/>
        </p:nvSpPr>
        <p:spPr>
          <a:xfrm>
            <a:off x="9736851"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Oval 877"/>
          <p:cNvSpPr/>
          <p:nvPr/>
        </p:nvSpPr>
        <p:spPr>
          <a:xfrm>
            <a:off x="9534677"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Oval 878"/>
          <p:cNvSpPr/>
          <p:nvPr/>
        </p:nvSpPr>
        <p:spPr>
          <a:xfrm>
            <a:off x="9815910"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Oval 879"/>
          <p:cNvSpPr/>
          <p:nvPr/>
        </p:nvSpPr>
        <p:spPr>
          <a:xfrm>
            <a:off x="9732023"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Oval 880"/>
          <p:cNvSpPr/>
          <p:nvPr/>
        </p:nvSpPr>
        <p:spPr>
          <a:xfrm>
            <a:off x="9544333"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Oval 881"/>
          <p:cNvSpPr/>
          <p:nvPr/>
        </p:nvSpPr>
        <p:spPr>
          <a:xfrm>
            <a:off x="9355738"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Oval 882"/>
          <p:cNvSpPr/>
          <p:nvPr/>
        </p:nvSpPr>
        <p:spPr>
          <a:xfrm>
            <a:off x="9716633"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Oval 883"/>
          <p:cNvSpPr/>
          <p:nvPr/>
        </p:nvSpPr>
        <p:spPr>
          <a:xfrm>
            <a:off x="976068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Oval 884"/>
          <p:cNvSpPr/>
          <p:nvPr/>
        </p:nvSpPr>
        <p:spPr>
          <a:xfrm>
            <a:off x="9764914"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Oval 885"/>
          <p:cNvSpPr/>
          <p:nvPr/>
        </p:nvSpPr>
        <p:spPr>
          <a:xfrm>
            <a:off x="9464972"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Oval 886"/>
          <p:cNvSpPr/>
          <p:nvPr/>
        </p:nvSpPr>
        <p:spPr>
          <a:xfrm>
            <a:off x="9610417"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Oval 887"/>
          <p:cNvSpPr/>
          <p:nvPr/>
        </p:nvSpPr>
        <p:spPr>
          <a:xfrm>
            <a:off x="962097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Oval 888"/>
          <p:cNvSpPr/>
          <p:nvPr/>
        </p:nvSpPr>
        <p:spPr>
          <a:xfrm>
            <a:off x="9585371"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Oval 889"/>
          <p:cNvSpPr/>
          <p:nvPr/>
        </p:nvSpPr>
        <p:spPr>
          <a:xfrm>
            <a:off x="9576319"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Oval 890"/>
          <p:cNvSpPr/>
          <p:nvPr/>
        </p:nvSpPr>
        <p:spPr>
          <a:xfrm>
            <a:off x="9518081"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Oval 891"/>
          <p:cNvSpPr/>
          <p:nvPr/>
        </p:nvSpPr>
        <p:spPr>
          <a:xfrm>
            <a:off x="8163516"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Oval 892"/>
          <p:cNvSpPr/>
          <p:nvPr/>
        </p:nvSpPr>
        <p:spPr>
          <a:xfrm>
            <a:off x="9655981"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Oval 893"/>
          <p:cNvSpPr/>
          <p:nvPr/>
        </p:nvSpPr>
        <p:spPr>
          <a:xfrm>
            <a:off x="8034668"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Oval 894"/>
          <p:cNvSpPr/>
          <p:nvPr/>
        </p:nvSpPr>
        <p:spPr>
          <a:xfrm>
            <a:off x="9563947"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Oval 895"/>
          <p:cNvSpPr/>
          <p:nvPr/>
        </p:nvSpPr>
        <p:spPr>
          <a:xfrm>
            <a:off x="8989411"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Oval 896"/>
          <p:cNvSpPr/>
          <p:nvPr/>
        </p:nvSpPr>
        <p:spPr>
          <a:xfrm>
            <a:off x="9640894"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Oval 897"/>
          <p:cNvSpPr/>
          <p:nvPr/>
        </p:nvSpPr>
        <p:spPr>
          <a:xfrm>
            <a:off x="9103775"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TextBox 898"/>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121 of 123</a:t>
            </a:r>
          </a:p>
          <a:p>
            <a:pPr algn="l">
              <a:lnSpc>
                <a:spcPct val="109000"/>
              </a:lnSpc>
              <a:spcBef>
                <a:spcPts val="0"/>
              </a:spcBef>
              <a:spcAft>
                <a:spcPts val="0"/>
              </a:spcAft>
            </a:pPr>
            <a:r>
              <a:rPr sz="1250" b="0">
                <a:solidFill>
                  <a:srgbClr val="00407A"/>
                </a:solidFill>
                <a:latin typeface="Arial"/>
              </a:rPr>
              <a:t>are “yes”</a:t>
            </a:r>
          </a:p>
        </p:txBody>
      </p:sp>
      <p:sp>
        <p:nvSpPr>
          <p:cNvPr id="900" name="TextBox 899"/>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901" name="Oval 900"/>
          <p:cNvSpPr/>
          <p:nvPr/>
        </p:nvSpPr>
        <p:spPr>
          <a:xfrm>
            <a:off x="9932386"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Oval 901"/>
          <p:cNvSpPr/>
          <p:nvPr/>
        </p:nvSpPr>
        <p:spPr>
          <a:xfrm>
            <a:off x="9458937"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Oval 902"/>
          <p:cNvSpPr/>
          <p:nvPr/>
        </p:nvSpPr>
        <p:spPr>
          <a:xfrm>
            <a:off x="9027734"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954554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Oval 904"/>
          <p:cNvSpPr/>
          <p:nvPr/>
        </p:nvSpPr>
        <p:spPr>
          <a:xfrm>
            <a:off x="9908246"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Oval 905"/>
          <p:cNvSpPr/>
          <p:nvPr/>
        </p:nvSpPr>
        <p:spPr>
          <a:xfrm>
            <a:off x="8703954"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Oval 906"/>
          <p:cNvSpPr/>
          <p:nvPr/>
        </p:nvSpPr>
        <p:spPr>
          <a:xfrm>
            <a:off x="9881993"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Oval 907"/>
          <p:cNvSpPr/>
          <p:nvPr/>
        </p:nvSpPr>
        <p:spPr>
          <a:xfrm>
            <a:off x="9833713"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Oval 908"/>
          <p:cNvSpPr/>
          <p:nvPr/>
        </p:nvSpPr>
        <p:spPr>
          <a:xfrm>
            <a:off x="9467386"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Oval 909"/>
          <p:cNvSpPr/>
          <p:nvPr/>
        </p:nvSpPr>
        <p:spPr>
          <a:xfrm>
            <a:off x="9915488"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9557912"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Oval 911"/>
          <p:cNvSpPr/>
          <p:nvPr/>
        </p:nvSpPr>
        <p:spPr>
          <a:xfrm>
            <a:off x="970456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Oval 912"/>
          <p:cNvSpPr/>
          <p:nvPr/>
        </p:nvSpPr>
        <p:spPr>
          <a:xfrm>
            <a:off x="9746205"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Oval 913"/>
          <p:cNvSpPr/>
          <p:nvPr/>
        </p:nvSpPr>
        <p:spPr>
          <a:xfrm>
            <a:off x="9580241"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Oval 914"/>
          <p:cNvSpPr/>
          <p:nvPr/>
        </p:nvSpPr>
        <p:spPr>
          <a:xfrm>
            <a:off x="9549463"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Oval 915"/>
          <p:cNvSpPr/>
          <p:nvPr/>
        </p:nvSpPr>
        <p:spPr>
          <a:xfrm>
            <a:off x="9532866"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Oval 916"/>
          <p:cNvSpPr/>
          <p:nvPr/>
        </p:nvSpPr>
        <p:spPr>
          <a:xfrm>
            <a:off x="9770647"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9654472"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Oval 918"/>
          <p:cNvSpPr/>
          <p:nvPr/>
        </p:nvSpPr>
        <p:spPr>
          <a:xfrm>
            <a:off x="9857250"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Oval 919"/>
          <p:cNvSpPr/>
          <p:nvPr/>
        </p:nvSpPr>
        <p:spPr>
          <a:xfrm>
            <a:off x="9753749"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Oval 920"/>
          <p:cNvSpPr/>
          <p:nvPr/>
        </p:nvSpPr>
        <p:spPr>
          <a:xfrm>
            <a:off x="9430874"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Oval 921"/>
          <p:cNvSpPr/>
          <p:nvPr/>
        </p:nvSpPr>
        <p:spPr>
          <a:xfrm>
            <a:off x="9580543"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Oval 922"/>
          <p:cNvSpPr/>
          <p:nvPr/>
        </p:nvSpPr>
        <p:spPr>
          <a:xfrm>
            <a:off x="9830394"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Oval 923"/>
          <p:cNvSpPr/>
          <p:nvPr/>
        </p:nvSpPr>
        <p:spPr>
          <a:xfrm>
            <a:off x="9809573"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Oval 924"/>
          <p:cNvSpPr/>
          <p:nvPr/>
        </p:nvSpPr>
        <p:spPr>
          <a:xfrm>
            <a:off x="9517175"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Oval 925"/>
          <p:cNvSpPr/>
          <p:nvPr/>
        </p:nvSpPr>
        <p:spPr>
          <a:xfrm>
            <a:off x="974107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Oval 926"/>
          <p:cNvSpPr/>
          <p:nvPr/>
        </p:nvSpPr>
        <p:spPr>
          <a:xfrm>
            <a:off x="9861776"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Oval 927"/>
          <p:cNvSpPr/>
          <p:nvPr/>
        </p:nvSpPr>
        <p:spPr>
          <a:xfrm>
            <a:off x="9538600"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Oval 928"/>
          <p:cNvSpPr/>
          <p:nvPr/>
        </p:nvSpPr>
        <p:spPr>
          <a:xfrm>
            <a:off x="970456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Oval 929"/>
          <p:cNvSpPr/>
          <p:nvPr/>
        </p:nvSpPr>
        <p:spPr>
          <a:xfrm>
            <a:off x="9300216"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Oval 930"/>
          <p:cNvSpPr/>
          <p:nvPr/>
        </p:nvSpPr>
        <p:spPr>
          <a:xfrm>
            <a:off x="9643308"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Oval 931"/>
          <p:cNvSpPr/>
          <p:nvPr/>
        </p:nvSpPr>
        <p:spPr>
          <a:xfrm>
            <a:off x="986117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Oval 932"/>
          <p:cNvSpPr/>
          <p:nvPr/>
        </p:nvSpPr>
        <p:spPr>
          <a:xfrm>
            <a:off x="9795089"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Oval 933"/>
          <p:cNvSpPr/>
          <p:nvPr/>
        </p:nvSpPr>
        <p:spPr>
          <a:xfrm>
            <a:off x="9788450"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Oval 934"/>
          <p:cNvSpPr/>
          <p:nvPr/>
        </p:nvSpPr>
        <p:spPr>
          <a:xfrm>
            <a:off x="9665034"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Oval 935"/>
          <p:cNvSpPr/>
          <p:nvPr/>
        </p:nvSpPr>
        <p:spPr>
          <a:xfrm>
            <a:off x="9339745"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Oval 936"/>
          <p:cNvSpPr/>
          <p:nvPr/>
        </p:nvSpPr>
        <p:spPr>
          <a:xfrm>
            <a:off x="9819531"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Oval 937"/>
          <p:cNvSpPr/>
          <p:nvPr/>
        </p:nvSpPr>
        <p:spPr>
          <a:xfrm>
            <a:off x="9628824"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Oval 938"/>
          <p:cNvSpPr/>
          <p:nvPr/>
        </p:nvSpPr>
        <p:spPr>
          <a:xfrm>
            <a:off x="955278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Oval 939"/>
          <p:cNvSpPr/>
          <p:nvPr/>
        </p:nvSpPr>
        <p:spPr>
          <a:xfrm>
            <a:off x="918856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Oval 940"/>
          <p:cNvSpPr/>
          <p:nvPr/>
        </p:nvSpPr>
        <p:spPr>
          <a:xfrm>
            <a:off x="9840955"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Oval 941"/>
          <p:cNvSpPr/>
          <p:nvPr/>
        </p:nvSpPr>
        <p:spPr>
          <a:xfrm>
            <a:off x="9699433"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Oval 942"/>
          <p:cNvSpPr/>
          <p:nvPr/>
        </p:nvSpPr>
        <p:spPr>
          <a:xfrm>
            <a:off x="9428460"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Oval 943"/>
          <p:cNvSpPr/>
          <p:nvPr/>
        </p:nvSpPr>
        <p:spPr>
          <a:xfrm>
            <a:off x="992242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Oval 944"/>
          <p:cNvSpPr/>
          <p:nvPr/>
        </p:nvSpPr>
        <p:spPr>
          <a:xfrm>
            <a:off x="9940232"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Oval 945"/>
          <p:cNvSpPr/>
          <p:nvPr/>
        </p:nvSpPr>
        <p:spPr>
          <a:xfrm>
            <a:off x="9886821"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Oval 946"/>
          <p:cNvSpPr/>
          <p:nvPr/>
        </p:nvSpPr>
        <p:spPr>
          <a:xfrm>
            <a:off x="9939628"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Oval 947"/>
          <p:cNvSpPr/>
          <p:nvPr/>
        </p:nvSpPr>
        <p:spPr>
          <a:xfrm>
            <a:off x="967318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Oval 948"/>
          <p:cNvSpPr/>
          <p:nvPr/>
        </p:nvSpPr>
        <p:spPr>
          <a:xfrm>
            <a:off x="9902513"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Oval 949"/>
          <p:cNvSpPr/>
          <p:nvPr/>
        </p:nvSpPr>
        <p:spPr>
          <a:xfrm>
            <a:off x="992001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Oval 950"/>
          <p:cNvSpPr/>
          <p:nvPr/>
        </p:nvSpPr>
        <p:spPr>
          <a:xfrm>
            <a:off x="9681027"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Oval 951"/>
          <p:cNvSpPr/>
          <p:nvPr/>
        </p:nvSpPr>
        <p:spPr>
          <a:xfrm>
            <a:off x="975163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Oval 952"/>
          <p:cNvSpPr/>
          <p:nvPr/>
        </p:nvSpPr>
        <p:spPr>
          <a:xfrm>
            <a:off x="9967993"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Oval 953"/>
          <p:cNvSpPr/>
          <p:nvPr/>
        </p:nvSpPr>
        <p:spPr>
          <a:xfrm>
            <a:off x="9631238"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Oval 954"/>
          <p:cNvSpPr/>
          <p:nvPr/>
        </p:nvSpPr>
        <p:spPr>
          <a:xfrm>
            <a:off x="9815608"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Oval 955"/>
          <p:cNvSpPr/>
          <p:nvPr/>
        </p:nvSpPr>
        <p:spPr>
          <a:xfrm>
            <a:off x="9925144" y="44507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Oval 956"/>
          <p:cNvSpPr/>
          <p:nvPr/>
        </p:nvSpPr>
        <p:spPr>
          <a:xfrm>
            <a:off x="9983986"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Oval 957"/>
          <p:cNvSpPr/>
          <p:nvPr/>
        </p:nvSpPr>
        <p:spPr>
          <a:xfrm>
            <a:off x="9946870"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Oval 958"/>
          <p:cNvSpPr/>
          <p:nvPr/>
        </p:nvSpPr>
        <p:spPr>
          <a:xfrm>
            <a:off x="9890744"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Oval 959"/>
          <p:cNvSpPr/>
          <p:nvPr/>
        </p:nvSpPr>
        <p:spPr>
          <a:xfrm>
            <a:off x="994717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Oval 960"/>
          <p:cNvSpPr/>
          <p:nvPr/>
        </p:nvSpPr>
        <p:spPr>
          <a:xfrm>
            <a:off x="9925747"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Oval 961"/>
          <p:cNvSpPr/>
          <p:nvPr/>
        </p:nvSpPr>
        <p:spPr>
          <a:xfrm>
            <a:off x="9965881"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Oval 962"/>
          <p:cNvSpPr/>
          <p:nvPr/>
        </p:nvSpPr>
        <p:spPr>
          <a:xfrm>
            <a:off x="9955319"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Oval 963"/>
          <p:cNvSpPr/>
          <p:nvPr/>
        </p:nvSpPr>
        <p:spPr>
          <a:xfrm>
            <a:off x="9929972"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Oval 964"/>
          <p:cNvSpPr/>
          <p:nvPr/>
        </p:nvSpPr>
        <p:spPr>
          <a:xfrm>
            <a:off x="10012954"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Oval 965"/>
          <p:cNvSpPr/>
          <p:nvPr/>
        </p:nvSpPr>
        <p:spPr>
          <a:xfrm>
            <a:off x="9971916"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Oval 966"/>
          <p:cNvSpPr/>
          <p:nvPr/>
        </p:nvSpPr>
        <p:spPr>
          <a:xfrm>
            <a:off x="9624599"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Oval 967"/>
          <p:cNvSpPr/>
          <p:nvPr/>
        </p:nvSpPr>
        <p:spPr>
          <a:xfrm>
            <a:off x="9990624"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Oval 968"/>
          <p:cNvSpPr/>
          <p:nvPr/>
        </p:nvSpPr>
        <p:spPr>
          <a:xfrm>
            <a:off x="9968295"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Oval 969"/>
          <p:cNvSpPr/>
          <p:nvPr/>
        </p:nvSpPr>
        <p:spPr>
          <a:xfrm>
            <a:off x="9932084"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Oval 970"/>
          <p:cNvSpPr/>
          <p:nvPr/>
        </p:nvSpPr>
        <p:spPr>
          <a:xfrm>
            <a:off x="9444453"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Oval 971"/>
          <p:cNvSpPr/>
          <p:nvPr/>
        </p:nvSpPr>
        <p:spPr>
          <a:xfrm>
            <a:off x="9915186"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Oval 972"/>
          <p:cNvSpPr/>
          <p:nvPr/>
        </p:nvSpPr>
        <p:spPr>
          <a:xfrm>
            <a:off x="9977951"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Oval 973"/>
          <p:cNvSpPr/>
          <p:nvPr/>
        </p:nvSpPr>
        <p:spPr>
          <a:xfrm>
            <a:off x="9935102"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Oval 974"/>
          <p:cNvSpPr/>
          <p:nvPr/>
        </p:nvSpPr>
        <p:spPr>
          <a:xfrm>
            <a:off x="9932386"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Oval 975"/>
          <p:cNvSpPr/>
          <p:nvPr/>
        </p:nvSpPr>
        <p:spPr>
          <a:xfrm>
            <a:off x="9055796"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Oval 976"/>
          <p:cNvSpPr/>
          <p:nvPr/>
        </p:nvSpPr>
        <p:spPr>
          <a:xfrm>
            <a:off x="8946864"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Oval 977"/>
          <p:cNvSpPr/>
          <p:nvPr/>
        </p:nvSpPr>
        <p:spPr>
          <a:xfrm>
            <a:off x="9969803"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Oval 978"/>
          <p:cNvSpPr/>
          <p:nvPr/>
        </p:nvSpPr>
        <p:spPr>
          <a:xfrm>
            <a:off x="9454109"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Oval 979"/>
          <p:cNvSpPr/>
          <p:nvPr/>
        </p:nvSpPr>
        <p:spPr>
          <a:xfrm>
            <a:off x="9006611" y="44325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Oval 980"/>
          <p:cNvSpPr/>
          <p:nvPr/>
        </p:nvSpPr>
        <p:spPr>
          <a:xfrm>
            <a:off x="9330994" y="4492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Oval 981"/>
          <p:cNvSpPr/>
          <p:nvPr/>
        </p:nvSpPr>
        <p:spPr>
          <a:xfrm>
            <a:off x="9335219" y="4472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Oval 982"/>
          <p:cNvSpPr/>
          <p:nvPr/>
        </p:nvSpPr>
        <p:spPr>
          <a:xfrm>
            <a:off x="9863888" y="44768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Oval 983"/>
          <p:cNvSpPr/>
          <p:nvPr/>
        </p:nvSpPr>
        <p:spPr>
          <a:xfrm>
            <a:off x="9821945" y="4430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Oval 984"/>
          <p:cNvSpPr/>
          <p:nvPr/>
        </p:nvSpPr>
        <p:spPr>
          <a:xfrm>
            <a:off x="9558515" y="4445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Oval 985"/>
          <p:cNvSpPr/>
          <p:nvPr/>
        </p:nvSpPr>
        <p:spPr>
          <a:xfrm>
            <a:off x="9353324" y="4405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Oval 986"/>
          <p:cNvSpPr/>
          <p:nvPr/>
        </p:nvSpPr>
        <p:spPr>
          <a:xfrm>
            <a:off x="9598950" y="4476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Oval 987"/>
          <p:cNvSpPr/>
          <p:nvPr/>
        </p:nvSpPr>
        <p:spPr>
          <a:xfrm>
            <a:off x="963395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Oval 988"/>
          <p:cNvSpPr/>
          <p:nvPr/>
        </p:nvSpPr>
        <p:spPr>
          <a:xfrm>
            <a:off x="9749524" y="44283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Oval 989"/>
          <p:cNvSpPr/>
          <p:nvPr/>
        </p:nvSpPr>
        <p:spPr>
          <a:xfrm>
            <a:off x="989708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Oval 990"/>
          <p:cNvSpPr/>
          <p:nvPr/>
        </p:nvSpPr>
        <p:spPr>
          <a:xfrm>
            <a:off x="9571491" y="44030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Oval 991"/>
          <p:cNvSpPr/>
          <p:nvPr/>
        </p:nvSpPr>
        <p:spPr>
          <a:xfrm>
            <a:off x="9861474" y="4436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Oval 992"/>
          <p:cNvSpPr/>
          <p:nvPr/>
        </p:nvSpPr>
        <p:spPr>
          <a:xfrm>
            <a:off x="9877165"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Oval 993"/>
          <p:cNvSpPr/>
          <p:nvPr/>
        </p:nvSpPr>
        <p:spPr>
          <a:xfrm>
            <a:off x="9701244" y="4477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Oval 994"/>
          <p:cNvSpPr/>
          <p:nvPr/>
        </p:nvSpPr>
        <p:spPr>
          <a:xfrm>
            <a:off x="9330994"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Oval 995"/>
          <p:cNvSpPr/>
          <p:nvPr/>
        </p:nvSpPr>
        <p:spPr>
          <a:xfrm>
            <a:off x="8989109" y="4423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Oval 996"/>
          <p:cNvSpPr/>
          <p:nvPr/>
        </p:nvSpPr>
        <p:spPr>
          <a:xfrm>
            <a:off x="9836731" y="44089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Oval 997"/>
          <p:cNvSpPr/>
          <p:nvPr/>
        </p:nvSpPr>
        <p:spPr>
          <a:xfrm>
            <a:off x="9527737"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Oval 998"/>
          <p:cNvSpPr/>
          <p:nvPr/>
        </p:nvSpPr>
        <p:spPr>
          <a:xfrm>
            <a:off x="9871130"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Oval 999"/>
          <p:cNvSpPr/>
          <p:nvPr/>
        </p:nvSpPr>
        <p:spPr>
          <a:xfrm>
            <a:off x="9759482"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Oval 1000"/>
          <p:cNvSpPr/>
          <p:nvPr/>
        </p:nvSpPr>
        <p:spPr>
          <a:xfrm>
            <a:off x="9968295"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Oval 1001"/>
          <p:cNvSpPr/>
          <p:nvPr/>
        </p:nvSpPr>
        <p:spPr>
          <a:xfrm>
            <a:off x="10006617"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Oval 1002"/>
          <p:cNvSpPr/>
          <p:nvPr/>
        </p:nvSpPr>
        <p:spPr>
          <a:xfrm>
            <a:off x="9483983"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Oval 1003"/>
          <p:cNvSpPr/>
          <p:nvPr/>
        </p:nvSpPr>
        <p:spPr>
          <a:xfrm>
            <a:off x="9984287"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Oval 1004"/>
          <p:cNvSpPr/>
          <p:nvPr/>
        </p:nvSpPr>
        <p:spPr>
          <a:xfrm>
            <a:off x="9948982"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Oval 1005"/>
          <p:cNvSpPr/>
          <p:nvPr/>
        </p:nvSpPr>
        <p:spPr>
          <a:xfrm>
            <a:off x="9924239"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Oval 1006"/>
          <p:cNvSpPr/>
          <p:nvPr/>
        </p:nvSpPr>
        <p:spPr>
          <a:xfrm>
            <a:off x="9739265"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Oval 1007"/>
          <p:cNvSpPr/>
          <p:nvPr/>
        </p:nvSpPr>
        <p:spPr>
          <a:xfrm>
            <a:off x="9950793"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Oval 1008"/>
          <p:cNvSpPr/>
          <p:nvPr/>
        </p:nvSpPr>
        <p:spPr>
          <a:xfrm>
            <a:off x="9967389"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Oval 1009"/>
          <p:cNvSpPr/>
          <p:nvPr/>
        </p:nvSpPr>
        <p:spPr>
          <a:xfrm>
            <a:off x="9965579"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Oval 1010"/>
          <p:cNvSpPr/>
          <p:nvPr/>
        </p:nvSpPr>
        <p:spPr>
          <a:xfrm>
            <a:off x="9924239"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Oval 1011"/>
          <p:cNvSpPr/>
          <p:nvPr/>
        </p:nvSpPr>
        <p:spPr>
          <a:xfrm>
            <a:off x="9923333"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Oval 1012"/>
          <p:cNvSpPr/>
          <p:nvPr/>
        </p:nvSpPr>
        <p:spPr>
          <a:xfrm>
            <a:off x="9657490"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Oval 1013"/>
          <p:cNvSpPr/>
          <p:nvPr/>
        </p:nvSpPr>
        <p:spPr>
          <a:xfrm>
            <a:off x="968555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Oval 1014"/>
          <p:cNvSpPr/>
          <p:nvPr/>
        </p:nvSpPr>
        <p:spPr>
          <a:xfrm>
            <a:off x="8113123"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Oval 1015"/>
          <p:cNvSpPr/>
          <p:nvPr/>
        </p:nvSpPr>
        <p:spPr>
          <a:xfrm>
            <a:off x="9080842"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Oval 1016"/>
          <p:cNvSpPr/>
          <p:nvPr/>
        </p:nvSpPr>
        <p:spPr>
          <a:xfrm>
            <a:off x="7864480"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Oval 1017"/>
          <p:cNvSpPr/>
          <p:nvPr/>
        </p:nvSpPr>
        <p:spPr>
          <a:xfrm>
            <a:off x="8109804"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Oval 1018"/>
          <p:cNvSpPr/>
          <p:nvPr/>
        </p:nvSpPr>
        <p:spPr>
          <a:xfrm>
            <a:off x="8007812"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Oval 1019"/>
          <p:cNvSpPr/>
          <p:nvPr/>
        </p:nvSpPr>
        <p:spPr>
          <a:xfrm>
            <a:off x="8316504"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Oval 1020"/>
          <p:cNvSpPr/>
          <p:nvPr/>
        </p:nvSpPr>
        <p:spPr>
          <a:xfrm>
            <a:off x="775253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Oval 1021"/>
          <p:cNvSpPr/>
          <p:nvPr/>
        </p:nvSpPr>
        <p:spPr>
          <a:xfrm>
            <a:off x="7779386"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Oval 1022"/>
          <p:cNvSpPr/>
          <p:nvPr/>
        </p:nvSpPr>
        <p:spPr>
          <a:xfrm>
            <a:off x="8500271"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TextBox 1023"/>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115 of 123</a:t>
            </a:r>
          </a:p>
          <a:p>
            <a:pPr algn="l">
              <a:lnSpc>
                <a:spcPct val="109000"/>
              </a:lnSpc>
              <a:spcBef>
                <a:spcPts val="0"/>
              </a:spcBef>
              <a:spcAft>
                <a:spcPts val="0"/>
              </a:spcAft>
            </a:pPr>
            <a:r>
              <a:rPr sz="1250" b="0">
                <a:solidFill>
                  <a:srgbClr val="00407A"/>
                </a:solidFill>
                <a:latin typeface="Arial"/>
              </a:rPr>
              <a:t>are “yes”</a:t>
            </a:r>
          </a:p>
        </p:txBody>
      </p:sp>
      <p:sp>
        <p:nvSpPr>
          <p:cNvPr id="1025" name="TextBox 1024"/>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1026" name="Rounded Rectangle 102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TextBox 102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KEV-27B’s compile answers are right in both groups: 114 of 114 and 8 of 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Failure-reason coverage is small and uneven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reason counts by actual class • the prompt supplies that failure occurred.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28</a:t>
            </a:r>
          </a:p>
        </p:txBody>
      </p:sp>
      <p:graphicFrame>
        <p:nvGraphicFramePr>
          <p:cNvPr id="6" name="Table 5"/>
          <p:cNvGraphicFramePr>
            <a:graphicFrameLocks noGrp="1"/>
          </p:cNvGraphicFramePr>
          <p:nvPr/>
        </p:nvGraphicFramePr>
        <p:xfrm>
          <a:off x="813816" y="1865376"/>
          <a:ext cx="10561319" cy="3776463"/>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Actual failure class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Cases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More than one driver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Illegal code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construct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timing control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Simulation-only statement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Asynchronous reset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Mixed assignment styles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Module-instance mismatch</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Equal weight per observed class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Accuracy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37.5%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87.5%</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06440"/>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50" b="0">
                <a:solidFill>
                  <a:srgbClr val="00407A"/>
                </a:solidFill>
                <a:latin typeface="Arial"/>
              </a:rPr>
              <a:t>No true event-list or unbounded-loop cases occur in this held-out subset.</a:t>
            </a:r>
          </a:p>
          <a:p>
            <a:pPr algn="l">
              <a:lnSpc>
                <a:spcPct val="109000"/>
              </a:lnSpc>
              <a:spcBef>
                <a:spcPts val="0"/>
              </a:spcBef>
              <a:spcAft>
                <a:spcPts val="0"/>
              </a:spcAft>
            </a:pPr>
            <a:r>
              <a:rPr sz="1550" b="0">
                <a:solidFill>
                  <a:srgbClr val="00407A"/>
                </a:solidFill>
                <a:latin typeface="Arial"/>
              </a:rPr>
              <a:t>These two offered classes therefore have no measured class recall.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Probability ranking and binary decisions are different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model can rank cases reasonably while making poor decisions at the fixed 0.5 threshold.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29</a:t>
            </a:r>
          </a:p>
        </p:txBody>
      </p:sp>
      <p:graphicFrame>
        <p:nvGraphicFramePr>
          <p:cNvPr id="6" name="Table 5"/>
          <p:cNvGraphicFramePr>
            <a:graphicFrameLocks noGrp="1"/>
          </p:cNvGraphicFramePr>
          <p:nvPr/>
        </p:nvGraphicFramePr>
        <p:xfrm>
          <a:off x="813816" y="1874519"/>
          <a:ext cx="10561320" cy="2148840"/>
        </p:xfrm>
        <a:graphic>
          <a:graphicData uri="http://schemas.openxmlformats.org/drawingml/2006/table">
            <a:tbl>
              <a:tblPr firstRow="1" bandRow="1">
                <a:tableStyleId>{5C22544A-7EE6-4342-B048-85BDC9FD1C3A}</a:tableStyleId>
              </a:tblPr>
              <a:tblGrid>
                <a:gridCol w="4160520"/>
                <a:gridCol w="1600200"/>
                <a:gridCol w="1600200"/>
                <a:gridCol w="1600200"/>
                <a:gridCol w="1600200"/>
              </a:tblGrid>
              <a:tr h="566928">
                <a:tc>
                  <a:txBody>
                    <a:bodyPr/>
                    <a:lstStyle/>
                    <a:p>
                      <a:pPr algn="l">
                        <a:lnSpc>
                          <a:spcPct val="103000"/>
                        </a:lnSpc>
                        <a:spcBef>
                          <a:spcPts val="0"/>
                        </a:spcBef>
                        <a:spcAft>
                          <a:spcPts val="0"/>
                        </a:spcAft>
                      </a:pPr>
                      <a:r>
                        <a:rPr sz="1600" b="1">
                          <a:solidFill>
                            <a:srgbClr val="FFFFFF"/>
                          </a:solidFill>
                          <a:latin typeface="Arial"/>
                        </a:rPr>
                        <a:t>Probability 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0.692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0.994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0.334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0.030</a:t>
                      </a:r>
                    </a:p>
                  </a:txBody>
                  <a:tcPr marL="109728" marR="91440" marT="54864" marB="36576" anchor="ctr">
                    <a:solidFill>
                      <a:srgbClr val="FFFFFF"/>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0.490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0.814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0.187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0.128</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Ranking score: higher is better</a:t>
            </a:r>
          </a:p>
        </p:txBody>
      </p:sp>
      <p:sp>
        <p:nvSpPr>
          <p:cNvPr id="10" name="TextBox 9"/>
          <p:cNvSpPr txBox="1"/>
          <p:nvPr/>
        </p:nvSpPr>
        <p:spPr>
          <a:xfrm>
            <a:off x="104241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Chance = 0.5; perfect ordering = 1.</a:t>
            </a:r>
          </a:p>
          <a:p>
            <a:pPr algn="l">
              <a:lnSpc>
                <a:spcPct val="109000"/>
              </a:lnSpc>
              <a:spcBef>
                <a:spcPts val="0"/>
              </a:spcBef>
              <a:spcAft>
                <a:spcPts val="0"/>
              </a:spcAft>
            </a:pPr>
            <a:r>
              <a:rPr sz="1600" b="0">
                <a:solidFill>
                  <a:srgbClr val="00407A"/>
                </a:solidFill>
                <a:latin typeface="Arial"/>
              </a:rPr>
              <a:t>Compares yes probabilities for successes and failures.</a:t>
            </a:r>
          </a:p>
        </p:txBody>
      </p:sp>
      <p:sp>
        <p:nvSpPr>
          <p:cNvPr id="11" name="Rounded Rectangle 10"/>
          <p:cNvSpPr/>
          <p:nvPr/>
        </p:nvSpPr>
        <p:spPr>
          <a:xfrm>
            <a:off x="620877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Probability error: lower is better</a:t>
            </a:r>
          </a:p>
        </p:txBody>
      </p:sp>
      <p:sp>
        <p:nvSpPr>
          <p:cNvPr id="14" name="TextBox 13"/>
          <p:cNvSpPr txBox="1"/>
          <p:nvPr/>
        </p:nvSpPr>
        <p:spPr>
          <a:xfrm>
            <a:off x="643737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squared error of the yes probability.</a:t>
            </a:r>
          </a:p>
          <a:p>
            <a:pPr algn="l">
              <a:lnSpc>
                <a:spcPct val="109000"/>
              </a:lnSpc>
              <a:spcBef>
                <a:spcPts val="0"/>
              </a:spcBef>
              <a:spcAft>
                <a:spcPts val="0"/>
              </a:spcAft>
            </a:pPr>
            <a:r>
              <a:rPr sz="1600" b="0">
                <a:solidFill>
                  <a:srgbClr val="00407A"/>
                </a:solidFill>
                <a:latin typeface="Arial"/>
              </a:rPr>
              <a:t>Zero is perfect; confidently wrong answers cost more.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Performance levels: tolerance and expected-level error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Within one level: higher is better. Mean level error: lower is better.</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30</a:t>
            </a:r>
          </a:p>
        </p:txBody>
      </p:sp>
      <p:graphicFrame>
        <p:nvGraphicFramePr>
          <p:cNvPr id="6" name="Table 5"/>
          <p:cNvGraphicFramePr>
            <a:graphicFrameLocks noGrp="1"/>
          </p:cNvGraphicFramePr>
          <p:nvPr/>
        </p:nvGraphicFramePr>
        <p:xfrm>
          <a:off x="813816" y="1874519"/>
          <a:ext cx="10561320" cy="3611880"/>
        </p:xfrm>
        <a:graphic>
          <a:graphicData uri="http://schemas.openxmlformats.org/drawingml/2006/table">
            <a:tbl>
              <a:tblPr firstRow="1" bandRow="1">
                <a:tableStyleId>{5C22544A-7EE6-4342-B048-85BDC9FD1C3A}</a:tableStyleId>
              </a:tblPr>
              <a:tblGrid>
                <a:gridCol w="1965960"/>
                <a:gridCol w="2240280"/>
                <a:gridCol w="1588770"/>
                <a:gridCol w="1588770"/>
                <a:gridCol w="1588770"/>
                <a:gridCol w="1588770"/>
              </a:tblGrid>
              <a:tr h="566928">
                <a:tc>
                  <a:txBody>
                    <a:bodyPr/>
                    <a:lstStyle/>
                    <a:p>
                      <a:pPr algn="l">
                        <a:lnSpc>
                          <a:spcPct val="103000"/>
                        </a:lnSpc>
                        <a:spcBef>
                          <a:spcPts val="0"/>
                        </a:spcBef>
                        <a:spcAft>
                          <a:spcPts val="0"/>
                        </a:spcAft>
                      </a:pPr>
                      <a:r>
                        <a:rPr sz="15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Measure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90.2%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100.0%</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0.994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0.713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0.649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0.485</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64.7%</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0.971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1.070</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1.242</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30.4%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40.2%</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1.509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1.742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1.622</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705856"/>
            <a:ext cx="10149840" cy="54864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level error uses the probability-weighted expected level, not just the most likely level.</a:t>
            </a:r>
          </a:p>
          <a:p>
            <a:pPr algn="l">
              <a:lnSpc>
                <a:spcPct val="109000"/>
              </a:lnSpc>
              <a:spcBef>
                <a:spcPts val="0"/>
              </a:spcBef>
              <a:spcAft>
                <a:spcPts val="0"/>
              </a:spcAft>
            </a:pPr>
            <a:r>
              <a:rPr sz="1600" b="0">
                <a:solidFill>
                  <a:srgbClr val="00407A"/>
                </a:solidFill>
                <a:latin typeface="Arial"/>
              </a:rPr>
              <a:t>Unequal physical bin widths mean that one level is not a fixed physical error.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order: all correctness and letter-bias counts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Counts are per distinct pair. Each pair has exactly two model answers.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31</a:t>
            </a:r>
          </a:p>
        </p:txBody>
      </p:sp>
      <p:graphicFrame>
        <p:nvGraphicFramePr>
          <p:cNvPr id="6" name="Table 5"/>
          <p:cNvGraphicFramePr>
            <a:graphicFrameLocks noGrp="1"/>
          </p:cNvGraphicFramePr>
          <p:nvPr/>
        </p:nvGraphicFramePr>
        <p:xfrm>
          <a:off x="813816" y="1874519"/>
          <a:ext cx="10561319" cy="3886200"/>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Pair outcome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Both orders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One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Neither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88736"/>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00" b="0">
                <a:solidFill>
                  <a:srgbClr val="00407A"/>
                </a:solidFill>
                <a:latin typeface="Arial"/>
              </a:rPr>
              <a:t>With two opposite correct letters, “one order correct” is the same as keeping the same letter.</a:t>
            </a:r>
          </a:p>
          <a:p>
            <a:pPr algn="l">
              <a:lnSpc>
                <a:spcPct val="109000"/>
              </a:lnSpc>
              <a:spcBef>
                <a:spcPts val="0"/>
              </a:spcBef>
              <a:spcAft>
                <a:spcPts val="0"/>
              </a:spcAft>
            </a:pPr>
            <a:r>
              <a:rPr sz="1500" b="0">
                <a:solidFill>
                  <a:srgbClr val="00407A"/>
                </a:solidFill>
                <a:latin typeface="Arial"/>
              </a:rPr>
              <a:t>A consistent letter swap can still be wrong in both orders.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Dataset composition and missing coverage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retained designs cover several sources; this is not a balanced population sample.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32</a:t>
            </a:r>
          </a:p>
        </p:txBody>
      </p:sp>
      <p:graphicFrame>
        <p:nvGraphicFramePr>
          <p:cNvPr id="6" name="Table 5"/>
          <p:cNvGraphicFramePr>
            <a:graphicFrameLocks noGrp="1"/>
          </p:cNvGraphicFramePr>
          <p:nvPr/>
        </p:nvGraphicFramePr>
        <p:xfrm>
          <a:off x="813816" y="1874519"/>
          <a:ext cx="10561320" cy="3502152"/>
        </p:xfrm>
        <a:graphic>
          <a:graphicData uri="http://schemas.openxmlformats.org/drawingml/2006/table">
            <a:tbl>
              <a:tblPr firstRow="1" bandRow="1">
                <a:tableStyleId>{5C22544A-7EE6-4342-B048-85BDC9FD1C3A}</a:tableStyleId>
              </a:tblPr>
              <a:tblGrid>
                <a:gridCol w="5074920"/>
                <a:gridCol w="1554480"/>
                <a:gridCol w="1737360"/>
                <a:gridCol w="2194560"/>
              </a:tblGrid>
              <a:tr h="566928">
                <a:tc>
                  <a:txBody>
                    <a:bodyPr/>
                    <a:lstStyle/>
                    <a:p>
                      <a:pPr algn="l">
                        <a:lnSpc>
                          <a:spcPct val="103000"/>
                        </a:lnSpc>
                        <a:spcBef>
                          <a:spcPts val="0"/>
                        </a:spcBef>
                        <a:spcAft>
                          <a:spcPts val="0"/>
                        </a:spcAft>
                      </a:pPr>
                      <a:r>
                        <a:rPr sz="1500" b="1">
                          <a:solidFill>
                            <a:srgbClr val="FFFFFF"/>
                          </a:solidFill>
                          <a:latin typeface="Arial"/>
                        </a:rPr>
                        <a:t>Design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All retained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synthesis failures</a:t>
                      </a:r>
                    </a:p>
                  </a:txBody>
                  <a:tcPr marL="109728" marR="91440" marT="54864" marB="36576" anchor="ctr">
                    <a:solidFill>
                      <a:srgbClr val="00407A"/>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MetRex: varied sizes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synthesis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Natural language-model candidates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compilation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Human reference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Older REvolution candidates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REvolution v0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Accepted edits and rejected twins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614416"/>
            <a:ext cx="10149840" cy="658368"/>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Not measured here: energy per operation, functional equivalence, post-route timing,</a:t>
            </a:r>
          </a:p>
          <a:p>
            <a:pPr algn="l">
              <a:lnSpc>
                <a:spcPct val="109000"/>
              </a:lnSpc>
              <a:spcBef>
                <a:spcPts val="0"/>
              </a:spcBef>
              <a:spcAft>
                <a:spcPts val="0"/>
              </a:spcAft>
            </a:pPr>
            <a:r>
              <a:rPr sz="1700" b="0">
                <a:solidFill>
                  <a:srgbClr val="00407A"/>
                </a:solidFill>
                <a:latin typeface="Arial"/>
              </a:rPr>
              <a:t>measured chips, other model families, or the older plan’s rename/comment controls.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Evidence needed to reproduce this deck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number is tied to the frozen dataset and saved responses; no model reruns were needed.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33</a:t>
            </a:r>
          </a:p>
        </p:txBody>
      </p:sp>
      <p:graphicFrame>
        <p:nvGraphicFramePr>
          <p:cNvPr id="6" name="Table 5"/>
          <p:cNvGraphicFramePr>
            <a:graphicFrameLocks noGrp="1"/>
          </p:cNvGraphicFramePr>
          <p:nvPr/>
        </p:nvGraphicFramePr>
        <p:xfrm>
          <a:off x="813816" y="1874519"/>
          <a:ext cx="10561320" cy="2286000"/>
        </p:xfrm>
        <a:graphic>
          <a:graphicData uri="http://schemas.openxmlformats.org/drawingml/2006/table">
            <a:tbl>
              <a:tblPr firstRow="1" bandRow="1">
                <a:tableStyleId>{5C22544A-7EE6-4342-B048-85BDC9FD1C3A}</a:tableStyleId>
              </a:tblPr>
              <a:tblGrid>
                <a:gridCol w="1508760"/>
                <a:gridCol w="1280160"/>
                <a:gridCol w="3657600"/>
                <a:gridCol w="41148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Condor 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Completed on 15 October</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Checkpoint revision (prefix)</a:t>
                      </a:r>
                    </a:p>
                  </a:txBody>
                  <a:tcPr marL="109728" marR="91440" marT="54864" marB="36576" anchor="ctr">
                    <a:solidFill>
                      <a:srgbClr val="00407A"/>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11:30:55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bf75a6a8848e</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14:31:45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6cfce5c2fa4b</a:t>
                      </a:r>
                    </a:p>
                  </a:txBody>
                  <a:tcPr marL="109728" marR="91440" marT="54864" marB="36576" anchor="ctr">
                    <a:solidFill>
                      <a:srgbClr val="FFFFFF"/>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14:34:55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db029f08b290</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14:39:12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af0e6d551bdc</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443984"/>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Inputs and evidence</a:t>
            </a:r>
          </a:p>
        </p:txBody>
      </p:sp>
      <p:sp>
        <p:nvSpPr>
          <p:cNvPr id="8" name="TextBox 7"/>
          <p:cNvSpPr txBox="1"/>
          <p:nvPr/>
        </p:nvSpPr>
        <p:spPr>
          <a:xfrm>
            <a:off x="960120" y="4965192"/>
            <a:ext cx="10149840" cy="9144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Questions: data/questions/dataset_v1.jsonl</a:t>
            </a:r>
          </a:p>
          <a:p>
            <a:pPr algn="l">
              <a:lnSpc>
                <a:spcPct val="109000"/>
              </a:lnSpc>
              <a:spcBef>
                <a:spcPts val="0"/>
              </a:spcBef>
              <a:spcAft>
                <a:spcPts val="0"/>
              </a:spcAft>
            </a:pPr>
            <a:r>
              <a:rPr sz="1800" b="0">
                <a:solidFill>
                  <a:srgbClr val="00407A"/>
                </a:solidFill>
                <a:latin typeface="Arial"/>
              </a:rPr>
              <a:t>Answers, scores and manifests: results/kev/</a:t>
            </a:r>
          </a:p>
          <a:p>
            <a:pPr algn="l">
              <a:lnSpc>
                <a:spcPct val="109000"/>
              </a:lnSpc>
              <a:spcBef>
                <a:spcPts val="0"/>
              </a:spcBef>
              <a:spcAft>
                <a:spcPts val="0"/>
              </a:spcAft>
            </a:pPr>
            <a:r>
              <a:rPr sz="1800" b="0">
                <a:solidFill>
                  <a:srgbClr val="00407A"/>
                </a:solidFill>
                <a:latin typeface="Arial"/>
              </a:rPr>
              <a:t>Verified tables and rebuild scripts: presentations/data/ and presentations/src/</a:t>
            </a:r>
          </a:p>
        </p:txBody>
      </p:sp>
    </p:spTree>
  </p:cSld>
  <p:clrMapOvr>
    <a:masterClrMapping/>
  </p:clrMapOvr>
</p:sld>
</file>

<file path=ppt/theme/theme1.xml><?xml version="1.0" encoding="utf-8"?>
<a:theme xmlns:a="http://schemas.openxmlformats.org/drawingml/2006/main" name="TinyTapeOut 2026: jullie feedback">
  <a:themeElements>
    <a:clrScheme name="TinyTapeOut 2026: jullie feedback">
      <a:dk1>
        <a:srgbClr val="00407A"/>
      </a:dk1>
      <a:lt1>
        <a:srgbClr val="F4F8FA"/>
      </a:lt1>
      <a:dk2>
        <a:srgbClr val="3D6E9A"/>
      </a:dk2>
      <a:lt2>
        <a:srgbClr val="DCE6ED"/>
      </a:lt2>
      <a:accent1>
        <a:srgbClr val="52BDEC"/>
      </a:accent1>
      <a:accent2>
        <a:srgbClr val="0B5A93"/>
      </a:accent2>
      <a:accent3>
        <a:srgbClr val="BFDDEC"/>
      </a:accent3>
      <a:accent4>
        <a:srgbClr val="1D8DB0"/>
      </a:accent4>
      <a:accent5>
        <a:srgbClr val="4A5A66"/>
      </a:accent5>
      <a:accent6>
        <a:srgbClr val="C8D3DA"/>
      </a:accent6>
      <a:hlink>
        <a:srgbClr val="0563C1"/>
      </a:hlink>
      <a:folHlink>
        <a:srgbClr val="954F72"/>
      </a:folHlink>
    </a:clrScheme>
    <a:fontScheme name="TinyTapeOut 2026: jullie feedb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608</Words>
  <Application>Microsoft Office PowerPoint</Application>
  <PresentationFormat>Widescreen</PresentationFormat>
  <Paragraphs>96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TinyTapeOut 2026: jullie feedback</vt:lpstr>
      <vt:lpstr>Wat jullie ervan vonden</vt:lpstr>
      <vt:lpstr>De cijfers</vt:lpstr>
      <vt:lpstr>Jullie beste moment</vt:lpstr>
      <vt:lpstr>Waar jullie vastliepen</vt:lpstr>
      <vt:lpstr>Volgend jaar</vt:lpstr>
      <vt:lpstr>Jullie chips opmeten</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KEV on RTL: tests, results and limitations</dc:title>
  <dc:subject>Dataset v1; all four KEV v1.0 models; 725 held-out questions</dc:subject>
  <dc:creator>JEV_RTL study</dc:creator>
  <cp:lastModifiedBy>Marian Verhelst</cp:lastModifiedBy>
  <cp:revision>1</cp:revision>
  <dcterms:created xsi:type="dcterms:W3CDTF">2026-10-14T20:01:21Z</dcterms:created>
  <dcterms:modified xsi:type="dcterms:W3CDTF">2026-10-14T20:04:01Z</dcterms:modified>
  <cp:keywords>RTL, KEV, synthesis, compilation, area, power, timing</cp:keywords>
</cp:coreProperties>
</file>