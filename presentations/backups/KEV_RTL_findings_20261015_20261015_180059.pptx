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8"/>
    <p:sldId id="257" r:id="rId7"/>
    <p:sldId id="258" r:id="rId6"/>
    <p:sldId id="259" r:id="rId5"/>
    <p:sldId id="260" r:id="rId4"/>
    <p:sldId id="261" r:id="rId3"/>
    <p:sldId id="262" r:id="rId2"/>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B04C1B-7AD6-4013-AE6D-F69CCB37705D}" v="2" dt="2026-10-14T20:03:10.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7.xml"/><Relationship Id="rId3" Type="http://schemas.openxmlformats.org/officeDocument/2006/relationships/slide" Target="slides/slide6.xml"/><Relationship Id="rId4" Type="http://schemas.openxmlformats.org/officeDocument/2006/relationships/slide" Target="slides/slide5.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 Verhelst" userId="731a6a4d-0ae0-40ab-8310-2cd6e3bb0597" providerId="ADAL" clId="{B0FF59DE-8C83-455B-9775-86E18A21BAE3}"/>
    <pc:docChg chg="custSel delSld modSld">
      <pc:chgData name="Marian Verhelst" userId="731a6a4d-0ae0-40ab-8310-2cd6e3bb0597" providerId="ADAL" clId="{B0FF59DE-8C83-455B-9775-86E18A21BAE3}" dt="2026-10-14T20:03:58.793" v="54" actId="20577"/>
      <pc:docMkLst>
        <pc:docMk/>
      </pc:docMkLst>
      <pc:sldChg chg="del">
        <pc:chgData name="Marian Verhelst" userId="731a6a4d-0ae0-40ab-8310-2cd6e3bb0597" providerId="ADAL" clId="{B0FF59DE-8C83-455B-9775-86E18A21BAE3}" dt="2026-10-14T20:01:31.973" v="0" actId="47"/>
        <pc:sldMkLst>
          <pc:docMk/>
          <pc:sldMk cId="0" sldId="257"/>
        </pc:sldMkLst>
      </pc:sldChg>
      <pc:sldChg chg="modSp mod">
        <pc:chgData name="Marian Verhelst" userId="731a6a4d-0ae0-40ab-8310-2cd6e3bb0597" providerId="ADAL" clId="{B0FF59DE-8C83-455B-9775-86E18A21BAE3}" dt="2026-10-14T20:02:06.567" v="10" actId="403"/>
        <pc:sldMkLst>
          <pc:docMk/>
          <pc:sldMk cId="0" sldId="259"/>
        </pc:sldMkLst>
        <pc:spChg chg="mod">
          <ac:chgData name="Marian Verhelst" userId="731a6a4d-0ae0-40ab-8310-2cd6e3bb0597" providerId="ADAL" clId="{B0FF59DE-8C83-455B-9775-86E18A21BAE3}" dt="2026-10-14T20:01:53.987" v="4" actId="20577"/>
          <ac:spMkLst>
            <pc:docMk/>
            <pc:sldMk cId="0" sldId="259"/>
            <ac:spMk id="7" creationId="{00000000-0000-0000-0000-000000000000}"/>
          </ac:spMkLst>
        </pc:spChg>
        <pc:spChg chg="mod">
          <ac:chgData name="Marian Verhelst" userId="731a6a4d-0ae0-40ab-8310-2cd6e3bb0597" providerId="ADAL" clId="{B0FF59DE-8C83-455B-9775-86E18A21BAE3}" dt="2026-10-14T20:02:06.567" v="10" actId="403"/>
          <ac:spMkLst>
            <pc:docMk/>
            <pc:sldMk cId="0" sldId="259"/>
            <ac:spMk id="9" creationId="{00000000-0000-0000-0000-000000000000}"/>
          </ac:spMkLst>
        </pc:spChg>
      </pc:sldChg>
      <pc:sldChg chg="modSp mod">
        <pc:chgData name="Marian Verhelst" userId="731a6a4d-0ae0-40ab-8310-2cd6e3bb0597" providerId="ADAL" clId="{B0FF59DE-8C83-455B-9775-86E18A21BAE3}" dt="2026-10-14T20:02:20.287" v="14" actId="404"/>
        <pc:sldMkLst>
          <pc:docMk/>
          <pc:sldMk cId="0" sldId="260"/>
        </pc:sldMkLst>
        <pc:spChg chg="mod">
          <ac:chgData name="Marian Verhelst" userId="731a6a4d-0ae0-40ab-8310-2cd6e3bb0597" providerId="ADAL" clId="{B0FF59DE-8C83-455B-9775-86E18A21BAE3}" dt="2026-10-14T20:02:20.287" v="14" actId="404"/>
          <ac:spMkLst>
            <pc:docMk/>
            <pc:sldMk cId="0" sldId="260"/>
            <ac:spMk id="12" creationId="{00000000-0000-0000-0000-000000000000}"/>
          </ac:spMkLst>
        </pc:spChg>
      </pc:sldChg>
      <pc:sldChg chg="modSp mod">
        <pc:chgData name="Marian Verhelst" userId="731a6a4d-0ae0-40ab-8310-2cd6e3bb0597" providerId="ADAL" clId="{B0FF59DE-8C83-455B-9775-86E18A21BAE3}" dt="2026-10-14T20:02:51.421" v="15" actId="20577"/>
        <pc:sldMkLst>
          <pc:docMk/>
          <pc:sldMk cId="0" sldId="261"/>
        </pc:sldMkLst>
        <pc:spChg chg="mod">
          <ac:chgData name="Marian Verhelst" userId="731a6a4d-0ae0-40ab-8310-2cd6e3bb0597" providerId="ADAL" clId="{B0FF59DE-8C83-455B-9775-86E18A21BAE3}" dt="2026-10-14T20:02:51.421" v="15" actId="20577"/>
          <ac:spMkLst>
            <pc:docMk/>
            <pc:sldMk cId="0" sldId="261"/>
            <ac:spMk id="6" creationId="{00000000-0000-0000-0000-000000000000}"/>
          </ac:spMkLst>
        </pc:spChg>
      </pc:sldChg>
      <pc:sldChg chg="modSp mod">
        <pc:chgData name="Marian Verhelst" userId="731a6a4d-0ae0-40ab-8310-2cd6e3bb0597" providerId="ADAL" clId="{B0FF59DE-8C83-455B-9775-86E18A21BAE3}" dt="2026-10-14T20:03:37.335" v="35" actId="20577"/>
        <pc:sldMkLst>
          <pc:docMk/>
          <pc:sldMk cId="0" sldId="262"/>
        </pc:sldMkLst>
        <pc:spChg chg="mod">
          <ac:chgData name="Marian Verhelst" userId="731a6a4d-0ae0-40ab-8310-2cd6e3bb0597" providerId="ADAL" clId="{B0FF59DE-8C83-455B-9775-86E18A21BAE3}" dt="2026-10-14T20:03:25.848" v="27" actId="207"/>
          <ac:spMkLst>
            <pc:docMk/>
            <pc:sldMk cId="0" sldId="262"/>
            <ac:spMk id="9" creationId="{00000000-0000-0000-0000-000000000000}"/>
          </ac:spMkLst>
        </pc:spChg>
        <pc:graphicFrameChg chg="mod modGraphic">
          <ac:chgData name="Marian Verhelst" userId="731a6a4d-0ae0-40ab-8310-2cd6e3bb0597" providerId="ADAL" clId="{B0FF59DE-8C83-455B-9775-86E18A21BAE3}" dt="2026-10-14T20:03:37.335" v="35" actId="20577"/>
          <ac:graphicFrameMkLst>
            <pc:docMk/>
            <pc:sldMk cId="0" sldId="262"/>
            <ac:graphicFrameMk id="8" creationId="{00000000-0000-0000-0000-000000000000}"/>
          </ac:graphicFrameMkLst>
        </pc:graphicFrameChg>
      </pc:sldChg>
      <pc:sldChg chg="modSp mod">
        <pc:chgData name="Marian Verhelst" userId="731a6a4d-0ae0-40ab-8310-2cd6e3bb0597" providerId="ADAL" clId="{B0FF59DE-8C83-455B-9775-86E18A21BAE3}" dt="2026-10-14T20:03:58.793" v="54" actId="20577"/>
        <pc:sldMkLst>
          <pc:docMk/>
          <pc:sldMk cId="0" sldId="263"/>
        </pc:sldMkLst>
        <pc:spChg chg="mod">
          <ac:chgData name="Marian Verhelst" userId="731a6a4d-0ae0-40ab-8310-2cd6e3bb0597" providerId="ADAL" clId="{B0FF59DE-8C83-455B-9775-86E18A21BAE3}" dt="2026-10-14T20:03:58.793" v="54"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414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presentation covers the completed KEV-0.8B, KEV-4B, KEV-9B and KEV-27B v1.0 runs. RTL means register-transfer level: code describing digital hardware. The label B denotes approximately billions of model parameters. There are 151 retained designs across development and test; the held-out test has 123 individual designs plus pair requests. The number 725 counts questions, not independent designs. All findings are specific to this dataset and tool flow. No Jev, base Qwen or commercial LLM evaluation is included.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compilation-error result is KEV-27B on the 9 compiler-rejected test designs. The area result is 61/92 exact levels. Synthesis failure detection is 4/24. The 15/16 failure-reason result is conditional on a prompt explicitly stating that synthesis failed. The strongest observed pair-area accuracy is KEV-9B at 40/46 views; the strongest observed pair-power accuracy is KEV-27B at 31/44 views. These are different models and tasks, and not a single combined design or statistically established winner.</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uses Siemens QuestaSim 2022.4 vlog -sv, a compile-only check. Synthesis uses Synopsys Design Compiler U-2022.12-SP2 with analyze, elaborate, link and compile_ultra. A synthesis pass requires no Error lines, no LINK-5/UID-341 unresolved references, no TRANS-4 unmapped generic registers, and an output netlist. Compiler acceptance is not functional correctness, complete simulator elaboration, or a guarantee of synthesizability. There are 99 test designs with both successful compilation and synthesis, 15 that compile but fail synthesis, and 9 that fail both.</a:t>
            </a:r>
          </a:p>
          <a:p/>
          <a:p>
            <a:r>
              <a:t>Evidence and reproducibility</a:t>
            </a:r>
          </a:p>
          <a:p>
            <a:r>
              <a:t>notes/synth_yesno.md; notes/DATASET.md; harness/build.py;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plan ran 159 designs; 8 are excluded under the dataset rules, leaving 151 basic design records. The test split contains 123 basic designs and the development split 28. All four models answered all 348 requests, but reported accuracy uses test only: 281 requests and 725 questions. Performance coverage is 92 area, 92 slack, 92 reachable-frequency, and 85 power questions. The 361 performance questions therefore do not mean 361 distinct designs. There are 25 distinct test pairs, each sent in both orders, containing 46 area, 44 power and 12 frequency questions. Pair metrics overlap in which pairs they cover. The analysis asserts no shared base_design_id between development and test.</a:t>
            </a:r>
          </a:p>
          <a:p/>
          <a:p>
            <a:r>
              <a:t>Evidence and reproducibility</a:t>
            </a:r>
          </a:p>
          <a:p>
            <a:r>
              <a:t>notes/DATASET.md; data/questions/dataset_v1.card.md; data/questions/dataset_v1.jsonl; presentations/src/analyse_kev.py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Condor client sends only state, API model and questions to /v1/systemone. The correct_answer and evidence fields are retained locally in the input file and output records for scoring, not sent in the request payload. The four request groups are deliberately separate. In particular the reason instruction literally states that the tool does not synthesize the module, so its score cannot be read as autonomous failure detection. All models used the same input file SHA-256 and v1.0-tagged checkpoints. Maximum actual reported input length was 7,706 tokens for every model.</a:t>
            </a:r>
          </a:p>
          <a:p/>
          <a:p>
            <a:r>
              <a:t>Evidence and reproducibility</a:t>
            </a:r>
          </a:p>
          <a:p>
            <a:r>
              <a:t>condor/kev_client.py; harness/build.py: V1_QUESTIONS and build_dataset_v1; data/questions/dataset_v1.jsonl</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Binary predictions use threshold 0.5 exactly as the saved scorer. Class-specific rates use the actual tool outcome as the grouping variable. Binary balanced accuracy is the arithmetic mean of success recognition and failure detection. For reason labels the scorer averages per-class recall over the eight true classes present. Score probabilities use KEV keys 0 to 4, translated to displayed levels 1 to 5 before scoring. A constant-answer reference is a descriptive frequency of the specified label in this test set; it was not a separate run, not learned on development, and not chosen as a deployable predictor. Pair labels are exactly balanced A/B because both orders are included; always choosing a letter therefore gets 50%. There is no grand overall score across unrelated tasks.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counts are computed directly from the raw test answers. Successful recognition counts are 99,98,97,98 of 99 for 0.8B,4B,9B,27B. Failure detections are 0,0,2,4 of 24. The test class imbalance is 99 versus 24. The axis is the percentage correct within each actual-outcome group, not the fraction of all designs. All bars use the full 0–100% scale.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KEV-27B confusion counts: true positive 98, false negative 1, false positive 20, true negative 4. Overall accuracy = (98+4)/123 = 0.8292682927. Success recognition = 98/99 = 0.9898989899. Failure detection = 4/24 = 0.1666666667. Balanced accuracy = (98/99+4/24)/2 = 0.5782828283. The always-yes descriptive reference is 99/123 = 80.5% overall and 50.0% balanced. The matrix contains actual counts, not probabilities. Never interpret overall 82.9% as 82.9% of failures detected.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a derived subgroup analysis using the actual compilation and synthesis labels of the same basic requests. All bars are synthesis yes/no decisions; the right panel is not the separate compilation answer. Compiler-accepted failure detections: 0,0,1,0 of 15. Compiler-rejected failure detections: 0,0,1,4 of 9. Small subgroups do not establish general performance, but clearly localise the observed weakness.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Compilation pass-correct counts: 4,114,114,114 of 114. Error detections: 9,0,2,8 of 9. This explains the apparently high 4B pooled score (114/123) and the very low 0.8B pooled score (13/123). Balanced accuracies are 51.8%,50.0%,61.1%,94.4%. With only nine compiler errors one case changes error-detection rate by 11.1 percentage points.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Correct reason counts are 5,9,11,15 of 16. Class-balanced reason accuracies are 17.9%,37.5%,50.0%,87.5%, respectively. The reason classes present are multiple_drivers(1), illegal_code(1), unsupported_construct(1), timing_control(3), simulation_statement(5), async_reset(1), mixed_assignments(2), instance_mismatch(2). There are no true event_list or unbounded_loop examples in the held-out reason subset. KEV-27B gets only multiple_drivers wrong, predicting async_reset. The instruction supplies the known failure and therefore this accuracy is conditional, not an end-to-end detection score.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each test reason request, replace :reason: with :basic: in its question ID and inspect the corresponding synthesis probability. The reason subset has 16 known failures, while the full binary synthesis test has 24 failures; 8 noncompile designs do not receive a reason request. Failure flags within the 16-design reason subset are 0,0,1,0. Correct diagnoses when the prompt supplies failure are 5,9,11,15. Both correct counts are 0,0,1,0. In particular KEV-27B flags none of these 16, although its independent reason response is right for 15. These are retrospective conjunctions of saved answers, not measured performance of a deployed routed pipeline.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reference synthesis uses the supplied RTL_flow_Nangate15, NanGate 15nm typical corner at 0.8 V and 25 C, Design Compiler compile_ultra -gate_clock, a 500 MHz target, input/output delay of 10% of period, and 50 ps setup clock uncertainty. Area is the synthesis total cell area divided by 0.196608 square micrometres per NAND2_X1 gate. Power comes from the same design run and PrimeTime total dynamic plus leakage power using its supplied power testbench. The model receives that testbench. Power is only included when the run is successful and switching annotation is at least 95%. In the held-out test 85 of 92 performance requests have a power label; the other seven are excluded, not model errors. Levels use lower-inclusive upper-exclusive ranges, except the first and last open-ended bins.</a:t>
            </a:r>
          </a:p>
          <a:p/>
          <a:p>
            <a:r>
              <a:t>Evidence and reproducibility</a:t>
            </a:r>
          </a:p>
          <a:p>
            <a:r>
              <a:t>harness/build.py: AREA_EDGES_GE, POWER_EDGES_UW and build_dataset_v1; notes/DATASET.md; notes/README.md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Worst slack is the smallest timing margin reported after synthesis at the fixed 500 MHz target. Positive slack means the netlist meets that target. Reachable frequency is the harness formula 1000/(period_ns-slack_ns) MHz, converted here to GHz, from that same netlist. It is not measured silicon frequency, post-route timing or the result of resynthesizing at the inferred faster target. The example mac_int8 has 1437.97 ps of slack, converted to 1.43797 ns: 1/(2-1.43797)=1.779 GHz. A unit conversion bug in the supplied summary.sh is corrected by the harness. Held-out slack truths contain levels 2,3,4,5 only; reachable frequency truths contain levels 1,2,3,4 only. Thus no negative-slack or ≥4 GHz true examples occur.</a:t>
            </a:r>
          </a:p>
          <a:p/>
          <a:p>
            <a:r>
              <a:t>Evidence and reproducibility</a:t>
            </a:r>
          </a:p>
          <a:p>
            <a:r>
              <a:t>notes/DATASET.md; harness/build.py: SLACK_EDGES_NS, REACH_EDGES_MHZ and build_dataset_v1; flow/RTL_flow_Nangate15/summary.sh</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area hits: 33,33,53,61 of 92. Within-one hits: 61,65,83,92. The dashed constant-answer reference is always area level 1, correct for 33/92 test examples. It is descriptive and computed from test labels, not an independently run or development-selected model. Even a within-one prediction can imply a large area difference because the bins have decade-wide boundaries. No physical relative error or post-layout area is reported.</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Exact power hits: 23,39,34,9 of 85. Within-one hits: 70,78,79,55. True level counts 1–5: 23,37,18,7,0. KEV-27B chosen-level counts: 0,0,54,30,1. It therefore systematically chooses high levels on this test distribution. This is an observed tendency, not evidence of an identified root cause. Power depends on both the synthesized design and stimulus; it is not a general intrinsic cost of the RTL. The constant-answer level-2 reference is computed from test labels.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Reachable frequency exact hits are 13,11,13,13 of 92. Slack exact hits are 8,4,3,30 of 92. True frequency level 4 is most common with 45/92 and true slack level 5 with 63/92. These are explicitly specified constant-answer references calculated from the test labels, not learned predictive baselines. No negative-slack cases are present, so the benchmark cannot evaluate missed timing violations. Level accuracy is not a timing estimation error in picoseconds or MHz.</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These are the complete true-label and chosen-label distributions for KEV-27B test performance responses. Frequency truths 13,16,18,45,0 and predictions 90,0,0,0,2. Power truths 23,37,18,7,0 and predictions 0,0,54,30,1. Each chart uses the same 0–100-design vertical scale; the two denominators are different and labelled. There is no omission or zoom. Counts at zero are printed as zero rather than represented by a nonzero bar. These distributions establish bias in chosen levels, not its cause.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Pair inputs are old REvolution candidates of the same problem. Both runs must have usable power and at least 95% annotation, the same power testbench, and positive values for compared metrics. A question is retained for a metric if max/min is at least 1.1, so there are no ties. Twenty-five distinct pairs occur in the held-out split and 31 across both splits. The metric subsets overlap; do not sum 23+22+6 as distinct pairs. Each retained pair is sent as AB and BA. A/B labels are therefore balanced. No energy-per-operation pair question is implemented in dataset v1, despite its presence in an older planning note.</a:t>
            </a:r>
          </a:p>
          <a:p/>
          <a:p>
            <a:r>
              <a:t>Evidence and reproducibility</a:t>
            </a:r>
          </a:p>
          <a:p>
            <a:r>
              <a:t>harness/build.py: V1_PAIR_QUESTIONS and build_dataset_v1; data/questions/dataset_v1.jsonl; notes/DATASET.md</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full pair accuracy values are taken from the official local harness scorer. Per-view hits: area 22,35,40,36 of 46; power 28,25,29,31 of 44; frequency 8,10,9,10 of 12. The dashed 50% reference is always choosing A or always choosing B because both orders are included. This is not independent random sampling: the two orders share designs, and different pairs can share candidates of a problem. No significance test is claimed, and different per-task maxima belong to different models. All percentage axes are 0–100%.</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Both-order correct counts are derived from matching AB/BA answers and requiring each to equal its label. Area:5,13,19,17 of23; power:6,3,9,14 of22; frequency:3,4,4,5 of6. Same-letter-both-orders is the saved scorer positional inconsistency measure; power counts are16,19,11,3 of22. A consistent switched-letter answer can still choose the wrong design in both orders, so consistency alone does not prove correctness. The both-orders criterion is therefore shown separately from the per-view accuracy. It is a stricter descriptive summary, not a new experiment.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Condor job IDs4.0,5.0,6.0,7.0 completed with return code0. Job execution seconds are125,187,204,400; this includes setup/smoke/inference but excludes idle queue wait. Median server-reported model times are109.05,201.35,243.7,668.3ms. These medians include all348 dataset requests, development plus test, but exclude the separate smoke file. GPU0.8B: euler RTX3080Ti; larger models: aristoteles A100-SXM4-80GB. Sum of client wall times over the348 requests:52.047,99.433,104.114,279.849s. Server model latency and client wall time are distinct measures. Peak sampled GPU memory is recorded for0.8B only (7036MiB); no comparable peak is available for the larger jobs. An earlier0.8B attempt3.0 failed before inference on AMD and was corrected by requiring CUDA. No dollar-cost estimate is measured.</a:t>
            </a:r>
          </a:p>
          <a:p/>
          <a:p>
            <a:r>
              <a:t>Evidence and reproducibility</a:t>
            </a:r>
          </a:p>
          <a:p>
            <a:r>
              <a:t>results/kev/*/manifest.json; condor/logs/4.0.kev-0.8b.log; condor/logs/5.0.kev-4b.log; condor/logs/6.0.kev-9b.log; condor/logs/7.0.kev-27b.log</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slide distinguishes measured strengths from proposed follow-up work. The test-set probabilities suggest that the fixed0.5 threshold may hide some ranking signal, but any alternative threshold must be selected on development only, frozen and assessed on new held-out data rather than optimised on this test. Expanded failure cases should include compiler-accepted synthesis failures. The current test has no negative-slack cases, no level5 power examples, and no level5 reachable-frequency examples. No confidence interval or paired significance test is claimed here. Jev, base Qwen, commercial LLMs, renamed/comment controls, energy per operation and post-route or measured-silicon validation have no results in this completed evaluation.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Appendix for review and reproduction. The following tables retain all primary question metrics, the class splits, reason coverage, probability metrics, expected-level error and pair-order checks. There is no single overall cross-task accuracy because tasks have different meanings, supports and class distributions.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This is the complete primary accuracy table from the saved scorer, reproduced from raw answers. The KEV model size is indicated by the four numeric columns; all are KEV v1.0. Yes/no scores use threshold0.5. Reason accuracy is conditional on the prompt supplying failure. Area/power/frequency/slack require exact ordinal level. Pair scores count both presentation orders as separate views; area46views, power44views, frequency12views. No row is a general combined model score. For probability, class and level-error metrics see later appendix slides.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rows show all four binary confusion-matrix supports with correct counts. Wrong counts are n minus correct. Compilation supports114pass/9fail; synthesis99pass/24fail. Balanced accuracy is the arithmetic mean of the two within-group percentages, not weighted by123designs. KEV0.8B synthesis always predicts yes. KEV4B compilation always predicts yes. The source answers are all present and successfully scored; there is no missing-answer adjustment.</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eight observed reason classes and supports are drawn from the test input. They total16. The offered option list has10classes, so event_list and unbounded_loop have zero true cases and are excluded from the saved scorer balanced accuracy. Correct class counts for every model are recomputed. KEV27B sole mistake is multiple_drivers→async_reset. Five simulation-only examples and three timing-control examples give those classes more influence in pooled accuracy than one-case classes. Balanced accuracy instead weights the eight observed class recalls equally. Do not interpret this as broad10-class validation.</a:t>
            </a:r>
          </a:p>
          <a:p/>
          <a:p>
            <a:r>
              <a:t>Evidence and reproducibility</a:t>
            </a:r>
          </a:p>
          <a:p>
            <a:r>
              <a:t>notes/synth_reason.md; data/questions/dataset_v1.jsonl;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AUROC is the probability that a randomly chosen actual success has a higher predicted yes probability than a randomly chosen actual failure, counting ties as half. It ranges0–1;0.5 corresponds to chance ordering. It is independent of the chosen decision threshold and is not failure recall. Brier score is mean((p_yes-y)^2),0–1with lower better. It measures probability error, not calibration alone. These metrics use all123binary test designs. Synthesis AUROC improves to0.814for27B although its thresholded failure recall is16.7%. Any threshold tuning must use the development split, not these test labels. No recalibrated or alternative-threshold result has been run.</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saved scorer computes within_one from the argmax chosen level versus the true integer level. Mean absolute level error (mae_levels) uses the probability-weighted expected level sum(k*p_k)/sum(p_k), then averages abs(expected-true). Therefore it is not the mean absolute error of the argmax level and need not track exact accuracy monotonically. Supports:92area,85power,92reachablefrequency,92slack. Since area and power bins cover decades, ordinal error cannot be read as fixed relative or absolute physical error. All values are retained from the scorer, verified against raw responses with1e-12floating-point tolerance.</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For an A/B pair with opposite correct labels in AB and BA, each model response falls into0,1or2correct views. Both-order counts are read from paired saved answers, not estimated from percentages. The saved same_letter_both_orders rate equals the one-correct count divided by the number of distinct pairs for this balanced binary protocol. It is not itself an accuracy measure. Questions share design candidates and problem families, so naive independence across views is inappropriate. All row triplets sum to the labelled number of pairs.</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The group counts are based on retained basic design records only, not requests or pair views. All retained counts total151 and held-out counts123. The original plan159had8excludeddesigns:4mutantswithanunintendedclass,2traptwins that did not synthesize as required, and2noncompile designs whose DC class was not intended. Twelve retained performance cases across both splits have no usable power value, leaving98powerquestions overall and85test. The corpus also skips comparisons with incompatible testbenches or less than10%metric differences. Some source groups contain near variants; base_design_id grouping prevents cross-split leakage as checked in analyse_kev.py. Dataset v1 supersedes older planning sizes such as500perquestiontype. No planned result is presented as completed.</a:t>
            </a:r>
          </a:p>
          <a:p/>
          <a:p>
            <a:r>
              <a:t>Evidence and reproducibility</a:t>
            </a:r>
          </a:p>
          <a:p>
            <a:r>
              <a:t>data/questions/dataset_v1.card.md; notes/DATASET.md; harness/build.py; presentations/data/verified_metrics.json</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0" name="Speaker notes"/>
          <p:cNvSpPr/>
          <p:nvPr>
            <p:ph type="body" idx="13"/>
          </p:nvPr>
        </p:nvSpPr>
        <p:spPr/>
        <p:txBody>
          <a:bodyPr/>
          <a:lstStyle/>
          <a:p>
            <a:r>
              <a:t>Full provenance:</a:t>
            </a:r>
          </a:p>
          <a:p>
            <a:r>
              <a:t>{</a:t>
            </a:r>
          </a:p>
          <a:p>
            <a:r>
              <a:t>  "kev-0.8b": {</a:t>
            </a:r>
          </a:p>
          <a:p>
            <a:r>
              <a:t>    "job": "4.0",</a:t>
            </a:r>
          </a:p>
          <a:p>
            <a:r>
              <a:t>    "revision": "bf75a6a8848ea6960ff2ed108d9ed44c2941174f",</a:t>
            </a:r>
          </a:p>
          <a:p>
            <a:r>
              <a:t>    "answers_file": "results/kev/dataset_v1_kev-0.8b_20261014/dataset_v1__kev-0.8b.jsonl",</a:t>
            </a:r>
          </a:p>
          <a:p>
            <a:r>
              <a:t>    "answers_sha256": "c2b175aacc788e57d7b3fbc042432c9d3fac78384ae37bc976f8bf52d9c22046",</a:t>
            </a:r>
          </a:p>
          <a:p>
            <a:r>
              <a:t>    "dataset_sha256": "96814ea63d89b98af7f87c5f6d8e5fe0f35ec710c30755c9d0723fbec4ddbe2a"</a:t>
            </a:r>
          </a:p>
          <a:p>
            <a:r>
              <a:t>  },</a:t>
            </a:r>
          </a:p>
          <a:p>
            <a:r>
              <a:t>  "kev-4b": {</a:t>
            </a:r>
          </a:p>
          <a:p>
            <a:r>
              <a:t>    "job": "5.0",</a:t>
            </a:r>
          </a:p>
          <a:p>
            <a:r>
              <a:t>    "revision": "6cfce5c2fa4b4bd64026336ab649c5ca78857d52",</a:t>
            </a:r>
          </a:p>
          <a:p>
            <a:r>
              <a:t>    "answers_file": "results/kev/dataset_v1_kev-4b_20261015/dataset_v1__kev-4b.jsonl",</a:t>
            </a:r>
          </a:p>
          <a:p>
            <a:r>
              <a:t>    "answers_sha256": "9f68340c80d407377a5288c970bab9a1af2a203aa6128c56a80555dece270b6e",</a:t>
            </a:r>
          </a:p>
          <a:p>
            <a:r>
              <a:t>    "dataset_sha256": "96814ea63d89b98af7f87c5f6d8e5fe0f35ec710c30755c9d0723fbec4ddbe2a"</a:t>
            </a:r>
          </a:p>
          <a:p>
            <a:r>
              <a:t>  },</a:t>
            </a:r>
          </a:p>
          <a:p>
            <a:r>
              <a:t>  "kev-9b": {</a:t>
            </a:r>
          </a:p>
          <a:p>
            <a:r>
              <a:t>    "job": "6.0",</a:t>
            </a:r>
          </a:p>
          <a:p>
            <a:r>
              <a:t>    "revision": "db029f08b290afd9fee4aa4bbcd9ae48602d1eb0",</a:t>
            </a:r>
          </a:p>
          <a:p>
            <a:r>
              <a:t>    "answers_file": "results/kev/dataset_v1_kev-9b_20261015/dataset_v1__kev-9b.jsonl",</a:t>
            </a:r>
          </a:p>
          <a:p>
            <a:r>
              <a:t>    "answers_sha256": "5c69346a7c9211caaff5f0e6067e82a5f6022519029d5cd1634697a1710fde34",</a:t>
            </a:r>
          </a:p>
          <a:p>
            <a:r>
              <a:t>    "dataset_sha256": "96814ea63d89b98af7f87c5f6d8e5fe0f35ec710c30755c9d0723fbec4ddbe2a"</a:t>
            </a:r>
          </a:p>
          <a:p>
            <a:r>
              <a:t>  },</a:t>
            </a:r>
          </a:p>
          <a:p>
            <a:r>
              <a:t>  "kev-27b": {</a:t>
            </a:r>
          </a:p>
          <a:p>
            <a:r>
              <a:t>    "job": "7.0",</a:t>
            </a:r>
          </a:p>
          <a:p>
            <a:r>
              <a:t>    "revision": "af0e6d551bdc2cc724f3e9d7a8bee1cd4fb8f7bf",</a:t>
            </a:r>
          </a:p>
          <a:p>
            <a:r>
              <a:t>    "answers_file": "results/kev/dataset_v1_kev-27b_20261015/dataset_v1__kev-27b.jsonl",</a:t>
            </a:r>
          </a:p>
          <a:p>
            <a:r>
              <a:t>    "answers_sha256": "c643020e0b73e9627c81fb7b0429556c70969cfef7074b7e4f6fc71d1349bf19",</a:t>
            </a:r>
          </a:p>
          <a:p>
            <a:r>
              <a:t>    "dataset_sha256": "96814ea63d89b98af7f87c5f6d8e5fe0f35ec710c30755c9d0723fbec4ddbe2a"</a:t>
            </a:r>
          </a:p>
          <a:p>
            <a:r>
              <a:t>  }</a:t>
            </a:r>
          </a:p>
          <a:p>
            <a:r>
              <a:t>}</a:t>
            </a:r>
          </a:p>
          <a:p>
            <a:r>
              <a:t>All times are Europe/Paris (CEST) as recorded in the manifests. The build verifies unique request IDs, successful HTTP responses, matching question keys, no cross-split base IDs, input fingerprints, and saved metrics versus freshly recomputed metrics. Numerical floating-point differences up to1e-12are accepted. Theme and slide masters are inherited from the user-supplied reference. This deck is derived from the completed results only.</a:t>
            </a:r>
          </a:p>
          <a:p/>
          <a:p>
            <a:r>
              <a:t>Evidence and reproducibility</a:t>
            </a:r>
          </a:p>
          <a:p>
            <a:r>
              <a:t>data/questions/dataset_v1.jsonl; results/kev/*/dataset_v1__*.jsonl; harness/score.py</a:t>
            </a:r>
          </a:p>
          <a:p>
            <a:r>
              <a:t>All numerical results use the held-out test split unless explicitly labelled otherwise.</a:t>
            </a:r>
          </a:p>
          <a:p>
            <a:r>
              <a:t>Dataset SHA-256: 96814ea63d89b98af7f87c5f6d8e5fe0f35ec710c30755c9d0723fbec4ddbe2a</a:t>
            </a:r>
          </a:p>
          <a:p>
            <a:r>
              <a:t>Verified calculations: presentations/data/verified_metrics.json.</a:t>
            </a:r>
          </a:p>
          <a:p>
            <a:r>
              <a:t>Rebuild: python3 presentations/src/build_kev_findings.py.</a:t>
            </a:r>
          </a:p>
          <a:p>
            <a:r>
              <a:t>Visual style: pwp_example/TinyTapeOut 2026 jullie feedback.pptx; original theme and slide masters retained.</a:t>
            </a:r>
          </a:p>
          <a:p>
            <a:r>
              <a:t>All charts, diagrams and tables on this slide are editable PowerPoint objects.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00407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00407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Rounded Rectangle 1"/>
          <p:cNvSpPr/>
          <p:nvPr/>
        </p:nvSpPr>
        <p:spPr>
          <a:xfrm>
            <a:off x="8549640" y="1325880"/>
            <a:ext cx="1828800" cy="1828800"/>
          </a:xfrm>
          <a:prstGeom prst="roundRect">
            <a:avLst>
              <a:gd name="adj" fmla="val 6000"/>
            </a:avLst>
          </a:prstGeom>
          <a:noFill/>
          <a:ln w="12700">
            <a:solidFill>
              <a:srgbClr val="1D8D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3816" y="1783080"/>
            <a:ext cx="9144000" cy="32004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RTL TOOL OUTCOMES  •  KEV v1.0</a:t>
            </a:r>
          </a:p>
        </p:txBody>
      </p:sp>
      <p:sp>
        <p:nvSpPr>
          <p:cNvPr id="4" name="TextBox 3"/>
          <p:cNvSpPr txBox="1"/>
          <p:nvPr/>
        </p:nvSpPr>
        <p:spPr>
          <a:xfrm>
            <a:off x="813816" y="2331720"/>
            <a:ext cx="8321040" cy="1481328"/>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What can KEV tell us</a:t>
            </a:r>
          </a:p>
          <a:p>
            <a:pPr algn="l">
              <a:lnSpc>
                <a:spcPct val="109000"/>
              </a:lnSpc>
              <a:spcBef>
                <a:spcPts val="0"/>
              </a:spcBef>
              <a:spcAft>
                <a:spcPts val="0"/>
              </a:spcAft>
            </a:pPr>
            <a:r>
              <a:rPr sz="4300" b="1">
                <a:solidFill>
                  <a:srgbClr val="FFFFFF"/>
                </a:solidFill>
                <a:latin typeface="Arial"/>
              </a:rPr>
              <a:t>about an RTL design?</a:t>
            </a:r>
          </a:p>
        </p:txBody>
      </p:sp>
      <p:sp>
        <p:nvSpPr>
          <p:cNvPr id="5" name="TextBox 4"/>
          <p:cNvSpPr txBox="1"/>
          <p:nvPr/>
        </p:nvSpPr>
        <p:spPr>
          <a:xfrm>
            <a:off x="813816" y="4160520"/>
            <a:ext cx="9052560" cy="77724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The tests, the completed Condor runs, and what the scores mean</a:t>
            </a:r>
          </a:p>
        </p:txBody>
      </p:sp>
      <p:sp>
        <p:nvSpPr>
          <p:cNvPr id="6" name="TextBox 5"/>
          <p:cNvSpPr txBox="1"/>
          <p:nvPr/>
        </p:nvSpPr>
        <p:spPr>
          <a:xfrm>
            <a:off x="813816" y="5596128"/>
            <a:ext cx="10424160" cy="68580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BFDDEC"/>
                </a:solidFill>
                <a:latin typeface="Arial"/>
              </a:rPr>
              <a:t>Four model sizes  •  151 retained designs  •  725 held-out questions</a:t>
            </a:r>
          </a:p>
          <a:p>
            <a:pPr algn="l">
              <a:lnSpc>
                <a:spcPct val="109000"/>
              </a:lnSpc>
              <a:spcBef>
                <a:spcPts val="0"/>
              </a:spcBef>
              <a:spcAft>
                <a:spcPts val="0"/>
              </a:spcAft>
            </a:pPr>
            <a:r>
              <a:rPr sz="1600" b="0">
                <a:solidFill>
                  <a:srgbClr val="BFDDEC"/>
                </a:solidFill>
                <a:latin typeface="Arial"/>
              </a:rPr>
              <a:t>15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completed runs show</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Different tasks reveal different strengths. A single pooled score hides important failures.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OVERVIEW</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Better with 27B</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Compilation errors:</a:t>
            </a:r>
          </a:p>
          <a:p>
            <a:pPr algn="l">
              <a:lnSpc>
                <a:spcPct val="109000"/>
              </a:lnSpc>
              <a:spcBef>
                <a:spcPts val="0"/>
              </a:spcBef>
              <a:spcAft>
                <a:spcPts val="0"/>
              </a:spcAft>
            </a:pPr>
            <a:r>
              <a:rPr sz="1900" b="0">
                <a:solidFill>
                  <a:srgbClr val="00407A"/>
                </a:solidFill>
                <a:latin typeface="Arial"/>
              </a:rPr>
              <a:t>8 of 9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Area levels:</a:t>
            </a:r>
          </a:p>
          <a:p>
            <a:pPr algn="l">
              <a:lnSpc>
                <a:spcPct val="109000"/>
              </a:lnSpc>
              <a:spcBef>
                <a:spcPts val="0"/>
              </a:spcBef>
              <a:spcAft>
                <a:spcPts val="0"/>
              </a:spcAft>
            </a:pPr>
            <a:r>
              <a:rPr sz="1900" b="0">
                <a:solidFill>
                  <a:srgbClr val="00407A"/>
                </a:solidFill>
                <a:latin typeface="Arial"/>
              </a:rPr>
              <a:t>61 of 92 exactly right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Synthesis is weak</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Synthesis failures:</a:t>
            </a:r>
          </a:p>
          <a:p>
            <a:pPr algn="l">
              <a:lnSpc>
                <a:spcPct val="109000"/>
              </a:lnSpc>
              <a:spcBef>
                <a:spcPts val="0"/>
              </a:spcBef>
              <a:spcAft>
                <a:spcPts val="0"/>
              </a:spcAft>
            </a:pPr>
            <a:r>
              <a:rPr sz="1900" b="0">
                <a:solidFill>
                  <a:srgbClr val="00407A"/>
                </a:solidFill>
                <a:latin typeface="Arial"/>
              </a:rPr>
              <a:t>4 of 24 detected</a:t>
            </a:r>
          </a:p>
          <a:p>
            <a:pPr algn="l">
              <a:lnSpc>
                <a:spcPct val="109000"/>
              </a:lnSpc>
              <a:spcBef>
                <a:spcPts val="0"/>
              </a:spcBef>
              <a:spcAft>
                <a:spcPts val="0"/>
              </a:spcAft>
            </a:pPr>
            <a:r>
              <a:rPr sz="1900" b="0">
                <a:solidFill>
                  <a:srgbClr val="00407A"/>
                </a:solidFill>
                <a:latin typeface="Arial"/>
              </a:rPr>
              <a:t/>
            </a:r>
          </a:p>
          <a:p>
            <a:pPr algn="l">
              <a:lnSpc>
                <a:spcPct val="109000"/>
              </a:lnSpc>
              <a:spcBef>
                <a:spcPts val="0"/>
              </a:spcBef>
              <a:spcAft>
                <a:spcPts val="0"/>
              </a:spcAft>
            </a:pPr>
            <a:r>
              <a:rPr sz="1900" b="0">
                <a:solidFill>
                  <a:srgbClr val="00407A"/>
                </a:solidFill>
                <a:latin typeface="Arial"/>
              </a:rPr>
              <a:t>Failure reasons:</a:t>
            </a:r>
          </a:p>
          <a:p>
            <a:pPr algn="l">
              <a:lnSpc>
                <a:spcPct val="109000"/>
              </a:lnSpc>
              <a:spcBef>
                <a:spcPts val="0"/>
              </a:spcBef>
              <a:spcAft>
                <a:spcPts val="0"/>
              </a:spcAft>
            </a:pPr>
            <a:r>
              <a:rPr sz="1900" b="0">
                <a:solidFill>
                  <a:srgbClr val="00407A"/>
                </a:solidFill>
                <a:latin typeface="Arial"/>
              </a:rPr>
              <a:t>15 of 16 right when</a:t>
            </a:r>
          </a:p>
          <a:p>
            <a:pPr algn="l">
              <a:lnSpc>
                <a:spcPct val="109000"/>
              </a:lnSpc>
              <a:spcBef>
                <a:spcPts val="0"/>
              </a:spcBef>
              <a:spcAft>
                <a:spcPts val="0"/>
              </a:spcAft>
            </a:pPr>
            <a:r>
              <a:rPr sz="1900" b="0">
                <a:solidFill>
                  <a:srgbClr val="00407A"/>
                </a:solidFill>
                <a:latin typeface="Arial"/>
              </a:rPr>
              <a:t>failure is supplied</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No single winner</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9B leads area ranking.</a:t>
            </a:r>
          </a:p>
          <a:p>
            <a:pPr algn="l">
              <a:lnSpc>
                <a:spcPct val="109000"/>
              </a:lnSpc>
              <a:spcBef>
                <a:spcPts val="0"/>
              </a:spcBef>
              <a:spcAft>
                <a:spcPts val="0"/>
              </a:spcAft>
            </a:pPr>
            <a:r>
              <a:rPr sz="1800" b="0">
                <a:solidFill>
                  <a:srgbClr val="00407A"/>
                </a:solidFill>
                <a:latin typeface="Arial"/>
              </a:rPr>
              <a:t>27B leads power ranking.</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Absolute power and</a:t>
            </a:r>
          </a:p>
          <a:p>
            <a:pPr algn="l">
              <a:lnSpc>
                <a:spcPct val="109000"/>
              </a:lnSpc>
              <a:spcBef>
                <a:spcPts val="0"/>
              </a:spcBef>
              <a:spcAft>
                <a:spcPts val="0"/>
              </a:spcAft>
            </a:pPr>
            <a:r>
              <a:rPr sz="1800" b="0">
                <a:solidFill>
                  <a:srgbClr val="00407A"/>
                </a:solidFill>
                <a:latin typeface="Arial"/>
              </a:rPr>
              <a:t>clock-frequency levels</a:t>
            </a:r>
          </a:p>
          <a:p>
            <a:pPr algn="l">
              <a:lnSpc>
                <a:spcPct val="109000"/>
              </a:lnSpc>
              <a:spcBef>
                <a:spcPts val="0"/>
              </a:spcBef>
              <a:spcAft>
                <a:spcPts val="0"/>
              </a:spcAft>
            </a:pPr>
            <a:r>
              <a:rPr sz="1800" b="0">
                <a:solidFill>
                  <a:srgbClr val="00407A"/>
                </a:solidFill>
                <a:latin typeface="Arial"/>
              </a:rPr>
              <a:t>remain unreliable.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four runs completed. Every model answered every test question; missing data does not explain the errors.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and synthesis answer different questions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RTL = register-transfer level: source code that describes digital hardware.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compile?</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the simulator compiler</a:t>
            </a:r>
          </a:p>
          <a:p>
            <a:pPr algn="l">
              <a:lnSpc>
                <a:spcPct val="109000"/>
              </a:lnSpc>
              <a:spcBef>
                <a:spcPts val="0"/>
              </a:spcBef>
              <a:spcAft>
                <a:spcPts val="0"/>
              </a:spcAft>
            </a:pPr>
            <a:r>
              <a:rPr sz="1800" b="0">
                <a:solidFill>
                  <a:srgbClr val="00407A"/>
                </a:solidFill>
                <a:latin typeface="Arial"/>
              </a:rPr>
              <a:t>accept the source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Reference: QuestaSim</a:t>
            </a:r>
          </a:p>
          <a:p>
            <a:pPr algn="l">
              <a:lnSpc>
                <a:spcPct val="109000"/>
              </a:lnSpc>
              <a:spcBef>
                <a:spcPts val="0"/>
              </a:spcBef>
              <a:spcAft>
                <a:spcPts val="0"/>
              </a:spcAft>
            </a:pPr>
            <a:r>
              <a:rPr sz="1800" b="0">
                <a:solidFill>
                  <a:srgbClr val="00407A"/>
                </a:solidFill>
                <a:latin typeface="Arial"/>
              </a:rPr>
              <a:t>vlog -sv.</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test whether</a:t>
            </a:r>
          </a:p>
          <a:p>
            <a:pPr algn="l">
              <a:lnSpc>
                <a:spcPct val="109000"/>
              </a:lnSpc>
              <a:spcBef>
                <a:spcPts val="0"/>
              </a:spcBef>
              <a:spcAft>
                <a:spcPts val="0"/>
              </a:spcAft>
            </a:pPr>
            <a:r>
              <a:rPr sz="1800" b="0">
                <a:solidFill>
                  <a:srgbClr val="00407A"/>
                </a:solidFill>
                <a:latin typeface="Arial"/>
              </a:rPr>
              <a:t>the circuit is correct.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Does it synthesize?</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Can Design Compiler build</a:t>
            </a:r>
          </a:p>
          <a:p>
            <a:pPr algn="l">
              <a:lnSpc>
                <a:spcPct val="109000"/>
              </a:lnSpc>
              <a:spcBef>
                <a:spcPts val="0"/>
              </a:spcBef>
              <a:spcAft>
                <a:spcPts val="0"/>
              </a:spcAft>
            </a:pPr>
            <a:r>
              <a:rPr sz="1800" b="0">
                <a:solidFill>
                  <a:srgbClr val="00407A"/>
                </a:solidFill>
                <a:latin typeface="Arial"/>
              </a:rPr>
              <a:t>a complete gate-level</a:t>
            </a:r>
          </a:p>
          <a:p>
            <a:pPr algn="l">
              <a:lnSpc>
                <a:spcPct val="109000"/>
              </a:lnSpc>
              <a:spcBef>
                <a:spcPts val="0"/>
              </a:spcBef>
              <a:spcAft>
                <a:spcPts val="0"/>
              </a:spcAft>
            </a:pPr>
            <a:r>
              <a:rPr sz="1800" b="0">
                <a:solidFill>
                  <a:srgbClr val="00407A"/>
                </a:solidFill>
                <a:latin typeface="Arial"/>
              </a:rPr>
              <a:t>netlist from the code?</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unresolved modules.</a:t>
            </a:r>
          </a:p>
          <a:p>
            <a:pPr algn="l">
              <a:lnSpc>
                <a:spcPct val="109000"/>
              </a:lnSpc>
              <a:spcBef>
                <a:spcPts val="0"/>
              </a:spcBef>
              <a:spcAft>
                <a:spcPts val="0"/>
              </a:spcAft>
            </a:pPr>
            <a:r>
              <a:rPr sz="1800" b="0">
                <a:solidFill>
                  <a:srgbClr val="00407A"/>
                </a:solidFill>
                <a:latin typeface="Arial"/>
              </a:rPr>
              <a:t>All registers map to cells.</a:t>
            </a:r>
          </a:p>
          <a:p>
            <a:pPr algn="l">
              <a:lnSpc>
                <a:spcPct val="109000"/>
              </a:lnSpc>
              <a:spcBef>
                <a:spcPts val="0"/>
              </a:spcBef>
              <a:spcAft>
                <a:spcPts val="0"/>
              </a:spcAft>
            </a:pPr>
            <a:r>
              <a:rPr sz="1800" b="0">
                <a:solidFill>
                  <a:srgbClr val="00407A"/>
                </a:solidFill>
                <a:latin typeface="Arial"/>
              </a:rPr>
              <a:t>No synthesis errors.</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does it cost?</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Estimate cell area, power,</a:t>
            </a:r>
          </a:p>
          <a:p>
            <a:pPr algn="l">
              <a:lnSpc>
                <a:spcPct val="109000"/>
              </a:lnSpc>
              <a:spcBef>
                <a:spcPts val="0"/>
              </a:spcBef>
              <a:spcAft>
                <a:spcPts val="0"/>
              </a:spcAft>
            </a:pPr>
            <a:r>
              <a:rPr sz="1800" b="0">
                <a:solidFill>
                  <a:srgbClr val="00407A"/>
                </a:solidFill>
                <a:latin typeface="Arial"/>
              </a:rPr>
              <a:t>and timing from the RTL.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The reference comes from</a:t>
            </a:r>
          </a:p>
          <a:p>
            <a:pPr algn="l">
              <a:lnSpc>
                <a:spcPct val="109000"/>
              </a:lnSpc>
              <a:spcBef>
                <a:spcPts val="0"/>
              </a:spcBef>
              <a:spcAft>
                <a:spcPts val="0"/>
              </a:spcAft>
            </a:pPr>
            <a:r>
              <a:rPr sz="1800" b="0">
                <a:solidFill>
                  <a:srgbClr val="00407A"/>
                </a:solidFill>
                <a:latin typeface="Arial"/>
              </a:rPr>
              <a:t>synthesis and power tools.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No fabricated-chip or</a:t>
            </a:r>
          </a:p>
          <a:p>
            <a:pPr algn="l">
              <a:lnSpc>
                <a:spcPct val="109000"/>
              </a:lnSpc>
              <a:spcBef>
                <a:spcPts val="0"/>
              </a:spcBef>
              <a:spcAft>
                <a:spcPts val="0"/>
              </a:spcAft>
            </a:pPr>
            <a:r>
              <a:rPr sz="1800" b="0">
                <a:solidFill>
                  <a:srgbClr val="00407A"/>
                </a:solidFill>
                <a:latin typeface="Arial"/>
              </a:rPr>
              <a:t>post-route measurement.</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In the test set, 15 designs compile successfully but still fail synthesis.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The dataset and the held-out test set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One model request can contain several questions. Questions are not independent design samples.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4</a:t>
            </a:r>
          </a:p>
        </p:txBody>
      </p:sp>
      <p:sp>
        <p:nvSpPr>
          <p:cNvPr id="6" name="Rounded Rectangle 5"/>
          <p:cNvSpPr/>
          <p:nvPr/>
        </p:nvSpPr>
        <p:spPr>
          <a:xfrm>
            <a:off x="81381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151</a:t>
            </a:r>
          </a:p>
        </p:txBody>
      </p:sp>
      <p:sp>
        <p:nvSpPr>
          <p:cNvPr id="8" name="TextBox 7"/>
          <p:cNvSpPr txBox="1"/>
          <p:nvPr/>
        </p:nvSpPr>
        <p:spPr>
          <a:xfrm>
            <a:off x="209397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retained designs</a:t>
            </a:r>
          </a:p>
        </p:txBody>
      </p:sp>
      <p:sp>
        <p:nvSpPr>
          <p:cNvPr id="9" name="Rounded Rectangle 8"/>
          <p:cNvSpPr/>
          <p:nvPr/>
        </p:nvSpPr>
        <p:spPr>
          <a:xfrm>
            <a:off x="4398264"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1144"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348</a:t>
            </a:r>
          </a:p>
        </p:txBody>
      </p:sp>
      <p:sp>
        <p:nvSpPr>
          <p:cNvPr id="11" name="TextBox 10"/>
          <p:cNvSpPr txBox="1"/>
          <p:nvPr/>
        </p:nvSpPr>
        <p:spPr>
          <a:xfrm>
            <a:off x="5678423"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requests across both splits</a:t>
            </a:r>
          </a:p>
        </p:txBody>
      </p:sp>
      <p:sp>
        <p:nvSpPr>
          <p:cNvPr id="12" name="Rounded Rectangle 11"/>
          <p:cNvSpPr/>
          <p:nvPr/>
        </p:nvSpPr>
        <p:spPr>
          <a:xfrm>
            <a:off x="7991856" y="1828800"/>
            <a:ext cx="3383280" cy="107899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4736" y="1947672"/>
            <a:ext cx="1051560" cy="502920"/>
          </a:xfrm>
          <a:prstGeom prst="rect">
            <a:avLst/>
          </a:prstGeom>
          <a:noFill/>
        </p:spPr>
        <p:txBody>
          <a:bodyPr wrap="square" lIns="0" rIns="0" tIns="0" bIns="0" anchor="t">
            <a:noAutofit/>
          </a:bodyPr>
          <a:lstStyle/>
          <a:p>
            <a:pPr algn="l">
              <a:lnSpc>
                <a:spcPct val="109000"/>
              </a:lnSpc>
              <a:spcBef>
                <a:spcPts val="0"/>
              </a:spcBef>
              <a:spcAft>
                <a:spcPts val="0"/>
              </a:spcAft>
            </a:pPr>
            <a:r>
              <a:rPr sz="3200" b="1">
                <a:solidFill>
                  <a:srgbClr val="00407A"/>
                </a:solidFill>
                <a:latin typeface="Arial"/>
              </a:rPr>
              <a:t>875</a:t>
            </a:r>
          </a:p>
        </p:txBody>
      </p:sp>
      <p:sp>
        <p:nvSpPr>
          <p:cNvPr id="14" name="TextBox 13"/>
          <p:cNvSpPr txBox="1"/>
          <p:nvPr/>
        </p:nvSpPr>
        <p:spPr>
          <a:xfrm>
            <a:off x="9272016" y="2011680"/>
            <a:ext cx="1901952" cy="59436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questions across both splits</a:t>
            </a:r>
          </a:p>
        </p:txBody>
      </p:sp>
      <p:graphicFrame>
        <p:nvGraphicFramePr>
          <p:cNvPr id="15" name="Table 14"/>
          <p:cNvGraphicFramePr>
            <a:graphicFrameLocks noGrp="1"/>
          </p:cNvGraphicFramePr>
          <p:nvPr/>
        </p:nvGraphicFramePr>
        <p:xfrm>
          <a:off x="813816" y="3200400"/>
          <a:ext cx="10561320" cy="2285998"/>
        </p:xfrm>
        <a:graphic>
          <a:graphicData uri="http://schemas.openxmlformats.org/drawingml/2006/table">
            <a:tbl>
              <a:tblPr firstRow="1" bandRow="1">
                <a:tableStyleId>{5C22544A-7EE6-4342-B048-85BDC9FD1C3A}</a:tableStyleId>
              </a:tblPr>
              <a:tblGrid>
                <a:gridCol w="2971800"/>
                <a:gridCol w="1097280"/>
                <a:gridCol w="1143000"/>
                <a:gridCol w="5349240"/>
              </a:tblGrid>
              <a:tr h="566928">
                <a:tc>
                  <a:txBody>
                    <a:bodyPr/>
                    <a:lstStyle/>
                    <a:p>
                      <a:pPr algn="l">
                        <a:lnSpc>
                          <a:spcPct val="103000"/>
                        </a:lnSpc>
                        <a:spcBef>
                          <a:spcPts val="0"/>
                        </a:spcBef>
                        <a:spcAft>
                          <a:spcPts val="0"/>
                        </a:spcAft>
                      </a:pPr>
                      <a:r>
                        <a:rPr sz="1400" b="1">
                          <a:solidFill>
                            <a:srgbClr val="FFFFFF"/>
                          </a:solidFill>
                          <a:latin typeface="Arial"/>
                        </a:rPr>
                        <a:t>Held-out request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Requests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400" b="1">
                          <a:solidFill>
                            <a:srgbClr val="FFFFFF"/>
                          </a:solidFill>
                          <a:latin typeface="Arial"/>
                        </a:rPr>
                        <a:t>What is covered</a:t>
                      </a:r>
                    </a:p>
                  </a:txBody>
                  <a:tcPr marL="109728" marR="91440" marT="54864" marB="36576" anchor="ctr">
                    <a:solidFill>
                      <a:srgbClr val="00407A"/>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Basic checks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246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Compilation + synthesis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Failure reason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One of ten reason options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Performance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361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Area, power and two timing levels</a:t>
                      </a:r>
                    </a:p>
                  </a:txBody>
                  <a:tcPr marL="109728" marR="91440" marT="54864" marB="36576" anchor="ctr">
                    <a:solidFill>
                      <a:srgbClr val="E3EFF5"/>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Pair comparisons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25 distinct pairs, both orders</a:t>
                      </a:r>
                    </a:p>
                  </a:txBody>
                  <a:tcPr marL="109728" marR="91440" marT="54864" marB="36576" anchor="ctr">
                    <a:solidFill>
                      <a:srgbClr val="FFFFFF"/>
                    </a:solidFill>
                    <a:lnL>
                      <a:noFill/>
                    </a:lnL>
                    <a:lnR>
                      <a:noFill/>
                    </a:lnR>
                    <a:lnT>
                      <a:noFill/>
                    </a:lnT>
                    <a:lnB>
                      <a:noFill/>
                    </a:lnB>
                  </a:tcPr>
                </a:tc>
              </a:tr>
              <a:tr h="343814">
                <a:tc>
                  <a:txBody>
                    <a:bodyPr/>
                    <a:lstStyle/>
                    <a:p>
                      <a:pPr algn="l">
                        <a:lnSpc>
                          <a:spcPct val="103000"/>
                        </a:lnSpc>
                        <a:spcBef>
                          <a:spcPts val="0"/>
                        </a:spcBef>
                        <a:spcAft>
                          <a:spcPts val="0"/>
                        </a:spcAft>
                      </a:pPr>
                      <a:r>
                        <a:rPr sz="1600" b="0">
                          <a:solidFill>
                            <a:srgbClr val="00407A"/>
                          </a:solidFill>
                          <a:latin typeface="Arial"/>
                        </a:rPr>
                        <a:t>TOTAL TEST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725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 individual test designs</a:t>
                      </a:r>
                    </a:p>
                  </a:txBody>
                  <a:tcPr marL="109728" marR="91440" marT="54864" marB="36576" anchor="ctr">
                    <a:solidFill>
                      <a:srgbClr val="E3EFF5"/>
                    </a:solidFill>
                    <a:lnL>
                      <a:noFill/>
                    </a:lnL>
                    <a:lnR>
                      <a:noFill/>
                    </a:lnR>
                    <a:lnT>
                      <a:noFill/>
                    </a:lnT>
                    <a:lnB>
                      <a:noFill/>
                    </a:lnB>
                  </a:tcPr>
                </a:tc>
              </a:tr>
            </a:tbl>
          </a:graphicData>
        </a:graphic>
      </p:graphicFrame>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Development: 28 designs, 67 requests, 150 questions. Related base designs stay in the same split.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model receives for each test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Tool logs and correct answers are used for scoring; they are not sent to the model.</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a:t>
            </a:r>
          </a:p>
        </p:txBody>
      </p:sp>
      <p:sp>
        <p:nvSpPr>
          <p:cNvPr id="6" name="Rounded Rectangle 5"/>
          <p:cNvSpPr/>
          <p:nvPr/>
        </p:nvSpPr>
        <p:spPr>
          <a:xfrm>
            <a:off x="81381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Basic checks</a:t>
            </a:r>
          </a:p>
        </p:txBody>
      </p:sp>
      <p:sp>
        <p:nvSpPr>
          <p:cNvPr id="9" name="TextBox 8"/>
          <p:cNvSpPr txBox="1"/>
          <p:nvPr/>
        </p:nvSpPr>
        <p:spPr>
          <a:xfrm>
            <a:off x="104241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source + top module + tool description.</a:t>
            </a:r>
          </a:p>
          <a:p>
            <a:pPr algn="l">
              <a:lnSpc>
                <a:spcPct val="109000"/>
              </a:lnSpc>
              <a:spcBef>
                <a:spcPts val="0"/>
              </a:spcBef>
              <a:spcAft>
                <a:spcPts val="0"/>
              </a:spcAft>
            </a:pPr>
            <a:r>
              <a:rPr sz="1700" b="0">
                <a:solidFill>
                  <a:srgbClr val="00407A"/>
                </a:solidFill>
                <a:latin typeface="Arial"/>
              </a:rPr>
              <a:t>Questions: does it compile, and does it synthesize?</a:t>
            </a:r>
          </a:p>
        </p:txBody>
      </p:sp>
      <p:sp>
        <p:nvSpPr>
          <p:cNvPr id="10" name="Rounded Rectangle 9"/>
          <p:cNvSpPr/>
          <p:nvPr/>
        </p:nvSpPr>
        <p:spPr>
          <a:xfrm>
            <a:off x="6208776" y="1828800"/>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19751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Failure reason</a:t>
            </a:r>
          </a:p>
        </p:txBody>
      </p:sp>
      <p:sp>
        <p:nvSpPr>
          <p:cNvPr id="13" name="TextBox 12"/>
          <p:cNvSpPr txBox="1"/>
          <p:nvPr/>
        </p:nvSpPr>
        <p:spPr>
          <a:xfrm>
            <a:off x="6437376" y="2487168"/>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The same source, plus a prompt saying synthesis failed.</a:t>
            </a:r>
          </a:p>
          <a:p>
            <a:pPr algn="l">
              <a:lnSpc>
                <a:spcPct val="109000"/>
              </a:lnSpc>
              <a:spcBef>
                <a:spcPts val="0"/>
              </a:spcBef>
              <a:spcAft>
                <a:spcPts val="0"/>
              </a:spcAft>
            </a:pPr>
            <a:r>
              <a:rPr sz="1700" b="0">
                <a:solidFill>
                  <a:srgbClr val="00407A"/>
                </a:solidFill>
                <a:latin typeface="Arial"/>
              </a:rPr>
              <a:t>Choose one reason from ten descriptions.</a:t>
            </a:r>
          </a:p>
        </p:txBody>
      </p:sp>
      <p:sp>
        <p:nvSpPr>
          <p:cNvPr id="14" name="Rounded Rectangle 13"/>
          <p:cNvSpPr/>
          <p:nvPr/>
        </p:nvSpPr>
        <p:spPr>
          <a:xfrm>
            <a:off x="81381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Performance</a:t>
            </a:r>
          </a:p>
        </p:txBody>
      </p:sp>
      <p:sp>
        <p:nvSpPr>
          <p:cNvPr id="17" name="TextBox 16"/>
          <p:cNvSpPr txBox="1"/>
          <p:nvPr/>
        </p:nvSpPr>
        <p:spPr>
          <a:xfrm>
            <a:off x="104241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RTL + flow + clock target; power also gets its testbench.</a:t>
            </a:r>
          </a:p>
          <a:p>
            <a:pPr algn="l">
              <a:lnSpc>
                <a:spcPct val="109000"/>
              </a:lnSpc>
              <a:spcBef>
                <a:spcPts val="0"/>
              </a:spcBef>
              <a:spcAft>
                <a:spcPts val="0"/>
              </a:spcAft>
            </a:pPr>
            <a:r>
              <a:rPr sz="1700" b="0">
                <a:solidFill>
                  <a:srgbClr val="00407A"/>
                </a:solidFill>
                <a:latin typeface="Arial"/>
              </a:rPr>
              <a:t>Choose a level for each available metric.</a:t>
            </a:r>
          </a:p>
        </p:txBody>
      </p:sp>
      <p:sp>
        <p:nvSpPr>
          <p:cNvPr id="18" name="Rounded Rectangle 17"/>
          <p:cNvSpPr/>
          <p:nvPr/>
        </p:nvSpPr>
        <p:spPr>
          <a:xfrm>
            <a:off x="6208776" y="3749039"/>
            <a:ext cx="5166360" cy="17373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08776" y="3749039"/>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389534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Pair comparison</a:t>
            </a:r>
          </a:p>
        </p:txBody>
      </p:sp>
      <p:sp>
        <p:nvSpPr>
          <p:cNvPr id="21" name="TextBox 20"/>
          <p:cNvSpPr txBox="1"/>
          <p:nvPr/>
        </p:nvSpPr>
        <p:spPr>
          <a:xfrm>
            <a:off x="6437376" y="4407407"/>
            <a:ext cx="4709160" cy="98755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Both RTL variants + the same flow and clock.</a:t>
            </a:r>
          </a:p>
          <a:p>
            <a:pPr algn="l">
              <a:lnSpc>
                <a:spcPct val="109000"/>
              </a:lnSpc>
              <a:spcBef>
                <a:spcPts val="0"/>
              </a:spcBef>
              <a:spcAft>
                <a:spcPts val="0"/>
              </a:spcAft>
            </a:pPr>
            <a:r>
              <a:rPr sz="1700" b="0">
                <a:solidFill>
                  <a:srgbClr val="00407A"/>
                </a:solidFill>
                <a:latin typeface="Arial"/>
              </a:rPr>
              <a:t>Power comparisons also share the same testbench.</a:t>
            </a:r>
          </a:p>
        </p:txBody>
      </p:sp>
      <p:sp>
        <p:nvSpPr>
          <p:cNvPr id="22" name="Rounded Rectangle 2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The failure-reason task supplies a key fact that the synthesis yes/no task must discover.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How to read the scores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result needs a denominator and a clear rule for what counts as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6</a:t>
            </a:r>
          </a:p>
        </p:txBody>
      </p:sp>
      <p:sp>
        <p:nvSpPr>
          <p:cNvPr id="6" name="Rounded Rectangle 5"/>
          <p:cNvSpPr/>
          <p:nvPr/>
        </p:nvSpPr>
        <p:spPr>
          <a:xfrm>
            <a:off x="81381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Yes or no</a:t>
            </a:r>
          </a:p>
        </p:txBody>
      </p:sp>
      <p:sp>
        <p:nvSpPr>
          <p:cNvPr id="9" name="TextBox 8"/>
          <p:cNvSpPr txBox="1"/>
          <p:nvPr/>
        </p:nvSpPr>
        <p:spPr>
          <a:xfrm>
            <a:off x="104241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A yes probability of</a:t>
            </a:r>
          </a:p>
          <a:p>
            <a:pPr algn="l">
              <a:lnSpc>
                <a:spcPct val="109000"/>
              </a:lnSpc>
              <a:spcBef>
                <a:spcPts val="0"/>
              </a:spcBef>
              <a:spcAft>
                <a:spcPts val="0"/>
              </a:spcAft>
            </a:pPr>
            <a:r>
              <a:rPr sz="1800" b="0">
                <a:solidFill>
                  <a:srgbClr val="00407A"/>
                </a:solidFill>
                <a:latin typeface="Arial"/>
              </a:rPr>
              <a:t>0.5 or more means yes.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Show successful and failing</a:t>
            </a:r>
          </a:p>
          <a:p>
            <a:pPr algn="l">
              <a:lnSpc>
                <a:spcPct val="109000"/>
              </a:lnSpc>
              <a:spcBef>
                <a:spcPts val="0"/>
              </a:spcBef>
              <a:spcAft>
                <a:spcPts val="0"/>
              </a:spcAft>
            </a:pPr>
            <a:r>
              <a:rPr sz="1800" b="0">
                <a:solidFill>
                  <a:srgbClr val="00407A"/>
                </a:solidFill>
                <a:latin typeface="Arial"/>
              </a:rPr>
              <a:t>designs separately.</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Balanced accuracy gives</a:t>
            </a:r>
          </a:p>
          <a:p>
            <a:pPr algn="l">
              <a:lnSpc>
                <a:spcPct val="109000"/>
              </a:lnSpc>
              <a:spcBef>
                <a:spcPts val="0"/>
              </a:spcBef>
              <a:spcAft>
                <a:spcPts val="0"/>
              </a:spcAft>
            </a:pPr>
            <a:r>
              <a:rPr sz="1800" b="0">
                <a:solidFill>
                  <a:srgbClr val="00407A"/>
                </a:solidFill>
                <a:latin typeface="Arial"/>
              </a:rPr>
              <a:t>the two groups equal weight.</a:t>
            </a:r>
          </a:p>
        </p:txBody>
      </p:sp>
      <p:sp>
        <p:nvSpPr>
          <p:cNvPr id="10" name="Rounded Rectangle 9"/>
          <p:cNvSpPr/>
          <p:nvPr/>
        </p:nvSpPr>
        <p:spPr>
          <a:xfrm>
            <a:off x="4398264"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26864"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Five levels</a:t>
            </a:r>
          </a:p>
        </p:txBody>
      </p:sp>
      <p:sp>
        <p:nvSpPr>
          <p:cNvPr id="13" name="TextBox 12"/>
          <p:cNvSpPr txBox="1"/>
          <p:nvPr/>
        </p:nvSpPr>
        <p:spPr>
          <a:xfrm>
            <a:off x="4626864"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Exact: the chosen level</a:t>
            </a:r>
          </a:p>
          <a:p>
            <a:pPr algn="l">
              <a:lnSpc>
                <a:spcPct val="109000"/>
              </a:lnSpc>
              <a:spcBef>
                <a:spcPts val="0"/>
              </a:spcBef>
              <a:spcAft>
                <a:spcPts val="0"/>
              </a:spcAft>
            </a:pPr>
            <a:r>
              <a:rPr sz="1800" b="0">
                <a:solidFill>
                  <a:srgbClr val="00407A"/>
                </a:solidFill>
                <a:latin typeface="Arial"/>
              </a:rPr>
              <a:t>matches the tool label.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Within one: a difference</a:t>
            </a:r>
          </a:p>
          <a:p>
            <a:pPr algn="l">
              <a:lnSpc>
                <a:spcPct val="109000"/>
              </a:lnSpc>
              <a:spcBef>
                <a:spcPts val="0"/>
              </a:spcBef>
              <a:spcAft>
                <a:spcPts val="0"/>
              </a:spcAft>
            </a:pPr>
            <a:r>
              <a:rPr sz="1800" b="0">
                <a:solidFill>
                  <a:srgbClr val="00407A"/>
                </a:solidFill>
                <a:latin typeface="Arial"/>
              </a:rPr>
              <a:t>of at most one level.</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This does not mean a fixed</a:t>
            </a:r>
          </a:p>
          <a:p>
            <a:pPr algn="l">
              <a:lnSpc>
                <a:spcPct val="109000"/>
              </a:lnSpc>
              <a:spcBef>
                <a:spcPts val="0"/>
              </a:spcBef>
              <a:spcAft>
                <a:spcPts val="0"/>
              </a:spcAft>
            </a:pPr>
            <a:r>
              <a:rPr sz="1800" b="0">
                <a:solidFill>
                  <a:srgbClr val="00407A"/>
                </a:solidFill>
                <a:latin typeface="Arial"/>
              </a:rPr>
              <a:t>physical error tolerance.</a:t>
            </a:r>
          </a:p>
        </p:txBody>
      </p:sp>
      <p:sp>
        <p:nvSpPr>
          <p:cNvPr id="14" name="Rounded Rectangle 13"/>
          <p:cNvSpPr/>
          <p:nvPr/>
        </p:nvSpPr>
        <p:spPr>
          <a:xfrm>
            <a:off x="7991856" y="1828800"/>
            <a:ext cx="338328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91856" y="1828800"/>
            <a:ext cx="338328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0456" y="2057400"/>
            <a:ext cx="292608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Choose A or B</a:t>
            </a:r>
          </a:p>
        </p:txBody>
      </p:sp>
      <p:sp>
        <p:nvSpPr>
          <p:cNvPr id="17" name="TextBox 16"/>
          <p:cNvSpPr txBox="1"/>
          <p:nvPr/>
        </p:nvSpPr>
        <p:spPr>
          <a:xfrm>
            <a:off x="8220456" y="2834640"/>
            <a:ext cx="292608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Each pair is sent twice,</a:t>
            </a:r>
          </a:p>
          <a:p>
            <a:pPr algn="l">
              <a:lnSpc>
                <a:spcPct val="109000"/>
              </a:lnSpc>
              <a:spcBef>
                <a:spcPts val="0"/>
              </a:spcBef>
              <a:spcAft>
                <a:spcPts val="0"/>
              </a:spcAft>
            </a:pPr>
            <a:r>
              <a:rPr sz="1800" b="0">
                <a:solidFill>
                  <a:srgbClr val="00407A"/>
                </a:solidFill>
                <a:latin typeface="Arial"/>
              </a:rPr>
              <a:t>with its order swapped.</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We report per-view accuracy</a:t>
            </a:r>
          </a:p>
          <a:p>
            <a:pPr algn="l">
              <a:lnSpc>
                <a:spcPct val="109000"/>
              </a:lnSpc>
              <a:spcBef>
                <a:spcPts val="0"/>
              </a:spcBef>
              <a:spcAft>
                <a:spcPts val="0"/>
              </a:spcAft>
            </a:pPr>
            <a:r>
              <a:rPr sz="1800" b="0">
                <a:solidFill>
                  <a:srgbClr val="00407A"/>
                </a:solidFill>
                <a:latin typeface="Arial"/>
              </a:rPr>
              <a:t>and check both orders.</a:t>
            </a:r>
          </a:p>
          <a:p>
            <a:pPr algn="l">
              <a:lnSpc>
                <a:spcPct val="109000"/>
              </a:lnSpc>
              <a:spcBef>
                <a:spcPts val="0"/>
              </a:spcBef>
              <a:spcAft>
                <a:spcPts val="0"/>
              </a:spcAft>
            </a:pPr>
            <a:r>
              <a:rPr sz="1800" b="0">
                <a:solidFill>
                  <a:srgbClr val="00407A"/>
                </a:solidFill>
                <a:latin typeface="Arial"/>
              </a:rPr>
              <a:t/>
            </a:r>
          </a:p>
          <a:p>
            <a:pPr algn="l">
              <a:lnSpc>
                <a:spcPct val="109000"/>
              </a:lnSpc>
              <a:spcBef>
                <a:spcPts val="0"/>
              </a:spcBef>
              <a:spcAft>
                <a:spcPts val="0"/>
              </a:spcAft>
            </a:pPr>
            <a:r>
              <a:rPr sz="1800" b="0">
                <a:solidFill>
                  <a:srgbClr val="00407A"/>
                </a:solidFill>
                <a:latin typeface="Arial"/>
              </a:rPr>
              <a:t>50% is an always-A or</a:t>
            </a:r>
          </a:p>
          <a:p>
            <a:pPr algn="l">
              <a:lnSpc>
                <a:spcPct val="109000"/>
              </a:lnSpc>
              <a:spcBef>
                <a:spcPts val="0"/>
              </a:spcBef>
              <a:spcAft>
                <a:spcPts val="0"/>
              </a:spcAft>
            </a:pPr>
            <a:r>
              <a:rPr sz="1800" b="0">
                <a:solidFill>
                  <a:srgbClr val="00407A"/>
                </a:solidFill>
                <a:latin typeface="Arial"/>
              </a:rPr>
              <a:t>always-B reference here.</a:t>
            </a:r>
          </a:p>
        </p:txBody>
      </p:sp>
      <p:sp>
        <p:nvSpPr>
          <p:cNvPr id="18" name="Rounded Rectangle 1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“constant-answer reference” below means always choosing one stated answer, calculated from test labels.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Synthesis: successful and failing designs must be split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Both panels show the same yes/no question, grouped by the tool’s actual result.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successful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99 designs that the tool synthesizes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99 of 99</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298704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2956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98.0%</a:t>
            </a:r>
          </a:p>
          <a:p>
            <a:pPr algn="l">
              <a:lnSpc>
                <a:spcPct val="109000"/>
              </a:lnSpc>
              <a:spcBef>
                <a:spcPts val="0"/>
              </a:spcBef>
              <a:spcAft>
                <a:spcPts val="0"/>
              </a:spcAft>
            </a:pPr>
            <a:r>
              <a:rPr sz="1250" b="0">
                <a:solidFill>
                  <a:srgbClr val="00407A"/>
                </a:solidFill>
                <a:latin typeface="Arial"/>
              </a:rPr>
              <a:t>97 of 99</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29870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99.0%</a:t>
            </a:r>
          </a:p>
          <a:p>
            <a:pPr algn="l">
              <a:lnSpc>
                <a:spcPct val="109000"/>
              </a:lnSpc>
              <a:spcBef>
                <a:spcPts val="0"/>
              </a:spcBef>
              <a:spcAft>
                <a:spcPts val="0"/>
              </a:spcAft>
            </a:pPr>
            <a:r>
              <a:rPr sz="1250" b="0">
                <a:solidFill>
                  <a:srgbClr val="00407A"/>
                </a:solidFill>
                <a:latin typeface="Arial"/>
              </a:rPr>
              <a:t>98 of 99</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synthesis failure</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24 designs that the tool cannot synthesize</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TextBox 37"/>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39" name="TextBox 38"/>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0" name="TextBox 39"/>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24</a:t>
            </a:r>
          </a:p>
        </p:txBody>
      </p:sp>
      <p:sp>
        <p:nvSpPr>
          <p:cNvPr id="41" name="TextBox 40"/>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2" name="Rectangle 41"/>
          <p:cNvSpPr/>
          <p:nvPr/>
        </p:nvSpPr>
        <p:spPr>
          <a:xfrm>
            <a:off x="7059168" y="3959351"/>
            <a:ext cx="2514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a:t>
            </a:r>
          </a:p>
          <a:p>
            <a:pPr algn="l">
              <a:lnSpc>
                <a:spcPct val="109000"/>
              </a:lnSpc>
              <a:spcBef>
                <a:spcPts val="0"/>
              </a:spcBef>
              <a:spcAft>
                <a:spcPts val="0"/>
              </a:spcAft>
            </a:pPr>
            <a:r>
              <a:rPr sz="1250" b="0">
                <a:solidFill>
                  <a:srgbClr val="00407A"/>
                </a:solidFill>
                <a:latin typeface="Arial"/>
              </a:rPr>
              <a:t>2 of 24</a:t>
            </a:r>
          </a:p>
        </p:txBody>
      </p:sp>
      <p:sp>
        <p:nvSpPr>
          <p:cNvPr id="44" name="TextBox 43"/>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5" name="Rectangle 44"/>
          <p:cNvSpPr/>
          <p:nvPr/>
        </p:nvSpPr>
        <p:spPr>
          <a:xfrm>
            <a:off x="7059168" y="4462272"/>
            <a:ext cx="5029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16.7%</a:t>
            </a:r>
          </a:p>
          <a:p>
            <a:pPr algn="l">
              <a:lnSpc>
                <a:spcPct val="109000"/>
              </a:lnSpc>
              <a:spcBef>
                <a:spcPts val="0"/>
              </a:spcBef>
              <a:spcAft>
                <a:spcPts val="0"/>
              </a:spcAft>
            </a:pPr>
            <a:r>
              <a:rPr sz="1250" b="0">
                <a:solidFill>
                  <a:srgbClr val="00407A"/>
                </a:solidFill>
                <a:latin typeface="Arial"/>
              </a:rPr>
              <a:t>4 of 24</a:t>
            </a:r>
          </a:p>
        </p:txBody>
      </p:sp>
      <p:sp>
        <p:nvSpPr>
          <p:cNvPr id="47" name="TextBox 46"/>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8" name="Rounded Rectangle 4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recognises 98 of 99 successes, but misses 20 of 24 failures.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Why 82.9% hid poor synthesis failure detection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KEV-27B • 123 held-out designs • a yes/no threshold of 0.5</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8</a:t>
            </a:r>
          </a:p>
        </p:txBody>
      </p:sp>
      <p:graphicFrame>
        <p:nvGraphicFramePr>
          <p:cNvPr id="6" name="Table 5"/>
          <p:cNvGraphicFramePr>
            <a:graphicFrameLocks noGrp="1"/>
          </p:cNvGraphicFramePr>
          <p:nvPr/>
        </p:nvGraphicFramePr>
        <p:xfrm>
          <a:off x="813816" y="1874519"/>
          <a:ext cx="7498080" cy="1737358"/>
        </p:xfrm>
        <a:graphic>
          <a:graphicData uri="http://schemas.openxmlformats.org/drawingml/2006/table">
            <a:tbl>
              <a:tblPr firstRow="1" bandRow="1">
                <a:tableStyleId>{5C22544A-7EE6-4342-B048-85BDC9FD1C3A}</a:tableStyleId>
              </a:tblPr>
              <a:tblGrid>
                <a:gridCol w="2834640"/>
                <a:gridCol w="2331720"/>
                <a:gridCol w="2331720"/>
              </a:tblGrid>
              <a:tr h="566928">
                <a:tc>
                  <a:txBody>
                    <a:bodyPr/>
                    <a:lstStyle/>
                    <a:p>
                      <a:pPr algn="l">
                        <a:lnSpc>
                          <a:spcPct val="103000"/>
                        </a:lnSpc>
                        <a:spcBef>
                          <a:spcPts val="0"/>
                        </a:spcBef>
                        <a:spcAft>
                          <a:spcPts val="0"/>
                        </a:spcAft>
                      </a:pPr>
                      <a:r>
                        <a:rPr sz="1700" b="1">
                          <a:solidFill>
                            <a:srgbClr val="FFFFFF"/>
                          </a:solidFill>
                          <a:latin typeface="Arial"/>
                        </a:rPr>
                        <a:t>Actual tool result</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YES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700" b="1">
                          <a:solidFill>
                            <a:srgbClr val="FFFFFF"/>
                          </a:solidFill>
                          <a:latin typeface="Arial"/>
                        </a:rPr>
                        <a:t>Model says NO</a:t>
                      </a:r>
                    </a:p>
                  </a:txBody>
                  <a:tcPr marL="109728" marR="91440" marT="54864" marB="36576" anchor="ctr">
                    <a:solidFill>
                      <a:srgbClr val="00407A"/>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Synthesizes — 99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98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wrong</a:t>
                      </a:r>
                    </a:p>
                  </a:txBody>
                  <a:tcPr marL="109728" marR="91440" marT="54864" marB="36576" anchor="ctr">
                    <a:solidFill>
                      <a:srgbClr val="E3EFF5"/>
                    </a:solidFill>
                    <a:lnL>
                      <a:noFill/>
                    </a:lnL>
                    <a:lnR>
                      <a:noFill/>
                    </a:lnR>
                    <a:lnT>
                      <a:noFill/>
                    </a:lnT>
                    <a:lnB>
                      <a:noFill/>
                    </a:lnB>
                  </a:tcPr>
                </a:tc>
              </a:tr>
              <a:tr h="585215">
                <a:tc>
                  <a:txBody>
                    <a:bodyPr/>
                    <a:lstStyle/>
                    <a:p>
                      <a:pPr algn="l">
                        <a:lnSpc>
                          <a:spcPct val="103000"/>
                        </a:lnSpc>
                        <a:spcBef>
                          <a:spcPts val="0"/>
                        </a:spcBef>
                        <a:spcAft>
                          <a:spcPts val="0"/>
                        </a:spcAft>
                      </a:pPr>
                      <a:r>
                        <a:rPr sz="2100" b="0">
                          <a:solidFill>
                            <a:srgbClr val="00407A"/>
                          </a:solidFill>
                          <a:latin typeface="Arial"/>
                        </a:rPr>
                        <a:t>Fails synthesis — 24 designs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 wrong</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correct</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82.9% overall accuracy</a:t>
            </a:r>
          </a:p>
        </p:txBody>
      </p:sp>
      <p:sp>
        <p:nvSpPr>
          <p:cNvPr id="10" name="TextBox 9"/>
          <p:cNvSpPr txBox="1"/>
          <p:nvPr/>
        </p:nvSpPr>
        <p:spPr>
          <a:xfrm>
            <a:off x="104241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102 correct of 123 designs.</a:t>
            </a:r>
          </a:p>
          <a:p>
            <a:pPr algn="l">
              <a:lnSpc>
                <a:spcPct val="109000"/>
              </a:lnSpc>
              <a:spcBef>
                <a:spcPts val="0"/>
              </a:spcBef>
              <a:spcAft>
                <a:spcPts val="0"/>
              </a:spcAft>
            </a:pPr>
            <a:r>
              <a:rPr sz="1700" b="0">
                <a:solidFill>
                  <a:srgbClr val="00407A"/>
                </a:solidFill>
                <a:latin typeface="Arial"/>
              </a:rPr>
              <a:t>Each design has equal weight; the 99 successes dominate.</a:t>
            </a:r>
          </a:p>
        </p:txBody>
      </p:sp>
      <p:sp>
        <p:nvSpPr>
          <p:cNvPr id="11" name="Rounded Rectangle 10"/>
          <p:cNvSpPr/>
          <p:nvPr/>
        </p:nvSpPr>
        <p:spPr>
          <a:xfrm>
            <a:off x="6208776" y="3840480"/>
            <a:ext cx="5166360" cy="1627632"/>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38404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39867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57.8% balanced accuracy</a:t>
            </a:r>
          </a:p>
        </p:txBody>
      </p:sp>
      <p:sp>
        <p:nvSpPr>
          <p:cNvPr id="14" name="TextBox 13"/>
          <p:cNvSpPr txBox="1"/>
          <p:nvPr/>
        </p:nvSpPr>
        <p:spPr>
          <a:xfrm>
            <a:off x="6437376" y="4498848"/>
            <a:ext cx="4709160" cy="877824"/>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Average of 99.0% success recognition</a:t>
            </a:r>
          </a:p>
          <a:p>
            <a:pPr algn="l">
              <a:lnSpc>
                <a:spcPct val="109000"/>
              </a:lnSpc>
              <a:spcBef>
                <a:spcPts val="0"/>
              </a:spcBef>
              <a:spcAft>
                <a:spcPts val="0"/>
              </a:spcAft>
            </a:pPr>
            <a:r>
              <a:rPr sz="1700" b="0">
                <a:solidFill>
                  <a:srgbClr val="00407A"/>
                </a:solidFill>
                <a:latin typeface="Arial"/>
              </a:rPr>
              <a:t>and 16.7% failure detection. Each group gets half the weight.</a:t>
            </a:r>
          </a:p>
        </p:txBody>
      </p:sp>
      <p:sp>
        <p:nvSpPr>
          <p:cNvPr id="15" name="TextBox 14"/>
          <p:cNvSpPr txBox="1"/>
          <p:nvPr/>
        </p:nvSpPr>
        <p:spPr>
          <a:xfrm>
            <a:off x="8732520" y="1920240"/>
            <a:ext cx="2377440" cy="1371600"/>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20 failures</a:t>
            </a:r>
          </a:p>
          <a:p>
            <a:pPr algn="l">
              <a:lnSpc>
                <a:spcPct val="109000"/>
              </a:lnSpc>
              <a:spcBef>
                <a:spcPts val="0"/>
              </a:spcBef>
              <a:spcAft>
                <a:spcPts val="0"/>
              </a:spcAft>
            </a:pPr>
            <a:r>
              <a:rPr sz="3100" b="1">
                <a:solidFill>
                  <a:srgbClr val="00407A"/>
                </a:solidFill>
                <a:latin typeface="Arial"/>
              </a:rPr>
              <a:t>missed</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Both percentages are correct. They answer different questions about an imbalanced test 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Which synthesis failures do the models detect?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Split the 24 failures again: source accepted by the simulator compiler versus rejected source.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9</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Compiles, but fails synthesis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15 designs • synthesis-specific failure cases</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TextBox 15"/>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7" name="TextBox 16"/>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8" name="TextBox 17"/>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19" name="TextBox 18"/>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0" name="Rectangle 19"/>
          <p:cNvSpPr/>
          <p:nvPr/>
        </p:nvSpPr>
        <p:spPr>
          <a:xfrm>
            <a:off x="1664208" y="3959351"/>
            <a:ext cx="20116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6.7%</a:t>
            </a:r>
          </a:p>
          <a:p>
            <a:pPr algn="l">
              <a:lnSpc>
                <a:spcPct val="109000"/>
              </a:lnSpc>
              <a:spcBef>
                <a:spcPts val="0"/>
              </a:spcBef>
              <a:spcAft>
                <a:spcPts val="0"/>
              </a:spcAft>
            </a:pPr>
            <a:r>
              <a:rPr sz="1250" b="0">
                <a:solidFill>
                  <a:srgbClr val="00407A"/>
                </a:solidFill>
                <a:latin typeface="Arial"/>
              </a:rPr>
              <a:t>1 of 15</a:t>
            </a:r>
          </a:p>
        </p:txBody>
      </p:sp>
      <p:sp>
        <p:nvSpPr>
          <p:cNvPr id="22" name="TextBox 21"/>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3" name="TextBox 22"/>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15</a:t>
            </a:r>
          </a:p>
        </p:txBody>
      </p:sp>
      <p:sp>
        <p:nvSpPr>
          <p:cNvPr id="24" name="TextBox 23"/>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5" name="Rounded Rectangle 24"/>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Compilation also fails</a:t>
            </a:r>
          </a:p>
        </p:txBody>
      </p:sp>
      <p:sp>
        <p:nvSpPr>
          <p:cNvPr id="27" name="TextBox 26"/>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 both tools reject the design</a:t>
            </a:r>
          </a:p>
        </p:txBody>
      </p:sp>
      <p:cxnSp>
        <p:nvCxnSpPr>
          <p:cNvPr id="28" name="Connector 27"/>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0" name="Connector 29"/>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2" name="Connector 31"/>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4" name="TextBox 33"/>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5" name="TextBox 34"/>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6" name="TextBox 35"/>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37" name="TextBox 36"/>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38" name="TextBox 37"/>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39" name="Rectangle 38"/>
          <p:cNvSpPr/>
          <p:nvPr/>
        </p:nvSpPr>
        <p:spPr>
          <a:xfrm>
            <a:off x="7059168" y="3959351"/>
            <a:ext cx="33528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11.1%</a:t>
            </a:r>
          </a:p>
          <a:p>
            <a:pPr algn="l">
              <a:lnSpc>
                <a:spcPct val="109000"/>
              </a:lnSpc>
              <a:spcBef>
                <a:spcPts val="0"/>
              </a:spcBef>
              <a:spcAft>
                <a:spcPts val="0"/>
              </a:spcAft>
            </a:pPr>
            <a:r>
              <a:rPr sz="1250" b="0">
                <a:solidFill>
                  <a:srgbClr val="00407A"/>
                </a:solidFill>
                <a:latin typeface="Arial"/>
              </a:rPr>
              <a:t>1 of 9</a:t>
            </a:r>
          </a:p>
        </p:txBody>
      </p:sp>
      <p:sp>
        <p:nvSpPr>
          <p:cNvPr id="41" name="TextBox 40"/>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2" name="Rectangle 41"/>
          <p:cNvSpPr/>
          <p:nvPr/>
        </p:nvSpPr>
        <p:spPr>
          <a:xfrm>
            <a:off x="7059168" y="4462272"/>
            <a:ext cx="13411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44.4%</a:t>
            </a:r>
          </a:p>
          <a:p>
            <a:pPr algn="l">
              <a:lnSpc>
                <a:spcPct val="109000"/>
              </a:lnSpc>
              <a:spcBef>
                <a:spcPts val="0"/>
              </a:spcBef>
              <a:spcAft>
                <a:spcPts val="0"/>
              </a:spcAft>
            </a:pPr>
            <a:r>
              <a:rPr sz="1250" b="0">
                <a:solidFill>
                  <a:srgbClr val="00407A"/>
                </a:solidFill>
                <a:latin typeface="Arial"/>
              </a:rPr>
              <a:t>4 of 9</a:t>
            </a:r>
          </a:p>
        </p:txBody>
      </p:sp>
      <p:sp>
        <p:nvSpPr>
          <p:cNvPr id="44" name="TextBox 43"/>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5" name="Rounded Rectangle 4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KEV-27B misses every one of the 15 synthesis failures whose source compiles.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Compilation: KEV-27B detects eight of nine errors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source-code acceptance check, separate from synthesis and functional verification.</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Recognise code that compiles</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114 designs accepted by vlog -sv</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53512"/>
            <a:ext cx="105877"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a:t>
            </a:r>
          </a:p>
          <a:p>
            <a:pPr algn="l">
              <a:lnSpc>
                <a:spcPct val="109000"/>
              </a:lnSpc>
              <a:spcBef>
                <a:spcPts val="0"/>
              </a:spcBef>
              <a:spcAft>
                <a:spcPts val="0"/>
              </a:spcAft>
            </a:pPr>
            <a:r>
              <a:rPr sz="1250" b="0">
                <a:solidFill>
                  <a:srgbClr val="00407A"/>
                </a:solidFill>
                <a:latin typeface="Arial"/>
              </a:rPr>
              <a:t>4 of 114</a:t>
            </a:r>
          </a:p>
        </p:txBody>
      </p:sp>
      <p:sp>
        <p:nvSpPr>
          <p:cNvPr id="18" name="TextBox 17"/>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56432"/>
            <a:ext cx="301752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1" name="TextBox 20"/>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59351"/>
            <a:ext cx="301752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4" name="TextBox 23"/>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114 of 114</a:t>
            </a:r>
          </a:p>
        </p:txBody>
      </p:sp>
      <p:sp>
        <p:nvSpPr>
          <p:cNvPr id="27" name="TextBox 26"/>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Detect a compilation error</a:t>
            </a:r>
          </a:p>
        </p:txBody>
      </p:sp>
      <p:sp>
        <p:nvSpPr>
          <p:cNvPr id="30" name="TextBox 29"/>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9 designs rejected by vlog -sv</a:t>
            </a:r>
          </a:p>
        </p:txBody>
      </p:sp>
      <p:cxnSp>
        <p:nvCxnSpPr>
          <p:cNvPr id="31" name="Connector 30"/>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3" name="Connector 32"/>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5" name="Connector 34"/>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7" name="TextBox 36"/>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38" name="Rectangle 37"/>
          <p:cNvSpPr/>
          <p:nvPr/>
        </p:nvSpPr>
        <p:spPr>
          <a:xfrm>
            <a:off x="7059168" y="2953512"/>
            <a:ext cx="301752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 of 9</a:t>
            </a:r>
          </a:p>
        </p:txBody>
      </p:sp>
      <p:sp>
        <p:nvSpPr>
          <p:cNvPr id="40" name="TextBox 39"/>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1" name="TextBox 40"/>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0.0%</a:t>
            </a:r>
          </a:p>
          <a:p>
            <a:pPr algn="l">
              <a:lnSpc>
                <a:spcPct val="109000"/>
              </a:lnSpc>
              <a:spcBef>
                <a:spcPts val="0"/>
              </a:spcBef>
              <a:spcAft>
                <a:spcPts val="0"/>
              </a:spcAft>
            </a:pPr>
            <a:r>
              <a:rPr sz="1250" b="0">
                <a:solidFill>
                  <a:srgbClr val="00407A"/>
                </a:solidFill>
                <a:latin typeface="Arial"/>
              </a:rPr>
              <a:t>0 of 9</a:t>
            </a:r>
          </a:p>
        </p:txBody>
      </p:sp>
      <p:sp>
        <p:nvSpPr>
          <p:cNvPr id="42" name="TextBox 41"/>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3" name="Rectangle 42"/>
          <p:cNvSpPr/>
          <p:nvPr/>
        </p:nvSpPr>
        <p:spPr>
          <a:xfrm>
            <a:off x="7059168" y="3959351"/>
            <a:ext cx="67056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22.2%</a:t>
            </a:r>
          </a:p>
          <a:p>
            <a:pPr algn="l">
              <a:lnSpc>
                <a:spcPct val="109000"/>
              </a:lnSpc>
              <a:spcBef>
                <a:spcPts val="0"/>
              </a:spcBef>
              <a:spcAft>
                <a:spcPts val="0"/>
              </a:spcAft>
            </a:pPr>
            <a:r>
              <a:rPr sz="1250" b="0">
                <a:solidFill>
                  <a:srgbClr val="00407A"/>
                </a:solidFill>
                <a:latin typeface="Arial"/>
              </a:rPr>
              <a:t>2 of 9</a:t>
            </a:r>
          </a:p>
        </p:txBody>
      </p:sp>
      <p:sp>
        <p:nvSpPr>
          <p:cNvPr id="45" name="TextBox 44"/>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6" name="Rectangle 45"/>
          <p:cNvSpPr/>
          <p:nvPr/>
        </p:nvSpPr>
        <p:spPr>
          <a:xfrm>
            <a:off x="7059168" y="4462272"/>
            <a:ext cx="268224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88.9%</a:t>
            </a:r>
          </a:p>
          <a:p>
            <a:pPr algn="l">
              <a:lnSpc>
                <a:spcPct val="109000"/>
              </a:lnSpc>
              <a:spcBef>
                <a:spcPts val="0"/>
              </a:spcBef>
              <a:spcAft>
                <a:spcPts val="0"/>
              </a:spcAft>
            </a:pPr>
            <a:r>
              <a:rPr sz="1250" b="0">
                <a:solidFill>
                  <a:srgbClr val="00407A"/>
                </a:solidFill>
                <a:latin typeface="Arial"/>
              </a:rPr>
              <a:t>8 of 9</a:t>
            </a:r>
          </a:p>
        </p:txBody>
      </p:sp>
      <p:sp>
        <p:nvSpPr>
          <p:cNvPr id="48" name="TextBox 47"/>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49" name="Rounded Rectangle 4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KEV-4B’s 92.7% pooled score comes from saying “compiles” for every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 reasons: 27B gets 15 of 16 right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prompt explicitly states that synthesis failed, then offers ten possible reasons.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11</a:t>
            </a:r>
          </a:p>
        </p:txBody>
      </p:sp>
      <p:sp>
        <p:nvSpPr>
          <p:cNvPr id="6" name="Rounded Rectangle 5"/>
          <p:cNvSpPr/>
          <p:nvPr/>
        </p:nvSpPr>
        <p:spPr>
          <a:xfrm>
            <a:off x="813816" y="1828800"/>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correct failure reason</a:t>
            </a:r>
          </a:p>
        </p:txBody>
      </p:sp>
      <p:sp>
        <p:nvSpPr>
          <p:cNvPr id="8" name="TextBox 7"/>
          <p:cNvSpPr txBox="1"/>
          <p:nvPr/>
        </p:nvSpPr>
        <p:spPr>
          <a:xfrm>
            <a:off x="1014984" y="2441448"/>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16 known-failure designs • one choice per design</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15" name="TextBox 14"/>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6" name="Rectangle 15"/>
          <p:cNvSpPr/>
          <p:nvPr/>
        </p:nvSpPr>
        <p:spPr>
          <a:xfrm>
            <a:off x="1664208" y="2962656"/>
            <a:ext cx="94297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31.3%</a:t>
            </a:r>
          </a:p>
          <a:p>
            <a:pPr algn="l">
              <a:lnSpc>
                <a:spcPct val="109000"/>
              </a:lnSpc>
              <a:spcBef>
                <a:spcPts val="0"/>
              </a:spcBef>
              <a:spcAft>
                <a:spcPts val="0"/>
              </a:spcAft>
            </a:pPr>
            <a:r>
              <a:rPr sz="1250" b="0">
                <a:solidFill>
                  <a:srgbClr val="00407A"/>
                </a:solidFill>
                <a:latin typeface="Arial"/>
              </a:rPr>
              <a:t>5 of 16</a:t>
            </a:r>
          </a:p>
        </p:txBody>
      </p:sp>
      <p:sp>
        <p:nvSpPr>
          <p:cNvPr id="18" name="TextBox 17"/>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19" name="Rectangle 18"/>
          <p:cNvSpPr/>
          <p:nvPr/>
        </p:nvSpPr>
        <p:spPr>
          <a:xfrm>
            <a:off x="1664208" y="3465575"/>
            <a:ext cx="1697355"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56.3%</a:t>
            </a:r>
          </a:p>
          <a:p>
            <a:pPr algn="l">
              <a:lnSpc>
                <a:spcPct val="109000"/>
              </a:lnSpc>
              <a:spcBef>
                <a:spcPts val="0"/>
              </a:spcBef>
              <a:spcAft>
                <a:spcPts val="0"/>
              </a:spcAft>
            </a:pPr>
            <a:r>
              <a:rPr sz="1250" b="0">
                <a:solidFill>
                  <a:srgbClr val="00407A"/>
                </a:solidFill>
                <a:latin typeface="Arial"/>
              </a:rPr>
              <a:t>9 of 16</a:t>
            </a:r>
          </a:p>
        </p:txBody>
      </p:sp>
      <p:sp>
        <p:nvSpPr>
          <p:cNvPr id="21" name="TextBox 20"/>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2" name="Rectangle 21"/>
          <p:cNvSpPr/>
          <p:nvPr/>
        </p:nvSpPr>
        <p:spPr>
          <a:xfrm>
            <a:off x="1664208" y="3968495"/>
            <a:ext cx="2074545"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0060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68.8%</a:t>
            </a:r>
          </a:p>
          <a:p>
            <a:pPr algn="l">
              <a:lnSpc>
                <a:spcPct val="109000"/>
              </a:lnSpc>
              <a:spcBef>
                <a:spcPts val="0"/>
              </a:spcBef>
              <a:spcAft>
                <a:spcPts val="0"/>
              </a:spcAft>
            </a:pPr>
            <a:r>
              <a:rPr sz="1250" b="0">
                <a:solidFill>
                  <a:srgbClr val="00407A"/>
                </a:solidFill>
                <a:latin typeface="Arial"/>
              </a:rPr>
              <a:t>11 of 16</a:t>
            </a:r>
          </a:p>
        </p:txBody>
      </p:sp>
      <p:sp>
        <p:nvSpPr>
          <p:cNvPr id="24" name="TextBox 23"/>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5" name="Rectangle 24"/>
          <p:cNvSpPr/>
          <p:nvPr/>
        </p:nvSpPr>
        <p:spPr>
          <a:xfrm>
            <a:off x="1664208" y="4471416"/>
            <a:ext cx="2828925"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93.8%</a:t>
            </a:r>
          </a:p>
          <a:p>
            <a:pPr algn="l">
              <a:lnSpc>
                <a:spcPct val="109000"/>
              </a:lnSpc>
              <a:spcBef>
                <a:spcPts val="0"/>
              </a:spcBef>
              <a:spcAft>
                <a:spcPts val="0"/>
              </a:spcAft>
            </a:pPr>
            <a:r>
              <a:rPr sz="1250" b="0">
                <a:solidFill>
                  <a:srgbClr val="00407A"/>
                </a:solidFill>
                <a:latin typeface="Arial"/>
              </a:rPr>
              <a:t>15 of 16</a:t>
            </a:r>
          </a:p>
        </p:txBody>
      </p:sp>
      <p:sp>
        <p:nvSpPr>
          <p:cNvPr id="27" name="TextBox 26"/>
          <p:cNvSpPr txBox="1"/>
          <p:nvPr/>
        </p:nvSpPr>
        <p:spPr>
          <a:xfrm>
            <a:off x="996696" y="5038344"/>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8" name="Rounded Rectangle 27"/>
          <p:cNvSpPr/>
          <p:nvPr/>
        </p:nvSpPr>
        <p:spPr>
          <a:xfrm>
            <a:off x="6208776" y="1828800"/>
            <a:ext cx="5166360" cy="1874519"/>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What is measured</a:t>
            </a:r>
          </a:p>
        </p:txBody>
      </p:sp>
      <p:sp>
        <p:nvSpPr>
          <p:cNvPr id="31" name="TextBox 30"/>
          <p:cNvSpPr txBox="1"/>
          <p:nvPr/>
        </p:nvSpPr>
        <p:spPr>
          <a:xfrm>
            <a:off x="6437376" y="2834640"/>
            <a:ext cx="4709160" cy="685799"/>
          </a:xfrm>
          <a:prstGeom prst="rect">
            <a:avLst/>
          </a:prstGeom>
          <a:noFill/>
        </p:spPr>
        <p:txBody>
          <a:bodyPr wrap="square" lIns="0" rIns="0" tIns="0" bIns="0" anchor="t">
            <a:noAutofit/>
          </a:bodyPr>
          <a:lstStyle/>
          <a:p>
            <a:pPr algn="l">
              <a:lnSpc>
                <a:spcPct val="109000"/>
              </a:lnSpc>
              <a:spcBef>
                <a:spcPts val="0"/>
              </a:spcBef>
              <a:spcAft>
                <a:spcPts val="0"/>
              </a:spcAft>
            </a:pPr>
            <a:r>
              <a:rPr sz="2100" b="0">
                <a:solidFill>
                  <a:srgbClr val="00407A"/>
                </a:solidFill>
                <a:latin typeface="Arial"/>
              </a:rPr>
              <a:t>Can the model identify the reason</a:t>
            </a:r>
          </a:p>
          <a:p>
            <a:pPr algn="l">
              <a:lnSpc>
                <a:spcPct val="109000"/>
              </a:lnSpc>
              <a:spcBef>
                <a:spcPts val="0"/>
              </a:spcBef>
              <a:spcAft>
                <a:spcPts val="0"/>
              </a:spcAft>
            </a:pPr>
            <a:r>
              <a:rPr sz="2100" b="0">
                <a:solidFill>
                  <a:srgbClr val="00407A"/>
                </a:solidFill>
                <a:latin typeface="Arial"/>
              </a:rPr>
              <a:t>when failure is already known?</a:t>
            </a:r>
          </a:p>
        </p:txBody>
      </p:sp>
      <p:sp>
        <p:nvSpPr>
          <p:cNvPr id="32" name="Rounded Rectangle 31"/>
          <p:cNvSpPr/>
          <p:nvPr/>
        </p:nvSpPr>
        <p:spPr>
          <a:xfrm>
            <a:off x="6208776" y="3886200"/>
            <a:ext cx="5166360" cy="166420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08776" y="38862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40325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What the 27B error was</a:t>
            </a:r>
          </a:p>
        </p:txBody>
      </p:sp>
      <p:sp>
        <p:nvSpPr>
          <p:cNvPr id="35" name="TextBox 34"/>
          <p:cNvSpPr txBox="1"/>
          <p:nvPr/>
        </p:nvSpPr>
        <p:spPr>
          <a:xfrm>
            <a:off x="6437376" y="4544568"/>
            <a:ext cx="4709160" cy="91440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A multiple-driver error was labelled</a:t>
            </a:r>
          </a:p>
          <a:p>
            <a:pPr algn="l">
              <a:lnSpc>
                <a:spcPct val="109000"/>
              </a:lnSpc>
              <a:spcBef>
                <a:spcPts val="0"/>
              </a:spcBef>
              <a:spcAft>
                <a:spcPts val="0"/>
              </a:spcAft>
            </a:pPr>
            <a:r>
              <a:rPr sz="1900" b="0">
                <a:solidFill>
                  <a:srgbClr val="00407A"/>
                </a:solidFill>
                <a:latin typeface="Arial"/>
              </a:rPr>
              <a:t>as an asynchronous-reset error.</a:t>
            </a:r>
          </a:p>
        </p:txBody>
      </p:sp>
      <p:sp>
        <p:nvSpPr>
          <p:cNvPr id="36" name="Rounded Rectangle 3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Only eight of the ten reason classes occur in these 16 test designs. Coverage is limited.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Diagnosing a known failure is not detecting that failure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Match the two saved responses for the same 16 reason-test designs.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12</a:t>
            </a:r>
          </a:p>
        </p:txBody>
      </p:sp>
      <p:graphicFrame>
        <p:nvGraphicFramePr>
          <p:cNvPr id="6" name="Table 5"/>
          <p:cNvGraphicFramePr>
            <a:graphicFrameLocks noGrp="1"/>
          </p:cNvGraphicFramePr>
          <p:nvPr/>
        </p:nvGraphicFramePr>
        <p:xfrm>
          <a:off x="813816" y="1920240"/>
          <a:ext cx="10561320" cy="2514600"/>
        </p:xfrm>
        <a:graphic>
          <a:graphicData uri="http://schemas.openxmlformats.org/drawingml/2006/table">
            <a:tbl>
              <a:tblPr firstRow="1" bandRow="1">
                <a:tableStyleId>{5C22544A-7EE6-4342-B048-85BDC9FD1C3A}</a:tableStyleId>
              </a:tblPr>
              <a:tblGrid>
                <a:gridCol w="1371600"/>
                <a:gridCol w="2743200"/>
                <a:gridCol w="3703320"/>
                <a:gridCol w="27432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Says synthesis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Correct reason when told it failed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Both answers correct</a:t>
                      </a:r>
                    </a:p>
                  </a:txBody>
                  <a:tcPr marL="109728" marR="91440" marT="54864" marB="36576" anchor="ctr">
                    <a:solidFill>
                      <a:srgbClr val="00407A"/>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11 of 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 of 16</a:t>
                      </a:r>
                    </a:p>
                  </a:txBody>
                  <a:tcPr marL="109728" marR="91440" marT="54864" marB="36576" anchor="ctr">
                    <a:solidFill>
                      <a:srgbClr val="E3EFF5"/>
                    </a:solidFill>
                    <a:lnL>
                      <a:noFill/>
                    </a:lnL>
                    <a:lnR>
                      <a:noFill/>
                    </a:lnR>
                    <a:lnT>
                      <a:noFill/>
                    </a:lnT>
                    <a:lnB>
                      <a:noFill/>
                    </a:lnB>
                  </a:tcPr>
                </a:tc>
              </a:tr>
              <a:tr h="48691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15 of 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0 of 16</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709160"/>
            <a:ext cx="10561320" cy="841248"/>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10328"/>
            <a:ext cx="10058400" cy="50292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27B: 15 correct diagnoses, but zero failure flags on these same designs.</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This is a linked analysis of existing answers, not a separately run detection-and-diagnosis system.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and power: choose one of five ranges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model estimates a level from source code and flow information, not an exact physical value.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13</a:t>
            </a:r>
          </a:p>
        </p:txBody>
      </p:sp>
      <p:graphicFrame>
        <p:nvGraphicFramePr>
          <p:cNvPr id="6" name="Table 5"/>
          <p:cNvGraphicFramePr>
            <a:graphicFrameLocks noGrp="1"/>
          </p:cNvGraphicFramePr>
          <p:nvPr/>
        </p:nvGraphicFramePr>
        <p:xfrm>
          <a:off x="813816" y="1920240"/>
          <a:ext cx="10561320" cy="2103118"/>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Cell area</a:t>
                      </a:r>
                    </a:p>
                    <a:p>
                      <a:pPr algn="l">
                        <a:lnSpc>
                          <a:spcPct val="103000"/>
                        </a:lnSpc>
                        <a:spcBef>
                          <a:spcPts val="0"/>
                        </a:spcBef>
                        <a:spcAft>
                          <a:spcPts val="0"/>
                        </a:spcAft>
                      </a:pPr>
                      <a:r>
                        <a:rPr sz="1800" b="0">
                          <a:solidFill>
                            <a:srgbClr val="00407A"/>
                          </a:solidFill>
                          <a:latin typeface="Arial"/>
                        </a:rPr>
                        <a:t>(gate equivalents)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 to</a:t>
                      </a:r>
                    </a:p>
                    <a:p>
                      <a:pPr algn="ctr">
                        <a:lnSpc>
                          <a:spcPct val="103000"/>
                        </a:lnSpc>
                        <a:spcBef>
                          <a:spcPts val="0"/>
                        </a:spcBef>
                        <a:spcAft>
                          <a:spcPts val="0"/>
                        </a:spcAft>
                      </a:pPr>
                      <a:r>
                        <a:rPr sz="1800" b="0">
                          <a:solidFill>
                            <a:srgbClr val="00407A"/>
                          </a:solidFill>
                          <a:latin typeface="Arial"/>
                        </a:rPr>
                        <a:t>&lt;100,000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≥100,000</a:t>
                      </a:r>
                    </a:p>
                  </a:txBody>
                  <a:tcPr marL="109728" marR="91440" marT="54864" marB="36576" anchor="ctr">
                    <a:solidFill>
                      <a:srgbClr val="E3EFF5"/>
                    </a:solidFill>
                    <a:lnL>
                      <a:noFill/>
                    </a:lnL>
                    <a:lnR>
                      <a:noFill/>
                    </a:lnR>
                    <a:lnT>
                      <a:noFill/>
                    </a:lnT>
                    <a:lnB>
                      <a:noFill/>
                    </a:lnB>
                  </a:tcPr>
                </a:tc>
              </a:tr>
              <a:tr h="768095">
                <a:tc>
                  <a:txBody>
                    <a:bodyPr/>
                    <a:lstStyle/>
                    <a:p>
                      <a:pPr algn="l">
                        <a:lnSpc>
                          <a:spcPct val="103000"/>
                        </a:lnSpc>
                        <a:spcBef>
                          <a:spcPts val="0"/>
                        </a:spcBef>
                        <a:spcAft>
                          <a:spcPts val="0"/>
                        </a:spcAft>
                      </a:pPr>
                      <a:r>
                        <a:rPr sz="1800" b="0">
                          <a:solidFill>
                            <a:srgbClr val="00407A"/>
                          </a:solidFill>
                          <a:latin typeface="Arial"/>
                        </a:rPr>
                        <a:t>Total power</a:t>
                      </a:r>
                    </a:p>
                    <a:p>
                      <a:pPr algn="l">
                        <a:lnSpc>
                          <a:spcPct val="103000"/>
                        </a:lnSpc>
                        <a:spcBef>
                          <a:spcPts val="0"/>
                        </a:spcBef>
                        <a:spcAft>
                          <a:spcPts val="0"/>
                        </a:spcAft>
                      </a:pPr>
                      <a:r>
                        <a:rPr sz="1800" b="0">
                          <a:solidFill>
                            <a:srgbClr val="00407A"/>
                          </a:solidFill>
                          <a:latin typeface="Arial"/>
                        </a:rPr>
                        <a:t>(microwatts)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 to</a:t>
                      </a:r>
                    </a:p>
                    <a:p>
                      <a:pPr algn="ctr">
                        <a:lnSpc>
                          <a:spcPct val="103000"/>
                        </a:lnSpc>
                        <a:spcBef>
                          <a:spcPts val="0"/>
                        </a:spcBef>
                        <a:spcAft>
                          <a:spcPts val="0"/>
                        </a:spcAft>
                      </a:pPr>
                      <a:r>
                        <a:rPr sz="1800" b="0">
                          <a:solidFill>
                            <a:srgbClr val="00407A"/>
                          </a:solidFill>
                          <a:latin typeface="Arial"/>
                        </a:rPr>
                        <a:t>&lt;1,000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 to</a:t>
                      </a:r>
                    </a:p>
                    <a:p>
                      <a:pPr algn="ctr">
                        <a:lnSpc>
                          <a:spcPct val="103000"/>
                        </a:lnSpc>
                        <a:spcBef>
                          <a:spcPts val="0"/>
                        </a:spcBef>
                        <a:spcAft>
                          <a:spcPts val="0"/>
                        </a:spcAft>
                      </a:pPr>
                      <a:r>
                        <a:rPr sz="1800" b="0">
                          <a:solidFill>
                            <a:srgbClr val="00407A"/>
                          </a:solidFill>
                          <a:latin typeface="Arial"/>
                        </a:rPr>
                        <a:t>&lt;10,000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≥10,000</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Area reference</a:t>
            </a:r>
          </a:p>
        </p:txBody>
      </p:sp>
      <p:sp>
        <p:nvSpPr>
          <p:cNvPr id="10" name="TextBox 9"/>
          <p:cNvSpPr txBox="1"/>
          <p:nvPr/>
        </p:nvSpPr>
        <p:spPr>
          <a:xfrm>
            <a:off x="104241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1 gate equivalent = one two-input NAND gate</a:t>
            </a:r>
          </a:p>
          <a:p>
            <a:pPr algn="l">
              <a:lnSpc>
                <a:spcPct val="109000"/>
              </a:lnSpc>
              <a:spcBef>
                <a:spcPts val="0"/>
              </a:spcBef>
              <a:spcAft>
                <a:spcPts val="0"/>
              </a:spcAft>
            </a:pPr>
            <a:r>
              <a:rPr sz="1700" b="0">
                <a:solidFill>
                  <a:srgbClr val="00407A"/>
                </a:solidFill>
                <a:latin typeface="Arial"/>
              </a:rPr>
              <a:t>= 0.196608 square micrometres in this library.</a:t>
            </a:r>
          </a:p>
        </p:txBody>
      </p:sp>
      <p:sp>
        <p:nvSpPr>
          <p:cNvPr id="11" name="Rounded Rectangle 10"/>
          <p:cNvSpPr/>
          <p:nvPr/>
        </p:nvSpPr>
        <p:spPr>
          <a:xfrm>
            <a:off x="6208776" y="4297680"/>
            <a:ext cx="5166360" cy="123444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29768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4398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Power reference</a:t>
            </a:r>
          </a:p>
        </p:txBody>
      </p:sp>
      <p:sp>
        <p:nvSpPr>
          <p:cNvPr id="14" name="TextBox 13"/>
          <p:cNvSpPr txBox="1"/>
          <p:nvPr/>
        </p:nvSpPr>
        <p:spPr>
          <a:xfrm>
            <a:off x="6437376" y="4956048"/>
            <a:ext cx="4709160" cy="484632"/>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Dynamic + leakage, for the supplied stimulus.</a:t>
            </a:r>
          </a:p>
          <a:p>
            <a:pPr algn="l">
              <a:lnSpc>
                <a:spcPct val="109000"/>
              </a:lnSpc>
              <a:spcBef>
                <a:spcPts val="0"/>
              </a:spcBef>
              <a:spcAft>
                <a:spcPts val="0"/>
              </a:spcAft>
            </a:pPr>
            <a:r>
              <a:rPr sz="1700" b="0">
                <a:solidFill>
                  <a:srgbClr val="00407A"/>
                </a:solidFill>
                <a:latin typeface="Arial"/>
              </a:rPr>
              <a:t>1,000 microwatts = 1 milliwatt.</a:t>
            </a:r>
          </a:p>
        </p:txBody>
      </p:sp>
      <p:sp>
        <p:nvSpPr>
          <p:cNvPr id="15" name="Rounded Rectangle 1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Exact level is strict; “within one level” can span a large physical range because these bins are logarithmic.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margin at 500 MHz, plus a derived frequency</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clock target is 500 MHz: one cycle lasts 2 nanoseconds (ns).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14</a:t>
            </a:r>
          </a:p>
        </p:txBody>
      </p:sp>
      <p:graphicFrame>
        <p:nvGraphicFramePr>
          <p:cNvPr id="6" name="Table 5"/>
          <p:cNvGraphicFramePr>
            <a:graphicFrameLocks noGrp="1"/>
          </p:cNvGraphicFramePr>
          <p:nvPr/>
        </p:nvGraphicFramePr>
        <p:xfrm>
          <a:off x="813816" y="1874519"/>
          <a:ext cx="10561320" cy="2057400"/>
        </p:xfrm>
        <a:graphic>
          <a:graphicData uri="http://schemas.openxmlformats.org/drawingml/2006/table">
            <a:tbl>
              <a:tblPr firstRow="1" bandRow="1">
                <a:tableStyleId>{5C22544A-7EE6-4342-B048-85BDC9FD1C3A}</a:tableStyleId>
              </a:tblPr>
              <a:tblGrid>
                <a:gridCol w="2148840"/>
                <a:gridCol w="1682496"/>
                <a:gridCol w="1682496"/>
                <a:gridCol w="1682496"/>
                <a:gridCol w="1682496"/>
                <a:gridCol w="1682496"/>
              </a:tblGrid>
              <a:tr h="566928">
                <a:tc>
                  <a:txBody>
                    <a:bodyPr/>
                    <a:lstStyle/>
                    <a:p>
                      <a:pPr algn="l">
                        <a:lnSpc>
                          <a:spcPct val="103000"/>
                        </a:lnSpc>
                        <a:spcBef>
                          <a:spcPts val="0"/>
                        </a:spcBef>
                        <a:spcAft>
                          <a:spcPts val="0"/>
                        </a:spcAft>
                      </a:pPr>
                      <a:r>
                        <a:rPr sz="16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1</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2</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3</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4</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Level 5</a:t>
                      </a:r>
                    </a:p>
                  </a:txBody>
                  <a:tcPr marL="109728" marR="91440" marT="54864" marB="36576" anchor="ctr">
                    <a:solidFill>
                      <a:srgbClr val="00407A"/>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Worst slack</a:t>
                      </a:r>
                    </a:p>
                    <a:p>
                      <a:pPr algn="l">
                        <a:lnSpc>
                          <a:spcPct val="103000"/>
                        </a:lnSpc>
                        <a:spcBef>
                          <a:spcPts val="0"/>
                        </a:spcBef>
                        <a:spcAft>
                          <a:spcPts val="0"/>
                        </a:spcAft>
                      </a:pPr>
                      <a:r>
                        <a:rPr sz="18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Negative:</a:t>
                      </a:r>
                    </a:p>
                    <a:p>
                      <a:pPr algn="ctr">
                        <a:lnSpc>
                          <a:spcPct val="103000"/>
                        </a:lnSpc>
                        <a:spcBef>
                          <a:spcPts val="0"/>
                        </a:spcBef>
                        <a:spcAft>
                          <a:spcPts val="0"/>
                        </a:spcAft>
                      </a:pPr>
                      <a:r>
                        <a:rPr sz="1800" b="0">
                          <a:solidFill>
                            <a:srgbClr val="00407A"/>
                          </a:solidFill>
                          <a:latin typeface="Arial"/>
                        </a:rPr>
                        <a:t>misses target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 to</a:t>
                      </a:r>
                    </a:p>
                    <a:p>
                      <a:pPr algn="ctr">
                        <a:lnSpc>
                          <a:spcPct val="103000"/>
                        </a:lnSpc>
                        <a:spcBef>
                          <a:spcPts val="0"/>
                        </a:spcBef>
                        <a:spcAft>
                          <a:spcPts val="0"/>
                        </a:spcAft>
                      </a:pPr>
                      <a:r>
                        <a:rPr sz="1800" b="0">
                          <a:solidFill>
                            <a:srgbClr val="00407A"/>
                          </a:solidFill>
                          <a:latin typeface="Arial"/>
                        </a:rPr>
                        <a:t>&lt;0.5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0.5 to</a:t>
                      </a:r>
                    </a:p>
                    <a:p>
                      <a:pPr algn="ctr">
                        <a:lnSpc>
                          <a:spcPct val="103000"/>
                        </a:lnSpc>
                        <a:spcBef>
                          <a:spcPts val="0"/>
                        </a:spcBef>
                        <a:spcAft>
                          <a:spcPts val="0"/>
                        </a:spcAft>
                      </a:pPr>
                      <a:r>
                        <a:rPr sz="1800" b="0">
                          <a:solidFill>
                            <a:srgbClr val="00407A"/>
                          </a:solidFill>
                          <a:latin typeface="Arial"/>
                        </a:rPr>
                        <a:t>&lt;1.0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1.0 to</a:t>
                      </a:r>
                    </a:p>
                    <a:p>
                      <a:pPr algn="ctr">
                        <a:lnSpc>
                          <a:spcPct val="103000"/>
                        </a:lnSpc>
                        <a:spcBef>
                          <a:spcPts val="0"/>
                        </a:spcBef>
                        <a:spcAft>
                          <a:spcPts val="0"/>
                        </a:spcAft>
                      </a:pPr>
                      <a:r>
                        <a:rPr sz="1800" b="0">
                          <a:solidFill>
                            <a:srgbClr val="00407A"/>
                          </a:solidFill>
                          <a:latin typeface="Arial"/>
                        </a:rPr>
                        <a:t>&lt;1.5 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≥1.5 ns</a:t>
                      </a:r>
                    </a:p>
                  </a:txBody>
                  <a:tcPr marL="109728" marR="91440" marT="54864" marB="36576" anchor="ctr">
                    <a:solidFill>
                      <a:srgbClr val="E3EFF5"/>
                    </a:solidFill>
                    <a:lnL>
                      <a:noFill/>
                    </a:lnL>
                    <a:lnR>
                      <a:noFill/>
                    </a:lnR>
                    <a:lnT>
                      <a:noFill/>
                    </a:lnT>
                    <a:lnB>
                      <a:noFill/>
                    </a:lnB>
                  </a:tcPr>
                </a:tc>
              </a:tr>
              <a:tr h="745236">
                <a:tc>
                  <a:txBody>
                    <a:bodyPr/>
                    <a:lstStyle/>
                    <a:p>
                      <a:pPr algn="l">
                        <a:lnSpc>
                          <a:spcPct val="103000"/>
                        </a:lnSpc>
                        <a:spcBef>
                          <a:spcPts val="0"/>
                        </a:spcBef>
                        <a:spcAft>
                          <a:spcPts val="0"/>
                        </a:spcAft>
                      </a:pPr>
                      <a:r>
                        <a:rPr sz="1800" b="0">
                          <a:solidFill>
                            <a:srgbClr val="00407A"/>
                          </a:solidFill>
                          <a:latin typeface="Arial"/>
                        </a:rPr>
                        <a:t>Reachable clock</a:t>
                      </a:r>
                    </a:p>
                    <a:p>
                      <a:pPr algn="l">
                        <a:lnSpc>
                          <a:spcPct val="103000"/>
                        </a:lnSpc>
                        <a:spcBef>
                          <a:spcPts val="0"/>
                        </a:spcBef>
                        <a:spcAft>
                          <a:spcPts val="0"/>
                        </a:spcAft>
                      </a:pPr>
                      <a:r>
                        <a:rPr sz="1800" b="0">
                          <a:solidFill>
                            <a:srgbClr val="00407A"/>
                          </a:solidFill>
                          <a:latin typeface="Arial"/>
                        </a:rPr>
                        <a:t>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&lt;1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1 to</a:t>
                      </a:r>
                    </a:p>
                    <a:p>
                      <a:pPr algn="ctr">
                        <a:lnSpc>
                          <a:spcPct val="103000"/>
                        </a:lnSpc>
                        <a:spcBef>
                          <a:spcPts val="0"/>
                        </a:spcBef>
                        <a:spcAft>
                          <a:spcPts val="0"/>
                        </a:spcAft>
                      </a:pPr>
                      <a:r>
                        <a:rPr sz="1800" b="0">
                          <a:solidFill>
                            <a:srgbClr val="00407A"/>
                          </a:solidFill>
                          <a:latin typeface="Arial"/>
                        </a:rPr>
                        <a:t>&lt;2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2 to</a:t>
                      </a:r>
                    </a:p>
                    <a:p>
                      <a:pPr algn="ctr">
                        <a:lnSpc>
                          <a:spcPct val="103000"/>
                        </a:lnSpc>
                        <a:spcBef>
                          <a:spcPts val="0"/>
                        </a:spcBef>
                        <a:spcAft>
                          <a:spcPts val="0"/>
                        </a:spcAft>
                      </a:pPr>
                      <a:r>
                        <a:rPr sz="1800" b="0">
                          <a:solidFill>
                            <a:srgbClr val="00407A"/>
                          </a:solidFill>
                          <a:latin typeface="Arial"/>
                        </a:rPr>
                        <a:t>&lt;3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3 to</a:t>
                      </a:r>
                    </a:p>
                    <a:p>
                      <a:pPr algn="ctr">
                        <a:lnSpc>
                          <a:spcPct val="103000"/>
                        </a:lnSpc>
                        <a:spcBef>
                          <a:spcPts val="0"/>
                        </a:spcBef>
                        <a:spcAft>
                          <a:spcPts val="0"/>
                        </a:spcAft>
                      </a:pPr>
                      <a:r>
                        <a:rPr sz="1800" b="0">
                          <a:solidFill>
                            <a:srgbClr val="00407A"/>
                          </a:solidFill>
                          <a:latin typeface="Arial"/>
                        </a:rPr>
                        <a:t>&lt;4 GHz</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800" b="0">
                          <a:solidFill>
                            <a:srgbClr val="00407A"/>
                          </a:solidFill>
                          <a:latin typeface="Arial"/>
                        </a:rPr>
                        <a:t>≥4 GHz</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261104"/>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2500" b="1">
                <a:solidFill>
                  <a:srgbClr val="00407A"/>
                </a:solidFill>
                <a:latin typeface="Arial"/>
              </a:rPr>
              <a:t>Reachable frequency (GHz) = 1 ÷ [2 ns − worst slack (ns)]</a:t>
            </a:r>
          </a:p>
        </p:txBody>
      </p:sp>
      <p:sp>
        <p:nvSpPr>
          <p:cNvPr id="8" name="TextBox 7"/>
          <p:cNvSpPr txBox="1"/>
          <p:nvPr/>
        </p:nvSpPr>
        <p:spPr>
          <a:xfrm>
            <a:off x="960120" y="4919472"/>
            <a:ext cx="10149840" cy="6858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Example: 1.438 ns of slack gives a 0.562 ns limiting delay, or about 1.78 GHz.</a:t>
            </a:r>
          </a:p>
          <a:p>
            <a:pPr algn="l">
              <a:lnSpc>
                <a:spcPct val="109000"/>
              </a:lnSpc>
              <a:spcBef>
                <a:spcPts val="0"/>
              </a:spcBef>
              <a:spcAft>
                <a:spcPts val="0"/>
              </a:spcAft>
            </a:pPr>
            <a:r>
              <a:rPr sz="1800" b="0">
                <a:solidFill>
                  <a:srgbClr val="00407A"/>
                </a:solidFill>
                <a:latin typeface="Arial"/>
              </a:rPr>
              <a:t>This is derived from the netlist synthesized at 500 MHz; it is not a new optimized run.</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No negative-slack designs occur in this test split. Timing-violation detection is therefore not evaluated.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Area levels improve substantially with 9B and 27B</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same flow and target • exact and within-one scores shown separately.</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15</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area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All five true area levels occur</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746579"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1082371"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082371"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35.9%</a:t>
            </a:r>
          </a:p>
          <a:p>
            <a:pPr algn="l">
              <a:lnSpc>
                <a:spcPct val="109000"/>
              </a:lnSpc>
              <a:spcBef>
                <a:spcPts val="0"/>
              </a:spcBef>
              <a:spcAft>
                <a:spcPts val="0"/>
              </a:spcAft>
            </a:pPr>
            <a:r>
              <a:rPr sz="1250" b="0">
                <a:solidFill>
                  <a:srgbClr val="00407A"/>
                </a:solidFill>
                <a:latin typeface="Arial"/>
              </a:rPr>
              <a:t>33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738353"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57.6%</a:t>
            </a:r>
          </a:p>
          <a:p>
            <a:pPr algn="l">
              <a:lnSpc>
                <a:spcPct val="109000"/>
              </a:lnSpc>
              <a:spcBef>
                <a:spcPts val="0"/>
              </a:spcBef>
              <a:spcAft>
                <a:spcPts val="0"/>
              </a:spcAft>
            </a:pPr>
            <a:r>
              <a:rPr sz="1250" b="0">
                <a:solidFill>
                  <a:srgbClr val="00407A"/>
                </a:solidFill>
                <a:latin typeface="Arial"/>
              </a:rPr>
              <a:t>53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2000746"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1 = 35.9%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area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00074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66.3%</a:t>
            </a:r>
          </a:p>
          <a:p>
            <a:pPr algn="l">
              <a:lnSpc>
                <a:spcPct val="109000"/>
              </a:lnSpc>
              <a:spcBef>
                <a:spcPts val="0"/>
              </a:spcBef>
              <a:spcAft>
                <a:spcPts val="0"/>
              </a:spcAft>
            </a:pPr>
            <a:r>
              <a:rPr sz="1250" b="0">
                <a:solidFill>
                  <a:srgbClr val="00407A"/>
                </a:solidFill>
                <a:latin typeface="Arial"/>
              </a:rPr>
              <a:t>61 of 92</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131943"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70.7%</a:t>
            </a:r>
          </a:p>
          <a:p>
            <a:pPr algn="l">
              <a:lnSpc>
                <a:spcPct val="109000"/>
              </a:lnSpc>
              <a:spcBef>
                <a:spcPts val="0"/>
              </a:spcBef>
              <a:spcAft>
                <a:spcPts val="0"/>
              </a:spcAft>
            </a:pPr>
            <a:r>
              <a:rPr sz="1250" b="0">
                <a:solidFill>
                  <a:srgbClr val="00407A"/>
                </a:solidFill>
                <a:latin typeface="Arial"/>
              </a:rPr>
              <a:t>65 of 92</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72232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90.2%</a:t>
            </a:r>
          </a:p>
          <a:p>
            <a:pPr algn="l">
              <a:lnSpc>
                <a:spcPct val="109000"/>
              </a:lnSpc>
              <a:spcBef>
                <a:spcPts val="0"/>
              </a:spcBef>
              <a:spcAft>
                <a:spcPts val="0"/>
              </a:spcAft>
            </a:pPr>
            <a:r>
              <a:rPr sz="1250" b="0">
                <a:solidFill>
                  <a:srgbClr val="00407A"/>
                </a:solidFill>
                <a:latin typeface="Arial"/>
              </a:rPr>
              <a:t>83 of 92</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301752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100.0%</a:t>
            </a:r>
          </a:p>
          <a:p>
            <a:pPr algn="l">
              <a:lnSpc>
                <a:spcPct val="109000"/>
              </a:lnSpc>
              <a:spcBef>
                <a:spcPts val="0"/>
              </a:spcBef>
              <a:spcAft>
                <a:spcPts val="0"/>
              </a:spcAft>
            </a:pPr>
            <a:r>
              <a:rPr sz="1250" b="0">
                <a:solidFill>
                  <a:srgbClr val="00407A"/>
                </a:solidFill>
                <a:latin typeface="Arial"/>
              </a:rPr>
              <a:t>92 of 92</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61 of 92 exact levels; all 92 estimates are within one level.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Power levels: the largest model performs worst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85 held-out designs with usable power measurements and a supplied stimulus testbench.</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16</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power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Levels 1 to 4 occur; level 5 is absent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977716"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816505"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27.1%</a:t>
            </a:r>
          </a:p>
          <a:p>
            <a:pPr algn="l">
              <a:lnSpc>
                <a:spcPct val="109000"/>
              </a:lnSpc>
              <a:spcBef>
                <a:spcPts val="0"/>
              </a:spcBef>
              <a:spcAft>
                <a:spcPts val="0"/>
              </a:spcAft>
            </a:pPr>
            <a:r>
              <a:rPr sz="1250" b="0">
                <a:solidFill>
                  <a:srgbClr val="00407A"/>
                </a:solidFill>
                <a:latin typeface="Arial"/>
              </a:rPr>
              <a:t>23 of 85</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1384509"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45.9%</a:t>
            </a:r>
          </a:p>
          <a:p>
            <a:pPr algn="l">
              <a:lnSpc>
                <a:spcPct val="109000"/>
              </a:lnSpc>
              <a:spcBef>
                <a:spcPts val="0"/>
              </a:spcBef>
              <a:spcAft>
                <a:spcPts val="0"/>
              </a:spcAft>
            </a:pPr>
            <a:r>
              <a:rPr sz="1250" b="0">
                <a:solidFill>
                  <a:srgbClr val="00407A"/>
                </a:solidFill>
                <a:latin typeface="Arial"/>
              </a:rPr>
              <a:t>39 of 85</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12070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40.0%</a:t>
            </a:r>
          </a:p>
          <a:p>
            <a:pPr algn="l">
              <a:lnSpc>
                <a:spcPct val="109000"/>
              </a:lnSpc>
              <a:spcBef>
                <a:spcPts val="0"/>
              </a:spcBef>
              <a:spcAft>
                <a:spcPts val="0"/>
              </a:spcAft>
            </a:pPr>
            <a:r>
              <a:rPr sz="1250" b="0">
                <a:solidFill>
                  <a:srgbClr val="00407A"/>
                </a:solidFill>
                <a:latin typeface="Arial"/>
              </a:rPr>
              <a:t>34 of 85</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31950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10.6%</a:t>
            </a:r>
          </a:p>
          <a:p>
            <a:pPr algn="l">
              <a:lnSpc>
                <a:spcPct val="109000"/>
              </a:lnSpc>
              <a:spcBef>
                <a:spcPts val="0"/>
              </a:spcBef>
              <a:spcAft>
                <a:spcPts val="0"/>
              </a:spcAft>
            </a:pPr>
            <a:r>
              <a:rPr sz="1250" b="0">
                <a:solidFill>
                  <a:srgbClr val="00407A"/>
                </a:solidFill>
                <a:latin typeface="Arial"/>
              </a:rPr>
              <a:t>9 of 85</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2 = 43.5%</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Within one power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Chosen level differs by at most one</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sp>
        <p:nvSpPr>
          <p:cNvPr id="39" name="TextBox 38"/>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0" name="Rectangle 39"/>
          <p:cNvSpPr/>
          <p:nvPr/>
        </p:nvSpPr>
        <p:spPr>
          <a:xfrm>
            <a:off x="7059168" y="2953512"/>
            <a:ext cx="2485016"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82.4%</a:t>
            </a:r>
          </a:p>
          <a:p>
            <a:pPr algn="l">
              <a:lnSpc>
                <a:spcPct val="109000"/>
              </a:lnSpc>
              <a:spcBef>
                <a:spcPts val="0"/>
              </a:spcBef>
              <a:spcAft>
                <a:spcPts val="0"/>
              </a:spcAft>
            </a:pPr>
            <a:r>
              <a:rPr sz="1250" b="0">
                <a:solidFill>
                  <a:srgbClr val="00407A"/>
                </a:solidFill>
                <a:latin typeface="Arial"/>
              </a:rPr>
              <a:t>70 of 85</a:t>
            </a:r>
          </a:p>
        </p:txBody>
      </p:sp>
      <p:sp>
        <p:nvSpPr>
          <p:cNvPr id="42" name="TextBox 41"/>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3" name="Rectangle 42"/>
          <p:cNvSpPr/>
          <p:nvPr/>
        </p:nvSpPr>
        <p:spPr>
          <a:xfrm>
            <a:off x="7059168" y="3456432"/>
            <a:ext cx="2769018"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91.8%</a:t>
            </a:r>
          </a:p>
          <a:p>
            <a:pPr algn="l">
              <a:lnSpc>
                <a:spcPct val="109000"/>
              </a:lnSpc>
              <a:spcBef>
                <a:spcPts val="0"/>
              </a:spcBef>
              <a:spcAft>
                <a:spcPts val="0"/>
              </a:spcAft>
            </a:pPr>
            <a:r>
              <a:rPr sz="1250" b="0">
                <a:solidFill>
                  <a:srgbClr val="00407A"/>
                </a:solidFill>
                <a:latin typeface="Arial"/>
              </a:rPr>
              <a:t>78 of 85</a:t>
            </a:r>
          </a:p>
        </p:txBody>
      </p:sp>
      <p:sp>
        <p:nvSpPr>
          <p:cNvPr id="45" name="TextBox 44"/>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6" name="Rectangle 45"/>
          <p:cNvSpPr/>
          <p:nvPr/>
        </p:nvSpPr>
        <p:spPr>
          <a:xfrm>
            <a:off x="7059168" y="3959351"/>
            <a:ext cx="280451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92.9%</a:t>
            </a:r>
          </a:p>
          <a:p>
            <a:pPr algn="l">
              <a:lnSpc>
                <a:spcPct val="109000"/>
              </a:lnSpc>
              <a:spcBef>
                <a:spcPts val="0"/>
              </a:spcBef>
              <a:spcAft>
                <a:spcPts val="0"/>
              </a:spcAft>
            </a:pPr>
            <a:r>
              <a:rPr sz="1250" b="0">
                <a:solidFill>
                  <a:srgbClr val="00407A"/>
                </a:solidFill>
                <a:latin typeface="Arial"/>
              </a:rPr>
              <a:t>79 of 85</a:t>
            </a:r>
          </a:p>
        </p:txBody>
      </p:sp>
      <p:sp>
        <p:nvSpPr>
          <p:cNvPr id="48" name="TextBox 47"/>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49" name="Rectangle 48"/>
          <p:cNvSpPr/>
          <p:nvPr/>
        </p:nvSpPr>
        <p:spPr>
          <a:xfrm>
            <a:off x="7059168" y="4462272"/>
            <a:ext cx="1952512"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64.7%</a:t>
            </a:r>
          </a:p>
          <a:p>
            <a:pPr algn="l">
              <a:lnSpc>
                <a:spcPct val="109000"/>
              </a:lnSpc>
              <a:spcBef>
                <a:spcPts val="0"/>
              </a:spcBef>
              <a:spcAft>
                <a:spcPts val="0"/>
              </a:spcAft>
            </a:pPr>
            <a:r>
              <a:rPr sz="1250" b="0">
                <a:solidFill>
                  <a:srgbClr val="00407A"/>
                </a:solidFill>
                <a:latin typeface="Arial"/>
              </a:rPr>
              <a:t>55 of 85</a:t>
            </a:r>
          </a:p>
        </p:txBody>
      </p:sp>
      <p:sp>
        <p:nvSpPr>
          <p:cNvPr id="51" name="TextBox 50"/>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2" name="Rounded Rectangle 51"/>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predicts only levels 3–5, although 60 of the 85 true labels are levels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Timing levels remain unreliable for every model</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92 held-out designs • these are level estimates from RTL, not timing-tool replacements.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17</a:t>
            </a:r>
          </a:p>
        </p:txBody>
      </p:sp>
      <p:sp>
        <p:nvSpPr>
          <p:cNvPr id="6" name="Rounded Rectangle 5"/>
          <p:cNvSpPr/>
          <p:nvPr/>
        </p:nvSpPr>
        <p:spPr>
          <a:xfrm>
            <a:off x="81381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clock-frequency level</a:t>
            </a:r>
          </a:p>
        </p:txBody>
      </p:sp>
      <p:sp>
        <p:nvSpPr>
          <p:cNvPr id="8" name="TextBox 7"/>
          <p:cNvSpPr txBox="1"/>
          <p:nvPr/>
        </p:nvSpPr>
        <p:spPr>
          <a:xfrm>
            <a:off x="101498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Frequency derived from the 500 MHz netlist</a:t>
            </a:r>
          </a:p>
        </p:txBody>
      </p:sp>
      <p:cxnSp>
        <p:nvCxnSpPr>
          <p:cNvPr id="9" name="Connector 8"/>
          <p:cNvCxnSpPr/>
          <p:nvPr/>
        </p:nvCxnSpPr>
        <p:spPr>
          <a:xfrm>
            <a:off x="166420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31729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7179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46817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48056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3140168"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53512"/>
            <a:ext cx="426388"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19" name="TextBox 18"/>
          <p:cNvSpPr txBox="1"/>
          <p:nvPr/>
        </p:nvSpPr>
        <p:spPr>
          <a:xfrm>
            <a:off x="99669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56432"/>
            <a:ext cx="36079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12.0%</a:t>
            </a:r>
          </a:p>
          <a:p>
            <a:pPr algn="l">
              <a:lnSpc>
                <a:spcPct val="109000"/>
              </a:lnSpc>
              <a:spcBef>
                <a:spcPts val="0"/>
              </a:spcBef>
              <a:spcAft>
                <a:spcPts val="0"/>
              </a:spcAft>
            </a:pPr>
            <a:r>
              <a:rPr sz="1250" b="0">
                <a:solidFill>
                  <a:srgbClr val="00407A"/>
                </a:solidFill>
                <a:latin typeface="Arial"/>
              </a:rPr>
              <a:t>11 of 92</a:t>
            </a:r>
          </a:p>
        </p:txBody>
      </p:sp>
      <p:sp>
        <p:nvSpPr>
          <p:cNvPr id="22" name="TextBox 21"/>
          <p:cNvSpPr txBox="1"/>
          <p:nvPr/>
        </p:nvSpPr>
        <p:spPr>
          <a:xfrm>
            <a:off x="99669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59351"/>
            <a:ext cx="42638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5" name="TextBox 24"/>
          <p:cNvSpPr txBox="1"/>
          <p:nvPr/>
        </p:nvSpPr>
        <p:spPr>
          <a:xfrm>
            <a:off x="99669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62272"/>
            <a:ext cx="426388"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0060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14.1%</a:t>
            </a:r>
          </a:p>
          <a:p>
            <a:pPr algn="l">
              <a:lnSpc>
                <a:spcPct val="109000"/>
              </a:lnSpc>
              <a:spcBef>
                <a:spcPts val="0"/>
              </a:spcBef>
              <a:spcAft>
                <a:spcPts val="0"/>
              </a:spcAft>
            </a:pPr>
            <a:r>
              <a:rPr sz="1250" b="0">
                <a:solidFill>
                  <a:srgbClr val="00407A"/>
                </a:solidFill>
                <a:latin typeface="Arial"/>
              </a:rPr>
              <a:t>13 of 92</a:t>
            </a:r>
          </a:p>
        </p:txBody>
      </p:sp>
      <p:sp>
        <p:nvSpPr>
          <p:cNvPr id="28" name="TextBox 27"/>
          <p:cNvSpPr txBox="1"/>
          <p:nvPr/>
        </p:nvSpPr>
        <p:spPr>
          <a:xfrm>
            <a:off x="99669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4 = 48.9%</a:t>
            </a:r>
          </a:p>
        </p:txBody>
      </p:sp>
      <p:sp>
        <p:nvSpPr>
          <p:cNvPr id="30" name="Rounded Rectangle 29"/>
          <p:cNvSpPr/>
          <p:nvPr/>
        </p:nvSpPr>
        <p:spPr>
          <a:xfrm>
            <a:off x="6208776" y="1819656"/>
            <a:ext cx="516636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9944" y="1984248"/>
            <a:ext cx="476402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Exact timing-margin level</a:t>
            </a:r>
          </a:p>
        </p:txBody>
      </p:sp>
      <p:sp>
        <p:nvSpPr>
          <p:cNvPr id="32" name="TextBox 31"/>
          <p:cNvSpPr txBox="1"/>
          <p:nvPr/>
        </p:nvSpPr>
        <p:spPr>
          <a:xfrm>
            <a:off x="6409944" y="2432304"/>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Worst slack at the 500 MHz target</a:t>
            </a:r>
          </a:p>
        </p:txBody>
      </p:sp>
      <p:cxnSp>
        <p:nvCxnSpPr>
          <p:cNvPr id="33" name="Connector 32"/>
          <p:cNvCxnSpPr/>
          <p:nvPr/>
        </p:nvCxnSpPr>
        <p:spPr>
          <a:xfrm>
            <a:off x="705916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856792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36675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10076688" y="2825496"/>
            <a:ext cx="0" cy="1856232"/>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875519" y="4764024"/>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9125513" y="2825496"/>
            <a:ext cx="0" cy="1856232"/>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391656" y="292150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7059168" y="2953512"/>
            <a:ext cx="262393"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95560" y="286664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a:t>
            </a:r>
          </a:p>
          <a:p>
            <a:pPr algn="l">
              <a:lnSpc>
                <a:spcPct val="109000"/>
              </a:lnSpc>
              <a:spcBef>
                <a:spcPts val="0"/>
              </a:spcBef>
              <a:spcAft>
                <a:spcPts val="0"/>
              </a:spcAft>
            </a:pPr>
            <a:r>
              <a:rPr sz="1250" b="0">
                <a:solidFill>
                  <a:srgbClr val="00407A"/>
                </a:solidFill>
                <a:latin typeface="Arial"/>
              </a:rPr>
              <a:t>8 of 92</a:t>
            </a:r>
          </a:p>
        </p:txBody>
      </p:sp>
      <p:sp>
        <p:nvSpPr>
          <p:cNvPr id="43" name="TextBox 42"/>
          <p:cNvSpPr txBox="1"/>
          <p:nvPr/>
        </p:nvSpPr>
        <p:spPr>
          <a:xfrm>
            <a:off x="6391656" y="3424427"/>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7059168" y="3456432"/>
            <a:ext cx="13119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95560" y="336956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4.3%</a:t>
            </a:r>
          </a:p>
          <a:p>
            <a:pPr algn="l">
              <a:lnSpc>
                <a:spcPct val="109000"/>
              </a:lnSpc>
              <a:spcBef>
                <a:spcPts val="0"/>
              </a:spcBef>
              <a:spcAft>
                <a:spcPts val="0"/>
              </a:spcAft>
            </a:pPr>
            <a:r>
              <a:rPr sz="1250" b="0">
                <a:solidFill>
                  <a:srgbClr val="00407A"/>
                </a:solidFill>
                <a:latin typeface="Arial"/>
              </a:rPr>
              <a:t>4 of 92</a:t>
            </a:r>
          </a:p>
        </p:txBody>
      </p:sp>
      <p:sp>
        <p:nvSpPr>
          <p:cNvPr id="46" name="TextBox 45"/>
          <p:cNvSpPr txBox="1"/>
          <p:nvPr/>
        </p:nvSpPr>
        <p:spPr>
          <a:xfrm>
            <a:off x="6391656" y="392734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7059168" y="3959351"/>
            <a:ext cx="98397"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95560" y="3872483"/>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3.3%</a:t>
            </a:r>
          </a:p>
          <a:p>
            <a:pPr algn="l">
              <a:lnSpc>
                <a:spcPct val="109000"/>
              </a:lnSpc>
              <a:spcBef>
                <a:spcPts val="0"/>
              </a:spcBef>
              <a:spcAft>
                <a:spcPts val="0"/>
              </a:spcAft>
            </a:pPr>
            <a:r>
              <a:rPr sz="1250" b="0">
                <a:solidFill>
                  <a:srgbClr val="00407A"/>
                </a:solidFill>
                <a:latin typeface="Arial"/>
              </a:rPr>
              <a:t>3 of 92</a:t>
            </a:r>
          </a:p>
        </p:txBody>
      </p:sp>
      <p:sp>
        <p:nvSpPr>
          <p:cNvPr id="49" name="TextBox 48"/>
          <p:cNvSpPr txBox="1"/>
          <p:nvPr/>
        </p:nvSpPr>
        <p:spPr>
          <a:xfrm>
            <a:off x="6391656" y="4430268"/>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7059168" y="4462272"/>
            <a:ext cx="98397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195560" y="4375404"/>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32.6%</a:t>
            </a:r>
          </a:p>
          <a:p>
            <a:pPr algn="l">
              <a:lnSpc>
                <a:spcPct val="109000"/>
              </a:lnSpc>
              <a:spcBef>
                <a:spcPts val="0"/>
              </a:spcBef>
              <a:spcAft>
                <a:spcPts val="0"/>
              </a:spcAft>
            </a:pPr>
            <a:r>
              <a:rPr sz="1250" b="0">
                <a:solidFill>
                  <a:srgbClr val="00407A"/>
                </a:solidFill>
                <a:latin typeface="Arial"/>
              </a:rPr>
              <a:t>30 of 92</a:t>
            </a:r>
          </a:p>
        </p:txBody>
      </p:sp>
      <p:sp>
        <p:nvSpPr>
          <p:cNvPr id="52" name="TextBox 51"/>
          <p:cNvSpPr txBox="1"/>
          <p:nvPr/>
        </p:nvSpPr>
        <p:spPr>
          <a:xfrm>
            <a:off x="6391656" y="5029200"/>
            <a:ext cx="480060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6391656" y="5285232"/>
            <a:ext cx="480060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level 5 = 68.5%</a:t>
            </a:r>
          </a:p>
        </p:txBody>
      </p:sp>
      <p:sp>
        <p:nvSpPr>
          <p:cNvPr id="54" name="Rounded Rectangle 5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27B’s better slack result still falls below the stated constant-answer reference.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27B’s predicted levels reveal the mismatch</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chart heights are design counts, not accuracy. Every level is shown, including zero counts.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18</a:t>
            </a:r>
          </a:p>
        </p:txBody>
      </p:sp>
      <p:sp>
        <p:nvSpPr>
          <p:cNvPr id="6" name="Rounded Rectangle 5"/>
          <p:cNvSpPr/>
          <p:nvPr/>
        </p:nvSpPr>
        <p:spPr>
          <a:xfrm>
            <a:off x="81381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Clock-frequency levels</a:t>
            </a:r>
          </a:p>
        </p:txBody>
      </p:sp>
      <p:sp>
        <p:nvSpPr>
          <p:cNvPr id="8" name="TextBox 7"/>
          <p:cNvSpPr txBox="1"/>
          <p:nvPr/>
        </p:nvSpPr>
        <p:spPr>
          <a:xfrm>
            <a:off x="101498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92 designs • counts at each level</a:t>
            </a:r>
          </a:p>
        </p:txBody>
      </p:sp>
      <p:cxnSp>
        <p:nvCxnSpPr>
          <p:cNvPr id="9" name="Connector 8"/>
          <p:cNvCxnSpPr/>
          <p:nvPr/>
        </p:nvCxnSpPr>
        <p:spPr>
          <a:xfrm>
            <a:off x="138988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7782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138988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7782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13" name="Connector 12"/>
          <p:cNvCxnSpPr/>
          <p:nvPr/>
        </p:nvCxnSpPr>
        <p:spPr>
          <a:xfrm>
            <a:off x="138988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7782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15" name="Connector 14"/>
          <p:cNvCxnSpPr/>
          <p:nvPr/>
        </p:nvCxnSpPr>
        <p:spPr>
          <a:xfrm>
            <a:off x="138988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782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17" name="Connector 16"/>
          <p:cNvCxnSpPr/>
          <p:nvPr/>
        </p:nvCxnSpPr>
        <p:spPr>
          <a:xfrm>
            <a:off x="138988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782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19" name="Rectangle 18"/>
          <p:cNvSpPr/>
          <p:nvPr/>
        </p:nvSpPr>
        <p:spPr>
          <a:xfrm>
            <a:off x="1463040" y="4544202"/>
            <a:ext cx="201168" cy="247253"/>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5608" y="4297314"/>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13</a:t>
            </a:r>
          </a:p>
        </p:txBody>
      </p:sp>
      <p:sp>
        <p:nvSpPr>
          <p:cNvPr id="21" name="Rectangle 20"/>
          <p:cNvSpPr/>
          <p:nvPr/>
        </p:nvSpPr>
        <p:spPr>
          <a:xfrm>
            <a:off x="1728216" y="3079699"/>
            <a:ext cx="201168" cy="1711756"/>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00784" y="283281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90</a:t>
            </a:r>
          </a:p>
        </p:txBody>
      </p:sp>
      <p:sp>
        <p:nvSpPr>
          <p:cNvPr id="23" name="TextBox 22"/>
          <p:cNvSpPr txBox="1"/>
          <p:nvPr/>
        </p:nvSpPr>
        <p:spPr>
          <a:xfrm>
            <a:off x="150876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24" name="Rectangle 23"/>
          <p:cNvSpPr/>
          <p:nvPr/>
        </p:nvSpPr>
        <p:spPr>
          <a:xfrm>
            <a:off x="2317089" y="4487143"/>
            <a:ext cx="201168" cy="30431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9657" y="424025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16</a:t>
            </a:r>
          </a:p>
        </p:txBody>
      </p:sp>
      <p:sp>
        <p:nvSpPr>
          <p:cNvPr id="26" name="TextBox 25"/>
          <p:cNvSpPr txBox="1"/>
          <p:nvPr/>
        </p:nvSpPr>
        <p:spPr>
          <a:xfrm>
            <a:off x="255483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27" name="TextBox 26"/>
          <p:cNvSpPr txBox="1"/>
          <p:nvPr/>
        </p:nvSpPr>
        <p:spPr>
          <a:xfrm>
            <a:off x="236280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28" name="Rectangle 27"/>
          <p:cNvSpPr/>
          <p:nvPr/>
        </p:nvSpPr>
        <p:spPr>
          <a:xfrm>
            <a:off x="317113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4370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30" name="TextBox 29"/>
          <p:cNvSpPr txBox="1"/>
          <p:nvPr/>
        </p:nvSpPr>
        <p:spPr>
          <a:xfrm>
            <a:off x="340888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1" name="TextBox 30"/>
          <p:cNvSpPr txBox="1"/>
          <p:nvPr/>
        </p:nvSpPr>
        <p:spPr>
          <a:xfrm>
            <a:off x="321685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32" name="Rectangle 31"/>
          <p:cNvSpPr/>
          <p:nvPr/>
        </p:nvSpPr>
        <p:spPr>
          <a:xfrm>
            <a:off x="4025188" y="3935577"/>
            <a:ext cx="201168" cy="85587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97756" y="368868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45</a:t>
            </a:r>
          </a:p>
        </p:txBody>
      </p:sp>
      <p:sp>
        <p:nvSpPr>
          <p:cNvPr id="34" name="TextBox 33"/>
          <p:cNvSpPr txBox="1"/>
          <p:nvPr/>
        </p:nvSpPr>
        <p:spPr>
          <a:xfrm>
            <a:off x="4262932"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5" name="TextBox 34"/>
          <p:cNvSpPr txBox="1"/>
          <p:nvPr/>
        </p:nvSpPr>
        <p:spPr>
          <a:xfrm>
            <a:off x="407090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36" name="TextBox 35"/>
          <p:cNvSpPr txBox="1"/>
          <p:nvPr/>
        </p:nvSpPr>
        <p:spPr>
          <a:xfrm>
            <a:off x="485180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37" name="Rectangle 36"/>
          <p:cNvSpPr/>
          <p:nvPr/>
        </p:nvSpPr>
        <p:spPr>
          <a:xfrm>
            <a:off x="5144414" y="4753416"/>
            <a:ext cx="201168" cy="3803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16982" y="450652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a:t>
            </a:r>
          </a:p>
        </p:txBody>
      </p:sp>
      <p:sp>
        <p:nvSpPr>
          <p:cNvPr id="39" name="TextBox 38"/>
          <p:cNvSpPr txBox="1"/>
          <p:nvPr/>
        </p:nvSpPr>
        <p:spPr>
          <a:xfrm>
            <a:off x="492495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40" name="TextBox 39"/>
          <p:cNvSpPr txBox="1"/>
          <p:nvPr/>
        </p:nvSpPr>
        <p:spPr>
          <a:xfrm>
            <a:off x="101498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41" name="Rectangle 40"/>
          <p:cNvSpPr/>
          <p:nvPr/>
        </p:nvSpPr>
        <p:spPr>
          <a:xfrm>
            <a:off x="277977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9008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43" name="Rectangle 42"/>
          <p:cNvSpPr/>
          <p:nvPr/>
        </p:nvSpPr>
        <p:spPr>
          <a:xfrm>
            <a:off x="369417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04487"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45" name="Rounded Rectangle 44"/>
          <p:cNvSpPr/>
          <p:nvPr/>
        </p:nvSpPr>
        <p:spPr>
          <a:xfrm>
            <a:off x="6208776" y="1828800"/>
            <a:ext cx="5166360" cy="3703320"/>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1993392"/>
            <a:ext cx="4764024" cy="347472"/>
          </a:xfrm>
          <a:prstGeom prst="rect">
            <a:avLst/>
          </a:prstGeom>
          <a:noFill/>
        </p:spPr>
        <p:txBody>
          <a:bodyPr wrap="square" lIns="0" rIns="0" tIns="0" bIns="0" anchor="t">
            <a:noAutofit/>
          </a:bodyPr>
          <a:lstStyle/>
          <a:p>
            <a:pPr algn="l">
              <a:lnSpc>
                <a:spcPct val="109000"/>
              </a:lnSpc>
              <a:spcBef>
                <a:spcPts val="0"/>
              </a:spcBef>
              <a:spcAft>
                <a:spcPts val="0"/>
              </a:spcAft>
            </a:pPr>
            <a:r>
              <a:rPr sz="1900" b="1">
                <a:solidFill>
                  <a:srgbClr val="00407A"/>
                </a:solidFill>
                <a:latin typeface="Arial"/>
              </a:rPr>
              <a:t>Power levels</a:t>
            </a:r>
          </a:p>
        </p:txBody>
      </p:sp>
      <p:sp>
        <p:nvSpPr>
          <p:cNvPr id="47" name="TextBox 46"/>
          <p:cNvSpPr txBox="1"/>
          <p:nvPr/>
        </p:nvSpPr>
        <p:spPr>
          <a:xfrm>
            <a:off x="6409944" y="2441448"/>
            <a:ext cx="4764024" cy="274320"/>
          </a:xfrm>
          <a:prstGeom prst="rect">
            <a:avLst/>
          </a:prstGeom>
          <a:noFill/>
        </p:spPr>
        <p:txBody>
          <a:bodyPr wrap="square" lIns="0" rIns="0" tIns="0" bIns="0" anchor="t">
            <a:noAutofit/>
          </a:bodyPr>
          <a:lstStyle/>
          <a:p>
            <a:pPr algn="l">
              <a:lnSpc>
                <a:spcPct val="109000"/>
              </a:lnSpc>
              <a:spcBef>
                <a:spcPts val="0"/>
              </a:spcBef>
              <a:spcAft>
                <a:spcPts val="0"/>
              </a:spcAft>
            </a:pPr>
            <a:r>
              <a:rPr sz="1300" b="0">
                <a:solidFill>
                  <a:srgbClr val="4A5A66"/>
                </a:solidFill>
                <a:latin typeface="Arial"/>
              </a:rPr>
              <a:t>85 designs • counts at each level</a:t>
            </a:r>
          </a:p>
        </p:txBody>
      </p:sp>
      <p:cxnSp>
        <p:nvCxnSpPr>
          <p:cNvPr id="48" name="Connector 47"/>
          <p:cNvCxnSpPr/>
          <p:nvPr/>
        </p:nvCxnSpPr>
        <p:spPr>
          <a:xfrm>
            <a:off x="6784848" y="4791456"/>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72784" y="4690872"/>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0</a:t>
            </a:r>
          </a:p>
        </p:txBody>
      </p:sp>
      <p:cxnSp>
        <p:nvCxnSpPr>
          <p:cNvPr id="50" name="Connector 49"/>
          <p:cNvCxnSpPr/>
          <p:nvPr/>
        </p:nvCxnSpPr>
        <p:spPr>
          <a:xfrm>
            <a:off x="6784848" y="4315968"/>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72784" y="4215384"/>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cxnSp>
        <p:nvCxnSpPr>
          <p:cNvPr id="52" name="Connector 51"/>
          <p:cNvCxnSpPr/>
          <p:nvPr/>
        </p:nvCxnSpPr>
        <p:spPr>
          <a:xfrm>
            <a:off x="6784848" y="3840480"/>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272784" y="3739896"/>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50</a:t>
            </a:r>
          </a:p>
        </p:txBody>
      </p:sp>
      <p:cxnSp>
        <p:nvCxnSpPr>
          <p:cNvPr id="54" name="Connector 53"/>
          <p:cNvCxnSpPr/>
          <p:nvPr/>
        </p:nvCxnSpPr>
        <p:spPr>
          <a:xfrm>
            <a:off x="6784848" y="3364992"/>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72784" y="3264408"/>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75</a:t>
            </a:r>
          </a:p>
        </p:txBody>
      </p:sp>
      <p:cxnSp>
        <p:nvCxnSpPr>
          <p:cNvPr id="56" name="Connector 55"/>
          <p:cNvCxnSpPr/>
          <p:nvPr/>
        </p:nvCxnSpPr>
        <p:spPr>
          <a:xfrm>
            <a:off x="6784848" y="2889504"/>
            <a:ext cx="4270248" cy="0"/>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272784" y="2788920"/>
            <a:ext cx="411480" cy="210312"/>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100</a:t>
            </a:r>
          </a:p>
        </p:txBody>
      </p:sp>
      <p:sp>
        <p:nvSpPr>
          <p:cNvPr id="58" name="Rectangle 57"/>
          <p:cNvSpPr/>
          <p:nvPr/>
        </p:nvSpPr>
        <p:spPr>
          <a:xfrm>
            <a:off x="6858000" y="4354007"/>
            <a:ext cx="201168" cy="437448"/>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30568" y="4107119"/>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23</a:t>
            </a:r>
          </a:p>
        </p:txBody>
      </p:sp>
      <p:sp>
        <p:nvSpPr>
          <p:cNvPr id="60" name="TextBox 59"/>
          <p:cNvSpPr txBox="1"/>
          <p:nvPr/>
        </p:nvSpPr>
        <p:spPr>
          <a:xfrm>
            <a:off x="7095744"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1" name="TextBox 60"/>
          <p:cNvSpPr txBox="1"/>
          <p:nvPr/>
        </p:nvSpPr>
        <p:spPr>
          <a:xfrm>
            <a:off x="6903720"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1</a:t>
            </a:r>
          </a:p>
        </p:txBody>
      </p:sp>
      <p:sp>
        <p:nvSpPr>
          <p:cNvPr id="62" name="Rectangle 61"/>
          <p:cNvSpPr/>
          <p:nvPr/>
        </p:nvSpPr>
        <p:spPr>
          <a:xfrm>
            <a:off x="7712049" y="4087733"/>
            <a:ext cx="201168" cy="703722"/>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84617" y="3840845"/>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37</a:t>
            </a:r>
          </a:p>
        </p:txBody>
      </p:sp>
      <p:sp>
        <p:nvSpPr>
          <p:cNvPr id="64" name="TextBox 63"/>
          <p:cNvSpPr txBox="1"/>
          <p:nvPr/>
        </p:nvSpPr>
        <p:spPr>
          <a:xfrm>
            <a:off x="7949793"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65" name="TextBox 64"/>
          <p:cNvSpPr txBox="1"/>
          <p:nvPr/>
        </p:nvSpPr>
        <p:spPr>
          <a:xfrm>
            <a:off x="775776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2</a:t>
            </a:r>
          </a:p>
        </p:txBody>
      </p:sp>
      <p:sp>
        <p:nvSpPr>
          <p:cNvPr id="66" name="Rectangle 65"/>
          <p:cNvSpPr/>
          <p:nvPr/>
        </p:nvSpPr>
        <p:spPr>
          <a:xfrm>
            <a:off x="8566099" y="4449104"/>
            <a:ext cx="201168" cy="342351"/>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38667" y="4202216"/>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18</a:t>
            </a:r>
          </a:p>
        </p:txBody>
      </p:sp>
      <p:sp>
        <p:nvSpPr>
          <p:cNvPr id="68" name="Rectangle 67"/>
          <p:cNvSpPr/>
          <p:nvPr/>
        </p:nvSpPr>
        <p:spPr>
          <a:xfrm>
            <a:off x="8831275" y="3764401"/>
            <a:ext cx="201168" cy="102705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803843" y="3517513"/>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54</a:t>
            </a:r>
          </a:p>
        </p:txBody>
      </p:sp>
      <p:sp>
        <p:nvSpPr>
          <p:cNvPr id="70" name="TextBox 69"/>
          <p:cNvSpPr txBox="1"/>
          <p:nvPr/>
        </p:nvSpPr>
        <p:spPr>
          <a:xfrm>
            <a:off x="8611819"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3</a:t>
            </a:r>
          </a:p>
        </p:txBody>
      </p:sp>
      <p:sp>
        <p:nvSpPr>
          <p:cNvPr id="71" name="Rectangle 70"/>
          <p:cNvSpPr/>
          <p:nvPr/>
        </p:nvSpPr>
        <p:spPr>
          <a:xfrm>
            <a:off x="9420148" y="4658319"/>
            <a:ext cx="201168" cy="133136"/>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92716" y="4411431"/>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7</a:t>
            </a:r>
          </a:p>
        </p:txBody>
      </p:sp>
      <p:sp>
        <p:nvSpPr>
          <p:cNvPr id="73" name="Rectangle 72"/>
          <p:cNvSpPr/>
          <p:nvPr/>
        </p:nvSpPr>
        <p:spPr>
          <a:xfrm>
            <a:off x="9685324" y="4220870"/>
            <a:ext cx="201168" cy="570585"/>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657892" y="3973982"/>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30</a:t>
            </a:r>
          </a:p>
        </p:txBody>
      </p:sp>
      <p:sp>
        <p:nvSpPr>
          <p:cNvPr id="75" name="TextBox 74"/>
          <p:cNvSpPr txBox="1"/>
          <p:nvPr/>
        </p:nvSpPr>
        <p:spPr>
          <a:xfrm>
            <a:off x="946586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4</a:t>
            </a:r>
          </a:p>
        </p:txBody>
      </p:sp>
      <p:sp>
        <p:nvSpPr>
          <p:cNvPr id="76" name="TextBox 75"/>
          <p:cNvSpPr txBox="1"/>
          <p:nvPr/>
        </p:nvSpPr>
        <p:spPr>
          <a:xfrm>
            <a:off x="10246766" y="454456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0</a:t>
            </a:r>
          </a:p>
        </p:txBody>
      </p:sp>
      <p:sp>
        <p:nvSpPr>
          <p:cNvPr id="77" name="Rectangle 76"/>
          <p:cNvSpPr/>
          <p:nvPr/>
        </p:nvSpPr>
        <p:spPr>
          <a:xfrm>
            <a:off x="10539374" y="4772436"/>
            <a:ext cx="201168" cy="19019"/>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511942" y="4525548"/>
            <a:ext cx="26517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00407A"/>
                </a:solidFill>
                <a:latin typeface="Arial"/>
              </a:rPr>
              <a:t>1</a:t>
            </a:r>
          </a:p>
        </p:txBody>
      </p:sp>
      <p:sp>
        <p:nvSpPr>
          <p:cNvPr id="79" name="TextBox 78"/>
          <p:cNvSpPr txBox="1"/>
          <p:nvPr/>
        </p:nvSpPr>
        <p:spPr>
          <a:xfrm>
            <a:off x="10319918" y="4882896"/>
            <a:ext cx="365760" cy="228600"/>
          </a:xfrm>
          <a:prstGeom prst="rect">
            <a:avLst/>
          </a:prstGeom>
          <a:noFill/>
        </p:spPr>
        <p:txBody>
          <a:bodyPr wrap="square" lIns="0" rIns="0" tIns="0" bIns="0" anchor="t">
            <a:noAutofit/>
          </a:bodyPr>
          <a:lstStyle/>
          <a:p>
            <a:pPr algn="ctr">
              <a:lnSpc>
                <a:spcPct val="109000"/>
              </a:lnSpc>
              <a:spcBef>
                <a:spcPts val="0"/>
              </a:spcBef>
              <a:spcAft>
                <a:spcPts val="0"/>
              </a:spcAft>
            </a:pPr>
            <a:r>
              <a:rPr sz="1300" b="0">
                <a:solidFill>
                  <a:srgbClr val="00407A"/>
                </a:solidFill>
                <a:latin typeface="Arial"/>
              </a:rPr>
              <a:t>5</a:t>
            </a:r>
          </a:p>
        </p:txBody>
      </p:sp>
      <p:sp>
        <p:nvSpPr>
          <p:cNvPr id="80" name="TextBox 79"/>
          <p:cNvSpPr txBox="1"/>
          <p:nvPr/>
        </p:nvSpPr>
        <p:spPr>
          <a:xfrm>
            <a:off x="6409944" y="5120640"/>
            <a:ext cx="1508760" cy="256032"/>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4A5A66"/>
                </a:solidFill>
                <a:latin typeface="Arial"/>
              </a:rPr>
              <a:t>Level (1–5)</a:t>
            </a:r>
          </a:p>
        </p:txBody>
      </p:sp>
      <p:sp>
        <p:nvSpPr>
          <p:cNvPr id="81" name="Rectangle 80"/>
          <p:cNvSpPr/>
          <p:nvPr/>
        </p:nvSpPr>
        <p:spPr>
          <a:xfrm>
            <a:off x="8174736" y="5120640"/>
            <a:ext cx="146304" cy="146304"/>
          </a:xfrm>
          <a:prstGeom prst="rect">
            <a:avLst/>
          </a:prstGeom>
          <a:solidFill>
            <a:srgbClr val="52BD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385048" y="5074920"/>
            <a:ext cx="54864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Tool</a:t>
            </a:r>
          </a:p>
        </p:txBody>
      </p:sp>
      <p:sp>
        <p:nvSpPr>
          <p:cNvPr id="83" name="Rectangle 82"/>
          <p:cNvSpPr/>
          <p:nvPr/>
        </p:nvSpPr>
        <p:spPr>
          <a:xfrm>
            <a:off x="9089136" y="5120640"/>
            <a:ext cx="146304" cy="14630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299448" y="5074920"/>
            <a:ext cx="594360" cy="246888"/>
          </a:xfrm>
          <a:prstGeom prst="rect">
            <a:avLst/>
          </a:prstGeom>
          <a:noFill/>
        </p:spPr>
        <p:txBody>
          <a:bodyPr wrap="square" lIns="0" rIns="0" tIns="0" bIns="0" anchor="t">
            <a:noAutofit/>
          </a:bodyPr>
          <a:lstStyle/>
          <a:p>
            <a:pPr algn="l">
              <a:lnSpc>
                <a:spcPct val="109000"/>
              </a:lnSpc>
              <a:spcBef>
                <a:spcPts val="0"/>
              </a:spcBef>
              <a:spcAft>
                <a:spcPts val="0"/>
              </a:spcAft>
            </a:pPr>
            <a:r>
              <a:rPr sz="1200" b="0">
                <a:solidFill>
                  <a:srgbClr val="00407A"/>
                </a:solidFill>
                <a:latin typeface="Arial"/>
              </a:rPr>
              <a:t>27B</a:t>
            </a:r>
          </a:p>
        </p:txBody>
      </p:sp>
      <p:sp>
        <p:nvSpPr>
          <p:cNvPr id="85" name="Rounded Rectangle 84"/>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27B usually chooses the lowest frequency level and high power levels; the tool labels have a different distribution.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tests ask which variant is better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Two candidates for the same problem, with the same flow and power stimulus.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TESTS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19</a:t>
            </a:r>
          </a:p>
        </p:txBody>
      </p:sp>
      <p:sp>
        <p:nvSpPr>
          <p:cNvPr id="6" name="Rounded Rectangle 5"/>
          <p:cNvSpPr/>
          <p:nvPr/>
        </p:nvSpPr>
        <p:spPr>
          <a:xfrm>
            <a:off x="81381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Three comparisons</a:t>
            </a:r>
          </a:p>
        </p:txBody>
      </p:sp>
      <p:sp>
        <p:nvSpPr>
          <p:cNvPr id="9" name="TextBox 8"/>
          <p:cNvSpPr txBox="1"/>
          <p:nvPr/>
        </p:nvSpPr>
        <p:spPr>
          <a:xfrm>
            <a:off x="104241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00407A"/>
                </a:solidFill>
                <a:latin typeface="Arial"/>
              </a:rPr>
              <a:t>Smaller cell area</a:t>
            </a:r>
          </a:p>
          <a:p>
            <a:pPr algn="l">
              <a:lnSpc>
                <a:spcPct val="109000"/>
              </a:lnSpc>
              <a:spcBef>
                <a:spcPts val="0"/>
              </a:spcBef>
              <a:spcAft>
                <a:spcPts val="0"/>
              </a:spcAft>
            </a:pPr>
            <a:r>
              <a:rPr sz="2300" b="0">
                <a:solidFill>
                  <a:srgbClr val="00407A"/>
                </a:solidFill>
                <a:latin typeface="Arial"/>
              </a:rPr>
              <a:t>Lower total power</a:t>
            </a:r>
          </a:p>
          <a:p>
            <a:pPr algn="l">
              <a:lnSpc>
                <a:spcPct val="109000"/>
              </a:lnSpc>
              <a:spcBef>
                <a:spcPts val="0"/>
              </a:spcBef>
              <a:spcAft>
                <a:spcPts val="0"/>
              </a:spcAft>
            </a:pPr>
            <a:r>
              <a:rPr sz="2300" b="0">
                <a:solidFill>
                  <a:srgbClr val="00407A"/>
                </a:solidFill>
                <a:latin typeface="Arial"/>
              </a:rPr>
              <a:t>Higher derived clock frequency</a:t>
            </a:r>
          </a:p>
        </p:txBody>
      </p:sp>
      <p:sp>
        <p:nvSpPr>
          <p:cNvPr id="10" name="Rounded Rectangle 9"/>
          <p:cNvSpPr/>
          <p:nvPr/>
        </p:nvSpPr>
        <p:spPr>
          <a:xfrm>
            <a:off x="6208776" y="1828800"/>
            <a:ext cx="5166360" cy="24231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Eligibility and coverage</a:t>
            </a:r>
          </a:p>
        </p:txBody>
      </p:sp>
      <p:sp>
        <p:nvSpPr>
          <p:cNvPr id="13" name="TextBox 12"/>
          <p:cNvSpPr txBox="1"/>
          <p:nvPr/>
        </p:nvSpPr>
        <p:spPr>
          <a:xfrm>
            <a:off x="6437376" y="2834640"/>
            <a:ext cx="4709160" cy="1234439"/>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Metric differs by at least 10%.</a:t>
            </a:r>
          </a:p>
          <a:p>
            <a:pPr algn="l">
              <a:lnSpc>
                <a:spcPct val="109000"/>
              </a:lnSpc>
              <a:spcBef>
                <a:spcPts val="0"/>
              </a:spcBef>
              <a:spcAft>
                <a:spcPts val="0"/>
              </a:spcAft>
            </a:pPr>
            <a:r>
              <a:rPr sz="1900" b="0">
                <a:solidFill>
                  <a:srgbClr val="00407A"/>
                </a:solidFill>
                <a:latin typeface="Arial"/>
              </a:rPr>
              <a:t>Area: 23 distinct pairs, 46 views.</a:t>
            </a:r>
          </a:p>
          <a:p>
            <a:pPr algn="l">
              <a:lnSpc>
                <a:spcPct val="109000"/>
              </a:lnSpc>
              <a:spcBef>
                <a:spcPts val="0"/>
              </a:spcBef>
              <a:spcAft>
                <a:spcPts val="0"/>
              </a:spcAft>
            </a:pPr>
            <a:r>
              <a:rPr sz="1900" b="0">
                <a:solidFill>
                  <a:srgbClr val="00407A"/>
                </a:solidFill>
                <a:latin typeface="Arial"/>
              </a:rPr>
              <a:t>Power: 22 pairs, 44 views.</a:t>
            </a:r>
          </a:p>
          <a:p>
            <a:pPr algn="l">
              <a:lnSpc>
                <a:spcPct val="109000"/>
              </a:lnSpc>
              <a:spcBef>
                <a:spcPts val="0"/>
              </a:spcBef>
              <a:spcAft>
                <a:spcPts val="0"/>
              </a:spcAft>
            </a:pPr>
            <a:r>
              <a:rPr sz="1900" b="0">
                <a:solidFill>
                  <a:srgbClr val="00407A"/>
                </a:solidFill>
                <a:latin typeface="Arial"/>
              </a:rPr>
              <a:t>Frequency: 6 pairs, 12 views.</a:t>
            </a:r>
          </a:p>
        </p:txBody>
      </p:sp>
      <p:sp>
        <p:nvSpPr>
          <p:cNvPr id="14" name="TextBox 13"/>
          <p:cNvSpPr txBox="1"/>
          <p:nvPr/>
        </p:nvSpPr>
        <p:spPr>
          <a:xfrm>
            <a:off x="1005840" y="4590288"/>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First request:  [design X = A]  [design Y = B]</a:t>
            </a:r>
          </a:p>
        </p:txBody>
      </p:sp>
      <p:sp>
        <p:nvSpPr>
          <p:cNvPr id="15" name="TextBox 14"/>
          <p:cNvSpPr txBox="1"/>
          <p:nvPr/>
        </p:nvSpPr>
        <p:spPr>
          <a:xfrm>
            <a:off x="1005840" y="5166360"/>
            <a:ext cx="10012680" cy="365760"/>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Swap request:  [design Y = A]  [design X = B]</a:t>
            </a:r>
          </a:p>
        </p:txBody>
      </p:sp>
      <p:sp>
        <p:nvSpPr>
          <p:cNvPr id="16" name="Rounded Rectangle 15"/>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 model tracking the better design should switch letters when the design order is swapped.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rankings improve, but the strongest model varies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Per-view accuracy: each distinct pair contributes its two presentation orders.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20</a:t>
            </a:r>
          </a:p>
        </p:txBody>
      </p:sp>
      <p:sp>
        <p:nvSpPr>
          <p:cNvPr id="6" name="Rounded Rectangle 5"/>
          <p:cNvSpPr/>
          <p:nvPr/>
        </p:nvSpPr>
        <p:spPr>
          <a:xfrm>
            <a:off x="81381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1498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the smaller area</a:t>
            </a:r>
          </a:p>
        </p:txBody>
      </p:sp>
      <p:sp>
        <p:nvSpPr>
          <p:cNvPr id="8" name="TextBox 7"/>
          <p:cNvSpPr txBox="1"/>
          <p:nvPr/>
        </p:nvSpPr>
        <p:spPr>
          <a:xfrm>
            <a:off x="101498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23 distinct pairs • 46 views</a:t>
            </a:r>
          </a:p>
        </p:txBody>
      </p:sp>
      <p:cxnSp>
        <p:nvCxnSpPr>
          <p:cNvPr id="9" name="Connector 8"/>
          <p:cNvCxnSpPr/>
          <p:nvPr/>
        </p:nvCxnSpPr>
        <p:spPr>
          <a:xfrm>
            <a:off x="166420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46304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11" name="Connector 10"/>
          <p:cNvCxnSpPr/>
          <p:nvPr/>
        </p:nvCxnSpPr>
        <p:spPr>
          <a:xfrm>
            <a:off x="228142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08026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13" name="Connector 12"/>
          <p:cNvCxnSpPr/>
          <p:nvPr/>
        </p:nvCxnSpPr>
        <p:spPr>
          <a:xfrm>
            <a:off x="28986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9747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15" name="Connector 14"/>
          <p:cNvCxnSpPr/>
          <p:nvPr/>
        </p:nvCxnSpPr>
        <p:spPr>
          <a:xfrm>
            <a:off x="228142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9669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17" name="Rectangle 16"/>
          <p:cNvSpPr/>
          <p:nvPr/>
        </p:nvSpPr>
        <p:spPr>
          <a:xfrm>
            <a:off x="1664208" y="2962656"/>
            <a:ext cx="590384"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1752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47.8%</a:t>
            </a:r>
          </a:p>
          <a:p>
            <a:pPr algn="l">
              <a:lnSpc>
                <a:spcPct val="109000"/>
              </a:lnSpc>
              <a:spcBef>
                <a:spcPts val="0"/>
              </a:spcBef>
              <a:spcAft>
                <a:spcPts val="0"/>
              </a:spcAft>
            </a:pPr>
            <a:r>
              <a:rPr sz="1250" b="0">
                <a:solidFill>
                  <a:srgbClr val="00407A"/>
                </a:solidFill>
                <a:latin typeface="Arial"/>
              </a:rPr>
              <a:t>22 of 46</a:t>
            </a:r>
          </a:p>
        </p:txBody>
      </p:sp>
      <p:sp>
        <p:nvSpPr>
          <p:cNvPr id="19" name="TextBox 18"/>
          <p:cNvSpPr txBox="1"/>
          <p:nvPr/>
        </p:nvSpPr>
        <p:spPr>
          <a:xfrm>
            <a:off x="99669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20" name="Rectangle 19"/>
          <p:cNvSpPr/>
          <p:nvPr/>
        </p:nvSpPr>
        <p:spPr>
          <a:xfrm>
            <a:off x="1664208" y="3465575"/>
            <a:ext cx="939247"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1752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76.1%</a:t>
            </a:r>
          </a:p>
          <a:p>
            <a:pPr algn="l">
              <a:lnSpc>
                <a:spcPct val="109000"/>
              </a:lnSpc>
              <a:spcBef>
                <a:spcPts val="0"/>
              </a:spcBef>
              <a:spcAft>
                <a:spcPts val="0"/>
              </a:spcAft>
            </a:pPr>
            <a:r>
              <a:rPr sz="1250" b="0">
                <a:solidFill>
                  <a:srgbClr val="00407A"/>
                </a:solidFill>
                <a:latin typeface="Arial"/>
              </a:rPr>
              <a:t>35 of 46</a:t>
            </a:r>
          </a:p>
        </p:txBody>
      </p:sp>
      <p:sp>
        <p:nvSpPr>
          <p:cNvPr id="22" name="TextBox 21"/>
          <p:cNvSpPr txBox="1"/>
          <p:nvPr/>
        </p:nvSpPr>
        <p:spPr>
          <a:xfrm>
            <a:off x="99669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23" name="Rectangle 22"/>
          <p:cNvSpPr/>
          <p:nvPr/>
        </p:nvSpPr>
        <p:spPr>
          <a:xfrm>
            <a:off x="1664208" y="3968495"/>
            <a:ext cx="1073426"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87.0%</a:t>
            </a:r>
          </a:p>
          <a:p>
            <a:pPr algn="l">
              <a:lnSpc>
                <a:spcPct val="109000"/>
              </a:lnSpc>
              <a:spcBef>
                <a:spcPts val="0"/>
              </a:spcBef>
              <a:spcAft>
                <a:spcPts val="0"/>
              </a:spcAft>
            </a:pPr>
            <a:r>
              <a:rPr sz="1250" b="0">
                <a:solidFill>
                  <a:srgbClr val="00407A"/>
                </a:solidFill>
                <a:latin typeface="Arial"/>
              </a:rPr>
              <a:t>40 of 46</a:t>
            </a:r>
          </a:p>
        </p:txBody>
      </p:sp>
      <p:sp>
        <p:nvSpPr>
          <p:cNvPr id="25" name="TextBox 24"/>
          <p:cNvSpPr txBox="1"/>
          <p:nvPr/>
        </p:nvSpPr>
        <p:spPr>
          <a:xfrm>
            <a:off x="99669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26" name="Rectangle 25"/>
          <p:cNvSpPr/>
          <p:nvPr/>
        </p:nvSpPr>
        <p:spPr>
          <a:xfrm>
            <a:off x="1664208" y="4471416"/>
            <a:ext cx="966083"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1752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78.3%</a:t>
            </a:r>
          </a:p>
          <a:p>
            <a:pPr algn="l">
              <a:lnSpc>
                <a:spcPct val="109000"/>
              </a:lnSpc>
              <a:spcBef>
                <a:spcPts val="0"/>
              </a:spcBef>
              <a:spcAft>
                <a:spcPts val="0"/>
              </a:spcAft>
            </a:pPr>
            <a:r>
              <a:rPr sz="1250" b="0">
                <a:solidFill>
                  <a:srgbClr val="00407A"/>
                </a:solidFill>
                <a:latin typeface="Arial"/>
              </a:rPr>
              <a:t>36 of 46</a:t>
            </a:r>
          </a:p>
        </p:txBody>
      </p:sp>
      <p:sp>
        <p:nvSpPr>
          <p:cNvPr id="28" name="TextBox 27"/>
          <p:cNvSpPr txBox="1"/>
          <p:nvPr/>
        </p:nvSpPr>
        <p:spPr>
          <a:xfrm>
            <a:off x="99669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29" name="TextBox 28"/>
          <p:cNvSpPr txBox="1"/>
          <p:nvPr/>
        </p:nvSpPr>
        <p:spPr>
          <a:xfrm>
            <a:off x="99669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30" name="Rounded Rectangle 29"/>
          <p:cNvSpPr/>
          <p:nvPr/>
        </p:nvSpPr>
        <p:spPr>
          <a:xfrm>
            <a:off x="4398264"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99431"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lower power</a:t>
            </a:r>
          </a:p>
        </p:txBody>
      </p:sp>
      <p:sp>
        <p:nvSpPr>
          <p:cNvPr id="32" name="TextBox 31"/>
          <p:cNvSpPr txBox="1"/>
          <p:nvPr/>
        </p:nvSpPr>
        <p:spPr>
          <a:xfrm>
            <a:off x="4599431"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22 distinct pairs • 44 views</a:t>
            </a:r>
          </a:p>
        </p:txBody>
      </p:sp>
      <p:cxnSp>
        <p:nvCxnSpPr>
          <p:cNvPr id="33" name="Connector 32"/>
          <p:cNvCxnSpPr/>
          <p:nvPr/>
        </p:nvCxnSpPr>
        <p:spPr>
          <a:xfrm>
            <a:off x="524865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748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35" name="Connector 34"/>
          <p:cNvCxnSpPr/>
          <p:nvPr/>
        </p:nvCxnSpPr>
        <p:spPr>
          <a:xfrm>
            <a:off x="5865875"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664707"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37" name="Connector 36"/>
          <p:cNvCxnSpPr/>
          <p:nvPr/>
        </p:nvCxnSpPr>
        <p:spPr>
          <a:xfrm>
            <a:off x="6483096"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281928"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39" name="Connector 38"/>
          <p:cNvCxnSpPr/>
          <p:nvPr/>
        </p:nvCxnSpPr>
        <p:spPr>
          <a:xfrm>
            <a:off x="5865875"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81144"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41" name="Rectangle 40"/>
          <p:cNvSpPr/>
          <p:nvPr/>
        </p:nvSpPr>
        <p:spPr>
          <a:xfrm>
            <a:off x="5248655" y="2962656"/>
            <a:ext cx="785552"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01968"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63.6%</a:t>
            </a:r>
          </a:p>
          <a:p>
            <a:pPr algn="l">
              <a:lnSpc>
                <a:spcPct val="109000"/>
              </a:lnSpc>
              <a:spcBef>
                <a:spcPts val="0"/>
              </a:spcBef>
              <a:spcAft>
                <a:spcPts val="0"/>
              </a:spcAft>
            </a:pPr>
            <a:r>
              <a:rPr sz="1250" b="0">
                <a:solidFill>
                  <a:srgbClr val="00407A"/>
                </a:solidFill>
                <a:latin typeface="Arial"/>
              </a:rPr>
              <a:t>28 of 44</a:t>
            </a:r>
          </a:p>
        </p:txBody>
      </p:sp>
      <p:sp>
        <p:nvSpPr>
          <p:cNvPr id="43" name="TextBox 42"/>
          <p:cNvSpPr txBox="1"/>
          <p:nvPr/>
        </p:nvSpPr>
        <p:spPr>
          <a:xfrm>
            <a:off x="4581144"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44" name="Rectangle 43"/>
          <p:cNvSpPr/>
          <p:nvPr/>
        </p:nvSpPr>
        <p:spPr>
          <a:xfrm>
            <a:off x="5248655" y="3465575"/>
            <a:ext cx="701386"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01968"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56.8%</a:t>
            </a:r>
          </a:p>
          <a:p>
            <a:pPr algn="l">
              <a:lnSpc>
                <a:spcPct val="109000"/>
              </a:lnSpc>
              <a:spcBef>
                <a:spcPts val="0"/>
              </a:spcBef>
              <a:spcAft>
                <a:spcPts val="0"/>
              </a:spcAft>
            </a:pPr>
            <a:r>
              <a:rPr sz="1250" b="0">
                <a:solidFill>
                  <a:srgbClr val="00407A"/>
                </a:solidFill>
                <a:latin typeface="Arial"/>
              </a:rPr>
              <a:t>25 of 44</a:t>
            </a:r>
          </a:p>
        </p:txBody>
      </p:sp>
      <p:sp>
        <p:nvSpPr>
          <p:cNvPr id="46" name="TextBox 45"/>
          <p:cNvSpPr txBox="1"/>
          <p:nvPr/>
        </p:nvSpPr>
        <p:spPr>
          <a:xfrm>
            <a:off x="4581144"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47" name="Rectangle 46"/>
          <p:cNvSpPr/>
          <p:nvPr/>
        </p:nvSpPr>
        <p:spPr>
          <a:xfrm>
            <a:off x="5248655" y="3968495"/>
            <a:ext cx="813608"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601968"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65.9%</a:t>
            </a:r>
          </a:p>
          <a:p>
            <a:pPr algn="l">
              <a:lnSpc>
                <a:spcPct val="109000"/>
              </a:lnSpc>
              <a:spcBef>
                <a:spcPts val="0"/>
              </a:spcBef>
              <a:spcAft>
                <a:spcPts val="0"/>
              </a:spcAft>
            </a:pPr>
            <a:r>
              <a:rPr sz="1250" b="0">
                <a:solidFill>
                  <a:srgbClr val="00407A"/>
                </a:solidFill>
                <a:latin typeface="Arial"/>
              </a:rPr>
              <a:t>29 of 44</a:t>
            </a:r>
          </a:p>
        </p:txBody>
      </p:sp>
      <p:sp>
        <p:nvSpPr>
          <p:cNvPr id="49" name="TextBox 48"/>
          <p:cNvSpPr txBox="1"/>
          <p:nvPr/>
        </p:nvSpPr>
        <p:spPr>
          <a:xfrm>
            <a:off x="4581144"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50" name="Rectangle 49"/>
          <p:cNvSpPr/>
          <p:nvPr/>
        </p:nvSpPr>
        <p:spPr>
          <a:xfrm>
            <a:off x="5248655" y="4471416"/>
            <a:ext cx="869719"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01968"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70.5%</a:t>
            </a:r>
          </a:p>
          <a:p>
            <a:pPr algn="l">
              <a:lnSpc>
                <a:spcPct val="109000"/>
              </a:lnSpc>
              <a:spcBef>
                <a:spcPts val="0"/>
              </a:spcBef>
              <a:spcAft>
                <a:spcPts val="0"/>
              </a:spcAft>
            </a:pPr>
            <a:r>
              <a:rPr sz="1250" b="0">
                <a:solidFill>
                  <a:srgbClr val="00407A"/>
                </a:solidFill>
                <a:latin typeface="Arial"/>
              </a:rPr>
              <a:t>31 of 44</a:t>
            </a:r>
          </a:p>
        </p:txBody>
      </p:sp>
      <p:sp>
        <p:nvSpPr>
          <p:cNvPr id="52" name="TextBox 51"/>
          <p:cNvSpPr txBox="1"/>
          <p:nvPr/>
        </p:nvSpPr>
        <p:spPr>
          <a:xfrm>
            <a:off x="4581144"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53" name="TextBox 52"/>
          <p:cNvSpPr txBox="1"/>
          <p:nvPr/>
        </p:nvSpPr>
        <p:spPr>
          <a:xfrm>
            <a:off x="4581144"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54" name="Rounded Rectangle 53"/>
          <p:cNvSpPr/>
          <p:nvPr/>
        </p:nvSpPr>
        <p:spPr>
          <a:xfrm>
            <a:off x="7991856" y="1828800"/>
            <a:ext cx="3383280" cy="37307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93024" y="1993392"/>
            <a:ext cx="2980944" cy="502920"/>
          </a:xfrm>
          <a:prstGeom prst="rect">
            <a:avLst/>
          </a:prstGeom>
          <a:noFill/>
        </p:spPr>
        <p:txBody>
          <a:bodyPr wrap="square" lIns="0" rIns="0" tIns="0" bIns="0" anchor="t">
            <a:noAutofit/>
          </a:bodyPr>
          <a:lstStyle/>
          <a:p>
            <a:pPr algn="l">
              <a:lnSpc>
                <a:spcPct val="109000"/>
              </a:lnSpc>
              <a:spcBef>
                <a:spcPts val="0"/>
              </a:spcBef>
              <a:spcAft>
                <a:spcPts val="0"/>
              </a:spcAft>
            </a:pPr>
            <a:r>
              <a:rPr sz="1800" b="1">
                <a:solidFill>
                  <a:srgbClr val="00407A"/>
                </a:solidFill>
                <a:latin typeface="Arial"/>
              </a:rPr>
              <a:t>Choose higher frequency</a:t>
            </a:r>
          </a:p>
        </p:txBody>
      </p:sp>
      <p:sp>
        <p:nvSpPr>
          <p:cNvPr id="56" name="TextBox 55"/>
          <p:cNvSpPr txBox="1"/>
          <p:nvPr/>
        </p:nvSpPr>
        <p:spPr>
          <a:xfrm>
            <a:off x="8193024" y="2441448"/>
            <a:ext cx="2980944" cy="347472"/>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6 distinct pairs • 12 views</a:t>
            </a:r>
          </a:p>
        </p:txBody>
      </p:sp>
      <p:cxnSp>
        <p:nvCxnSpPr>
          <p:cNvPr id="57" name="Connector 56"/>
          <p:cNvCxnSpPr/>
          <p:nvPr/>
        </p:nvCxnSpPr>
        <p:spPr>
          <a:xfrm>
            <a:off x="884224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64108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0</a:t>
            </a:r>
          </a:p>
        </p:txBody>
      </p:sp>
      <p:cxnSp>
        <p:nvCxnSpPr>
          <p:cNvPr id="59" name="Connector 58"/>
          <p:cNvCxnSpPr/>
          <p:nvPr/>
        </p:nvCxnSpPr>
        <p:spPr>
          <a:xfrm>
            <a:off x="945946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258300"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50</a:t>
            </a:r>
          </a:p>
        </p:txBody>
      </p:sp>
      <p:cxnSp>
        <p:nvCxnSpPr>
          <p:cNvPr id="61" name="Connector 60"/>
          <p:cNvCxnSpPr/>
          <p:nvPr/>
        </p:nvCxnSpPr>
        <p:spPr>
          <a:xfrm>
            <a:off x="10076688" y="2834639"/>
            <a:ext cx="0" cy="1856233"/>
          </a:xfrm>
          <a:prstGeom prst="line">
            <a:avLst/>
          </a:prstGeom>
          <a:ln w="8255">
            <a:solidFill>
              <a:srgbClr val="C8D3DA"/>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9875519" y="4773168"/>
            <a:ext cx="402336" cy="201168"/>
          </a:xfrm>
          <a:prstGeom prst="rect">
            <a:avLst/>
          </a:prstGeom>
          <a:noFill/>
        </p:spPr>
        <p:txBody>
          <a:bodyPr wrap="square" lIns="0" rIns="0" tIns="0" bIns="0" anchor="t">
            <a:noAutofit/>
          </a:bodyPr>
          <a:lstStyle/>
          <a:p>
            <a:pPr algn="ctr">
              <a:lnSpc>
                <a:spcPct val="109000"/>
              </a:lnSpc>
              <a:spcBef>
                <a:spcPts val="0"/>
              </a:spcBef>
              <a:spcAft>
                <a:spcPts val="0"/>
              </a:spcAft>
            </a:pPr>
            <a:r>
              <a:rPr sz="1100" b="0">
                <a:solidFill>
                  <a:srgbClr val="4A5A66"/>
                </a:solidFill>
                <a:latin typeface="Arial"/>
              </a:rPr>
              <a:t>100</a:t>
            </a:r>
          </a:p>
        </p:txBody>
      </p:sp>
      <p:cxnSp>
        <p:nvCxnSpPr>
          <p:cNvPr id="63" name="Connector 62"/>
          <p:cNvCxnSpPr/>
          <p:nvPr/>
        </p:nvCxnSpPr>
        <p:spPr>
          <a:xfrm>
            <a:off x="9459468" y="2834639"/>
            <a:ext cx="0" cy="1856233"/>
          </a:xfrm>
          <a:prstGeom prst="line">
            <a:avLst/>
          </a:prstGeom>
          <a:ln w="15240">
            <a:solidFill>
              <a:srgbClr val="4A5A66"/>
            </a:solidFill>
            <a:prstDash val="dash"/>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8174736" y="293065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0.8B</a:t>
            </a:r>
          </a:p>
        </p:txBody>
      </p:sp>
      <p:sp>
        <p:nvSpPr>
          <p:cNvPr id="65" name="Rectangle 64"/>
          <p:cNvSpPr/>
          <p:nvPr/>
        </p:nvSpPr>
        <p:spPr>
          <a:xfrm>
            <a:off x="8842248" y="2962656"/>
            <a:ext cx="822960" cy="237744"/>
          </a:xfrm>
          <a:prstGeom prst="rect">
            <a:avLst/>
          </a:prstGeom>
          <a:solidFill>
            <a:srgbClr val="4A5A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195560" y="287578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66.7%</a:t>
            </a:r>
          </a:p>
          <a:p>
            <a:pPr algn="l">
              <a:lnSpc>
                <a:spcPct val="109000"/>
              </a:lnSpc>
              <a:spcBef>
                <a:spcPts val="0"/>
              </a:spcBef>
              <a:spcAft>
                <a:spcPts val="0"/>
              </a:spcAft>
            </a:pPr>
            <a:r>
              <a:rPr sz="1250" b="0">
                <a:solidFill>
                  <a:srgbClr val="00407A"/>
                </a:solidFill>
                <a:latin typeface="Arial"/>
              </a:rPr>
              <a:t>8 of 12</a:t>
            </a:r>
          </a:p>
        </p:txBody>
      </p:sp>
      <p:sp>
        <p:nvSpPr>
          <p:cNvPr id="67" name="TextBox 66"/>
          <p:cNvSpPr txBox="1"/>
          <p:nvPr/>
        </p:nvSpPr>
        <p:spPr>
          <a:xfrm>
            <a:off x="8174736" y="343357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4B</a:t>
            </a:r>
          </a:p>
        </p:txBody>
      </p:sp>
      <p:sp>
        <p:nvSpPr>
          <p:cNvPr id="68" name="Rectangle 67"/>
          <p:cNvSpPr/>
          <p:nvPr/>
        </p:nvSpPr>
        <p:spPr>
          <a:xfrm>
            <a:off x="8842248" y="3465575"/>
            <a:ext cx="1028700" cy="237744"/>
          </a:xfrm>
          <a:prstGeom prst="rect">
            <a:avLst/>
          </a:prstGeom>
          <a:solidFill>
            <a:srgbClr val="0B5A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195560" y="337870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0" name="TextBox 69"/>
          <p:cNvSpPr txBox="1"/>
          <p:nvPr/>
        </p:nvSpPr>
        <p:spPr>
          <a:xfrm>
            <a:off x="8174736" y="3936491"/>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9B</a:t>
            </a:r>
          </a:p>
        </p:txBody>
      </p:sp>
      <p:sp>
        <p:nvSpPr>
          <p:cNvPr id="71" name="Rectangle 70"/>
          <p:cNvSpPr/>
          <p:nvPr/>
        </p:nvSpPr>
        <p:spPr>
          <a:xfrm>
            <a:off x="8842248" y="3968495"/>
            <a:ext cx="925830" cy="237744"/>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195560" y="3881627"/>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75.0%</a:t>
            </a:r>
          </a:p>
          <a:p>
            <a:pPr algn="l">
              <a:lnSpc>
                <a:spcPct val="109000"/>
              </a:lnSpc>
              <a:spcBef>
                <a:spcPts val="0"/>
              </a:spcBef>
              <a:spcAft>
                <a:spcPts val="0"/>
              </a:spcAft>
            </a:pPr>
            <a:r>
              <a:rPr sz="1250" b="0">
                <a:solidFill>
                  <a:srgbClr val="00407A"/>
                </a:solidFill>
                <a:latin typeface="Arial"/>
              </a:rPr>
              <a:t>9 of 12</a:t>
            </a:r>
          </a:p>
        </p:txBody>
      </p:sp>
      <p:sp>
        <p:nvSpPr>
          <p:cNvPr id="73" name="TextBox 72"/>
          <p:cNvSpPr txBox="1"/>
          <p:nvPr/>
        </p:nvSpPr>
        <p:spPr>
          <a:xfrm>
            <a:off x="8174736" y="4439412"/>
            <a:ext cx="603504" cy="274320"/>
          </a:xfrm>
          <a:prstGeom prst="rect">
            <a:avLst/>
          </a:prstGeom>
          <a:noFill/>
        </p:spPr>
        <p:txBody>
          <a:bodyPr wrap="square" lIns="0" rIns="0" tIns="0" bIns="0" anchor="t">
            <a:noAutofit/>
          </a:bodyPr>
          <a:lstStyle/>
          <a:p>
            <a:pPr algn="l">
              <a:lnSpc>
                <a:spcPct val="109000"/>
              </a:lnSpc>
              <a:spcBef>
                <a:spcPts val="0"/>
              </a:spcBef>
              <a:spcAft>
                <a:spcPts val="0"/>
              </a:spcAft>
            </a:pPr>
            <a:r>
              <a:rPr sz="1400" b="0">
                <a:solidFill>
                  <a:srgbClr val="00407A"/>
                </a:solidFill>
                <a:latin typeface="Arial"/>
              </a:rPr>
              <a:t>27B</a:t>
            </a:r>
          </a:p>
        </p:txBody>
      </p:sp>
      <p:sp>
        <p:nvSpPr>
          <p:cNvPr id="74" name="Rectangle 73"/>
          <p:cNvSpPr/>
          <p:nvPr/>
        </p:nvSpPr>
        <p:spPr>
          <a:xfrm>
            <a:off x="8842248" y="4471416"/>
            <a:ext cx="1028700" cy="237744"/>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95560" y="4384548"/>
            <a:ext cx="1005840" cy="429768"/>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00407A"/>
                </a:solidFill>
                <a:latin typeface="Arial"/>
              </a:rPr>
              <a:t>83.3%</a:t>
            </a:r>
          </a:p>
          <a:p>
            <a:pPr algn="l">
              <a:lnSpc>
                <a:spcPct val="109000"/>
              </a:lnSpc>
              <a:spcBef>
                <a:spcPts val="0"/>
              </a:spcBef>
              <a:spcAft>
                <a:spcPts val="0"/>
              </a:spcAft>
            </a:pPr>
            <a:r>
              <a:rPr sz="1250" b="0">
                <a:solidFill>
                  <a:srgbClr val="00407A"/>
                </a:solidFill>
                <a:latin typeface="Arial"/>
              </a:rPr>
              <a:t>10 of 12</a:t>
            </a:r>
          </a:p>
        </p:txBody>
      </p:sp>
      <p:sp>
        <p:nvSpPr>
          <p:cNvPr id="76" name="TextBox 75"/>
          <p:cNvSpPr txBox="1"/>
          <p:nvPr/>
        </p:nvSpPr>
        <p:spPr>
          <a:xfrm>
            <a:off x="8174736" y="5038344"/>
            <a:ext cx="3017520" cy="219456"/>
          </a:xfrm>
          <a:prstGeom prst="rect">
            <a:avLst/>
          </a:prstGeom>
          <a:noFill/>
        </p:spPr>
        <p:txBody>
          <a:bodyPr wrap="square" lIns="0" rIns="0" tIns="0" bIns="0" anchor="t">
            <a:noAutofit/>
          </a:bodyPr>
          <a:lstStyle/>
          <a:p>
            <a:pPr algn="l">
              <a:lnSpc>
                <a:spcPct val="109000"/>
              </a:lnSpc>
              <a:spcBef>
                <a:spcPts val="0"/>
              </a:spcBef>
              <a:spcAft>
                <a:spcPts val="0"/>
              </a:spcAft>
            </a:pPr>
            <a:r>
              <a:rPr sz="1100" b="0">
                <a:solidFill>
                  <a:srgbClr val="4A5A66"/>
                </a:solidFill>
                <a:latin typeface="Arial"/>
              </a:rPr>
              <a:t>Correct answers (%) — higher is better</a:t>
            </a:r>
          </a:p>
        </p:txBody>
      </p:sp>
      <p:sp>
        <p:nvSpPr>
          <p:cNvPr id="77" name="TextBox 76"/>
          <p:cNvSpPr txBox="1"/>
          <p:nvPr/>
        </p:nvSpPr>
        <p:spPr>
          <a:xfrm>
            <a:off x="8174736" y="5294376"/>
            <a:ext cx="3017520" cy="210312"/>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Dashed line: always A or B = 50%</a:t>
            </a:r>
          </a:p>
        </p:txBody>
      </p:sp>
      <p:sp>
        <p:nvSpPr>
          <p:cNvPr id="78" name="Rounded Rectangle 7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9B leads area ranking (40 of 46 views); 27B leads power ranking (31 of 44). Frequency has only six pairs.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Check the design ranking in both orders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stronger test counts a pair correct only when both presentation orders are correct.</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RESULTS</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21</a:t>
            </a:r>
          </a:p>
        </p:txBody>
      </p:sp>
      <p:graphicFrame>
        <p:nvGraphicFramePr>
          <p:cNvPr id="6" name="Table 5"/>
          <p:cNvGraphicFramePr>
            <a:graphicFrameLocks noGrp="1"/>
          </p:cNvGraphicFramePr>
          <p:nvPr/>
        </p:nvGraphicFramePr>
        <p:xfrm>
          <a:off x="813816" y="1874519"/>
          <a:ext cx="10561320" cy="2240280"/>
        </p:xfrm>
        <a:graphic>
          <a:graphicData uri="http://schemas.openxmlformats.org/drawingml/2006/table">
            <a:tbl>
              <a:tblPr firstRow="1" bandRow="1">
                <a:tableStyleId>{5C22544A-7EE6-4342-B048-85BDC9FD1C3A}</a:tableStyleId>
              </a:tblPr>
              <a:tblGrid>
                <a:gridCol w="1371600"/>
                <a:gridCol w="3063240"/>
                <a:gridCol w="3063240"/>
                <a:gridCol w="306324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Area: both correct</a:t>
                      </a:r>
                    </a:p>
                    <a:p>
                      <a:pPr algn="ctr">
                        <a:lnSpc>
                          <a:spcPct val="103000"/>
                        </a:lnSpc>
                        <a:spcBef>
                          <a:spcPts val="0"/>
                        </a:spcBef>
                        <a:spcAft>
                          <a:spcPts val="0"/>
                        </a:spcAft>
                      </a:pPr>
                      <a:r>
                        <a:rPr sz="1600" b="1">
                          <a:solidFill>
                            <a:srgbClr val="FFFFFF"/>
                          </a:solidFill>
                          <a:latin typeface="Arial"/>
                        </a:rPr>
                        <a:t>23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Power: both correct</a:t>
                      </a:r>
                    </a:p>
                    <a:p>
                      <a:pPr algn="ctr">
                        <a:lnSpc>
                          <a:spcPct val="103000"/>
                        </a:lnSpc>
                        <a:spcBef>
                          <a:spcPts val="0"/>
                        </a:spcBef>
                        <a:spcAft>
                          <a:spcPts val="0"/>
                        </a:spcAft>
                      </a:pPr>
                      <a:r>
                        <a:rPr sz="1600" b="1">
                          <a:solidFill>
                            <a:srgbClr val="FFFFFF"/>
                          </a:solidFill>
                          <a:latin typeface="Arial"/>
                        </a:rPr>
                        <a:t>22 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Frequency: both correct</a:t>
                      </a:r>
                    </a:p>
                    <a:p>
                      <a:pPr algn="ctr">
                        <a:lnSpc>
                          <a:spcPct val="103000"/>
                        </a:lnSpc>
                        <a:spcBef>
                          <a:spcPts val="0"/>
                        </a:spcBef>
                        <a:spcAft>
                          <a:spcPts val="0"/>
                        </a:spcAft>
                      </a:pPr>
                      <a:r>
                        <a:rPr sz="1600" b="1">
                          <a:solidFill>
                            <a:srgbClr val="FFFFFF"/>
                          </a:solidFill>
                          <a:latin typeface="Arial"/>
                        </a:rPr>
                        <a:t>6 pairs</a:t>
                      </a:r>
                    </a:p>
                  </a:txBody>
                  <a:tcPr marL="109728" marR="91440" marT="54864" marB="36576" anchor="ctr">
                    <a:solidFill>
                      <a:srgbClr val="00407A"/>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13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3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FFFFFF"/>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19 of 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9 of 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 of 6</a:t>
                      </a:r>
                    </a:p>
                  </a:txBody>
                  <a:tcPr marL="109728" marR="91440" marT="54864" marB="36576" anchor="ctr">
                    <a:solidFill>
                      <a:srgbClr val="E3EFF5"/>
                    </a:solidFill>
                    <a:lnL>
                      <a:noFill/>
                    </a:lnL>
                    <a:lnR>
                      <a:noFill/>
                    </a:lnR>
                    <a:lnT>
                      <a:noFill/>
                    </a:lnT>
                    <a:lnB>
                      <a:noFill/>
                    </a:lnB>
                  </a:tcPr>
                </a:tc>
              </a:tr>
              <a:tr h="418338">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17 of 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14 of 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 of 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462272"/>
            <a:ext cx="10149840" cy="384048"/>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Same letter after swapping the power pair:</a:t>
            </a:r>
          </a:p>
        </p:txBody>
      </p:sp>
      <p:sp>
        <p:nvSpPr>
          <p:cNvPr id="8" name="TextBox 7"/>
          <p:cNvSpPr txBox="1"/>
          <p:nvPr/>
        </p:nvSpPr>
        <p:spPr>
          <a:xfrm>
            <a:off x="987552" y="5010912"/>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1900" b="0">
                <a:solidFill>
                  <a:srgbClr val="00407A"/>
                </a:solidFill>
                <a:latin typeface="Arial"/>
              </a:rPr>
              <a:t>0.8B: 16 of 22 pairs   •   4B: 19 of 22   •   9B: 11 of 22   •   27B: 3 of 22</a:t>
            </a:r>
          </a:p>
        </p:txBody>
      </p:sp>
      <p:sp>
        <p:nvSpPr>
          <p:cNvPr id="9" name="Rounded Rectangle 8"/>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Keeping the same letter after a swap guarantees at least one wrong view. Lower is better for that error count.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All four Condor evaluations completed</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Observed run times include different hardware and setup costs; they are not a controlled speed ranking.</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EXECUTION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22</a:t>
            </a:r>
          </a:p>
        </p:txBody>
      </p:sp>
      <p:graphicFrame>
        <p:nvGraphicFramePr>
          <p:cNvPr id="6" name="Table 5"/>
          <p:cNvGraphicFramePr>
            <a:graphicFrameLocks noGrp="1"/>
          </p:cNvGraphicFramePr>
          <p:nvPr/>
        </p:nvGraphicFramePr>
        <p:xfrm>
          <a:off x="813816" y="1901952"/>
          <a:ext cx="10561320" cy="2423156"/>
        </p:xfrm>
        <a:graphic>
          <a:graphicData uri="http://schemas.openxmlformats.org/drawingml/2006/table">
            <a:tbl>
              <a:tblPr firstRow="1" bandRow="1">
                <a:tableStyleId>{5C22544A-7EE6-4342-B048-85BDC9FD1C3A}</a:tableStyleId>
              </a:tblPr>
              <a:tblGrid>
                <a:gridCol w="1371600"/>
                <a:gridCol w="731520"/>
                <a:gridCol w="2880360"/>
                <a:gridCol w="2697480"/>
                <a:gridCol w="288036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GPU used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Job time</a:t>
                      </a:r>
                    </a:p>
                    <a:p>
                      <a:pPr algn="ctr">
                        <a:lnSpc>
                          <a:spcPct val="103000"/>
                        </a:lnSpc>
                        <a:spcBef>
                          <a:spcPts val="0"/>
                        </a:spcBef>
                        <a:spcAft>
                          <a:spcPts val="0"/>
                        </a:spcAft>
                      </a:pPr>
                      <a:r>
                        <a:rPr sz="1600" b="1">
                          <a:solidFill>
                            <a:srgbClr val="FFFFFF"/>
                          </a:solidFill>
                          <a:latin typeface="Arial"/>
                        </a:rPr>
                        <a:t>including setup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Median model</a:t>
                      </a:r>
                    </a:p>
                    <a:p>
                      <a:pPr algn="ctr">
                        <a:lnSpc>
                          <a:spcPct val="103000"/>
                        </a:lnSpc>
                        <a:spcBef>
                          <a:spcPts val="0"/>
                        </a:spcBef>
                        <a:spcAft>
                          <a:spcPts val="0"/>
                        </a:spcAft>
                      </a:pPr>
                      <a:r>
                        <a:rPr sz="1600" b="1">
                          <a:solidFill>
                            <a:srgbClr val="FFFFFF"/>
                          </a:solidFill>
                          <a:latin typeface="Arial"/>
                        </a:rPr>
                        <a:t>time per request</a:t>
                      </a:r>
                    </a:p>
                  </a:txBody>
                  <a:tcPr marL="109728" marR="91440" marT="54864" marB="36576" anchor="ctr">
                    <a:solidFill>
                      <a:srgbClr val="00407A"/>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RTX 3080 Ti</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125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109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187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201 ms</a:t>
                      </a:r>
                    </a:p>
                  </a:txBody>
                  <a:tcPr marL="109728" marR="91440" marT="54864" marB="36576" anchor="ctr">
                    <a:solidFill>
                      <a:srgbClr val="FFFFFF"/>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204 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244 ms</a:t>
                      </a:r>
                    </a:p>
                  </a:txBody>
                  <a:tcPr marL="109728" marR="91440" marT="54864" marB="36576" anchor="ctr">
                    <a:solidFill>
                      <a:srgbClr val="E3EFF5"/>
                    </a:solidFill>
                    <a:lnL>
                      <a:noFill/>
                    </a:lnL>
                    <a:lnR>
                      <a:noFill/>
                    </a:lnR>
                    <a:lnT>
                      <a:noFill/>
                    </a:lnT>
                    <a:lnB>
                      <a:noFill/>
                    </a:lnB>
                  </a:tcPr>
                </a:tc>
              </a:tr>
              <a:tr h="464057">
                <a:tc>
                  <a:txBody>
                    <a:bodyPr/>
                    <a:lstStyle/>
                    <a:p>
                      <a:pPr algn="l">
                        <a:lnSpc>
                          <a:spcPct val="103000"/>
                        </a:lnSpc>
                        <a:spcBef>
                          <a:spcPts val="0"/>
                        </a:spcBef>
                        <a:spcAft>
                          <a:spcPts val="0"/>
                        </a:spcAft>
                      </a:pPr>
                      <a:r>
                        <a:rPr sz="21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A100 80 GB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400 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2100" b="0">
                          <a:solidFill>
                            <a:srgbClr val="00407A"/>
                          </a:solidFill>
                          <a:latin typeface="Arial"/>
                        </a:rPr>
                        <a:t>668 ms</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87552" y="4645152"/>
            <a:ext cx="10149840" cy="822960"/>
          </a:xfrm>
          <a:prstGeom prst="rect">
            <a:avLst/>
          </a:prstGeom>
          <a:noFill/>
        </p:spPr>
        <p:txBody>
          <a:bodyPr wrap="square" lIns="0" rIns="0" tIns="0" bIns="0" anchor="t">
            <a:noAutofit/>
          </a:bodyPr>
          <a:lstStyle/>
          <a:p>
            <a:pPr algn="l">
              <a:lnSpc>
                <a:spcPct val="109000"/>
              </a:lnSpc>
              <a:spcBef>
                <a:spcPts val="0"/>
              </a:spcBef>
              <a:spcAft>
                <a:spcPts val="0"/>
              </a:spcAft>
            </a:pPr>
            <a:r>
              <a:rPr sz="2300" b="1">
                <a:solidFill>
                  <a:srgbClr val="00407A"/>
                </a:solidFill>
                <a:latin typeface="Arial"/>
              </a:rPr>
              <a:t>Every model: 348 dataset requests answered, 5 smoke requests passed,</a:t>
            </a:r>
          </a:p>
          <a:p>
            <a:pPr algn="l">
              <a:lnSpc>
                <a:spcPct val="109000"/>
              </a:lnSpc>
              <a:spcBef>
                <a:spcPts val="0"/>
              </a:spcBef>
              <a:spcAft>
                <a:spcPts val="0"/>
              </a:spcAft>
            </a:pPr>
            <a:r>
              <a:rPr sz="2300" b="1">
                <a:solidFill>
                  <a:srgbClr val="00407A"/>
                </a:solidFill>
                <a:latin typeface="Arial"/>
              </a:rPr>
              <a:t>725 test questions scored, zero HTTP errors and zero missing answers.</a:t>
            </a:r>
          </a:p>
        </p:txBody>
      </p:sp>
      <p:sp>
        <p:nvSpPr>
          <p:cNvPr id="8" name="Rounded Rectangle 7"/>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All runs used the same dataset fingerprint and v1.0 checkpoints. Maximum reported input length: 7,706 tokens.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What the evidence supports—and what needs work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are observations on dataset v1, not a guarantee for unseen design families.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INTERPRETATION</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23</a:t>
            </a:r>
          </a:p>
        </p:txBody>
      </p:sp>
      <p:sp>
        <p:nvSpPr>
          <p:cNvPr id="6" name="Rounded Rectangle 5"/>
          <p:cNvSpPr/>
          <p:nvPr/>
        </p:nvSpPr>
        <p:spPr>
          <a:xfrm>
            <a:off x="81381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3816" y="1828800"/>
            <a:ext cx="5166360" cy="41148"/>
          </a:xfrm>
          <a:prstGeom prst="rect">
            <a:avLst/>
          </a:prstGeom>
          <a:solidFill>
            <a:srgbClr val="0040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Promising in this test</a:t>
            </a:r>
          </a:p>
        </p:txBody>
      </p:sp>
      <p:sp>
        <p:nvSpPr>
          <p:cNvPr id="9" name="TextBox 8"/>
          <p:cNvSpPr txBox="1"/>
          <p:nvPr/>
        </p:nvSpPr>
        <p:spPr>
          <a:xfrm>
            <a:off x="104241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2000" b="0">
                <a:solidFill>
                  <a:srgbClr val="00407A"/>
                </a:solidFill>
                <a:latin typeface="Arial"/>
              </a:rPr>
              <a:t>27B: source-compilation screening.</a:t>
            </a:r>
          </a:p>
          <a:p>
            <a:pPr algn="l">
              <a:lnSpc>
                <a:spcPct val="109000"/>
              </a:lnSpc>
              <a:spcBef>
                <a:spcPts val="0"/>
              </a:spcBef>
              <a:spcAft>
                <a:spcPts val="0"/>
              </a:spcAft>
            </a:pPr>
            <a:r>
              <a:rPr sz="2000" b="0">
                <a:solidFill>
                  <a:srgbClr val="00407A"/>
                </a:solidFill>
                <a:latin typeface="Arial"/>
              </a:rPr>
              <a:t>27B: failure reasons when failure is known.</a:t>
            </a:r>
          </a:p>
          <a:p>
            <a:pPr algn="l">
              <a:lnSpc>
                <a:spcPct val="109000"/>
              </a:lnSpc>
              <a:spcBef>
                <a:spcPts val="0"/>
              </a:spcBef>
              <a:spcAft>
                <a:spcPts val="0"/>
              </a:spcAft>
            </a:pPr>
            <a:r>
              <a:rPr sz="2000" b="0">
                <a:solidFill>
                  <a:srgbClr val="00407A"/>
                </a:solidFill>
                <a:latin typeface="Arial"/>
              </a:rPr>
              <a:t>27B: coarse area levels.</a:t>
            </a:r>
          </a:p>
          <a:p>
            <a:pPr algn="l">
              <a:lnSpc>
                <a:spcPct val="109000"/>
              </a:lnSpc>
              <a:spcBef>
                <a:spcPts val="0"/>
              </a:spcBef>
              <a:spcAft>
                <a:spcPts val="0"/>
              </a:spcAft>
            </a:pPr>
            <a:r>
              <a:rPr sz="2000" b="0">
                <a:solidFill>
                  <a:srgbClr val="00407A"/>
                </a:solidFill>
                <a:latin typeface="Arial"/>
              </a:rPr>
              <a:t>9B: pairwise area ranking.</a:t>
            </a:r>
          </a:p>
          <a:p>
            <a:pPr algn="l">
              <a:lnSpc>
                <a:spcPct val="109000"/>
              </a:lnSpc>
              <a:spcBef>
                <a:spcPts val="0"/>
              </a:spcBef>
              <a:spcAft>
                <a:spcPts val="0"/>
              </a:spcAft>
            </a:pPr>
            <a:r>
              <a:rPr sz="2000" b="0">
                <a:solidFill>
                  <a:srgbClr val="00407A"/>
                </a:solidFill>
                <a:latin typeface="Arial"/>
              </a:rPr>
              <a:t>27B: pairwise power ranking.</a:t>
            </a:r>
          </a:p>
        </p:txBody>
      </p:sp>
      <p:sp>
        <p:nvSpPr>
          <p:cNvPr id="10" name="Rounded Rectangle 9"/>
          <p:cNvSpPr/>
          <p:nvPr/>
        </p:nvSpPr>
        <p:spPr>
          <a:xfrm>
            <a:off x="6208776" y="1828800"/>
            <a:ext cx="5166360" cy="361188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8776" y="18288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37376" y="2057400"/>
            <a:ext cx="4709160" cy="658368"/>
          </a:xfrm>
          <a:prstGeom prst="rect">
            <a:avLst/>
          </a:prstGeom>
          <a:noFill/>
        </p:spPr>
        <p:txBody>
          <a:bodyPr wrap="square" lIns="0" rIns="0" tIns="0" bIns="0" anchor="t">
            <a:noAutofit/>
          </a:bodyPr>
          <a:lstStyle/>
          <a:p>
            <a:pPr algn="l">
              <a:lnSpc>
                <a:spcPct val="109000"/>
              </a:lnSpc>
              <a:spcBef>
                <a:spcPts val="0"/>
              </a:spcBef>
              <a:spcAft>
                <a:spcPts val="0"/>
              </a:spcAft>
            </a:pPr>
            <a:r>
              <a:rPr sz="2100" b="1">
                <a:solidFill>
                  <a:srgbClr val="00407A"/>
                </a:solidFill>
                <a:latin typeface="Arial"/>
              </a:rPr>
              <a:t>Next experiments</a:t>
            </a:r>
          </a:p>
        </p:txBody>
      </p:sp>
      <p:sp>
        <p:nvSpPr>
          <p:cNvPr id="13" name="TextBox 12"/>
          <p:cNvSpPr txBox="1"/>
          <p:nvPr/>
        </p:nvSpPr>
        <p:spPr>
          <a:xfrm>
            <a:off x="6437376" y="2834640"/>
            <a:ext cx="4709160" cy="242316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Choose binary thresholds on development data.</a:t>
            </a:r>
          </a:p>
          <a:p>
            <a:pPr algn="l">
              <a:lnSpc>
                <a:spcPct val="109000"/>
              </a:lnSpc>
              <a:spcBef>
                <a:spcPts val="0"/>
              </a:spcBef>
              <a:spcAft>
                <a:spcPts val="0"/>
              </a:spcAft>
            </a:pPr>
            <a:r>
              <a:rPr sz="1800" b="0">
                <a:solidFill>
                  <a:srgbClr val="00407A"/>
                </a:solidFill>
                <a:latin typeface="Arial"/>
              </a:rPr>
              <a:t>Expand synthesis failures and rare classes.</a:t>
            </a:r>
          </a:p>
          <a:p>
            <a:pPr algn="l">
              <a:lnSpc>
                <a:spcPct val="109000"/>
              </a:lnSpc>
              <a:spcBef>
                <a:spcPts val="0"/>
              </a:spcBef>
              <a:spcAft>
                <a:spcPts val="0"/>
              </a:spcAft>
            </a:pPr>
            <a:r>
              <a:rPr sz="1800" b="0">
                <a:solidFill>
                  <a:srgbClr val="00407A"/>
                </a:solidFill>
                <a:latin typeface="Arial"/>
              </a:rPr>
              <a:t>Add designs that miss the timing target.</a:t>
            </a:r>
          </a:p>
          <a:p>
            <a:pPr algn="l">
              <a:lnSpc>
                <a:spcPct val="109000"/>
              </a:lnSpc>
              <a:spcBef>
                <a:spcPts val="0"/>
              </a:spcBef>
              <a:spcAft>
                <a:spcPts val="0"/>
              </a:spcAft>
            </a:pPr>
            <a:r>
              <a:rPr sz="1800" b="0">
                <a:solidFill>
                  <a:srgbClr val="00407A"/>
                </a:solidFill>
                <a:latin typeface="Arial"/>
              </a:rPr>
              <a:t>Check power and timing across design groups.</a:t>
            </a:r>
          </a:p>
          <a:p>
            <a:pPr algn="l">
              <a:lnSpc>
                <a:spcPct val="109000"/>
              </a:lnSpc>
              <a:spcBef>
                <a:spcPts val="0"/>
              </a:spcBef>
              <a:spcAft>
                <a:spcPts val="0"/>
              </a:spcAft>
            </a:pPr>
            <a:r>
              <a:rPr sz="1800" b="0">
                <a:solidFill>
                  <a:srgbClr val="00407A"/>
                </a:solidFill>
                <a:latin typeface="Arial"/>
              </a:rPr>
              <a:t>Compare other models under the same protocol.</a:t>
            </a:r>
          </a:p>
        </p:txBody>
      </p:sp>
      <p:sp>
        <p:nvSpPr>
          <p:cNvPr id="14" name="Rounded Rectangle 13"/>
          <p:cNvSpPr/>
          <p:nvPr/>
        </p:nvSpPr>
        <p:spPr>
          <a:xfrm>
            <a:off x="813816" y="5715000"/>
            <a:ext cx="10561320" cy="603504"/>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5788152"/>
            <a:ext cx="10213848" cy="457200"/>
          </a:xfrm>
          <a:prstGeom prst="rect">
            <a:avLst/>
          </a:prstGeom>
          <a:noFill/>
        </p:spPr>
        <p:txBody>
          <a:bodyPr wrap="square" lIns="0" rIns="0" tIns="0" bIns="0" anchor="ctr">
            <a:noAutofit/>
          </a:bodyPr>
          <a:lstStyle/>
          <a:p>
            <a:pPr algn="l">
              <a:lnSpc>
                <a:spcPct val="109000"/>
              </a:lnSpc>
              <a:spcBef>
                <a:spcPts val="0"/>
              </a:spcBef>
              <a:spcAft>
                <a:spcPts val="0"/>
              </a:spcAft>
            </a:pPr>
            <a:r>
              <a:rPr sz="1500" b="1">
                <a:solidFill>
                  <a:srgbClr val="00407A"/>
                </a:solidFill>
                <a:latin typeface="Arial"/>
              </a:rPr>
              <a:t>Keep tool verification in the loop. Reliable synthesis-failure screening is not established by these scores.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407A"/>
        </a:solidFill>
        <a:effectLst/>
      </p:bgPr>
    </p:bg>
    <p:spTree>
      <p:nvGrpSpPr>
        <p:cNvPr id="1" name=""/>
        <p:cNvGrpSpPr/>
        <p:nvPr/>
      </p:nvGrpSpPr>
      <p:grpSpPr/>
      <p:sp>
        <p:nvSpPr>
          <p:cNvPr id="2" name="TextBox 1"/>
          <p:cNvSpPr txBox="1"/>
          <p:nvPr/>
        </p:nvSpPr>
        <p:spPr>
          <a:xfrm>
            <a:off x="813816" y="1828800"/>
            <a:ext cx="10241280" cy="365760"/>
          </a:xfrm>
          <a:prstGeom prst="rect">
            <a:avLst/>
          </a:prstGeom>
          <a:noFill/>
        </p:spPr>
        <p:txBody>
          <a:bodyPr wrap="square" lIns="0" rIns="0" tIns="0" bIns="0" anchor="t">
            <a:noAutofit/>
          </a:bodyPr>
          <a:lstStyle/>
          <a:p>
            <a:pPr algn="l">
              <a:lnSpc>
                <a:spcPct val="109000"/>
              </a:lnSpc>
              <a:spcBef>
                <a:spcPts val="0"/>
              </a:spcBef>
              <a:spcAft>
                <a:spcPts val="0"/>
              </a:spcAft>
            </a:pPr>
            <a:r>
              <a:rPr sz="1600" b="1">
                <a:solidFill>
                  <a:srgbClr val="52BDEC"/>
                </a:solidFill>
                <a:latin typeface="Arial"/>
              </a:rPr>
              <a:t>THE DETAIL BEHIND THE NUMBERS</a:t>
            </a:r>
          </a:p>
        </p:txBody>
      </p:sp>
      <p:sp>
        <p:nvSpPr>
          <p:cNvPr id="3" name="TextBox 2"/>
          <p:cNvSpPr txBox="1"/>
          <p:nvPr/>
        </p:nvSpPr>
        <p:spPr>
          <a:xfrm>
            <a:off x="813816" y="2468880"/>
            <a:ext cx="9966960" cy="1508760"/>
          </a:xfrm>
          <a:prstGeom prst="rect">
            <a:avLst/>
          </a:prstGeom>
          <a:noFill/>
        </p:spPr>
        <p:txBody>
          <a:bodyPr wrap="square" lIns="0" rIns="0" tIns="0" bIns="0" anchor="t">
            <a:noAutofit/>
          </a:bodyPr>
          <a:lstStyle/>
          <a:p>
            <a:pPr algn="l">
              <a:lnSpc>
                <a:spcPct val="109000"/>
              </a:lnSpc>
              <a:spcBef>
                <a:spcPts val="0"/>
              </a:spcBef>
              <a:spcAft>
                <a:spcPts val="0"/>
              </a:spcAft>
            </a:pPr>
            <a:r>
              <a:rPr sz="4300" b="1">
                <a:solidFill>
                  <a:srgbClr val="FFFFFF"/>
                </a:solidFill>
                <a:latin typeface="Arial"/>
              </a:rPr>
              <a:t>Full results and</a:t>
            </a:r>
          </a:p>
          <a:p>
            <a:pPr algn="l">
              <a:lnSpc>
                <a:spcPct val="109000"/>
              </a:lnSpc>
              <a:spcBef>
                <a:spcPts val="0"/>
              </a:spcBef>
              <a:spcAft>
                <a:spcPts val="0"/>
              </a:spcAft>
            </a:pPr>
            <a:r>
              <a:rPr sz="4300" b="1">
                <a:solidFill>
                  <a:srgbClr val="FFFFFF"/>
                </a:solidFill>
                <a:latin typeface="Arial"/>
              </a:rPr>
              <a:t>coverage limits</a:t>
            </a:r>
          </a:p>
        </p:txBody>
      </p:sp>
      <p:sp>
        <p:nvSpPr>
          <p:cNvPr id="4" name="TextBox 3"/>
          <p:cNvSpPr txBox="1"/>
          <p:nvPr/>
        </p:nvSpPr>
        <p:spPr>
          <a:xfrm>
            <a:off x="813816" y="4617720"/>
            <a:ext cx="10241280" cy="685800"/>
          </a:xfrm>
          <a:prstGeom prst="rect">
            <a:avLst/>
          </a:prstGeom>
          <a:noFill/>
        </p:spPr>
        <p:txBody>
          <a:bodyPr wrap="square" lIns="0" rIns="0" tIns="0" bIns="0" anchor="t">
            <a:noAutofit/>
          </a:bodyPr>
          <a:lstStyle/>
          <a:p>
            <a:pPr algn="l">
              <a:lnSpc>
                <a:spcPct val="109000"/>
              </a:lnSpc>
              <a:spcBef>
                <a:spcPts val="0"/>
              </a:spcBef>
              <a:spcAft>
                <a:spcPts val="0"/>
              </a:spcAft>
            </a:pPr>
            <a:r>
              <a:rPr sz="2300" b="0">
                <a:solidFill>
                  <a:srgbClr val="BFDDEC"/>
                </a:solidFill>
                <a:latin typeface="Arial"/>
              </a:rPr>
              <a:t>Exact counts, probability metrics, level errors and reproducible evidence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Every primary test score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answers (%) • each question has equal weight within its row • higher is better.</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25</a:t>
            </a:r>
          </a:p>
        </p:txBody>
      </p:sp>
      <p:graphicFrame>
        <p:nvGraphicFramePr>
          <p:cNvPr id="6" name="Table 5"/>
          <p:cNvGraphicFramePr>
            <a:graphicFrameLocks noGrp="1"/>
          </p:cNvGraphicFramePr>
          <p:nvPr/>
        </p:nvGraphicFramePr>
        <p:xfrm>
          <a:off x="813816" y="1865376"/>
          <a:ext cx="10561319" cy="4114798"/>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Task</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Questions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Compiles — pooled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99.2%</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Synthesizes — pooled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79.7%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80.5%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82.9%</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Failure reason — known failure</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68.8%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93.8%</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Area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35.9%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57.6%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Power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27.1%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Clock frequency — exact level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14.1%</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Timing margin — exact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32.6%</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smaller 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47.8%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76.1%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78.3%</a:t>
                      </a:r>
                    </a:p>
                  </a:txBody>
                  <a:tcPr marL="109728" marR="91440" marT="54864" marB="36576" anchor="ctr">
                    <a:solidFill>
                      <a:srgbClr val="FFFFFF"/>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lower 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63.6%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56.8%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65.9%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70.5%</a:t>
                      </a:r>
                    </a:p>
                  </a:txBody>
                  <a:tcPr marL="109728" marR="91440" marT="54864" marB="36576" anchor="ctr">
                    <a:solidFill>
                      <a:srgbClr val="E3EFF5"/>
                    </a:solidFill>
                    <a:lnL>
                      <a:noFill/>
                    </a:lnL>
                    <a:lnR>
                      <a:noFill/>
                    </a:lnR>
                    <a:lnT>
                      <a:noFill/>
                    </a:lnT>
                    <a:lnB>
                      <a:noFill/>
                    </a:lnB>
                  </a:tcPr>
                </a:tc>
              </a:tr>
              <a:tr h="354787">
                <a:tc>
                  <a:txBody>
                    <a:bodyPr/>
                    <a:lstStyle/>
                    <a:p>
                      <a:pPr algn="l">
                        <a:lnSpc>
                          <a:spcPct val="103000"/>
                        </a:lnSpc>
                        <a:spcBef>
                          <a:spcPts val="0"/>
                        </a:spcBef>
                        <a:spcAft>
                          <a:spcPts val="0"/>
                        </a:spcAft>
                      </a:pPr>
                      <a:r>
                        <a:rPr sz="1600" b="0">
                          <a:solidFill>
                            <a:srgbClr val="00407A"/>
                          </a:solidFill>
                          <a:latin typeface="Arial"/>
                        </a:rPr>
                        <a:t>Pair: higher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83.3%</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868680" y="6099048"/>
            <a:ext cx="10424160" cy="228600"/>
          </a:xfrm>
          <a:prstGeom prst="rect">
            <a:avLst/>
          </a:prstGeom>
          <a:noFill/>
        </p:spPr>
        <p:txBody>
          <a:bodyPr wrap="square" lIns="0" rIns="0" tIns="0" bIns="0" anchor="t">
            <a:noAutofit/>
          </a:bodyPr>
          <a:lstStyle/>
          <a:p>
            <a:pPr algn="l">
              <a:lnSpc>
                <a:spcPct val="109000"/>
              </a:lnSpc>
              <a:spcBef>
                <a:spcPts val="0"/>
              </a:spcBef>
              <a:spcAft>
                <a:spcPts val="0"/>
              </a:spcAft>
            </a:pPr>
            <a:r>
              <a:rPr sz="1250" b="0">
                <a:solidFill>
                  <a:srgbClr val="4A5A66"/>
                </a:solidFill>
                <a:latin typeface="Arial"/>
              </a:rPr>
              <a:t>Pooled yes/no scores conceal class imbalance. Use the successful/failing split on the next slide.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Yes/no checks: every class, count and weighting</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below is measured within the actual tool-outcome group.</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26</a:t>
            </a:r>
          </a:p>
        </p:txBody>
      </p:sp>
      <p:graphicFrame>
        <p:nvGraphicFramePr>
          <p:cNvPr id="6" name="Table 5"/>
          <p:cNvGraphicFramePr>
            <a:graphicFrameLocks noGrp="1"/>
          </p:cNvGraphicFramePr>
          <p:nvPr/>
        </p:nvGraphicFramePr>
        <p:xfrm>
          <a:off x="813816" y="1874519"/>
          <a:ext cx="10515600" cy="3337560"/>
        </p:xfrm>
        <a:graphic>
          <a:graphicData uri="http://schemas.openxmlformats.org/drawingml/2006/table">
            <a:tbl>
              <a:tblPr firstRow="1" bandRow="1">
                <a:tableStyleId>{5C22544A-7EE6-4342-B048-85BDC9FD1C3A}</a:tableStyleId>
              </a:tblPr>
              <a:tblGrid>
                <a:gridCol w="2926080"/>
                <a:gridCol w="1005840"/>
                <a:gridCol w="1645920"/>
                <a:gridCol w="1645920"/>
                <a:gridCol w="1645920"/>
                <a:gridCol w="1645920"/>
              </a:tblGrid>
              <a:tr h="566928">
                <a:tc>
                  <a:txBody>
                    <a:bodyPr/>
                    <a:lstStyle/>
                    <a:p>
                      <a:pPr algn="l">
                        <a:lnSpc>
                          <a:spcPct val="103000"/>
                        </a:lnSpc>
                        <a:spcBef>
                          <a:spcPts val="0"/>
                        </a:spcBef>
                        <a:spcAft>
                          <a:spcPts val="0"/>
                        </a:spcAft>
                      </a:pPr>
                      <a:r>
                        <a:rPr sz="1500" b="1">
                          <a:solidFill>
                            <a:srgbClr val="FFFFFF"/>
                          </a:solidFill>
                          <a:latin typeface="Arial"/>
                        </a:rPr>
                        <a:t>Actual tool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successes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(3.5%)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114 (100.0%)</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failures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(22.2%)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8 (88.9%)</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Compilation: balanced</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61.1%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94.4%</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successes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99 (100.0%)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97 (98.0%)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98 (99.0%)</a:t>
                      </a:r>
                    </a:p>
                  </a:txBody>
                  <a:tcPr marL="109728" marR="91440" marT="54864" marB="36576" anchor="ctr">
                    <a:solidFill>
                      <a:srgbClr val="FFFFFF"/>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failures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 (0.0%)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2 (8.3%)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 (16.7%)</a:t>
                      </a:r>
                    </a:p>
                  </a:txBody>
                  <a:tcPr marL="109728" marR="91440" marT="54864" marB="36576" anchor="ctr">
                    <a:solidFill>
                      <a:srgbClr val="E3EFF5"/>
                    </a:solidFill>
                    <a:lnL>
                      <a:noFill/>
                    </a:lnL>
                    <a:lnR>
                      <a:noFill/>
                    </a:lnR>
                    <a:lnT>
                      <a:noFill/>
                    </a:lnT>
                    <a:lnB>
                      <a:noFill/>
                    </a:lnB>
                  </a:tcPr>
                </a:tc>
              </a:tr>
              <a:tr h="461772">
                <a:tc>
                  <a:txBody>
                    <a:bodyPr/>
                    <a:lstStyle/>
                    <a:p>
                      <a:pPr algn="l">
                        <a:lnSpc>
                          <a:spcPct val="103000"/>
                        </a:lnSpc>
                        <a:spcBef>
                          <a:spcPts val="0"/>
                        </a:spcBef>
                        <a:spcAft>
                          <a:spcPts val="0"/>
                        </a:spcAft>
                      </a:pPr>
                      <a:r>
                        <a:rPr sz="1700" b="0">
                          <a:solidFill>
                            <a:srgbClr val="00407A"/>
                          </a:solidFill>
                          <a:latin typeface="Arial"/>
                        </a:rPr>
                        <a:t>Synthesis: balanced</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49.5%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57.8%</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504688"/>
            <a:ext cx="10149840" cy="640080"/>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Entries show the number correct, followed by the percentage of that group.</a:t>
            </a:r>
          </a:p>
          <a:p>
            <a:pPr algn="l">
              <a:lnSpc>
                <a:spcPct val="109000"/>
              </a:lnSpc>
              <a:spcBef>
                <a:spcPts val="0"/>
              </a:spcBef>
              <a:spcAft>
                <a:spcPts val="0"/>
              </a:spcAft>
            </a:pPr>
            <a:r>
              <a:rPr sz="1700" b="0">
                <a:solidFill>
                  <a:srgbClr val="00407A"/>
                </a:solidFill>
                <a:latin typeface="Arial"/>
              </a:rPr>
              <a:t>Balanced accuracy averages success recognition and failure detection with 50% weight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Failure-reason coverage is small and uneven</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Correct reason counts by actual class • the prompt supplies that failure occurred.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27</a:t>
            </a:r>
          </a:p>
        </p:txBody>
      </p:sp>
      <p:graphicFrame>
        <p:nvGraphicFramePr>
          <p:cNvPr id="6" name="Table 5"/>
          <p:cNvGraphicFramePr>
            <a:graphicFrameLocks noGrp="1"/>
          </p:cNvGraphicFramePr>
          <p:nvPr/>
        </p:nvGraphicFramePr>
        <p:xfrm>
          <a:off x="813816" y="1865376"/>
          <a:ext cx="10561319" cy="3776463"/>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Actual failure class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Cases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More than one driver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Illegal code</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construct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Unsupported timing control</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Simulation-only statement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Asynchronous reset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Mixed assignment styles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Module-instance mismatch</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56615">
                <a:tc>
                  <a:txBody>
                    <a:bodyPr/>
                    <a:lstStyle/>
                    <a:p>
                      <a:pPr algn="l">
                        <a:lnSpc>
                          <a:spcPct val="103000"/>
                        </a:lnSpc>
                        <a:spcBef>
                          <a:spcPts val="0"/>
                        </a:spcBef>
                        <a:spcAft>
                          <a:spcPts val="0"/>
                        </a:spcAft>
                      </a:pPr>
                      <a:r>
                        <a:rPr sz="1600" b="0">
                          <a:solidFill>
                            <a:srgbClr val="00407A"/>
                          </a:solidFill>
                          <a:latin typeface="Arial"/>
                        </a:rPr>
                        <a:t>Equal weight per observed class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Accuracy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37.5%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50.0%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87.5%</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06440"/>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50" b="0">
                <a:solidFill>
                  <a:srgbClr val="00407A"/>
                </a:solidFill>
                <a:latin typeface="Arial"/>
              </a:rPr>
              <a:t>No true event-list or unbounded-loop cases occur in this held-out subset.</a:t>
            </a:r>
          </a:p>
          <a:p>
            <a:pPr algn="l">
              <a:lnSpc>
                <a:spcPct val="109000"/>
              </a:lnSpc>
              <a:spcBef>
                <a:spcPts val="0"/>
              </a:spcBef>
              <a:spcAft>
                <a:spcPts val="0"/>
              </a:spcAft>
            </a:pPr>
            <a:r>
              <a:rPr sz="1550" b="0">
                <a:solidFill>
                  <a:srgbClr val="00407A"/>
                </a:solidFill>
                <a:latin typeface="Arial"/>
              </a:rPr>
              <a:t>These two offered classes therefore have no measured class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Probability ranking and binary decisions are different</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A model can rank cases reasonably while making poor decisions at the fixed 0.5 threshold.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28</a:t>
            </a:r>
          </a:p>
        </p:txBody>
      </p:sp>
      <p:graphicFrame>
        <p:nvGraphicFramePr>
          <p:cNvPr id="6" name="Table 5"/>
          <p:cNvGraphicFramePr>
            <a:graphicFrameLocks noGrp="1"/>
          </p:cNvGraphicFramePr>
          <p:nvPr/>
        </p:nvGraphicFramePr>
        <p:xfrm>
          <a:off x="813816" y="1874519"/>
          <a:ext cx="10561320" cy="2148840"/>
        </p:xfrm>
        <a:graphic>
          <a:graphicData uri="http://schemas.openxmlformats.org/drawingml/2006/table">
            <a:tbl>
              <a:tblPr firstRow="1" bandRow="1">
                <a:tableStyleId>{5C22544A-7EE6-4342-B048-85BDC9FD1C3A}</a:tableStyleId>
              </a:tblPr>
              <a:tblGrid>
                <a:gridCol w="4160520"/>
                <a:gridCol w="1600200"/>
                <a:gridCol w="1600200"/>
                <a:gridCol w="1600200"/>
                <a:gridCol w="1600200"/>
              </a:tblGrid>
              <a:tr h="566928">
                <a:tc>
                  <a:txBody>
                    <a:bodyPr/>
                    <a:lstStyle/>
                    <a:p>
                      <a:pPr algn="l">
                        <a:lnSpc>
                          <a:spcPct val="103000"/>
                        </a:lnSpc>
                        <a:spcBef>
                          <a:spcPts val="0"/>
                        </a:spcBef>
                        <a:spcAft>
                          <a:spcPts val="0"/>
                        </a:spcAft>
                      </a:pPr>
                      <a:r>
                        <a:rPr sz="1600" b="1">
                          <a:solidFill>
                            <a:srgbClr val="FFFFFF"/>
                          </a:solidFill>
                          <a:latin typeface="Arial"/>
                        </a:rPr>
                        <a:t>Probability 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0.563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0.692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0.994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Compilation: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0.334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0.066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0.030</a:t>
                      </a:r>
                    </a:p>
                  </a:txBody>
                  <a:tcPr marL="109728" marR="91440" marT="54864" marB="36576" anchor="ctr">
                    <a:solidFill>
                      <a:srgbClr val="FFFFFF"/>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ranking score (AUROC)</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0.490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0.714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0.740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0.814</a:t>
                      </a:r>
                    </a:p>
                  </a:txBody>
                  <a:tcPr marL="109728" marR="91440" marT="54864" marB="36576" anchor="ctr">
                    <a:solidFill>
                      <a:srgbClr val="E3EFF5"/>
                    </a:solidFill>
                    <a:lnL>
                      <a:noFill/>
                    </a:lnL>
                    <a:lnR>
                      <a:noFill/>
                    </a:lnR>
                    <a:lnT>
                      <a:noFill/>
                    </a:lnT>
                    <a:lnB>
                      <a:noFill/>
                    </a:lnB>
                  </a:tcPr>
                </a:tc>
              </a:tr>
              <a:tr h="395478">
                <a:tc>
                  <a:txBody>
                    <a:bodyPr/>
                    <a:lstStyle/>
                    <a:p>
                      <a:pPr algn="l">
                        <a:lnSpc>
                          <a:spcPct val="103000"/>
                        </a:lnSpc>
                        <a:spcBef>
                          <a:spcPts val="0"/>
                        </a:spcBef>
                        <a:spcAft>
                          <a:spcPts val="0"/>
                        </a:spcAft>
                      </a:pPr>
                      <a:r>
                        <a:rPr sz="1700" b="0">
                          <a:solidFill>
                            <a:srgbClr val="00407A"/>
                          </a:solidFill>
                          <a:latin typeface="Arial"/>
                        </a:rPr>
                        <a:t>Synthesis: probability error (Brier)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0.187</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0.144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700" b="0">
                          <a:solidFill>
                            <a:srgbClr val="00407A"/>
                          </a:solidFill>
                          <a:latin typeface="Arial"/>
                        </a:rPr>
                        <a:t>0.128</a:t>
                      </a:r>
                    </a:p>
                  </a:txBody>
                  <a:tcPr marL="109728" marR="91440" marT="54864" marB="36576" anchor="ctr">
                    <a:solidFill>
                      <a:srgbClr val="FFFFFF"/>
                    </a:solidFill>
                    <a:lnL>
                      <a:noFill/>
                    </a:lnL>
                    <a:lnR>
                      <a:noFill/>
                    </a:lnR>
                    <a:lnT>
                      <a:noFill/>
                    </a:lnT>
                    <a:lnB>
                      <a:noFill/>
                    </a:lnB>
                  </a:tcPr>
                </a:tc>
              </a:tr>
            </a:tbl>
          </a:graphicData>
        </a:graphic>
      </p:graphicFrame>
      <p:sp>
        <p:nvSpPr>
          <p:cNvPr id="7" name="Rounded Rectangle 6"/>
          <p:cNvSpPr/>
          <p:nvPr/>
        </p:nvSpPr>
        <p:spPr>
          <a:xfrm>
            <a:off x="81381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381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4241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Ranking score: higher is better</a:t>
            </a:r>
          </a:p>
        </p:txBody>
      </p:sp>
      <p:sp>
        <p:nvSpPr>
          <p:cNvPr id="10" name="TextBox 9"/>
          <p:cNvSpPr txBox="1"/>
          <p:nvPr/>
        </p:nvSpPr>
        <p:spPr>
          <a:xfrm>
            <a:off x="104241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Chance = 0.5; perfect ordering = 1.</a:t>
            </a:r>
          </a:p>
          <a:p>
            <a:pPr algn="l">
              <a:lnSpc>
                <a:spcPct val="109000"/>
              </a:lnSpc>
              <a:spcBef>
                <a:spcPts val="0"/>
              </a:spcBef>
              <a:spcAft>
                <a:spcPts val="0"/>
              </a:spcAft>
            </a:pPr>
            <a:r>
              <a:rPr sz="1600" b="0">
                <a:solidFill>
                  <a:srgbClr val="00407A"/>
                </a:solidFill>
                <a:latin typeface="Arial"/>
              </a:rPr>
              <a:t>Compares yes probabilities for successes and failures.</a:t>
            </a:r>
          </a:p>
        </p:txBody>
      </p:sp>
      <p:sp>
        <p:nvSpPr>
          <p:cNvPr id="11" name="Rounded Rectangle 10"/>
          <p:cNvSpPr/>
          <p:nvPr/>
        </p:nvSpPr>
        <p:spPr>
          <a:xfrm>
            <a:off x="6208776" y="4343400"/>
            <a:ext cx="5166360" cy="1508760"/>
          </a:xfrm>
          <a:prstGeom prst="roundRect">
            <a:avLst>
              <a:gd name="adj" fmla="val 6000"/>
            </a:avLst>
          </a:prstGeom>
          <a:solidFill>
            <a:srgbClr val="E3E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8776" y="4343400"/>
            <a:ext cx="5166360" cy="41148"/>
          </a:xfrm>
          <a:prstGeom prst="rect">
            <a:avLst/>
          </a:prstGeom>
          <a:solidFill>
            <a:srgbClr val="1D8D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4489704"/>
            <a:ext cx="4709160" cy="384048"/>
          </a:xfrm>
          <a:prstGeom prst="rect">
            <a:avLst/>
          </a:prstGeom>
          <a:noFill/>
        </p:spPr>
        <p:txBody>
          <a:bodyPr wrap="square" lIns="0" rIns="0" tIns="0" bIns="0" anchor="t">
            <a:noAutofit/>
          </a:bodyPr>
          <a:lstStyle/>
          <a:p>
            <a:pPr algn="l">
              <a:lnSpc>
                <a:spcPct val="109000"/>
              </a:lnSpc>
              <a:spcBef>
                <a:spcPts val="0"/>
              </a:spcBef>
              <a:spcAft>
                <a:spcPts val="0"/>
              </a:spcAft>
            </a:pPr>
            <a:r>
              <a:rPr sz="2000" b="1">
                <a:solidFill>
                  <a:srgbClr val="00407A"/>
                </a:solidFill>
                <a:latin typeface="Arial"/>
              </a:rPr>
              <a:t>Probability error: lower is better</a:t>
            </a:r>
          </a:p>
        </p:txBody>
      </p:sp>
      <p:sp>
        <p:nvSpPr>
          <p:cNvPr id="14" name="TextBox 13"/>
          <p:cNvSpPr txBox="1"/>
          <p:nvPr/>
        </p:nvSpPr>
        <p:spPr>
          <a:xfrm>
            <a:off x="6437376" y="5001768"/>
            <a:ext cx="4709160" cy="75895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squared error of the yes probability.</a:t>
            </a:r>
          </a:p>
          <a:p>
            <a:pPr algn="l">
              <a:lnSpc>
                <a:spcPct val="109000"/>
              </a:lnSpc>
              <a:spcBef>
                <a:spcPts val="0"/>
              </a:spcBef>
              <a:spcAft>
                <a:spcPts val="0"/>
              </a:spcAft>
            </a:pPr>
            <a:r>
              <a:rPr sz="1600" b="0">
                <a:solidFill>
                  <a:srgbClr val="00407A"/>
                </a:solidFill>
                <a:latin typeface="Arial"/>
              </a:rPr>
              <a:t>Zero is perfect; confidently wrong answers cost more.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Performance levels: tolerance and expected-level error</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These metrics use ordinal levels, not errors in square micrometres, microwatts or nanoseconds.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29</a:t>
            </a:r>
          </a:p>
        </p:txBody>
      </p:sp>
      <p:graphicFrame>
        <p:nvGraphicFramePr>
          <p:cNvPr id="6" name="Table 5"/>
          <p:cNvGraphicFramePr>
            <a:graphicFrameLocks noGrp="1"/>
          </p:cNvGraphicFramePr>
          <p:nvPr/>
        </p:nvGraphicFramePr>
        <p:xfrm>
          <a:off x="813816" y="1874519"/>
          <a:ext cx="10561320" cy="3611880"/>
        </p:xfrm>
        <a:graphic>
          <a:graphicData uri="http://schemas.openxmlformats.org/drawingml/2006/table">
            <a:tbl>
              <a:tblPr firstRow="1" bandRow="1">
                <a:tableStyleId>{5C22544A-7EE6-4342-B048-85BDC9FD1C3A}</a:tableStyleId>
              </a:tblPr>
              <a:tblGrid>
                <a:gridCol w="1965960"/>
                <a:gridCol w="2240280"/>
                <a:gridCol w="1588770"/>
                <a:gridCol w="1588770"/>
                <a:gridCol w="1588770"/>
                <a:gridCol w="1588770"/>
              </a:tblGrid>
              <a:tr h="566928">
                <a:tc>
                  <a:txBody>
                    <a:bodyPr/>
                    <a:lstStyle/>
                    <a:p>
                      <a:pPr algn="l">
                        <a:lnSpc>
                          <a:spcPct val="103000"/>
                        </a:lnSpc>
                        <a:spcBef>
                          <a:spcPts val="0"/>
                        </a:spcBef>
                        <a:spcAft>
                          <a:spcPts val="0"/>
                        </a:spcAft>
                      </a:pPr>
                      <a:r>
                        <a:rPr sz="1500" b="1">
                          <a:solidFill>
                            <a:srgbClr val="FFFFFF"/>
                          </a:solidFill>
                          <a:latin typeface="Arial"/>
                        </a:rPr>
                        <a:t>Metric</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Measure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66.3%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70.7%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90.2%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100.0%</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Area</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0.994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0.713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0.649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0.485</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82.4%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91.8%</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92.9%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64.7%</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Power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0.971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0.754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0.900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1.070</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33.7%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31.5%</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Clock frequency</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1.119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1.321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1.242</a:t>
                      </a:r>
                    </a:p>
                  </a:txBody>
                  <a:tcPr marL="109728" marR="91440" marT="54864" marB="36576" anchor="ctr">
                    <a:solidFill>
                      <a:srgbClr val="FFFFFF"/>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Within one level</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30.4%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40.2%</a:t>
                      </a:r>
                    </a:p>
                  </a:txBody>
                  <a:tcPr marL="109728" marR="91440" marT="54864" marB="36576" anchor="ctr">
                    <a:solidFill>
                      <a:srgbClr val="E3EFF5"/>
                    </a:solidFill>
                    <a:lnL>
                      <a:noFill/>
                    </a:lnL>
                    <a:lnR>
                      <a:noFill/>
                    </a:lnR>
                    <a:lnT>
                      <a:noFill/>
                    </a:lnT>
                    <a:lnB>
                      <a:noFill/>
                    </a:lnB>
                  </a:tcPr>
                </a:tc>
              </a:tr>
              <a:tr h="380619">
                <a:tc>
                  <a:txBody>
                    <a:bodyPr/>
                    <a:lstStyle/>
                    <a:p>
                      <a:pPr algn="l">
                        <a:lnSpc>
                          <a:spcPct val="103000"/>
                        </a:lnSpc>
                        <a:spcBef>
                          <a:spcPts val="0"/>
                        </a:spcBef>
                        <a:spcAft>
                          <a:spcPts val="0"/>
                        </a:spcAft>
                      </a:pPr>
                      <a:r>
                        <a:rPr sz="1600" b="0">
                          <a:solidFill>
                            <a:srgbClr val="00407A"/>
                          </a:solidFill>
                          <a:latin typeface="Arial"/>
                        </a:rPr>
                        <a:t>Timing margin</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Mean level error</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1.509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1.654</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1.742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1.622</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705856"/>
            <a:ext cx="10149840" cy="548640"/>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00407A"/>
                </a:solidFill>
                <a:latin typeface="Arial"/>
              </a:rPr>
              <a:t>Mean level error uses the probability-weighted expected level, not just the most likely level.</a:t>
            </a:r>
          </a:p>
          <a:p>
            <a:pPr algn="l">
              <a:lnSpc>
                <a:spcPct val="109000"/>
              </a:lnSpc>
              <a:spcBef>
                <a:spcPts val="0"/>
              </a:spcBef>
              <a:spcAft>
                <a:spcPts val="0"/>
              </a:spcAft>
            </a:pPr>
            <a:r>
              <a:rPr sz="1600" b="0">
                <a:solidFill>
                  <a:srgbClr val="00407A"/>
                </a:solidFill>
                <a:latin typeface="Arial"/>
              </a:rPr>
              <a:t>Unequal physical bin widths mean that one level is not a fixed physical error.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Pair order: all correctness and letter-bias counts</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Counts are per distinct pair. Each pair has exactly two model answers.</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30</a:t>
            </a:r>
          </a:p>
        </p:txBody>
      </p:sp>
      <p:graphicFrame>
        <p:nvGraphicFramePr>
          <p:cNvPr id="6" name="Table 5"/>
          <p:cNvGraphicFramePr>
            <a:graphicFrameLocks noGrp="1"/>
          </p:cNvGraphicFramePr>
          <p:nvPr/>
        </p:nvGraphicFramePr>
        <p:xfrm>
          <a:off x="813816" y="1874519"/>
          <a:ext cx="10561319" cy="3886200"/>
        </p:xfrm>
        <a:graphic>
          <a:graphicData uri="http://schemas.openxmlformats.org/drawingml/2006/table">
            <a:tbl>
              <a:tblPr firstRow="1" bandRow="1">
                <a:tableStyleId>{5C22544A-7EE6-4342-B048-85BDC9FD1C3A}</a:tableStyleId>
              </a:tblPr>
              <a:tblGrid>
                <a:gridCol w="3749039"/>
                <a:gridCol w="1143000"/>
                <a:gridCol w="1417320"/>
                <a:gridCol w="1417320"/>
                <a:gridCol w="1417320"/>
                <a:gridCol w="1417320"/>
              </a:tblGrid>
              <a:tr h="566928">
                <a:tc>
                  <a:txBody>
                    <a:bodyPr/>
                    <a:lstStyle/>
                    <a:p>
                      <a:pPr algn="l">
                        <a:lnSpc>
                          <a:spcPct val="103000"/>
                        </a:lnSpc>
                        <a:spcBef>
                          <a:spcPts val="0"/>
                        </a:spcBef>
                        <a:spcAft>
                          <a:spcPts val="0"/>
                        </a:spcAft>
                      </a:pPr>
                      <a:r>
                        <a:rPr sz="1500" b="1">
                          <a:solidFill>
                            <a:srgbClr val="FFFFFF"/>
                          </a:solidFill>
                          <a:latin typeface="Arial"/>
                        </a:rPr>
                        <a:t>Pair outcome</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Pairs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0.8B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4B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9B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27B</a:t>
                      </a:r>
                    </a:p>
                  </a:txBody>
                  <a:tcPr marL="109728" marR="91440" marT="54864" marB="36576" anchor="ctr">
                    <a:solidFill>
                      <a:srgbClr val="00407A"/>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Area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Both orders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14</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One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Power — Neither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Both orders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5</a:t>
                      </a:r>
                    </a:p>
                  </a:txBody>
                  <a:tcPr marL="109728" marR="91440" marT="54864" marB="36576" anchor="ctr">
                    <a:solidFill>
                      <a:srgbClr val="E3EFF5"/>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One order correct</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FFFFFF"/>
                    </a:solidFill>
                    <a:lnL>
                      <a:noFill/>
                    </a:lnL>
                    <a:lnR>
                      <a:noFill/>
                    </a:lnR>
                    <a:lnT>
                      <a:noFill/>
                    </a:lnT>
                    <a:lnB>
                      <a:noFill/>
                    </a:lnB>
                  </a:tcPr>
                </a:tc>
              </a:tr>
              <a:tr h="368808">
                <a:tc>
                  <a:txBody>
                    <a:bodyPr/>
                    <a:lstStyle/>
                    <a:p>
                      <a:pPr algn="l">
                        <a:lnSpc>
                          <a:spcPct val="103000"/>
                        </a:lnSpc>
                        <a:spcBef>
                          <a:spcPts val="0"/>
                        </a:spcBef>
                        <a:spcAft>
                          <a:spcPts val="0"/>
                        </a:spcAft>
                      </a:pPr>
                      <a:r>
                        <a:rPr sz="1600" b="0">
                          <a:solidFill>
                            <a:srgbClr val="00407A"/>
                          </a:solidFill>
                          <a:latin typeface="Arial"/>
                        </a:rPr>
                        <a:t>Frequency — Neither order correct</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E3EFF5"/>
                    </a:solidFill>
                    <a:lnL>
                      <a:noFill/>
                    </a:lnL>
                    <a:lnR>
                      <a:noFill/>
                    </a:lnR>
                    <a:lnT>
                      <a:noFill/>
                    </a:lnT>
                    <a:lnB>
                      <a:noFill/>
                    </a:lnB>
                  </a:tcPr>
                </a:tc>
              </a:tr>
            </a:tbl>
          </a:graphicData>
        </a:graphic>
      </p:graphicFrame>
      <p:sp>
        <p:nvSpPr>
          <p:cNvPr id="7" name="TextBox 6"/>
          <p:cNvSpPr txBox="1"/>
          <p:nvPr/>
        </p:nvSpPr>
        <p:spPr>
          <a:xfrm>
            <a:off x="960120" y="5888736"/>
            <a:ext cx="10149840" cy="502920"/>
          </a:xfrm>
          <a:prstGeom prst="rect">
            <a:avLst/>
          </a:prstGeom>
          <a:noFill/>
        </p:spPr>
        <p:txBody>
          <a:bodyPr wrap="square" lIns="0" rIns="0" tIns="0" bIns="0" anchor="t">
            <a:noAutofit/>
          </a:bodyPr>
          <a:lstStyle/>
          <a:p>
            <a:pPr algn="l">
              <a:lnSpc>
                <a:spcPct val="109000"/>
              </a:lnSpc>
              <a:spcBef>
                <a:spcPts val="0"/>
              </a:spcBef>
              <a:spcAft>
                <a:spcPts val="0"/>
              </a:spcAft>
            </a:pPr>
            <a:r>
              <a:rPr sz="1500" b="0">
                <a:solidFill>
                  <a:srgbClr val="00407A"/>
                </a:solidFill>
                <a:latin typeface="Arial"/>
              </a:rPr>
              <a:t>With two opposite correct letters, “one order correct” is the same as keeping the same letter.</a:t>
            </a:r>
          </a:p>
          <a:p>
            <a:pPr algn="l">
              <a:lnSpc>
                <a:spcPct val="109000"/>
              </a:lnSpc>
              <a:spcBef>
                <a:spcPts val="0"/>
              </a:spcBef>
              <a:spcAft>
                <a:spcPts val="0"/>
              </a:spcAft>
            </a:pPr>
            <a:r>
              <a:rPr sz="1500" b="0">
                <a:solidFill>
                  <a:srgbClr val="00407A"/>
                </a:solidFill>
                <a:latin typeface="Arial"/>
              </a:rPr>
              <a:t>A consistent letter swap can still be wrong in both orders.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Dataset composition and missing coverage</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The retained designs cover several sources; this is not a balanced population sample.</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31</a:t>
            </a:r>
          </a:p>
        </p:txBody>
      </p:sp>
      <p:graphicFrame>
        <p:nvGraphicFramePr>
          <p:cNvPr id="6" name="Table 5"/>
          <p:cNvGraphicFramePr>
            <a:graphicFrameLocks noGrp="1"/>
          </p:cNvGraphicFramePr>
          <p:nvPr/>
        </p:nvGraphicFramePr>
        <p:xfrm>
          <a:off x="813816" y="1874519"/>
          <a:ext cx="10561320" cy="3502152"/>
        </p:xfrm>
        <a:graphic>
          <a:graphicData uri="http://schemas.openxmlformats.org/drawingml/2006/table">
            <a:tbl>
              <a:tblPr firstRow="1" bandRow="1">
                <a:tableStyleId>{5C22544A-7EE6-4342-B048-85BDC9FD1C3A}</a:tableStyleId>
              </a:tblPr>
              <a:tblGrid>
                <a:gridCol w="5074920"/>
                <a:gridCol w="1554480"/>
                <a:gridCol w="1737360"/>
                <a:gridCol w="2194560"/>
              </a:tblGrid>
              <a:tr h="566928">
                <a:tc>
                  <a:txBody>
                    <a:bodyPr/>
                    <a:lstStyle/>
                    <a:p>
                      <a:pPr algn="l">
                        <a:lnSpc>
                          <a:spcPct val="103000"/>
                        </a:lnSpc>
                        <a:spcBef>
                          <a:spcPts val="0"/>
                        </a:spcBef>
                        <a:spcAft>
                          <a:spcPts val="0"/>
                        </a:spcAft>
                      </a:pPr>
                      <a:r>
                        <a:rPr sz="1500" b="1">
                          <a:solidFill>
                            <a:srgbClr val="FFFFFF"/>
                          </a:solidFill>
                          <a:latin typeface="Arial"/>
                        </a:rPr>
                        <a:t>Design group</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All retained</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designs</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500" b="1">
                          <a:solidFill>
                            <a:srgbClr val="FFFFFF"/>
                          </a:solidFill>
                          <a:latin typeface="Arial"/>
                        </a:rPr>
                        <a:t>Held-out synthesis failures</a:t>
                      </a:r>
                    </a:p>
                  </a:txBody>
                  <a:tcPr marL="109728" marR="91440" marT="54864" marB="36576" anchor="ctr">
                    <a:solidFill>
                      <a:srgbClr val="00407A"/>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MetRex: varied sizes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synthesis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16</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Natural language-model candidates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17</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Injected compilation errors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8</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Human reference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11</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Older REvolution candidates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32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28</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a:t>
                      </a:r>
                    </a:p>
                  </a:txBody>
                  <a:tcPr marL="109728" marR="91440" marT="54864" marB="36576" anchor="ctr">
                    <a:solidFill>
                      <a:srgbClr val="FFFFFF"/>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REvolution v0 designs</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9</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0</a:t>
                      </a:r>
                    </a:p>
                  </a:txBody>
                  <a:tcPr marL="109728" marR="91440" marT="54864" marB="36576" anchor="ctr">
                    <a:solidFill>
                      <a:srgbClr val="E3EFF5"/>
                    </a:solidFill>
                    <a:lnL>
                      <a:noFill/>
                    </a:lnL>
                    <a:lnR>
                      <a:noFill/>
                    </a:lnR>
                    <a:lnT>
                      <a:noFill/>
                    </a:lnT>
                    <a:lnB>
                      <a:noFill/>
                    </a:lnB>
                  </a:tcPr>
                </a:tc>
              </a:tr>
              <a:tr h="366903">
                <a:tc>
                  <a:txBody>
                    <a:bodyPr/>
                    <a:lstStyle/>
                    <a:p>
                      <a:pPr algn="l">
                        <a:lnSpc>
                          <a:spcPct val="103000"/>
                        </a:lnSpc>
                        <a:spcBef>
                          <a:spcPts val="0"/>
                        </a:spcBef>
                        <a:spcAft>
                          <a:spcPts val="0"/>
                        </a:spcAft>
                      </a:pPr>
                      <a:r>
                        <a:rPr sz="1600" b="0">
                          <a:solidFill>
                            <a:srgbClr val="00407A"/>
                          </a:solidFill>
                          <a:latin typeface="Arial"/>
                        </a:rPr>
                        <a:t>Accepted edits and rejected twins</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10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600" b="0">
                          <a:solidFill>
                            <a:srgbClr val="00407A"/>
                          </a:solidFill>
                          <a:latin typeface="Arial"/>
                        </a:rPr>
                        <a:t>6</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5614416"/>
            <a:ext cx="10149840" cy="658368"/>
          </a:xfrm>
          <a:prstGeom prst="rect">
            <a:avLst/>
          </a:prstGeom>
          <a:noFill/>
        </p:spPr>
        <p:txBody>
          <a:bodyPr wrap="square" lIns="0" rIns="0" tIns="0" bIns="0" anchor="t">
            <a:noAutofit/>
          </a:bodyPr>
          <a:lstStyle/>
          <a:p>
            <a:pPr algn="l">
              <a:lnSpc>
                <a:spcPct val="109000"/>
              </a:lnSpc>
              <a:spcBef>
                <a:spcPts val="0"/>
              </a:spcBef>
              <a:spcAft>
                <a:spcPts val="0"/>
              </a:spcAft>
            </a:pPr>
            <a:r>
              <a:rPr sz="1700" b="0">
                <a:solidFill>
                  <a:srgbClr val="00407A"/>
                </a:solidFill>
                <a:latin typeface="Arial"/>
              </a:rPr>
              <a:t>Not measured here: energy per operation, functional equivalence, post-route timing,</a:t>
            </a:r>
          </a:p>
          <a:p>
            <a:pPr algn="l">
              <a:lnSpc>
                <a:spcPct val="109000"/>
              </a:lnSpc>
              <a:spcBef>
                <a:spcPts val="0"/>
              </a:spcBef>
              <a:spcAft>
                <a:spcPts val="0"/>
              </a:spcAft>
            </a:pPr>
            <a:r>
              <a:rPr sz="1700" b="0">
                <a:solidFill>
                  <a:srgbClr val="00407A"/>
                </a:solidFill>
                <a:latin typeface="Arial"/>
              </a:rPr>
              <a:t>measured chips, other model families, or the older plan’s rename/comment controls.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8FA"/>
        </a:solidFill>
        <a:effectLst/>
      </p:bgPr>
    </p:bg>
    <p:spTree>
      <p:nvGrpSpPr>
        <p:cNvPr id="1" name=""/>
        <p:cNvGrpSpPr/>
        <p:nvPr/>
      </p:nvGrpSpPr>
      <p:grpSpPr/>
      <p:sp>
        <p:nvSpPr>
          <p:cNvPr id="2" name="TextBox 1"/>
          <p:cNvSpPr txBox="1"/>
          <p:nvPr/>
        </p:nvSpPr>
        <p:spPr>
          <a:xfrm>
            <a:off x="813816" y="594360"/>
            <a:ext cx="10561320" cy="621792"/>
          </a:xfrm>
          <a:prstGeom prst="rect">
            <a:avLst/>
          </a:prstGeom>
          <a:noFill/>
        </p:spPr>
        <p:txBody>
          <a:bodyPr wrap="square" lIns="0" rIns="0" tIns="0" bIns="0" anchor="t">
            <a:noAutofit/>
          </a:bodyPr>
          <a:lstStyle/>
          <a:p>
            <a:pPr algn="l">
              <a:lnSpc>
                <a:spcPct val="109000"/>
              </a:lnSpc>
              <a:spcBef>
                <a:spcPts val="0"/>
              </a:spcBef>
              <a:spcAft>
                <a:spcPts val="0"/>
              </a:spcAft>
            </a:pPr>
            <a:r>
              <a:rPr sz="3100" b="1">
                <a:solidFill>
                  <a:srgbClr val="00407A"/>
                </a:solidFill>
                <a:latin typeface="Arial"/>
              </a:rPr>
              <a:t>Evidence needed to reproduce this deck</a:t>
            </a:r>
          </a:p>
        </p:txBody>
      </p:sp>
      <p:sp>
        <p:nvSpPr>
          <p:cNvPr id="3" name="TextBox 2"/>
          <p:cNvSpPr txBox="1"/>
          <p:nvPr/>
        </p:nvSpPr>
        <p:spPr>
          <a:xfrm>
            <a:off x="813816" y="1261872"/>
            <a:ext cx="10561320" cy="438912"/>
          </a:xfrm>
          <a:prstGeom prst="rect">
            <a:avLst/>
          </a:prstGeom>
          <a:noFill/>
        </p:spPr>
        <p:txBody>
          <a:bodyPr wrap="square" lIns="0" rIns="0" tIns="0" bIns="0" anchor="t">
            <a:noAutofit/>
          </a:bodyPr>
          <a:lstStyle/>
          <a:p>
            <a:pPr algn="l">
              <a:lnSpc>
                <a:spcPct val="109000"/>
              </a:lnSpc>
              <a:spcBef>
                <a:spcPts val="0"/>
              </a:spcBef>
              <a:spcAft>
                <a:spcPts val="0"/>
              </a:spcAft>
            </a:pPr>
            <a:r>
              <a:rPr sz="1600" b="0">
                <a:solidFill>
                  <a:srgbClr val="4A5A66"/>
                </a:solidFill>
                <a:latin typeface="Arial"/>
              </a:rPr>
              <a:t>Every number is tied to the frozen dataset and saved responses; no model reruns were needed.</a:t>
            </a:r>
          </a:p>
        </p:txBody>
      </p:sp>
      <p:sp>
        <p:nvSpPr>
          <p:cNvPr id="4" name="TextBox 3"/>
          <p:cNvSpPr txBox="1"/>
          <p:nvPr/>
        </p:nvSpPr>
        <p:spPr>
          <a:xfrm>
            <a:off x="813816" y="6437376"/>
            <a:ext cx="9738360" cy="201168"/>
          </a:xfrm>
          <a:prstGeom prst="rect">
            <a:avLst/>
          </a:prstGeom>
          <a:noFill/>
        </p:spPr>
        <p:txBody>
          <a:bodyPr wrap="square" lIns="0" rIns="0" tIns="0" bIns="0" anchor="t">
            <a:noAutofit/>
          </a:bodyPr>
          <a:lstStyle/>
          <a:p>
            <a:pPr algn="l">
              <a:lnSpc>
                <a:spcPct val="109000"/>
              </a:lnSpc>
              <a:spcBef>
                <a:spcPts val="0"/>
              </a:spcBef>
              <a:spcAft>
                <a:spcPts val="0"/>
              </a:spcAft>
            </a:pPr>
            <a:r>
              <a:rPr sz="1050" b="0">
                <a:solidFill>
                  <a:srgbClr val="4A5A66"/>
                </a:solidFill>
                <a:latin typeface="Arial"/>
              </a:rPr>
              <a:t>KEV v1.0  •  Dataset v1  •  15 October 2026  |  APPENDIX</a:t>
            </a:r>
          </a:p>
        </p:txBody>
      </p:sp>
      <p:sp>
        <p:nvSpPr>
          <p:cNvPr id="5" name="TextBox 4"/>
          <p:cNvSpPr txBox="1"/>
          <p:nvPr/>
        </p:nvSpPr>
        <p:spPr>
          <a:xfrm>
            <a:off x="10835640" y="6419088"/>
            <a:ext cx="530352" cy="228600"/>
          </a:xfrm>
          <a:prstGeom prst="rect">
            <a:avLst/>
          </a:prstGeom>
          <a:noFill/>
        </p:spPr>
        <p:txBody>
          <a:bodyPr wrap="square" lIns="0" rIns="0" tIns="0" bIns="0" anchor="t">
            <a:noAutofit/>
          </a:bodyPr>
          <a:lstStyle/>
          <a:p>
            <a:pPr algn="r">
              <a:lnSpc>
                <a:spcPct val="109000"/>
              </a:lnSpc>
              <a:spcBef>
                <a:spcPts val="0"/>
              </a:spcBef>
              <a:spcAft>
                <a:spcPts val="0"/>
              </a:spcAft>
            </a:pPr>
            <a:r>
              <a:rPr sz="1100" b="0">
                <a:solidFill>
                  <a:srgbClr val="4A5A66"/>
                </a:solidFill>
                <a:latin typeface="Arial"/>
              </a:rPr>
              <a:t>32</a:t>
            </a:r>
          </a:p>
        </p:txBody>
      </p:sp>
      <p:graphicFrame>
        <p:nvGraphicFramePr>
          <p:cNvPr id="6" name="Table 5"/>
          <p:cNvGraphicFramePr>
            <a:graphicFrameLocks noGrp="1"/>
          </p:cNvGraphicFramePr>
          <p:nvPr/>
        </p:nvGraphicFramePr>
        <p:xfrm>
          <a:off x="813816" y="1874519"/>
          <a:ext cx="10561320" cy="2286000"/>
        </p:xfrm>
        <a:graphic>
          <a:graphicData uri="http://schemas.openxmlformats.org/drawingml/2006/table">
            <a:tbl>
              <a:tblPr firstRow="1" bandRow="1">
                <a:tableStyleId>{5C22544A-7EE6-4342-B048-85BDC9FD1C3A}</a:tableStyleId>
              </a:tblPr>
              <a:tblGrid>
                <a:gridCol w="1508760"/>
                <a:gridCol w="1280160"/>
                <a:gridCol w="3657600"/>
                <a:gridCol w="4114800"/>
              </a:tblGrid>
              <a:tr h="566928">
                <a:tc>
                  <a:txBody>
                    <a:bodyPr/>
                    <a:lstStyle/>
                    <a:p>
                      <a:pPr algn="l">
                        <a:lnSpc>
                          <a:spcPct val="103000"/>
                        </a:lnSpc>
                        <a:spcBef>
                          <a:spcPts val="0"/>
                        </a:spcBef>
                        <a:spcAft>
                          <a:spcPts val="0"/>
                        </a:spcAft>
                      </a:pPr>
                      <a:r>
                        <a:rPr sz="1600" b="1">
                          <a:solidFill>
                            <a:srgbClr val="FFFFFF"/>
                          </a:solidFill>
                          <a:latin typeface="Arial"/>
                        </a:rPr>
                        <a:t>Model</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Condor job</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Completed on 15 October</a:t>
                      </a:r>
                    </a:p>
                  </a:txBody>
                  <a:tcPr marL="109728" marR="91440" marT="54864" marB="36576" anchor="ctr">
                    <a:solidFill>
                      <a:srgbClr val="00407A"/>
                    </a:solidFill>
                    <a:lnL>
                      <a:noFill/>
                    </a:lnL>
                    <a:lnR>
                      <a:noFill/>
                    </a:lnR>
                    <a:lnT>
                      <a:noFill/>
                    </a:lnT>
                    <a:lnB>
                      <a:noFill/>
                    </a:lnB>
                  </a:tcPr>
                </a:tc>
                <a:tc>
                  <a:txBody>
                    <a:bodyPr/>
                    <a:lstStyle/>
                    <a:p>
                      <a:pPr algn="ctr">
                        <a:lnSpc>
                          <a:spcPct val="103000"/>
                        </a:lnSpc>
                        <a:spcBef>
                          <a:spcPts val="0"/>
                        </a:spcBef>
                        <a:spcAft>
                          <a:spcPts val="0"/>
                        </a:spcAft>
                      </a:pPr>
                      <a:r>
                        <a:rPr sz="1600" b="1">
                          <a:solidFill>
                            <a:srgbClr val="FFFFFF"/>
                          </a:solidFill>
                          <a:latin typeface="Arial"/>
                        </a:rPr>
                        <a:t>Checkpoint revision (prefix)</a:t>
                      </a:r>
                    </a:p>
                  </a:txBody>
                  <a:tcPr marL="109728" marR="91440" marT="54864" marB="36576" anchor="ctr">
                    <a:solidFill>
                      <a:srgbClr val="00407A"/>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KEV-0.8B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4.0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11:30:55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bf75a6a8848e</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KEV-4B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5.0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14:31:45</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6cfce5c2fa4b</a:t>
                      </a:r>
                    </a:p>
                  </a:txBody>
                  <a:tcPr marL="109728" marR="91440" marT="54864" marB="36576" anchor="ctr">
                    <a:solidFill>
                      <a:srgbClr val="FFFFFF"/>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KEV-9B</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6.0</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14:34:55</a:t>
                      </a:r>
                    </a:p>
                  </a:txBody>
                  <a:tcPr marL="109728" marR="91440" marT="54864" marB="36576" anchor="ctr">
                    <a:solidFill>
                      <a:srgbClr val="E3EFF5"/>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db029f08b290</a:t>
                      </a:r>
                    </a:p>
                  </a:txBody>
                  <a:tcPr marL="109728" marR="91440" marT="54864" marB="36576" anchor="ctr">
                    <a:solidFill>
                      <a:srgbClr val="E3EFF5"/>
                    </a:solidFill>
                    <a:lnL>
                      <a:noFill/>
                    </a:lnL>
                    <a:lnR>
                      <a:noFill/>
                    </a:lnR>
                    <a:lnT>
                      <a:noFill/>
                    </a:lnT>
                    <a:lnB>
                      <a:noFill/>
                    </a:lnB>
                  </a:tcPr>
                </a:tc>
              </a:tr>
              <a:tr h="429768">
                <a:tc>
                  <a:txBody>
                    <a:bodyPr/>
                    <a:lstStyle/>
                    <a:p>
                      <a:pPr algn="l">
                        <a:lnSpc>
                          <a:spcPct val="103000"/>
                        </a:lnSpc>
                        <a:spcBef>
                          <a:spcPts val="0"/>
                        </a:spcBef>
                        <a:spcAft>
                          <a:spcPts val="0"/>
                        </a:spcAft>
                      </a:pPr>
                      <a:r>
                        <a:rPr sz="1900" b="0">
                          <a:solidFill>
                            <a:srgbClr val="00407A"/>
                          </a:solidFill>
                          <a:latin typeface="Arial"/>
                        </a:rPr>
                        <a:t>KEV-27B</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7.0</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14:39:12</a:t>
                      </a:r>
                    </a:p>
                  </a:txBody>
                  <a:tcPr marL="109728" marR="91440" marT="54864" marB="36576" anchor="ctr">
                    <a:solidFill>
                      <a:srgbClr val="FFFFFF"/>
                    </a:solidFill>
                    <a:lnL>
                      <a:noFill/>
                    </a:lnL>
                    <a:lnR>
                      <a:noFill/>
                    </a:lnR>
                    <a:lnT>
                      <a:noFill/>
                    </a:lnT>
                    <a:lnB>
                      <a:noFill/>
                    </a:lnB>
                  </a:tcPr>
                </a:tc>
                <a:tc>
                  <a:txBody>
                    <a:bodyPr/>
                    <a:lstStyle/>
                    <a:p>
                      <a:pPr algn="ctr">
                        <a:lnSpc>
                          <a:spcPct val="103000"/>
                        </a:lnSpc>
                        <a:spcBef>
                          <a:spcPts val="0"/>
                        </a:spcBef>
                        <a:spcAft>
                          <a:spcPts val="0"/>
                        </a:spcAft>
                      </a:pPr>
                      <a:r>
                        <a:rPr sz="1900" b="0">
                          <a:solidFill>
                            <a:srgbClr val="00407A"/>
                          </a:solidFill>
                          <a:latin typeface="Arial"/>
                        </a:rPr>
                        <a:t>af0e6d551bdc</a:t>
                      </a:r>
                    </a:p>
                  </a:txBody>
                  <a:tcPr marL="109728" marR="91440" marT="54864" marB="36576" anchor="ctr">
                    <a:solidFill>
                      <a:srgbClr val="FFFFFF"/>
                    </a:solidFill>
                    <a:lnL>
                      <a:noFill/>
                    </a:lnL>
                    <a:lnR>
                      <a:noFill/>
                    </a:lnR>
                    <a:lnT>
                      <a:noFill/>
                    </a:lnT>
                    <a:lnB>
                      <a:noFill/>
                    </a:lnB>
                  </a:tcPr>
                </a:tc>
              </a:tr>
            </a:tbl>
          </a:graphicData>
        </a:graphic>
      </p:graphicFrame>
      <p:sp>
        <p:nvSpPr>
          <p:cNvPr id="7" name="TextBox 6"/>
          <p:cNvSpPr txBox="1"/>
          <p:nvPr/>
        </p:nvSpPr>
        <p:spPr>
          <a:xfrm>
            <a:off x="960120" y="4443984"/>
            <a:ext cx="10149840" cy="365760"/>
          </a:xfrm>
          <a:prstGeom prst="rect">
            <a:avLst/>
          </a:prstGeom>
          <a:noFill/>
        </p:spPr>
        <p:txBody>
          <a:bodyPr wrap="square" lIns="0" rIns="0" tIns="0" bIns="0" anchor="t">
            <a:noAutofit/>
          </a:bodyPr>
          <a:lstStyle/>
          <a:p>
            <a:pPr algn="l">
              <a:lnSpc>
                <a:spcPct val="109000"/>
              </a:lnSpc>
              <a:spcBef>
                <a:spcPts val="0"/>
              </a:spcBef>
              <a:spcAft>
                <a:spcPts val="0"/>
              </a:spcAft>
            </a:pPr>
            <a:r>
              <a:rPr sz="2200" b="1">
                <a:solidFill>
                  <a:srgbClr val="00407A"/>
                </a:solidFill>
                <a:latin typeface="Arial"/>
              </a:rPr>
              <a:t>Inputs and evidence</a:t>
            </a:r>
          </a:p>
        </p:txBody>
      </p:sp>
      <p:sp>
        <p:nvSpPr>
          <p:cNvPr id="8" name="TextBox 7"/>
          <p:cNvSpPr txBox="1"/>
          <p:nvPr/>
        </p:nvSpPr>
        <p:spPr>
          <a:xfrm>
            <a:off x="960120" y="4965192"/>
            <a:ext cx="10149840" cy="914400"/>
          </a:xfrm>
          <a:prstGeom prst="rect">
            <a:avLst/>
          </a:prstGeom>
          <a:noFill/>
        </p:spPr>
        <p:txBody>
          <a:bodyPr wrap="square" lIns="0" rIns="0" tIns="0" bIns="0" anchor="t">
            <a:noAutofit/>
          </a:bodyPr>
          <a:lstStyle/>
          <a:p>
            <a:pPr algn="l">
              <a:lnSpc>
                <a:spcPct val="109000"/>
              </a:lnSpc>
              <a:spcBef>
                <a:spcPts val="0"/>
              </a:spcBef>
              <a:spcAft>
                <a:spcPts val="0"/>
              </a:spcAft>
            </a:pPr>
            <a:r>
              <a:rPr sz="1800" b="0">
                <a:solidFill>
                  <a:srgbClr val="00407A"/>
                </a:solidFill>
                <a:latin typeface="Arial"/>
              </a:rPr>
              <a:t>Questions: data/questions/dataset_v1.jsonl</a:t>
            </a:r>
          </a:p>
          <a:p>
            <a:pPr algn="l">
              <a:lnSpc>
                <a:spcPct val="109000"/>
              </a:lnSpc>
              <a:spcBef>
                <a:spcPts val="0"/>
              </a:spcBef>
              <a:spcAft>
                <a:spcPts val="0"/>
              </a:spcAft>
            </a:pPr>
            <a:r>
              <a:rPr sz="1800" b="0">
                <a:solidFill>
                  <a:srgbClr val="00407A"/>
                </a:solidFill>
                <a:latin typeface="Arial"/>
              </a:rPr>
              <a:t>Answers, scores and manifests: results/kev/</a:t>
            </a:r>
          </a:p>
          <a:p>
            <a:pPr algn="l">
              <a:lnSpc>
                <a:spcPct val="109000"/>
              </a:lnSpc>
              <a:spcBef>
                <a:spcPts val="0"/>
              </a:spcBef>
              <a:spcAft>
                <a:spcPts val="0"/>
              </a:spcAft>
            </a:pPr>
            <a:r>
              <a:rPr sz="1800" b="0">
                <a:solidFill>
                  <a:srgbClr val="00407A"/>
                </a:solidFill>
                <a:latin typeface="Arial"/>
              </a:rPr>
              <a:t>Verified tables and rebuild scripts: presentations/data/ and presentations/src/</a:t>
            </a:r>
          </a:p>
        </p:txBody>
      </p:sp>
    </p:spTree>
  </p:cSld>
  <p:clrMapOvr>
    <a:masterClrMapping/>
  </p:clrMapOvr>
</p:sld>
</file>

<file path=ppt/theme/theme1.xml><?xml version="1.0" encoding="utf-8"?>
<a:theme xmlns:a="http://schemas.openxmlformats.org/drawingml/2006/main" name="TinyTapeOut 2026: jullie feedback">
  <a:themeElements>
    <a:clrScheme name="TinyTapeOut 2026: jullie feedback">
      <a:dk1>
        <a:srgbClr val="00407A"/>
      </a:dk1>
      <a:lt1>
        <a:srgbClr val="F4F8FA"/>
      </a:lt1>
      <a:dk2>
        <a:srgbClr val="3D6E9A"/>
      </a:dk2>
      <a:lt2>
        <a:srgbClr val="DCE6ED"/>
      </a:lt2>
      <a:accent1>
        <a:srgbClr val="52BDEC"/>
      </a:accent1>
      <a:accent2>
        <a:srgbClr val="0B5A93"/>
      </a:accent2>
      <a:accent3>
        <a:srgbClr val="BFDDEC"/>
      </a:accent3>
      <a:accent4>
        <a:srgbClr val="1D8DB0"/>
      </a:accent4>
      <a:accent5>
        <a:srgbClr val="4A5A66"/>
      </a:accent5>
      <a:accent6>
        <a:srgbClr val="C8D3DA"/>
      </a:accent6>
      <a:hlink>
        <a:srgbClr val="0563C1"/>
      </a:hlink>
      <a:folHlink>
        <a:srgbClr val="954F72"/>
      </a:folHlink>
    </a:clrScheme>
    <a:fontScheme name="TinyTapeOut 2026: jullie feedb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Widescreen</PresentationFormat>
  <Paragraphs>96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TinyTapeOut 2026: jullie feedback</vt:lpstr>
      <vt:lpstr>Wat jullie ervan vonden</vt:lpstr>
      <vt:lpstr>De cijfers</vt:lpstr>
      <vt:lpstr>Jullie beste moment</vt:lpstr>
      <vt:lpstr>Waar jullie vastliepen</vt:lpstr>
      <vt:lpstr>Volgend jaar</vt:lpstr>
      <vt:lpstr>Jullie chips opmeten</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KEV on RTL: tests, results and limitations</dc:title>
  <dc:subject>Dataset v1; all four KEV v1.0 models; 725 held-out questions</dc:subject>
  <dc:creator>JEV_RTL study</dc:creator>
  <cp:lastModifiedBy>Marian Verhelst</cp:lastModifiedBy>
  <cp:revision>1</cp:revision>
  <dcterms:created xsi:type="dcterms:W3CDTF">2026-10-14T20:01:21Z</dcterms:created>
  <dcterms:modified xsi:type="dcterms:W3CDTF">2026-10-14T20:04:01Z</dcterms:modified>
  <cp:keywords>RTL, KEV, synthesis, compilation, area, power, timing</cp:keywords>
</cp:coreProperties>
</file>