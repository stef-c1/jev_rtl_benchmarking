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8"/>
    <p:sldId id="257" r:id="rId7"/>
    <p:sldId id="258" r:id="rId6"/>
    <p:sldId id="259" r:id="rId5"/>
    <p:sldId id="260" r:id="rId4"/>
    <p:sldId id="261" r:id="rId3"/>
    <p:sldId id="262" r:id="rId2"/>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B04C1B-7AD6-4013-AE6D-F69CCB37705D}" v="2" dt="2026-10-14T20:03:10.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 Verhelst" userId="731a6a4d-0ae0-40ab-8310-2cd6e3bb0597" providerId="ADAL" clId="{B0FF59DE-8C83-455B-9775-86E18A21BAE3}"/>
    <pc:docChg chg="custSel delSld modSld">
      <pc:chgData name="Marian Verhelst" userId="731a6a4d-0ae0-40ab-8310-2cd6e3bb0597" providerId="ADAL" clId="{B0FF59DE-8C83-455B-9775-86E18A21BAE3}" dt="2026-10-14T20:03:58.793" v="54" actId="20577"/>
      <pc:docMkLst>
        <pc:docMk/>
      </pc:docMkLst>
      <pc:sldChg chg="del">
        <pc:chgData name="Marian Verhelst" userId="731a6a4d-0ae0-40ab-8310-2cd6e3bb0597" providerId="ADAL" clId="{B0FF59DE-8C83-455B-9775-86E18A21BAE3}" dt="2026-10-14T20:01:31.973" v="0" actId="47"/>
        <pc:sldMkLst>
          <pc:docMk/>
          <pc:sldMk cId="0" sldId="257"/>
        </pc:sldMkLst>
      </pc:sldChg>
      <pc:sldChg chg="modSp mod">
        <pc:chgData name="Marian Verhelst" userId="731a6a4d-0ae0-40ab-8310-2cd6e3bb0597" providerId="ADAL" clId="{B0FF59DE-8C83-455B-9775-86E18A21BAE3}" dt="2026-10-14T20:02:06.567" v="10" actId="403"/>
        <pc:sldMkLst>
          <pc:docMk/>
          <pc:sldMk cId="0" sldId="259"/>
        </pc:sldMkLst>
        <pc:spChg chg="mod">
          <ac:chgData name="Marian Verhelst" userId="731a6a4d-0ae0-40ab-8310-2cd6e3bb0597" providerId="ADAL" clId="{B0FF59DE-8C83-455B-9775-86E18A21BAE3}" dt="2026-10-14T20:01:53.987" v="4" actId="20577"/>
          <ac:spMkLst>
            <pc:docMk/>
            <pc:sldMk cId="0" sldId="259"/>
            <ac:spMk id="7" creationId="{00000000-0000-0000-0000-000000000000}"/>
          </ac:spMkLst>
        </pc:spChg>
        <pc:spChg chg="mod">
          <ac:chgData name="Marian Verhelst" userId="731a6a4d-0ae0-40ab-8310-2cd6e3bb0597" providerId="ADAL" clId="{B0FF59DE-8C83-455B-9775-86E18A21BAE3}" dt="2026-10-14T20:02:06.567" v="10" actId="403"/>
          <ac:spMkLst>
            <pc:docMk/>
            <pc:sldMk cId="0" sldId="259"/>
            <ac:spMk id="9" creationId="{00000000-0000-0000-0000-000000000000}"/>
          </ac:spMkLst>
        </pc:spChg>
      </pc:sldChg>
      <pc:sldChg chg="modSp mod">
        <pc:chgData name="Marian Verhelst" userId="731a6a4d-0ae0-40ab-8310-2cd6e3bb0597" providerId="ADAL" clId="{B0FF59DE-8C83-455B-9775-86E18A21BAE3}" dt="2026-10-14T20:02:20.287" v="14" actId="404"/>
        <pc:sldMkLst>
          <pc:docMk/>
          <pc:sldMk cId="0" sldId="260"/>
        </pc:sldMkLst>
        <pc:spChg chg="mod">
          <ac:chgData name="Marian Verhelst" userId="731a6a4d-0ae0-40ab-8310-2cd6e3bb0597" providerId="ADAL" clId="{B0FF59DE-8C83-455B-9775-86E18A21BAE3}" dt="2026-10-14T20:02:20.287" v="14" actId="404"/>
          <ac:spMkLst>
            <pc:docMk/>
            <pc:sldMk cId="0" sldId="260"/>
            <ac:spMk id="12" creationId="{00000000-0000-0000-0000-000000000000}"/>
          </ac:spMkLst>
        </pc:spChg>
      </pc:sldChg>
      <pc:sldChg chg="modSp mod">
        <pc:chgData name="Marian Verhelst" userId="731a6a4d-0ae0-40ab-8310-2cd6e3bb0597" providerId="ADAL" clId="{B0FF59DE-8C83-455B-9775-86E18A21BAE3}" dt="2026-10-14T20:02:51.421" v="15" actId="20577"/>
        <pc:sldMkLst>
          <pc:docMk/>
          <pc:sldMk cId="0" sldId="261"/>
        </pc:sldMkLst>
        <pc:spChg chg="mod">
          <ac:chgData name="Marian Verhelst" userId="731a6a4d-0ae0-40ab-8310-2cd6e3bb0597" providerId="ADAL" clId="{B0FF59DE-8C83-455B-9775-86E18A21BAE3}" dt="2026-10-14T20:02:51.421" v="15" actId="20577"/>
          <ac:spMkLst>
            <pc:docMk/>
            <pc:sldMk cId="0" sldId="261"/>
            <ac:spMk id="6" creationId="{00000000-0000-0000-0000-000000000000}"/>
          </ac:spMkLst>
        </pc:spChg>
      </pc:sldChg>
      <pc:sldChg chg="modSp mod">
        <pc:chgData name="Marian Verhelst" userId="731a6a4d-0ae0-40ab-8310-2cd6e3bb0597" providerId="ADAL" clId="{B0FF59DE-8C83-455B-9775-86E18A21BAE3}" dt="2026-10-14T20:03:37.335" v="35" actId="20577"/>
        <pc:sldMkLst>
          <pc:docMk/>
          <pc:sldMk cId="0" sldId="262"/>
        </pc:sldMkLst>
        <pc:spChg chg="mod">
          <ac:chgData name="Marian Verhelst" userId="731a6a4d-0ae0-40ab-8310-2cd6e3bb0597" providerId="ADAL" clId="{B0FF59DE-8C83-455B-9775-86E18A21BAE3}" dt="2026-10-14T20:03:25.848" v="27" actId="207"/>
          <ac:spMkLst>
            <pc:docMk/>
            <pc:sldMk cId="0" sldId="262"/>
            <ac:spMk id="9" creationId="{00000000-0000-0000-0000-000000000000}"/>
          </ac:spMkLst>
        </pc:spChg>
        <pc:graphicFrameChg chg="mod modGraphic">
          <ac:chgData name="Marian Verhelst" userId="731a6a4d-0ae0-40ab-8310-2cd6e3bb0597" providerId="ADAL" clId="{B0FF59DE-8C83-455B-9775-86E18A21BAE3}" dt="2026-10-14T20:03:37.335" v="35" actId="20577"/>
          <ac:graphicFrameMkLst>
            <pc:docMk/>
            <pc:sldMk cId="0" sldId="262"/>
            <ac:graphicFrameMk id="8" creationId="{00000000-0000-0000-0000-000000000000}"/>
          </ac:graphicFrameMkLst>
        </pc:graphicFrameChg>
      </pc:sldChg>
      <pc:sldChg chg="modSp mod">
        <pc:chgData name="Marian Verhelst" userId="731a6a4d-0ae0-40ab-8310-2cd6e3bb0597" providerId="ADAL" clId="{B0FF59DE-8C83-455B-9775-86E18A21BAE3}" dt="2026-10-14T20:03:58.793" v="54" actId="20577"/>
        <pc:sldMkLst>
          <pc:docMk/>
          <pc:sldMk cId="0" sldId="263"/>
        </pc:sldMkLst>
        <pc:spChg chg="mod">
          <ac:chgData name="Marian Verhelst" userId="731a6a4d-0ae0-40ab-8310-2cd6e3bb0597" providerId="ADAL" clId="{B0FF59DE-8C83-455B-9775-86E18A21BAE3}" dt="2026-10-14T20:03:58.793" v="54" actId="20577"/>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41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presentation covers the completed KEV-0.8B, KEV-4B, KEV-9B and KEV-27B v1.0 runs. RTL means register-transfer level: code describing digital hardware. The label B denotes approximately billions of model parameters. There are 151 retained designs across development and test; the held-out test has 123 individual designs plus pair requests. The number 725 counts questions, not independent designs. All findings are specific to this dataset and tool flow. No Jev, base Qwen or commercial LLM evaluation is included. Experiment 1 (15 October) sends the questions with no examples. Experiment 2 (16 October) sends the same 725 test questions, one per request, each with three solved development designs of the same question before the design. After each test, the slides of experiment 1 come first, then the same slides with the data of experiment 2; the label above each title names the experiment.</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compilation-error result is KEV-27B on the 9 compiler-rejected test designs. The area result is 61/92 exact levels. Synthesis failure detection is 4/24. The 15/16 failure-reason result is conditional on a prompt explicitly stating that synthesis failed. The strongest observed pair-area accuracy is KEV-9B at 40/46 views; the strongest observed pair-power accuracy is KEV-27B at 31/44 views. These are different models and tasks, and not a single combined design or statistically established winner.</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Experiment 2 sends the 725 test questions of experiment 1 again, one question per request, each with three solved development designs of the same question in a new first state field. The numbers in brackets are experiment 1. KEV-27B synthesis: failures detected 4 to 12 of 24 (paired McNemar test within the 24 failures: 0 lost, 8 gained, p = 0.0078); successes recognised 98 to 96 of 99. KEV-27B exact power levels 9 to 36 of 85 (p &lt; 0.001); exact area levels 61 to 48 of 92 (p = 0.029). Pair views of KEV-27B: area 36 to 41 of 46 (p = 0.062), power 31 to 35 of 44 (p = 0.12), frequency 10 to 11 of 12 (p = 1); “leads” means the highest count of the four models with examples, not a significant difference. KEV-0.8B gives one answer to every question of 6 question keys: synthesizes = no, area = 5, power = 5, slack = 5, smaller_area = A, higher_reach = B. Constant answers, from the test labels: power level 2 is right for 37 of 85, frequency level 4 for 45 of 92, slack level 5 for 63 of 92. With examples the best exact counts are 36, 36 and 63; the slack count 63 is KEV-0.8B answering level 5 for every design, so it ties the constant answer and does not beat it.</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Compilation uses Siemens QuestaSim 2022.4 vlog -sv, a compile-only check. Synthesis uses Synopsys Design Compiler U-2022.12-SP2 with analyze, elaborate, link and compile_ultra. A synthesis pass requires no Error lines, no LINK-5/UID-341 unresolved references, no TRANS-4 unmapped generic registers, and an output netlist. Compiler acceptance is not functional correctness, complete simulator elaboration, or a guarantee of synthesizability. There are 99 test designs with both successful compilation and synthesis, 15 that compile but fail synthesis, and 9 that fail both.</a:t>
            </a:r>
          </a:p>
          <a:p/>
          <a:p>
            <a:r>
              <a:t>Evidence and reproducibility</a:t>
            </a:r>
          </a:p>
          <a:p>
            <a:r>
              <a:t>notes/synth_yesno.md; notes/DATASET.md; harness/build.py;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plan ran 159 designs; 8 are excluded under the dataset rules, leaving 151 basic design records. The test split contains 123 basic designs and the development split 28. All four models answered all 348 requests, but reported accuracy uses test only: 281 requests and 725 questions. Performance coverage is 92 area, 92 slack, 92 reachable-frequency, and 85 power questions. The 361 performance questions therefore do not mean 361 distinct designs. There are 25 distinct test pairs, each sent in both orders, containing 46 area, 44 power and 12 frequency questions. Pair metrics overlap in which pairs they cover. The analysis asserts no shared base_design_id between development and test.</a:t>
            </a:r>
          </a:p>
          <a:p/>
          <a:p>
            <a:r>
              <a:t>Evidence and reproducibility</a:t>
            </a:r>
          </a:p>
          <a:p>
            <a:r>
              <a:t>notes/DATASET.md; data/questions/dataset_v1.card.md; data/questions/dataset_v1.jsonl; presentations/src/analyse_kev.py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Condor client sends only state, API model and questions to /v1/systemone. The correct_answer and evidence fields are retained locally in the input file and output records for scoring, not sent in the request payload. The four request groups are deliberately separate. In particular the reason instruction literally states that the tool does not synthesize the module, so its score cannot be read as autonomous failure detection. All models used the same input file SHA-256 and v1.0-tagged checkpoints. Maximum actual reported input length was 7,706 tokens for every model.</a:t>
            </a:r>
          </a:p>
          <a:p/>
          <a:p>
            <a:r>
              <a:t>Evidence and reproducibility</a:t>
            </a:r>
          </a:p>
          <a:p>
            <a:r>
              <a:t>condor/kev_client.py; harness/build.py: V1_QUESTIONS and build_dataset_v1;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Experiment 2 (MV, 2026-10-16) asks the 725 test questions of experiment 1 again. Each request holds one question; experiment 1 sent up to four questions in one request (test split: 123 basic requests with 2 questions; 10 pair requests with 1 question; 28 pair requests with 2 questions; 12 pair requests with 3 questions; 7 performance requests with 3 questions; 85 performance requests with 4 questions; 16 reason requests with 1 question). The state of each request is the state of experiment 1 with one new first field, examples; the analysis checks this for all 725 requests. Kev answers each question in its own row (the state followed by that question), and the Kev README reports that asking questions together or separately gives probabilities within 4e-6 in its fp32 tests. One question per request therefore should not change an answer by itself; the examples are the change. Rules of the example sets (harness/fewshot.py): compile and synth get the two shortest development designs that the tool rejects (with different errors or classes) and the working base design of the first one; reason gets the three shortest failed designs of three classes; each level question gets the shortest development design in each level range 1 to 2, 3 and 4 to 5, with the exact value and the level text. A pair question gets the three designs of its metric with the exact value only, no level and no solved pair (MV’s rule). A failed example also shows the first vlog or DC error (an addition that MV accepted). No example shares a base design with a test design (checked here); harness/fewshot.py also excludes an example that implements the function of a test design. Exact Kev input tokens: median 2,155, maximum 8,607. 3 requests exceed 8,192 tokens, the validated context of Kev-0.8B, 4B and 9B (Kev README; Kev-27B: 65,536): metrex_19218:area, metrex_19218:power, metrex_19218:slack. They are scored like all others.</a:t>
            </a:r>
          </a:p>
          <a:p/>
          <a:p>
            <a:r>
              <a:t>Evidence and reproducibility</a:t>
            </a:r>
          </a:p>
          <a:p>
            <a:r>
              <a:t>data/questions/dataset_v1_fewshot3.jsonl; data/questions/dataset_v1_fewshot3.card.md; harness/fewshot.py; notes/VERIFICATION.md item 14; condor/kev_src/README.md</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Binary predictions use threshold 0.5 exactly as the saved scorer. Class-specific rates use the actual tool outcome as the grouping variable. Binary balanced accuracy is the arithmetic mean of success recognition and failure detection. It equals the accuracy on a test set with equal numbers of “yes” and “no” designs, so always “yes” and always “no” both score 50% whatever the mix of the test set. The yes/no results slide shows this one score per model, with the answer mix of the model beside each bar. For reason labels the scorer averages per-class recall over the eight true classes present. Score probabilities use KEV keys 0 to 4, translated to displayed levels 1 to 5 before scoring. A constant-answer reference is a descriptive frequency of the specified label in this test set; it was not a separate run, not learned on development, and not chosen as a deployable predictor. Pair labels are exactly balanced A/B because both orders are included; always choosing a letter therefore gets 50%. There is no grand overall score across unrelated tasks.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One test set of 123 held-out designs answers both questions; all designs were sent together. Each bar is one score per model and question: balanced accuracy, the mean of the share of “yes” designs answered “yes” and the share of “no” designs answered “no”. It equals the accuracy on a test set with equal numbers of “yes” and “no” designs, so any constant answer scores exactly 50%. Plain accuracy over all 123 designs rewards a constant “yes”: always “yes” scores 80.5% for synthesis (99 of 123) and 92.7% for compilation (114 of 123). Beside each bar is the answer mix of the model (a yes probability of 0.5 or more counts as “yes”); compare it with the answer mix of the tool above the chart. Synthesis: “yes” designs answered “yes” 99, 98, 97, 98 of 99; “no” designs answered “no” 0, 0, 2, 4 of 24 (0.8B, 4B, 9B, 27B). Compilation: 4, 114, 114, 114 of 114 and 9, 0, 2, 8 of 9. With only 9 compile errors, one design changes the balanced score by 5.6 percentage points. KEV-0.8B answers “no” to compilation for 119 of the 123 designs, with yes probabilities between 0.30 and 0.53 for every design: its 9 of 9 on the compile errors is this near-constant “no”, not a detection. The question is yes/no only; it does not ask which error occurred (that is the failure-reason test, where 0.8B is right for 5 of 16). The same KEV-0.8B answers “yes” to synthesis for all 123 designs, so for 119 designs it answers both “does not compile” and “synthesizes”; in this test set, every design that vlog rejects also fails synthesis. The appendix slide “Most failing designs get the same answer as successes” shows every yes probability.</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KEV-27B confusion counts: true positive 98, false negative 1, false positive 20, true negative 4. Overall accuracy = (98+4)/123 = 0.8292682927. Success recognition = 98/99 = 0.9898989899. Failure detection = 4/24 = 0.1666666667. Balanced accuracy = (98/99+4/24)/2 = 0.5782828283. The always-yes descriptive reference is 99/123 = 80.5% overall and 50.0% balanced. The matrix contains actual counts, not probabilities. Never interpret overall 82.9% as 82.9% of failures detected.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a derived subgroup analysis using the actual compilation and synthesis labels of the same basic requests. All bars are synthesis yes/no decisions; the right panel is not the separate compilation answer. Compiler-accepted failure detections: 0,0,1,0 of 15. Compiler-rejected failure detections: 0,0,1,4 of 9. Small subgroups do not establish general performance, but clearly localise the observed weakness.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123 held-out designs and the same two questions as in experiment 1, but each question is now a separate request with three solved examples: for compilation one design that compiles and two that fail, for synthesis one that synthesizes and two that fail. Each bar is the balanced accuracy with examples; the orange mark on the bar is the balanced accuracy without examples (experiment 1, previous slides). The answer mix beside each bar is the mix with examples. Correct answers per tool class, without examples to with examples, with the exact McNemar test within each class: KEV-0.8B synthesis 99 to 0 of 99 “yes” designs (p &lt; 0.001), 0 to 24 of 24 “no” designs (p &lt; 0.001), compilation 4 to 1 of 114 “yes” designs (p = 0.38), 9 to 9 of 9 “no” designs (p = 1); KEV-4B synthesis 98 to 98 of 99 “yes” designs (p = 1), 0 to 2 of 24 “no” designs (p = 0.5), compilation 114 to 113 of 114 “yes” designs (p = 1), 0 to 3 of 9 “no” designs (p = 0.25); KEV-9B synthesis 97 to 98 of 99 “yes” designs (p = 1), 2 to 4 of 24 “no” designs (p = 0.5), compilation 114 to 112 of 114 “yes” designs (p = 0.5), 2 to 4 of 9 “no” designs (p = 0.5); KEV-27B synthesis 98 to 96 of 99 “yes” designs (p = 0.5), 4 to 12 of 24 “no” designs (p = 0.0078), compilation 114 to 108 of 114 “yes” designs (p = 0.031), 8 to 9 of 9 “no” designs (p = 1). KEV-0.8B moves from “yes” for every design to “no” for every design on synthesis; its balanced accuracy stays at 50% because a constant answer always scores 50%. KEV-27B: 3 designs get both “does not compile” and “synthesizes” (KEV-4B 2, KEV-9B 2); in this test set every design that vlog rejects also fails synthesis. With 9 compile errors, one design changes the balanced score by 5.6 percentage points.</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KEV-27B confusion counts with examples: true positive 96, false negative 3, false positive 12, true negative 12. Overall accuracy = 108/123 = 0.8780. Success recognition = 96/99 = 0.9697. Failure detection = 12/24 = 0.5000. Balanced accuracy = 0.7348. Without examples (slide “Why 82.9% hid poor synthesis failure detection”): 98, 1, 20, 4. Paired McNemar tests within each class: failures 0 lost and 8 gained (p = 0.0078); successes 2 lost and 0 gained (p = 0.5); all 123 designs 2 lost and 8 gained (p = 0.11). The examples of the synthesis question are one design that synthesizes and two that fail, each failure with its first Design Compiler error.</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derived subgroup analysis as in experiment 1, on the synthesis answers with examples. Compiler-accepted failure detections: 15, 1, 2, 4 of 15 (without examples 0, 0, 1, 0). Compiler-rejected failure detections: 9, 1, 2, 8 of 9 (without examples 0, 0, 1, 4). Order: 0.8B, 4B, 9B, 27B. KEV-0.8B gives every one of the 123 designs a synthesis probability below 0.5, so its full bars are a constant “no”, not a detection. Ranking (AUROC of the 99 successes against each subgroup) for KEV-27B: 0.881 for the 15 and 0.980 for the 9 (without examples 0.713 and 0.982). Small subgroups; no general claim.</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slide lists the ten options of the failure-reason question exactly as the model reads them (option name, then its text). Every one of the 25 reason questions in dataset v1 offers the same ten options in the same order. The columns count the reason questions whose correct answer is that option: 16 in the test split and 9 in the development split. In the test split, 8 of the ten options occur; event_list and unbounded_loop occur only in the development split, once each. The correct answer comes from the Design Compiler message IDs (and the vlog result to separate illegal_code from unsupported_construct), with the rules in notes/synth_reason.md; a design is kept only if all its messages belong to one class. 22 of the 25 failing designs are injected one-construct edits of a working design (mutants and the rejected twins of the trap pairs). The other 3 are natural failures: one MetRex design and two LLM-written candidates. 8 further test designs fail synthesis with illegal_code; they are the injected compile errors (one removed semicolon or one undeclared name) and get only the yes/no questions, by the dataset rules.</a:t>
            </a:r>
          </a:p>
          <a:p/>
          <a:p>
            <a:r>
              <a:t>Evidence and reproducibility</a:t>
            </a:r>
          </a:p>
          <a:p>
            <a:r>
              <a:t>data/questions/dataset_v1.jsonl (records with request = reason); notes/synth_reason.md; notes/DATASET.md;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Correct reason counts are 5,9,11,15 of 16. Class-balanced reason accuracies are 17.9%,37.5%,50.0%,87.5%, respectively. The reason classes present are multiple_drivers(1), illegal_code(1), unsupported_construct(1), timing_control(3), simulation_statement(5), async_reset(1), mixed_assignments(2), instance_mismatch(2). There are no true event_list or unbounded_loop examples in the held-out reason subset. KEV-27B gets only multiple_drivers wrong, predicting async_reset. The instruction supplies the known failure and therefore this accuracy is conditional, not an end-to-end detection score.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each test reason request, replace :reason: with :basic: in its question ID and inspect the corresponding synthesis probability. The reason subset has 16 known failures, while the full binary synthesis test has 24 failures; 8 noncompile designs do not receive a reason request. Failure flags within the 16-design reason subset are 0,0,1,0. Correct diagnoses when the prompt supplies failure are 5,9,11,15. Both correct counts are 0,0,1,0. In particular KEV-27B flags none of these 16, although its independent reason response is right for 15. These are retrospective conjunctions of saved answers, not measured performance of a deployed routed pipeline.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Correct reason counts with examples: 1, 10, 11, 14 of 16 (without examples 5, 9, 11, 15; 0.8B, 4B, 9B, 27B). Class-balanced reason accuracies: 4.2%, 43.8%, 50.0%, 75.0%. Paired McNemar tests: 0.8B 5 lost and 1 gained (p = 0.22), 4B 0 lost and 1 gained (p = 1), 9B 0 lost and 0 gained (p = 1), 27B 1 lost and 0 gained (p = 1). KEV-27B is wrong on the one multiple_drivers design and the one async_reset design, and chooses event_list for both; without examples it chose async_reset for the multiple_drivers design. event_list answers per model with examples: 7, 3, 4, 2 (without examples 0, 3, 3, 0); no test reason question has the class event_list, so each such answer is wrong. The three examples are failed development designs of the classes multiple_drivers, illegal_code, event_list; an example of a class that no test design has comes before every reason question. This is an observation on one example set; the slides do not test the cause. The instruction still supplies the known failure, so this accuracy is conditional, not an end-to-end detection score.</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linked analysis as in experiment 1, on the answers with examples: for each test reason question, the synthesis answer of the same design (its own request with examples) is matched. Failure flags within the 16-design reason subset: 16, 1, 2, 5 (without examples 0, 0, 1, 0). Correct diagnoses: 1, 10, 11, 14 (without examples 5, 9, 11, 15). Both correct: 1, 1, 2, 5 (without examples 0, 0, 1, 0). Order: 0.8B, 4B, 9B, 27B. KEV-0.8B answers “no” to the synthesis question for every one of the 123 designs, so its 16 flags carry no information. These are retrospective conjunctions of saved answers, not a deployed detection-and-diagnosis pipeline.</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reference synthesis uses the supplied RTL_flow_Nangate15, NanGate 15nm typical corner at 0.8 V and 25 C, Design Compiler compile_ultra -gate_clock, a 500 MHz target, input/output delay of 10% of period, and 50 ps setup clock uncertainty. Area is the synthesis total cell area divided by 0.196608 square micrometres per NAND2_X1 gate. Power comes from the same design run and PrimeTime total dynamic plus leakage power using its supplied power testbench. The model receives that testbench. Power is only included when the run is successful and switching annotation is at least 95%. In the held-out test 85 of 92 performance requests have a power label; the other seven are excluded, not model errors. Levels use lower-inclusive upper-exclusive ranges, except the first and last open-ended bins.</a:t>
            </a:r>
          </a:p>
          <a:p/>
          <a:p>
            <a:r>
              <a:t>Evidence and reproducibility</a:t>
            </a:r>
          </a:p>
          <a:p>
            <a:r>
              <a:t>harness/build.py: AREA_EDGES_GE, POWER_EDGES_UW and build_dataset_v1; notes/DATASET.md; notes/README.md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Worst slack is the smallest timing margin reported after synthesis at the fixed 500 MHz target. Positive slack means the netlist meets that target. Reachable frequency is the harness formula 1000/(period_ns-slack_ns) MHz, converted here to GHz, from that same netlist. It is not measured silicon frequency, post-route timing or the result of resynthesizing at the inferred faster target. The example mac_int8 has 1437.97 ps of slack, converted to 1.43797 ns: 1/(2-1.43797)=1.779 GHz. A unit conversion bug in the supplied summary.sh is corrected by the harness. Held-out slack truths contain levels 2,3,4,5 only; reachable frequency truths contain levels 1,2,3,4 only. Thus no negative-slack or ≥4 GHz true examples occur.</a:t>
            </a:r>
          </a:p>
          <a:p/>
          <a:p>
            <a:r>
              <a:t>Evidence and reproducibility</a:t>
            </a:r>
          </a:p>
          <a:p>
            <a:r>
              <a:t>notes/DATASET.md; harness/build.py: SLACK_EDGES_NS, REACH_EDGES_MHZ and build_dataset_v1; flow/RTL_flow_Nangate15/summary.sh</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area hits: 33,33,53,61 of 92. Within-one hits: 61,65,83,92. The dashed constant-answer reference is always area level 1, correct for 33/92 test examples. It is descriptive and computed from test labels, not an independently run or development-selected model. Even a within-one prediction can imply a large area difference because the bins have decade-wide boundaries. No physical relative error or post-layout area is reported.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hits of 92, without examples to with examples, with the paired McNemar test: 0.8B 33 to 2 (p &lt; 0.001); 4B 33 to 46 (p = 0.098); 9B 53 to 50 (p = 0.76); 27B 61 to 48 (p = 0.029). Within-one hits with examples: 11, 86, 85, 92 (without examples 61, 65, 83, 92). True level counts 1 to 5: 33, 28, 20, 9, 2. Chosen level counts with examples: 0.8B 0, 0, 0, 0, 92; 4B 13, 55, 2, 21, 1; 9B 16, 41, 10, 21, 4; 27B 40, 34, 15, 1, 2 (KEV-27B without examples: 21, 45, 20, 5, 1). The examples of this question: 71.5 GE (level 1)  •  1,323.3 GE (level 3)  •  519,474.0 GE (level 5). The bins cover decades of gate equivalents, so one level is not a fixed physical error.</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power hits: 23,39,34,9 of 85. Within-one hits: 70,78,79,55. True level counts 1–5: 23,37,18,7,0. KEV-27B chosen-level counts: 0,0,54,30,1. It therefore systematically chooses high levels on this test distribution. This is an observed tendency, not evidence of an identified root cause. Power depends on both the synthesized design and stimulus; it is not a general intrinsic cost of the RTL. The constant-answer level-2 reference is computed from test labels.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hits of 85, without examples to with examples, with the paired McNemar test: 0.8B 23 to 0 (p &lt; 0.001); 4B 39 to 34 (p = 0.38); 9B 34 to 24 (p = 0.12); 27B 9 to 36 (p &lt; 0.001). Within-one hits with examples: 7, 75, 59, 74 (without examples 70, 78, 79, 55). True level counts 1 to 5: 23, 37, 18, 7, 0. Chosen level counts with examples: 0.8B 0, 0, 0, 0, 85; 4B 0, 49, 11, 22, 3; 9B 1, 34, 5, 40, 5; 27B 0, 41, 25, 13, 6 (KEV-27B without examples: 0, 0, 54, 30, 1). The examples of this question: 12.48 µW (level 2)  •  300.8 µW (level 3)  •  26.2 mW (level 5). Power depends on the synthesized design and on the stimulus of its testbench.</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Reachable frequency exact hits are 13,11,13,13 of 92. Slack exact hits are 8,4,3,30 of 92. True frequency level 4 is most common with 45/92 and true slack level 5 with 63/92. These are explicitly specified constant-answer references calculated from the test labels, not learned predictive baselines. No negative-slack cases are present, so the benchmark cannot evaluate missed timing violations. Level accuracy is not a timing estimation error in picoseconds or MHz.</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Clock frequency. Exact hits of 92, without examples to with examples, with the paired McNemar test: 0.8B 13 to 22 (p = 0.11); 4B 11 to 21 (p = 0.064); 9B 13 to 15 (p = 0.85); 27B 13 to 36 (p &lt; 0.001). Within-one hits with examples: 57, 47, 47, 77 (without examples 29, 29, 31, 29). True level counts 1 to 5: 13, 16, 18, 45, 0. Chosen level counts with examples: 0.8B 15, 14, 0, 25, 38; 4B 9, 78, 5, 0, 0; 9B 2, 87, 3, 0, 0; 27B 29, 1, 30, 32, 0 (KEV-27B without examples: 90, 0, 0, 0, 2). The examples of this question: 612 MHz (level 1)  •  2,137 MHz (level 3)  •  3,572 MHz (level 4). Timing margin (slack). Exact hits of 92, without examples to with examples, with the paired McNemar test: 0.8B 8 to 63 (p &lt; 0.001); 4B 4 to 10 (p = 0.11); 9B 3 to 15 (p = 0.0042); 27B 30 to 60 (p &lt; 0.001). Within-one hits with examples: 79, 30, 70, 83 (without examples 28, 26, 11, 37). True level counts 1 to 5: 0, 5, 8, 16, 63. Chosen level counts with examples: 0.8B 0, 0, 0, 0, 92; 4B 0, 16, 67, 0, 9; 9B 0, 27, 0, 62, 3; 27B 8, 2, 13, 1, 68 (KEV-27B without examples: 56, 2, 0, 2, 32). The examples of this question: +0.365 ns (level 2)  •  +0.962 ns (level 3)  •  +1.532 ns (level 5). No negative-slack design occurs, so missed timing violations are not tested. Level accuracy is not a timing error in picoseconds or MHz.</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These are the complete true-label and chosen-label distributions for KEV-27B test performance responses. Frequency truths 13,16,18,45,0 and predictions 90,0,0,0,2. Power truths 23,37,18,7,0 and predictions 0,0,54,30,1. Each chart uses the same 0–100-design vertical scale; the two denominators are different and labelled. There is no omission or zoom. Counts at zero are printed as zero rather than represented by a nonzero bar. These distributions establish bias in chosen levels, not its cause.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KEV-27B with examples. Frequency truths 13, 16, 18, 45, 0; chosen 29, 1, 30, 32, 0 (without examples 90, 0, 0, 0, 2). Power truths 23, 37, 18, 7, 0; chosen 0, 41, 25, 13, 6 (without examples 0, 0, 54, 30, 1). “Closer” means a smaller sum over the five levels of |chosen count − true count|: frequency 56 with examples against 158 without; power 46 against 120. Equal counts do not mean correct answers: a design can get a level of the right count but the wrong design. The exact-level scores are on the previous slides. The examples of the frequency question: 612 MHz (level 1)  •  2,137 MHz (level 3)  •  3,572 MHz (level 4); of the power question: 12.48 µW (level 2)  •  300.8 µW (level 3)  •  26.2 mW (level 5). Same 0 to 100 vertical scale as the experiment 1 slide.</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Pair inputs are old REvolution candidates of the same problem. Both runs must have usable power and at least 95% annotation, the same power testbench, and positive values for compared metrics. A question is retained for a metric if max/min is at least 1.1, so there are no ties. Twenty-five distinct pairs occur in the held-out split and 31 across both splits. The metric subsets overlap; do not sum 23+22+6 as distinct pairs. Each retained pair is sent as AB and BA. A/B labels are therefore balanced. No energy-per-operation pair question is implemented in dataset v1, despite its presence in an older planning note.</a:t>
            </a:r>
          </a:p>
          <a:p/>
          <a:p>
            <a:r>
              <a:t>Evidence and reproducibility</a:t>
            </a:r>
          </a:p>
          <a:p>
            <a:r>
              <a:t>harness/build.py: V1_PAIR_QUESTIONS and build_dataset_v1; data/questions/dataset_v1.jsonl; notes/DATASET.md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full pair accuracy values are taken from the official local harness scorer. Per-view hits: area 22,35,40,36 of 46; power 28,25,29,31 of 44; frequency 8,10,9,10 of 12. The dashed 50% reference is always choosing A or always choosing B because both orders are included. This is not independent random sampling: the two orders share designs, and different pairs can share candidates of a problem. No significance test is claimed, and different per-task maxima belong to different models. All percentage axes are 0–100%.</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Both-order correct counts are derived from matching AB/BA answers and requiring each to equal its label. Area:5,13,19,17 of23; power:6,3,9,14 of22; frequency:3,4,4,5 of6. Same-letter-both-orders is the saved scorer positional inconsistency measure; power counts are16,19,11,3 of22. A consistent switched-letter answer can still choose the wrong design in both orders, so consistency alone does not prove correctness. The both-orders criterion is therefore shown separately from the per-view accuracy. It is a stricter descriptive summary, not a new experiment.</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Per-view hits with examples, and without examples in brackets (0.8B, 4B, 9B, 27B): area 23, 31, 35, 41 of 46 (22, 35, 40, 36); power 24, 28, 31, 35 of 44 (28, 25, 29, 31); frequency 6, 6, 9, 11 of 12 (8, 10, 9, 10). Paired McNemar tests, KEV-27B: area p = 0.062, power p = 0.12, frequency p = 1; 27B leads each pair test with the highest count, but no change of 27B against experiment 1 has p &lt; 0.05. Letters chosen with examples: 0.8B area 46 A, power 6 A and 38 B, frequency 12 B; 4B area 12 A and 34 B, power 10 A and 34 B, frequency 12 B; 9B area 30 A and 16 B, power 29 A and 15 B, frequency 5 A and 7 B; 27B area 22 A and 24 B, power 23 A and 21 B, frequency 7 A and 5 B. A model that always gives one letter scores exactly 50%, because both orders are included. The pair questions show the three examples of their metric with the exact values only (no levels, no solved pair).</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Both-order correct counts with examples (without examples in brackets), 0.8B, 4B, 9B, 27B: area 0, 10, 12, 20 of 23 (5, 13, 19, 17); power 3, 8, 11, 17 of 22 (6, 3, 9, 14); frequency 0, 0, 4, 5 of 6 (3, 4, 4, 5). Same letter in both orders, power: 18, 12, 9, 1 of 22 (without examples 16, 19, 11, 3). With two opposite correct letters, a pair with the same letter in both orders has exactly one correct view. A consistent letter swap can still choose the wrong design in both orders, so consistency alone does not prove correctness.</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Condor job IDs4.0,5.0,6.0,7.0 completed with return code0. Job execution seconds are125,187,204,400; this includes setup/smoke/inference but excludes idle queue wait. Median server-reported model times are109.05,201.35,243.7,668.3ms. These medians include all348 dataset requests, development plus test, but exclude the separate smoke file. GPU0.8B: euler RTX3080Ti; larger models: aristoteles A100-SXM4-80GB. Sum of client wall times over the348 requests:52.047,99.433,104.114,279.849s. Server model latency and client wall time are distinct measures. Peak sampled GPU memory is recorded for0.8B only (7036MiB); no comparable peak is available for the larger jobs. An earlier0.8B attempt3.0 failed before inference on AMD and was corrected by requiring CUDA. No dollar-cost estimate is measured.</a:t>
            </a:r>
          </a:p>
          <a:p/>
          <a:p>
            <a:r>
              <a:t>Evidence and reproducibility</a:t>
            </a:r>
          </a:p>
          <a:p>
            <a:r>
              <a:t>results/kev/*/manifest.json; condor/logs/4.0.kev-0.8b.log; condor/logs/5.0.kev-4b.log; condor/logs/6.0.kev-9b.log; condor/logs/7.0.kev-27b.log</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Condor jobs 8.0, 9.0, 10.0, 11.0 were submitted from 2026-10-16 15:39:43 to 2026-10-16 15:39:44 and completed with return code 0. KEV-0.8B: goryu, NVIDIA GeForce RTX 5060 Ti, queue wait 3 s, Condor TimeExecute 276 s, median model time 179 ms (maximum 821 ms), sum of client wall times 166.5 s, peak GPU memory of the Kev server 6,668 MiB; KEV-4B: hawberry, NVIDIA GeForce RTX 3090, queue wait 2 s, Condor TimeExecute 599 s, median model time 555 ms (maximum 2159 ms), sum of client wall times 466.6 s, peak GPU memory of the Kev server 21,736 MiB; KEV-9B: euler, NVIDIA RTX PRO 5000 Blackwell, queue wait 10 min 22 s, Condor TimeExecute 418 s, median model time 301 ms (maximum 1234 ms), sum of client wall times 256.4 s, peak GPU memory of the Kev server 28,458 MiB; KEV-27B: aristoteles, NVIDIA A100-SXM4-80GB, queue wait 4 h 17 min, Condor TimeExecute 1074 s, median model time 1062 ms (maximum 4036 ms), sum of client wall times 877.5 s, peak GPU memory of the Kev server 74,418 MiB. Job time is Condor TimeExecute, as in experiment 1 (condor_execution_seconds); it includes setup, the smoke file and inference, but not the queue wait. The medians cover the 725 requests of the question file, not the smoke file. Each request is answered once, with HTTP 200 and the answer key of its question, and the input tokens reported by the server equal the builder counts for all 725 requests (checked by the analysis). Every model used the same v1.0 checkpoint revision as in experiment 1. The requests above 8,192 tokens are metrex_19218:area, metrex_19218:power, metrex_19218:slack; Kev-27B is validated to 65,536 tokens. No dollar cost is measured.</a:t>
            </a:r>
          </a:p>
          <a:p/>
          <a:p>
            <a:r>
              <a:t>Evidence and reproducibility</a:t>
            </a:r>
          </a:p>
          <a:p>
            <a:r>
              <a:t>results/kev/dataset_v1_fewshot3_*/manifest.json; condor/logs/8.0.kev-0.8b.log; condor/logs/9.0.kev-4b.log; condor/logs/10.0.kev-9b.log; condor/logs/11.0.kev-27b.log</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slide distinguishes measured strengths from proposed follow-up work. The test-set probabilities suggest that the fixed0.5 threshold may hide some ranking signal, but any alternative threshold must be selected on development only, frozen and assessed on new held-out data rather than optimised on this test. Expanded failure cases should include compiler-accepted synthesis failures. The current test has no negative-slack cases, no level5 power examples, and no level5 reachable-frequency examples. No confidence interval or paired significance test is claimed here. Jev, base Qwen, commercial LLMs, renamed/comment controls, energy per operation and post-route or measured-silicon validation have no results in this completed evaluation.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slide separates measured results of experiment 2 from proposed follow-up work. Experiment 2 uses one fixed set of three examples per question key. Measured with examples, KEV-27B: synthesis failures detected 4 to 12 of 24 (p = 0.0078 within the failures); exact power levels 9 to 36 of 85 (p &lt; 0.001); area pairs right in both orders 17 to 20 of 23. Not better: KEV-27B exact area levels 61 to 48 of 92 (p = 0.029); KEV-27B answers “does not compile” for 6 of the 114 designs that compile (p = 0.031); KEV-0.8B gives one answer to every design in 6 of 10 question keys. The yes/no examples hold one “yes” and two “no” designs (MV’s setup); the effect of this mix is not measured here. event_list is the class of one reason example and of no test design. Any threshold or example-set choice must use development data, not these test labels.</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Appendix for review and reproduction. The following tables retain all primary question metrics, the class splits, reason coverage, probability metrics, expected-level error and pair-order checks. There is no single overall cross-task accuracy because tasks have different meanings, supports and class distributions.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the complete primary accuracy table from the saved scorer, reproduced from raw answers. The KEV model size is indicated by the four numeric columns; all are KEV v1.0. Yes/no scores use threshold0.5. Reason accuracy is conditional on the prompt supplying failure. Area/power/frequency/slack require exact ordinal level. Pair scores count both presentation orders as separate views; area46views, power44views, frequency12views. No row is a general combined model score. For probability, class and level-error metrics see later appendix slides.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complete primary accuracy table of experiment 2 from the saved scorer, reproduced from the raw answers. The same questions and the same scoring rules as the experiment 1 table on the previous slide. Yes/no scores use the threshold 0.5. Reason accuracy is conditional on the prompt supplying the failure. Area, power, frequency and slack require the exact level. Pair scores count both presentation orders as separate views. The next slide gives the paired test of each change against experiment 1.</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each model and question key, the questions are matched one to one (the question ID of experiment 1 is in the field source_question_id of experiment 2). b = questions correct only without examples, c = questions correct only with examples; the exact two-sided McNemar p value is the binomial test of b against b + c with probability 0.5 (the rule of harness/compare.py; the analysis recomputes it and checks it against each compare_with_dataset_v1.json). p &lt; 0.05: 0.8B synthesizes, 0.8B area level, 0.8B power level, 0.8B slack level, 9B slack level, 27B area level, 27B power level, 27B frequency level, 27B slack level. The KEV-0.8B changes with p &lt; 0.05 come with one answer for every design (synthesis “no”, area, power and slack level 5). The test counts changed answers only; it says nothing about the reason for a change. No correction for the 40 tests is applied.</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rows show all four binary confusion-matrix supports with correct counts. Wrong counts are n minus correct. Compilation supports114pass/9fail; synthesis99pass/24fail. Balanced accuracy is the arithmetic mean of the two within-group percentages, not weighted by123designs. KEV0.8B synthesis always predicts yes. KEV4B compilation always predicts yes. The source answers are all present and successfully scored; there is no missing-answer adjustment. The “yes” rows count the answers with a yes probability of 0.5 or more among all 123 test designs: correct answers on successes plus wrong answers on failures.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four binary confusion-matrix supports of experiment 2 with correct counts; wrong counts are n minus correct. Compilation supports 114 pass and 9 fail; synthesis 99 pass and 24 fail. KEV-0.8B answers “no” to synthesis for all 123 designs and “yes” to compilation for 1 design. The paired test of each class against experiment 1 is in the speaker notes of the slide “27B’s synthesis score rises from 57.8% to 73.5%”. The “yes” rows count the answers with a yes probability of 0.5 or more among all 123 test designs.</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Each dot is the saved noul answer (the yes probability) of one held-out basic request. In each model row, the upper teal dots are the designs that the tool accepts and the lower orange dots are the designs that the tool rejects. The small vertical spread in each lane comes from a fixed hash of the question ID and only reduces overlap; it carries no data. A probability of 0.5 or more counts as “yes”, as in the saved scorer. “Yes” answers of 123, synthesis: 123, 122, 119, 118; compilation: 4, 123, 121, 115 (0.8B, 4B, 9B, 27B). KEV-0.8B gives every design a compile probability between 0.30 and 0.53 and a synthesis probability between 0.52 and 0.74, for successes and failures alike (AUROC 0.563 and 0.490; 0.5 is chance). KEV-27B compile probabilities: successes 0.56 to 0.99, failures 0.24 to 0.68 (AUROC 0.994). KEV-27B synthesis probabilities: the 9 failures that also fail vlog rank below the successes (AUROC 0.982), but only 4 fall below 0.5; the 15 failures that pass vlog get 0.60 to 0.95 (AUROC 0.713). The Kev README names no RTL training data. A search of the Kev suites (evals/) for Verilog terms finds only the C++ logging macro VLOG and the word “vlog” in a text about videos. Kev-27B also trained on C++ code-review questions (devtools-v1) and starts from a post-trained Qwen model whose training data is not published.</a:t>
            </a:r>
          </a:p>
          <a:p/>
          <a:p>
            <a:r>
              <a:t>Evidence and reproducibility</a:t>
            </a:r>
          </a:p>
          <a:p>
            <a:r>
              <a:t>results/kev/*/dataset_v1__*.jsonl; presentations/src/analyse_kev.py; github.com/jaredpalmer/kev README and evals/ (commit 5e42a7a)</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dot plot as the experiment 1 slide before, with the answers of experiment 2. Each dot is the saved noul answer (the yes probability) of one held-out design; upper teal dots: the tool accepts the design, lower orange dots: the tool rejects it. The small vertical spread comes from a fixed hash of the question ID and carries no data. “Yes” answers of 123, synthesis: 0, 120, 118, 108; compilation: 1, 119, 117, 108 (0.8B, 4B, 9B, 27B). KEV-0.8B probabilities: compilation 0.21 to 0.50, synthesis 0.14 to 0.49 (AUROC 0.577 and 0.566; 0.5 is chance). KEV-27B synthesis: 12 of 24 failures fall below 0.5, exactly half, so this answer set is not right for most failures. The 9 failures that also fail vlog: 8 below 0.5 (AUROC against the successes 0.980); the 15 failures that pass vlog: 4 below 0.5, probabilities 0.20 to 0.87 (AUROC 0.881).</a:t>
            </a:r>
          </a:p>
          <a:p/>
          <a:p>
            <a:r>
              <a:t>Evidence and reproducibility</a:t>
            </a:r>
          </a:p>
          <a:p>
            <a:r>
              <a:t>data/questions/dataset_v1_fewshot3.jsonl; results/kev/dataset_v1_fewshot3_*/dataset_v1_fewshot3__*.jsonl; results/kev/*/dataset_v1__*.jsonl (experiment 1); harness/score.py; harness/compare.py; presentations/src/analyse_kev.py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eight observed reason classes and supports are drawn from the test input. They total16. The offered option list has10classes, so event_list and unbounded_loop have zero true cases and are excluded from the saved scorer balanced accuracy. Correct class counts for every model are recomputed. KEV27B sole mistake is multiple_drivers→async_reset. Five simulation-only examples and three timing-control examples give those classes more influence in pooled accuracy than one-case classes. Balanced accuracy instead weights the eight observed class recalls equally. Do not interpret this as broad10-class validation.</a:t>
            </a:r>
          </a:p>
          <a:p/>
          <a:p>
            <a:r>
              <a:t>Evidence and reproducibility</a:t>
            </a:r>
          </a:p>
          <a:p>
            <a:r>
              <a:t>notes/synth_reason.md; data/questions/dataset_v1.jsonl;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eight observed reason classes and their supports are the same as in experiment 1 (16 test designs). The scorer’s balanced accuracy weights the eight observed class recalls equally. Wrong answers with examples, per model (true class: chosen class and count): 0.8B: multiple_drivers → async_reset ×1, illegal_code → async_reset ×1, unsupported_construct → event_list ×1, timing_control → event_list ×2, simulation_statement → async_reset ×3, event_list ×1, multiple_drivers ×1, async_reset → multiple_drivers ×1, mixed_assignments → event_list ×2, instance_mismatch → multiple_drivers ×1, event_list ×1; 4B: multiple_drivers → event_list ×1, illegal_code → unbounded_loop ×1, async_reset → event_list ×1, mixed_assignments → event_list ×1, async_reset ×1, instance_mismatch → multiple_drivers ×1; 9B: multiple_drivers → event_list ×1, illegal_code → unbounded_loop ×1, async_reset → event_list ×1, mixed_assignments → event_list ×2; 27B: multiple_drivers → event_list ×1, async_reset → event_list ×1. event_list answers per model: 7, 3, 4, 2 with examples, 0, 3, 3, 0 without. Do not read this as a broad ten-class validation.</a:t>
            </a:r>
          </a:p>
          <a:p/>
          <a:p>
            <a:r>
              <a:t>Evidence and reproducibility</a:t>
            </a:r>
          </a:p>
          <a:p>
            <a:r>
              <a:t>data/questions/dataset_v1_fewshot3.jsonl; results/kev/dataset_v1_fewshot3_*/dataset_v1_fewshot3__*.jsonl; results/kev/*/dataset_v1__*.jsonl (experiment 1); harness/score.py; harness/compare.py; notes/synth_reason.md</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AUROC is the probability that a randomly chosen actual success has a higher predicted yes probability than a randomly chosen actual failure, counting ties as half. It ranges0–1;0.5 corresponds to chance ordering. It is independent of the chosen decision threshold and is not failure recall. Brier score is mean((p_yes-y)^2),0–1with lower better. It measures probability error, not calibration alone. These metrics use all123binary test designs. Synthesis AUROC improves to0.814for27B although its thresholded failure recall is16.7%. Any threshold tuning must use the development split, not these test labels. No recalibrated or alternative-threshold result has been run.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metrics as in experiment 1, on the answers with examples (all 123 binary test designs). Without examples, in the order 0.8B, 4B, 9B, 27B: compilation AUROC 0.563, 0.763, 0.692, 0.994, Brier 0.334, 0.064, 0.066, 0.030; synthesis AUROC 0.490, 0.714, 0.740, 0.814, Brier 0.187, 0.148, 0.144, 0.128. KEV-27B synthesis AUROC 0.814 to 0.918, with failure recall at 0.5 of 16.7% to 50.0%. AUROC does not depend on the threshold. Any threshold tuning must use the development split, not these test labels.</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saved scorer computes within_one from the argmax chosen level versus the true integer level. Mean absolute level error (mae_levels) uses the probability-weighted expected level sum(k*p_k)/sum(p_k), then averages abs(expected-true). Therefore it is not the mean absolute error of the argmax level and need not track exact accuracy monotonically. Supports:92area,85power,92reachablefrequency,92slack. Since area and power bins cover decades, ordinal error cannot be read as fixed relative or absolute physical error. All values are retained from the scorer, verified against raw responses with1e-12floating-point tolerance.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two measures as in experiment 1, on the answers with examples. Without examples (0.8B, 4B, 9B, 27B): area within one 66.3%, 70.7%, 90.2%, 100.0%, mean level error 0.994, 0.713, 0.649, 0.485; power within one 82.4%, 91.8%, 92.9%, 64.7%, mean level error 0.971, 0.754, 0.900, 1.070; frequency within one 31.5%, 31.5%, 33.7%, 31.5%, mean level error 1.119, 1.321, 1.208, 1.242; slack within one 30.4%, 28.3%, 12.0%, 40.2%, mean level error 1.509, 1.654, 1.742, 1.622. KEV-0.8B gives level 5 to every design for area, power and slack, so its within-one score is the share of true levels 4 and 5: area 12.0%, power 8.2%, slack 85.9%.</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an A/B pair with opposite correct labels in AB and BA, each model response falls into0,1or2correct views. Both-order counts are read from paired saved answers, not estimated from percentages. The saved same_letter_both_orders rate equals the one-correct count divided by the number of distinct pairs for this balanced binary protocol. It is not itself an accuracy measure. Questions share design candidates and problem families, so naive independence across views is inappropriate. All row triplets sum to the labelled number of pairs.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same counts as in experiment 1, on the pair answers with examples (one request per pair, order and metric). Each row triplet sums to the number of pairs (checked). Without examples (0.8B, 4B, 9B, 27B): area both 5/13/19/17, one 12/9/2/2, neither 6/1/2/4; power both 6/3/9/14, one 16/19/11/3, neither 0/0/2/5; frequency both 3/4/4/5, one 2/2/1/0, neither 1/0/1/1. A model with one letter for every view has every pair in “one order correct” (KEV-0.8B area and frequency, KEV-4B frequency).</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group counts are based on retained basic design records only, not requests or pair views. All retained counts total151 and held-out counts123. The original plan159had8excludeddesigns:4mutantswithanunintendedclass,2traptwins that did not synthesize as required, and2noncompile designs whose DC class was not intended. Twelve retained performance cases across both splits have no usable power value, leaving98powerquestions overall and85test. The corpus also skips comparisons with incompatible testbenches or less than10%metric differences. Some source groups contain near variants; base_design_id grouping prevents cross-split leakage as checked in analyse_kev.py. Dataset v1 supersedes older planning sizes such as500perquestiontype. No planned result is presented as completed.</a:t>
            </a:r>
          </a:p>
          <a:p/>
          <a:p>
            <a:r>
              <a:t>Evidence and reproducibility</a:t>
            </a:r>
          </a:p>
          <a:p>
            <a:r>
              <a:t>data/questions/dataset_v1.card.md; notes/DATASET.md; harness/build.py;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Full provenance:</a:t>
            </a:r>
          </a:p>
          <a:p>
            <a:r>
              <a:t>{</a:t>
            </a:r>
          </a:p>
          <a:p>
            <a:r>
              <a:t>  "kev-0.8b": {</a:t>
            </a:r>
          </a:p>
          <a:p>
            <a:r>
              <a:t>    "job": "4.0",</a:t>
            </a:r>
          </a:p>
          <a:p>
            <a:r>
              <a:t>    "revision": "bf75a6a8848ea6960ff2ed108d9ed44c2941174f",</a:t>
            </a:r>
          </a:p>
          <a:p>
            <a:r>
              <a:t>    "answers_file": "results/kev/dataset_v1_kev-0.8b_20261014/dataset_v1__kev-0.8b.jsonl",</a:t>
            </a:r>
          </a:p>
          <a:p>
            <a:r>
              <a:t>    "answers_sha256": "c2b175aacc788e57d7b3fbc042432c9d3fac78384ae37bc976f8bf52d9c22046",</a:t>
            </a:r>
          </a:p>
          <a:p>
            <a:r>
              <a:t>    "dataset_sha256": "96814ea63d89b98af7f87c5f6d8e5fe0f35ec710c30755c9d0723fbec4ddbe2a"</a:t>
            </a:r>
          </a:p>
          <a:p>
            <a:r>
              <a:t>  },</a:t>
            </a:r>
          </a:p>
          <a:p>
            <a:r>
              <a:t>  "kev-4b": {</a:t>
            </a:r>
          </a:p>
          <a:p>
            <a:r>
              <a:t>    "job": "5.0",</a:t>
            </a:r>
          </a:p>
          <a:p>
            <a:r>
              <a:t>    "revision": "6cfce5c2fa4b4bd64026336ab649c5ca78857d52",</a:t>
            </a:r>
          </a:p>
          <a:p>
            <a:r>
              <a:t>    "answers_file": "results/kev/dataset_v1_kev-4b_20261015/dataset_v1__kev-4b.jsonl",</a:t>
            </a:r>
          </a:p>
          <a:p>
            <a:r>
              <a:t>    "answers_sha256": "9f68340c80d407377a5288c970bab9a1af2a203aa6128c56a80555dece270b6e",</a:t>
            </a:r>
          </a:p>
          <a:p>
            <a:r>
              <a:t>    "dataset_sha256": "96814ea63d89b98af7f87c5f6d8e5fe0f35ec710c30755c9d0723fbec4ddbe2a"</a:t>
            </a:r>
          </a:p>
          <a:p>
            <a:r>
              <a:t>  },</a:t>
            </a:r>
          </a:p>
          <a:p>
            <a:r>
              <a:t>  "kev-9b": {</a:t>
            </a:r>
          </a:p>
          <a:p>
            <a:r>
              <a:t>    "job": "6.0",</a:t>
            </a:r>
          </a:p>
          <a:p>
            <a:r>
              <a:t>    "revision": "db029f08b290afd9fee4aa4bbcd9ae48602d1eb0",</a:t>
            </a:r>
          </a:p>
          <a:p>
            <a:r>
              <a:t>    "answers_file": "results/kev/dataset_v1_kev-9b_20261015/dataset_v1__kev-9b.jsonl",</a:t>
            </a:r>
          </a:p>
          <a:p>
            <a:r>
              <a:t>    "answers_sha256": "5c69346a7c9211caaff5f0e6067e82a5f6022519029d5cd1634697a1710fde34",</a:t>
            </a:r>
          </a:p>
          <a:p>
            <a:r>
              <a:t>    "dataset_sha256": "96814ea63d89b98af7f87c5f6d8e5fe0f35ec710c30755c9d0723fbec4ddbe2a"</a:t>
            </a:r>
          </a:p>
          <a:p>
            <a:r>
              <a:t>  },</a:t>
            </a:r>
          </a:p>
          <a:p>
            <a:r>
              <a:t>  "kev-27b": {</a:t>
            </a:r>
          </a:p>
          <a:p>
            <a:r>
              <a:t>    "job": "7.0",</a:t>
            </a:r>
          </a:p>
          <a:p>
            <a:r>
              <a:t>    "revision": "af0e6d551bdc2cc724f3e9d7a8bee1cd4fb8f7bf",</a:t>
            </a:r>
          </a:p>
          <a:p>
            <a:r>
              <a:t>    "answers_file": "results/kev/dataset_v1_kev-27b_20261015/dataset_v1__kev-27b.jsonl",</a:t>
            </a:r>
          </a:p>
          <a:p>
            <a:r>
              <a:t>    "answers_sha256": "c643020e0b73e9627c81fb7b0429556c70969cfef7074b7e4f6fc71d1349bf19",</a:t>
            </a:r>
          </a:p>
          <a:p>
            <a:r>
              <a:t>    "dataset_sha256": "96814ea63d89b98af7f87c5f6d8e5fe0f35ec710c30755c9d0723fbec4ddbe2a"</a:t>
            </a:r>
          </a:p>
          <a:p>
            <a:r>
              <a:t>  }</a:t>
            </a:r>
          </a:p>
          <a:p>
            <a:r>
              <a:t>}</a:t>
            </a:r>
          </a:p>
          <a:p>
            <a:r>
              <a:t>All times are Europe/Paris (CEST) as recorded in the manifests. The build verifies unique request IDs, successful HTTP responses, matching question keys, no cross-split base IDs, input fingerprints, and saved metrics versus freshly recomputed metrics. Numerical floating-point differences up to1e-12are accepted. Theme and slide masters are inherited from the user-supplied reference. This deck is derived from the completed results only.</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Full provenance of experiment 2:</a:t>
            </a:r>
          </a:p>
          <a:p>
            <a:r>
              <a:t>{</a:t>
            </a:r>
          </a:p>
          <a:p>
            <a:r>
              <a:t>  "kev-0.8b": {</a:t>
            </a:r>
          </a:p>
          <a:p>
            <a:r>
              <a:t>    "job": "8.0",</a:t>
            </a:r>
          </a:p>
          <a:p>
            <a:r>
              <a:t>    "revision": "bf75a6a8848ea6960ff2ed108d9ed44c2941174f",</a:t>
            </a:r>
          </a:p>
          <a:p>
            <a:r>
              <a:t>    "answers_file": "results/kev/dataset_v1_fewshot3_kev-0.8b_20261016/dataset_v1_fewshot3__kev-0.8b.jsonl",</a:t>
            </a:r>
          </a:p>
          <a:p>
            <a:r>
              <a:t>    "answers_sha256": "8f99dca6875fb0d3e1347ceec24b5ca87e15305b713faedc4e36d029e9460fad",</a:t>
            </a:r>
          </a:p>
          <a:p>
            <a:r>
              <a:t>    "dataset_sha256": "4c4d74d86c5e96e7440a7fa7716945f9212b3382ad7b6e0584e0414ca53b5f15"</a:t>
            </a:r>
          </a:p>
          <a:p>
            <a:r>
              <a:t>  },</a:t>
            </a:r>
          </a:p>
          <a:p>
            <a:r>
              <a:t>  "kev-4b": {</a:t>
            </a:r>
          </a:p>
          <a:p>
            <a:r>
              <a:t>    "job": "9.0",</a:t>
            </a:r>
          </a:p>
          <a:p>
            <a:r>
              <a:t>    "revision": "6cfce5c2fa4b4bd64026336ab649c5ca78857d52",</a:t>
            </a:r>
          </a:p>
          <a:p>
            <a:r>
              <a:t>    "answers_file": "results/kev/dataset_v1_fewshot3_kev-4b_20261016/dataset_v1_fewshot3__kev-4b.jsonl",</a:t>
            </a:r>
          </a:p>
          <a:p>
            <a:r>
              <a:t>    "answers_sha256": "e09c42166afd73b1e8dbde69b397e057b8de695bfddcfd6a5650bf8e664ec13f",</a:t>
            </a:r>
          </a:p>
          <a:p>
            <a:r>
              <a:t>    "dataset_sha256": "4c4d74d86c5e96e7440a7fa7716945f9212b3382ad7b6e0584e0414ca53b5f15"</a:t>
            </a:r>
          </a:p>
          <a:p>
            <a:r>
              <a:t>  },</a:t>
            </a:r>
          </a:p>
          <a:p>
            <a:r>
              <a:t>  "kev-9b": {</a:t>
            </a:r>
          </a:p>
          <a:p>
            <a:r>
              <a:t>    "job": "10.0",</a:t>
            </a:r>
          </a:p>
          <a:p>
            <a:r>
              <a:t>    "revision": "db029f08b290afd9fee4aa4bbcd9ae48602d1eb0",</a:t>
            </a:r>
          </a:p>
          <a:p>
            <a:r>
              <a:t>    "answers_file": "results/kev/dataset_v1_fewshot3_kev-9b_20261016/dataset_v1_fewshot3__kev-9b.jsonl",</a:t>
            </a:r>
          </a:p>
          <a:p>
            <a:r>
              <a:t>    "answers_sha256": "b71ac8dd4a892adcfe5471e56ae757f62889a420024fa706eb2f93fea7b3cf5b",</a:t>
            </a:r>
          </a:p>
          <a:p>
            <a:r>
              <a:t>    "dataset_sha256": "4c4d74d86c5e96e7440a7fa7716945f9212b3382ad7b6e0584e0414ca53b5f15"</a:t>
            </a:r>
          </a:p>
          <a:p>
            <a:r>
              <a:t>  },</a:t>
            </a:r>
          </a:p>
          <a:p>
            <a:r>
              <a:t>  "kev-27b": {</a:t>
            </a:r>
          </a:p>
          <a:p>
            <a:r>
              <a:t>    "job": "11.0",</a:t>
            </a:r>
          </a:p>
          <a:p>
            <a:r>
              <a:t>    "revision": "af0e6d551bdc2cc724f3e9d7a8bee1cd4fb8f7bf",</a:t>
            </a:r>
          </a:p>
          <a:p>
            <a:r>
              <a:t>    "answers_file": "results/kev/dataset_v1_fewshot3_kev-27b_20261016/dataset_v1_fewshot3__kev-27b.jsonl",</a:t>
            </a:r>
          </a:p>
          <a:p>
            <a:r>
              <a:t>    "answers_sha256": "6df2d313de200b3c7b222a8b607ea5de9f2ac53a26c6d96b4d9c357b6abf4fea",</a:t>
            </a:r>
          </a:p>
          <a:p>
            <a:r>
              <a:t>    "dataset_sha256": "4c4d74d86c5e96e7440a7fa7716945f9212b3382ad7b6e0584e0414ca53b5f15"</a:t>
            </a:r>
          </a:p>
          <a:p>
            <a:r>
              <a:t>  }</a:t>
            </a:r>
          </a:p>
          <a:p>
            <a:r>
              <a:t>}</a:t>
            </a:r>
          </a:p>
          <a:p>
            <a:r>
              <a:t>The question file comes from dataset_v1.jsonl with SHA-256 96814ea63d89b98af7f87c5f6d8e5fe0f35ec710c30755c9d0723fbec4ddbe2a, the file of experiment 1 (checked in each manifest). All times are the local time of mercury (CEST) as written in the manifests. The build checks: one answer per question ID, HTTP 200, the answer key of each question, server input tokens equal to the builder counts, the smoke answers, the saved scores against fresh scores, and every paired comparison against compare_with_dataset_v1.json. The checkpoint revisions are equal to those of experiment 1.</a:t>
            </a:r>
          </a:p>
          <a:p/>
          <a:p>
            <a:r>
              <a:t>Evidence and reproducibility</a:t>
            </a:r>
          </a:p>
          <a:p>
            <a:r>
              <a:t>data/questions/dataset_v1_fewshot3.jsonl; results/kev/dataset_v1_fewshot3_*/dataset_v1_fewshot3__*.jsonl; results/kev/*/dataset_v1__*.jsonl (experiment 1); harness/score.py; harness/compare.py</a:t>
            </a:r>
          </a:p>
          <a:p>
            <a:r>
              <a:t>All numerical results use the held-out test split unless explicitly labelled otherwise.</a:t>
            </a:r>
          </a:p>
          <a:p>
            <a:r>
              <a:t>Dataset SHA-256: 4c4d74d86c5e96e7440a7fa7716945f9212b3382ad7b6e0584e0414ca53b5f15 (experiment 2); 96814ea63d89b98af7f87c5f6d8e5fe0f35ec710c30755c9d0723fbec4ddbe2a (experiment 1, the source).</a:t>
            </a:r>
          </a:p>
          <a:p>
            <a:r>
              <a:t>Verified calculations: presentations/data/verified_metrics_fewshot3.json and compare_fewshot3.csv.</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Rounded Rectangle 1"/>
          <p:cNvSpPr/>
          <p:nvPr/>
        </p:nvSpPr>
        <p:spPr>
          <a:xfrm>
            <a:off x="8549640" y="1325880"/>
            <a:ext cx="1828800" cy="1828800"/>
          </a:xfrm>
          <a:prstGeom prst="roundRect">
            <a:avLst>
              <a:gd name="adj" fmla="val 6000"/>
            </a:avLst>
          </a:prstGeom>
          <a:noFill/>
          <a:ln w="12700">
            <a:solidFill>
              <a:srgbClr val="1D8D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1783080"/>
            <a:ext cx="9144000" cy="32004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RTL TOOL OUTCOMES  •  KEV v1.0</a:t>
            </a:r>
          </a:p>
        </p:txBody>
      </p:sp>
      <p:sp>
        <p:nvSpPr>
          <p:cNvPr id="4" name="TextBox 3"/>
          <p:cNvSpPr txBox="1"/>
          <p:nvPr/>
        </p:nvSpPr>
        <p:spPr>
          <a:xfrm>
            <a:off x="813816" y="2331720"/>
            <a:ext cx="8321040" cy="1481328"/>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What can KEV tell us</a:t>
            </a:r>
          </a:p>
          <a:p>
            <a:pPr algn="l">
              <a:lnSpc>
                <a:spcPct val="109000"/>
              </a:lnSpc>
              <a:spcBef>
                <a:spcPts val="0"/>
              </a:spcBef>
              <a:spcAft>
                <a:spcPts val="0"/>
              </a:spcAft>
            </a:pPr>
            <a:r>
              <a:rPr sz="4300" b="1">
                <a:solidFill>
                  <a:srgbClr val="FFFFFF"/>
                </a:solidFill>
                <a:latin typeface="Arial"/>
              </a:rPr>
              <a:t>about an RTL design?</a:t>
            </a:r>
          </a:p>
        </p:txBody>
      </p:sp>
      <p:sp>
        <p:nvSpPr>
          <p:cNvPr id="5" name="TextBox 4"/>
          <p:cNvSpPr txBox="1"/>
          <p:nvPr/>
        </p:nvSpPr>
        <p:spPr>
          <a:xfrm>
            <a:off x="813816" y="4160520"/>
            <a:ext cx="9052560" cy="77724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The tests, the completed Condor runs, and what the scores mean</a:t>
            </a:r>
          </a:p>
        </p:txBody>
      </p:sp>
      <p:sp>
        <p:nvSpPr>
          <p:cNvPr id="6" name="TextBox 5"/>
          <p:cNvSpPr txBox="1"/>
          <p:nvPr/>
        </p:nvSpPr>
        <p:spPr>
          <a:xfrm>
            <a:off x="813816" y="5596128"/>
            <a:ext cx="10424160" cy="68580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BFDDEC"/>
                </a:solidFill>
                <a:latin typeface="Arial"/>
              </a:rPr>
              <a:t>Four model sizes  •  151 retained designs  •  725 held-out questions</a:t>
            </a:r>
          </a:p>
          <a:p>
            <a:pPr algn="l">
              <a:lnSpc>
                <a:spcPct val="109000"/>
              </a:lnSpc>
              <a:spcBef>
                <a:spcPts val="0"/>
              </a:spcBef>
              <a:spcAft>
                <a:spcPts val="0"/>
              </a:spcAft>
            </a:pPr>
            <a:r>
              <a:rPr sz="1600" b="0">
                <a:solidFill>
                  <a:srgbClr val="BFDDEC"/>
                </a:solidFill>
                <a:latin typeface="Arial"/>
              </a:rPr>
              <a:t>Experiment 1: no examples (15 October 2026)  •  Experiment 2: three solved examples (16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completed runs show</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Different tasks reveal different strengths. A single pooled score hides important failures.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OVERVIEW</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a:t>
            </a:r>
          </a:p>
        </p:txBody>
      </p:sp>
      <p:sp>
        <p:nvSpPr>
          <p:cNvPr id="7" name="Rounded Rectangle 6"/>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1828800"/>
            <a:ext cx="338328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Better with 27B</a:t>
            </a:r>
          </a:p>
        </p:txBody>
      </p:sp>
      <p:sp>
        <p:nvSpPr>
          <p:cNvPr id="10" name="TextBox 9"/>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Compilation errors:</a:t>
            </a:r>
          </a:p>
          <a:p>
            <a:pPr algn="l">
              <a:lnSpc>
                <a:spcPct val="109000"/>
              </a:lnSpc>
              <a:spcBef>
                <a:spcPts val="0"/>
              </a:spcBef>
              <a:spcAft>
                <a:spcPts val="0"/>
              </a:spcAft>
            </a:pPr>
            <a:r>
              <a:rPr sz="1900" b="0">
                <a:solidFill>
                  <a:srgbClr val="00407A"/>
                </a:solidFill>
                <a:latin typeface="Arial"/>
              </a:rPr>
              <a:t>8 of 9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Area levels:</a:t>
            </a:r>
          </a:p>
          <a:p>
            <a:pPr algn="l">
              <a:lnSpc>
                <a:spcPct val="109000"/>
              </a:lnSpc>
              <a:spcBef>
                <a:spcPts val="0"/>
              </a:spcBef>
              <a:spcAft>
                <a:spcPts val="0"/>
              </a:spcAft>
            </a:pPr>
            <a:r>
              <a:rPr sz="1900" b="0">
                <a:solidFill>
                  <a:srgbClr val="00407A"/>
                </a:solidFill>
                <a:latin typeface="Arial"/>
              </a:rPr>
              <a:t>61 of 92 exactly right</a:t>
            </a:r>
          </a:p>
        </p:txBody>
      </p:sp>
      <p:sp>
        <p:nvSpPr>
          <p:cNvPr id="11" name="Rounded Rectangle 10"/>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Synthesis is weak</a:t>
            </a:r>
          </a:p>
        </p:txBody>
      </p:sp>
      <p:sp>
        <p:nvSpPr>
          <p:cNvPr id="14" name="TextBox 13"/>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Synthesis failures:</a:t>
            </a:r>
          </a:p>
          <a:p>
            <a:pPr algn="l">
              <a:lnSpc>
                <a:spcPct val="109000"/>
              </a:lnSpc>
              <a:spcBef>
                <a:spcPts val="0"/>
              </a:spcBef>
              <a:spcAft>
                <a:spcPts val="0"/>
              </a:spcAft>
            </a:pPr>
            <a:r>
              <a:rPr sz="1900" b="0">
                <a:solidFill>
                  <a:srgbClr val="00407A"/>
                </a:solidFill>
                <a:latin typeface="Arial"/>
              </a:rPr>
              <a:t>4 of 24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Failure reasons:</a:t>
            </a:r>
          </a:p>
          <a:p>
            <a:pPr algn="l">
              <a:lnSpc>
                <a:spcPct val="109000"/>
              </a:lnSpc>
              <a:spcBef>
                <a:spcPts val="0"/>
              </a:spcBef>
              <a:spcAft>
                <a:spcPts val="0"/>
              </a:spcAft>
            </a:pPr>
            <a:r>
              <a:rPr sz="1900" b="0">
                <a:solidFill>
                  <a:srgbClr val="00407A"/>
                </a:solidFill>
                <a:latin typeface="Arial"/>
              </a:rPr>
              <a:t>15 of 16 right when</a:t>
            </a:r>
          </a:p>
          <a:p>
            <a:pPr algn="l">
              <a:lnSpc>
                <a:spcPct val="109000"/>
              </a:lnSpc>
              <a:spcBef>
                <a:spcPts val="0"/>
              </a:spcBef>
              <a:spcAft>
                <a:spcPts val="0"/>
              </a:spcAft>
            </a:pPr>
            <a:r>
              <a:rPr sz="1900" b="0">
                <a:solidFill>
                  <a:srgbClr val="00407A"/>
                </a:solidFill>
                <a:latin typeface="Arial"/>
              </a:rPr>
              <a:t>failure is supplied</a:t>
            </a:r>
          </a:p>
        </p:txBody>
      </p:sp>
      <p:sp>
        <p:nvSpPr>
          <p:cNvPr id="15" name="Rounded Rectangle 14"/>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91856" y="1828800"/>
            <a:ext cx="3383280" cy="41148"/>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No single winner</a:t>
            </a:r>
          </a:p>
        </p:txBody>
      </p:sp>
      <p:sp>
        <p:nvSpPr>
          <p:cNvPr id="18" name="TextBox 17"/>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9B leads area ranking.</a:t>
            </a:r>
          </a:p>
          <a:p>
            <a:pPr algn="l">
              <a:lnSpc>
                <a:spcPct val="109000"/>
              </a:lnSpc>
              <a:spcBef>
                <a:spcPts val="0"/>
              </a:spcBef>
              <a:spcAft>
                <a:spcPts val="0"/>
              </a:spcAft>
            </a:pPr>
            <a:r>
              <a:rPr sz="1800" b="0">
                <a:solidFill>
                  <a:srgbClr val="00407A"/>
                </a:solidFill>
                <a:latin typeface="Arial"/>
              </a:rPr>
              <a:t>27B leads power ranking.</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Absolute power and</a:t>
            </a:r>
          </a:p>
          <a:p>
            <a:pPr algn="l">
              <a:lnSpc>
                <a:spcPct val="109000"/>
              </a:lnSpc>
              <a:spcBef>
                <a:spcPts val="0"/>
              </a:spcBef>
              <a:spcAft>
                <a:spcPts val="0"/>
              </a:spcAft>
            </a:pPr>
            <a:r>
              <a:rPr sz="1800" b="0">
                <a:solidFill>
                  <a:srgbClr val="00407A"/>
                </a:solidFill>
                <a:latin typeface="Arial"/>
              </a:rPr>
              <a:t>clock-frequency levels</a:t>
            </a:r>
          </a:p>
          <a:p>
            <a:pPr algn="l">
              <a:lnSpc>
                <a:spcPct val="109000"/>
              </a:lnSpc>
              <a:spcBef>
                <a:spcPts val="0"/>
              </a:spcBef>
              <a:spcAft>
                <a:spcPts val="0"/>
              </a:spcAft>
            </a:pPr>
            <a:r>
              <a:rPr sz="1800" b="0">
                <a:solidFill>
                  <a:srgbClr val="00407A"/>
                </a:solidFill>
                <a:latin typeface="Arial"/>
              </a:rPr>
              <a:t>remain unreliable.</a:t>
            </a:r>
          </a:p>
        </p:txBody>
      </p:sp>
      <p:sp>
        <p:nvSpPr>
          <p:cNvPr id="19" name="Rounded Rectangle 1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four runs completed. Every model answered every test question; missing data does not explain the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three solved examples change</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Experiment 2: the same 725 test questions, each with three solved examples before the design.</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OVERVIEW</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a:t>
            </a:r>
          </a:p>
        </p:txBody>
      </p:sp>
      <p:sp>
        <p:nvSpPr>
          <p:cNvPr id="7" name="Rounded Rectangle 6"/>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1828800"/>
            <a:ext cx="338328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Better with 27B</a:t>
            </a:r>
          </a:p>
        </p:txBody>
      </p:sp>
      <p:sp>
        <p:nvSpPr>
          <p:cNvPr id="10" name="TextBox 9"/>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Synthesis failures:</a:t>
            </a:r>
          </a:p>
          <a:p>
            <a:pPr algn="l">
              <a:lnSpc>
                <a:spcPct val="109000"/>
              </a:lnSpc>
              <a:spcBef>
                <a:spcPts val="0"/>
              </a:spcBef>
              <a:spcAft>
                <a:spcPts val="0"/>
              </a:spcAft>
            </a:pPr>
            <a:r>
              <a:rPr sz="1900" b="0">
                <a:solidFill>
                  <a:srgbClr val="00407A"/>
                </a:solidFill>
                <a:latin typeface="Arial"/>
              </a:rPr>
              <a:t>12 of 24 detected</a:t>
            </a:r>
          </a:p>
          <a:p>
            <a:pPr algn="l">
              <a:lnSpc>
                <a:spcPct val="109000"/>
              </a:lnSpc>
              <a:spcBef>
                <a:spcPts val="0"/>
              </a:spcBef>
              <a:spcAft>
                <a:spcPts val="0"/>
              </a:spcAft>
            </a:pPr>
            <a:r>
              <a:rPr sz="1900" b="0">
                <a:solidFill>
                  <a:srgbClr val="00407A"/>
                </a:solidFill>
                <a:latin typeface="Arial"/>
              </a:rPr>
              <a:t>(4 without examples)</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Power levels:</a:t>
            </a:r>
          </a:p>
          <a:p>
            <a:pPr algn="l">
              <a:lnSpc>
                <a:spcPct val="109000"/>
              </a:lnSpc>
              <a:spcBef>
                <a:spcPts val="0"/>
              </a:spcBef>
              <a:spcAft>
                <a:spcPts val="0"/>
              </a:spcAft>
            </a:pPr>
            <a:r>
              <a:rPr sz="1900" b="0">
                <a:solidFill>
                  <a:srgbClr val="00407A"/>
                </a:solidFill>
                <a:latin typeface="Arial"/>
              </a:rPr>
              <a:t>36 of 85 exactly right</a:t>
            </a:r>
          </a:p>
          <a:p>
            <a:pPr algn="l">
              <a:lnSpc>
                <a:spcPct val="109000"/>
              </a:lnSpc>
              <a:spcBef>
                <a:spcPts val="0"/>
              </a:spcBef>
              <a:spcAft>
                <a:spcPts val="0"/>
              </a:spcAft>
            </a:pPr>
            <a:r>
              <a:rPr sz="1900" b="0">
                <a:solidFill>
                  <a:srgbClr val="00407A"/>
                </a:solidFill>
                <a:latin typeface="Arial"/>
              </a:rPr>
              <a:t>(9 without examples)</a:t>
            </a:r>
          </a:p>
        </p:txBody>
      </p:sp>
      <p:sp>
        <p:nvSpPr>
          <p:cNvPr id="11" name="Rounded Rectangle 10"/>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Pairs: 27B leads</a:t>
            </a:r>
          </a:p>
        </p:txBody>
      </p:sp>
      <p:sp>
        <p:nvSpPr>
          <p:cNvPr id="14" name="TextBox 13"/>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Views answered right</a:t>
            </a:r>
          </a:p>
          <a:p>
            <a:pPr algn="l">
              <a:lnSpc>
                <a:spcPct val="109000"/>
              </a:lnSpc>
              <a:spcBef>
                <a:spcPts val="0"/>
              </a:spcBef>
              <a:spcAft>
                <a:spcPts val="0"/>
              </a:spcAft>
            </a:pPr>
            <a:r>
              <a:rPr sz="1900" b="0">
                <a:solidFill>
                  <a:srgbClr val="00407A"/>
                </a:solidFill>
                <a:latin typeface="Arial"/>
              </a:rPr>
              <a:t>(without examples):</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Area: 41 of 46 (36)</a:t>
            </a:r>
          </a:p>
          <a:p>
            <a:pPr algn="l">
              <a:lnSpc>
                <a:spcPct val="109000"/>
              </a:lnSpc>
              <a:spcBef>
                <a:spcPts val="0"/>
              </a:spcBef>
              <a:spcAft>
                <a:spcPts val="0"/>
              </a:spcAft>
            </a:pPr>
            <a:r>
              <a:rPr sz="1900" b="0">
                <a:solidFill>
                  <a:srgbClr val="00407A"/>
                </a:solidFill>
                <a:latin typeface="Arial"/>
              </a:rPr>
              <a:t>Power: 35 of 44 (31)</a:t>
            </a:r>
          </a:p>
          <a:p>
            <a:pPr algn="l">
              <a:lnSpc>
                <a:spcPct val="109000"/>
              </a:lnSpc>
              <a:spcBef>
                <a:spcPts val="0"/>
              </a:spcBef>
              <a:spcAft>
                <a:spcPts val="0"/>
              </a:spcAft>
            </a:pPr>
            <a:r>
              <a:rPr sz="1900" b="0">
                <a:solidFill>
                  <a:srgbClr val="00407A"/>
                </a:solidFill>
                <a:latin typeface="Arial"/>
              </a:rPr>
              <a:t>Frequency: 11 of 12 (10)</a:t>
            </a:r>
          </a:p>
        </p:txBody>
      </p:sp>
      <p:sp>
        <p:nvSpPr>
          <p:cNvPr id="15" name="Rounded Rectangle 14"/>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91856" y="1828800"/>
            <a:ext cx="3383280" cy="41148"/>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Worse with examples</a:t>
            </a:r>
          </a:p>
        </p:txBody>
      </p:sp>
      <p:sp>
        <p:nvSpPr>
          <p:cNvPr id="18" name="TextBox 17"/>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27B area levels:</a:t>
            </a:r>
          </a:p>
          <a:p>
            <a:pPr algn="l">
              <a:lnSpc>
                <a:spcPct val="109000"/>
              </a:lnSpc>
              <a:spcBef>
                <a:spcPts val="0"/>
              </a:spcBef>
              <a:spcAft>
                <a:spcPts val="0"/>
              </a:spcAft>
            </a:pPr>
            <a:r>
              <a:rPr sz="1800" b="0">
                <a:solidFill>
                  <a:srgbClr val="00407A"/>
                </a:solidFill>
                <a:latin typeface="Arial"/>
              </a:rPr>
              <a:t>48 of 92 exactly right</a:t>
            </a:r>
          </a:p>
          <a:p>
            <a:pPr algn="l">
              <a:lnSpc>
                <a:spcPct val="109000"/>
              </a:lnSpc>
              <a:spcBef>
                <a:spcPts val="0"/>
              </a:spcBef>
              <a:spcAft>
                <a:spcPts val="0"/>
              </a:spcAft>
            </a:pPr>
            <a:r>
              <a:rPr sz="1800" b="0">
                <a:solidFill>
                  <a:srgbClr val="00407A"/>
                </a:solidFill>
                <a:latin typeface="Arial"/>
              </a:rPr>
              <a:t>(61 without examples)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KEV-0.8B gives one</a:t>
            </a:r>
          </a:p>
          <a:p>
            <a:pPr algn="l">
              <a:lnSpc>
                <a:spcPct val="109000"/>
              </a:lnSpc>
              <a:spcBef>
                <a:spcPts val="0"/>
              </a:spcBef>
              <a:spcAft>
                <a:spcPts val="0"/>
              </a:spcAft>
            </a:pPr>
            <a:r>
              <a:rPr sz="1800" b="0">
                <a:solidFill>
                  <a:srgbClr val="00407A"/>
                </a:solidFill>
                <a:latin typeface="Arial"/>
              </a:rPr>
              <a:t>answer to every design</a:t>
            </a:r>
          </a:p>
          <a:p>
            <a:pPr algn="l">
              <a:lnSpc>
                <a:spcPct val="109000"/>
              </a:lnSpc>
              <a:spcBef>
                <a:spcPts val="0"/>
              </a:spcBef>
              <a:spcAft>
                <a:spcPts val="0"/>
              </a:spcAft>
            </a:pPr>
            <a:r>
              <a:rPr sz="1800" b="0">
                <a:solidFill>
                  <a:srgbClr val="00407A"/>
                </a:solidFill>
                <a:latin typeface="Arial"/>
              </a:rPr>
              <a:t>in 6 of 10 questions</a:t>
            </a:r>
          </a:p>
        </p:txBody>
      </p:sp>
      <p:sp>
        <p:nvSpPr>
          <p:cNvPr id="19" name="Rounded Rectangle 1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With examples, no power or timing level score beats a constant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Compilation and synthesis answer different questions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RTL = register-transfer level: source code that describes digital hardware.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compile?</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the simulator compiler</a:t>
            </a:r>
          </a:p>
          <a:p>
            <a:pPr algn="l">
              <a:lnSpc>
                <a:spcPct val="109000"/>
              </a:lnSpc>
              <a:spcBef>
                <a:spcPts val="0"/>
              </a:spcBef>
              <a:spcAft>
                <a:spcPts val="0"/>
              </a:spcAft>
            </a:pPr>
            <a:r>
              <a:rPr sz="1800" b="0">
                <a:solidFill>
                  <a:srgbClr val="00407A"/>
                </a:solidFill>
                <a:latin typeface="Arial"/>
              </a:rPr>
              <a:t>accept the source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Reference: QuestaSim</a:t>
            </a:r>
          </a:p>
          <a:p>
            <a:pPr algn="l">
              <a:lnSpc>
                <a:spcPct val="109000"/>
              </a:lnSpc>
              <a:spcBef>
                <a:spcPts val="0"/>
              </a:spcBef>
              <a:spcAft>
                <a:spcPts val="0"/>
              </a:spcAft>
            </a:pPr>
            <a:r>
              <a:rPr sz="1800" b="0">
                <a:solidFill>
                  <a:srgbClr val="00407A"/>
                </a:solidFill>
                <a:latin typeface="Arial"/>
              </a:rPr>
              <a:t>vlog -sv.</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test whether</a:t>
            </a:r>
          </a:p>
          <a:p>
            <a:pPr algn="l">
              <a:lnSpc>
                <a:spcPct val="109000"/>
              </a:lnSpc>
              <a:spcBef>
                <a:spcPts val="0"/>
              </a:spcBef>
              <a:spcAft>
                <a:spcPts val="0"/>
              </a:spcAft>
            </a:pPr>
            <a:r>
              <a:rPr sz="1800" b="0">
                <a:solidFill>
                  <a:srgbClr val="00407A"/>
                </a:solidFill>
                <a:latin typeface="Arial"/>
              </a:rPr>
              <a:t>the circuit is correct.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synthesize?</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Design Compiler build</a:t>
            </a:r>
          </a:p>
          <a:p>
            <a:pPr algn="l">
              <a:lnSpc>
                <a:spcPct val="109000"/>
              </a:lnSpc>
              <a:spcBef>
                <a:spcPts val="0"/>
              </a:spcBef>
              <a:spcAft>
                <a:spcPts val="0"/>
              </a:spcAft>
            </a:pPr>
            <a:r>
              <a:rPr sz="1800" b="0">
                <a:solidFill>
                  <a:srgbClr val="00407A"/>
                </a:solidFill>
                <a:latin typeface="Arial"/>
              </a:rPr>
              <a:t>a complete gate-level</a:t>
            </a:r>
          </a:p>
          <a:p>
            <a:pPr algn="l">
              <a:lnSpc>
                <a:spcPct val="109000"/>
              </a:lnSpc>
              <a:spcBef>
                <a:spcPts val="0"/>
              </a:spcBef>
              <a:spcAft>
                <a:spcPts val="0"/>
              </a:spcAft>
            </a:pPr>
            <a:r>
              <a:rPr sz="1800" b="0">
                <a:solidFill>
                  <a:srgbClr val="00407A"/>
                </a:solidFill>
                <a:latin typeface="Arial"/>
              </a:rPr>
              <a:t>netlist from the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unresolved modules.</a:t>
            </a:r>
          </a:p>
          <a:p>
            <a:pPr algn="l">
              <a:lnSpc>
                <a:spcPct val="109000"/>
              </a:lnSpc>
              <a:spcBef>
                <a:spcPts val="0"/>
              </a:spcBef>
              <a:spcAft>
                <a:spcPts val="0"/>
              </a:spcAft>
            </a:pPr>
            <a:r>
              <a:rPr sz="1800" b="0">
                <a:solidFill>
                  <a:srgbClr val="00407A"/>
                </a:solidFill>
                <a:latin typeface="Arial"/>
              </a:rPr>
              <a:t>All registers map to cells.</a:t>
            </a:r>
          </a:p>
          <a:p>
            <a:pPr algn="l">
              <a:lnSpc>
                <a:spcPct val="109000"/>
              </a:lnSpc>
              <a:spcBef>
                <a:spcPts val="0"/>
              </a:spcBef>
              <a:spcAft>
                <a:spcPts val="0"/>
              </a:spcAft>
            </a:pPr>
            <a:r>
              <a:rPr sz="1800" b="0">
                <a:solidFill>
                  <a:srgbClr val="00407A"/>
                </a:solidFill>
                <a:latin typeface="Arial"/>
              </a:rPr>
              <a:t>No synthesis errors.</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does it cost?</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Estimate cell area, power,</a:t>
            </a:r>
          </a:p>
          <a:p>
            <a:pPr algn="l">
              <a:lnSpc>
                <a:spcPct val="109000"/>
              </a:lnSpc>
              <a:spcBef>
                <a:spcPts val="0"/>
              </a:spcBef>
              <a:spcAft>
                <a:spcPts val="0"/>
              </a:spcAft>
            </a:pPr>
            <a:r>
              <a:rPr sz="1800" b="0">
                <a:solidFill>
                  <a:srgbClr val="00407A"/>
                </a:solidFill>
                <a:latin typeface="Arial"/>
              </a:rPr>
              <a:t>and timing from the RTL.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The reference comes from</a:t>
            </a:r>
          </a:p>
          <a:p>
            <a:pPr algn="l">
              <a:lnSpc>
                <a:spcPct val="109000"/>
              </a:lnSpc>
              <a:spcBef>
                <a:spcPts val="0"/>
              </a:spcBef>
              <a:spcAft>
                <a:spcPts val="0"/>
              </a:spcAft>
            </a:pPr>
            <a:r>
              <a:rPr sz="1800" b="0">
                <a:solidFill>
                  <a:srgbClr val="00407A"/>
                </a:solidFill>
                <a:latin typeface="Arial"/>
              </a:rPr>
              <a:t>synthesis and power tools.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fabricated-chip or</a:t>
            </a:r>
          </a:p>
          <a:p>
            <a:pPr algn="l">
              <a:lnSpc>
                <a:spcPct val="109000"/>
              </a:lnSpc>
              <a:spcBef>
                <a:spcPts val="0"/>
              </a:spcBef>
              <a:spcAft>
                <a:spcPts val="0"/>
              </a:spcAft>
            </a:pPr>
            <a:r>
              <a:rPr sz="1800" b="0">
                <a:solidFill>
                  <a:srgbClr val="00407A"/>
                </a:solidFill>
                <a:latin typeface="Arial"/>
              </a:rPr>
              <a:t>post-route measurement.</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In the test set, 15 designs compile successfully but still fail synthesis.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dataset and the held-out test set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One model request can contain several questions. Questions are not independent design samples.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a:t>
            </a:r>
          </a:p>
        </p:txBody>
      </p:sp>
      <p:sp>
        <p:nvSpPr>
          <p:cNvPr id="6" name="Rounded Rectangle 5"/>
          <p:cNvSpPr/>
          <p:nvPr/>
        </p:nvSpPr>
        <p:spPr>
          <a:xfrm>
            <a:off x="81381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151</a:t>
            </a:r>
          </a:p>
        </p:txBody>
      </p:sp>
      <p:sp>
        <p:nvSpPr>
          <p:cNvPr id="8" name="TextBox 7"/>
          <p:cNvSpPr txBox="1"/>
          <p:nvPr/>
        </p:nvSpPr>
        <p:spPr>
          <a:xfrm>
            <a:off x="209397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retained designs</a:t>
            </a:r>
          </a:p>
        </p:txBody>
      </p:sp>
      <p:sp>
        <p:nvSpPr>
          <p:cNvPr id="9" name="Rounded Rectangle 8"/>
          <p:cNvSpPr/>
          <p:nvPr/>
        </p:nvSpPr>
        <p:spPr>
          <a:xfrm>
            <a:off x="4398264"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144"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348</a:t>
            </a:r>
          </a:p>
        </p:txBody>
      </p:sp>
      <p:sp>
        <p:nvSpPr>
          <p:cNvPr id="11" name="TextBox 10"/>
          <p:cNvSpPr txBox="1"/>
          <p:nvPr/>
        </p:nvSpPr>
        <p:spPr>
          <a:xfrm>
            <a:off x="5678423"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requests across both splits</a:t>
            </a:r>
          </a:p>
        </p:txBody>
      </p:sp>
      <p:sp>
        <p:nvSpPr>
          <p:cNvPr id="12" name="Rounded Rectangle 11"/>
          <p:cNvSpPr/>
          <p:nvPr/>
        </p:nvSpPr>
        <p:spPr>
          <a:xfrm>
            <a:off x="799185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875</a:t>
            </a:r>
          </a:p>
        </p:txBody>
      </p:sp>
      <p:sp>
        <p:nvSpPr>
          <p:cNvPr id="14" name="TextBox 13"/>
          <p:cNvSpPr txBox="1"/>
          <p:nvPr/>
        </p:nvSpPr>
        <p:spPr>
          <a:xfrm>
            <a:off x="927201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questions across both splits</a:t>
            </a:r>
          </a:p>
        </p:txBody>
      </p:sp>
      <p:graphicFrame>
        <p:nvGraphicFramePr>
          <p:cNvPr id="15" name="Table 14"/>
          <p:cNvGraphicFramePr>
            <a:graphicFrameLocks noGrp="1"/>
          </p:cNvGraphicFramePr>
          <p:nvPr/>
        </p:nvGraphicFramePr>
        <p:xfrm>
          <a:off x="813816" y="3200400"/>
          <a:ext cx="10561320" cy="2285998"/>
        </p:xfrm>
        <a:graphic>
          <a:graphicData uri="http://schemas.openxmlformats.org/drawingml/2006/table">
            <a:tbl>
              <a:tblPr firstRow="1" bandRow="1">
                <a:tableStyleId>{5C22544A-7EE6-4342-B048-85BDC9FD1C3A}</a:tableStyleId>
              </a:tblPr>
              <a:tblGrid>
                <a:gridCol w="2971800"/>
                <a:gridCol w="1097280"/>
                <a:gridCol w="1143000"/>
                <a:gridCol w="5349240"/>
              </a:tblGrid>
              <a:tr h="566928">
                <a:tc>
                  <a:txBody>
                    <a:bodyPr/>
                    <a:lstStyle/>
                    <a:p>
                      <a:pPr algn="l">
                        <a:lnSpc>
                          <a:spcPct val="103000"/>
                        </a:lnSpc>
                        <a:spcBef>
                          <a:spcPts val="0"/>
                        </a:spcBef>
                        <a:spcAft>
                          <a:spcPts val="0"/>
                        </a:spcAft>
                      </a:pPr>
                      <a:r>
                        <a:rPr sz="1400" b="1">
                          <a:solidFill>
                            <a:srgbClr val="FFFFFF"/>
                          </a:solidFill>
                          <a:latin typeface="Arial"/>
                        </a:rPr>
                        <a:t>Held-out request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Requests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What is covered</a:t>
                      </a:r>
                    </a:p>
                  </a:txBody>
                  <a:tcPr marL="109728" marR="91440" marT="54864" marB="36576" anchor="ctr">
                    <a:solidFill>
                      <a:srgbClr val="00407A"/>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Basic checks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246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Compilation + synthesis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Failure reason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One of ten reason options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Performance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361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Area, power and two timing levels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Pair comparisons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25 distinct pairs, both orders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TOTAL TEST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725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 individual test designs</a:t>
                      </a:r>
                    </a:p>
                  </a:txBody>
                  <a:tcPr marL="109728" marR="91440" marT="54864" marB="36576" anchor="ctr">
                    <a:solidFill>
                      <a:srgbClr val="E3EFF5"/>
                    </a:solidFill>
                    <a:lnL>
                      <a:noFill/>
                    </a:lnL>
                    <a:lnR>
                      <a:noFill/>
                    </a:lnR>
                    <a:lnT>
                      <a:noFill/>
                    </a:lnT>
                    <a:lnB>
                      <a:noFill/>
                    </a:lnB>
                  </a:tcPr>
                </a:tc>
              </a:tr>
            </a:tbl>
          </a:graphicData>
        </a:graphic>
      </p:graphicFrame>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Development: 28 designs, 67 requests, 150 questions. Related base designs stay in the same split.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model receives for each test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Tool logs and correct answers are used for scoring; they are not sent to the model.</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6</a:t>
            </a:r>
          </a:p>
        </p:txBody>
      </p:sp>
      <p:sp>
        <p:nvSpPr>
          <p:cNvPr id="6" name="Rounded Rectangle 5"/>
          <p:cNvSpPr/>
          <p:nvPr/>
        </p:nvSpPr>
        <p:spPr>
          <a:xfrm>
            <a:off x="81381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Basic checks</a:t>
            </a:r>
          </a:p>
        </p:txBody>
      </p:sp>
      <p:sp>
        <p:nvSpPr>
          <p:cNvPr id="9" name="TextBox 8"/>
          <p:cNvSpPr txBox="1"/>
          <p:nvPr/>
        </p:nvSpPr>
        <p:spPr>
          <a:xfrm>
            <a:off x="104241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source + top module + tool description.</a:t>
            </a:r>
          </a:p>
          <a:p>
            <a:pPr algn="l">
              <a:lnSpc>
                <a:spcPct val="109000"/>
              </a:lnSpc>
              <a:spcBef>
                <a:spcPts val="0"/>
              </a:spcBef>
              <a:spcAft>
                <a:spcPts val="0"/>
              </a:spcAft>
            </a:pPr>
            <a:r>
              <a:rPr sz="1700" b="0">
                <a:solidFill>
                  <a:srgbClr val="00407A"/>
                </a:solidFill>
                <a:latin typeface="Arial"/>
              </a:rPr>
              <a:t>Questions: does it compile, and does it synthesize?</a:t>
            </a:r>
          </a:p>
        </p:txBody>
      </p:sp>
      <p:sp>
        <p:nvSpPr>
          <p:cNvPr id="10" name="Rounded Rectangle 9"/>
          <p:cNvSpPr/>
          <p:nvPr/>
        </p:nvSpPr>
        <p:spPr>
          <a:xfrm>
            <a:off x="620877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Failure reason</a:t>
            </a:r>
          </a:p>
        </p:txBody>
      </p:sp>
      <p:sp>
        <p:nvSpPr>
          <p:cNvPr id="13" name="TextBox 12"/>
          <p:cNvSpPr txBox="1"/>
          <p:nvPr/>
        </p:nvSpPr>
        <p:spPr>
          <a:xfrm>
            <a:off x="643737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The same source, plus a prompt saying synthesis failed.</a:t>
            </a:r>
          </a:p>
          <a:p>
            <a:pPr algn="l">
              <a:lnSpc>
                <a:spcPct val="109000"/>
              </a:lnSpc>
              <a:spcBef>
                <a:spcPts val="0"/>
              </a:spcBef>
              <a:spcAft>
                <a:spcPts val="0"/>
              </a:spcAft>
            </a:pPr>
            <a:r>
              <a:rPr sz="1700" b="0">
                <a:solidFill>
                  <a:srgbClr val="00407A"/>
                </a:solidFill>
                <a:latin typeface="Arial"/>
              </a:rPr>
              <a:t>Choose one reason from ten descriptions.</a:t>
            </a:r>
          </a:p>
        </p:txBody>
      </p:sp>
      <p:sp>
        <p:nvSpPr>
          <p:cNvPr id="14" name="Rounded Rectangle 13"/>
          <p:cNvSpPr/>
          <p:nvPr/>
        </p:nvSpPr>
        <p:spPr>
          <a:xfrm>
            <a:off x="81381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Performance</a:t>
            </a:r>
          </a:p>
        </p:txBody>
      </p:sp>
      <p:sp>
        <p:nvSpPr>
          <p:cNvPr id="17" name="TextBox 16"/>
          <p:cNvSpPr txBox="1"/>
          <p:nvPr/>
        </p:nvSpPr>
        <p:spPr>
          <a:xfrm>
            <a:off x="104241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 flow + clock target; power also gets its testbench.</a:t>
            </a:r>
          </a:p>
          <a:p>
            <a:pPr algn="l">
              <a:lnSpc>
                <a:spcPct val="109000"/>
              </a:lnSpc>
              <a:spcBef>
                <a:spcPts val="0"/>
              </a:spcBef>
              <a:spcAft>
                <a:spcPts val="0"/>
              </a:spcAft>
            </a:pPr>
            <a:r>
              <a:rPr sz="1700" b="0">
                <a:solidFill>
                  <a:srgbClr val="00407A"/>
                </a:solidFill>
                <a:latin typeface="Arial"/>
              </a:rPr>
              <a:t>Choose a level for each available metric.</a:t>
            </a:r>
          </a:p>
        </p:txBody>
      </p:sp>
      <p:sp>
        <p:nvSpPr>
          <p:cNvPr id="18" name="Rounded Rectangle 17"/>
          <p:cNvSpPr/>
          <p:nvPr/>
        </p:nvSpPr>
        <p:spPr>
          <a:xfrm>
            <a:off x="620877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Pair comparison</a:t>
            </a:r>
          </a:p>
        </p:txBody>
      </p:sp>
      <p:sp>
        <p:nvSpPr>
          <p:cNvPr id="21" name="TextBox 20"/>
          <p:cNvSpPr txBox="1"/>
          <p:nvPr/>
        </p:nvSpPr>
        <p:spPr>
          <a:xfrm>
            <a:off x="643737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Both RTL variants + the same flow and clock.</a:t>
            </a:r>
          </a:p>
          <a:p>
            <a:pPr algn="l">
              <a:lnSpc>
                <a:spcPct val="109000"/>
              </a:lnSpc>
              <a:spcBef>
                <a:spcPts val="0"/>
              </a:spcBef>
              <a:spcAft>
                <a:spcPts val="0"/>
              </a:spcAft>
            </a:pPr>
            <a:r>
              <a:rPr sz="1700" b="0">
                <a:solidFill>
                  <a:srgbClr val="00407A"/>
                </a:solidFill>
                <a:latin typeface="Arial"/>
              </a:rPr>
              <a:t>Power comparisons also share the same testbench.</a:t>
            </a:r>
          </a:p>
        </p:txBody>
      </p:sp>
      <p:sp>
        <p:nvSpPr>
          <p:cNvPr id="22" name="Rounded Rectangle 2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The failure-reason task supplies a key fact that the synthesis yes/no task must discover.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Experiment 2: three solved examples per question</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same 725 test questions, one per request. Only the three examples are new.</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TESTS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a:t>
            </a:r>
          </a:p>
        </p:txBody>
      </p:sp>
      <p:graphicFrame>
        <p:nvGraphicFramePr>
          <p:cNvPr id="7" name="Table 6"/>
          <p:cNvGraphicFramePr>
            <a:graphicFrameLocks noGrp="1"/>
          </p:cNvGraphicFramePr>
          <p:nvPr/>
        </p:nvGraphicFramePr>
        <p:xfrm>
          <a:off x="813816" y="1810512"/>
          <a:ext cx="10561320" cy="3703312"/>
        </p:xfrm>
        <a:graphic>
          <a:graphicData uri="http://schemas.openxmlformats.org/drawingml/2006/table">
            <a:tbl>
              <a:tblPr firstRow="1" bandRow="1">
                <a:tableStyleId>{5C22544A-7EE6-4342-B048-85BDC9FD1C3A}</a:tableStyleId>
              </a:tblPr>
              <a:tblGrid>
                <a:gridCol w="2514600"/>
                <a:gridCol w="8046720"/>
              </a:tblGrid>
              <a:tr h="566928">
                <a:tc>
                  <a:txBody>
                    <a:bodyPr/>
                    <a:lstStyle/>
                    <a:p>
                      <a:pPr algn="l">
                        <a:lnSpc>
                          <a:spcPct val="103000"/>
                        </a:lnSpc>
                        <a:spcBef>
                          <a:spcPts val="0"/>
                        </a:spcBef>
                        <a:spcAft>
                          <a:spcPts val="0"/>
                        </a:spcAft>
                      </a:pPr>
                      <a:r>
                        <a:rPr sz="1500" b="1">
                          <a:solidFill>
                            <a:srgbClr val="FFFFFF"/>
                          </a:solidFill>
                          <a:latin typeface="Arial"/>
                        </a:rPr>
                        <a:t>Question</a:t>
                      </a:r>
                    </a:p>
                  </a:txBody>
                  <a:tcPr marL="109728" marR="91440" marT="54864" marB="36576" anchor="ctr">
                    <a:solidFill>
                      <a:srgbClr val="00407A"/>
                    </a:solidFill>
                    <a:lnL>
                      <a:noFill/>
                    </a:lnL>
                    <a:lnR>
                      <a:noFill/>
                    </a:lnR>
                    <a:lnT>
                      <a:noFill/>
                    </a:lnT>
                    <a:lnB>
                      <a:noFill/>
                    </a:lnB>
                  </a:tcPr>
                </a:tc>
                <a:tc>
                  <a:txBody>
                    <a:bodyPr/>
                    <a:lstStyle/>
                    <a:p>
                      <a:pPr algn="l">
                        <a:lnSpc>
                          <a:spcPct val="103000"/>
                        </a:lnSpc>
                        <a:spcBef>
                          <a:spcPts val="0"/>
                        </a:spcBef>
                        <a:spcAft>
                          <a:spcPts val="0"/>
                        </a:spcAft>
                      </a:pPr>
                      <a:r>
                        <a:rPr sz="1500" b="1">
                          <a:solidFill>
                            <a:srgbClr val="FFFFFF"/>
                          </a:solidFill>
                          <a:latin typeface="Arial"/>
                        </a:rPr>
                        <a:t>The three examples before the design, with their tool result</a:t>
                      </a:r>
                    </a:p>
                  </a:txBody>
                  <a:tcPr marL="109728" marR="91440" marT="54864" marB="36576" anchor="ctr">
                    <a:solidFill>
                      <a:srgbClr val="00407A"/>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Does it compile?</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1 compiles, 2 fail; each failure with its first vlog error</a:t>
                      </a:r>
                    </a:p>
                  </a:txBody>
                  <a:tcPr marL="109728" marR="91440" marT="54864" marB="36576" anchor="ctr">
                    <a:solidFill>
                      <a:srgbClr val="E3EFF5"/>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Does it synthesize?</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1 synthesizes, 2 fail; each failure with its first DC error</a:t>
                      </a:r>
                    </a:p>
                  </a:txBody>
                  <a:tcPr marL="109728" marR="91440" marT="54864" marB="36576" anchor="ctr">
                    <a:solidFill>
                      <a:srgbClr val="FFFFFF"/>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Failure reason</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multiple_drivers, illegal_code and event_list; each with its first DC error</a:t>
                      </a:r>
                    </a:p>
                  </a:txBody>
                  <a:tcPr marL="109728" marR="91440" marT="54864" marB="36576" anchor="ctr">
                    <a:solidFill>
                      <a:srgbClr val="E3EFF5"/>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Slack level</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+0.365 ns (level 2)  •  +0.962 ns (level 3)  •  +1.532 ns (level 5)</a:t>
                      </a:r>
                    </a:p>
                  </a:txBody>
                  <a:tcPr marL="109728" marR="91440" marT="54864" marB="36576" anchor="ctr">
                    <a:solidFill>
                      <a:srgbClr val="FFFFFF"/>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Frequency level</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612 MHz (level 1)  •  2,137 MHz (level 3)  •  3,572 MHz (level 4)</a:t>
                      </a:r>
                    </a:p>
                  </a:txBody>
                  <a:tcPr marL="109728" marR="91440" marT="54864" marB="36576" anchor="ctr">
                    <a:solidFill>
                      <a:srgbClr val="E3EFF5"/>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Area level</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71.5 GE (level 1)  •  1,323.3 GE (level 3)  •  519,474.0 GE (level 5)</a:t>
                      </a:r>
                    </a:p>
                  </a:txBody>
                  <a:tcPr marL="109728" marR="91440" marT="54864" marB="36576" anchor="ctr">
                    <a:solidFill>
                      <a:srgbClr val="FFFFFF"/>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Power level</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12.48 µW (level 2)  •  300.8 µW (level 3)  •  26.2 mW (level 5)</a:t>
                      </a:r>
                    </a:p>
                  </a:txBody>
                  <a:tcPr marL="109728" marR="91440" marT="54864" marB="36576" anchor="ctr">
                    <a:solidFill>
                      <a:srgbClr val="E3EFF5"/>
                    </a:solidFill>
                    <a:lnL>
                      <a:noFill/>
                    </a:lnL>
                    <a:lnR>
                      <a:noFill/>
                    </a:lnR>
                    <a:lnT>
                      <a:noFill/>
                    </a:lnT>
                    <a:lnB>
                      <a:noFill/>
                    </a:lnB>
                  </a:tcPr>
                </a:tc>
              </a:tr>
              <a:tr h="392048">
                <a:tc>
                  <a:txBody>
                    <a:bodyPr/>
                    <a:lstStyle/>
                    <a:p>
                      <a:pPr algn="l">
                        <a:lnSpc>
                          <a:spcPct val="103000"/>
                        </a:lnSpc>
                        <a:spcBef>
                          <a:spcPts val="0"/>
                        </a:spcBef>
                        <a:spcAft>
                          <a:spcPts val="0"/>
                        </a:spcAft>
                      </a:pPr>
                      <a:r>
                        <a:rPr sz="1500" b="1">
                          <a:solidFill>
                            <a:srgbClr val="00407A"/>
                          </a:solidFill>
                          <a:latin typeface="Arial"/>
                        </a:rPr>
                        <a:t>Pair questions</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500" b="0">
                          <a:solidFill>
                            <a:srgbClr val="00407A"/>
                          </a:solidFill>
                          <a:latin typeface="Arial"/>
                        </a:rPr>
                        <a:t>The three designs of their metric (area, power or frequency), exact value only</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questions of one kind get the same three examples, all from the development split.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How to read the scores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result needs a denominator and a clear rule for what counts as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8</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Yes or no</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A yes probability of</a:t>
            </a:r>
          </a:p>
          <a:p>
            <a:pPr algn="l">
              <a:lnSpc>
                <a:spcPct val="109000"/>
              </a:lnSpc>
              <a:spcBef>
                <a:spcPts val="0"/>
              </a:spcBef>
              <a:spcAft>
                <a:spcPts val="0"/>
              </a:spcAft>
            </a:pPr>
            <a:r>
              <a:rPr sz="1800" b="0">
                <a:solidFill>
                  <a:srgbClr val="00407A"/>
                </a:solidFill>
                <a:latin typeface="Arial"/>
              </a:rPr>
              <a:t>0.5 or more means yes.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Balanced accuracy gives</a:t>
            </a:r>
          </a:p>
          <a:p>
            <a:pPr algn="l">
              <a:lnSpc>
                <a:spcPct val="109000"/>
              </a:lnSpc>
              <a:spcBef>
                <a:spcPts val="0"/>
              </a:spcBef>
              <a:spcAft>
                <a:spcPts val="0"/>
              </a:spcAft>
            </a:pPr>
            <a:r>
              <a:rPr sz="1800" b="0">
                <a:solidFill>
                  <a:srgbClr val="00407A"/>
                </a:solidFill>
                <a:latin typeface="Arial"/>
              </a:rPr>
              <a:t>“yes” and “no” designs</a:t>
            </a:r>
          </a:p>
          <a:p>
            <a:pPr algn="l">
              <a:lnSpc>
                <a:spcPct val="109000"/>
              </a:lnSpc>
              <a:spcBef>
                <a:spcPts val="0"/>
              </a:spcBef>
              <a:spcAft>
                <a:spcPts val="0"/>
              </a:spcAft>
            </a:pPr>
            <a:r>
              <a:rPr sz="1800" b="0">
                <a:solidFill>
                  <a:srgbClr val="00407A"/>
                </a:solidFill>
                <a:latin typeface="Arial"/>
              </a:rPr>
              <a:t>equal weight.</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Always one answer: 50%.</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Five levels</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Exact: the chosen level</a:t>
            </a:r>
          </a:p>
          <a:p>
            <a:pPr algn="l">
              <a:lnSpc>
                <a:spcPct val="109000"/>
              </a:lnSpc>
              <a:spcBef>
                <a:spcPts val="0"/>
              </a:spcBef>
              <a:spcAft>
                <a:spcPts val="0"/>
              </a:spcAft>
            </a:pPr>
            <a:r>
              <a:rPr sz="1800" b="0">
                <a:solidFill>
                  <a:srgbClr val="00407A"/>
                </a:solidFill>
                <a:latin typeface="Arial"/>
              </a:rPr>
              <a:t>matches the tool label.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Within one: a difference</a:t>
            </a:r>
          </a:p>
          <a:p>
            <a:pPr algn="l">
              <a:lnSpc>
                <a:spcPct val="109000"/>
              </a:lnSpc>
              <a:spcBef>
                <a:spcPts val="0"/>
              </a:spcBef>
              <a:spcAft>
                <a:spcPts val="0"/>
              </a:spcAft>
            </a:pPr>
            <a:r>
              <a:rPr sz="1800" b="0">
                <a:solidFill>
                  <a:srgbClr val="00407A"/>
                </a:solidFill>
                <a:latin typeface="Arial"/>
              </a:rPr>
              <a:t>of at most one level.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mean a fixed</a:t>
            </a:r>
          </a:p>
          <a:p>
            <a:pPr algn="l">
              <a:lnSpc>
                <a:spcPct val="109000"/>
              </a:lnSpc>
              <a:spcBef>
                <a:spcPts val="0"/>
              </a:spcBef>
              <a:spcAft>
                <a:spcPts val="0"/>
              </a:spcAft>
            </a:pPr>
            <a:r>
              <a:rPr sz="1800" b="0">
                <a:solidFill>
                  <a:srgbClr val="00407A"/>
                </a:solidFill>
                <a:latin typeface="Arial"/>
              </a:rPr>
              <a:t>physical error tolerance.</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Choose A or B</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Each pair is sent twice,</a:t>
            </a:r>
          </a:p>
          <a:p>
            <a:pPr algn="l">
              <a:lnSpc>
                <a:spcPct val="109000"/>
              </a:lnSpc>
              <a:spcBef>
                <a:spcPts val="0"/>
              </a:spcBef>
              <a:spcAft>
                <a:spcPts val="0"/>
              </a:spcAft>
            </a:pPr>
            <a:r>
              <a:rPr sz="1800" b="0">
                <a:solidFill>
                  <a:srgbClr val="00407A"/>
                </a:solidFill>
                <a:latin typeface="Arial"/>
              </a:rPr>
              <a:t>with its order swapped.</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We report per-view accuracy</a:t>
            </a:r>
          </a:p>
          <a:p>
            <a:pPr algn="l">
              <a:lnSpc>
                <a:spcPct val="109000"/>
              </a:lnSpc>
              <a:spcBef>
                <a:spcPts val="0"/>
              </a:spcBef>
              <a:spcAft>
                <a:spcPts val="0"/>
              </a:spcAft>
            </a:pPr>
            <a:r>
              <a:rPr sz="1800" b="0">
                <a:solidFill>
                  <a:srgbClr val="00407A"/>
                </a:solidFill>
                <a:latin typeface="Arial"/>
              </a:rPr>
              <a:t>and check both orders.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50% is an always-A or</a:t>
            </a:r>
          </a:p>
          <a:p>
            <a:pPr algn="l">
              <a:lnSpc>
                <a:spcPct val="109000"/>
              </a:lnSpc>
              <a:spcBef>
                <a:spcPts val="0"/>
              </a:spcBef>
              <a:spcAft>
                <a:spcPts val="0"/>
              </a:spcAft>
            </a:pPr>
            <a:r>
              <a:rPr sz="1800" b="0">
                <a:solidFill>
                  <a:srgbClr val="00407A"/>
                </a:solidFill>
                <a:latin typeface="Arial"/>
              </a:rPr>
              <a:t>always-B reference here.</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“constant-answer reference” below means always choosing one stated answer, calculated from test labels.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Only KEV-27B’s compilation score is far above 50%</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One score per model: “yes” and “no” designs get equal weight. A constant answer scores 50%.</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9</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Tool answers for the 123 designs: 99 yes · 24 no</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0586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8574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4531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2519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30586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53512"/>
            <a:ext cx="139446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286664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123 yes · 0 no</a:t>
            </a:r>
          </a:p>
        </p:txBody>
      </p:sp>
      <p:sp>
        <p:nvSpPr>
          <p:cNvPr id="20" name="TextBox 1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56432"/>
            <a:ext cx="1380374"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336956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49.5%</a:t>
            </a:r>
          </a:p>
          <a:p>
            <a:pPr algn="l">
              <a:lnSpc>
                <a:spcPct val="109000"/>
              </a:lnSpc>
              <a:spcBef>
                <a:spcPts val="0"/>
              </a:spcBef>
              <a:spcAft>
                <a:spcPts val="0"/>
              </a:spcAft>
            </a:pPr>
            <a:r>
              <a:rPr sz="1250" b="0">
                <a:solidFill>
                  <a:srgbClr val="00407A"/>
                </a:solidFill>
                <a:latin typeface="Arial"/>
              </a:rPr>
              <a:t>122 yes · 1 no</a:t>
            </a:r>
          </a:p>
        </p:txBody>
      </p:sp>
      <p:sp>
        <p:nvSpPr>
          <p:cNvPr id="23" name="TextBox 22"/>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59351"/>
            <a:ext cx="1482494"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387248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53.2%</a:t>
            </a:r>
          </a:p>
          <a:p>
            <a:pPr algn="l">
              <a:lnSpc>
                <a:spcPct val="109000"/>
              </a:lnSpc>
              <a:spcBef>
                <a:spcPts val="0"/>
              </a:spcBef>
              <a:spcAft>
                <a:spcPts val="0"/>
              </a:spcAft>
            </a:pPr>
            <a:r>
              <a:rPr sz="1250" b="0">
                <a:solidFill>
                  <a:srgbClr val="00407A"/>
                </a:solidFill>
                <a:latin typeface="Arial"/>
              </a:rPr>
              <a:t>119 yes · 4 no</a:t>
            </a:r>
          </a:p>
        </p:txBody>
      </p:sp>
      <p:sp>
        <p:nvSpPr>
          <p:cNvPr id="26" name="TextBox 25"/>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62272"/>
            <a:ext cx="1612784"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37540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57.8%</a:t>
            </a:r>
          </a:p>
          <a:p>
            <a:pPr algn="l">
              <a:lnSpc>
                <a:spcPct val="109000"/>
              </a:lnSpc>
              <a:spcBef>
                <a:spcPts val="0"/>
              </a:spcBef>
              <a:spcAft>
                <a:spcPts val="0"/>
              </a:spcAft>
            </a:pPr>
            <a:r>
              <a:rPr sz="1250" b="0">
                <a:solidFill>
                  <a:srgbClr val="00407A"/>
                </a:solidFill>
                <a:latin typeface="Arial"/>
              </a:rPr>
              <a:t>118 yes · 5 no</a:t>
            </a:r>
          </a:p>
        </p:txBody>
      </p:sp>
      <p:sp>
        <p:nvSpPr>
          <p:cNvPr id="29" name="TextBox 28"/>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Balanced accuracy (%) — higher is better</a:t>
            </a:r>
          </a:p>
        </p:txBody>
      </p:sp>
      <p:sp>
        <p:nvSpPr>
          <p:cNvPr id="30" name="TextBox 29"/>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“yes” or always “no” = 50%</a:t>
            </a:r>
          </a:p>
        </p:txBody>
      </p:sp>
      <p:sp>
        <p:nvSpPr>
          <p:cNvPr id="31" name="Rounded Rectangle 30"/>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33" name="TextBox 32"/>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Tool answers for the 123 designs: 114 yes · 9 no</a:t>
            </a:r>
          </a:p>
        </p:txBody>
      </p:sp>
      <p:cxnSp>
        <p:nvCxnSpPr>
          <p:cNvPr id="34" name="Connector 33"/>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6" name="Connector 35"/>
          <p:cNvCxnSpPr/>
          <p:nvPr/>
        </p:nvCxnSpPr>
        <p:spPr>
          <a:xfrm>
            <a:off x="84536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2524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8" name="Connector 37"/>
          <p:cNvCxnSpPr/>
          <p:nvPr/>
        </p:nvCxnSpPr>
        <p:spPr>
          <a:xfrm>
            <a:off x="98480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6469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40" name="Connector 39"/>
          <p:cNvCxnSpPr/>
          <p:nvPr/>
        </p:nvCxnSpPr>
        <p:spPr>
          <a:xfrm>
            <a:off x="845362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2" name="Rectangle 41"/>
          <p:cNvSpPr/>
          <p:nvPr/>
        </p:nvSpPr>
        <p:spPr>
          <a:xfrm>
            <a:off x="7059168" y="2953512"/>
            <a:ext cx="144338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966960" y="286664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51.8%</a:t>
            </a:r>
          </a:p>
          <a:p>
            <a:pPr algn="l">
              <a:lnSpc>
                <a:spcPct val="109000"/>
              </a:lnSpc>
              <a:spcBef>
                <a:spcPts val="0"/>
              </a:spcBef>
              <a:spcAft>
                <a:spcPts val="0"/>
              </a:spcAft>
            </a:pPr>
            <a:r>
              <a:rPr sz="1250" b="0">
                <a:solidFill>
                  <a:srgbClr val="00407A"/>
                </a:solidFill>
                <a:latin typeface="Arial"/>
              </a:rPr>
              <a:t>4 yes · 119 no</a:t>
            </a:r>
          </a:p>
        </p:txBody>
      </p:sp>
      <p:sp>
        <p:nvSpPr>
          <p:cNvPr id="44" name="TextBox 43"/>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5" name="Rectangle 44"/>
          <p:cNvSpPr/>
          <p:nvPr/>
        </p:nvSpPr>
        <p:spPr>
          <a:xfrm>
            <a:off x="7059168" y="3456432"/>
            <a:ext cx="139446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66960" y="336956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123 yes · 0 no</a:t>
            </a:r>
          </a:p>
        </p:txBody>
      </p:sp>
      <p:sp>
        <p:nvSpPr>
          <p:cNvPr id="47" name="TextBox 46"/>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8" name="Rectangle 47"/>
          <p:cNvSpPr/>
          <p:nvPr/>
        </p:nvSpPr>
        <p:spPr>
          <a:xfrm>
            <a:off x="7059168" y="3959351"/>
            <a:ext cx="170434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66960" y="387248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61.1%</a:t>
            </a:r>
          </a:p>
          <a:p>
            <a:pPr algn="l">
              <a:lnSpc>
                <a:spcPct val="109000"/>
              </a:lnSpc>
              <a:spcBef>
                <a:spcPts val="0"/>
              </a:spcBef>
              <a:spcAft>
                <a:spcPts val="0"/>
              </a:spcAft>
            </a:pPr>
            <a:r>
              <a:rPr sz="1250" b="0">
                <a:solidFill>
                  <a:srgbClr val="00407A"/>
                </a:solidFill>
                <a:latin typeface="Arial"/>
              </a:rPr>
              <a:t>121 yes · 2 no</a:t>
            </a:r>
          </a:p>
        </p:txBody>
      </p:sp>
      <p:sp>
        <p:nvSpPr>
          <p:cNvPr id="50" name="TextBox 49"/>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1" name="Rectangle 50"/>
          <p:cNvSpPr/>
          <p:nvPr/>
        </p:nvSpPr>
        <p:spPr>
          <a:xfrm>
            <a:off x="7059168" y="4462272"/>
            <a:ext cx="263398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66960" y="437540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94.4%</a:t>
            </a:r>
          </a:p>
          <a:p>
            <a:pPr algn="l">
              <a:lnSpc>
                <a:spcPct val="109000"/>
              </a:lnSpc>
              <a:spcBef>
                <a:spcPts val="0"/>
              </a:spcBef>
              <a:spcAft>
                <a:spcPts val="0"/>
              </a:spcAft>
            </a:pPr>
            <a:r>
              <a:rPr sz="1250" b="0">
                <a:solidFill>
                  <a:srgbClr val="00407A"/>
                </a:solidFill>
                <a:latin typeface="Arial"/>
              </a:rPr>
              <a:t>115 yes · 8 no</a:t>
            </a:r>
          </a:p>
        </p:txBody>
      </p:sp>
      <p:sp>
        <p:nvSpPr>
          <p:cNvPr id="53" name="TextBox 52"/>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Balanced accuracy (%) — higher is better</a:t>
            </a:r>
          </a:p>
        </p:txBody>
      </p:sp>
      <p:sp>
        <p:nvSpPr>
          <p:cNvPr id="54" name="TextBox 53"/>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“yes” or always “no” = 50%</a:t>
            </a:r>
          </a:p>
        </p:txBody>
      </p:sp>
      <p:sp>
        <p:nvSpPr>
          <p:cNvPr id="55" name="Rounded Rectangle 5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In the other seven cases, at least 118 of the 123 answers are the same.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Why 82.9% hid poor synthesis failure detection</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KEV-27B • 123 held-out designs • a yes/no threshold of 0.5</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a:t>
            </a:r>
          </a:p>
        </p:txBody>
      </p:sp>
      <p:graphicFrame>
        <p:nvGraphicFramePr>
          <p:cNvPr id="7" name="Table 6"/>
          <p:cNvGraphicFramePr>
            <a:graphicFrameLocks noGrp="1"/>
          </p:cNvGraphicFramePr>
          <p:nvPr/>
        </p:nvGraphicFramePr>
        <p:xfrm>
          <a:off x="813816" y="1874519"/>
          <a:ext cx="7498080" cy="1737358"/>
        </p:xfrm>
        <a:graphic>
          <a:graphicData uri="http://schemas.openxmlformats.org/drawingml/2006/table">
            <a:tbl>
              <a:tblPr firstRow="1" bandRow="1">
                <a:tableStyleId>{5C22544A-7EE6-4342-B048-85BDC9FD1C3A}</a:tableStyleId>
              </a:tblPr>
              <a:tblGrid>
                <a:gridCol w="2834640"/>
                <a:gridCol w="2331720"/>
                <a:gridCol w="2331720"/>
              </a:tblGrid>
              <a:tr h="566928">
                <a:tc>
                  <a:txBody>
                    <a:bodyPr/>
                    <a:lstStyle/>
                    <a:p>
                      <a:pPr algn="l">
                        <a:lnSpc>
                          <a:spcPct val="103000"/>
                        </a:lnSpc>
                        <a:spcBef>
                          <a:spcPts val="0"/>
                        </a:spcBef>
                        <a:spcAft>
                          <a:spcPts val="0"/>
                        </a:spcAft>
                      </a:pPr>
                      <a:r>
                        <a:rPr sz="1700" b="1">
                          <a:solidFill>
                            <a:srgbClr val="FFFFFF"/>
                          </a:solidFill>
                          <a:latin typeface="Arial"/>
                        </a:rPr>
                        <a:t>Actual tool result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YES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NO</a:t>
                      </a:r>
                    </a:p>
                  </a:txBody>
                  <a:tcPr marL="109728" marR="91440" marT="54864" marB="36576" anchor="ctr">
                    <a:solidFill>
                      <a:srgbClr val="00407A"/>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Synthesizes — 99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98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wrong</a:t>
                      </a:r>
                    </a:p>
                  </a:txBody>
                  <a:tcPr marL="109728" marR="91440" marT="54864" marB="36576" anchor="ctr">
                    <a:solidFill>
                      <a:srgbClr val="E3EFF5"/>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Fails synthesis — 24 designs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 wrong</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correct</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381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82.9% overall accuracy</a:t>
            </a:r>
          </a:p>
        </p:txBody>
      </p:sp>
      <p:sp>
        <p:nvSpPr>
          <p:cNvPr id="11" name="TextBox 10"/>
          <p:cNvSpPr txBox="1"/>
          <p:nvPr/>
        </p:nvSpPr>
        <p:spPr>
          <a:xfrm>
            <a:off x="104241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102 correct of 123 designs.</a:t>
            </a:r>
          </a:p>
          <a:p>
            <a:pPr algn="l">
              <a:lnSpc>
                <a:spcPct val="109000"/>
              </a:lnSpc>
              <a:spcBef>
                <a:spcPts val="0"/>
              </a:spcBef>
              <a:spcAft>
                <a:spcPts val="0"/>
              </a:spcAft>
            </a:pPr>
            <a:r>
              <a:rPr sz="1700" b="0">
                <a:solidFill>
                  <a:srgbClr val="00407A"/>
                </a:solidFill>
                <a:latin typeface="Arial"/>
              </a:rPr>
              <a:t>Each design has equal weight; the 99 successes dominate.</a:t>
            </a:r>
          </a:p>
        </p:txBody>
      </p:sp>
      <p:sp>
        <p:nvSpPr>
          <p:cNvPr id="12" name="Rounded Rectangle 11"/>
          <p:cNvSpPr/>
          <p:nvPr/>
        </p:nvSpPr>
        <p:spPr>
          <a:xfrm>
            <a:off x="620877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57.8% balanced accuracy</a:t>
            </a:r>
          </a:p>
        </p:txBody>
      </p:sp>
      <p:sp>
        <p:nvSpPr>
          <p:cNvPr id="15" name="TextBox 14"/>
          <p:cNvSpPr txBox="1"/>
          <p:nvPr/>
        </p:nvSpPr>
        <p:spPr>
          <a:xfrm>
            <a:off x="643737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Average of 99.0% success recognition</a:t>
            </a:r>
          </a:p>
          <a:p>
            <a:pPr algn="l">
              <a:lnSpc>
                <a:spcPct val="109000"/>
              </a:lnSpc>
              <a:spcBef>
                <a:spcPts val="0"/>
              </a:spcBef>
              <a:spcAft>
                <a:spcPts val="0"/>
              </a:spcAft>
            </a:pPr>
            <a:r>
              <a:rPr sz="1700" b="0">
                <a:solidFill>
                  <a:srgbClr val="00407A"/>
                </a:solidFill>
                <a:latin typeface="Arial"/>
              </a:rPr>
              <a:t>and 16.7% failure detection. Each group gets half the weight.</a:t>
            </a:r>
          </a:p>
        </p:txBody>
      </p:sp>
      <p:sp>
        <p:nvSpPr>
          <p:cNvPr id="16" name="TextBox 15"/>
          <p:cNvSpPr txBox="1"/>
          <p:nvPr/>
        </p:nvSpPr>
        <p:spPr>
          <a:xfrm>
            <a:off x="8732520" y="1920240"/>
            <a:ext cx="2377440" cy="1371600"/>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20 failures</a:t>
            </a:r>
          </a:p>
          <a:p>
            <a:pPr algn="l">
              <a:lnSpc>
                <a:spcPct val="109000"/>
              </a:lnSpc>
              <a:spcBef>
                <a:spcPts val="0"/>
              </a:spcBef>
              <a:spcAft>
                <a:spcPts val="0"/>
              </a:spcAft>
            </a:pPr>
            <a:r>
              <a:rPr sz="3100" b="1">
                <a:solidFill>
                  <a:srgbClr val="00407A"/>
                </a:solidFill>
                <a:latin typeface="Arial"/>
              </a:rPr>
              <a:t>missed</a:t>
            </a:r>
          </a:p>
        </p:txBody>
      </p:sp>
      <p:sp>
        <p:nvSpPr>
          <p:cNvPr id="17" name="Rounded Rectangle 1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Both percentages are correct. They answer different questions about an imbalanced test set.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Which synthesis failures do the models detect?</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Split the 24 failures again: source accepted by the simulator compiler versus rejected source.</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11</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Compiles, but fails synthesis</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15 designs • synthesis-specific failure cases</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TextBox 16"/>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8" name="TextBox 17"/>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TextBox 18"/>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20" name="TextBox 19"/>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1" name="Rectangle 20"/>
          <p:cNvSpPr/>
          <p:nvPr/>
        </p:nvSpPr>
        <p:spPr>
          <a:xfrm>
            <a:off x="1664208" y="3959351"/>
            <a:ext cx="20116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6.7%</a:t>
            </a:r>
          </a:p>
          <a:p>
            <a:pPr algn="l">
              <a:lnSpc>
                <a:spcPct val="109000"/>
              </a:lnSpc>
              <a:spcBef>
                <a:spcPts val="0"/>
              </a:spcBef>
              <a:spcAft>
                <a:spcPts val="0"/>
              </a:spcAft>
            </a:pPr>
            <a:r>
              <a:rPr sz="1250" b="0">
                <a:solidFill>
                  <a:srgbClr val="00407A"/>
                </a:solidFill>
                <a:latin typeface="Arial"/>
              </a:rPr>
              <a:t>1 of 15</a:t>
            </a:r>
          </a:p>
        </p:txBody>
      </p:sp>
      <p:sp>
        <p:nvSpPr>
          <p:cNvPr id="23" name="TextBox 22"/>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4" name="TextBox 23"/>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25" name="TextBox 24"/>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6" name="Rounded Rectangle 25"/>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Compilation also fails</a:t>
            </a:r>
          </a:p>
        </p:txBody>
      </p:sp>
      <p:sp>
        <p:nvSpPr>
          <p:cNvPr id="28" name="TextBox 27"/>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 both tools reject the design</a:t>
            </a:r>
          </a:p>
        </p:txBody>
      </p:sp>
      <p:cxnSp>
        <p:nvCxnSpPr>
          <p:cNvPr id="29" name="Connector 28"/>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1" name="Connector 30"/>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3" name="Connector 32"/>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5" name="TextBox 34"/>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6" name="TextBox 35"/>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7" name="TextBox 36"/>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38" name="TextBox 37"/>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9" name="TextBox 38"/>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0" name="Rectangle 39"/>
          <p:cNvSpPr/>
          <p:nvPr/>
        </p:nvSpPr>
        <p:spPr>
          <a:xfrm>
            <a:off x="7059168" y="3959351"/>
            <a:ext cx="33528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11.1%</a:t>
            </a:r>
          </a:p>
          <a:p>
            <a:pPr algn="l">
              <a:lnSpc>
                <a:spcPct val="109000"/>
              </a:lnSpc>
              <a:spcBef>
                <a:spcPts val="0"/>
              </a:spcBef>
              <a:spcAft>
                <a:spcPts val="0"/>
              </a:spcAft>
            </a:pPr>
            <a:r>
              <a:rPr sz="1250" b="0">
                <a:solidFill>
                  <a:srgbClr val="00407A"/>
                </a:solidFill>
                <a:latin typeface="Arial"/>
              </a:rPr>
              <a:t>1 of 9</a:t>
            </a:r>
          </a:p>
        </p:txBody>
      </p:sp>
      <p:sp>
        <p:nvSpPr>
          <p:cNvPr id="42" name="TextBox 41"/>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3" name="Rectangle 42"/>
          <p:cNvSpPr/>
          <p:nvPr/>
        </p:nvSpPr>
        <p:spPr>
          <a:xfrm>
            <a:off x="7059168" y="4462272"/>
            <a:ext cx="13411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44.4%</a:t>
            </a:r>
          </a:p>
          <a:p>
            <a:pPr algn="l">
              <a:lnSpc>
                <a:spcPct val="109000"/>
              </a:lnSpc>
              <a:spcBef>
                <a:spcPts val="0"/>
              </a:spcBef>
              <a:spcAft>
                <a:spcPts val="0"/>
              </a:spcAft>
            </a:pPr>
            <a:r>
              <a:rPr sz="1250" b="0">
                <a:solidFill>
                  <a:srgbClr val="00407A"/>
                </a:solidFill>
                <a:latin typeface="Arial"/>
              </a:rPr>
              <a:t>4 of 9</a:t>
            </a:r>
          </a:p>
        </p:txBody>
      </p:sp>
      <p:sp>
        <p:nvSpPr>
          <p:cNvPr id="45" name="TextBox 44"/>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6" name="Rounded Rectangle 4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KEV-27B misses every one of the 15 synthesis failures whose source compiles.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synthesis score rises from 57.8% to 73.5%</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Same 123 designs; each question now has three solved examples.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12</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Tool answers for the 123 designs: 99 yes · 24 no</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0586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8574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4531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2519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30586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53512"/>
            <a:ext cx="139446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286664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0 yes · 123 no</a:t>
            </a:r>
          </a:p>
        </p:txBody>
      </p:sp>
      <p:sp>
        <p:nvSpPr>
          <p:cNvPr id="20" name="TextBox 1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56432"/>
            <a:ext cx="1496579"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336956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53.7%</a:t>
            </a:r>
          </a:p>
          <a:p>
            <a:pPr algn="l">
              <a:lnSpc>
                <a:spcPct val="109000"/>
              </a:lnSpc>
              <a:spcBef>
                <a:spcPts val="0"/>
              </a:spcBef>
              <a:spcAft>
                <a:spcPts val="0"/>
              </a:spcAft>
            </a:pPr>
            <a:r>
              <a:rPr sz="1250" b="0">
                <a:solidFill>
                  <a:srgbClr val="00407A"/>
                </a:solidFill>
                <a:latin typeface="Arial"/>
              </a:rPr>
              <a:t>120 yes · 3 no</a:t>
            </a:r>
          </a:p>
        </p:txBody>
      </p:sp>
      <p:sp>
        <p:nvSpPr>
          <p:cNvPr id="23" name="TextBox 22"/>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59351"/>
            <a:ext cx="1612784"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387248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57.8%</a:t>
            </a:r>
          </a:p>
          <a:p>
            <a:pPr algn="l">
              <a:lnSpc>
                <a:spcPct val="109000"/>
              </a:lnSpc>
              <a:spcBef>
                <a:spcPts val="0"/>
              </a:spcBef>
              <a:spcAft>
                <a:spcPts val="0"/>
              </a:spcAft>
            </a:pPr>
            <a:r>
              <a:rPr sz="1250" b="0">
                <a:solidFill>
                  <a:srgbClr val="00407A"/>
                </a:solidFill>
                <a:latin typeface="Arial"/>
              </a:rPr>
              <a:t>118 yes · 5 no</a:t>
            </a:r>
          </a:p>
        </p:txBody>
      </p:sp>
      <p:sp>
        <p:nvSpPr>
          <p:cNvPr id="26" name="TextBox 25"/>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62272"/>
            <a:ext cx="204943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37540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73.5%</a:t>
            </a:r>
          </a:p>
          <a:p>
            <a:pPr algn="l">
              <a:lnSpc>
                <a:spcPct val="109000"/>
              </a:lnSpc>
              <a:spcBef>
                <a:spcPts val="0"/>
              </a:spcBef>
              <a:spcAft>
                <a:spcPts val="0"/>
              </a:spcAft>
            </a:pPr>
            <a:r>
              <a:rPr sz="1250" b="0">
                <a:solidFill>
                  <a:srgbClr val="00407A"/>
                </a:solidFill>
                <a:latin typeface="Arial"/>
              </a:rPr>
              <a:t>108 yes · 15 no</a:t>
            </a:r>
          </a:p>
        </p:txBody>
      </p:sp>
      <p:cxnSp>
        <p:nvCxnSpPr>
          <p:cNvPr id="29" name="Connector 28"/>
          <p:cNvCxnSpPr/>
          <p:nvPr/>
        </p:nvCxnSpPr>
        <p:spPr>
          <a:xfrm>
            <a:off x="3058668"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044582"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146702"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76992"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Balanced accuracy (%) — higher is better</a:t>
            </a:r>
          </a:p>
        </p:txBody>
      </p:sp>
      <p:sp>
        <p:nvSpPr>
          <p:cNvPr id="34" name="TextBox 33"/>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“yes” or always “no” = 50%</a:t>
            </a:r>
          </a:p>
        </p:txBody>
      </p:sp>
      <p:sp>
        <p:nvSpPr>
          <p:cNvPr id="35" name="Rounded Rectangle 34"/>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37" name="TextBox 36"/>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Tool answers for the 123 designs: 114 yes · 9 no</a:t>
            </a:r>
          </a:p>
        </p:txBody>
      </p:sp>
      <p:cxnSp>
        <p:nvCxnSpPr>
          <p:cNvPr id="38" name="Connector 37"/>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40" name="Connector 39"/>
          <p:cNvCxnSpPr/>
          <p:nvPr/>
        </p:nvCxnSpPr>
        <p:spPr>
          <a:xfrm>
            <a:off x="84536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2524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2" name="Connector 41"/>
          <p:cNvCxnSpPr/>
          <p:nvPr/>
        </p:nvCxnSpPr>
        <p:spPr>
          <a:xfrm>
            <a:off x="98480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6469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44" name="Connector 43"/>
          <p:cNvCxnSpPr/>
          <p:nvPr/>
        </p:nvCxnSpPr>
        <p:spPr>
          <a:xfrm>
            <a:off x="845362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6" name="Rectangle 45"/>
          <p:cNvSpPr/>
          <p:nvPr/>
        </p:nvSpPr>
        <p:spPr>
          <a:xfrm>
            <a:off x="7059168" y="2953512"/>
            <a:ext cx="1406692"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66960" y="286664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50.4%</a:t>
            </a:r>
          </a:p>
          <a:p>
            <a:pPr algn="l">
              <a:lnSpc>
                <a:spcPct val="109000"/>
              </a:lnSpc>
              <a:spcBef>
                <a:spcPts val="0"/>
              </a:spcBef>
              <a:spcAft>
                <a:spcPts val="0"/>
              </a:spcAft>
            </a:pPr>
            <a:r>
              <a:rPr sz="1250" b="0">
                <a:solidFill>
                  <a:srgbClr val="00407A"/>
                </a:solidFill>
                <a:latin typeface="Arial"/>
              </a:rPr>
              <a:t>1 yes · 122 no</a:t>
            </a:r>
          </a:p>
        </p:txBody>
      </p:sp>
      <p:sp>
        <p:nvSpPr>
          <p:cNvPr id="48" name="TextBox 47"/>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9" name="Rectangle 48"/>
          <p:cNvSpPr/>
          <p:nvPr/>
        </p:nvSpPr>
        <p:spPr>
          <a:xfrm>
            <a:off x="7059168" y="3456432"/>
            <a:ext cx="1847047"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66960" y="336956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66.2%</a:t>
            </a:r>
          </a:p>
          <a:p>
            <a:pPr algn="l">
              <a:lnSpc>
                <a:spcPct val="109000"/>
              </a:lnSpc>
              <a:spcBef>
                <a:spcPts val="0"/>
              </a:spcBef>
              <a:spcAft>
                <a:spcPts val="0"/>
              </a:spcAft>
            </a:pPr>
            <a:r>
              <a:rPr sz="1250" b="0">
                <a:solidFill>
                  <a:srgbClr val="00407A"/>
                </a:solidFill>
                <a:latin typeface="Arial"/>
              </a:rPr>
              <a:t>119 yes · 4 no</a:t>
            </a:r>
          </a:p>
        </p:txBody>
      </p:sp>
      <p:sp>
        <p:nvSpPr>
          <p:cNvPr id="51" name="TextBox 50"/>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52" name="Rectangle 51"/>
          <p:cNvSpPr/>
          <p:nvPr/>
        </p:nvSpPr>
        <p:spPr>
          <a:xfrm>
            <a:off x="7059168" y="3959351"/>
            <a:ext cx="1989755"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966960" y="387248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71.3%</a:t>
            </a:r>
          </a:p>
          <a:p>
            <a:pPr algn="l">
              <a:lnSpc>
                <a:spcPct val="109000"/>
              </a:lnSpc>
              <a:spcBef>
                <a:spcPts val="0"/>
              </a:spcBef>
              <a:spcAft>
                <a:spcPts val="0"/>
              </a:spcAft>
            </a:pPr>
            <a:r>
              <a:rPr sz="1250" b="0">
                <a:solidFill>
                  <a:srgbClr val="00407A"/>
                </a:solidFill>
                <a:latin typeface="Arial"/>
              </a:rPr>
              <a:t>117 yes · 6 no</a:t>
            </a:r>
          </a:p>
        </p:txBody>
      </p:sp>
      <p:sp>
        <p:nvSpPr>
          <p:cNvPr id="54" name="TextBox 53"/>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5" name="Rectangle 54"/>
          <p:cNvSpPr/>
          <p:nvPr/>
        </p:nvSpPr>
        <p:spPr>
          <a:xfrm>
            <a:off x="7059168" y="4462272"/>
            <a:ext cx="2715527"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66960" y="437540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97.4%</a:t>
            </a:r>
          </a:p>
          <a:p>
            <a:pPr algn="l">
              <a:lnSpc>
                <a:spcPct val="109000"/>
              </a:lnSpc>
              <a:spcBef>
                <a:spcPts val="0"/>
              </a:spcBef>
              <a:spcAft>
                <a:spcPts val="0"/>
              </a:spcAft>
            </a:pPr>
            <a:r>
              <a:rPr sz="1250" b="0">
                <a:solidFill>
                  <a:srgbClr val="00407A"/>
                </a:solidFill>
                <a:latin typeface="Arial"/>
              </a:rPr>
              <a:t>108 yes · 15 no</a:t>
            </a:r>
          </a:p>
        </p:txBody>
      </p:sp>
      <p:cxnSp>
        <p:nvCxnSpPr>
          <p:cNvPr id="57" name="Connector 56"/>
          <p:cNvCxnSpPr/>
          <p:nvPr/>
        </p:nvCxnSpPr>
        <p:spPr>
          <a:xfrm>
            <a:off x="8502556"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453628"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763508"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693148"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Balanced accuracy (%) — higher is better</a:t>
            </a:r>
          </a:p>
        </p:txBody>
      </p:sp>
      <p:sp>
        <p:nvSpPr>
          <p:cNvPr id="62" name="TextBox 61"/>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“yes” or always “no” = 50%</a:t>
            </a:r>
          </a:p>
        </p:txBody>
      </p:sp>
      <p:sp>
        <p:nvSpPr>
          <p:cNvPr id="63" name="Rounded Rectangle 62"/>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KEV-0.8B now answers “no” for 123 of 123 designs (synthesis) and 122 of 123 (compilation).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 now detects 12 of the 24 synthesis failures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KEV-27B • 123 held-out designs • a yes/no threshold of 0.5 • three solved examples per question</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13</a:t>
            </a:r>
          </a:p>
        </p:txBody>
      </p:sp>
      <p:graphicFrame>
        <p:nvGraphicFramePr>
          <p:cNvPr id="7" name="Table 6"/>
          <p:cNvGraphicFramePr>
            <a:graphicFrameLocks noGrp="1"/>
          </p:cNvGraphicFramePr>
          <p:nvPr/>
        </p:nvGraphicFramePr>
        <p:xfrm>
          <a:off x="813816" y="1874519"/>
          <a:ext cx="7498080" cy="1737358"/>
        </p:xfrm>
        <a:graphic>
          <a:graphicData uri="http://schemas.openxmlformats.org/drawingml/2006/table">
            <a:tbl>
              <a:tblPr firstRow="1" bandRow="1">
                <a:tableStyleId>{5C22544A-7EE6-4342-B048-85BDC9FD1C3A}</a:tableStyleId>
              </a:tblPr>
              <a:tblGrid>
                <a:gridCol w="2834640"/>
                <a:gridCol w="2331720"/>
                <a:gridCol w="2331720"/>
              </a:tblGrid>
              <a:tr h="566928">
                <a:tc>
                  <a:txBody>
                    <a:bodyPr/>
                    <a:lstStyle/>
                    <a:p>
                      <a:pPr algn="l">
                        <a:lnSpc>
                          <a:spcPct val="103000"/>
                        </a:lnSpc>
                        <a:spcBef>
                          <a:spcPts val="0"/>
                        </a:spcBef>
                        <a:spcAft>
                          <a:spcPts val="0"/>
                        </a:spcAft>
                      </a:pPr>
                      <a:r>
                        <a:rPr sz="1700" b="1">
                          <a:solidFill>
                            <a:srgbClr val="FFFFFF"/>
                          </a:solidFill>
                          <a:latin typeface="Arial"/>
                        </a:rPr>
                        <a:t>Actual tool result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YES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NO</a:t>
                      </a:r>
                    </a:p>
                  </a:txBody>
                  <a:tcPr marL="109728" marR="91440" marT="54864" marB="36576" anchor="ctr">
                    <a:solidFill>
                      <a:srgbClr val="00407A"/>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Synthesizes — 99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96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wrong</a:t>
                      </a:r>
                    </a:p>
                  </a:txBody>
                  <a:tcPr marL="109728" marR="91440" marT="54864" marB="36576" anchor="ctr">
                    <a:solidFill>
                      <a:srgbClr val="E3EFF5"/>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Fails synthesis — 24 designs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 wrong</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 correct</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381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87.8% overall accuracy</a:t>
            </a:r>
          </a:p>
        </p:txBody>
      </p:sp>
      <p:sp>
        <p:nvSpPr>
          <p:cNvPr id="11" name="TextBox 10"/>
          <p:cNvSpPr txBox="1"/>
          <p:nvPr/>
        </p:nvSpPr>
        <p:spPr>
          <a:xfrm>
            <a:off x="104241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108 correct of 123 designs.</a:t>
            </a:r>
          </a:p>
          <a:p>
            <a:pPr algn="l">
              <a:lnSpc>
                <a:spcPct val="109000"/>
              </a:lnSpc>
              <a:spcBef>
                <a:spcPts val="0"/>
              </a:spcBef>
              <a:spcAft>
                <a:spcPts val="0"/>
              </a:spcAft>
            </a:pPr>
            <a:r>
              <a:rPr sz="1700" b="0">
                <a:solidFill>
                  <a:srgbClr val="00407A"/>
                </a:solidFill>
                <a:latin typeface="Arial"/>
              </a:rPr>
              <a:t>Without examples: 82.9% (102 of 123).</a:t>
            </a:r>
          </a:p>
        </p:txBody>
      </p:sp>
      <p:sp>
        <p:nvSpPr>
          <p:cNvPr id="12" name="Rounded Rectangle 11"/>
          <p:cNvSpPr/>
          <p:nvPr/>
        </p:nvSpPr>
        <p:spPr>
          <a:xfrm>
            <a:off x="620877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73.5% balanced accuracy</a:t>
            </a:r>
          </a:p>
        </p:txBody>
      </p:sp>
      <p:sp>
        <p:nvSpPr>
          <p:cNvPr id="15" name="TextBox 14"/>
          <p:cNvSpPr txBox="1"/>
          <p:nvPr/>
        </p:nvSpPr>
        <p:spPr>
          <a:xfrm>
            <a:off x="643737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Average of 97.0% success recognition</a:t>
            </a:r>
          </a:p>
          <a:p>
            <a:pPr algn="l">
              <a:lnSpc>
                <a:spcPct val="109000"/>
              </a:lnSpc>
              <a:spcBef>
                <a:spcPts val="0"/>
              </a:spcBef>
              <a:spcAft>
                <a:spcPts val="0"/>
              </a:spcAft>
            </a:pPr>
            <a:r>
              <a:rPr sz="1700" b="0">
                <a:solidFill>
                  <a:srgbClr val="00407A"/>
                </a:solidFill>
                <a:latin typeface="Arial"/>
              </a:rPr>
              <a:t>and 50.0% failure detection. Without examples: 57.8%.</a:t>
            </a:r>
          </a:p>
        </p:txBody>
      </p:sp>
      <p:sp>
        <p:nvSpPr>
          <p:cNvPr id="16" name="TextBox 15"/>
          <p:cNvSpPr txBox="1"/>
          <p:nvPr/>
        </p:nvSpPr>
        <p:spPr>
          <a:xfrm>
            <a:off x="8732520" y="1920240"/>
            <a:ext cx="2377440" cy="1371600"/>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12 failures</a:t>
            </a:r>
          </a:p>
          <a:p>
            <a:pPr algn="l">
              <a:lnSpc>
                <a:spcPct val="109000"/>
              </a:lnSpc>
              <a:spcBef>
                <a:spcPts val="0"/>
              </a:spcBef>
              <a:spcAft>
                <a:spcPts val="0"/>
              </a:spcAft>
            </a:pPr>
            <a:r>
              <a:rPr sz="3100" b="1">
                <a:solidFill>
                  <a:srgbClr val="00407A"/>
                </a:solidFill>
                <a:latin typeface="Arial"/>
              </a:rPr>
              <a:t>missed</a:t>
            </a:r>
          </a:p>
        </p:txBody>
      </p:sp>
      <p:sp>
        <p:nvSpPr>
          <p:cNvPr id="17" name="Rounded Rectangle 1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Failure detection rises from 4 to 12 of 24; success recognition falls from 98 to 96 of 99.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 detects 4 of the 15 synthesis-only failures</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The same split of the 24 failures, with three solved examples.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14</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Compiles, but fails synthesis</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15 designs • synthesis-specific failure cases</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30175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15 of 15</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201168"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6.7%</a:t>
            </a:r>
          </a:p>
          <a:p>
            <a:pPr algn="l">
              <a:lnSpc>
                <a:spcPct val="109000"/>
              </a:lnSpc>
              <a:spcBef>
                <a:spcPts val="0"/>
              </a:spcBef>
              <a:spcAft>
                <a:spcPts val="0"/>
              </a:spcAft>
            </a:pPr>
            <a:r>
              <a:rPr sz="1250" b="0">
                <a:solidFill>
                  <a:srgbClr val="00407A"/>
                </a:solidFill>
                <a:latin typeface="Arial"/>
              </a:rPr>
              <a:t>1 of 15</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40233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13.3%</a:t>
            </a:r>
          </a:p>
          <a:p>
            <a:pPr algn="l">
              <a:lnSpc>
                <a:spcPct val="109000"/>
              </a:lnSpc>
              <a:spcBef>
                <a:spcPts val="0"/>
              </a:spcBef>
              <a:spcAft>
                <a:spcPts val="0"/>
              </a:spcAft>
            </a:pPr>
            <a:r>
              <a:rPr sz="1250" b="0">
                <a:solidFill>
                  <a:srgbClr val="00407A"/>
                </a:solidFill>
                <a:latin typeface="Arial"/>
              </a:rPr>
              <a:t>2 of 15</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80467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26.7%</a:t>
            </a:r>
          </a:p>
          <a:p>
            <a:pPr algn="l">
              <a:lnSpc>
                <a:spcPct val="109000"/>
              </a:lnSpc>
              <a:spcBef>
                <a:spcPts val="0"/>
              </a:spcBef>
              <a:spcAft>
                <a:spcPts val="0"/>
              </a:spcAft>
            </a:pPr>
            <a:r>
              <a:rPr sz="1250" b="0">
                <a:solidFill>
                  <a:srgbClr val="00407A"/>
                </a:solidFill>
                <a:latin typeface="Arial"/>
              </a:rPr>
              <a:t>4 of 15</a:t>
            </a:r>
          </a:p>
        </p:txBody>
      </p:sp>
      <p:cxnSp>
        <p:nvCxnSpPr>
          <p:cNvPr id="28" name="Connector 27"/>
          <p:cNvCxnSpPr/>
          <p:nvPr/>
        </p:nvCxnSpPr>
        <p:spPr>
          <a:xfrm>
            <a:off x="1664208"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664208"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865376"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664208"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3" name="Rounded Rectangle 32"/>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Compilation also fails</a:t>
            </a:r>
          </a:p>
        </p:txBody>
      </p:sp>
      <p:sp>
        <p:nvSpPr>
          <p:cNvPr id="35" name="TextBox 34"/>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 both tools reject the design</a:t>
            </a:r>
          </a:p>
        </p:txBody>
      </p:sp>
      <p:cxnSp>
        <p:nvCxnSpPr>
          <p:cNvPr id="36" name="Connector 35"/>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8" name="Connector 37"/>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0" name="Connector 39"/>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42" name="TextBox 41"/>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3" name="Rectangle 42"/>
          <p:cNvSpPr/>
          <p:nvPr/>
        </p:nvSpPr>
        <p:spPr>
          <a:xfrm>
            <a:off x="7059168" y="2953512"/>
            <a:ext cx="30175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 of 9</a:t>
            </a:r>
          </a:p>
        </p:txBody>
      </p:sp>
      <p:sp>
        <p:nvSpPr>
          <p:cNvPr id="45" name="TextBox 44"/>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6" name="Rectangle 45"/>
          <p:cNvSpPr/>
          <p:nvPr/>
        </p:nvSpPr>
        <p:spPr>
          <a:xfrm>
            <a:off x="7059168" y="3456432"/>
            <a:ext cx="33528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11.1%</a:t>
            </a:r>
          </a:p>
          <a:p>
            <a:pPr algn="l">
              <a:lnSpc>
                <a:spcPct val="109000"/>
              </a:lnSpc>
              <a:spcBef>
                <a:spcPts val="0"/>
              </a:spcBef>
              <a:spcAft>
                <a:spcPts val="0"/>
              </a:spcAft>
            </a:pPr>
            <a:r>
              <a:rPr sz="1250" b="0">
                <a:solidFill>
                  <a:srgbClr val="00407A"/>
                </a:solidFill>
                <a:latin typeface="Arial"/>
              </a:rPr>
              <a:t>1 of 9</a:t>
            </a:r>
          </a:p>
        </p:txBody>
      </p:sp>
      <p:sp>
        <p:nvSpPr>
          <p:cNvPr id="48" name="TextBox 47"/>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9" name="Rectangle 48"/>
          <p:cNvSpPr/>
          <p:nvPr/>
        </p:nvSpPr>
        <p:spPr>
          <a:xfrm>
            <a:off x="7059168" y="3959351"/>
            <a:ext cx="6705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22.2%</a:t>
            </a:r>
          </a:p>
          <a:p>
            <a:pPr algn="l">
              <a:lnSpc>
                <a:spcPct val="109000"/>
              </a:lnSpc>
              <a:spcBef>
                <a:spcPts val="0"/>
              </a:spcBef>
              <a:spcAft>
                <a:spcPts val="0"/>
              </a:spcAft>
            </a:pPr>
            <a:r>
              <a:rPr sz="1250" b="0">
                <a:solidFill>
                  <a:srgbClr val="00407A"/>
                </a:solidFill>
                <a:latin typeface="Arial"/>
              </a:rPr>
              <a:t>2 of 9</a:t>
            </a:r>
          </a:p>
        </p:txBody>
      </p:sp>
      <p:sp>
        <p:nvSpPr>
          <p:cNvPr id="51" name="TextBox 50"/>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2" name="Rectangle 51"/>
          <p:cNvSpPr/>
          <p:nvPr/>
        </p:nvSpPr>
        <p:spPr>
          <a:xfrm>
            <a:off x="7059168" y="4462272"/>
            <a:ext cx="268224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88.9%</a:t>
            </a:r>
          </a:p>
          <a:p>
            <a:pPr algn="l">
              <a:lnSpc>
                <a:spcPct val="109000"/>
              </a:lnSpc>
              <a:spcBef>
                <a:spcPts val="0"/>
              </a:spcBef>
              <a:spcAft>
                <a:spcPts val="0"/>
              </a:spcAft>
            </a:pPr>
            <a:r>
              <a:rPr sz="1250" b="0">
                <a:solidFill>
                  <a:srgbClr val="00407A"/>
                </a:solidFill>
                <a:latin typeface="Arial"/>
              </a:rPr>
              <a:t>8 of 9</a:t>
            </a:r>
          </a:p>
        </p:txBody>
      </p:sp>
      <p:cxnSp>
        <p:nvCxnSpPr>
          <p:cNvPr id="54" name="Connector 53"/>
          <p:cNvCxnSpPr/>
          <p:nvPr/>
        </p:nvCxnSpPr>
        <p:spPr>
          <a:xfrm>
            <a:off x="7059168"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059168"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394447"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400288"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9" name="Rounded Rectangle 5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KEV-0.8B’s 15 of 15 and 9 of 9 come from answering “no” for all 123 designs.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 choose one of ten options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prompt says that synthesis failed. 25 reason questions: 16 test, 9 development (dev).</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15</a:t>
            </a:r>
          </a:p>
        </p:txBody>
      </p:sp>
      <p:graphicFrame>
        <p:nvGraphicFramePr>
          <p:cNvPr id="6" name="Table 5"/>
          <p:cNvGraphicFramePr>
            <a:graphicFrameLocks noGrp="1"/>
          </p:cNvGraphicFramePr>
          <p:nvPr/>
        </p:nvGraphicFramePr>
        <p:xfrm>
          <a:off x="813816" y="1783080"/>
          <a:ext cx="10561320" cy="3749040"/>
        </p:xfrm>
        <a:graphic>
          <a:graphicData uri="http://schemas.openxmlformats.org/drawingml/2006/table">
            <a:tbl>
              <a:tblPr firstRow="1" bandRow="1">
                <a:tableStyleId>{5C22544A-7EE6-4342-B048-85BDC9FD1C3A}</a:tableStyleId>
              </a:tblPr>
              <a:tblGrid>
                <a:gridCol w="2103120"/>
                <a:gridCol w="6995160"/>
                <a:gridCol w="640080"/>
                <a:gridCol w="822960"/>
              </a:tblGrid>
              <a:tr h="365760">
                <a:tc>
                  <a:txBody>
                    <a:bodyPr/>
                    <a:lstStyle/>
                    <a:p>
                      <a:pPr algn="l">
                        <a:lnSpc>
                          <a:spcPct val="103000"/>
                        </a:lnSpc>
                        <a:spcBef>
                          <a:spcPts val="0"/>
                        </a:spcBef>
                        <a:spcAft>
                          <a:spcPts val="0"/>
                        </a:spcAft>
                      </a:pPr>
                      <a:r>
                        <a:rPr sz="1300" b="1">
                          <a:solidFill>
                            <a:srgbClr val="FFFFFF"/>
                          </a:solidFill>
                          <a:latin typeface="Arial"/>
                        </a:rPr>
                        <a:t>Option</a:t>
                      </a:r>
                    </a:p>
                  </a:txBody>
                  <a:tcPr marL="109728" marR="91440" marT="54864" marB="36576" anchor="ctr">
                    <a:solidFill>
                      <a:srgbClr val="00407A"/>
                    </a:solidFill>
                    <a:lnL>
                      <a:noFill/>
                    </a:lnL>
                    <a:lnR>
                      <a:noFill/>
                    </a:lnR>
                    <a:lnT>
                      <a:noFill/>
                    </a:lnT>
                    <a:lnB>
                      <a:noFill/>
                    </a:lnB>
                  </a:tcPr>
                </a:tc>
                <a:tc>
                  <a:txBody>
                    <a:bodyPr/>
                    <a:lstStyle/>
                    <a:p>
                      <a:pPr algn="l">
                        <a:lnSpc>
                          <a:spcPct val="103000"/>
                        </a:lnSpc>
                        <a:spcBef>
                          <a:spcPts val="0"/>
                        </a:spcBef>
                        <a:spcAft>
                          <a:spcPts val="0"/>
                        </a:spcAft>
                      </a:pPr>
                      <a:r>
                        <a:rPr sz="1300" b="1">
                          <a:solidFill>
                            <a:srgbClr val="FFFFFF"/>
                          </a:solidFill>
                          <a:latin typeface="Arial"/>
                        </a:rPr>
                        <a:t>Text of the option, as the model reads it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Test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Dev</a:t>
                      </a:r>
                    </a:p>
                  </a:txBody>
                  <a:tcPr marL="109728" marR="91440" marT="54864" marB="36576" anchor="ctr">
                    <a:solidFill>
                      <a:srgbClr val="00407A"/>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illegal_code</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is not legal Verilog or SystemVerilog: a syntax error, an undeclared name, a non-constant range, or a procedural assignment to a net.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3</a:t>
                      </a:r>
                    </a:p>
                  </a:txBody>
                  <a:tcPr marL="109728" marR="91440" marT="54864"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unsupported_construct</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is legal for a simulator, but it uses a data type or construct that synthesis does not support: real, time, string, trireg, a class, a dynamic array, a DPI import, or a user-defined primitive.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timing_control</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uses a timing control that synthesis does not support: wait, fork-join, or an event trigger (-&gt;).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simulation_statement</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uses a statement or system function for simulation only: force-release, procedural assign-deassign, or $random.</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event_list</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An event list that synthesis does not support: both edges of one signal, edge and level events mixed, or different edges in one process.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async_reset</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An asynchronous reset or set that synthesis cannot build: statements outside the reset if-else, a second edge signal without the reset template, or a reset to a non-constant value.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228600">
                <a:tc>
                  <a:txBody>
                    <a:bodyPr/>
                    <a:lstStyle/>
                    <a:p>
                      <a:pPr algn="l">
                        <a:lnSpc>
                          <a:spcPct val="103000"/>
                        </a:lnSpc>
                        <a:spcBef>
                          <a:spcPts val="0"/>
                        </a:spcBef>
                        <a:spcAft>
                          <a:spcPts val="0"/>
                        </a:spcAft>
                      </a:pPr>
                      <a:r>
                        <a:rPr sz="1050" b="1">
                          <a:solidFill>
                            <a:srgbClr val="00407A"/>
                          </a:solidFill>
                          <a:latin typeface="Arial"/>
                        </a:rPr>
                        <a:t>multiple_drivers</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 signal has more than one driver, for example assignments in two always blocks.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228600">
                <a:tc>
                  <a:txBody>
                    <a:bodyPr/>
                    <a:lstStyle/>
                    <a:p>
                      <a:pPr algn="l">
                        <a:lnSpc>
                          <a:spcPct val="103000"/>
                        </a:lnSpc>
                        <a:spcBef>
                          <a:spcPts val="0"/>
                        </a:spcBef>
                        <a:spcAft>
                          <a:spcPts val="0"/>
                        </a:spcAft>
                      </a:pPr>
                      <a:r>
                        <a:rPr sz="1050" b="1">
                          <a:solidFill>
                            <a:srgbClr val="00407A"/>
                          </a:solidFill>
                          <a:latin typeface="Arial"/>
                        </a:rPr>
                        <a:t>mixed_assignments</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One variable gets blocking and nonblocking assignments in the same always block.</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unbounded_loop</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 loop or a recursion that synthesis cannot unroll: a forever loop with no timing control, or a recursion with no constant limit.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instance_mismatch</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 module instance does not match a module: a missing module, an unknown parameter, or an unknown port.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22 of the 25 failures are injected edits. 8 more test designs with a compile error get no reason question.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reasons: 27B gets 15 of 16 right</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prompt explicitly states that synthesis failed, then offers ten possible reasons.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16</a:t>
            </a:r>
          </a:p>
        </p:txBody>
      </p:sp>
      <p:sp>
        <p:nvSpPr>
          <p:cNvPr id="7" name="Rounded Rectangle 6"/>
          <p:cNvSpPr/>
          <p:nvPr/>
        </p:nvSpPr>
        <p:spPr>
          <a:xfrm>
            <a:off x="813816" y="1828800"/>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93392"/>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correct failure reason</a:t>
            </a:r>
          </a:p>
        </p:txBody>
      </p:sp>
      <p:sp>
        <p:nvSpPr>
          <p:cNvPr id="9" name="TextBox 8"/>
          <p:cNvSpPr txBox="1"/>
          <p:nvPr/>
        </p:nvSpPr>
        <p:spPr>
          <a:xfrm>
            <a:off x="1014984" y="2441448"/>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16 known-failure designs • one choice per design</a:t>
            </a:r>
          </a:p>
        </p:txBody>
      </p:sp>
      <p:cxnSp>
        <p:nvCxnSpPr>
          <p:cNvPr id="10" name="Connector 9"/>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6" name="TextBox 15"/>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62656"/>
            <a:ext cx="94297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31.3%</a:t>
            </a:r>
          </a:p>
          <a:p>
            <a:pPr algn="l">
              <a:lnSpc>
                <a:spcPct val="109000"/>
              </a:lnSpc>
              <a:spcBef>
                <a:spcPts val="0"/>
              </a:spcBef>
              <a:spcAft>
                <a:spcPts val="0"/>
              </a:spcAft>
            </a:pPr>
            <a:r>
              <a:rPr sz="1250" b="0">
                <a:solidFill>
                  <a:srgbClr val="00407A"/>
                </a:solidFill>
                <a:latin typeface="Arial"/>
              </a:rPr>
              <a:t>5 of 16</a:t>
            </a:r>
          </a:p>
        </p:txBody>
      </p:sp>
      <p:sp>
        <p:nvSpPr>
          <p:cNvPr id="19" name="TextBox 18"/>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65575"/>
            <a:ext cx="1697355"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56.3%</a:t>
            </a:r>
          </a:p>
          <a:p>
            <a:pPr algn="l">
              <a:lnSpc>
                <a:spcPct val="109000"/>
              </a:lnSpc>
              <a:spcBef>
                <a:spcPts val="0"/>
              </a:spcBef>
              <a:spcAft>
                <a:spcPts val="0"/>
              </a:spcAft>
            </a:pPr>
            <a:r>
              <a:rPr sz="1250" b="0">
                <a:solidFill>
                  <a:srgbClr val="00407A"/>
                </a:solidFill>
                <a:latin typeface="Arial"/>
              </a:rPr>
              <a:t>9 of 16</a:t>
            </a:r>
          </a:p>
        </p:txBody>
      </p:sp>
      <p:sp>
        <p:nvSpPr>
          <p:cNvPr id="22" name="TextBox 21"/>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68495"/>
            <a:ext cx="2074545"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68.8%</a:t>
            </a:r>
          </a:p>
          <a:p>
            <a:pPr algn="l">
              <a:lnSpc>
                <a:spcPct val="109000"/>
              </a:lnSpc>
              <a:spcBef>
                <a:spcPts val="0"/>
              </a:spcBef>
              <a:spcAft>
                <a:spcPts val="0"/>
              </a:spcAft>
            </a:pPr>
            <a:r>
              <a:rPr sz="1250" b="0">
                <a:solidFill>
                  <a:srgbClr val="00407A"/>
                </a:solidFill>
                <a:latin typeface="Arial"/>
              </a:rPr>
              <a:t>11 of 16</a:t>
            </a:r>
          </a:p>
        </p:txBody>
      </p:sp>
      <p:sp>
        <p:nvSpPr>
          <p:cNvPr id="25" name="TextBox 24"/>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71416"/>
            <a:ext cx="2828925"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93.8%</a:t>
            </a:r>
          </a:p>
          <a:p>
            <a:pPr algn="l">
              <a:lnSpc>
                <a:spcPct val="109000"/>
              </a:lnSpc>
              <a:spcBef>
                <a:spcPts val="0"/>
              </a:spcBef>
              <a:spcAft>
                <a:spcPts val="0"/>
              </a:spcAft>
            </a:pPr>
            <a:r>
              <a:rPr sz="1250" b="0">
                <a:solidFill>
                  <a:srgbClr val="00407A"/>
                </a:solidFill>
                <a:latin typeface="Arial"/>
              </a:rPr>
              <a:t>15 of 16</a:t>
            </a:r>
          </a:p>
        </p:txBody>
      </p:sp>
      <p:sp>
        <p:nvSpPr>
          <p:cNvPr id="28" name="TextBox 27"/>
          <p:cNvSpPr txBox="1"/>
          <p:nvPr/>
        </p:nvSpPr>
        <p:spPr>
          <a:xfrm>
            <a:off x="996696" y="5038344"/>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Rounded Rectangle 28"/>
          <p:cNvSpPr/>
          <p:nvPr/>
        </p:nvSpPr>
        <p:spPr>
          <a:xfrm>
            <a:off x="6208776" y="1828800"/>
            <a:ext cx="5166360" cy="1874519"/>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is measured</a:t>
            </a:r>
          </a:p>
        </p:txBody>
      </p:sp>
      <p:sp>
        <p:nvSpPr>
          <p:cNvPr id="32" name="TextBox 31"/>
          <p:cNvSpPr txBox="1"/>
          <p:nvPr/>
        </p:nvSpPr>
        <p:spPr>
          <a:xfrm>
            <a:off x="6437376" y="2834640"/>
            <a:ext cx="4709160" cy="685799"/>
          </a:xfrm>
          <a:prstGeom prst="rect">
            <a:avLst/>
          </a:prstGeom>
          <a:noFill/>
        </p:spPr>
        <p:txBody>
          <a:bodyPr wrap="square" lIns="0" rIns="0" tIns="0" bIns="0" anchor="t">
            <a:noAutofit/>
          </a:bodyPr>
          <a:lstStyle/>
          <a:p>
            <a:pPr algn="l">
              <a:lnSpc>
                <a:spcPct val="109000"/>
              </a:lnSpc>
              <a:spcBef>
                <a:spcPts val="0"/>
              </a:spcBef>
              <a:spcAft>
                <a:spcPts val="0"/>
              </a:spcAft>
            </a:pPr>
            <a:r>
              <a:rPr sz="2100" b="0">
                <a:solidFill>
                  <a:srgbClr val="00407A"/>
                </a:solidFill>
                <a:latin typeface="Arial"/>
              </a:rPr>
              <a:t>Can the model identify the reason</a:t>
            </a:r>
          </a:p>
          <a:p>
            <a:pPr algn="l">
              <a:lnSpc>
                <a:spcPct val="109000"/>
              </a:lnSpc>
              <a:spcBef>
                <a:spcPts val="0"/>
              </a:spcBef>
              <a:spcAft>
                <a:spcPts val="0"/>
              </a:spcAft>
            </a:pPr>
            <a:r>
              <a:rPr sz="2100" b="0">
                <a:solidFill>
                  <a:srgbClr val="00407A"/>
                </a:solidFill>
                <a:latin typeface="Arial"/>
              </a:rPr>
              <a:t>when failure is already known?</a:t>
            </a:r>
          </a:p>
        </p:txBody>
      </p:sp>
      <p:sp>
        <p:nvSpPr>
          <p:cNvPr id="33" name="Rounded Rectangle 32"/>
          <p:cNvSpPr/>
          <p:nvPr/>
        </p:nvSpPr>
        <p:spPr>
          <a:xfrm>
            <a:off x="6208776" y="3886200"/>
            <a:ext cx="5166360" cy="166420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08776" y="38862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37376" y="40325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What the 27B error was</a:t>
            </a:r>
          </a:p>
        </p:txBody>
      </p:sp>
      <p:sp>
        <p:nvSpPr>
          <p:cNvPr id="36" name="TextBox 35"/>
          <p:cNvSpPr txBox="1"/>
          <p:nvPr/>
        </p:nvSpPr>
        <p:spPr>
          <a:xfrm>
            <a:off x="6437376" y="4544568"/>
            <a:ext cx="4709160" cy="91440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A multiple-driver error was labelled</a:t>
            </a:r>
          </a:p>
          <a:p>
            <a:pPr algn="l">
              <a:lnSpc>
                <a:spcPct val="109000"/>
              </a:lnSpc>
              <a:spcBef>
                <a:spcPts val="0"/>
              </a:spcBef>
              <a:spcAft>
                <a:spcPts val="0"/>
              </a:spcAft>
            </a:pPr>
            <a:r>
              <a:rPr sz="1900" b="0">
                <a:solidFill>
                  <a:srgbClr val="00407A"/>
                </a:solidFill>
                <a:latin typeface="Arial"/>
              </a:rPr>
              <a:t>as an asynchronous-reset error.</a:t>
            </a:r>
          </a:p>
        </p:txBody>
      </p:sp>
      <p:sp>
        <p:nvSpPr>
          <p:cNvPr id="37" name="Rounded Rectangle 3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eight of the ten reason classes occur in these 16 test designs. Coverage is limited.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Diagnosing a known failure is not detecting that failure</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Match the two saved responses for the same 16 reason-test designs.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17</a:t>
            </a:r>
          </a:p>
        </p:txBody>
      </p:sp>
      <p:graphicFrame>
        <p:nvGraphicFramePr>
          <p:cNvPr id="7" name="Table 6"/>
          <p:cNvGraphicFramePr>
            <a:graphicFrameLocks noGrp="1"/>
          </p:cNvGraphicFramePr>
          <p:nvPr/>
        </p:nvGraphicFramePr>
        <p:xfrm>
          <a:off x="813816" y="1920240"/>
          <a:ext cx="10561320" cy="2514600"/>
        </p:xfrm>
        <a:graphic>
          <a:graphicData uri="http://schemas.openxmlformats.org/drawingml/2006/table">
            <a:tbl>
              <a:tblPr firstRow="1" bandRow="1">
                <a:tableStyleId>{5C22544A-7EE6-4342-B048-85BDC9FD1C3A}</a:tableStyleId>
              </a:tblPr>
              <a:tblGrid>
                <a:gridCol w="1371600"/>
                <a:gridCol w="2743200"/>
                <a:gridCol w="3703320"/>
                <a:gridCol w="27432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Says synthesis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Correct reason when told it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Both answers correct</a:t>
                      </a:r>
                    </a:p>
                  </a:txBody>
                  <a:tcPr marL="109728" marR="91440" marT="54864" marB="36576" anchor="ctr">
                    <a:solidFill>
                      <a:srgbClr val="00407A"/>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15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4709160"/>
            <a:ext cx="10561320" cy="84124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910328"/>
            <a:ext cx="10058400" cy="50292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27B: 15 correct diagnoses, but zero failure flags on these same designs.</a:t>
            </a:r>
          </a:p>
        </p:txBody>
      </p:sp>
      <p:sp>
        <p:nvSpPr>
          <p:cNvPr id="10" name="Rounded Rectangle 9"/>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This is a linked analysis of existing answers, not a separately run detection-and-diagnosis system.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reasons: 27B gets 14 of 16 right</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The prompt states that synthesis failed; three solved examples come first.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18</a:t>
            </a:r>
          </a:p>
        </p:txBody>
      </p:sp>
      <p:sp>
        <p:nvSpPr>
          <p:cNvPr id="7" name="Rounded Rectangle 6"/>
          <p:cNvSpPr/>
          <p:nvPr/>
        </p:nvSpPr>
        <p:spPr>
          <a:xfrm>
            <a:off x="813816" y="1828800"/>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93392"/>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correct failure reason</a:t>
            </a:r>
          </a:p>
        </p:txBody>
      </p:sp>
      <p:sp>
        <p:nvSpPr>
          <p:cNvPr id="9" name="TextBox 8"/>
          <p:cNvSpPr txBox="1"/>
          <p:nvPr/>
        </p:nvSpPr>
        <p:spPr>
          <a:xfrm>
            <a:off x="1014984" y="2441448"/>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16 known-failure designs • one choice per design</a:t>
            </a:r>
          </a:p>
        </p:txBody>
      </p:sp>
      <p:cxnSp>
        <p:nvCxnSpPr>
          <p:cNvPr id="10" name="Connector 9"/>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6" name="TextBox 15"/>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62656"/>
            <a:ext cx="18859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6.3%</a:t>
            </a:r>
          </a:p>
          <a:p>
            <a:pPr algn="l">
              <a:lnSpc>
                <a:spcPct val="109000"/>
              </a:lnSpc>
              <a:spcBef>
                <a:spcPts val="0"/>
              </a:spcBef>
              <a:spcAft>
                <a:spcPts val="0"/>
              </a:spcAft>
            </a:pPr>
            <a:r>
              <a:rPr sz="1250" b="0">
                <a:solidFill>
                  <a:srgbClr val="00407A"/>
                </a:solidFill>
                <a:latin typeface="Arial"/>
              </a:rPr>
              <a:t>1 of 16</a:t>
            </a:r>
          </a:p>
        </p:txBody>
      </p:sp>
      <p:sp>
        <p:nvSpPr>
          <p:cNvPr id="19" name="TextBox 18"/>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65575"/>
            <a:ext cx="188595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62.5%</a:t>
            </a:r>
          </a:p>
          <a:p>
            <a:pPr algn="l">
              <a:lnSpc>
                <a:spcPct val="109000"/>
              </a:lnSpc>
              <a:spcBef>
                <a:spcPts val="0"/>
              </a:spcBef>
              <a:spcAft>
                <a:spcPts val="0"/>
              </a:spcAft>
            </a:pPr>
            <a:r>
              <a:rPr sz="1250" b="0">
                <a:solidFill>
                  <a:srgbClr val="00407A"/>
                </a:solidFill>
                <a:latin typeface="Arial"/>
              </a:rPr>
              <a:t>10 of 16</a:t>
            </a:r>
          </a:p>
        </p:txBody>
      </p:sp>
      <p:sp>
        <p:nvSpPr>
          <p:cNvPr id="22" name="TextBox 21"/>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68495"/>
            <a:ext cx="2074545"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68.8%</a:t>
            </a:r>
          </a:p>
          <a:p>
            <a:pPr algn="l">
              <a:lnSpc>
                <a:spcPct val="109000"/>
              </a:lnSpc>
              <a:spcBef>
                <a:spcPts val="0"/>
              </a:spcBef>
              <a:spcAft>
                <a:spcPts val="0"/>
              </a:spcAft>
            </a:pPr>
            <a:r>
              <a:rPr sz="1250" b="0">
                <a:solidFill>
                  <a:srgbClr val="00407A"/>
                </a:solidFill>
                <a:latin typeface="Arial"/>
              </a:rPr>
              <a:t>11 of 16</a:t>
            </a:r>
          </a:p>
        </p:txBody>
      </p:sp>
      <p:sp>
        <p:nvSpPr>
          <p:cNvPr id="25" name="TextBox 24"/>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71416"/>
            <a:ext cx="264033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87.5%</a:t>
            </a:r>
          </a:p>
          <a:p>
            <a:pPr algn="l">
              <a:lnSpc>
                <a:spcPct val="109000"/>
              </a:lnSpc>
              <a:spcBef>
                <a:spcPts val="0"/>
              </a:spcBef>
              <a:spcAft>
                <a:spcPts val="0"/>
              </a:spcAft>
            </a:pPr>
            <a:r>
              <a:rPr sz="1250" b="0">
                <a:solidFill>
                  <a:srgbClr val="00407A"/>
                </a:solidFill>
                <a:latin typeface="Arial"/>
              </a:rPr>
              <a:t>14 of 16</a:t>
            </a:r>
          </a:p>
        </p:txBody>
      </p:sp>
      <p:cxnSp>
        <p:nvCxnSpPr>
          <p:cNvPr id="28" name="Connector 27"/>
          <p:cNvCxnSpPr/>
          <p:nvPr/>
        </p:nvCxnSpPr>
        <p:spPr>
          <a:xfrm>
            <a:off x="2607183" y="2916935"/>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361563" y="341985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738753" y="392277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493133" y="4425696"/>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96696" y="5038344"/>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3" name="Rounded Rectangle 32"/>
          <p:cNvSpPr/>
          <p:nvPr/>
        </p:nvSpPr>
        <p:spPr>
          <a:xfrm>
            <a:off x="6208776" y="1828800"/>
            <a:ext cx="5166360" cy="1874519"/>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The three examples</a:t>
            </a:r>
          </a:p>
        </p:txBody>
      </p:sp>
      <p:sp>
        <p:nvSpPr>
          <p:cNvPr id="36" name="TextBox 35"/>
          <p:cNvSpPr txBox="1"/>
          <p:nvPr/>
        </p:nvSpPr>
        <p:spPr>
          <a:xfrm>
            <a:off x="6437376" y="2834640"/>
            <a:ext cx="4709160" cy="685799"/>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Classes multiple_drivers, illegal_code,</a:t>
            </a:r>
          </a:p>
          <a:p>
            <a:pPr algn="l">
              <a:lnSpc>
                <a:spcPct val="109000"/>
              </a:lnSpc>
              <a:spcBef>
                <a:spcPts val="0"/>
              </a:spcBef>
              <a:spcAft>
                <a:spcPts val="0"/>
              </a:spcAft>
            </a:pPr>
            <a:r>
              <a:rPr sz="1800" b="0">
                <a:solidFill>
                  <a:srgbClr val="00407A"/>
                </a:solidFill>
                <a:latin typeface="Arial"/>
              </a:rPr>
              <a:t>event_list, each with its first DC error.</a:t>
            </a:r>
          </a:p>
        </p:txBody>
      </p:sp>
      <p:sp>
        <p:nvSpPr>
          <p:cNvPr id="37" name="Rounded Rectangle 36"/>
          <p:cNvSpPr/>
          <p:nvPr/>
        </p:nvSpPr>
        <p:spPr>
          <a:xfrm>
            <a:off x="6208776" y="3886200"/>
            <a:ext cx="5166360" cy="166420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8776" y="38862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37376" y="40325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What the 27B errors were</a:t>
            </a:r>
          </a:p>
        </p:txBody>
      </p:sp>
      <p:sp>
        <p:nvSpPr>
          <p:cNvPr id="40" name="TextBox 39"/>
          <p:cNvSpPr txBox="1"/>
          <p:nvPr/>
        </p:nvSpPr>
        <p:spPr>
          <a:xfrm>
            <a:off x="6437376" y="4544568"/>
            <a:ext cx="4709160" cy="91440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A multiple-driver error and an</a:t>
            </a:r>
          </a:p>
          <a:p>
            <a:pPr algn="l">
              <a:lnSpc>
                <a:spcPct val="109000"/>
              </a:lnSpc>
              <a:spcBef>
                <a:spcPts val="0"/>
              </a:spcBef>
              <a:spcAft>
                <a:spcPts val="0"/>
              </a:spcAft>
            </a:pPr>
            <a:r>
              <a:rPr sz="1900" b="0">
                <a:solidFill>
                  <a:srgbClr val="00407A"/>
                </a:solidFill>
                <a:latin typeface="Arial"/>
              </a:rPr>
              <a:t>asynchronous-reset error were</a:t>
            </a:r>
          </a:p>
          <a:p>
            <a:pPr algn="l">
              <a:lnSpc>
                <a:spcPct val="109000"/>
              </a:lnSpc>
              <a:spcBef>
                <a:spcPts val="0"/>
              </a:spcBef>
              <a:spcAft>
                <a:spcPts val="0"/>
              </a:spcAft>
            </a:pPr>
            <a:r>
              <a:rPr sz="1900" b="0">
                <a:solidFill>
                  <a:srgbClr val="00407A"/>
                </a:solidFill>
                <a:latin typeface="Arial"/>
              </a:rPr>
              <a:t>both labelled event_list.</a:t>
            </a:r>
          </a:p>
        </p:txBody>
      </p:sp>
      <p:sp>
        <p:nvSpPr>
          <p:cNvPr id="41" name="Rounded Rectangle 40"/>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No test design has the class event_list; the models chose it 16 times (6 without examples).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 flags 5 of the 16 known failures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Match the two saved answers with examples for the same 16 reason-test designs.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19</a:t>
            </a:r>
          </a:p>
        </p:txBody>
      </p:sp>
      <p:graphicFrame>
        <p:nvGraphicFramePr>
          <p:cNvPr id="7" name="Table 6"/>
          <p:cNvGraphicFramePr>
            <a:graphicFrameLocks noGrp="1"/>
          </p:cNvGraphicFramePr>
          <p:nvPr/>
        </p:nvGraphicFramePr>
        <p:xfrm>
          <a:off x="813816" y="1920240"/>
          <a:ext cx="10561320" cy="2514600"/>
        </p:xfrm>
        <a:graphic>
          <a:graphicData uri="http://schemas.openxmlformats.org/drawingml/2006/table">
            <a:tbl>
              <a:tblPr firstRow="1" bandRow="1">
                <a:tableStyleId>{5C22544A-7EE6-4342-B048-85BDC9FD1C3A}</a:tableStyleId>
              </a:tblPr>
              <a:tblGrid>
                <a:gridCol w="1371600"/>
                <a:gridCol w="2743200"/>
                <a:gridCol w="3703320"/>
                <a:gridCol w="27432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Says synthesis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Correct reason when told it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Both answers correct</a:t>
                      </a:r>
                    </a:p>
                  </a:txBody>
                  <a:tcPr marL="109728" marR="91440" marT="54864" marB="36576" anchor="ctr">
                    <a:solidFill>
                      <a:srgbClr val="00407A"/>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16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FFFFFF"/>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14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16</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4709160"/>
            <a:ext cx="10561320" cy="84124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910328"/>
            <a:ext cx="10058400" cy="50292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27B: 14 correct diagnoses and 5 failure flags on these same designs.</a:t>
            </a:r>
          </a:p>
        </p:txBody>
      </p:sp>
      <p:sp>
        <p:nvSpPr>
          <p:cNvPr id="10" name="Rounded Rectangle 9"/>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KEV-0.8B flags all 16 because it answers “no” for every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and power: choose one of five ranges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model estimates a level from source code and flow information, not an exact physical value.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20</a:t>
            </a:r>
          </a:p>
        </p:txBody>
      </p:sp>
      <p:graphicFrame>
        <p:nvGraphicFramePr>
          <p:cNvPr id="6" name="Table 5"/>
          <p:cNvGraphicFramePr>
            <a:graphicFrameLocks noGrp="1"/>
          </p:cNvGraphicFramePr>
          <p:nvPr/>
        </p:nvGraphicFramePr>
        <p:xfrm>
          <a:off x="813816" y="1920240"/>
          <a:ext cx="10561320" cy="2103118"/>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Cell area</a:t>
                      </a:r>
                    </a:p>
                    <a:p>
                      <a:pPr algn="l">
                        <a:lnSpc>
                          <a:spcPct val="103000"/>
                        </a:lnSpc>
                        <a:spcBef>
                          <a:spcPts val="0"/>
                        </a:spcBef>
                        <a:spcAft>
                          <a:spcPts val="0"/>
                        </a:spcAft>
                      </a:pPr>
                      <a:r>
                        <a:rPr sz="1800" b="0">
                          <a:solidFill>
                            <a:srgbClr val="00407A"/>
                          </a:solidFill>
                          <a:latin typeface="Arial"/>
                        </a:rPr>
                        <a:t>(gate equivalents)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 to</a:t>
                      </a:r>
                    </a:p>
                    <a:p>
                      <a:pPr algn="ctr">
                        <a:lnSpc>
                          <a:spcPct val="103000"/>
                        </a:lnSpc>
                        <a:spcBef>
                          <a:spcPts val="0"/>
                        </a:spcBef>
                        <a:spcAft>
                          <a:spcPts val="0"/>
                        </a:spcAft>
                      </a:pPr>
                      <a:r>
                        <a:rPr sz="1800" b="0">
                          <a:solidFill>
                            <a:srgbClr val="00407A"/>
                          </a:solidFill>
                          <a:latin typeface="Arial"/>
                        </a:rPr>
                        <a:t>&lt;100,000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≥100,000</a:t>
                      </a:r>
                    </a:p>
                  </a:txBody>
                  <a:tcPr marL="109728" marR="91440" marT="54864" marB="36576" anchor="ctr">
                    <a:solidFill>
                      <a:srgbClr val="E3EFF5"/>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Total power</a:t>
                      </a:r>
                    </a:p>
                    <a:p>
                      <a:pPr algn="l">
                        <a:lnSpc>
                          <a:spcPct val="103000"/>
                        </a:lnSpc>
                        <a:spcBef>
                          <a:spcPts val="0"/>
                        </a:spcBef>
                        <a:spcAft>
                          <a:spcPts val="0"/>
                        </a:spcAft>
                      </a:pPr>
                      <a:r>
                        <a:rPr sz="1800" b="0">
                          <a:solidFill>
                            <a:srgbClr val="00407A"/>
                          </a:solidFill>
                          <a:latin typeface="Arial"/>
                        </a:rPr>
                        <a:t>(microwatts)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Area reference</a:t>
            </a:r>
          </a:p>
        </p:txBody>
      </p:sp>
      <p:sp>
        <p:nvSpPr>
          <p:cNvPr id="10" name="TextBox 9"/>
          <p:cNvSpPr txBox="1"/>
          <p:nvPr/>
        </p:nvSpPr>
        <p:spPr>
          <a:xfrm>
            <a:off x="104241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 gate equivalent = one two-input NAND gate</a:t>
            </a:r>
          </a:p>
          <a:p>
            <a:pPr algn="l">
              <a:lnSpc>
                <a:spcPct val="109000"/>
              </a:lnSpc>
              <a:spcBef>
                <a:spcPts val="0"/>
              </a:spcBef>
              <a:spcAft>
                <a:spcPts val="0"/>
              </a:spcAft>
            </a:pPr>
            <a:r>
              <a:rPr sz="1700" b="0">
                <a:solidFill>
                  <a:srgbClr val="00407A"/>
                </a:solidFill>
                <a:latin typeface="Arial"/>
              </a:rPr>
              <a:t>= 0.196608 square micrometres in this library.</a:t>
            </a:r>
          </a:p>
        </p:txBody>
      </p:sp>
      <p:sp>
        <p:nvSpPr>
          <p:cNvPr id="11" name="Rounded Rectangle 10"/>
          <p:cNvSpPr/>
          <p:nvPr/>
        </p:nvSpPr>
        <p:spPr>
          <a:xfrm>
            <a:off x="620877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Power reference</a:t>
            </a:r>
          </a:p>
        </p:txBody>
      </p:sp>
      <p:sp>
        <p:nvSpPr>
          <p:cNvPr id="14" name="TextBox 13"/>
          <p:cNvSpPr txBox="1"/>
          <p:nvPr/>
        </p:nvSpPr>
        <p:spPr>
          <a:xfrm>
            <a:off x="643737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Dynamic + leakage, for the supplied stimulus.</a:t>
            </a:r>
          </a:p>
          <a:p>
            <a:pPr algn="l">
              <a:lnSpc>
                <a:spcPct val="109000"/>
              </a:lnSpc>
              <a:spcBef>
                <a:spcPts val="0"/>
              </a:spcBef>
              <a:spcAft>
                <a:spcPts val="0"/>
              </a:spcAft>
            </a:pPr>
            <a:r>
              <a:rPr sz="1700" b="0">
                <a:solidFill>
                  <a:srgbClr val="00407A"/>
                </a:solidFill>
                <a:latin typeface="Arial"/>
              </a:rPr>
              <a:t>1,000 microwatts = 1 milliwatt.</a:t>
            </a:r>
          </a:p>
        </p:txBody>
      </p:sp>
      <p:sp>
        <p:nvSpPr>
          <p:cNvPr id="15" name="Rounded Rectangle 1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Exact level is strict; “within one level” can span a large physical range because these bins are logarithmic.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margin at 500 MHz, plus a derived frequency</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clock target is 500 MHz: one cycle lasts 2 nanoseconds (ns).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21</a:t>
            </a:r>
          </a:p>
        </p:txBody>
      </p:sp>
      <p:graphicFrame>
        <p:nvGraphicFramePr>
          <p:cNvPr id="6" name="Table 5"/>
          <p:cNvGraphicFramePr>
            <a:graphicFrameLocks noGrp="1"/>
          </p:cNvGraphicFramePr>
          <p:nvPr/>
        </p:nvGraphicFramePr>
        <p:xfrm>
          <a:off x="813816" y="1874519"/>
          <a:ext cx="10561320" cy="2057400"/>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Worst slack</a:t>
                      </a:r>
                    </a:p>
                    <a:p>
                      <a:pPr algn="l">
                        <a:lnSpc>
                          <a:spcPct val="103000"/>
                        </a:lnSpc>
                        <a:spcBef>
                          <a:spcPts val="0"/>
                        </a:spcBef>
                        <a:spcAft>
                          <a:spcPts val="0"/>
                        </a:spcAft>
                      </a:pPr>
                      <a:r>
                        <a:rPr sz="18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Negative:</a:t>
                      </a:r>
                    </a:p>
                    <a:p>
                      <a:pPr algn="ctr">
                        <a:lnSpc>
                          <a:spcPct val="103000"/>
                        </a:lnSpc>
                        <a:spcBef>
                          <a:spcPts val="0"/>
                        </a:spcBef>
                        <a:spcAft>
                          <a:spcPts val="0"/>
                        </a:spcAft>
                      </a:pPr>
                      <a:r>
                        <a:rPr sz="1800" b="0">
                          <a:solidFill>
                            <a:srgbClr val="00407A"/>
                          </a:solidFill>
                          <a:latin typeface="Arial"/>
                        </a:rPr>
                        <a:t>misses target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 to</a:t>
                      </a:r>
                    </a:p>
                    <a:p>
                      <a:pPr algn="ctr">
                        <a:lnSpc>
                          <a:spcPct val="103000"/>
                        </a:lnSpc>
                        <a:spcBef>
                          <a:spcPts val="0"/>
                        </a:spcBef>
                        <a:spcAft>
                          <a:spcPts val="0"/>
                        </a:spcAft>
                      </a:pPr>
                      <a:r>
                        <a:rPr sz="1800" b="0">
                          <a:solidFill>
                            <a:srgbClr val="00407A"/>
                          </a:solidFill>
                          <a:latin typeface="Arial"/>
                        </a:rPr>
                        <a:t>&lt;0.5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0.5 to</a:t>
                      </a:r>
                    </a:p>
                    <a:p>
                      <a:pPr algn="ctr">
                        <a:lnSpc>
                          <a:spcPct val="103000"/>
                        </a:lnSpc>
                        <a:spcBef>
                          <a:spcPts val="0"/>
                        </a:spcBef>
                        <a:spcAft>
                          <a:spcPts val="0"/>
                        </a:spcAft>
                      </a:pPr>
                      <a:r>
                        <a:rPr sz="1800" b="0">
                          <a:solidFill>
                            <a:srgbClr val="00407A"/>
                          </a:solidFill>
                          <a:latin typeface="Arial"/>
                        </a:rPr>
                        <a:t>&lt;1.0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≥1.5 ns</a:t>
                      </a:r>
                    </a:p>
                  </a:txBody>
                  <a:tcPr marL="109728" marR="91440" marT="54864" marB="36576" anchor="ctr">
                    <a:solidFill>
                      <a:srgbClr val="E3EFF5"/>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Reachable clock</a:t>
                      </a:r>
                    </a:p>
                    <a:p>
                      <a:pPr algn="l">
                        <a:lnSpc>
                          <a:spcPct val="103000"/>
                        </a:lnSpc>
                        <a:spcBef>
                          <a:spcPts val="0"/>
                        </a:spcBef>
                        <a:spcAft>
                          <a:spcPts val="0"/>
                        </a:spcAft>
                      </a:pPr>
                      <a:r>
                        <a:rPr sz="1800" b="0">
                          <a:solidFill>
                            <a:srgbClr val="00407A"/>
                          </a:solidFill>
                          <a:latin typeface="Arial"/>
                        </a:rPr>
                        <a:t>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 to</a:t>
                      </a:r>
                    </a:p>
                    <a:p>
                      <a:pPr algn="ctr">
                        <a:lnSpc>
                          <a:spcPct val="103000"/>
                        </a:lnSpc>
                        <a:spcBef>
                          <a:spcPts val="0"/>
                        </a:spcBef>
                        <a:spcAft>
                          <a:spcPts val="0"/>
                        </a:spcAft>
                      </a:pPr>
                      <a:r>
                        <a:rPr sz="1800" b="0">
                          <a:solidFill>
                            <a:srgbClr val="00407A"/>
                          </a:solidFill>
                          <a:latin typeface="Arial"/>
                        </a:rPr>
                        <a:t>&lt;2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2 to</a:t>
                      </a:r>
                    </a:p>
                    <a:p>
                      <a:pPr algn="ctr">
                        <a:lnSpc>
                          <a:spcPct val="103000"/>
                        </a:lnSpc>
                        <a:spcBef>
                          <a:spcPts val="0"/>
                        </a:spcBef>
                        <a:spcAft>
                          <a:spcPts val="0"/>
                        </a:spcAft>
                      </a:pPr>
                      <a:r>
                        <a:rPr sz="1800" b="0">
                          <a:solidFill>
                            <a:srgbClr val="00407A"/>
                          </a:solidFill>
                          <a:latin typeface="Arial"/>
                        </a:rPr>
                        <a:t>&lt;3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3 to</a:t>
                      </a:r>
                    </a:p>
                    <a:p>
                      <a:pPr algn="ctr">
                        <a:lnSpc>
                          <a:spcPct val="103000"/>
                        </a:lnSpc>
                        <a:spcBef>
                          <a:spcPts val="0"/>
                        </a:spcBef>
                        <a:spcAft>
                          <a:spcPts val="0"/>
                        </a:spcAft>
                      </a:pPr>
                      <a:r>
                        <a:rPr sz="1800" b="0">
                          <a:solidFill>
                            <a:srgbClr val="00407A"/>
                          </a:solidFill>
                          <a:latin typeface="Arial"/>
                        </a:rPr>
                        <a:t>&lt;4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≥4 GHz</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261104"/>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2500" b="1">
                <a:solidFill>
                  <a:srgbClr val="00407A"/>
                </a:solidFill>
                <a:latin typeface="Arial"/>
              </a:rPr>
              <a:t>Reachable frequency (GHz) = 1 ÷ [2 ns − worst slack (ns)]</a:t>
            </a:r>
          </a:p>
        </p:txBody>
      </p:sp>
      <p:sp>
        <p:nvSpPr>
          <p:cNvPr id="8" name="TextBox 7"/>
          <p:cNvSpPr txBox="1"/>
          <p:nvPr/>
        </p:nvSpPr>
        <p:spPr>
          <a:xfrm>
            <a:off x="960120" y="4919472"/>
            <a:ext cx="10149840" cy="6858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Example: 1.438 ns of slack gives a 0.562 ns limiting delay, or about 1.78 GHz.</a:t>
            </a:r>
          </a:p>
          <a:p>
            <a:pPr algn="l">
              <a:lnSpc>
                <a:spcPct val="109000"/>
              </a:lnSpc>
              <a:spcBef>
                <a:spcPts val="0"/>
              </a:spcBef>
              <a:spcAft>
                <a:spcPts val="0"/>
              </a:spcAft>
            </a:pPr>
            <a:r>
              <a:rPr sz="1800" b="0">
                <a:solidFill>
                  <a:srgbClr val="00407A"/>
                </a:solidFill>
                <a:latin typeface="Arial"/>
              </a:rPr>
              <a:t>This is derived from the netlist synthesized at 500 MHz; it is not a new optimized run.</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No negative-slack designs occur in this test split. Timing-violation detection is therefore not evaluated.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levels improve substantially with 9B and 27B</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same flow and target • exact and within-one scores shown separately.</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22</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area level</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All five true area levels occur</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746579"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53512"/>
            <a:ext cx="1082371"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20" name="TextBox 1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56432"/>
            <a:ext cx="1082371"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23" name="TextBox 22"/>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59351"/>
            <a:ext cx="1738353"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57.6%</a:t>
            </a:r>
          </a:p>
          <a:p>
            <a:pPr algn="l">
              <a:lnSpc>
                <a:spcPct val="109000"/>
              </a:lnSpc>
              <a:spcBef>
                <a:spcPts val="0"/>
              </a:spcBef>
              <a:spcAft>
                <a:spcPts val="0"/>
              </a:spcAft>
            </a:pPr>
            <a:r>
              <a:rPr sz="1250" b="0">
                <a:solidFill>
                  <a:srgbClr val="00407A"/>
                </a:solidFill>
                <a:latin typeface="Arial"/>
              </a:rPr>
              <a:t>53 of 92</a:t>
            </a:r>
          </a:p>
        </p:txBody>
      </p:sp>
      <p:sp>
        <p:nvSpPr>
          <p:cNvPr id="26" name="TextBox 25"/>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62272"/>
            <a:ext cx="2000746"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29" name="TextBox 28"/>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0" name="TextBox 29"/>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1 = 35.9%</a:t>
            </a:r>
          </a:p>
        </p:txBody>
      </p:sp>
      <p:sp>
        <p:nvSpPr>
          <p:cNvPr id="31" name="Rounded Rectangle 30"/>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area level</a:t>
            </a:r>
          </a:p>
        </p:txBody>
      </p:sp>
      <p:sp>
        <p:nvSpPr>
          <p:cNvPr id="33" name="TextBox 32"/>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4" name="Connector 33"/>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6" name="Connector 35"/>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8" name="Connector 37"/>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40" name="TextBox 39"/>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7059168" y="2953512"/>
            <a:ext cx="200074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43" name="TextBox 42"/>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7059168" y="3456432"/>
            <a:ext cx="2131943"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70.7%</a:t>
            </a:r>
          </a:p>
          <a:p>
            <a:pPr algn="l">
              <a:lnSpc>
                <a:spcPct val="109000"/>
              </a:lnSpc>
              <a:spcBef>
                <a:spcPts val="0"/>
              </a:spcBef>
              <a:spcAft>
                <a:spcPts val="0"/>
              </a:spcAft>
            </a:pPr>
            <a:r>
              <a:rPr sz="1250" b="0">
                <a:solidFill>
                  <a:srgbClr val="00407A"/>
                </a:solidFill>
                <a:latin typeface="Arial"/>
              </a:rPr>
              <a:t>65 of 92</a:t>
            </a:r>
          </a:p>
        </p:txBody>
      </p:sp>
      <p:sp>
        <p:nvSpPr>
          <p:cNvPr id="46" name="TextBox 4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7059168" y="3959351"/>
            <a:ext cx="272232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90.2%</a:t>
            </a:r>
          </a:p>
          <a:p>
            <a:pPr algn="l">
              <a:lnSpc>
                <a:spcPct val="109000"/>
              </a:lnSpc>
              <a:spcBef>
                <a:spcPts val="0"/>
              </a:spcBef>
              <a:spcAft>
                <a:spcPts val="0"/>
              </a:spcAft>
            </a:pPr>
            <a:r>
              <a:rPr sz="1250" b="0">
                <a:solidFill>
                  <a:srgbClr val="00407A"/>
                </a:solidFill>
                <a:latin typeface="Arial"/>
              </a:rPr>
              <a:t>83 of 92</a:t>
            </a:r>
          </a:p>
        </p:txBody>
      </p:sp>
      <p:sp>
        <p:nvSpPr>
          <p:cNvPr id="49" name="TextBox 48"/>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705916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92 of 92</a:t>
            </a:r>
          </a:p>
        </p:txBody>
      </p:sp>
      <p:sp>
        <p:nvSpPr>
          <p:cNvPr id="52" name="TextBox 51"/>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Rounded Rectangle 52"/>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61 of 92 exact levels; all 92 estimates are within one level.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exact area levels drop from 61 to 48</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92 held-out designs; three solved examples per question.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23</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area level</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All five true area levels occur</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746579"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53512"/>
            <a:ext cx="6559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2.2%</a:t>
            </a:r>
          </a:p>
          <a:p>
            <a:pPr algn="l">
              <a:lnSpc>
                <a:spcPct val="109000"/>
              </a:lnSpc>
              <a:spcBef>
                <a:spcPts val="0"/>
              </a:spcBef>
              <a:spcAft>
                <a:spcPts val="0"/>
              </a:spcAft>
            </a:pPr>
            <a:r>
              <a:rPr sz="1250" b="0">
                <a:solidFill>
                  <a:srgbClr val="00407A"/>
                </a:solidFill>
                <a:latin typeface="Arial"/>
              </a:rPr>
              <a:t>2 of 92</a:t>
            </a:r>
          </a:p>
        </p:txBody>
      </p:sp>
      <p:sp>
        <p:nvSpPr>
          <p:cNvPr id="20" name="TextBox 1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56432"/>
            <a:ext cx="150876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46 of 92</a:t>
            </a:r>
          </a:p>
        </p:txBody>
      </p:sp>
      <p:sp>
        <p:nvSpPr>
          <p:cNvPr id="23" name="TextBox 22"/>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59351"/>
            <a:ext cx="163995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54.3%</a:t>
            </a:r>
          </a:p>
          <a:p>
            <a:pPr algn="l">
              <a:lnSpc>
                <a:spcPct val="109000"/>
              </a:lnSpc>
              <a:spcBef>
                <a:spcPts val="0"/>
              </a:spcBef>
              <a:spcAft>
                <a:spcPts val="0"/>
              </a:spcAft>
            </a:pPr>
            <a:r>
              <a:rPr sz="1250" b="0">
                <a:solidFill>
                  <a:srgbClr val="00407A"/>
                </a:solidFill>
                <a:latin typeface="Arial"/>
              </a:rPr>
              <a:t>50 of 92</a:t>
            </a:r>
          </a:p>
        </p:txBody>
      </p:sp>
      <p:sp>
        <p:nvSpPr>
          <p:cNvPr id="26" name="TextBox 25"/>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62272"/>
            <a:ext cx="157435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52.2%</a:t>
            </a:r>
          </a:p>
          <a:p>
            <a:pPr algn="l">
              <a:lnSpc>
                <a:spcPct val="109000"/>
              </a:lnSpc>
              <a:spcBef>
                <a:spcPts val="0"/>
              </a:spcBef>
              <a:spcAft>
                <a:spcPts val="0"/>
              </a:spcAft>
            </a:pPr>
            <a:r>
              <a:rPr sz="1250" b="0">
                <a:solidFill>
                  <a:srgbClr val="00407A"/>
                </a:solidFill>
                <a:latin typeface="Arial"/>
              </a:rPr>
              <a:t>48 of 92</a:t>
            </a:r>
          </a:p>
        </p:txBody>
      </p:sp>
      <p:cxnSp>
        <p:nvCxnSpPr>
          <p:cNvPr id="29" name="Connector 28"/>
          <p:cNvCxnSpPr/>
          <p:nvPr/>
        </p:nvCxnSpPr>
        <p:spPr>
          <a:xfrm>
            <a:off x="2746579"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746579"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402561"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664954"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4" name="TextBox 33"/>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1 = 35.9%</a:t>
            </a:r>
          </a:p>
        </p:txBody>
      </p:sp>
      <p:sp>
        <p:nvSpPr>
          <p:cNvPr id="35" name="Rounded Rectangle 34"/>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area level</a:t>
            </a:r>
          </a:p>
        </p:txBody>
      </p:sp>
      <p:sp>
        <p:nvSpPr>
          <p:cNvPr id="37" name="TextBox 36"/>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8" name="Connector 37"/>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40" name="Connector 39"/>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2" name="Connector 41"/>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44" name="TextBox 43"/>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5" name="Rectangle 44"/>
          <p:cNvSpPr/>
          <p:nvPr/>
        </p:nvSpPr>
        <p:spPr>
          <a:xfrm>
            <a:off x="7059168" y="2953512"/>
            <a:ext cx="36079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12.0%</a:t>
            </a:r>
          </a:p>
          <a:p>
            <a:pPr algn="l">
              <a:lnSpc>
                <a:spcPct val="109000"/>
              </a:lnSpc>
              <a:spcBef>
                <a:spcPts val="0"/>
              </a:spcBef>
              <a:spcAft>
                <a:spcPts val="0"/>
              </a:spcAft>
            </a:pPr>
            <a:r>
              <a:rPr sz="1250" b="0">
                <a:solidFill>
                  <a:srgbClr val="00407A"/>
                </a:solidFill>
                <a:latin typeface="Arial"/>
              </a:rPr>
              <a:t>11 of 92</a:t>
            </a:r>
          </a:p>
        </p:txBody>
      </p:sp>
      <p:sp>
        <p:nvSpPr>
          <p:cNvPr id="47" name="TextBox 46"/>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8" name="Rectangle 47"/>
          <p:cNvSpPr/>
          <p:nvPr/>
        </p:nvSpPr>
        <p:spPr>
          <a:xfrm>
            <a:off x="7059168" y="3456432"/>
            <a:ext cx="2820725"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93.5%</a:t>
            </a:r>
          </a:p>
          <a:p>
            <a:pPr algn="l">
              <a:lnSpc>
                <a:spcPct val="109000"/>
              </a:lnSpc>
              <a:spcBef>
                <a:spcPts val="0"/>
              </a:spcBef>
              <a:spcAft>
                <a:spcPts val="0"/>
              </a:spcAft>
            </a:pPr>
            <a:r>
              <a:rPr sz="1250" b="0">
                <a:solidFill>
                  <a:srgbClr val="00407A"/>
                </a:solidFill>
                <a:latin typeface="Arial"/>
              </a:rPr>
              <a:t>86 of 92</a:t>
            </a:r>
          </a:p>
        </p:txBody>
      </p:sp>
      <p:sp>
        <p:nvSpPr>
          <p:cNvPr id="50" name="TextBox 49"/>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51" name="Rectangle 50"/>
          <p:cNvSpPr/>
          <p:nvPr/>
        </p:nvSpPr>
        <p:spPr>
          <a:xfrm>
            <a:off x="7059168" y="3959351"/>
            <a:ext cx="278792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92.4%</a:t>
            </a:r>
          </a:p>
          <a:p>
            <a:pPr algn="l">
              <a:lnSpc>
                <a:spcPct val="109000"/>
              </a:lnSpc>
              <a:spcBef>
                <a:spcPts val="0"/>
              </a:spcBef>
              <a:spcAft>
                <a:spcPts val="0"/>
              </a:spcAft>
            </a:pPr>
            <a:r>
              <a:rPr sz="1250" b="0">
                <a:solidFill>
                  <a:srgbClr val="00407A"/>
                </a:solidFill>
                <a:latin typeface="Arial"/>
              </a:rPr>
              <a:t>85 of 92</a:t>
            </a:r>
          </a:p>
        </p:txBody>
      </p:sp>
      <p:sp>
        <p:nvSpPr>
          <p:cNvPr id="53" name="TextBox 52"/>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4" name="Rectangle 53"/>
          <p:cNvSpPr/>
          <p:nvPr/>
        </p:nvSpPr>
        <p:spPr>
          <a:xfrm>
            <a:off x="705916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92 of 92</a:t>
            </a:r>
          </a:p>
        </p:txBody>
      </p:sp>
      <p:cxnSp>
        <p:nvCxnSpPr>
          <p:cNvPr id="56" name="Connector 55"/>
          <p:cNvCxnSpPr/>
          <p:nvPr/>
        </p:nvCxnSpPr>
        <p:spPr>
          <a:xfrm>
            <a:off x="9059914"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191111"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781495"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076688"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61" name="Rounded Rectangle 60"/>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KEV-0.8B chooses level 5 for all 92 designs. 27B is still within one level for all 92.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Power levels: the largest model performs worst</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85 held-out designs with usable power measurements and a supplied stimulus testbench.</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24</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power level</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Levels 1 to 4 occur; level 5 is absent</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977716"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53512"/>
            <a:ext cx="81650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27.1%</a:t>
            </a:r>
          </a:p>
          <a:p>
            <a:pPr algn="l">
              <a:lnSpc>
                <a:spcPct val="109000"/>
              </a:lnSpc>
              <a:spcBef>
                <a:spcPts val="0"/>
              </a:spcBef>
              <a:spcAft>
                <a:spcPts val="0"/>
              </a:spcAft>
            </a:pPr>
            <a:r>
              <a:rPr sz="1250" b="0">
                <a:solidFill>
                  <a:srgbClr val="00407A"/>
                </a:solidFill>
                <a:latin typeface="Arial"/>
              </a:rPr>
              <a:t>23 of 85</a:t>
            </a:r>
          </a:p>
        </p:txBody>
      </p:sp>
      <p:sp>
        <p:nvSpPr>
          <p:cNvPr id="20" name="TextBox 1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56432"/>
            <a:ext cx="1384509"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45.9%</a:t>
            </a:r>
          </a:p>
          <a:p>
            <a:pPr algn="l">
              <a:lnSpc>
                <a:spcPct val="109000"/>
              </a:lnSpc>
              <a:spcBef>
                <a:spcPts val="0"/>
              </a:spcBef>
              <a:spcAft>
                <a:spcPts val="0"/>
              </a:spcAft>
            </a:pPr>
            <a:r>
              <a:rPr sz="1250" b="0">
                <a:solidFill>
                  <a:srgbClr val="00407A"/>
                </a:solidFill>
                <a:latin typeface="Arial"/>
              </a:rPr>
              <a:t>39 of 85</a:t>
            </a:r>
          </a:p>
        </p:txBody>
      </p:sp>
      <p:sp>
        <p:nvSpPr>
          <p:cNvPr id="23" name="TextBox 22"/>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59351"/>
            <a:ext cx="12070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40.0%</a:t>
            </a:r>
          </a:p>
          <a:p>
            <a:pPr algn="l">
              <a:lnSpc>
                <a:spcPct val="109000"/>
              </a:lnSpc>
              <a:spcBef>
                <a:spcPts val="0"/>
              </a:spcBef>
              <a:spcAft>
                <a:spcPts val="0"/>
              </a:spcAft>
            </a:pPr>
            <a:r>
              <a:rPr sz="1250" b="0">
                <a:solidFill>
                  <a:srgbClr val="00407A"/>
                </a:solidFill>
                <a:latin typeface="Arial"/>
              </a:rPr>
              <a:t>34 of 85</a:t>
            </a:r>
          </a:p>
        </p:txBody>
      </p:sp>
      <p:sp>
        <p:nvSpPr>
          <p:cNvPr id="26" name="TextBox 25"/>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62272"/>
            <a:ext cx="31950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10.6%</a:t>
            </a:r>
          </a:p>
          <a:p>
            <a:pPr algn="l">
              <a:lnSpc>
                <a:spcPct val="109000"/>
              </a:lnSpc>
              <a:spcBef>
                <a:spcPts val="0"/>
              </a:spcBef>
              <a:spcAft>
                <a:spcPts val="0"/>
              </a:spcAft>
            </a:pPr>
            <a:r>
              <a:rPr sz="1250" b="0">
                <a:solidFill>
                  <a:srgbClr val="00407A"/>
                </a:solidFill>
                <a:latin typeface="Arial"/>
              </a:rPr>
              <a:t>9 of 85</a:t>
            </a:r>
          </a:p>
        </p:txBody>
      </p:sp>
      <p:sp>
        <p:nvSpPr>
          <p:cNvPr id="29" name="TextBox 28"/>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0" name="TextBox 29"/>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2 = 43.5%</a:t>
            </a:r>
          </a:p>
        </p:txBody>
      </p:sp>
      <p:sp>
        <p:nvSpPr>
          <p:cNvPr id="31" name="Rounded Rectangle 30"/>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power level</a:t>
            </a:r>
          </a:p>
        </p:txBody>
      </p:sp>
      <p:sp>
        <p:nvSpPr>
          <p:cNvPr id="33" name="TextBox 32"/>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4" name="Connector 33"/>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6" name="Connector 35"/>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8" name="Connector 37"/>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40" name="TextBox 39"/>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7059168" y="2953512"/>
            <a:ext cx="248501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82.4%</a:t>
            </a:r>
          </a:p>
          <a:p>
            <a:pPr algn="l">
              <a:lnSpc>
                <a:spcPct val="109000"/>
              </a:lnSpc>
              <a:spcBef>
                <a:spcPts val="0"/>
              </a:spcBef>
              <a:spcAft>
                <a:spcPts val="0"/>
              </a:spcAft>
            </a:pPr>
            <a:r>
              <a:rPr sz="1250" b="0">
                <a:solidFill>
                  <a:srgbClr val="00407A"/>
                </a:solidFill>
                <a:latin typeface="Arial"/>
              </a:rPr>
              <a:t>70 of 85</a:t>
            </a:r>
          </a:p>
        </p:txBody>
      </p:sp>
      <p:sp>
        <p:nvSpPr>
          <p:cNvPr id="43" name="TextBox 42"/>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7059168" y="3456432"/>
            <a:ext cx="2769018"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91.8%</a:t>
            </a:r>
          </a:p>
          <a:p>
            <a:pPr algn="l">
              <a:lnSpc>
                <a:spcPct val="109000"/>
              </a:lnSpc>
              <a:spcBef>
                <a:spcPts val="0"/>
              </a:spcBef>
              <a:spcAft>
                <a:spcPts val="0"/>
              </a:spcAft>
            </a:pPr>
            <a:r>
              <a:rPr sz="1250" b="0">
                <a:solidFill>
                  <a:srgbClr val="00407A"/>
                </a:solidFill>
                <a:latin typeface="Arial"/>
              </a:rPr>
              <a:t>78 of 85</a:t>
            </a:r>
          </a:p>
        </p:txBody>
      </p:sp>
      <p:sp>
        <p:nvSpPr>
          <p:cNvPr id="46" name="TextBox 4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7059168" y="3959351"/>
            <a:ext cx="280451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92.9%</a:t>
            </a:r>
          </a:p>
          <a:p>
            <a:pPr algn="l">
              <a:lnSpc>
                <a:spcPct val="109000"/>
              </a:lnSpc>
              <a:spcBef>
                <a:spcPts val="0"/>
              </a:spcBef>
              <a:spcAft>
                <a:spcPts val="0"/>
              </a:spcAft>
            </a:pPr>
            <a:r>
              <a:rPr sz="1250" b="0">
                <a:solidFill>
                  <a:srgbClr val="00407A"/>
                </a:solidFill>
                <a:latin typeface="Arial"/>
              </a:rPr>
              <a:t>79 of 85</a:t>
            </a:r>
          </a:p>
        </p:txBody>
      </p:sp>
      <p:sp>
        <p:nvSpPr>
          <p:cNvPr id="49" name="TextBox 48"/>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7059168" y="4462272"/>
            <a:ext cx="195251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64.7%</a:t>
            </a:r>
          </a:p>
          <a:p>
            <a:pPr algn="l">
              <a:lnSpc>
                <a:spcPct val="109000"/>
              </a:lnSpc>
              <a:spcBef>
                <a:spcPts val="0"/>
              </a:spcBef>
              <a:spcAft>
                <a:spcPts val="0"/>
              </a:spcAft>
            </a:pPr>
            <a:r>
              <a:rPr sz="1250" b="0">
                <a:solidFill>
                  <a:srgbClr val="00407A"/>
                </a:solidFill>
                <a:latin typeface="Arial"/>
              </a:rPr>
              <a:t>55 of 85</a:t>
            </a:r>
          </a:p>
        </p:txBody>
      </p:sp>
      <p:sp>
        <p:nvSpPr>
          <p:cNvPr id="52" name="TextBox 51"/>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Rounded Rectangle 52"/>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predicts only levels 3–5, although 60 of the 85 true labels are levels 1–2.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exact power levels rise from 9 to 36</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85 held-out designs with a power label; three solved examples per question.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power level</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Levels 1 to 4 occur; level 5 is absent</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977716"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85</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207008"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40.0%</a:t>
            </a:r>
          </a:p>
          <a:p>
            <a:pPr algn="l">
              <a:lnSpc>
                <a:spcPct val="109000"/>
              </a:lnSpc>
              <a:spcBef>
                <a:spcPts val="0"/>
              </a:spcBef>
              <a:spcAft>
                <a:spcPts val="0"/>
              </a:spcAft>
            </a:pPr>
            <a:r>
              <a:rPr sz="1250" b="0">
                <a:solidFill>
                  <a:srgbClr val="00407A"/>
                </a:solidFill>
                <a:latin typeface="Arial"/>
              </a:rPr>
              <a:t>34 of 85</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852005"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28.2%</a:t>
            </a:r>
          </a:p>
          <a:p>
            <a:pPr algn="l">
              <a:lnSpc>
                <a:spcPct val="109000"/>
              </a:lnSpc>
              <a:spcBef>
                <a:spcPts val="0"/>
              </a:spcBef>
              <a:spcAft>
                <a:spcPts val="0"/>
              </a:spcAft>
            </a:pPr>
            <a:r>
              <a:rPr sz="1250" b="0">
                <a:solidFill>
                  <a:srgbClr val="00407A"/>
                </a:solidFill>
                <a:latin typeface="Arial"/>
              </a:rPr>
              <a:t>24 of 85</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127800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42.4%</a:t>
            </a:r>
          </a:p>
          <a:p>
            <a:pPr algn="l">
              <a:lnSpc>
                <a:spcPct val="109000"/>
              </a:lnSpc>
              <a:spcBef>
                <a:spcPts val="0"/>
              </a:spcBef>
              <a:spcAft>
                <a:spcPts val="0"/>
              </a:spcAft>
            </a:pPr>
            <a:r>
              <a:rPr sz="1250" b="0">
                <a:solidFill>
                  <a:srgbClr val="00407A"/>
                </a:solidFill>
                <a:latin typeface="Arial"/>
              </a:rPr>
              <a:t>36 of 85</a:t>
            </a:r>
          </a:p>
        </p:txBody>
      </p:sp>
      <p:cxnSp>
        <p:nvCxnSpPr>
          <p:cNvPr id="28" name="Connector 27"/>
          <p:cNvCxnSpPr/>
          <p:nvPr/>
        </p:nvCxnSpPr>
        <p:spPr>
          <a:xfrm>
            <a:off x="2480713"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048717"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871216"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983710"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3" name="TextBox 32"/>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2 = 43.5%</a:t>
            </a:r>
          </a:p>
        </p:txBody>
      </p:sp>
      <p:sp>
        <p:nvSpPr>
          <p:cNvPr id="34" name="Rounded Rectangle 33"/>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power level</a:t>
            </a:r>
          </a:p>
        </p:txBody>
      </p:sp>
      <p:sp>
        <p:nvSpPr>
          <p:cNvPr id="36" name="TextBox 35"/>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7" name="Connector 36"/>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9" name="Connector 38"/>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1" name="Connector 40"/>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43" name="TextBox 42"/>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4" name="Rectangle 43"/>
          <p:cNvSpPr/>
          <p:nvPr/>
        </p:nvSpPr>
        <p:spPr>
          <a:xfrm>
            <a:off x="7059168" y="2953512"/>
            <a:ext cx="248501"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8.2%</a:t>
            </a:r>
          </a:p>
          <a:p>
            <a:pPr algn="l">
              <a:lnSpc>
                <a:spcPct val="109000"/>
              </a:lnSpc>
              <a:spcBef>
                <a:spcPts val="0"/>
              </a:spcBef>
              <a:spcAft>
                <a:spcPts val="0"/>
              </a:spcAft>
            </a:pPr>
            <a:r>
              <a:rPr sz="1250" b="0">
                <a:solidFill>
                  <a:srgbClr val="00407A"/>
                </a:solidFill>
                <a:latin typeface="Arial"/>
              </a:rPr>
              <a:t>7 of 85</a:t>
            </a:r>
          </a:p>
        </p:txBody>
      </p:sp>
      <p:sp>
        <p:nvSpPr>
          <p:cNvPr id="46" name="TextBox 45"/>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7" name="Rectangle 46"/>
          <p:cNvSpPr/>
          <p:nvPr/>
        </p:nvSpPr>
        <p:spPr>
          <a:xfrm>
            <a:off x="7059168" y="3456432"/>
            <a:ext cx="2662517"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88.2%</a:t>
            </a:r>
          </a:p>
          <a:p>
            <a:pPr algn="l">
              <a:lnSpc>
                <a:spcPct val="109000"/>
              </a:lnSpc>
              <a:spcBef>
                <a:spcPts val="0"/>
              </a:spcBef>
              <a:spcAft>
                <a:spcPts val="0"/>
              </a:spcAft>
            </a:pPr>
            <a:r>
              <a:rPr sz="1250" b="0">
                <a:solidFill>
                  <a:srgbClr val="00407A"/>
                </a:solidFill>
                <a:latin typeface="Arial"/>
              </a:rPr>
              <a:t>75 of 85</a:t>
            </a:r>
          </a:p>
        </p:txBody>
      </p:sp>
      <p:sp>
        <p:nvSpPr>
          <p:cNvPr id="49" name="TextBox 48"/>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50" name="Rectangle 49"/>
          <p:cNvSpPr/>
          <p:nvPr/>
        </p:nvSpPr>
        <p:spPr>
          <a:xfrm>
            <a:off x="7059168" y="3959351"/>
            <a:ext cx="2094513"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69.4%</a:t>
            </a:r>
          </a:p>
          <a:p>
            <a:pPr algn="l">
              <a:lnSpc>
                <a:spcPct val="109000"/>
              </a:lnSpc>
              <a:spcBef>
                <a:spcPts val="0"/>
              </a:spcBef>
              <a:spcAft>
                <a:spcPts val="0"/>
              </a:spcAft>
            </a:pPr>
            <a:r>
              <a:rPr sz="1250" b="0">
                <a:solidFill>
                  <a:srgbClr val="00407A"/>
                </a:solidFill>
                <a:latin typeface="Arial"/>
              </a:rPr>
              <a:t>59 of 85</a:t>
            </a:r>
          </a:p>
        </p:txBody>
      </p:sp>
      <p:sp>
        <p:nvSpPr>
          <p:cNvPr id="52" name="TextBox 51"/>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3" name="Rectangle 52"/>
          <p:cNvSpPr/>
          <p:nvPr/>
        </p:nvSpPr>
        <p:spPr>
          <a:xfrm>
            <a:off x="7059168" y="4462272"/>
            <a:ext cx="2627017"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87.1%</a:t>
            </a:r>
          </a:p>
          <a:p>
            <a:pPr algn="l">
              <a:lnSpc>
                <a:spcPct val="109000"/>
              </a:lnSpc>
              <a:spcBef>
                <a:spcPts val="0"/>
              </a:spcBef>
              <a:spcAft>
                <a:spcPts val="0"/>
              </a:spcAft>
            </a:pPr>
            <a:r>
              <a:rPr sz="1250" b="0">
                <a:solidFill>
                  <a:srgbClr val="00407A"/>
                </a:solidFill>
                <a:latin typeface="Arial"/>
              </a:rPr>
              <a:t>74 of 85</a:t>
            </a:r>
          </a:p>
        </p:txBody>
      </p:sp>
      <p:cxnSp>
        <p:nvCxnSpPr>
          <p:cNvPr id="55" name="Connector 54"/>
          <p:cNvCxnSpPr/>
          <p:nvPr/>
        </p:nvCxnSpPr>
        <p:spPr>
          <a:xfrm>
            <a:off x="9544184"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828186"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863686"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011680"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60" name="Rounded Rectangle 59"/>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No model reaches “always level 2” (37 of 85). KEV-0.8B chooses level 5 for all 85.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levels remain unreliable for every model</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these are level estimates from RTL, not timing-tool replacements.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26</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clock-frequency level</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Frequency derived from the 500 MHz netlist</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31401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53512"/>
            <a:ext cx="42638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0" name="TextBox 1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56432"/>
            <a:ext cx="36079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12.0%</a:t>
            </a:r>
          </a:p>
          <a:p>
            <a:pPr algn="l">
              <a:lnSpc>
                <a:spcPct val="109000"/>
              </a:lnSpc>
              <a:spcBef>
                <a:spcPts val="0"/>
              </a:spcBef>
              <a:spcAft>
                <a:spcPts val="0"/>
              </a:spcAft>
            </a:pPr>
            <a:r>
              <a:rPr sz="1250" b="0">
                <a:solidFill>
                  <a:srgbClr val="00407A"/>
                </a:solidFill>
                <a:latin typeface="Arial"/>
              </a:rPr>
              <a:t>11 of 92</a:t>
            </a:r>
          </a:p>
        </p:txBody>
      </p:sp>
      <p:sp>
        <p:nvSpPr>
          <p:cNvPr id="23" name="TextBox 22"/>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59351"/>
            <a:ext cx="42638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6" name="TextBox 25"/>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62272"/>
            <a:ext cx="42638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9" name="TextBox 28"/>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0" name="TextBox 29"/>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4 = 48.9%</a:t>
            </a:r>
          </a:p>
        </p:txBody>
      </p:sp>
      <p:sp>
        <p:nvSpPr>
          <p:cNvPr id="31" name="Rounded Rectangle 30"/>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timing-margin level</a:t>
            </a:r>
          </a:p>
        </p:txBody>
      </p:sp>
      <p:sp>
        <p:nvSpPr>
          <p:cNvPr id="33" name="TextBox 32"/>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Worst slack at the 500 MHz target</a:t>
            </a:r>
          </a:p>
        </p:txBody>
      </p:sp>
      <p:cxnSp>
        <p:nvCxnSpPr>
          <p:cNvPr id="34" name="Connector 33"/>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6" name="Connector 35"/>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8" name="Connector 37"/>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40" name="Connector 39"/>
          <p:cNvCxnSpPr/>
          <p:nvPr/>
        </p:nvCxnSpPr>
        <p:spPr>
          <a:xfrm>
            <a:off x="912551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2" name="Rectangle 41"/>
          <p:cNvSpPr/>
          <p:nvPr/>
        </p:nvSpPr>
        <p:spPr>
          <a:xfrm>
            <a:off x="7059168" y="2953512"/>
            <a:ext cx="262393"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a:t>
            </a:r>
          </a:p>
          <a:p>
            <a:pPr algn="l">
              <a:lnSpc>
                <a:spcPct val="109000"/>
              </a:lnSpc>
              <a:spcBef>
                <a:spcPts val="0"/>
              </a:spcBef>
              <a:spcAft>
                <a:spcPts val="0"/>
              </a:spcAft>
            </a:pPr>
            <a:r>
              <a:rPr sz="1250" b="0">
                <a:solidFill>
                  <a:srgbClr val="00407A"/>
                </a:solidFill>
                <a:latin typeface="Arial"/>
              </a:rPr>
              <a:t>8 of 92</a:t>
            </a:r>
          </a:p>
        </p:txBody>
      </p:sp>
      <p:sp>
        <p:nvSpPr>
          <p:cNvPr id="44" name="TextBox 43"/>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5" name="Rectangle 44"/>
          <p:cNvSpPr/>
          <p:nvPr/>
        </p:nvSpPr>
        <p:spPr>
          <a:xfrm>
            <a:off x="7059168" y="3456432"/>
            <a:ext cx="13119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4.3%</a:t>
            </a:r>
          </a:p>
          <a:p>
            <a:pPr algn="l">
              <a:lnSpc>
                <a:spcPct val="109000"/>
              </a:lnSpc>
              <a:spcBef>
                <a:spcPts val="0"/>
              </a:spcBef>
              <a:spcAft>
                <a:spcPts val="0"/>
              </a:spcAft>
            </a:pPr>
            <a:r>
              <a:rPr sz="1250" b="0">
                <a:solidFill>
                  <a:srgbClr val="00407A"/>
                </a:solidFill>
                <a:latin typeface="Arial"/>
              </a:rPr>
              <a:t>4 of 92</a:t>
            </a:r>
          </a:p>
        </p:txBody>
      </p:sp>
      <p:sp>
        <p:nvSpPr>
          <p:cNvPr id="47" name="TextBox 46"/>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8" name="Rectangle 47"/>
          <p:cNvSpPr/>
          <p:nvPr/>
        </p:nvSpPr>
        <p:spPr>
          <a:xfrm>
            <a:off x="7059168" y="3959351"/>
            <a:ext cx="9839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3.3%</a:t>
            </a:r>
          </a:p>
          <a:p>
            <a:pPr algn="l">
              <a:lnSpc>
                <a:spcPct val="109000"/>
              </a:lnSpc>
              <a:spcBef>
                <a:spcPts val="0"/>
              </a:spcBef>
              <a:spcAft>
                <a:spcPts val="0"/>
              </a:spcAft>
            </a:pPr>
            <a:r>
              <a:rPr sz="1250" b="0">
                <a:solidFill>
                  <a:srgbClr val="00407A"/>
                </a:solidFill>
                <a:latin typeface="Arial"/>
              </a:rPr>
              <a:t>3 of 92</a:t>
            </a:r>
          </a:p>
        </p:txBody>
      </p:sp>
      <p:sp>
        <p:nvSpPr>
          <p:cNvPr id="50" name="TextBox 49"/>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1" name="Rectangle 50"/>
          <p:cNvSpPr/>
          <p:nvPr/>
        </p:nvSpPr>
        <p:spPr>
          <a:xfrm>
            <a:off x="7059168" y="4462272"/>
            <a:ext cx="98397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32.6%</a:t>
            </a:r>
          </a:p>
          <a:p>
            <a:pPr algn="l">
              <a:lnSpc>
                <a:spcPct val="109000"/>
              </a:lnSpc>
              <a:spcBef>
                <a:spcPts val="0"/>
              </a:spcBef>
              <a:spcAft>
                <a:spcPts val="0"/>
              </a:spcAft>
            </a:pPr>
            <a:r>
              <a:rPr sz="1250" b="0">
                <a:solidFill>
                  <a:srgbClr val="00407A"/>
                </a:solidFill>
                <a:latin typeface="Arial"/>
              </a:rPr>
              <a:t>30 of 92</a:t>
            </a:r>
          </a:p>
        </p:txBody>
      </p:sp>
      <p:sp>
        <p:nvSpPr>
          <p:cNvPr id="53" name="TextBox 52"/>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4" name="TextBox 53"/>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5 = 68.5%</a:t>
            </a:r>
          </a:p>
        </p:txBody>
      </p:sp>
      <p:sp>
        <p:nvSpPr>
          <p:cNvPr id="55" name="Rounded Rectangle 5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27B’s better slack result still falls below the stated constant-answer reference.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No timing score beats a constant answer</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92 held-out designs; three solved examples per question.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27</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clock-frequency level</a:t>
            </a:r>
          </a:p>
        </p:txBody>
      </p:sp>
      <p:sp>
        <p:nvSpPr>
          <p:cNvPr id="9" name="TextBox 8"/>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Frequency derived from the 500 MHz netlist</a:t>
            </a:r>
          </a:p>
        </p:txBody>
      </p:sp>
      <p:cxnSp>
        <p:nvCxnSpPr>
          <p:cNvPr id="10" name="Connector 9"/>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31401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53512"/>
            <a:ext cx="72158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23.9%</a:t>
            </a:r>
          </a:p>
          <a:p>
            <a:pPr algn="l">
              <a:lnSpc>
                <a:spcPct val="109000"/>
              </a:lnSpc>
              <a:spcBef>
                <a:spcPts val="0"/>
              </a:spcBef>
              <a:spcAft>
                <a:spcPts val="0"/>
              </a:spcAft>
            </a:pPr>
            <a:r>
              <a:rPr sz="1250" b="0">
                <a:solidFill>
                  <a:srgbClr val="00407A"/>
                </a:solidFill>
                <a:latin typeface="Arial"/>
              </a:rPr>
              <a:t>22 of 92</a:t>
            </a:r>
          </a:p>
        </p:txBody>
      </p:sp>
      <p:sp>
        <p:nvSpPr>
          <p:cNvPr id="20" name="TextBox 1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56432"/>
            <a:ext cx="688781"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22.8%</a:t>
            </a:r>
          </a:p>
          <a:p>
            <a:pPr algn="l">
              <a:lnSpc>
                <a:spcPct val="109000"/>
              </a:lnSpc>
              <a:spcBef>
                <a:spcPts val="0"/>
              </a:spcBef>
              <a:spcAft>
                <a:spcPts val="0"/>
              </a:spcAft>
            </a:pPr>
            <a:r>
              <a:rPr sz="1250" b="0">
                <a:solidFill>
                  <a:srgbClr val="00407A"/>
                </a:solidFill>
                <a:latin typeface="Arial"/>
              </a:rPr>
              <a:t>21 of 92</a:t>
            </a:r>
          </a:p>
        </p:txBody>
      </p:sp>
      <p:sp>
        <p:nvSpPr>
          <p:cNvPr id="23" name="TextBox 22"/>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59351"/>
            <a:ext cx="49198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16.3%</a:t>
            </a:r>
          </a:p>
          <a:p>
            <a:pPr algn="l">
              <a:lnSpc>
                <a:spcPct val="109000"/>
              </a:lnSpc>
              <a:spcBef>
                <a:spcPts val="0"/>
              </a:spcBef>
              <a:spcAft>
                <a:spcPts val="0"/>
              </a:spcAft>
            </a:pPr>
            <a:r>
              <a:rPr sz="1250" b="0">
                <a:solidFill>
                  <a:srgbClr val="00407A"/>
                </a:solidFill>
                <a:latin typeface="Arial"/>
              </a:rPr>
              <a:t>15 of 92</a:t>
            </a:r>
          </a:p>
        </p:txBody>
      </p:sp>
      <p:sp>
        <p:nvSpPr>
          <p:cNvPr id="26" name="TextBox 25"/>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62272"/>
            <a:ext cx="118076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39.1%</a:t>
            </a:r>
          </a:p>
          <a:p>
            <a:pPr algn="l">
              <a:lnSpc>
                <a:spcPct val="109000"/>
              </a:lnSpc>
              <a:spcBef>
                <a:spcPts val="0"/>
              </a:spcBef>
              <a:spcAft>
                <a:spcPts val="0"/>
              </a:spcAft>
            </a:pPr>
            <a:r>
              <a:rPr sz="1250" b="0">
                <a:solidFill>
                  <a:srgbClr val="00407A"/>
                </a:solidFill>
                <a:latin typeface="Arial"/>
              </a:rPr>
              <a:t>36 of 92</a:t>
            </a:r>
          </a:p>
        </p:txBody>
      </p:sp>
      <p:cxnSp>
        <p:nvCxnSpPr>
          <p:cNvPr id="29" name="Connector 28"/>
          <p:cNvCxnSpPr/>
          <p:nvPr/>
        </p:nvCxnSpPr>
        <p:spPr>
          <a:xfrm>
            <a:off x="2090596"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024998"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090596"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090596"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4" name="TextBox 33"/>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4 = 48.9%</a:t>
            </a:r>
          </a:p>
        </p:txBody>
      </p:sp>
      <p:sp>
        <p:nvSpPr>
          <p:cNvPr id="35" name="Rounded Rectangle 34"/>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timing-margin level</a:t>
            </a:r>
          </a:p>
        </p:txBody>
      </p:sp>
      <p:sp>
        <p:nvSpPr>
          <p:cNvPr id="37" name="TextBox 36"/>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Worst slack at the 500 MHz target</a:t>
            </a:r>
          </a:p>
        </p:txBody>
      </p:sp>
      <p:cxnSp>
        <p:nvCxnSpPr>
          <p:cNvPr id="38" name="Connector 37"/>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40" name="Connector 39"/>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2" name="Connector 41"/>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44" name="Connector 43"/>
          <p:cNvCxnSpPr/>
          <p:nvPr/>
        </p:nvCxnSpPr>
        <p:spPr>
          <a:xfrm>
            <a:off x="912551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6" name="Rectangle 45"/>
          <p:cNvSpPr/>
          <p:nvPr/>
        </p:nvSpPr>
        <p:spPr>
          <a:xfrm>
            <a:off x="7059168" y="2953512"/>
            <a:ext cx="206634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68.5%</a:t>
            </a:r>
          </a:p>
          <a:p>
            <a:pPr algn="l">
              <a:lnSpc>
                <a:spcPct val="109000"/>
              </a:lnSpc>
              <a:spcBef>
                <a:spcPts val="0"/>
              </a:spcBef>
              <a:spcAft>
                <a:spcPts val="0"/>
              </a:spcAft>
            </a:pPr>
            <a:r>
              <a:rPr sz="1250" b="0">
                <a:solidFill>
                  <a:srgbClr val="00407A"/>
                </a:solidFill>
                <a:latin typeface="Arial"/>
              </a:rPr>
              <a:t>63 of 92</a:t>
            </a:r>
          </a:p>
        </p:txBody>
      </p:sp>
      <p:sp>
        <p:nvSpPr>
          <p:cNvPr id="48" name="TextBox 47"/>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9" name="Rectangle 48"/>
          <p:cNvSpPr/>
          <p:nvPr/>
        </p:nvSpPr>
        <p:spPr>
          <a:xfrm>
            <a:off x="7059168" y="3456432"/>
            <a:ext cx="327991"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10.9%</a:t>
            </a:r>
          </a:p>
          <a:p>
            <a:pPr algn="l">
              <a:lnSpc>
                <a:spcPct val="109000"/>
              </a:lnSpc>
              <a:spcBef>
                <a:spcPts val="0"/>
              </a:spcBef>
              <a:spcAft>
                <a:spcPts val="0"/>
              </a:spcAft>
            </a:pPr>
            <a:r>
              <a:rPr sz="1250" b="0">
                <a:solidFill>
                  <a:srgbClr val="00407A"/>
                </a:solidFill>
                <a:latin typeface="Arial"/>
              </a:rPr>
              <a:t>10 of 92</a:t>
            </a:r>
          </a:p>
        </p:txBody>
      </p:sp>
      <p:sp>
        <p:nvSpPr>
          <p:cNvPr id="51" name="TextBox 50"/>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52" name="Rectangle 51"/>
          <p:cNvSpPr/>
          <p:nvPr/>
        </p:nvSpPr>
        <p:spPr>
          <a:xfrm>
            <a:off x="7059168" y="3959351"/>
            <a:ext cx="49198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16.3%</a:t>
            </a:r>
          </a:p>
          <a:p>
            <a:pPr algn="l">
              <a:lnSpc>
                <a:spcPct val="109000"/>
              </a:lnSpc>
              <a:spcBef>
                <a:spcPts val="0"/>
              </a:spcBef>
              <a:spcAft>
                <a:spcPts val="0"/>
              </a:spcAft>
            </a:pPr>
            <a:r>
              <a:rPr sz="1250" b="0">
                <a:solidFill>
                  <a:srgbClr val="00407A"/>
                </a:solidFill>
                <a:latin typeface="Arial"/>
              </a:rPr>
              <a:t>15 of 92</a:t>
            </a:r>
          </a:p>
        </p:txBody>
      </p:sp>
      <p:sp>
        <p:nvSpPr>
          <p:cNvPr id="54" name="TextBox 53"/>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5" name="Rectangle 54"/>
          <p:cNvSpPr/>
          <p:nvPr/>
        </p:nvSpPr>
        <p:spPr>
          <a:xfrm>
            <a:off x="7059168" y="4462272"/>
            <a:ext cx="1967947"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65.2%</a:t>
            </a:r>
          </a:p>
          <a:p>
            <a:pPr algn="l">
              <a:lnSpc>
                <a:spcPct val="109000"/>
              </a:lnSpc>
              <a:spcBef>
                <a:spcPts val="0"/>
              </a:spcBef>
              <a:spcAft>
                <a:spcPts val="0"/>
              </a:spcAft>
            </a:pPr>
            <a:r>
              <a:rPr sz="1250" b="0">
                <a:solidFill>
                  <a:srgbClr val="00407A"/>
                </a:solidFill>
                <a:latin typeface="Arial"/>
              </a:rPr>
              <a:t>60 of 92</a:t>
            </a:r>
          </a:p>
        </p:txBody>
      </p:sp>
      <p:cxnSp>
        <p:nvCxnSpPr>
          <p:cNvPr id="57" name="Connector 56"/>
          <p:cNvCxnSpPr/>
          <p:nvPr/>
        </p:nvCxnSpPr>
        <p:spPr>
          <a:xfrm>
            <a:off x="7321561" y="290779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190364" y="341071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157565" y="3913631"/>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043141" y="4416552"/>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62" name="TextBox 61"/>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5 = 68.5%</a:t>
            </a:r>
          </a:p>
        </p:txBody>
      </p:sp>
      <p:sp>
        <p:nvSpPr>
          <p:cNvPr id="63" name="Rounded Rectangle 62"/>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KEV-0.8B’s 63 of 92 slack levels come from choosing level 5 for all 92 designs.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predicted levels reveal the mismatch</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chart heights are design counts, not accuracy. Every level is shown, including zero counts.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28</a:t>
            </a:r>
          </a:p>
        </p:txBody>
      </p:sp>
      <p:sp>
        <p:nvSpPr>
          <p:cNvPr id="7" name="Rounded Rectangle 6"/>
          <p:cNvSpPr/>
          <p:nvPr/>
        </p:nvSpPr>
        <p:spPr>
          <a:xfrm>
            <a:off x="81381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Clock-frequency levels</a:t>
            </a:r>
          </a:p>
        </p:txBody>
      </p:sp>
      <p:sp>
        <p:nvSpPr>
          <p:cNvPr id="9" name="TextBox 8"/>
          <p:cNvSpPr txBox="1"/>
          <p:nvPr/>
        </p:nvSpPr>
        <p:spPr>
          <a:xfrm>
            <a:off x="101498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92 designs • counts at each level</a:t>
            </a:r>
          </a:p>
        </p:txBody>
      </p:sp>
      <p:cxnSp>
        <p:nvCxnSpPr>
          <p:cNvPr id="10" name="Connector 9"/>
          <p:cNvCxnSpPr/>
          <p:nvPr/>
        </p:nvCxnSpPr>
        <p:spPr>
          <a:xfrm>
            <a:off x="138988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7782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138988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7782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14" name="Connector 13"/>
          <p:cNvCxnSpPr/>
          <p:nvPr/>
        </p:nvCxnSpPr>
        <p:spPr>
          <a:xfrm>
            <a:off x="138988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7782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16" name="Connector 15"/>
          <p:cNvCxnSpPr/>
          <p:nvPr/>
        </p:nvCxnSpPr>
        <p:spPr>
          <a:xfrm>
            <a:off x="138988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7782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18" name="Connector 17"/>
          <p:cNvCxnSpPr/>
          <p:nvPr/>
        </p:nvCxnSpPr>
        <p:spPr>
          <a:xfrm>
            <a:off x="138988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7782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20" name="Rectangle 19"/>
          <p:cNvSpPr/>
          <p:nvPr/>
        </p:nvSpPr>
        <p:spPr>
          <a:xfrm>
            <a:off x="1463040" y="4544202"/>
            <a:ext cx="201168" cy="247253"/>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35608" y="4297314"/>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13</a:t>
            </a:r>
          </a:p>
        </p:txBody>
      </p:sp>
      <p:sp>
        <p:nvSpPr>
          <p:cNvPr id="22" name="Rectangle 21"/>
          <p:cNvSpPr/>
          <p:nvPr/>
        </p:nvSpPr>
        <p:spPr>
          <a:xfrm>
            <a:off x="1728216" y="3079699"/>
            <a:ext cx="201168" cy="1711756"/>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00784" y="283281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90</a:t>
            </a:r>
          </a:p>
        </p:txBody>
      </p:sp>
      <p:sp>
        <p:nvSpPr>
          <p:cNvPr id="24" name="TextBox 23"/>
          <p:cNvSpPr txBox="1"/>
          <p:nvPr/>
        </p:nvSpPr>
        <p:spPr>
          <a:xfrm>
            <a:off x="150876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25" name="Rectangle 24"/>
          <p:cNvSpPr/>
          <p:nvPr/>
        </p:nvSpPr>
        <p:spPr>
          <a:xfrm>
            <a:off x="2317089" y="4487143"/>
            <a:ext cx="201168" cy="30431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89657" y="424025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16</a:t>
            </a:r>
          </a:p>
        </p:txBody>
      </p:sp>
      <p:sp>
        <p:nvSpPr>
          <p:cNvPr id="27" name="TextBox 26"/>
          <p:cNvSpPr txBox="1"/>
          <p:nvPr/>
        </p:nvSpPr>
        <p:spPr>
          <a:xfrm>
            <a:off x="255483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28" name="TextBox 27"/>
          <p:cNvSpPr txBox="1"/>
          <p:nvPr/>
        </p:nvSpPr>
        <p:spPr>
          <a:xfrm>
            <a:off x="236280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29" name="Rectangle 28"/>
          <p:cNvSpPr/>
          <p:nvPr/>
        </p:nvSpPr>
        <p:spPr>
          <a:xfrm>
            <a:off x="317113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4370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31" name="TextBox 30"/>
          <p:cNvSpPr txBox="1"/>
          <p:nvPr/>
        </p:nvSpPr>
        <p:spPr>
          <a:xfrm>
            <a:off x="340888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2" name="TextBox 31"/>
          <p:cNvSpPr txBox="1"/>
          <p:nvPr/>
        </p:nvSpPr>
        <p:spPr>
          <a:xfrm>
            <a:off x="321685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33" name="Rectangle 32"/>
          <p:cNvSpPr/>
          <p:nvPr/>
        </p:nvSpPr>
        <p:spPr>
          <a:xfrm>
            <a:off x="4025188" y="3935577"/>
            <a:ext cx="201168" cy="85587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97756" y="368868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45</a:t>
            </a:r>
          </a:p>
        </p:txBody>
      </p:sp>
      <p:sp>
        <p:nvSpPr>
          <p:cNvPr id="35" name="TextBox 34"/>
          <p:cNvSpPr txBox="1"/>
          <p:nvPr/>
        </p:nvSpPr>
        <p:spPr>
          <a:xfrm>
            <a:off x="4262932"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6" name="TextBox 35"/>
          <p:cNvSpPr txBox="1"/>
          <p:nvPr/>
        </p:nvSpPr>
        <p:spPr>
          <a:xfrm>
            <a:off x="407090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37" name="TextBox 36"/>
          <p:cNvSpPr txBox="1"/>
          <p:nvPr/>
        </p:nvSpPr>
        <p:spPr>
          <a:xfrm>
            <a:off x="485180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8" name="Rectangle 37"/>
          <p:cNvSpPr/>
          <p:nvPr/>
        </p:nvSpPr>
        <p:spPr>
          <a:xfrm>
            <a:off x="5144414" y="4753416"/>
            <a:ext cx="201168" cy="3803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16982" y="450652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a:t>
            </a:r>
          </a:p>
        </p:txBody>
      </p:sp>
      <p:sp>
        <p:nvSpPr>
          <p:cNvPr id="40" name="TextBox 39"/>
          <p:cNvSpPr txBox="1"/>
          <p:nvPr/>
        </p:nvSpPr>
        <p:spPr>
          <a:xfrm>
            <a:off x="492495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41" name="TextBox 40"/>
          <p:cNvSpPr txBox="1"/>
          <p:nvPr/>
        </p:nvSpPr>
        <p:spPr>
          <a:xfrm>
            <a:off x="101498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42" name="Rectangle 41"/>
          <p:cNvSpPr/>
          <p:nvPr/>
        </p:nvSpPr>
        <p:spPr>
          <a:xfrm>
            <a:off x="277977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008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44" name="Rectangle 43"/>
          <p:cNvSpPr/>
          <p:nvPr/>
        </p:nvSpPr>
        <p:spPr>
          <a:xfrm>
            <a:off x="369417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04487"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46" name="Rounded Rectangle 45"/>
          <p:cNvSpPr/>
          <p:nvPr/>
        </p:nvSpPr>
        <p:spPr>
          <a:xfrm>
            <a:off x="620877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994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Power levels</a:t>
            </a:r>
          </a:p>
        </p:txBody>
      </p:sp>
      <p:sp>
        <p:nvSpPr>
          <p:cNvPr id="48" name="TextBox 47"/>
          <p:cNvSpPr txBox="1"/>
          <p:nvPr/>
        </p:nvSpPr>
        <p:spPr>
          <a:xfrm>
            <a:off x="640994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85 designs • counts at each level</a:t>
            </a:r>
          </a:p>
        </p:txBody>
      </p:sp>
      <p:cxnSp>
        <p:nvCxnSpPr>
          <p:cNvPr id="49" name="Connector 48"/>
          <p:cNvCxnSpPr/>
          <p:nvPr/>
        </p:nvCxnSpPr>
        <p:spPr>
          <a:xfrm>
            <a:off x="678484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27278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51" name="Connector 50"/>
          <p:cNvCxnSpPr/>
          <p:nvPr/>
        </p:nvCxnSpPr>
        <p:spPr>
          <a:xfrm>
            <a:off x="678484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27278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53" name="Connector 52"/>
          <p:cNvCxnSpPr/>
          <p:nvPr/>
        </p:nvCxnSpPr>
        <p:spPr>
          <a:xfrm>
            <a:off x="678484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27278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55" name="Connector 54"/>
          <p:cNvCxnSpPr/>
          <p:nvPr/>
        </p:nvCxnSpPr>
        <p:spPr>
          <a:xfrm>
            <a:off x="678484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27278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57" name="Connector 56"/>
          <p:cNvCxnSpPr/>
          <p:nvPr/>
        </p:nvCxnSpPr>
        <p:spPr>
          <a:xfrm>
            <a:off x="678484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27278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59" name="Rectangle 58"/>
          <p:cNvSpPr/>
          <p:nvPr/>
        </p:nvSpPr>
        <p:spPr>
          <a:xfrm>
            <a:off x="6858000" y="4354007"/>
            <a:ext cx="201168" cy="43744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830568" y="410711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23</a:t>
            </a:r>
          </a:p>
        </p:txBody>
      </p:sp>
      <p:sp>
        <p:nvSpPr>
          <p:cNvPr id="61" name="TextBox 60"/>
          <p:cNvSpPr txBox="1"/>
          <p:nvPr/>
        </p:nvSpPr>
        <p:spPr>
          <a:xfrm>
            <a:off x="7095744"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2" name="TextBox 61"/>
          <p:cNvSpPr txBox="1"/>
          <p:nvPr/>
        </p:nvSpPr>
        <p:spPr>
          <a:xfrm>
            <a:off x="690372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63" name="Rectangle 62"/>
          <p:cNvSpPr/>
          <p:nvPr/>
        </p:nvSpPr>
        <p:spPr>
          <a:xfrm>
            <a:off x="7712049" y="4087733"/>
            <a:ext cx="201168" cy="70372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84617" y="384084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37</a:t>
            </a:r>
          </a:p>
        </p:txBody>
      </p:sp>
      <p:sp>
        <p:nvSpPr>
          <p:cNvPr id="65" name="TextBox 64"/>
          <p:cNvSpPr txBox="1"/>
          <p:nvPr/>
        </p:nvSpPr>
        <p:spPr>
          <a:xfrm>
            <a:off x="794979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6" name="TextBox 65"/>
          <p:cNvSpPr txBox="1"/>
          <p:nvPr/>
        </p:nvSpPr>
        <p:spPr>
          <a:xfrm>
            <a:off x="775776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67" name="Rectangle 66"/>
          <p:cNvSpPr/>
          <p:nvPr/>
        </p:nvSpPr>
        <p:spPr>
          <a:xfrm>
            <a:off x="856609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53866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69" name="Rectangle 68"/>
          <p:cNvSpPr/>
          <p:nvPr/>
        </p:nvSpPr>
        <p:spPr>
          <a:xfrm>
            <a:off x="8831275" y="3764401"/>
            <a:ext cx="201168" cy="102705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803843" y="3517513"/>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54</a:t>
            </a:r>
          </a:p>
        </p:txBody>
      </p:sp>
      <p:sp>
        <p:nvSpPr>
          <p:cNvPr id="71" name="TextBox 70"/>
          <p:cNvSpPr txBox="1"/>
          <p:nvPr/>
        </p:nvSpPr>
        <p:spPr>
          <a:xfrm>
            <a:off x="861181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72" name="Rectangle 71"/>
          <p:cNvSpPr/>
          <p:nvPr/>
        </p:nvSpPr>
        <p:spPr>
          <a:xfrm>
            <a:off x="9420148" y="4658319"/>
            <a:ext cx="201168" cy="133136"/>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392716" y="441143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7</a:t>
            </a:r>
          </a:p>
        </p:txBody>
      </p:sp>
      <p:sp>
        <p:nvSpPr>
          <p:cNvPr id="74" name="Rectangle 73"/>
          <p:cNvSpPr/>
          <p:nvPr/>
        </p:nvSpPr>
        <p:spPr>
          <a:xfrm>
            <a:off x="9685324" y="4220870"/>
            <a:ext cx="201168" cy="570585"/>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657892" y="3973982"/>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30</a:t>
            </a:r>
          </a:p>
        </p:txBody>
      </p:sp>
      <p:sp>
        <p:nvSpPr>
          <p:cNvPr id="76" name="TextBox 75"/>
          <p:cNvSpPr txBox="1"/>
          <p:nvPr/>
        </p:nvSpPr>
        <p:spPr>
          <a:xfrm>
            <a:off x="946586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77" name="TextBox 76"/>
          <p:cNvSpPr txBox="1"/>
          <p:nvPr/>
        </p:nvSpPr>
        <p:spPr>
          <a:xfrm>
            <a:off x="1024676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78" name="Rectangle 77"/>
          <p:cNvSpPr/>
          <p:nvPr/>
        </p:nvSpPr>
        <p:spPr>
          <a:xfrm>
            <a:off x="10539374" y="4772436"/>
            <a:ext cx="201168" cy="1901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511942" y="452554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a:t>
            </a:r>
          </a:p>
        </p:txBody>
      </p:sp>
      <p:sp>
        <p:nvSpPr>
          <p:cNvPr id="80" name="TextBox 79"/>
          <p:cNvSpPr txBox="1"/>
          <p:nvPr/>
        </p:nvSpPr>
        <p:spPr>
          <a:xfrm>
            <a:off x="1031991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81" name="TextBox 80"/>
          <p:cNvSpPr txBox="1"/>
          <p:nvPr/>
        </p:nvSpPr>
        <p:spPr>
          <a:xfrm>
            <a:off x="640994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82" name="Rectangle 81"/>
          <p:cNvSpPr/>
          <p:nvPr/>
        </p:nvSpPr>
        <p:spPr>
          <a:xfrm>
            <a:off x="817473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38504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84" name="Rectangle 83"/>
          <p:cNvSpPr/>
          <p:nvPr/>
        </p:nvSpPr>
        <p:spPr>
          <a:xfrm>
            <a:off x="908913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299448"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86" name="Rounded Rectangle 8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usually chooses the lowest frequency level and high power levels; the tool labels have a different distribution.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level counts are closer to the tool’s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Design counts at each level, with three solved examples per question. Every level is shown.</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29</a:t>
            </a:r>
          </a:p>
        </p:txBody>
      </p:sp>
      <p:sp>
        <p:nvSpPr>
          <p:cNvPr id="7" name="Rounded Rectangle 6"/>
          <p:cNvSpPr/>
          <p:nvPr/>
        </p:nvSpPr>
        <p:spPr>
          <a:xfrm>
            <a:off x="81381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Clock-frequency levels</a:t>
            </a:r>
          </a:p>
        </p:txBody>
      </p:sp>
      <p:sp>
        <p:nvSpPr>
          <p:cNvPr id="9" name="TextBox 8"/>
          <p:cNvSpPr txBox="1"/>
          <p:nvPr/>
        </p:nvSpPr>
        <p:spPr>
          <a:xfrm>
            <a:off x="101498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92 designs • counts at each level</a:t>
            </a:r>
          </a:p>
        </p:txBody>
      </p:sp>
      <p:cxnSp>
        <p:nvCxnSpPr>
          <p:cNvPr id="10" name="Connector 9"/>
          <p:cNvCxnSpPr/>
          <p:nvPr/>
        </p:nvCxnSpPr>
        <p:spPr>
          <a:xfrm>
            <a:off x="138988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7782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138988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7782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14" name="Connector 13"/>
          <p:cNvCxnSpPr/>
          <p:nvPr/>
        </p:nvCxnSpPr>
        <p:spPr>
          <a:xfrm>
            <a:off x="138988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7782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16" name="Connector 15"/>
          <p:cNvCxnSpPr/>
          <p:nvPr/>
        </p:nvCxnSpPr>
        <p:spPr>
          <a:xfrm>
            <a:off x="138988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7782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18" name="Connector 17"/>
          <p:cNvCxnSpPr/>
          <p:nvPr/>
        </p:nvCxnSpPr>
        <p:spPr>
          <a:xfrm>
            <a:off x="138988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7782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20" name="Rectangle 19"/>
          <p:cNvSpPr/>
          <p:nvPr/>
        </p:nvSpPr>
        <p:spPr>
          <a:xfrm>
            <a:off x="1463040" y="4544202"/>
            <a:ext cx="201168" cy="247253"/>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35608" y="4297314"/>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13</a:t>
            </a:r>
          </a:p>
        </p:txBody>
      </p:sp>
      <p:sp>
        <p:nvSpPr>
          <p:cNvPr id="22" name="Rectangle 21"/>
          <p:cNvSpPr/>
          <p:nvPr/>
        </p:nvSpPr>
        <p:spPr>
          <a:xfrm>
            <a:off x="1728216" y="4239889"/>
            <a:ext cx="201168" cy="551566"/>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00784" y="399300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29</a:t>
            </a:r>
          </a:p>
        </p:txBody>
      </p:sp>
      <p:sp>
        <p:nvSpPr>
          <p:cNvPr id="24" name="TextBox 23"/>
          <p:cNvSpPr txBox="1"/>
          <p:nvPr/>
        </p:nvSpPr>
        <p:spPr>
          <a:xfrm>
            <a:off x="150876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25" name="Rectangle 24"/>
          <p:cNvSpPr/>
          <p:nvPr/>
        </p:nvSpPr>
        <p:spPr>
          <a:xfrm>
            <a:off x="2317089" y="4487143"/>
            <a:ext cx="201168" cy="30431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89657" y="424025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16</a:t>
            </a:r>
          </a:p>
        </p:txBody>
      </p:sp>
      <p:sp>
        <p:nvSpPr>
          <p:cNvPr id="27" name="Rectangle 26"/>
          <p:cNvSpPr/>
          <p:nvPr/>
        </p:nvSpPr>
        <p:spPr>
          <a:xfrm>
            <a:off x="2582265" y="4772436"/>
            <a:ext cx="201168" cy="1901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54833" y="452554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a:t>
            </a:r>
          </a:p>
        </p:txBody>
      </p:sp>
      <p:sp>
        <p:nvSpPr>
          <p:cNvPr id="29" name="TextBox 28"/>
          <p:cNvSpPr txBox="1"/>
          <p:nvPr/>
        </p:nvSpPr>
        <p:spPr>
          <a:xfrm>
            <a:off x="236280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30" name="Rectangle 29"/>
          <p:cNvSpPr/>
          <p:nvPr/>
        </p:nvSpPr>
        <p:spPr>
          <a:xfrm>
            <a:off x="317113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4370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32" name="Rectangle 31"/>
          <p:cNvSpPr/>
          <p:nvPr/>
        </p:nvSpPr>
        <p:spPr>
          <a:xfrm>
            <a:off x="3436315" y="4220870"/>
            <a:ext cx="201168" cy="570585"/>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08883" y="3973982"/>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30</a:t>
            </a:r>
          </a:p>
        </p:txBody>
      </p:sp>
      <p:sp>
        <p:nvSpPr>
          <p:cNvPr id="34" name="TextBox 33"/>
          <p:cNvSpPr txBox="1"/>
          <p:nvPr/>
        </p:nvSpPr>
        <p:spPr>
          <a:xfrm>
            <a:off x="321685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35" name="Rectangle 34"/>
          <p:cNvSpPr/>
          <p:nvPr/>
        </p:nvSpPr>
        <p:spPr>
          <a:xfrm>
            <a:off x="4025188" y="3935577"/>
            <a:ext cx="201168" cy="85587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997756" y="368868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45</a:t>
            </a:r>
          </a:p>
        </p:txBody>
      </p:sp>
      <p:sp>
        <p:nvSpPr>
          <p:cNvPr id="37" name="Rectangle 36"/>
          <p:cNvSpPr/>
          <p:nvPr/>
        </p:nvSpPr>
        <p:spPr>
          <a:xfrm>
            <a:off x="4290364" y="4182831"/>
            <a:ext cx="201168" cy="60862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62932" y="3935943"/>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32</a:t>
            </a:r>
          </a:p>
        </p:txBody>
      </p:sp>
      <p:sp>
        <p:nvSpPr>
          <p:cNvPr id="39" name="TextBox 38"/>
          <p:cNvSpPr txBox="1"/>
          <p:nvPr/>
        </p:nvSpPr>
        <p:spPr>
          <a:xfrm>
            <a:off x="407090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40" name="TextBox 39"/>
          <p:cNvSpPr txBox="1"/>
          <p:nvPr/>
        </p:nvSpPr>
        <p:spPr>
          <a:xfrm>
            <a:off x="485180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41" name="TextBox 40"/>
          <p:cNvSpPr txBox="1"/>
          <p:nvPr/>
        </p:nvSpPr>
        <p:spPr>
          <a:xfrm>
            <a:off x="5116982"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42" name="TextBox 41"/>
          <p:cNvSpPr txBox="1"/>
          <p:nvPr/>
        </p:nvSpPr>
        <p:spPr>
          <a:xfrm>
            <a:off x="492495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43" name="TextBox 42"/>
          <p:cNvSpPr txBox="1"/>
          <p:nvPr/>
        </p:nvSpPr>
        <p:spPr>
          <a:xfrm>
            <a:off x="101498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44" name="Rectangle 43"/>
          <p:cNvSpPr/>
          <p:nvPr/>
        </p:nvSpPr>
        <p:spPr>
          <a:xfrm>
            <a:off x="277977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99008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46" name="Rectangle 45"/>
          <p:cNvSpPr/>
          <p:nvPr/>
        </p:nvSpPr>
        <p:spPr>
          <a:xfrm>
            <a:off x="369417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04487"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48" name="Rounded Rectangle 47"/>
          <p:cNvSpPr/>
          <p:nvPr/>
        </p:nvSpPr>
        <p:spPr>
          <a:xfrm>
            <a:off x="620877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994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Power levels</a:t>
            </a:r>
          </a:p>
        </p:txBody>
      </p:sp>
      <p:sp>
        <p:nvSpPr>
          <p:cNvPr id="50" name="TextBox 49"/>
          <p:cNvSpPr txBox="1"/>
          <p:nvPr/>
        </p:nvSpPr>
        <p:spPr>
          <a:xfrm>
            <a:off x="640994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85 designs • counts at each level</a:t>
            </a:r>
          </a:p>
        </p:txBody>
      </p:sp>
      <p:cxnSp>
        <p:nvCxnSpPr>
          <p:cNvPr id="51" name="Connector 50"/>
          <p:cNvCxnSpPr/>
          <p:nvPr/>
        </p:nvCxnSpPr>
        <p:spPr>
          <a:xfrm>
            <a:off x="678484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27278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53" name="Connector 52"/>
          <p:cNvCxnSpPr/>
          <p:nvPr/>
        </p:nvCxnSpPr>
        <p:spPr>
          <a:xfrm>
            <a:off x="678484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27278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55" name="Connector 54"/>
          <p:cNvCxnSpPr/>
          <p:nvPr/>
        </p:nvCxnSpPr>
        <p:spPr>
          <a:xfrm>
            <a:off x="678484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27278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57" name="Connector 56"/>
          <p:cNvCxnSpPr/>
          <p:nvPr/>
        </p:nvCxnSpPr>
        <p:spPr>
          <a:xfrm>
            <a:off x="678484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27278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59" name="Connector 58"/>
          <p:cNvCxnSpPr/>
          <p:nvPr/>
        </p:nvCxnSpPr>
        <p:spPr>
          <a:xfrm>
            <a:off x="678484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27278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61" name="Rectangle 60"/>
          <p:cNvSpPr/>
          <p:nvPr/>
        </p:nvSpPr>
        <p:spPr>
          <a:xfrm>
            <a:off x="6858000" y="4354007"/>
            <a:ext cx="201168" cy="43744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30568" y="410711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23</a:t>
            </a:r>
          </a:p>
        </p:txBody>
      </p:sp>
      <p:sp>
        <p:nvSpPr>
          <p:cNvPr id="63" name="TextBox 62"/>
          <p:cNvSpPr txBox="1"/>
          <p:nvPr/>
        </p:nvSpPr>
        <p:spPr>
          <a:xfrm>
            <a:off x="7095744"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4" name="TextBox 63"/>
          <p:cNvSpPr txBox="1"/>
          <p:nvPr/>
        </p:nvSpPr>
        <p:spPr>
          <a:xfrm>
            <a:off x="690372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65" name="Rectangle 64"/>
          <p:cNvSpPr/>
          <p:nvPr/>
        </p:nvSpPr>
        <p:spPr>
          <a:xfrm>
            <a:off x="7712049" y="4087733"/>
            <a:ext cx="201168" cy="70372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684617" y="384084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37</a:t>
            </a:r>
          </a:p>
        </p:txBody>
      </p:sp>
      <p:sp>
        <p:nvSpPr>
          <p:cNvPr id="67" name="Rectangle 66"/>
          <p:cNvSpPr/>
          <p:nvPr/>
        </p:nvSpPr>
        <p:spPr>
          <a:xfrm>
            <a:off x="7977225" y="4011655"/>
            <a:ext cx="201168" cy="779800"/>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949793" y="3764767"/>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41</a:t>
            </a:r>
          </a:p>
        </p:txBody>
      </p:sp>
      <p:sp>
        <p:nvSpPr>
          <p:cNvPr id="69" name="TextBox 68"/>
          <p:cNvSpPr txBox="1"/>
          <p:nvPr/>
        </p:nvSpPr>
        <p:spPr>
          <a:xfrm>
            <a:off x="775776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70" name="Rectangle 69"/>
          <p:cNvSpPr/>
          <p:nvPr/>
        </p:nvSpPr>
        <p:spPr>
          <a:xfrm>
            <a:off x="856609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53866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72" name="Rectangle 71"/>
          <p:cNvSpPr/>
          <p:nvPr/>
        </p:nvSpPr>
        <p:spPr>
          <a:xfrm>
            <a:off x="8831275" y="4315968"/>
            <a:ext cx="201168" cy="47548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803843" y="4069080"/>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25</a:t>
            </a:r>
          </a:p>
        </p:txBody>
      </p:sp>
      <p:sp>
        <p:nvSpPr>
          <p:cNvPr id="74" name="TextBox 73"/>
          <p:cNvSpPr txBox="1"/>
          <p:nvPr/>
        </p:nvSpPr>
        <p:spPr>
          <a:xfrm>
            <a:off x="861181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75" name="Rectangle 74"/>
          <p:cNvSpPr/>
          <p:nvPr/>
        </p:nvSpPr>
        <p:spPr>
          <a:xfrm>
            <a:off x="9420148" y="4658319"/>
            <a:ext cx="201168" cy="133136"/>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392716" y="441143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7</a:t>
            </a:r>
          </a:p>
        </p:txBody>
      </p:sp>
      <p:sp>
        <p:nvSpPr>
          <p:cNvPr id="77" name="Rectangle 76"/>
          <p:cNvSpPr/>
          <p:nvPr/>
        </p:nvSpPr>
        <p:spPr>
          <a:xfrm>
            <a:off x="9685324" y="4544202"/>
            <a:ext cx="201168" cy="247253"/>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657892" y="4297314"/>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13</a:t>
            </a:r>
          </a:p>
        </p:txBody>
      </p:sp>
      <p:sp>
        <p:nvSpPr>
          <p:cNvPr id="79" name="TextBox 78"/>
          <p:cNvSpPr txBox="1"/>
          <p:nvPr/>
        </p:nvSpPr>
        <p:spPr>
          <a:xfrm>
            <a:off x="946586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80" name="TextBox 79"/>
          <p:cNvSpPr txBox="1"/>
          <p:nvPr/>
        </p:nvSpPr>
        <p:spPr>
          <a:xfrm>
            <a:off x="1024676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81" name="Rectangle 80"/>
          <p:cNvSpPr/>
          <p:nvPr/>
        </p:nvSpPr>
        <p:spPr>
          <a:xfrm>
            <a:off x="10539374" y="4677338"/>
            <a:ext cx="201168" cy="114117"/>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511942" y="4430450"/>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6</a:t>
            </a:r>
          </a:p>
        </p:txBody>
      </p:sp>
      <p:sp>
        <p:nvSpPr>
          <p:cNvPr id="83" name="TextBox 82"/>
          <p:cNvSpPr txBox="1"/>
          <p:nvPr/>
        </p:nvSpPr>
        <p:spPr>
          <a:xfrm>
            <a:off x="1031991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84" name="TextBox 83"/>
          <p:cNvSpPr txBox="1"/>
          <p:nvPr/>
        </p:nvSpPr>
        <p:spPr>
          <a:xfrm>
            <a:off x="640994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85" name="Rectangle 84"/>
          <p:cNvSpPr/>
          <p:nvPr/>
        </p:nvSpPr>
        <p:spPr>
          <a:xfrm>
            <a:off x="817473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38504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87" name="Rectangle 86"/>
          <p:cNvSpPr/>
          <p:nvPr/>
        </p:nvSpPr>
        <p:spPr>
          <a:xfrm>
            <a:off x="908913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299448"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89" name="Rounded Rectangle 8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never chooses power level 1 (tool: 23 of 85) and chooses frequency level 2 once (tool: 16 of 92).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tests ask which variant is better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Two candidates for the same problem, with the same flow and power stimulus.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30</a:t>
            </a:r>
          </a:p>
        </p:txBody>
      </p:sp>
      <p:sp>
        <p:nvSpPr>
          <p:cNvPr id="6" name="Rounded Rectangle 5"/>
          <p:cNvSpPr/>
          <p:nvPr/>
        </p:nvSpPr>
        <p:spPr>
          <a:xfrm>
            <a:off x="81381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Three comparisons</a:t>
            </a:r>
          </a:p>
        </p:txBody>
      </p:sp>
      <p:sp>
        <p:nvSpPr>
          <p:cNvPr id="9" name="TextBox 8"/>
          <p:cNvSpPr txBox="1"/>
          <p:nvPr/>
        </p:nvSpPr>
        <p:spPr>
          <a:xfrm>
            <a:off x="104241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00407A"/>
                </a:solidFill>
                <a:latin typeface="Arial"/>
              </a:rPr>
              <a:t>Smaller cell area</a:t>
            </a:r>
          </a:p>
          <a:p>
            <a:pPr algn="l">
              <a:lnSpc>
                <a:spcPct val="109000"/>
              </a:lnSpc>
              <a:spcBef>
                <a:spcPts val="0"/>
              </a:spcBef>
              <a:spcAft>
                <a:spcPts val="0"/>
              </a:spcAft>
            </a:pPr>
            <a:r>
              <a:rPr sz="2300" b="0">
                <a:solidFill>
                  <a:srgbClr val="00407A"/>
                </a:solidFill>
                <a:latin typeface="Arial"/>
              </a:rPr>
              <a:t>Lower total power</a:t>
            </a:r>
          </a:p>
          <a:p>
            <a:pPr algn="l">
              <a:lnSpc>
                <a:spcPct val="109000"/>
              </a:lnSpc>
              <a:spcBef>
                <a:spcPts val="0"/>
              </a:spcBef>
              <a:spcAft>
                <a:spcPts val="0"/>
              </a:spcAft>
            </a:pPr>
            <a:r>
              <a:rPr sz="2300" b="0">
                <a:solidFill>
                  <a:srgbClr val="00407A"/>
                </a:solidFill>
                <a:latin typeface="Arial"/>
              </a:rPr>
              <a:t>Higher derived clock frequency</a:t>
            </a:r>
          </a:p>
        </p:txBody>
      </p:sp>
      <p:sp>
        <p:nvSpPr>
          <p:cNvPr id="10" name="Rounded Rectangle 9"/>
          <p:cNvSpPr/>
          <p:nvPr/>
        </p:nvSpPr>
        <p:spPr>
          <a:xfrm>
            <a:off x="620877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Eligibility and coverage</a:t>
            </a:r>
          </a:p>
        </p:txBody>
      </p:sp>
      <p:sp>
        <p:nvSpPr>
          <p:cNvPr id="13" name="TextBox 12"/>
          <p:cNvSpPr txBox="1"/>
          <p:nvPr/>
        </p:nvSpPr>
        <p:spPr>
          <a:xfrm>
            <a:off x="643737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Metric differs by at least 10%.</a:t>
            </a:r>
          </a:p>
          <a:p>
            <a:pPr algn="l">
              <a:lnSpc>
                <a:spcPct val="109000"/>
              </a:lnSpc>
              <a:spcBef>
                <a:spcPts val="0"/>
              </a:spcBef>
              <a:spcAft>
                <a:spcPts val="0"/>
              </a:spcAft>
            </a:pPr>
            <a:r>
              <a:rPr sz="1900" b="0">
                <a:solidFill>
                  <a:srgbClr val="00407A"/>
                </a:solidFill>
                <a:latin typeface="Arial"/>
              </a:rPr>
              <a:t>Area: 23 distinct pairs, 46 views.</a:t>
            </a:r>
          </a:p>
          <a:p>
            <a:pPr algn="l">
              <a:lnSpc>
                <a:spcPct val="109000"/>
              </a:lnSpc>
              <a:spcBef>
                <a:spcPts val="0"/>
              </a:spcBef>
              <a:spcAft>
                <a:spcPts val="0"/>
              </a:spcAft>
            </a:pPr>
            <a:r>
              <a:rPr sz="1900" b="0">
                <a:solidFill>
                  <a:srgbClr val="00407A"/>
                </a:solidFill>
                <a:latin typeface="Arial"/>
              </a:rPr>
              <a:t>Power: 22 pairs, 44 views.</a:t>
            </a:r>
          </a:p>
          <a:p>
            <a:pPr algn="l">
              <a:lnSpc>
                <a:spcPct val="109000"/>
              </a:lnSpc>
              <a:spcBef>
                <a:spcPts val="0"/>
              </a:spcBef>
              <a:spcAft>
                <a:spcPts val="0"/>
              </a:spcAft>
            </a:pPr>
            <a:r>
              <a:rPr sz="1900" b="0">
                <a:solidFill>
                  <a:srgbClr val="00407A"/>
                </a:solidFill>
                <a:latin typeface="Arial"/>
              </a:rPr>
              <a:t>Frequency: 6 pairs, 12 views.</a:t>
            </a:r>
          </a:p>
        </p:txBody>
      </p:sp>
      <p:sp>
        <p:nvSpPr>
          <p:cNvPr id="14" name="TextBox 13"/>
          <p:cNvSpPr txBox="1"/>
          <p:nvPr/>
        </p:nvSpPr>
        <p:spPr>
          <a:xfrm>
            <a:off x="1005840" y="4590288"/>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First request:  [design X = A]  [design Y = B]</a:t>
            </a:r>
          </a:p>
        </p:txBody>
      </p:sp>
      <p:sp>
        <p:nvSpPr>
          <p:cNvPr id="15" name="TextBox 14"/>
          <p:cNvSpPr txBox="1"/>
          <p:nvPr/>
        </p:nvSpPr>
        <p:spPr>
          <a:xfrm>
            <a:off x="1005840" y="5166360"/>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Swap request:  [design Y = A]  [design X = B]</a:t>
            </a:r>
          </a:p>
        </p:txBody>
      </p:sp>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model tracking the better design should switch letters when the design order is swapped.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rankings improve, but the strongest model varies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Per-view accuracy: each distinct pair contributes its two presentation orders.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31</a:t>
            </a:r>
          </a:p>
        </p:txBody>
      </p:sp>
      <p:sp>
        <p:nvSpPr>
          <p:cNvPr id="7" name="Rounded Rectangle 6"/>
          <p:cNvSpPr/>
          <p:nvPr/>
        </p:nvSpPr>
        <p:spPr>
          <a:xfrm>
            <a:off x="81381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smaller area</a:t>
            </a:r>
          </a:p>
        </p:txBody>
      </p:sp>
      <p:sp>
        <p:nvSpPr>
          <p:cNvPr id="9" name="TextBox 8"/>
          <p:cNvSpPr txBox="1"/>
          <p:nvPr/>
        </p:nvSpPr>
        <p:spPr>
          <a:xfrm>
            <a:off x="101498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23 distinct pairs • 46 views</a:t>
            </a:r>
          </a:p>
        </p:txBody>
      </p:sp>
      <p:cxnSp>
        <p:nvCxnSpPr>
          <p:cNvPr id="10" name="Connector 9"/>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22814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0802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28986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69747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28142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62656"/>
            <a:ext cx="590384"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47.8%</a:t>
            </a:r>
          </a:p>
          <a:p>
            <a:pPr algn="l">
              <a:lnSpc>
                <a:spcPct val="109000"/>
              </a:lnSpc>
              <a:spcBef>
                <a:spcPts val="0"/>
              </a:spcBef>
              <a:spcAft>
                <a:spcPts val="0"/>
              </a:spcAft>
            </a:pPr>
            <a:r>
              <a:rPr sz="1250" b="0">
                <a:solidFill>
                  <a:srgbClr val="00407A"/>
                </a:solidFill>
                <a:latin typeface="Arial"/>
              </a:rPr>
              <a:t>22 of 46</a:t>
            </a:r>
          </a:p>
        </p:txBody>
      </p:sp>
      <p:sp>
        <p:nvSpPr>
          <p:cNvPr id="20" name="TextBox 19"/>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65575"/>
            <a:ext cx="939247"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752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76.1%</a:t>
            </a:r>
          </a:p>
          <a:p>
            <a:pPr algn="l">
              <a:lnSpc>
                <a:spcPct val="109000"/>
              </a:lnSpc>
              <a:spcBef>
                <a:spcPts val="0"/>
              </a:spcBef>
              <a:spcAft>
                <a:spcPts val="0"/>
              </a:spcAft>
            </a:pPr>
            <a:r>
              <a:rPr sz="1250" b="0">
                <a:solidFill>
                  <a:srgbClr val="00407A"/>
                </a:solidFill>
                <a:latin typeface="Arial"/>
              </a:rPr>
              <a:t>35 of 46</a:t>
            </a:r>
          </a:p>
        </p:txBody>
      </p:sp>
      <p:sp>
        <p:nvSpPr>
          <p:cNvPr id="23" name="TextBox 22"/>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68495"/>
            <a:ext cx="107342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1752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87.0%</a:t>
            </a:r>
          </a:p>
          <a:p>
            <a:pPr algn="l">
              <a:lnSpc>
                <a:spcPct val="109000"/>
              </a:lnSpc>
              <a:spcBef>
                <a:spcPts val="0"/>
              </a:spcBef>
              <a:spcAft>
                <a:spcPts val="0"/>
              </a:spcAft>
            </a:pPr>
            <a:r>
              <a:rPr sz="1250" b="0">
                <a:solidFill>
                  <a:srgbClr val="00407A"/>
                </a:solidFill>
                <a:latin typeface="Arial"/>
              </a:rPr>
              <a:t>40 of 46</a:t>
            </a:r>
          </a:p>
        </p:txBody>
      </p:sp>
      <p:sp>
        <p:nvSpPr>
          <p:cNvPr id="26" name="TextBox 25"/>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71416"/>
            <a:ext cx="96608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752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78.3%</a:t>
            </a:r>
          </a:p>
          <a:p>
            <a:pPr algn="l">
              <a:lnSpc>
                <a:spcPct val="109000"/>
              </a:lnSpc>
              <a:spcBef>
                <a:spcPts val="0"/>
              </a:spcBef>
              <a:spcAft>
                <a:spcPts val="0"/>
              </a:spcAft>
            </a:pPr>
            <a:r>
              <a:rPr sz="1250" b="0">
                <a:solidFill>
                  <a:srgbClr val="00407A"/>
                </a:solidFill>
                <a:latin typeface="Arial"/>
              </a:rPr>
              <a:t>36 of 46</a:t>
            </a:r>
          </a:p>
        </p:txBody>
      </p:sp>
      <p:sp>
        <p:nvSpPr>
          <p:cNvPr id="29" name="TextBox 28"/>
          <p:cNvSpPr txBox="1"/>
          <p:nvPr/>
        </p:nvSpPr>
        <p:spPr>
          <a:xfrm>
            <a:off x="99669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0" name="TextBox 29"/>
          <p:cNvSpPr txBox="1"/>
          <p:nvPr/>
        </p:nvSpPr>
        <p:spPr>
          <a:xfrm>
            <a:off x="99669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31" name="Rounded Rectangle 30"/>
          <p:cNvSpPr/>
          <p:nvPr/>
        </p:nvSpPr>
        <p:spPr>
          <a:xfrm>
            <a:off x="4398264"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99431"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lower power</a:t>
            </a:r>
          </a:p>
        </p:txBody>
      </p:sp>
      <p:sp>
        <p:nvSpPr>
          <p:cNvPr id="33" name="TextBox 32"/>
          <p:cNvSpPr txBox="1"/>
          <p:nvPr/>
        </p:nvSpPr>
        <p:spPr>
          <a:xfrm>
            <a:off x="4599431"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22 distinct pairs • 44 views</a:t>
            </a:r>
          </a:p>
        </p:txBody>
      </p:sp>
      <p:cxnSp>
        <p:nvCxnSpPr>
          <p:cNvPr id="34" name="Connector 33"/>
          <p:cNvCxnSpPr/>
          <p:nvPr/>
        </p:nvCxnSpPr>
        <p:spPr>
          <a:xfrm>
            <a:off x="524865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04748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6" name="Connector 35"/>
          <p:cNvCxnSpPr/>
          <p:nvPr/>
        </p:nvCxnSpPr>
        <p:spPr>
          <a:xfrm>
            <a:off x="586587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4707"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8" name="Connector 37"/>
          <p:cNvCxnSpPr/>
          <p:nvPr/>
        </p:nvCxnSpPr>
        <p:spPr>
          <a:xfrm>
            <a:off x="6483096"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28192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40" name="Connector 39"/>
          <p:cNvCxnSpPr/>
          <p:nvPr/>
        </p:nvCxnSpPr>
        <p:spPr>
          <a:xfrm>
            <a:off x="5865875"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581144"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2" name="Rectangle 41"/>
          <p:cNvSpPr/>
          <p:nvPr/>
        </p:nvSpPr>
        <p:spPr>
          <a:xfrm>
            <a:off x="5248655" y="2962656"/>
            <a:ext cx="785552"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01968"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63.6%</a:t>
            </a:r>
          </a:p>
          <a:p>
            <a:pPr algn="l">
              <a:lnSpc>
                <a:spcPct val="109000"/>
              </a:lnSpc>
              <a:spcBef>
                <a:spcPts val="0"/>
              </a:spcBef>
              <a:spcAft>
                <a:spcPts val="0"/>
              </a:spcAft>
            </a:pPr>
            <a:r>
              <a:rPr sz="1250" b="0">
                <a:solidFill>
                  <a:srgbClr val="00407A"/>
                </a:solidFill>
                <a:latin typeface="Arial"/>
              </a:rPr>
              <a:t>28 of 44</a:t>
            </a:r>
          </a:p>
        </p:txBody>
      </p:sp>
      <p:sp>
        <p:nvSpPr>
          <p:cNvPr id="44" name="TextBox 43"/>
          <p:cNvSpPr txBox="1"/>
          <p:nvPr/>
        </p:nvSpPr>
        <p:spPr>
          <a:xfrm>
            <a:off x="4581144"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5" name="Rectangle 44"/>
          <p:cNvSpPr/>
          <p:nvPr/>
        </p:nvSpPr>
        <p:spPr>
          <a:xfrm>
            <a:off x="5248655" y="3465575"/>
            <a:ext cx="70138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01968"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56.8%</a:t>
            </a:r>
          </a:p>
          <a:p>
            <a:pPr algn="l">
              <a:lnSpc>
                <a:spcPct val="109000"/>
              </a:lnSpc>
              <a:spcBef>
                <a:spcPts val="0"/>
              </a:spcBef>
              <a:spcAft>
                <a:spcPts val="0"/>
              </a:spcAft>
            </a:pPr>
            <a:r>
              <a:rPr sz="1250" b="0">
                <a:solidFill>
                  <a:srgbClr val="00407A"/>
                </a:solidFill>
                <a:latin typeface="Arial"/>
              </a:rPr>
              <a:t>25 of 44</a:t>
            </a:r>
          </a:p>
        </p:txBody>
      </p:sp>
      <p:sp>
        <p:nvSpPr>
          <p:cNvPr id="47" name="TextBox 46"/>
          <p:cNvSpPr txBox="1"/>
          <p:nvPr/>
        </p:nvSpPr>
        <p:spPr>
          <a:xfrm>
            <a:off x="4581144"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8" name="Rectangle 47"/>
          <p:cNvSpPr/>
          <p:nvPr/>
        </p:nvSpPr>
        <p:spPr>
          <a:xfrm>
            <a:off x="5248655" y="3968495"/>
            <a:ext cx="8136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01968"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65.9%</a:t>
            </a:r>
          </a:p>
          <a:p>
            <a:pPr algn="l">
              <a:lnSpc>
                <a:spcPct val="109000"/>
              </a:lnSpc>
              <a:spcBef>
                <a:spcPts val="0"/>
              </a:spcBef>
              <a:spcAft>
                <a:spcPts val="0"/>
              </a:spcAft>
            </a:pPr>
            <a:r>
              <a:rPr sz="1250" b="0">
                <a:solidFill>
                  <a:srgbClr val="00407A"/>
                </a:solidFill>
                <a:latin typeface="Arial"/>
              </a:rPr>
              <a:t>29 of 44</a:t>
            </a:r>
          </a:p>
        </p:txBody>
      </p:sp>
      <p:sp>
        <p:nvSpPr>
          <p:cNvPr id="50" name="TextBox 49"/>
          <p:cNvSpPr txBox="1"/>
          <p:nvPr/>
        </p:nvSpPr>
        <p:spPr>
          <a:xfrm>
            <a:off x="4581144"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1" name="Rectangle 50"/>
          <p:cNvSpPr/>
          <p:nvPr/>
        </p:nvSpPr>
        <p:spPr>
          <a:xfrm>
            <a:off x="5248655" y="4471416"/>
            <a:ext cx="869719"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01968"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70.5%</a:t>
            </a:r>
          </a:p>
          <a:p>
            <a:pPr algn="l">
              <a:lnSpc>
                <a:spcPct val="109000"/>
              </a:lnSpc>
              <a:spcBef>
                <a:spcPts val="0"/>
              </a:spcBef>
              <a:spcAft>
                <a:spcPts val="0"/>
              </a:spcAft>
            </a:pPr>
            <a:r>
              <a:rPr sz="1250" b="0">
                <a:solidFill>
                  <a:srgbClr val="00407A"/>
                </a:solidFill>
                <a:latin typeface="Arial"/>
              </a:rPr>
              <a:t>31 of 44</a:t>
            </a:r>
          </a:p>
        </p:txBody>
      </p:sp>
      <p:sp>
        <p:nvSpPr>
          <p:cNvPr id="53" name="TextBox 52"/>
          <p:cNvSpPr txBox="1"/>
          <p:nvPr/>
        </p:nvSpPr>
        <p:spPr>
          <a:xfrm>
            <a:off x="4581144"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4" name="TextBox 53"/>
          <p:cNvSpPr txBox="1"/>
          <p:nvPr/>
        </p:nvSpPr>
        <p:spPr>
          <a:xfrm>
            <a:off x="4581144"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55" name="Rounded Rectangle 54"/>
          <p:cNvSpPr/>
          <p:nvPr/>
        </p:nvSpPr>
        <p:spPr>
          <a:xfrm>
            <a:off x="799185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19302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higher frequency</a:t>
            </a:r>
          </a:p>
        </p:txBody>
      </p:sp>
      <p:sp>
        <p:nvSpPr>
          <p:cNvPr id="57" name="TextBox 56"/>
          <p:cNvSpPr txBox="1"/>
          <p:nvPr/>
        </p:nvSpPr>
        <p:spPr>
          <a:xfrm>
            <a:off x="819302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6 distinct pairs • 12 views</a:t>
            </a:r>
          </a:p>
        </p:txBody>
      </p:sp>
      <p:cxnSp>
        <p:nvCxnSpPr>
          <p:cNvPr id="58" name="Connector 57"/>
          <p:cNvCxnSpPr/>
          <p:nvPr/>
        </p:nvCxnSpPr>
        <p:spPr>
          <a:xfrm>
            <a:off x="88422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864108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60" name="Connector 59"/>
          <p:cNvCxnSpPr/>
          <p:nvPr/>
        </p:nvCxnSpPr>
        <p:spPr>
          <a:xfrm>
            <a:off x="94594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925830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62" name="Connector 61"/>
          <p:cNvCxnSpPr/>
          <p:nvPr/>
        </p:nvCxnSpPr>
        <p:spPr>
          <a:xfrm>
            <a:off x="1007668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987551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64" name="Connector 63"/>
          <p:cNvCxnSpPr/>
          <p:nvPr/>
        </p:nvCxnSpPr>
        <p:spPr>
          <a:xfrm>
            <a:off x="945946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817473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66" name="Rectangle 65"/>
          <p:cNvSpPr/>
          <p:nvPr/>
        </p:nvSpPr>
        <p:spPr>
          <a:xfrm>
            <a:off x="8842248" y="2962656"/>
            <a:ext cx="82296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19556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66.7%</a:t>
            </a:r>
          </a:p>
          <a:p>
            <a:pPr algn="l">
              <a:lnSpc>
                <a:spcPct val="109000"/>
              </a:lnSpc>
              <a:spcBef>
                <a:spcPts val="0"/>
              </a:spcBef>
              <a:spcAft>
                <a:spcPts val="0"/>
              </a:spcAft>
            </a:pPr>
            <a:r>
              <a:rPr sz="1250" b="0">
                <a:solidFill>
                  <a:srgbClr val="00407A"/>
                </a:solidFill>
                <a:latin typeface="Arial"/>
              </a:rPr>
              <a:t>8 of 12</a:t>
            </a:r>
          </a:p>
        </p:txBody>
      </p:sp>
      <p:sp>
        <p:nvSpPr>
          <p:cNvPr id="68" name="TextBox 67"/>
          <p:cNvSpPr txBox="1"/>
          <p:nvPr/>
        </p:nvSpPr>
        <p:spPr>
          <a:xfrm>
            <a:off x="817473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9" name="Rectangle 68"/>
          <p:cNvSpPr/>
          <p:nvPr/>
        </p:nvSpPr>
        <p:spPr>
          <a:xfrm>
            <a:off x="8842248" y="3465575"/>
            <a:ext cx="102870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19556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1" name="TextBox 70"/>
          <p:cNvSpPr txBox="1"/>
          <p:nvPr/>
        </p:nvSpPr>
        <p:spPr>
          <a:xfrm>
            <a:off x="817473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2" name="Rectangle 71"/>
          <p:cNvSpPr/>
          <p:nvPr/>
        </p:nvSpPr>
        <p:spPr>
          <a:xfrm>
            <a:off x="8842248" y="3968495"/>
            <a:ext cx="92583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19556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75.0%</a:t>
            </a:r>
          </a:p>
          <a:p>
            <a:pPr algn="l">
              <a:lnSpc>
                <a:spcPct val="109000"/>
              </a:lnSpc>
              <a:spcBef>
                <a:spcPts val="0"/>
              </a:spcBef>
              <a:spcAft>
                <a:spcPts val="0"/>
              </a:spcAft>
            </a:pPr>
            <a:r>
              <a:rPr sz="1250" b="0">
                <a:solidFill>
                  <a:srgbClr val="00407A"/>
                </a:solidFill>
                <a:latin typeface="Arial"/>
              </a:rPr>
              <a:t>9 of 12</a:t>
            </a:r>
          </a:p>
        </p:txBody>
      </p:sp>
      <p:sp>
        <p:nvSpPr>
          <p:cNvPr id="74" name="TextBox 73"/>
          <p:cNvSpPr txBox="1"/>
          <p:nvPr/>
        </p:nvSpPr>
        <p:spPr>
          <a:xfrm>
            <a:off x="817473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75" name="Rectangle 74"/>
          <p:cNvSpPr/>
          <p:nvPr/>
        </p:nvSpPr>
        <p:spPr>
          <a:xfrm>
            <a:off x="8842248" y="4471416"/>
            <a:ext cx="102870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19556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7" name="TextBox 76"/>
          <p:cNvSpPr txBox="1"/>
          <p:nvPr/>
        </p:nvSpPr>
        <p:spPr>
          <a:xfrm>
            <a:off x="817473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78" name="TextBox 77"/>
          <p:cNvSpPr txBox="1"/>
          <p:nvPr/>
        </p:nvSpPr>
        <p:spPr>
          <a:xfrm>
            <a:off x="817473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79" name="Rounded Rectangle 7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9B leads area ranking (40 of 46 views); 27B leads power ranking (31 of 44). Frequency has only six pairs.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Check the design ranking in both orders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stronger test counts a pair correct only when both presentation orders are correct.</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32</a:t>
            </a:r>
          </a:p>
        </p:txBody>
      </p:sp>
      <p:graphicFrame>
        <p:nvGraphicFramePr>
          <p:cNvPr id="7" name="Table 6"/>
          <p:cNvGraphicFramePr>
            <a:graphicFrameLocks noGrp="1"/>
          </p:cNvGraphicFramePr>
          <p:nvPr/>
        </p:nvGraphicFramePr>
        <p:xfrm>
          <a:off x="813816" y="1874519"/>
          <a:ext cx="10561320" cy="2240280"/>
        </p:xfrm>
        <a:graphic>
          <a:graphicData uri="http://schemas.openxmlformats.org/drawingml/2006/table">
            <a:tbl>
              <a:tblPr firstRow="1" bandRow="1">
                <a:tableStyleId>{5C22544A-7EE6-4342-B048-85BDC9FD1C3A}</a:tableStyleId>
              </a:tblPr>
              <a:tblGrid>
                <a:gridCol w="1371600"/>
                <a:gridCol w="3063240"/>
                <a:gridCol w="3063240"/>
                <a:gridCol w="306324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Area: both correct</a:t>
                      </a:r>
                    </a:p>
                    <a:p>
                      <a:pPr algn="ctr">
                        <a:lnSpc>
                          <a:spcPct val="103000"/>
                        </a:lnSpc>
                        <a:spcBef>
                          <a:spcPts val="0"/>
                        </a:spcBef>
                        <a:spcAft>
                          <a:spcPts val="0"/>
                        </a:spcAft>
                      </a:pPr>
                      <a:r>
                        <a:rPr sz="1600" b="1">
                          <a:solidFill>
                            <a:srgbClr val="FFFFFF"/>
                          </a:solidFill>
                          <a:latin typeface="Arial"/>
                        </a:rPr>
                        <a:t>23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Power: both correct</a:t>
                      </a:r>
                    </a:p>
                    <a:p>
                      <a:pPr algn="ctr">
                        <a:lnSpc>
                          <a:spcPct val="103000"/>
                        </a:lnSpc>
                        <a:spcBef>
                          <a:spcPts val="0"/>
                        </a:spcBef>
                        <a:spcAft>
                          <a:spcPts val="0"/>
                        </a:spcAft>
                      </a:pPr>
                      <a:r>
                        <a:rPr sz="1600" b="1">
                          <a:solidFill>
                            <a:srgbClr val="FFFFFF"/>
                          </a:solidFill>
                          <a:latin typeface="Arial"/>
                        </a:rPr>
                        <a:t>22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Frequency: both correct</a:t>
                      </a:r>
                    </a:p>
                    <a:p>
                      <a:pPr algn="ctr">
                        <a:lnSpc>
                          <a:spcPct val="103000"/>
                        </a:lnSpc>
                        <a:spcBef>
                          <a:spcPts val="0"/>
                        </a:spcBef>
                        <a:spcAft>
                          <a:spcPts val="0"/>
                        </a:spcAft>
                      </a:pPr>
                      <a:r>
                        <a:rPr sz="1600" b="1">
                          <a:solidFill>
                            <a:srgbClr val="FFFFFF"/>
                          </a:solidFill>
                          <a:latin typeface="Arial"/>
                        </a:rPr>
                        <a:t>6 pairs</a:t>
                      </a:r>
                    </a:p>
                  </a:txBody>
                  <a:tcPr marL="109728" marR="91440" marT="54864" marB="36576" anchor="ctr">
                    <a:solidFill>
                      <a:srgbClr val="00407A"/>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13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FFFFFF"/>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19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17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14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6</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87552" y="4462272"/>
            <a:ext cx="10149840" cy="384048"/>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Same letter after swapping the power pair:</a:t>
            </a:r>
          </a:p>
        </p:txBody>
      </p:sp>
      <p:sp>
        <p:nvSpPr>
          <p:cNvPr id="9" name="TextBox 8"/>
          <p:cNvSpPr txBox="1"/>
          <p:nvPr/>
        </p:nvSpPr>
        <p:spPr>
          <a:xfrm>
            <a:off x="987552" y="5010912"/>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0.8B: 16 of 22 pairs   •   4B: 19 of 22   •   9B: 11 of 22   •   27B: 3 of 22</a:t>
            </a:r>
          </a:p>
        </p:txBody>
      </p:sp>
      <p:sp>
        <p:nvSpPr>
          <p:cNvPr id="10" name="Rounded Rectangle 9"/>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Keeping the same letter after a swap guarantees at least one wrong view. Lower is better for that error count.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 leads all three pair rankings</a:t>
            </a:r>
          </a:p>
        </p:txBody>
      </p:sp>
      <p:sp>
        <p:nvSpPr>
          <p:cNvPr id="4" name="TextBox 3"/>
          <p:cNvSpPr txBox="1"/>
          <p:nvPr/>
        </p:nvSpPr>
        <p:spPr>
          <a:xfrm>
            <a:off x="813816" y="1261872"/>
            <a:ext cx="10561320" cy="438912"/>
          </a:xfrm>
          <a:prstGeom prst="rect">
            <a:avLst/>
          </a:prstGeom>
          <a:noFill/>
        </p:spPr>
        <p:txBody>
          <a:bodyPr wrap="square" lIns="0" rIns="0" tIns="0" bIns="0">
            <a:noAutofit/>
          </a:bodyPr>
          <a:lstStyle/>
          <a:p>
            <a:pPr>
              <a:lnSpc>
                <a:spcPct val="109000"/>
              </a:lnSpc>
              <a:spcBef>
                <a:spcPts val="0"/>
              </a:spcBef>
              <a:spcAft>
                <a:spcPts val="0"/>
              </a:spcAft>
            </a:pPr>
            <a:r>
              <a:rPr sz="1600" b="0">
                <a:solidFill>
                  <a:srgbClr val="4A5A66"/>
                </a:solidFill>
                <a:latin typeface="Arial"/>
              </a:rPr>
              <a:t>Per-view accuracy with three solved examples per question.    </a:t>
            </a:r>
            <a:r>
              <a:rPr sz="1600" b="1">
                <a:solidFill>
                  <a:srgbClr val="E97132"/>
                </a:solidFill>
                <a:latin typeface="Arial"/>
              </a:rPr>
              <a:t>|</a:t>
            </a:r>
            <a:r>
              <a:rPr sz="1600" b="0">
                <a:solidFill>
                  <a:srgbClr val="4A5A66"/>
                </a:solidFill>
                <a:latin typeface="Arial"/>
              </a:rPr>
              <a:t> = the score without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33</a:t>
            </a:r>
          </a:p>
        </p:txBody>
      </p:sp>
      <p:sp>
        <p:nvSpPr>
          <p:cNvPr id="7" name="Rounded Rectangle 6"/>
          <p:cNvSpPr/>
          <p:nvPr/>
        </p:nvSpPr>
        <p:spPr>
          <a:xfrm>
            <a:off x="81381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smaller area</a:t>
            </a:r>
          </a:p>
        </p:txBody>
      </p:sp>
      <p:sp>
        <p:nvSpPr>
          <p:cNvPr id="9" name="TextBox 8"/>
          <p:cNvSpPr txBox="1"/>
          <p:nvPr/>
        </p:nvSpPr>
        <p:spPr>
          <a:xfrm>
            <a:off x="101498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23 distinct pairs • 46 views</a:t>
            </a:r>
          </a:p>
        </p:txBody>
      </p:sp>
      <p:cxnSp>
        <p:nvCxnSpPr>
          <p:cNvPr id="10" name="Connector 9"/>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22814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0802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4" name="Connector 13"/>
          <p:cNvCxnSpPr/>
          <p:nvPr/>
        </p:nvCxnSpPr>
        <p:spPr>
          <a:xfrm>
            <a:off x="28986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69747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6" name="Connector 15"/>
          <p:cNvCxnSpPr/>
          <p:nvPr/>
        </p:nvCxnSpPr>
        <p:spPr>
          <a:xfrm>
            <a:off x="228142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8" name="Rectangle 17"/>
          <p:cNvSpPr/>
          <p:nvPr/>
        </p:nvSpPr>
        <p:spPr>
          <a:xfrm>
            <a:off x="1664208" y="2962656"/>
            <a:ext cx="6172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23 of 46</a:t>
            </a:r>
          </a:p>
        </p:txBody>
      </p:sp>
      <p:sp>
        <p:nvSpPr>
          <p:cNvPr id="20" name="TextBox 19"/>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1" name="Rectangle 20"/>
          <p:cNvSpPr/>
          <p:nvPr/>
        </p:nvSpPr>
        <p:spPr>
          <a:xfrm>
            <a:off x="1664208" y="3465575"/>
            <a:ext cx="831905"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752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67.4%</a:t>
            </a:r>
          </a:p>
          <a:p>
            <a:pPr algn="l">
              <a:lnSpc>
                <a:spcPct val="109000"/>
              </a:lnSpc>
              <a:spcBef>
                <a:spcPts val="0"/>
              </a:spcBef>
              <a:spcAft>
                <a:spcPts val="0"/>
              </a:spcAft>
            </a:pPr>
            <a:r>
              <a:rPr sz="1250" b="0">
                <a:solidFill>
                  <a:srgbClr val="00407A"/>
                </a:solidFill>
                <a:latin typeface="Arial"/>
              </a:rPr>
              <a:t>31 of 46</a:t>
            </a:r>
          </a:p>
        </p:txBody>
      </p:sp>
      <p:sp>
        <p:nvSpPr>
          <p:cNvPr id="23" name="TextBox 22"/>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4" name="Rectangle 23"/>
          <p:cNvSpPr/>
          <p:nvPr/>
        </p:nvSpPr>
        <p:spPr>
          <a:xfrm>
            <a:off x="1664208" y="3968495"/>
            <a:ext cx="93924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1752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76.1%</a:t>
            </a:r>
          </a:p>
          <a:p>
            <a:pPr algn="l">
              <a:lnSpc>
                <a:spcPct val="109000"/>
              </a:lnSpc>
              <a:spcBef>
                <a:spcPts val="0"/>
              </a:spcBef>
              <a:spcAft>
                <a:spcPts val="0"/>
              </a:spcAft>
            </a:pPr>
            <a:r>
              <a:rPr sz="1250" b="0">
                <a:solidFill>
                  <a:srgbClr val="00407A"/>
                </a:solidFill>
                <a:latin typeface="Arial"/>
              </a:rPr>
              <a:t>35 of 46</a:t>
            </a:r>
          </a:p>
        </p:txBody>
      </p:sp>
      <p:sp>
        <p:nvSpPr>
          <p:cNvPr id="26" name="TextBox 25"/>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7" name="Rectangle 26"/>
          <p:cNvSpPr/>
          <p:nvPr/>
        </p:nvSpPr>
        <p:spPr>
          <a:xfrm>
            <a:off x="1664208" y="4471416"/>
            <a:ext cx="1100261"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752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89.1%</a:t>
            </a:r>
          </a:p>
          <a:p>
            <a:pPr algn="l">
              <a:lnSpc>
                <a:spcPct val="109000"/>
              </a:lnSpc>
              <a:spcBef>
                <a:spcPts val="0"/>
              </a:spcBef>
              <a:spcAft>
                <a:spcPts val="0"/>
              </a:spcAft>
            </a:pPr>
            <a:r>
              <a:rPr sz="1250" b="0">
                <a:solidFill>
                  <a:srgbClr val="00407A"/>
                </a:solidFill>
                <a:latin typeface="Arial"/>
              </a:rPr>
              <a:t>41 of 46</a:t>
            </a:r>
          </a:p>
        </p:txBody>
      </p:sp>
      <p:cxnSp>
        <p:nvCxnSpPr>
          <p:cNvPr id="29" name="Connector 28"/>
          <p:cNvCxnSpPr/>
          <p:nvPr/>
        </p:nvCxnSpPr>
        <p:spPr>
          <a:xfrm>
            <a:off x="2254592" y="2916935"/>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603455" y="341985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737634" y="392277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630291" y="4425696"/>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9669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34" name="TextBox 33"/>
          <p:cNvSpPr txBox="1"/>
          <p:nvPr/>
        </p:nvSpPr>
        <p:spPr>
          <a:xfrm>
            <a:off x="99669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35" name="Rounded Rectangle 34"/>
          <p:cNvSpPr/>
          <p:nvPr/>
        </p:nvSpPr>
        <p:spPr>
          <a:xfrm>
            <a:off x="4398264"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99431"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lower power</a:t>
            </a:r>
          </a:p>
        </p:txBody>
      </p:sp>
      <p:sp>
        <p:nvSpPr>
          <p:cNvPr id="37" name="TextBox 36"/>
          <p:cNvSpPr txBox="1"/>
          <p:nvPr/>
        </p:nvSpPr>
        <p:spPr>
          <a:xfrm>
            <a:off x="4599431"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22 distinct pairs • 44 views</a:t>
            </a:r>
          </a:p>
        </p:txBody>
      </p:sp>
      <p:cxnSp>
        <p:nvCxnSpPr>
          <p:cNvPr id="38" name="Connector 37"/>
          <p:cNvCxnSpPr/>
          <p:nvPr/>
        </p:nvCxnSpPr>
        <p:spPr>
          <a:xfrm>
            <a:off x="524865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4748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40" name="Connector 39"/>
          <p:cNvCxnSpPr/>
          <p:nvPr/>
        </p:nvCxnSpPr>
        <p:spPr>
          <a:xfrm>
            <a:off x="586587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664707"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42" name="Connector 41"/>
          <p:cNvCxnSpPr/>
          <p:nvPr/>
        </p:nvCxnSpPr>
        <p:spPr>
          <a:xfrm>
            <a:off x="6483096"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28192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44" name="Connector 43"/>
          <p:cNvCxnSpPr/>
          <p:nvPr/>
        </p:nvCxnSpPr>
        <p:spPr>
          <a:xfrm>
            <a:off x="5865875"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581144"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6" name="Rectangle 45"/>
          <p:cNvSpPr/>
          <p:nvPr/>
        </p:nvSpPr>
        <p:spPr>
          <a:xfrm>
            <a:off x="5248655" y="2962656"/>
            <a:ext cx="67333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01968"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54.5%</a:t>
            </a:r>
          </a:p>
          <a:p>
            <a:pPr algn="l">
              <a:lnSpc>
                <a:spcPct val="109000"/>
              </a:lnSpc>
              <a:spcBef>
                <a:spcPts val="0"/>
              </a:spcBef>
              <a:spcAft>
                <a:spcPts val="0"/>
              </a:spcAft>
            </a:pPr>
            <a:r>
              <a:rPr sz="1250" b="0">
                <a:solidFill>
                  <a:srgbClr val="00407A"/>
                </a:solidFill>
                <a:latin typeface="Arial"/>
              </a:rPr>
              <a:t>24 of 44</a:t>
            </a:r>
          </a:p>
        </p:txBody>
      </p:sp>
      <p:sp>
        <p:nvSpPr>
          <p:cNvPr id="48" name="TextBox 47"/>
          <p:cNvSpPr txBox="1"/>
          <p:nvPr/>
        </p:nvSpPr>
        <p:spPr>
          <a:xfrm>
            <a:off x="4581144"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9" name="Rectangle 48"/>
          <p:cNvSpPr/>
          <p:nvPr/>
        </p:nvSpPr>
        <p:spPr>
          <a:xfrm>
            <a:off x="5248655" y="3465575"/>
            <a:ext cx="785552"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01968"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63.6%</a:t>
            </a:r>
          </a:p>
          <a:p>
            <a:pPr algn="l">
              <a:lnSpc>
                <a:spcPct val="109000"/>
              </a:lnSpc>
              <a:spcBef>
                <a:spcPts val="0"/>
              </a:spcBef>
              <a:spcAft>
                <a:spcPts val="0"/>
              </a:spcAft>
            </a:pPr>
            <a:r>
              <a:rPr sz="1250" b="0">
                <a:solidFill>
                  <a:srgbClr val="00407A"/>
                </a:solidFill>
                <a:latin typeface="Arial"/>
              </a:rPr>
              <a:t>28 of 44</a:t>
            </a:r>
          </a:p>
        </p:txBody>
      </p:sp>
      <p:sp>
        <p:nvSpPr>
          <p:cNvPr id="51" name="TextBox 50"/>
          <p:cNvSpPr txBox="1"/>
          <p:nvPr/>
        </p:nvSpPr>
        <p:spPr>
          <a:xfrm>
            <a:off x="4581144"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52" name="Rectangle 51"/>
          <p:cNvSpPr/>
          <p:nvPr/>
        </p:nvSpPr>
        <p:spPr>
          <a:xfrm>
            <a:off x="5248655" y="3968495"/>
            <a:ext cx="869719"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01968"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70.5%</a:t>
            </a:r>
          </a:p>
          <a:p>
            <a:pPr algn="l">
              <a:lnSpc>
                <a:spcPct val="109000"/>
              </a:lnSpc>
              <a:spcBef>
                <a:spcPts val="0"/>
              </a:spcBef>
              <a:spcAft>
                <a:spcPts val="0"/>
              </a:spcAft>
            </a:pPr>
            <a:r>
              <a:rPr sz="1250" b="0">
                <a:solidFill>
                  <a:srgbClr val="00407A"/>
                </a:solidFill>
                <a:latin typeface="Arial"/>
              </a:rPr>
              <a:t>31 of 44</a:t>
            </a:r>
          </a:p>
        </p:txBody>
      </p:sp>
      <p:sp>
        <p:nvSpPr>
          <p:cNvPr id="54" name="TextBox 53"/>
          <p:cNvSpPr txBox="1"/>
          <p:nvPr/>
        </p:nvSpPr>
        <p:spPr>
          <a:xfrm>
            <a:off x="4581144"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5" name="Rectangle 54"/>
          <p:cNvSpPr/>
          <p:nvPr/>
        </p:nvSpPr>
        <p:spPr>
          <a:xfrm>
            <a:off x="5248655" y="4471416"/>
            <a:ext cx="98194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601968"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79.5%</a:t>
            </a:r>
          </a:p>
          <a:p>
            <a:pPr algn="l">
              <a:lnSpc>
                <a:spcPct val="109000"/>
              </a:lnSpc>
              <a:spcBef>
                <a:spcPts val="0"/>
              </a:spcBef>
              <a:spcAft>
                <a:spcPts val="0"/>
              </a:spcAft>
            </a:pPr>
            <a:r>
              <a:rPr sz="1250" b="0">
                <a:solidFill>
                  <a:srgbClr val="00407A"/>
                </a:solidFill>
                <a:latin typeface="Arial"/>
              </a:rPr>
              <a:t>35 of 44</a:t>
            </a:r>
          </a:p>
        </p:txBody>
      </p:sp>
      <p:cxnSp>
        <p:nvCxnSpPr>
          <p:cNvPr id="57" name="Connector 56"/>
          <p:cNvCxnSpPr/>
          <p:nvPr/>
        </p:nvCxnSpPr>
        <p:spPr>
          <a:xfrm>
            <a:off x="6034208" y="2916935"/>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950042" y="341985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062264" y="392277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118375" y="4425696"/>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81144"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62" name="TextBox 61"/>
          <p:cNvSpPr txBox="1"/>
          <p:nvPr/>
        </p:nvSpPr>
        <p:spPr>
          <a:xfrm>
            <a:off x="4581144"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63" name="Rounded Rectangle 62"/>
          <p:cNvSpPr/>
          <p:nvPr/>
        </p:nvSpPr>
        <p:spPr>
          <a:xfrm>
            <a:off x="799185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19302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higher frequency</a:t>
            </a:r>
          </a:p>
        </p:txBody>
      </p:sp>
      <p:sp>
        <p:nvSpPr>
          <p:cNvPr id="65" name="TextBox 64"/>
          <p:cNvSpPr txBox="1"/>
          <p:nvPr/>
        </p:nvSpPr>
        <p:spPr>
          <a:xfrm>
            <a:off x="819302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6 distinct pairs • 12 views</a:t>
            </a:r>
          </a:p>
        </p:txBody>
      </p:sp>
      <p:cxnSp>
        <p:nvCxnSpPr>
          <p:cNvPr id="66" name="Connector 65"/>
          <p:cNvCxnSpPr/>
          <p:nvPr/>
        </p:nvCxnSpPr>
        <p:spPr>
          <a:xfrm>
            <a:off x="88422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864108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68" name="Connector 67"/>
          <p:cNvCxnSpPr/>
          <p:nvPr/>
        </p:nvCxnSpPr>
        <p:spPr>
          <a:xfrm>
            <a:off x="94594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925830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70" name="Connector 69"/>
          <p:cNvCxnSpPr/>
          <p:nvPr/>
        </p:nvCxnSpPr>
        <p:spPr>
          <a:xfrm>
            <a:off x="1007668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987551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72" name="Connector 71"/>
          <p:cNvCxnSpPr/>
          <p:nvPr/>
        </p:nvCxnSpPr>
        <p:spPr>
          <a:xfrm>
            <a:off x="945946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817473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74" name="Rectangle 73"/>
          <p:cNvSpPr/>
          <p:nvPr/>
        </p:nvSpPr>
        <p:spPr>
          <a:xfrm>
            <a:off x="8842248" y="2962656"/>
            <a:ext cx="6172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19556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6 of 12</a:t>
            </a:r>
          </a:p>
        </p:txBody>
      </p:sp>
      <p:sp>
        <p:nvSpPr>
          <p:cNvPr id="76" name="TextBox 75"/>
          <p:cNvSpPr txBox="1"/>
          <p:nvPr/>
        </p:nvSpPr>
        <p:spPr>
          <a:xfrm>
            <a:off x="817473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77" name="Rectangle 76"/>
          <p:cNvSpPr/>
          <p:nvPr/>
        </p:nvSpPr>
        <p:spPr>
          <a:xfrm>
            <a:off x="8842248" y="3465575"/>
            <a:ext cx="61722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19556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6 of 12</a:t>
            </a:r>
          </a:p>
        </p:txBody>
      </p:sp>
      <p:sp>
        <p:nvSpPr>
          <p:cNvPr id="79" name="TextBox 78"/>
          <p:cNvSpPr txBox="1"/>
          <p:nvPr/>
        </p:nvSpPr>
        <p:spPr>
          <a:xfrm>
            <a:off x="817473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80" name="Rectangle 79"/>
          <p:cNvSpPr/>
          <p:nvPr/>
        </p:nvSpPr>
        <p:spPr>
          <a:xfrm>
            <a:off x="8842248" y="3968495"/>
            <a:ext cx="92583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19556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75.0%</a:t>
            </a:r>
          </a:p>
          <a:p>
            <a:pPr algn="l">
              <a:lnSpc>
                <a:spcPct val="109000"/>
              </a:lnSpc>
              <a:spcBef>
                <a:spcPts val="0"/>
              </a:spcBef>
              <a:spcAft>
                <a:spcPts val="0"/>
              </a:spcAft>
            </a:pPr>
            <a:r>
              <a:rPr sz="1250" b="0">
                <a:solidFill>
                  <a:srgbClr val="00407A"/>
                </a:solidFill>
                <a:latin typeface="Arial"/>
              </a:rPr>
              <a:t>9 of 12</a:t>
            </a:r>
          </a:p>
        </p:txBody>
      </p:sp>
      <p:sp>
        <p:nvSpPr>
          <p:cNvPr id="82" name="TextBox 81"/>
          <p:cNvSpPr txBox="1"/>
          <p:nvPr/>
        </p:nvSpPr>
        <p:spPr>
          <a:xfrm>
            <a:off x="817473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83" name="Rectangle 82"/>
          <p:cNvSpPr/>
          <p:nvPr/>
        </p:nvSpPr>
        <p:spPr>
          <a:xfrm>
            <a:off x="8842248" y="4471416"/>
            <a:ext cx="113157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19556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91.7%</a:t>
            </a:r>
          </a:p>
          <a:p>
            <a:pPr algn="l">
              <a:lnSpc>
                <a:spcPct val="109000"/>
              </a:lnSpc>
              <a:spcBef>
                <a:spcPts val="0"/>
              </a:spcBef>
              <a:spcAft>
                <a:spcPts val="0"/>
              </a:spcAft>
            </a:pPr>
            <a:r>
              <a:rPr sz="1250" b="0">
                <a:solidFill>
                  <a:srgbClr val="00407A"/>
                </a:solidFill>
                <a:latin typeface="Arial"/>
              </a:rPr>
              <a:t>11 of 12</a:t>
            </a:r>
          </a:p>
        </p:txBody>
      </p:sp>
      <p:cxnSp>
        <p:nvCxnSpPr>
          <p:cNvPr id="85" name="Connector 84"/>
          <p:cNvCxnSpPr/>
          <p:nvPr/>
        </p:nvCxnSpPr>
        <p:spPr>
          <a:xfrm>
            <a:off x="9665208" y="2916935"/>
            <a:ext cx="0" cy="329185"/>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870948" y="341985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9768078" y="3922775"/>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9870948" y="4425696"/>
            <a:ext cx="0" cy="329184"/>
          </a:xfrm>
          <a:prstGeom prst="line">
            <a:avLst/>
          </a:prstGeom>
          <a:ln w="34925">
            <a:solidFill>
              <a:srgbClr val="E97132"/>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17473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90" name="TextBox 89"/>
          <p:cNvSpPr txBox="1"/>
          <p:nvPr/>
        </p:nvSpPr>
        <p:spPr>
          <a:xfrm>
            <a:off x="817473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91" name="Rounded Rectangle 90"/>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KEV-0.8B always answers A for area and B for frequency; KEV-4B always answers B for frequency.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 gets 20 of 23 area pairs right in both orders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pair counts as correct only when both presentation orders are correct.</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RESULTS</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34</a:t>
            </a:r>
          </a:p>
        </p:txBody>
      </p:sp>
      <p:graphicFrame>
        <p:nvGraphicFramePr>
          <p:cNvPr id="7" name="Table 6"/>
          <p:cNvGraphicFramePr>
            <a:graphicFrameLocks noGrp="1"/>
          </p:cNvGraphicFramePr>
          <p:nvPr/>
        </p:nvGraphicFramePr>
        <p:xfrm>
          <a:off x="813816" y="1874519"/>
          <a:ext cx="10561320" cy="2240280"/>
        </p:xfrm>
        <a:graphic>
          <a:graphicData uri="http://schemas.openxmlformats.org/drawingml/2006/table">
            <a:tbl>
              <a:tblPr firstRow="1" bandRow="1">
                <a:tableStyleId>{5C22544A-7EE6-4342-B048-85BDC9FD1C3A}</a:tableStyleId>
              </a:tblPr>
              <a:tblGrid>
                <a:gridCol w="1371600"/>
                <a:gridCol w="3063240"/>
                <a:gridCol w="3063240"/>
                <a:gridCol w="306324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Area: both correct</a:t>
                      </a:r>
                    </a:p>
                    <a:p>
                      <a:pPr algn="ctr">
                        <a:lnSpc>
                          <a:spcPct val="103000"/>
                        </a:lnSpc>
                        <a:spcBef>
                          <a:spcPts val="0"/>
                        </a:spcBef>
                        <a:spcAft>
                          <a:spcPts val="0"/>
                        </a:spcAft>
                      </a:pPr>
                      <a:r>
                        <a:rPr sz="1600" b="1">
                          <a:solidFill>
                            <a:srgbClr val="FFFFFF"/>
                          </a:solidFill>
                          <a:latin typeface="Arial"/>
                        </a:rPr>
                        <a:t>23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Power: both correct</a:t>
                      </a:r>
                    </a:p>
                    <a:p>
                      <a:pPr algn="ctr">
                        <a:lnSpc>
                          <a:spcPct val="103000"/>
                        </a:lnSpc>
                        <a:spcBef>
                          <a:spcPts val="0"/>
                        </a:spcBef>
                        <a:spcAft>
                          <a:spcPts val="0"/>
                        </a:spcAft>
                      </a:pPr>
                      <a:r>
                        <a:rPr sz="1600" b="1">
                          <a:solidFill>
                            <a:srgbClr val="FFFFFF"/>
                          </a:solidFill>
                          <a:latin typeface="Arial"/>
                        </a:rPr>
                        <a:t>22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Frequency: both correct</a:t>
                      </a:r>
                    </a:p>
                    <a:p>
                      <a:pPr algn="ctr">
                        <a:lnSpc>
                          <a:spcPct val="103000"/>
                        </a:lnSpc>
                        <a:spcBef>
                          <a:spcPts val="0"/>
                        </a:spcBef>
                        <a:spcAft>
                          <a:spcPts val="0"/>
                        </a:spcAft>
                      </a:pPr>
                      <a:r>
                        <a:rPr sz="1600" b="1">
                          <a:solidFill>
                            <a:srgbClr val="FFFFFF"/>
                          </a:solidFill>
                          <a:latin typeface="Arial"/>
                        </a:rPr>
                        <a:t>6 pairs</a:t>
                      </a:r>
                    </a:p>
                  </a:txBody>
                  <a:tcPr marL="109728" marR="91440" marT="54864" marB="36576" anchor="ctr">
                    <a:solidFill>
                      <a:srgbClr val="00407A"/>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8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6</a:t>
                      </a:r>
                    </a:p>
                  </a:txBody>
                  <a:tcPr marL="109728" marR="91440" marT="54864" marB="36576" anchor="ctr">
                    <a:solidFill>
                      <a:srgbClr val="FFFFFF"/>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17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6</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87552" y="4462272"/>
            <a:ext cx="10149840" cy="384048"/>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Same letter after swapping the power pair:</a:t>
            </a:r>
          </a:p>
        </p:txBody>
      </p:sp>
      <p:sp>
        <p:nvSpPr>
          <p:cNvPr id="9" name="TextBox 8"/>
          <p:cNvSpPr txBox="1"/>
          <p:nvPr/>
        </p:nvSpPr>
        <p:spPr>
          <a:xfrm>
            <a:off x="987552" y="5010912"/>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0.8B: 18 of 22 pairs   •   4B: 12 of 22   •   9B: 9 of 22   •   27B: 1 of 22</a:t>
            </a:r>
          </a:p>
        </p:txBody>
      </p:sp>
      <p:sp>
        <p:nvSpPr>
          <p:cNvPr id="10" name="Rounded Rectangle 9"/>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keeps the same letter for 1 of 22 power pairs (3 without examples).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All four Condor evaluations completed</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Observed run times include different hardware and setup costs; they are not a controlled speed ranking.</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EXECUTION</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35</a:t>
            </a:r>
          </a:p>
        </p:txBody>
      </p:sp>
      <p:graphicFrame>
        <p:nvGraphicFramePr>
          <p:cNvPr id="7" name="Table 6"/>
          <p:cNvGraphicFramePr>
            <a:graphicFrameLocks noGrp="1"/>
          </p:cNvGraphicFramePr>
          <p:nvPr/>
        </p:nvGraphicFramePr>
        <p:xfrm>
          <a:off x="813816" y="1901952"/>
          <a:ext cx="10561320" cy="2423156"/>
        </p:xfrm>
        <a:graphic>
          <a:graphicData uri="http://schemas.openxmlformats.org/drawingml/2006/table">
            <a:tbl>
              <a:tblPr firstRow="1" bandRow="1">
                <a:tableStyleId>{5C22544A-7EE6-4342-B048-85BDC9FD1C3A}</a:tableStyleId>
              </a:tblPr>
              <a:tblGrid>
                <a:gridCol w="1371600"/>
                <a:gridCol w="731520"/>
                <a:gridCol w="2880360"/>
                <a:gridCol w="2697480"/>
                <a:gridCol w="288036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GPU used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 time</a:t>
                      </a:r>
                    </a:p>
                    <a:p>
                      <a:pPr algn="ctr">
                        <a:lnSpc>
                          <a:spcPct val="103000"/>
                        </a:lnSpc>
                        <a:spcBef>
                          <a:spcPts val="0"/>
                        </a:spcBef>
                        <a:spcAft>
                          <a:spcPts val="0"/>
                        </a:spcAft>
                      </a:pPr>
                      <a:r>
                        <a:rPr sz="1600" b="1">
                          <a:solidFill>
                            <a:srgbClr val="FFFFFF"/>
                          </a:solidFill>
                          <a:latin typeface="Arial"/>
                        </a:rPr>
                        <a:t>including setup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Median model</a:t>
                      </a:r>
                    </a:p>
                    <a:p>
                      <a:pPr algn="ctr">
                        <a:lnSpc>
                          <a:spcPct val="103000"/>
                        </a:lnSpc>
                        <a:spcBef>
                          <a:spcPts val="0"/>
                        </a:spcBef>
                        <a:spcAft>
                          <a:spcPts val="0"/>
                        </a:spcAft>
                      </a:pPr>
                      <a:r>
                        <a:rPr sz="1600" b="1">
                          <a:solidFill>
                            <a:srgbClr val="FFFFFF"/>
                          </a:solidFill>
                          <a:latin typeface="Arial"/>
                        </a:rPr>
                        <a:t>time per request</a:t>
                      </a:r>
                    </a:p>
                  </a:txBody>
                  <a:tcPr marL="109728" marR="91440" marT="54864" marB="36576" anchor="ctr">
                    <a:solidFill>
                      <a:srgbClr val="00407A"/>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3080 Ti</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125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109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187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201 ms</a:t>
                      </a:r>
                    </a:p>
                  </a:txBody>
                  <a:tcPr marL="109728" marR="91440" marT="54864" marB="36576" anchor="ctr">
                    <a:solidFill>
                      <a:srgbClr val="FFFFFF"/>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204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244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400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668 ms</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87552" y="4645152"/>
            <a:ext cx="10149840" cy="82296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Every model: 348 dataset requests answered, 5 smoke requests passed,</a:t>
            </a:r>
          </a:p>
          <a:p>
            <a:pPr algn="l">
              <a:lnSpc>
                <a:spcPct val="109000"/>
              </a:lnSpc>
              <a:spcBef>
                <a:spcPts val="0"/>
              </a:spcBef>
              <a:spcAft>
                <a:spcPts val="0"/>
              </a:spcAft>
            </a:pPr>
            <a:r>
              <a:rPr sz="2300" b="1">
                <a:solidFill>
                  <a:srgbClr val="00407A"/>
                </a:solidFill>
                <a:latin typeface="Arial"/>
              </a:rPr>
              <a:t>725 test questions scored, zero HTTP errors and zero missing answers.</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runs used the same dataset fingerprint and v1.0 checkpoints. Maximum reported input length: 7,706 tokens.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All four Condor runs with examples completed</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Observed run times include different hardware and setup costs; they are not a controlled speed ranking.</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EXECUTION</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36</a:t>
            </a:r>
          </a:p>
        </p:txBody>
      </p:sp>
      <p:graphicFrame>
        <p:nvGraphicFramePr>
          <p:cNvPr id="7" name="Table 6"/>
          <p:cNvGraphicFramePr>
            <a:graphicFrameLocks noGrp="1"/>
          </p:cNvGraphicFramePr>
          <p:nvPr/>
        </p:nvGraphicFramePr>
        <p:xfrm>
          <a:off x="813816" y="1901952"/>
          <a:ext cx="10561320" cy="2423156"/>
        </p:xfrm>
        <a:graphic>
          <a:graphicData uri="http://schemas.openxmlformats.org/drawingml/2006/table">
            <a:tbl>
              <a:tblPr firstRow="1" bandRow="1">
                <a:tableStyleId>{5C22544A-7EE6-4342-B048-85BDC9FD1C3A}</a:tableStyleId>
              </a:tblPr>
              <a:tblGrid>
                <a:gridCol w="1371600"/>
                <a:gridCol w="731520"/>
                <a:gridCol w="2880360"/>
                <a:gridCol w="2697480"/>
                <a:gridCol w="288036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GPU used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 time</a:t>
                      </a:r>
                    </a:p>
                    <a:p>
                      <a:pPr algn="ctr">
                        <a:lnSpc>
                          <a:spcPct val="103000"/>
                        </a:lnSpc>
                        <a:spcBef>
                          <a:spcPts val="0"/>
                        </a:spcBef>
                        <a:spcAft>
                          <a:spcPts val="0"/>
                        </a:spcAft>
                      </a:pPr>
                      <a:r>
                        <a:rPr sz="1600" b="1">
                          <a:solidFill>
                            <a:srgbClr val="FFFFFF"/>
                          </a:solidFill>
                          <a:latin typeface="Arial"/>
                        </a:rPr>
                        <a:t>including setup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Median model</a:t>
                      </a:r>
                    </a:p>
                    <a:p>
                      <a:pPr algn="ctr">
                        <a:lnSpc>
                          <a:spcPct val="103000"/>
                        </a:lnSpc>
                        <a:spcBef>
                          <a:spcPts val="0"/>
                        </a:spcBef>
                        <a:spcAft>
                          <a:spcPts val="0"/>
                        </a:spcAft>
                      </a:pPr>
                      <a:r>
                        <a:rPr sz="1600" b="1">
                          <a:solidFill>
                            <a:srgbClr val="FFFFFF"/>
                          </a:solidFill>
                          <a:latin typeface="Arial"/>
                        </a:rPr>
                        <a:t>time per request</a:t>
                      </a:r>
                    </a:p>
                  </a:txBody>
                  <a:tcPr marL="109728" marR="91440" marT="54864" marB="36576" anchor="ctr">
                    <a:solidFill>
                      <a:srgbClr val="00407A"/>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8.0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5060 Ti</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276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179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3090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599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555 ms</a:t>
                      </a:r>
                    </a:p>
                  </a:txBody>
                  <a:tcPr marL="109728" marR="91440" marT="54864" marB="36576" anchor="ctr">
                    <a:solidFill>
                      <a:srgbClr val="FFFFFF"/>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PRO 5000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418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301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1074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1062 ms</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87552" y="4645152"/>
            <a:ext cx="10149840" cy="82296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Every model: 725 requests answered, 11 smoke requests passed,</a:t>
            </a:r>
          </a:p>
          <a:p>
            <a:pPr algn="l">
              <a:lnSpc>
                <a:spcPct val="109000"/>
              </a:lnSpc>
              <a:spcBef>
                <a:spcPts val="0"/>
              </a:spcBef>
              <a:spcAft>
                <a:spcPts val="0"/>
              </a:spcAft>
            </a:pPr>
            <a:r>
              <a:rPr sz="2300" b="1">
                <a:solidFill>
                  <a:srgbClr val="00407A"/>
                </a:solidFill>
                <a:latin typeface="Arial"/>
              </a:rPr>
              <a:t>725 test questions scored, zero HTTP errors and zero missing answers.</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Maximum input: 8,607 tokens. 3 requests exceed 8,192, the validated context of 0.8B, 4B and 9B.</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evidence supports—and what needs work</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These are observations on dataset v1, not a guarantee for unseen design families.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INTERPRETATION</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37</a:t>
            </a:r>
          </a:p>
        </p:txBody>
      </p:sp>
      <p:sp>
        <p:nvSpPr>
          <p:cNvPr id="7" name="Rounded Rectangle 6"/>
          <p:cNvSpPr/>
          <p:nvPr/>
        </p:nvSpPr>
        <p:spPr>
          <a:xfrm>
            <a:off x="81381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1828800"/>
            <a:ext cx="516636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Promising in this test</a:t>
            </a:r>
          </a:p>
        </p:txBody>
      </p:sp>
      <p:sp>
        <p:nvSpPr>
          <p:cNvPr id="10" name="TextBox 9"/>
          <p:cNvSpPr txBox="1"/>
          <p:nvPr/>
        </p:nvSpPr>
        <p:spPr>
          <a:xfrm>
            <a:off x="104241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2000" b="0">
                <a:solidFill>
                  <a:srgbClr val="00407A"/>
                </a:solidFill>
                <a:latin typeface="Arial"/>
              </a:rPr>
              <a:t>27B: source-compilation screening.</a:t>
            </a:r>
          </a:p>
          <a:p>
            <a:pPr algn="l">
              <a:lnSpc>
                <a:spcPct val="109000"/>
              </a:lnSpc>
              <a:spcBef>
                <a:spcPts val="0"/>
              </a:spcBef>
              <a:spcAft>
                <a:spcPts val="0"/>
              </a:spcAft>
            </a:pPr>
            <a:r>
              <a:rPr sz="2000" b="0">
                <a:solidFill>
                  <a:srgbClr val="00407A"/>
                </a:solidFill>
                <a:latin typeface="Arial"/>
              </a:rPr>
              <a:t>27B: failure reasons when failure is known.</a:t>
            </a:r>
          </a:p>
          <a:p>
            <a:pPr algn="l">
              <a:lnSpc>
                <a:spcPct val="109000"/>
              </a:lnSpc>
              <a:spcBef>
                <a:spcPts val="0"/>
              </a:spcBef>
              <a:spcAft>
                <a:spcPts val="0"/>
              </a:spcAft>
            </a:pPr>
            <a:r>
              <a:rPr sz="2000" b="0">
                <a:solidFill>
                  <a:srgbClr val="00407A"/>
                </a:solidFill>
                <a:latin typeface="Arial"/>
              </a:rPr>
              <a:t>27B: coarse area levels.</a:t>
            </a:r>
          </a:p>
          <a:p>
            <a:pPr algn="l">
              <a:lnSpc>
                <a:spcPct val="109000"/>
              </a:lnSpc>
              <a:spcBef>
                <a:spcPts val="0"/>
              </a:spcBef>
              <a:spcAft>
                <a:spcPts val="0"/>
              </a:spcAft>
            </a:pPr>
            <a:r>
              <a:rPr sz="2000" b="0">
                <a:solidFill>
                  <a:srgbClr val="00407A"/>
                </a:solidFill>
                <a:latin typeface="Arial"/>
              </a:rPr>
              <a:t>9B: pairwise area ranking.</a:t>
            </a:r>
          </a:p>
          <a:p>
            <a:pPr algn="l">
              <a:lnSpc>
                <a:spcPct val="109000"/>
              </a:lnSpc>
              <a:spcBef>
                <a:spcPts val="0"/>
              </a:spcBef>
              <a:spcAft>
                <a:spcPts val="0"/>
              </a:spcAft>
            </a:pPr>
            <a:r>
              <a:rPr sz="2000" b="0">
                <a:solidFill>
                  <a:srgbClr val="00407A"/>
                </a:solidFill>
                <a:latin typeface="Arial"/>
              </a:rPr>
              <a:t>27B: pairwise power ranking.</a:t>
            </a:r>
          </a:p>
        </p:txBody>
      </p:sp>
      <p:sp>
        <p:nvSpPr>
          <p:cNvPr id="11" name="Rounded Rectangle 10"/>
          <p:cNvSpPr/>
          <p:nvPr/>
        </p:nvSpPr>
        <p:spPr>
          <a:xfrm>
            <a:off x="620877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Next experiments</a:t>
            </a:r>
          </a:p>
        </p:txBody>
      </p:sp>
      <p:sp>
        <p:nvSpPr>
          <p:cNvPr id="14" name="TextBox 13"/>
          <p:cNvSpPr txBox="1"/>
          <p:nvPr/>
        </p:nvSpPr>
        <p:spPr>
          <a:xfrm>
            <a:off x="643737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Choose binary thresholds on development data.</a:t>
            </a:r>
          </a:p>
          <a:p>
            <a:pPr algn="l">
              <a:lnSpc>
                <a:spcPct val="109000"/>
              </a:lnSpc>
              <a:spcBef>
                <a:spcPts val="0"/>
              </a:spcBef>
              <a:spcAft>
                <a:spcPts val="0"/>
              </a:spcAft>
            </a:pPr>
            <a:r>
              <a:rPr sz="1800" b="0">
                <a:solidFill>
                  <a:srgbClr val="00407A"/>
                </a:solidFill>
                <a:latin typeface="Arial"/>
              </a:rPr>
              <a:t>Expand synthesis failures and rare classes.</a:t>
            </a:r>
          </a:p>
          <a:p>
            <a:pPr algn="l">
              <a:lnSpc>
                <a:spcPct val="109000"/>
              </a:lnSpc>
              <a:spcBef>
                <a:spcPts val="0"/>
              </a:spcBef>
              <a:spcAft>
                <a:spcPts val="0"/>
              </a:spcAft>
            </a:pPr>
            <a:r>
              <a:rPr sz="1800" b="0">
                <a:solidFill>
                  <a:srgbClr val="00407A"/>
                </a:solidFill>
                <a:latin typeface="Arial"/>
              </a:rPr>
              <a:t>Add designs that miss the timing target.</a:t>
            </a:r>
          </a:p>
          <a:p>
            <a:pPr algn="l">
              <a:lnSpc>
                <a:spcPct val="109000"/>
              </a:lnSpc>
              <a:spcBef>
                <a:spcPts val="0"/>
              </a:spcBef>
              <a:spcAft>
                <a:spcPts val="0"/>
              </a:spcAft>
            </a:pPr>
            <a:r>
              <a:rPr sz="1800" b="0">
                <a:solidFill>
                  <a:srgbClr val="00407A"/>
                </a:solidFill>
                <a:latin typeface="Arial"/>
              </a:rPr>
              <a:t>Check power and timing across design groups.</a:t>
            </a:r>
          </a:p>
          <a:p>
            <a:pPr algn="l">
              <a:lnSpc>
                <a:spcPct val="109000"/>
              </a:lnSpc>
              <a:spcBef>
                <a:spcPts val="0"/>
              </a:spcBef>
              <a:spcAft>
                <a:spcPts val="0"/>
              </a:spcAft>
            </a:pPr>
            <a:r>
              <a:rPr sz="1800" b="0">
                <a:solidFill>
                  <a:srgbClr val="00407A"/>
                </a:solidFill>
                <a:latin typeface="Arial"/>
              </a:rPr>
              <a:t>Compare other models under the same protocol.</a:t>
            </a:r>
          </a:p>
        </p:txBody>
      </p:sp>
      <p:sp>
        <p:nvSpPr>
          <p:cNvPr id="15" name="Rounded Rectangle 1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 tool verification in the loop. Reliable synthesis-failure screening is not established by these scores.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examples support, and what needs work</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Observations on one fixed example set; other example sets can give other results.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INTERPRETATION</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38</a:t>
            </a:r>
          </a:p>
        </p:txBody>
      </p:sp>
      <p:sp>
        <p:nvSpPr>
          <p:cNvPr id="7" name="Rounded Rectangle 6"/>
          <p:cNvSpPr/>
          <p:nvPr/>
        </p:nvSpPr>
        <p:spPr>
          <a:xfrm>
            <a:off x="81381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1828800"/>
            <a:ext cx="516636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Promising with examples</a:t>
            </a:r>
          </a:p>
        </p:txBody>
      </p:sp>
      <p:sp>
        <p:nvSpPr>
          <p:cNvPr id="10" name="TextBox 9"/>
          <p:cNvSpPr txBox="1"/>
          <p:nvPr/>
        </p:nvSpPr>
        <p:spPr>
          <a:xfrm>
            <a:off x="104241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27B: synthesis failures, 12 of 24 (4).</a:t>
            </a:r>
          </a:p>
          <a:p>
            <a:pPr algn="l">
              <a:lnSpc>
                <a:spcPct val="109000"/>
              </a:lnSpc>
              <a:spcBef>
                <a:spcPts val="0"/>
              </a:spcBef>
              <a:spcAft>
                <a:spcPts val="0"/>
              </a:spcAft>
            </a:pPr>
            <a:r>
              <a:rPr sz="1900" b="0">
                <a:solidFill>
                  <a:srgbClr val="00407A"/>
                </a:solidFill>
                <a:latin typeface="Arial"/>
              </a:rPr>
              <a:t>27B: power levels, 36 of 85 (9).</a:t>
            </a:r>
          </a:p>
          <a:p>
            <a:pPr algn="l">
              <a:lnSpc>
                <a:spcPct val="109000"/>
              </a:lnSpc>
              <a:spcBef>
                <a:spcPts val="0"/>
              </a:spcBef>
              <a:spcAft>
                <a:spcPts val="0"/>
              </a:spcAft>
            </a:pPr>
            <a:r>
              <a:rPr sz="1900" b="0">
                <a:solidFill>
                  <a:srgbClr val="00407A"/>
                </a:solidFill>
                <a:latin typeface="Arial"/>
              </a:rPr>
              <a:t>27B: area pairs right in both orders,</a:t>
            </a:r>
          </a:p>
          <a:p>
            <a:pPr algn="l">
              <a:lnSpc>
                <a:spcPct val="109000"/>
              </a:lnSpc>
              <a:spcBef>
                <a:spcPts val="0"/>
              </a:spcBef>
              <a:spcAft>
                <a:spcPts val="0"/>
              </a:spcAft>
            </a:pPr>
            <a:r>
              <a:rPr sz="1900" b="0">
                <a:solidFill>
                  <a:srgbClr val="00407A"/>
                </a:solidFill>
                <a:latin typeface="Arial"/>
              </a:rPr>
              <a:t>20 of 23 (17).</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 = without examples</a:t>
            </a:r>
          </a:p>
        </p:txBody>
      </p:sp>
      <p:sp>
        <p:nvSpPr>
          <p:cNvPr id="11" name="Rounded Rectangle 10"/>
          <p:cNvSpPr/>
          <p:nvPr/>
        </p:nvSpPr>
        <p:spPr>
          <a:xfrm>
            <a:off x="620877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Next experiments</a:t>
            </a:r>
          </a:p>
        </p:txBody>
      </p:sp>
      <p:sp>
        <p:nvSpPr>
          <p:cNvPr id="14" name="TextBox 13"/>
          <p:cNvSpPr txBox="1"/>
          <p:nvPr/>
        </p:nvSpPr>
        <p:spPr>
          <a:xfrm>
            <a:off x="643737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Try other example sets.</a:t>
            </a:r>
          </a:p>
          <a:p>
            <a:pPr algn="l">
              <a:lnSpc>
                <a:spcPct val="109000"/>
              </a:lnSpc>
              <a:spcBef>
                <a:spcPts val="0"/>
              </a:spcBef>
              <a:spcAft>
                <a:spcPts val="0"/>
              </a:spcAft>
            </a:pPr>
            <a:r>
              <a:rPr sz="1800" b="0">
                <a:solidFill>
                  <a:srgbClr val="00407A"/>
                </a:solidFill>
                <a:latin typeface="Arial"/>
              </a:rPr>
              <a:t>Vary the yes/no mix (now 1 yes, 2 no).</a:t>
            </a:r>
          </a:p>
          <a:p>
            <a:pPr algn="l">
              <a:lnSpc>
                <a:spcPct val="109000"/>
              </a:lnSpc>
              <a:spcBef>
                <a:spcPts val="0"/>
              </a:spcBef>
              <a:spcAft>
                <a:spcPts val="0"/>
              </a:spcAft>
            </a:pPr>
            <a:r>
              <a:rPr sz="1800" b="0">
                <a:solidFill>
                  <a:srgbClr val="00407A"/>
                </a:solidFill>
                <a:latin typeface="Arial"/>
              </a:rPr>
              <a:t>Test if an example class causes wrong</a:t>
            </a:r>
          </a:p>
          <a:p>
            <a:pPr algn="l">
              <a:lnSpc>
                <a:spcPct val="109000"/>
              </a:lnSpc>
              <a:spcBef>
                <a:spcPts val="0"/>
              </a:spcBef>
              <a:spcAft>
                <a:spcPts val="0"/>
              </a:spcAft>
            </a:pPr>
            <a:r>
              <a:rPr sz="1800" b="0">
                <a:solidFill>
                  <a:srgbClr val="00407A"/>
                </a:solidFill>
                <a:latin typeface="Arial"/>
              </a:rPr>
              <a:t>answers (event_list: 16 answers, 0 cases).</a:t>
            </a:r>
          </a:p>
          <a:p>
            <a:pPr algn="l">
              <a:lnSpc>
                <a:spcPct val="109000"/>
              </a:lnSpc>
              <a:spcBef>
                <a:spcPts val="0"/>
              </a:spcBef>
              <a:spcAft>
                <a:spcPts val="0"/>
              </a:spcAft>
            </a:pPr>
            <a:r>
              <a:rPr sz="1800" b="0">
                <a:solidFill>
                  <a:srgbClr val="00407A"/>
                </a:solidFill>
                <a:latin typeface="Arial"/>
              </a:rPr>
              <a:t>Try more than three examples.</a:t>
            </a:r>
          </a:p>
        </p:txBody>
      </p:sp>
      <p:sp>
        <p:nvSpPr>
          <p:cNvPr id="15" name="Rounded Rectangle 1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 tool verification in the loop: 27B still misses 12 of 24 synthesis failures.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TextBox 1"/>
          <p:cNvSpPr txBox="1"/>
          <p:nvPr/>
        </p:nvSpPr>
        <p:spPr>
          <a:xfrm>
            <a:off x="813816" y="1828800"/>
            <a:ext cx="10241280" cy="36576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THE DETAIL BEHIND THE NUMBERS</a:t>
            </a:r>
          </a:p>
        </p:txBody>
      </p:sp>
      <p:sp>
        <p:nvSpPr>
          <p:cNvPr id="3" name="TextBox 2"/>
          <p:cNvSpPr txBox="1"/>
          <p:nvPr/>
        </p:nvSpPr>
        <p:spPr>
          <a:xfrm>
            <a:off x="813816" y="2468880"/>
            <a:ext cx="9966960" cy="1508760"/>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Full results and</a:t>
            </a:r>
          </a:p>
          <a:p>
            <a:pPr algn="l">
              <a:lnSpc>
                <a:spcPct val="109000"/>
              </a:lnSpc>
              <a:spcBef>
                <a:spcPts val="0"/>
              </a:spcBef>
              <a:spcAft>
                <a:spcPts val="0"/>
              </a:spcAft>
            </a:pPr>
            <a:r>
              <a:rPr sz="4300" b="1">
                <a:solidFill>
                  <a:srgbClr val="FFFFFF"/>
                </a:solidFill>
                <a:latin typeface="Arial"/>
              </a:rPr>
              <a:t>coverage limits</a:t>
            </a:r>
          </a:p>
        </p:txBody>
      </p:sp>
      <p:sp>
        <p:nvSpPr>
          <p:cNvPr id="4" name="TextBox 3"/>
          <p:cNvSpPr txBox="1"/>
          <p:nvPr/>
        </p:nvSpPr>
        <p:spPr>
          <a:xfrm>
            <a:off x="813816" y="4617720"/>
            <a:ext cx="10241280" cy="68580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Exact counts, probability metrics, level errors and reproducible evidence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Every primary test score</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answers (%) • each question has equal weight within its row • higher is better.</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40</a:t>
            </a:r>
          </a:p>
        </p:txBody>
      </p:sp>
      <p:graphicFrame>
        <p:nvGraphicFramePr>
          <p:cNvPr id="7" name="Table 6"/>
          <p:cNvGraphicFramePr>
            <a:graphicFrameLocks noGrp="1"/>
          </p:cNvGraphicFramePr>
          <p:nvPr/>
        </p:nvGraphicFramePr>
        <p:xfrm>
          <a:off x="813816" y="1865376"/>
          <a:ext cx="10561319" cy="4114798"/>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Task</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Compiles — pooled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99.2%</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Synthesizes — pooled</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79.7%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82.9%</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Failure reason — known failure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68.8%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93.8%</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Area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57.6%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Power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27.1%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Clock frequency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Timing margin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smaller 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47.8%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76.1%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78.3%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lower 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63.6%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70.5%</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higher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868680" y="6099048"/>
            <a:ext cx="10424160" cy="22860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Pooled yes/no scores conceal class imbalance. Use the successful/failing split on the next slide.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Every primary test score, with examples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answers (%) • each question has equal weight within its row • higher is better.</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41</a:t>
            </a:r>
          </a:p>
        </p:txBody>
      </p:sp>
      <p:graphicFrame>
        <p:nvGraphicFramePr>
          <p:cNvPr id="7" name="Table 6"/>
          <p:cNvGraphicFramePr>
            <a:graphicFrameLocks noGrp="1"/>
          </p:cNvGraphicFramePr>
          <p:nvPr/>
        </p:nvGraphicFramePr>
        <p:xfrm>
          <a:off x="813816" y="1865376"/>
          <a:ext cx="10561319" cy="4114798"/>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Task</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Compiles — pooled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95.1%</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Synthesizes — pooled</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81.3%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87.8%</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Failure reason — known failure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62.5%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68.8%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87.5%</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Area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54.3%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52.2%</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Power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42.4%</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Clock frequency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39.1%</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Timing margin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65.2%</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smaller 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67.4%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76.1%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89.1%</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lower 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54.5%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63.6%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79.5%</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higher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91.7%</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868680" y="6099048"/>
            <a:ext cx="10424160" cy="22860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Pooled yes/no scores conceal class imbalance. The class split is on “Yes/no checks with examples: every class”.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Paired test: 9 of 40 changes have p &lt; 0.05</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answers without → with examples, on the same questions • exact two-sided McNemar test.</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42</a:t>
            </a:r>
          </a:p>
        </p:txBody>
      </p:sp>
      <p:graphicFrame>
        <p:nvGraphicFramePr>
          <p:cNvPr id="7" name="Table 6"/>
          <p:cNvGraphicFramePr>
            <a:graphicFrameLocks noGrp="1"/>
          </p:cNvGraphicFramePr>
          <p:nvPr/>
        </p:nvGraphicFramePr>
        <p:xfrm>
          <a:off x="813816" y="1810512"/>
          <a:ext cx="10561320" cy="3931918"/>
        </p:xfrm>
        <a:graphic>
          <a:graphicData uri="http://schemas.openxmlformats.org/drawingml/2006/table">
            <a:tbl>
              <a:tblPr firstRow="1" bandRow="1">
                <a:tableStyleId>{5C22544A-7EE6-4342-B048-85BDC9FD1C3A}</a:tableStyleId>
              </a:tblPr>
              <a:tblGrid>
                <a:gridCol w="2514600"/>
                <a:gridCol w="1143000"/>
                <a:gridCol w="1725930"/>
                <a:gridCol w="1725930"/>
                <a:gridCol w="1725930"/>
                <a:gridCol w="1725930"/>
              </a:tblGrid>
              <a:tr h="566928">
                <a:tc>
                  <a:txBody>
                    <a:bodyPr/>
                    <a:lstStyle/>
                    <a:p>
                      <a:pPr algn="l">
                        <a:lnSpc>
                          <a:spcPct val="103000"/>
                        </a:lnSpc>
                        <a:spcBef>
                          <a:spcPts val="0"/>
                        </a:spcBef>
                        <a:spcAft>
                          <a:spcPts val="0"/>
                        </a:spcAft>
                      </a:pPr>
                      <a:r>
                        <a:rPr sz="1500" b="1">
                          <a:solidFill>
                            <a:srgbClr val="FFFFFF"/>
                          </a:solidFill>
                          <a:latin typeface="Arial"/>
                        </a:rPr>
                        <a:t>Task</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Compiles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13 → 10  (0.38)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114 → 116  (0.62)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116 → 116  (1)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122 → 117  (0.12)</a:t>
                      </a:r>
                    </a:p>
                  </a:txBody>
                  <a:tcPr marL="109728" marR="91440" marT="54864" marB="36576" anchor="ctr">
                    <a:solidFill>
                      <a:srgbClr val="E3EFF5"/>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Synthesizes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99 → 24  (&lt;0.001)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98 → 100  (0.5)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99 → 102  (0.25)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102 → 108  (0.11)</a:t>
                      </a:r>
                    </a:p>
                  </a:txBody>
                  <a:tcPr marL="109728" marR="91440" marT="54864" marB="36576" anchor="ctr">
                    <a:solidFill>
                      <a:srgbClr val="FFFFFF"/>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Failure reason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5 → 1  (0.22)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 → 10  (1)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11 → 11  (1)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15 → 14  (1)</a:t>
                      </a:r>
                    </a:p>
                  </a:txBody>
                  <a:tcPr marL="109728" marR="91440" marT="54864" marB="36576" anchor="ctr">
                    <a:solidFill>
                      <a:srgbClr val="E3EFF5"/>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Area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33 → 2  (&lt;0.001)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33 → 46  (0.098)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53 → 50  (0.76)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61 → 48  (0.029)</a:t>
                      </a:r>
                    </a:p>
                  </a:txBody>
                  <a:tcPr marL="109728" marR="91440" marT="54864" marB="36576" anchor="ctr">
                    <a:solidFill>
                      <a:srgbClr val="FFFFFF"/>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Power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23 → 0  (&lt;0.001)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39 → 34  (0.38)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34 → 24  (0.12)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9 → 36  (&lt;0.001)</a:t>
                      </a:r>
                    </a:p>
                  </a:txBody>
                  <a:tcPr marL="109728" marR="91440" marT="54864" marB="36576" anchor="ctr">
                    <a:solidFill>
                      <a:srgbClr val="E3EFF5"/>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Frequency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13 → 22  (0.11)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11 → 21  (0.064)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13 → 15  (0.85)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13 → 36  (&lt;0.001)</a:t>
                      </a:r>
                    </a:p>
                  </a:txBody>
                  <a:tcPr marL="109728" marR="91440" marT="54864" marB="36576" anchor="ctr">
                    <a:solidFill>
                      <a:srgbClr val="FFFFFF"/>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Slack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8 → 63  (&lt;0.001)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4 → 10  (0.11)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3 → 15  (0.0042)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1">
                          <a:solidFill>
                            <a:srgbClr val="00407A"/>
                          </a:solidFill>
                          <a:latin typeface="Arial"/>
                        </a:rPr>
                        <a:t>30 → 60  (&lt;0.001)</a:t>
                      </a:r>
                    </a:p>
                  </a:txBody>
                  <a:tcPr marL="109728" marR="91440" marT="54864" marB="36576" anchor="ctr">
                    <a:solidFill>
                      <a:srgbClr val="E3EFF5"/>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Pair: 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22 → 23  (1)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35 → 31  (0.39)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40 → 35  (0.27)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36 → 41  (0.062)</a:t>
                      </a:r>
                    </a:p>
                  </a:txBody>
                  <a:tcPr marL="109728" marR="91440" marT="54864" marB="36576" anchor="ctr">
                    <a:solidFill>
                      <a:srgbClr val="FFFFFF"/>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Pair: 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44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28 → 24  (0.29)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25 → 28  (0.45)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29 → 31  (0.82)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31 → 35  (0.12)</a:t>
                      </a:r>
                    </a:p>
                  </a:txBody>
                  <a:tcPr marL="109728" marR="91440" marT="54864" marB="36576" anchor="ctr">
                    <a:solidFill>
                      <a:srgbClr val="E3EFF5"/>
                    </a:solidFill>
                    <a:lnL>
                      <a:noFill/>
                    </a:lnL>
                    <a:lnR>
                      <a:noFill/>
                    </a:lnR>
                    <a:lnT>
                      <a:noFill/>
                    </a:lnT>
                    <a:lnB>
                      <a:noFill/>
                    </a:lnB>
                  </a:tcPr>
                </a:tc>
              </a:tr>
              <a:tr h="336499">
                <a:tc>
                  <a:txBody>
                    <a:bodyPr/>
                    <a:lstStyle/>
                    <a:p>
                      <a:pPr algn="l">
                        <a:lnSpc>
                          <a:spcPct val="103000"/>
                        </a:lnSpc>
                        <a:spcBef>
                          <a:spcPts val="0"/>
                        </a:spcBef>
                        <a:spcAft>
                          <a:spcPts val="0"/>
                        </a:spcAft>
                      </a:pPr>
                      <a:r>
                        <a:rPr sz="1350" b="0">
                          <a:solidFill>
                            <a:srgbClr val="00407A"/>
                          </a:solidFill>
                          <a:latin typeface="Arial"/>
                        </a:rPr>
                        <a:t>Pair: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8 → 6  (0.62)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10 → 6  (0.12)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9 → 9  (1)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350" b="0">
                          <a:solidFill>
                            <a:srgbClr val="00407A"/>
                          </a:solidFill>
                          <a:latin typeface="Arial"/>
                        </a:rPr>
                        <a:t>10 → 11  (1)</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5870448"/>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350" b="0">
                <a:solidFill>
                  <a:srgbClr val="00407A"/>
                </a:solidFill>
                <a:latin typeface="Arial"/>
              </a:rPr>
              <a:t>Each cell: correct answers without → with examples (p value). Bold: p &lt; 0.05.</a:t>
            </a:r>
          </a:p>
          <a:p>
            <a:pPr algn="l">
              <a:lnSpc>
                <a:spcPct val="109000"/>
              </a:lnSpc>
              <a:spcBef>
                <a:spcPts val="0"/>
              </a:spcBef>
              <a:spcAft>
                <a:spcPts val="0"/>
              </a:spcAft>
            </a:pPr>
            <a:r>
              <a:rPr sz="1350" b="0">
                <a:solidFill>
                  <a:srgbClr val="00407A"/>
                </a:solidFill>
                <a:latin typeface="Arial"/>
              </a:rPr>
              <a:t>With 40 tests, about 2 fall below 0.05 by chance alone.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Yes/no checks: every class, count and weighting</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below is measured within the actual tool-outcome group.</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43</a:t>
            </a:r>
          </a:p>
        </p:txBody>
      </p:sp>
      <p:graphicFrame>
        <p:nvGraphicFramePr>
          <p:cNvPr id="7" name="Table 6"/>
          <p:cNvGraphicFramePr>
            <a:graphicFrameLocks noGrp="1"/>
          </p:cNvGraphicFramePr>
          <p:nvPr/>
        </p:nvGraphicFramePr>
        <p:xfrm>
          <a:off x="813816" y="1874519"/>
          <a:ext cx="10515600" cy="3657600"/>
        </p:xfrm>
        <a:graphic>
          <a:graphicData uri="http://schemas.openxmlformats.org/drawingml/2006/table">
            <a:tbl>
              <a:tblPr firstRow="1" bandRow="1">
                <a:tableStyleId>{5C22544A-7EE6-4342-B048-85BDC9FD1C3A}</a:tableStyleId>
              </a:tblPr>
              <a:tblGrid>
                <a:gridCol w="2926080"/>
                <a:gridCol w="1005840"/>
                <a:gridCol w="1645920"/>
                <a:gridCol w="1645920"/>
                <a:gridCol w="1645920"/>
                <a:gridCol w="1645920"/>
              </a:tblGrid>
              <a:tr h="566928">
                <a:tc>
                  <a:txBody>
                    <a:bodyPr/>
                    <a:lstStyle/>
                    <a:p>
                      <a:pPr algn="l">
                        <a:lnSpc>
                          <a:spcPct val="103000"/>
                        </a:lnSpc>
                        <a:spcBef>
                          <a:spcPts val="0"/>
                        </a:spcBef>
                        <a:spcAft>
                          <a:spcPts val="0"/>
                        </a:spcAft>
                      </a:pPr>
                      <a:r>
                        <a:rPr sz="1500" b="1">
                          <a:solidFill>
                            <a:srgbClr val="FFFFFF"/>
                          </a:solidFill>
                          <a:latin typeface="Arial"/>
                        </a:rPr>
                        <a:t>Actual tool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(3.5%)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(22.2%)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8 (88.9%)</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balanced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61.1%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94.4%</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115</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97 (98.0%)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(8.3%)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(16.7%)</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balanced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49.5%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53.2%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57.8%</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118</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5641848"/>
            <a:ext cx="10149840" cy="64008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Group rows: number correct, then the percentage of that group. “Yes” rows count all 123 designs.</a:t>
            </a:r>
          </a:p>
          <a:p>
            <a:pPr algn="l">
              <a:lnSpc>
                <a:spcPct val="109000"/>
              </a:lnSpc>
              <a:spcBef>
                <a:spcPts val="0"/>
              </a:spcBef>
              <a:spcAft>
                <a:spcPts val="0"/>
              </a:spcAft>
            </a:pPr>
            <a:r>
              <a:rPr sz="1600" b="0">
                <a:solidFill>
                  <a:srgbClr val="00407A"/>
                </a:solidFill>
                <a:latin typeface="Arial"/>
              </a:rPr>
              <a:t>Balanced accuracy averages success recognition and failure detection with 50% weight each.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Yes/no checks with examples: every class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below is measured within the actual tool-outcome group.</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44</a:t>
            </a:r>
          </a:p>
        </p:txBody>
      </p:sp>
      <p:graphicFrame>
        <p:nvGraphicFramePr>
          <p:cNvPr id="7" name="Table 6"/>
          <p:cNvGraphicFramePr>
            <a:graphicFrameLocks noGrp="1"/>
          </p:cNvGraphicFramePr>
          <p:nvPr/>
        </p:nvGraphicFramePr>
        <p:xfrm>
          <a:off x="813816" y="1874519"/>
          <a:ext cx="10515600" cy="3657600"/>
        </p:xfrm>
        <a:graphic>
          <a:graphicData uri="http://schemas.openxmlformats.org/drawingml/2006/table">
            <a:tbl>
              <a:tblPr firstRow="1" bandRow="1">
                <a:tableStyleId>{5C22544A-7EE6-4342-B048-85BDC9FD1C3A}</a:tableStyleId>
              </a:tblPr>
              <a:tblGrid>
                <a:gridCol w="2926080"/>
                <a:gridCol w="1005840"/>
                <a:gridCol w="1645920"/>
                <a:gridCol w="1645920"/>
                <a:gridCol w="1645920"/>
                <a:gridCol w="1645920"/>
              </a:tblGrid>
              <a:tr h="566928">
                <a:tc>
                  <a:txBody>
                    <a:bodyPr/>
                    <a:lstStyle/>
                    <a:p>
                      <a:pPr algn="l">
                        <a:lnSpc>
                          <a:spcPct val="103000"/>
                        </a:lnSpc>
                        <a:spcBef>
                          <a:spcPts val="0"/>
                        </a:spcBef>
                        <a:spcAft>
                          <a:spcPts val="0"/>
                        </a:spcAft>
                      </a:pPr>
                      <a:r>
                        <a:rPr sz="1500" b="1">
                          <a:solidFill>
                            <a:srgbClr val="FFFFFF"/>
                          </a:solidFill>
                          <a:latin typeface="Arial"/>
                        </a:rPr>
                        <a:t>Actual tool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 (0.9%)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113 (99.1%)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112 (98.2%)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108 (94.7%)</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3 (33.3%)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(44.4%)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 (100.0%)</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balanced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66.2%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71.3%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97.4%</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108</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96 (97.0%)</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24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(8.3%)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(16.7%)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 (50.0%)</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balanced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53.7%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57.8%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73.5%</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108</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5641848"/>
            <a:ext cx="10149840" cy="64008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Group rows: number correct, then the percentage of that group. “Yes” rows count all 123 designs.</a:t>
            </a:r>
          </a:p>
          <a:p>
            <a:pPr algn="l">
              <a:lnSpc>
                <a:spcPct val="109000"/>
              </a:lnSpc>
              <a:spcBef>
                <a:spcPts val="0"/>
              </a:spcBef>
              <a:spcAft>
                <a:spcPts val="0"/>
              </a:spcAft>
            </a:pPr>
            <a:r>
              <a:rPr sz="1600" b="0">
                <a:solidFill>
                  <a:srgbClr val="00407A"/>
                </a:solidFill>
                <a:latin typeface="Arial"/>
              </a:rPr>
              <a:t>Balanced accuracy averages success recognition and failure detection with 50% weight each.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Most failing designs get the same answer as successes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Each dot is one held-out design. A yes probability of 0.5 or more counts as “yes”.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45</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9" name="TextBox 8"/>
          <p:cNvSpPr txBox="1"/>
          <p:nvPr/>
        </p:nvSpPr>
        <p:spPr>
          <a:xfrm>
            <a:off x="101498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tool synthesizes: 99</a:t>
            </a:r>
            <a:r>
              <a:rPr sz="1250">
                <a:solidFill>
                  <a:srgbClr val="E97132"/>
                </a:solidFill>
                <a:latin typeface="Arial"/>
              </a:rPr>
              <a:t>      ●</a:t>
            </a:r>
            <a:r>
              <a:rPr sz="1250">
                <a:solidFill>
                  <a:srgbClr val="4A5A66"/>
                </a:solidFill>
                <a:latin typeface="Arial"/>
              </a:rPr>
              <a:t> tool fails: 24</a:t>
            </a:r>
          </a:p>
        </p:txBody>
      </p:sp>
      <p:cxnSp>
        <p:nvCxnSpPr>
          <p:cNvPr id="10" name="Connector 9"/>
          <p:cNvCxnSpPr/>
          <p:nvPr/>
        </p:nvCxnSpPr>
        <p:spPr>
          <a:xfrm>
            <a:off x="166420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8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14" name="Connector 13"/>
          <p:cNvCxnSpPr/>
          <p:nvPr/>
        </p:nvCxnSpPr>
        <p:spPr>
          <a:xfrm>
            <a:off x="468172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Oval 16"/>
          <p:cNvSpPr/>
          <p:nvPr/>
        </p:nvSpPr>
        <p:spPr>
          <a:xfrm>
            <a:off x="3483105" y="2918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84191" y="2975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17504" y="2974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494873" y="2929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455042" y="296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569104" y="2960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20522" y="2960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01693" y="2939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445687" y="2902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527764" y="29154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572423" y="2955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673208" y="29367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666268" y="29605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45567" y="2955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586002" y="29837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571216" y="2972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412193" y="2976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20583" y="2965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584493" y="2890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72001" y="2951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347316" y="29684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656612" y="2982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450214" y="2952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464698" y="2898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296018" y="2924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615574" y="2946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289983" y="290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651482" y="2888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608030" y="28981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532592" y="29502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576044" y="2955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620100" y="2937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576949" y="29603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529273" y="2912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708212" y="294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792702" y="29374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767355" y="2946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631567" y="2976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707608" y="2949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354256" y="2951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550697" y="2953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486122" y="2933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543757" y="2904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506038" y="2972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3405856" y="2969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499399" y="2889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751664" y="292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683770" y="2930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311408" y="295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233254" y="28865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449007" y="289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3535006" y="2964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3417624" y="2973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3647258" y="29787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3534101" y="2908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590528" y="2958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475259" y="2974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608935" y="2934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480389" y="2926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563069" y="29805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564578" y="29298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3535308" y="29108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654198" y="28927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457757" y="2928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446894" y="2886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764337" y="29587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3601090" y="297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410081" y="2956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620402" y="2956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3652086" y="2932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507848" y="2895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699159" y="2981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724808" y="2975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738688" y="2965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3538325" y="29161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3467112" y="2914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3501511" y="2975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3493062" y="2941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3537420" y="2983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3345506" y="2974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3204889" y="293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3521125" y="295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3627946" y="2885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3612556" y="2887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3633075" y="2954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3420340" y="29833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318951" y="2948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3661138" y="294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468319" y="2909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3586002" y="2937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634886" y="2908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3566992" y="2976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549490" y="2947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3353955" y="289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312011" y="288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521125" y="2927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544662" y="289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869649" y="2915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3684675" y="29067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3636696" y="31431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3442368" y="31203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722696" y="312491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3577553" y="318525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3533799" y="31647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3535609" y="316930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3548283" y="312307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3614367" y="3138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3658422" y="309747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3652086" y="316894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3533799" y="312076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3274292" y="30954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478880" y="312868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3212433" y="317030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3517504" y="311551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3527764" y="31013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3274896" y="31861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3663552" y="31083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3716057" y="31309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579665" y="3165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409779" y="312374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3465603" y="31172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671096" y="31804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3793004" y="317427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123 of 123</a:t>
            </a:r>
          </a:p>
          <a:p>
            <a:pPr algn="l">
              <a:lnSpc>
                <a:spcPct val="109000"/>
              </a:lnSpc>
              <a:spcBef>
                <a:spcPts val="0"/>
              </a:spcBef>
              <a:spcAft>
                <a:spcPts val="0"/>
              </a:spcAft>
            </a:pPr>
            <a:r>
              <a:rPr sz="1250" b="0">
                <a:solidFill>
                  <a:srgbClr val="00407A"/>
                </a:solidFill>
                <a:latin typeface="Arial"/>
              </a:rPr>
              <a:t>are “yes”</a:t>
            </a:r>
          </a:p>
        </p:txBody>
      </p:sp>
      <p:sp>
        <p:nvSpPr>
          <p:cNvPr id="141" name="TextBox 140"/>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42" name="Oval 141"/>
          <p:cNvSpPr/>
          <p:nvPr/>
        </p:nvSpPr>
        <p:spPr>
          <a:xfrm>
            <a:off x="4288481" y="3420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175927" y="3478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4246235" y="3477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2819854" y="3432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4019921" y="347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188299" y="34637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4310509" y="34633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3945690" y="3442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4135794" y="3405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4171703" y="34183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4170797" y="3458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4019318" y="34396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3802962" y="34634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4249555" y="3458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4030181" y="34866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4058546" y="3475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3935431" y="3479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4084496" y="3468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105921" y="3393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4127949" y="3454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3771881" y="3471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3895600" y="3485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4150580" y="3455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3830723" y="3401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3989143" y="3427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4070012" y="3449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4015093" y="340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3818351" y="3391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4098377" y="34010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4047984" y="34531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4025353" y="3458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4060658" y="3439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3936034" y="3463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3974357" y="3415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3848224" y="344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3885943" y="34403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3950217" y="34489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3855768" y="3479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4111352" y="34527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4038932" y="34544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4111956" y="3456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4299947" y="3436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4012378" y="34075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4095963" y="3475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187394" y="347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4261625" y="3392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4302663" y="343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3993971" y="3433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4002118" y="345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4174418" y="33894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3586907" y="340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4199766" y="3467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4229337" y="3476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4039837" y="34816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4161745" y="34112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4234467" y="3461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4262832" y="3477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4279126" y="3437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4270677" y="342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4270074" y="34834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4198860" y="34327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4221190" y="34138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4207611" y="33956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4101093" y="3431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3919740" y="3388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4210629" y="34616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4275204" y="3478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4312017" y="3459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4188299" y="3459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4113464" y="3435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4208818" y="3398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4182264" y="3484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4282144" y="34781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4330424" y="3468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4149976" y="34190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3891979" y="34172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4203085" y="3478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3650577" y="3444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3944182" y="3486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4029577" y="3477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3929698" y="343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4067296" y="345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4001213" y="3388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4024448" y="3390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3674717" y="3456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4312017" y="34862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4291196" y="3451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4191618" y="345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4333140" y="3412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4363013" y="3440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4135794" y="3411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3751664" y="3479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4357884" y="3450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4236881" y="339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4243218" y="338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4239899" y="3430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4193731" y="340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4344003" y="3418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4234467" y="3409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4309000" y="364604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4110749" y="362324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4094454" y="36278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4035612" y="3688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3939052" y="36676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4248348" y="367222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4115878" y="362599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3860898" y="3641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3812919" y="360039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4082384" y="367186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3971943" y="362368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3830119" y="35983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3643335" y="363160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4039837" y="367322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3702780" y="36184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3977374" y="36042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3761622" y="3689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3922757" y="36112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4301456" y="36338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3772786" y="3668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Oval 260"/>
          <p:cNvSpPr/>
          <p:nvPr/>
        </p:nvSpPr>
        <p:spPr>
          <a:xfrm>
            <a:off x="3941466" y="36266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3512978" y="36201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4003627" y="36833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Oval 263"/>
          <p:cNvSpPr/>
          <p:nvPr/>
        </p:nvSpPr>
        <p:spPr>
          <a:xfrm>
            <a:off x="3827102" y="367719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122 of 123</a:t>
            </a:r>
          </a:p>
          <a:p>
            <a:pPr algn="l">
              <a:lnSpc>
                <a:spcPct val="109000"/>
              </a:lnSpc>
              <a:spcBef>
                <a:spcPts val="0"/>
              </a:spcBef>
              <a:spcAft>
                <a:spcPts val="0"/>
              </a:spcAft>
            </a:pPr>
            <a:r>
              <a:rPr sz="1250" b="0">
                <a:solidFill>
                  <a:srgbClr val="00407A"/>
                </a:solidFill>
                <a:latin typeface="Arial"/>
              </a:rPr>
              <a:t>are “yes”</a:t>
            </a:r>
          </a:p>
        </p:txBody>
      </p:sp>
      <p:sp>
        <p:nvSpPr>
          <p:cNvPr id="266" name="TextBox 265"/>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67" name="Oval 266"/>
          <p:cNvSpPr/>
          <p:nvPr/>
        </p:nvSpPr>
        <p:spPr>
          <a:xfrm>
            <a:off x="4209723" y="3923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4221793" y="3981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4332536" y="3980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2901628" y="3935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4143338" y="39754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4352754" y="39666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4141527" y="39662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4193429" y="3945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4253176" y="390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Oval 275"/>
          <p:cNvSpPr/>
          <p:nvPr/>
        </p:nvSpPr>
        <p:spPr>
          <a:xfrm>
            <a:off x="4214250" y="3921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Oval 276"/>
          <p:cNvSpPr/>
          <p:nvPr/>
        </p:nvSpPr>
        <p:spPr>
          <a:xfrm>
            <a:off x="4233260" y="39612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4218474" y="39425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Oval 278"/>
          <p:cNvSpPr/>
          <p:nvPr/>
        </p:nvSpPr>
        <p:spPr>
          <a:xfrm>
            <a:off x="4049191" y="39664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Oval 279"/>
          <p:cNvSpPr/>
          <p:nvPr/>
        </p:nvSpPr>
        <p:spPr>
          <a:xfrm>
            <a:off x="4234165" y="3961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Oval 280"/>
          <p:cNvSpPr/>
          <p:nvPr/>
        </p:nvSpPr>
        <p:spPr>
          <a:xfrm>
            <a:off x="4205499" y="398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4133682" y="39785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4199766" y="3982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4178643" y="3971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4197352" y="38959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4244727" y="39569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Oval 286"/>
          <p:cNvSpPr/>
          <p:nvPr/>
        </p:nvSpPr>
        <p:spPr>
          <a:xfrm>
            <a:off x="4077556" y="3974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4194334" y="3988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Oval 288"/>
          <p:cNvSpPr/>
          <p:nvPr/>
        </p:nvSpPr>
        <p:spPr>
          <a:xfrm>
            <a:off x="3977978" y="3958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Oval 289"/>
          <p:cNvSpPr/>
          <p:nvPr/>
        </p:nvSpPr>
        <p:spPr>
          <a:xfrm>
            <a:off x="4143036" y="3904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Oval 290"/>
          <p:cNvSpPr/>
          <p:nvPr/>
        </p:nvSpPr>
        <p:spPr>
          <a:xfrm>
            <a:off x="4105015" y="3930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Oval 291"/>
          <p:cNvSpPr/>
          <p:nvPr/>
        </p:nvSpPr>
        <p:spPr>
          <a:xfrm>
            <a:off x="4158124" y="395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4207309" y="391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Oval 293"/>
          <p:cNvSpPr/>
          <p:nvPr/>
        </p:nvSpPr>
        <p:spPr>
          <a:xfrm>
            <a:off x="4222095" y="3894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4152692" y="39039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Oval 295"/>
          <p:cNvSpPr/>
          <p:nvPr/>
        </p:nvSpPr>
        <p:spPr>
          <a:xfrm>
            <a:off x="4182264" y="39560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Oval 296"/>
          <p:cNvSpPr/>
          <p:nvPr/>
        </p:nvSpPr>
        <p:spPr>
          <a:xfrm>
            <a:off x="4168082" y="39616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Oval 297"/>
          <p:cNvSpPr/>
          <p:nvPr/>
        </p:nvSpPr>
        <p:spPr>
          <a:xfrm>
            <a:off x="4277618" y="3942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4114973" y="3966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3978883" y="3918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4215155" y="395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Oval 301"/>
          <p:cNvSpPr/>
          <p:nvPr/>
        </p:nvSpPr>
        <p:spPr>
          <a:xfrm>
            <a:off x="3955346" y="39433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4095661" y="39519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Oval 303"/>
          <p:cNvSpPr/>
          <p:nvPr/>
        </p:nvSpPr>
        <p:spPr>
          <a:xfrm>
            <a:off x="4003929" y="3981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Oval 304"/>
          <p:cNvSpPr/>
          <p:nvPr/>
        </p:nvSpPr>
        <p:spPr>
          <a:xfrm>
            <a:off x="4171099" y="39557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Oval 305"/>
          <p:cNvSpPr/>
          <p:nvPr/>
        </p:nvSpPr>
        <p:spPr>
          <a:xfrm>
            <a:off x="4214250" y="39574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Oval 306"/>
          <p:cNvSpPr/>
          <p:nvPr/>
        </p:nvSpPr>
        <p:spPr>
          <a:xfrm>
            <a:off x="4200067" y="3959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Oval 307"/>
          <p:cNvSpPr/>
          <p:nvPr/>
        </p:nvSpPr>
        <p:spPr>
          <a:xfrm>
            <a:off x="4273997" y="3939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Oval 308"/>
          <p:cNvSpPr/>
          <p:nvPr/>
        </p:nvSpPr>
        <p:spPr>
          <a:xfrm>
            <a:off x="4203990" y="39104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4260116" y="39782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4324087" y="397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4263435" y="38955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4273393" y="3933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3387147" y="3935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4165366" y="3957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4297835" y="38923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3962287" y="390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4213948" y="3970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4176531" y="3979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4073633" y="39845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4128854" y="39141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4318958" y="3963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4266151" y="3980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4261625" y="39404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4216060" y="393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4216362" y="39863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4205801" y="3935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4249253" y="39167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4275204" y="3898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4271884" y="39342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4101696" y="3891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4167478" y="39645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4273393" y="3981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4279428" y="3962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4277014" y="3962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4110145" y="3938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4260719" y="3901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4281842" y="3987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4260116" y="3981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4262832" y="39709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Oval 340"/>
          <p:cNvSpPr/>
          <p:nvPr/>
        </p:nvSpPr>
        <p:spPr>
          <a:xfrm>
            <a:off x="4253779" y="39219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Oval 341"/>
          <p:cNvSpPr/>
          <p:nvPr/>
        </p:nvSpPr>
        <p:spPr>
          <a:xfrm>
            <a:off x="3891677" y="39201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Oval 342"/>
          <p:cNvSpPr/>
          <p:nvPr/>
        </p:nvSpPr>
        <p:spPr>
          <a:xfrm>
            <a:off x="4280032" y="3981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Oval 343"/>
          <p:cNvSpPr/>
          <p:nvPr/>
        </p:nvSpPr>
        <p:spPr>
          <a:xfrm>
            <a:off x="3528367" y="3947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Oval 344"/>
          <p:cNvSpPr/>
          <p:nvPr/>
        </p:nvSpPr>
        <p:spPr>
          <a:xfrm>
            <a:off x="3934224" y="3989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4143338" y="3980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Oval 346"/>
          <p:cNvSpPr/>
          <p:nvPr/>
        </p:nvSpPr>
        <p:spPr>
          <a:xfrm>
            <a:off x="4270677" y="39394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Oval 347"/>
          <p:cNvSpPr/>
          <p:nvPr/>
        </p:nvSpPr>
        <p:spPr>
          <a:xfrm>
            <a:off x="4191920" y="395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Oval 348"/>
          <p:cNvSpPr/>
          <p:nvPr/>
        </p:nvSpPr>
        <p:spPr>
          <a:xfrm>
            <a:off x="4182867" y="3891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Oval 349"/>
          <p:cNvSpPr/>
          <p:nvPr/>
        </p:nvSpPr>
        <p:spPr>
          <a:xfrm>
            <a:off x="4095359" y="3893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Oval 350"/>
          <p:cNvSpPr/>
          <p:nvPr/>
        </p:nvSpPr>
        <p:spPr>
          <a:xfrm>
            <a:off x="3544058" y="3959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Oval 351"/>
          <p:cNvSpPr/>
          <p:nvPr/>
        </p:nvSpPr>
        <p:spPr>
          <a:xfrm>
            <a:off x="4313224" y="39891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4246839" y="3954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Oval 353"/>
          <p:cNvSpPr/>
          <p:nvPr/>
        </p:nvSpPr>
        <p:spPr>
          <a:xfrm>
            <a:off x="4292403" y="395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Oval 354"/>
          <p:cNvSpPr/>
          <p:nvPr/>
        </p:nvSpPr>
        <p:spPr>
          <a:xfrm>
            <a:off x="4353961" y="3915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Oval 355"/>
          <p:cNvSpPr/>
          <p:nvPr/>
        </p:nvSpPr>
        <p:spPr>
          <a:xfrm>
            <a:off x="4272790" y="3943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Oval 356"/>
          <p:cNvSpPr/>
          <p:nvPr/>
        </p:nvSpPr>
        <p:spPr>
          <a:xfrm>
            <a:off x="4286972" y="39139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Oval 357"/>
          <p:cNvSpPr/>
          <p:nvPr/>
        </p:nvSpPr>
        <p:spPr>
          <a:xfrm>
            <a:off x="3114665" y="3982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Oval 358"/>
          <p:cNvSpPr/>
          <p:nvPr/>
        </p:nvSpPr>
        <p:spPr>
          <a:xfrm>
            <a:off x="4292102" y="3953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4353659" y="389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Oval 360"/>
          <p:cNvSpPr/>
          <p:nvPr/>
        </p:nvSpPr>
        <p:spPr>
          <a:xfrm>
            <a:off x="4342192" y="389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Oval 361"/>
          <p:cNvSpPr/>
          <p:nvPr/>
        </p:nvSpPr>
        <p:spPr>
          <a:xfrm>
            <a:off x="4170194" y="3933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Oval 362"/>
          <p:cNvSpPr/>
          <p:nvPr/>
        </p:nvSpPr>
        <p:spPr>
          <a:xfrm>
            <a:off x="4328010" y="39045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Oval 363"/>
          <p:cNvSpPr/>
          <p:nvPr/>
        </p:nvSpPr>
        <p:spPr>
          <a:xfrm>
            <a:off x="4303568" y="3921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4228432" y="3912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Oval 365"/>
          <p:cNvSpPr/>
          <p:nvPr/>
        </p:nvSpPr>
        <p:spPr>
          <a:xfrm>
            <a:off x="4248046" y="41489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Oval 366"/>
          <p:cNvSpPr/>
          <p:nvPr/>
        </p:nvSpPr>
        <p:spPr>
          <a:xfrm>
            <a:off x="4213344" y="4126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Oval 367"/>
          <p:cNvSpPr/>
          <p:nvPr/>
        </p:nvSpPr>
        <p:spPr>
          <a:xfrm>
            <a:off x="4169892" y="413075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Oval 368"/>
          <p:cNvSpPr/>
          <p:nvPr/>
        </p:nvSpPr>
        <p:spPr>
          <a:xfrm>
            <a:off x="4098377" y="4191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3938750" y="41705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Oval 370"/>
          <p:cNvSpPr/>
          <p:nvPr/>
        </p:nvSpPr>
        <p:spPr>
          <a:xfrm>
            <a:off x="4261021" y="417514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Oval 371"/>
          <p:cNvSpPr/>
          <p:nvPr/>
        </p:nvSpPr>
        <p:spPr>
          <a:xfrm>
            <a:off x="4214250" y="412891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Oval 372"/>
          <p:cNvSpPr/>
          <p:nvPr/>
        </p:nvSpPr>
        <p:spPr>
          <a:xfrm>
            <a:off x="4000006" y="414400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Oval 373"/>
          <p:cNvSpPr/>
          <p:nvPr/>
        </p:nvSpPr>
        <p:spPr>
          <a:xfrm>
            <a:off x="4051605" y="410331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Oval 374"/>
          <p:cNvSpPr/>
          <p:nvPr/>
        </p:nvSpPr>
        <p:spPr>
          <a:xfrm>
            <a:off x="4196446" y="417478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Oval 375"/>
          <p:cNvSpPr/>
          <p:nvPr/>
        </p:nvSpPr>
        <p:spPr>
          <a:xfrm>
            <a:off x="3914006" y="412660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Oval 376"/>
          <p:cNvSpPr/>
          <p:nvPr/>
        </p:nvSpPr>
        <p:spPr>
          <a:xfrm>
            <a:off x="3244419" y="41013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377"/>
          <p:cNvSpPr/>
          <p:nvPr/>
        </p:nvSpPr>
        <p:spPr>
          <a:xfrm>
            <a:off x="2690704" y="413452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4164461" y="417614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4055528" y="41213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Oval 380"/>
          <p:cNvSpPr/>
          <p:nvPr/>
        </p:nvSpPr>
        <p:spPr>
          <a:xfrm>
            <a:off x="4120707" y="41071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Oval 381"/>
          <p:cNvSpPr/>
          <p:nvPr/>
        </p:nvSpPr>
        <p:spPr>
          <a:xfrm>
            <a:off x="4063675" y="4191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Oval 382"/>
          <p:cNvSpPr/>
          <p:nvPr/>
        </p:nvSpPr>
        <p:spPr>
          <a:xfrm>
            <a:off x="2952625" y="4114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Oval 383"/>
          <p:cNvSpPr/>
          <p:nvPr/>
        </p:nvSpPr>
        <p:spPr>
          <a:xfrm>
            <a:off x="4278523" y="41368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Oval 384"/>
          <p:cNvSpPr/>
          <p:nvPr/>
        </p:nvSpPr>
        <p:spPr>
          <a:xfrm>
            <a:off x="3815937" y="4171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val 385"/>
          <p:cNvSpPr/>
          <p:nvPr/>
        </p:nvSpPr>
        <p:spPr>
          <a:xfrm>
            <a:off x="4200671" y="41295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Oval 386"/>
          <p:cNvSpPr/>
          <p:nvPr/>
        </p:nvSpPr>
        <p:spPr>
          <a:xfrm>
            <a:off x="3707910" y="41231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Oval 387"/>
          <p:cNvSpPr/>
          <p:nvPr/>
        </p:nvSpPr>
        <p:spPr>
          <a:xfrm>
            <a:off x="4190713" y="41862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Oval 388"/>
          <p:cNvSpPr/>
          <p:nvPr/>
        </p:nvSpPr>
        <p:spPr>
          <a:xfrm>
            <a:off x="3764639" y="418011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TextBox 389"/>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119 of 123</a:t>
            </a:r>
          </a:p>
          <a:p>
            <a:pPr algn="l">
              <a:lnSpc>
                <a:spcPct val="109000"/>
              </a:lnSpc>
              <a:spcBef>
                <a:spcPts val="0"/>
              </a:spcBef>
              <a:spcAft>
                <a:spcPts val="0"/>
              </a:spcAft>
            </a:pPr>
            <a:r>
              <a:rPr sz="1250" b="0">
                <a:solidFill>
                  <a:srgbClr val="00407A"/>
                </a:solidFill>
                <a:latin typeface="Arial"/>
              </a:rPr>
              <a:t>are “yes”</a:t>
            </a:r>
          </a:p>
        </p:txBody>
      </p:sp>
      <p:sp>
        <p:nvSpPr>
          <p:cNvPr id="391" name="TextBox 390"/>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92" name="Oval 391"/>
          <p:cNvSpPr/>
          <p:nvPr/>
        </p:nvSpPr>
        <p:spPr>
          <a:xfrm>
            <a:off x="4487939" y="4426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Oval 392"/>
          <p:cNvSpPr/>
          <p:nvPr/>
        </p:nvSpPr>
        <p:spPr>
          <a:xfrm>
            <a:off x="4195541" y="448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Oval 393"/>
          <p:cNvSpPr/>
          <p:nvPr/>
        </p:nvSpPr>
        <p:spPr>
          <a:xfrm>
            <a:off x="4273695" y="4482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val 394"/>
          <p:cNvSpPr/>
          <p:nvPr/>
        </p:nvSpPr>
        <p:spPr>
          <a:xfrm>
            <a:off x="3048280" y="4438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Oval 395"/>
          <p:cNvSpPr/>
          <p:nvPr/>
        </p:nvSpPr>
        <p:spPr>
          <a:xfrm>
            <a:off x="4414311" y="44783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Oval 396"/>
          <p:cNvSpPr/>
          <p:nvPr/>
        </p:nvSpPr>
        <p:spPr>
          <a:xfrm>
            <a:off x="3534402" y="44695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val 397"/>
          <p:cNvSpPr/>
          <p:nvPr/>
        </p:nvSpPr>
        <p:spPr>
          <a:xfrm>
            <a:off x="4269169" y="4469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Oval 398"/>
          <p:cNvSpPr/>
          <p:nvPr/>
        </p:nvSpPr>
        <p:spPr>
          <a:xfrm>
            <a:off x="4446900" y="4448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Oval 399"/>
          <p:cNvSpPr/>
          <p:nvPr/>
        </p:nvSpPr>
        <p:spPr>
          <a:xfrm>
            <a:off x="4091135" y="441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val 400"/>
          <p:cNvSpPr/>
          <p:nvPr/>
        </p:nvSpPr>
        <p:spPr>
          <a:xfrm>
            <a:off x="4450521" y="4424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Oval 401"/>
          <p:cNvSpPr/>
          <p:nvPr/>
        </p:nvSpPr>
        <p:spPr>
          <a:xfrm>
            <a:off x="4334950" y="4464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Oval 402"/>
          <p:cNvSpPr/>
          <p:nvPr/>
        </p:nvSpPr>
        <p:spPr>
          <a:xfrm>
            <a:off x="4232053" y="44454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Oval 403"/>
          <p:cNvSpPr/>
          <p:nvPr/>
        </p:nvSpPr>
        <p:spPr>
          <a:xfrm>
            <a:off x="4402241" y="4469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Oval 404"/>
          <p:cNvSpPr/>
          <p:nvPr/>
        </p:nvSpPr>
        <p:spPr>
          <a:xfrm>
            <a:off x="4335252" y="4464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Oval 405"/>
          <p:cNvSpPr/>
          <p:nvPr/>
        </p:nvSpPr>
        <p:spPr>
          <a:xfrm>
            <a:off x="4191316" y="449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Oval 406"/>
          <p:cNvSpPr/>
          <p:nvPr/>
        </p:nvSpPr>
        <p:spPr>
          <a:xfrm>
            <a:off x="4274600" y="44815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Oval 407"/>
          <p:cNvSpPr/>
          <p:nvPr/>
        </p:nvSpPr>
        <p:spPr>
          <a:xfrm>
            <a:off x="4302663" y="44853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Oval 408"/>
          <p:cNvSpPr/>
          <p:nvPr/>
        </p:nvSpPr>
        <p:spPr>
          <a:xfrm>
            <a:off x="4341589" y="4474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Oval 409"/>
          <p:cNvSpPr/>
          <p:nvPr/>
        </p:nvSpPr>
        <p:spPr>
          <a:xfrm>
            <a:off x="4439055" y="43989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Oval 410"/>
          <p:cNvSpPr/>
          <p:nvPr/>
        </p:nvSpPr>
        <p:spPr>
          <a:xfrm>
            <a:off x="4372368" y="44598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Oval 411"/>
          <p:cNvSpPr/>
          <p:nvPr/>
        </p:nvSpPr>
        <p:spPr>
          <a:xfrm>
            <a:off x="4189506" y="4477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Oval 412"/>
          <p:cNvSpPr/>
          <p:nvPr/>
        </p:nvSpPr>
        <p:spPr>
          <a:xfrm>
            <a:off x="4314431" y="4491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Oval 413"/>
          <p:cNvSpPr/>
          <p:nvPr/>
        </p:nvSpPr>
        <p:spPr>
          <a:xfrm>
            <a:off x="4182867" y="446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Oval 414"/>
          <p:cNvSpPr/>
          <p:nvPr/>
        </p:nvSpPr>
        <p:spPr>
          <a:xfrm>
            <a:off x="4289386" y="4407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Oval 415"/>
          <p:cNvSpPr/>
          <p:nvPr/>
        </p:nvSpPr>
        <p:spPr>
          <a:xfrm>
            <a:off x="3956553" y="4433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Oval 416"/>
          <p:cNvSpPr/>
          <p:nvPr/>
        </p:nvSpPr>
        <p:spPr>
          <a:xfrm>
            <a:off x="4370255" y="445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Oval 417"/>
          <p:cNvSpPr/>
          <p:nvPr/>
        </p:nvSpPr>
        <p:spPr>
          <a:xfrm>
            <a:off x="3999402" y="441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Oval 418"/>
          <p:cNvSpPr/>
          <p:nvPr/>
        </p:nvSpPr>
        <p:spPr>
          <a:xfrm>
            <a:off x="4327105" y="43972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4271583" y="44068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4082384" y="44589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Oval 421"/>
          <p:cNvSpPr/>
          <p:nvPr/>
        </p:nvSpPr>
        <p:spPr>
          <a:xfrm>
            <a:off x="4269169" y="44646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Oval 422"/>
          <p:cNvSpPr/>
          <p:nvPr/>
        </p:nvSpPr>
        <p:spPr>
          <a:xfrm>
            <a:off x="4438753" y="4445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Oval 423"/>
          <p:cNvSpPr/>
          <p:nvPr/>
        </p:nvSpPr>
        <p:spPr>
          <a:xfrm>
            <a:off x="4351245" y="4469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Oval 424"/>
          <p:cNvSpPr/>
          <p:nvPr/>
        </p:nvSpPr>
        <p:spPr>
          <a:xfrm>
            <a:off x="4339477" y="44212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Oval 425"/>
          <p:cNvSpPr/>
          <p:nvPr/>
        </p:nvSpPr>
        <p:spPr>
          <a:xfrm>
            <a:off x="4048588" y="445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Oval 426"/>
          <p:cNvSpPr/>
          <p:nvPr/>
        </p:nvSpPr>
        <p:spPr>
          <a:xfrm>
            <a:off x="3958062" y="44462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4333743" y="4454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4394999" y="4484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4076952" y="4458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4229337" y="44603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4479791" y="4462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4483412" y="4442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4084798" y="4413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4472248" y="4481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4070616" y="447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4486128" y="43984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4481300" y="4436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4214551" y="4438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Oval 439"/>
          <p:cNvSpPr/>
          <p:nvPr/>
        </p:nvSpPr>
        <p:spPr>
          <a:xfrm>
            <a:off x="4500009" y="44604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Oval 440"/>
          <p:cNvSpPr/>
          <p:nvPr/>
        </p:nvSpPr>
        <p:spPr>
          <a:xfrm>
            <a:off x="4495784" y="4395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Oval 441"/>
          <p:cNvSpPr/>
          <p:nvPr/>
        </p:nvSpPr>
        <p:spPr>
          <a:xfrm>
            <a:off x="4323786" y="440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Oval 442"/>
          <p:cNvSpPr/>
          <p:nvPr/>
        </p:nvSpPr>
        <p:spPr>
          <a:xfrm>
            <a:off x="4417027" y="44732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Oval 443"/>
          <p:cNvSpPr/>
          <p:nvPr/>
        </p:nvSpPr>
        <p:spPr>
          <a:xfrm>
            <a:off x="4445090" y="4482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Oval 444"/>
          <p:cNvSpPr/>
          <p:nvPr/>
        </p:nvSpPr>
        <p:spPr>
          <a:xfrm>
            <a:off x="4313526" y="44874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Oval 445"/>
          <p:cNvSpPr/>
          <p:nvPr/>
        </p:nvSpPr>
        <p:spPr>
          <a:xfrm>
            <a:off x="4309603" y="44170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Oval 446"/>
          <p:cNvSpPr/>
          <p:nvPr/>
        </p:nvSpPr>
        <p:spPr>
          <a:xfrm>
            <a:off x="4500914" y="4466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Oval 447"/>
          <p:cNvSpPr/>
          <p:nvPr/>
        </p:nvSpPr>
        <p:spPr>
          <a:xfrm>
            <a:off x="4468627" y="4483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Oval 448"/>
          <p:cNvSpPr/>
          <p:nvPr/>
        </p:nvSpPr>
        <p:spPr>
          <a:xfrm>
            <a:off x="4428795" y="44434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Oval 449"/>
          <p:cNvSpPr/>
          <p:nvPr/>
        </p:nvSpPr>
        <p:spPr>
          <a:xfrm>
            <a:off x="4486732" y="443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Oval 450"/>
          <p:cNvSpPr/>
          <p:nvPr/>
        </p:nvSpPr>
        <p:spPr>
          <a:xfrm>
            <a:off x="4478584" y="44893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Oval 451"/>
          <p:cNvSpPr/>
          <p:nvPr/>
        </p:nvSpPr>
        <p:spPr>
          <a:xfrm>
            <a:off x="4468627" y="4438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Oval 452"/>
          <p:cNvSpPr/>
          <p:nvPr/>
        </p:nvSpPr>
        <p:spPr>
          <a:xfrm>
            <a:off x="4475265" y="4419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Oval 453"/>
          <p:cNvSpPr/>
          <p:nvPr/>
        </p:nvSpPr>
        <p:spPr>
          <a:xfrm>
            <a:off x="4484318" y="4401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Oval 454"/>
          <p:cNvSpPr/>
          <p:nvPr/>
        </p:nvSpPr>
        <p:spPr>
          <a:xfrm>
            <a:off x="4535917" y="4437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Oval 455"/>
          <p:cNvSpPr/>
          <p:nvPr/>
        </p:nvSpPr>
        <p:spPr>
          <a:xfrm>
            <a:off x="4483412" y="4394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Oval 456"/>
          <p:cNvSpPr/>
          <p:nvPr/>
        </p:nvSpPr>
        <p:spPr>
          <a:xfrm>
            <a:off x="4385343" y="446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Oval 457"/>
          <p:cNvSpPr/>
          <p:nvPr/>
        </p:nvSpPr>
        <p:spPr>
          <a:xfrm>
            <a:off x="4536219" y="4484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Oval 458"/>
          <p:cNvSpPr/>
          <p:nvPr/>
        </p:nvSpPr>
        <p:spPr>
          <a:xfrm>
            <a:off x="4520226" y="446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Oval 459"/>
          <p:cNvSpPr/>
          <p:nvPr/>
        </p:nvSpPr>
        <p:spPr>
          <a:xfrm>
            <a:off x="4477076" y="4465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Oval 460"/>
          <p:cNvSpPr/>
          <p:nvPr/>
        </p:nvSpPr>
        <p:spPr>
          <a:xfrm>
            <a:off x="4257098" y="4441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Oval 461"/>
          <p:cNvSpPr/>
          <p:nvPr/>
        </p:nvSpPr>
        <p:spPr>
          <a:xfrm>
            <a:off x="4475869" y="4404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Oval 462"/>
          <p:cNvSpPr/>
          <p:nvPr/>
        </p:nvSpPr>
        <p:spPr>
          <a:xfrm>
            <a:off x="4506647" y="44907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Oval 463"/>
          <p:cNvSpPr/>
          <p:nvPr/>
        </p:nvSpPr>
        <p:spPr>
          <a:xfrm>
            <a:off x="4490353" y="4483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Oval 464"/>
          <p:cNvSpPr/>
          <p:nvPr/>
        </p:nvSpPr>
        <p:spPr>
          <a:xfrm>
            <a:off x="4499405" y="44738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Oval 465"/>
          <p:cNvSpPr/>
          <p:nvPr/>
        </p:nvSpPr>
        <p:spPr>
          <a:xfrm>
            <a:off x="4064279" y="44248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Oval 466"/>
          <p:cNvSpPr/>
          <p:nvPr/>
        </p:nvSpPr>
        <p:spPr>
          <a:xfrm>
            <a:off x="3963192" y="44230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Oval 467"/>
          <p:cNvSpPr/>
          <p:nvPr/>
        </p:nvSpPr>
        <p:spPr>
          <a:xfrm>
            <a:off x="4514795" y="4484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Oval 468"/>
          <p:cNvSpPr/>
          <p:nvPr/>
        </p:nvSpPr>
        <p:spPr>
          <a:xfrm>
            <a:off x="4084496" y="4450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Oval 469"/>
          <p:cNvSpPr/>
          <p:nvPr/>
        </p:nvSpPr>
        <p:spPr>
          <a:xfrm>
            <a:off x="4237183" y="4492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Oval 470"/>
          <p:cNvSpPr/>
          <p:nvPr/>
        </p:nvSpPr>
        <p:spPr>
          <a:xfrm>
            <a:off x="4477981" y="44829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Oval 471"/>
          <p:cNvSpPr/>
          <p:nvPr/>
        </p:nvSpPr>
        <p:spPr>
          <a:xfrm>
            <a:off x="4461988" y="44424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Oval 472"/>
          <p:cNvSpPr/>
          <p:nvPr/>
        </p:nvSpPr>
        <p:spPr>
          <a:xfrm>
            <a:off x="4288481" y="44616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Oval 473"/>
          <p:cNvSpPr/>
          <p:nvPr/>
        </p:nvSpPr>
        <p:spPr>
          <a:xfrm>
            <a:off x="4291800" y="4394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Oval 474"/>
          <p:cNvSpPr/>
          <p:nvPr/>
        </p:nvSpPr>
        <p:spPr>
          <a:xfrm>
            <a:off x="4312621" y="4396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Oval 475"/>
          <p:cNvSpPr/>
          <p:nvPr/>
        </p:nvSpPr>
        <p:spPr>
          <a:xfrm>
            <a:off x="4095359" y="446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Oval 476"/>
          <p:cNvSpPr/>
          <p:nvPr/>
        </p:nvSpPr>
        <p:spPr>
          <a:xfrm>
            <a:off x="4484318" y="44921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Oval 477"/>
          <p:cNvSpPr/>
          <p:nvPr/>
        </p:nvSpPr>
        <p:spPr>
          <a:xfrm>
            <a:off x="4490654" y="44574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Oval 478"/>
          <p:cNvSpPr/>
          <p:nvPr/>
        </p:nvSpPr>
        <p:spPr>
          <a:xfrm>
            <a:off x="4352150" y="445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Oval 479"/>
          <p:cNvSpPr/>
          <p:nvPr/>
        </p:nvSpPr>
        <p:spPr>
          <a:xfrm>
            <a:off x="4534409" y="4418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Oval 480"/>
          <p:cNvSpPr/>
          <p:nvPr/>
        </p:nvSpPr>
        <p:spPr>
          <a:xfrm>
            <a:off x="4499707" y="4445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Oval 481"/>
          <p:cNvSpPr/>
          <p:nvPr/>
        </p:nvSpPr>
        <p:spPr>
          <a:xfrm>
            <a:off x="4516907" y="44168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Oval 482"/>
          <p:cNvSpPr/>
          <p:nvPr/>
        </p:nvSpPr>
        <p:spPr>
          <a:xfrm>
            <a:off x="4195541" y="44851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Oval 483"/>
          <p:cNvSpPr/>
          <p:nvPr/>
        </p:nvSpPr>
        <p:spPr>
          <a:xfrm>
            <a:off x="4516002" y="4455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Oval 484"/>
          <p:cNvSpPr/>
          <p:nvPr/>
        </p:nvSpPr>
        <p:spPr>
          <a:xfrm>
            <a:off x="4521735" y="440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Oval 485"/>
          <p:cNvSpPr/>
          <p:nvPr/>
        </p:nvSpPr>
        <p:spPr>
          <a:xfrm>
            <a:off x="4511174" y="439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Oval 486"/>
          <p:cNvSpPr/>
          <p:nvPr/>
        </p:nvSpPr>
        <p:spPr>
          <a:xfrm>
            <a:off x="4454746" y="4436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Oval 487"/>
          <p:cNvSpPr/>
          <p:nvPr/>
        </p:nvSpPr>
        <p:spPr>
          <a:xfrm>
            <a:off x="4439960" y="4407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Oval 488"/>
          <p:cNvSpPr/>
          <p:nvPr/>
        </p:nvSpPr>
        <p:spPr>
          <a:xfrm>
            <a:off x="4420346" y="44247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Oval 489"/>
          <p:cNvSpPr/>
          <p:nvPr/>
        </p:nvSpPr>
        <p:spPr>
          <a:xfrm>
            <a:off x="4307793" y="4415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Oval 490"/>
          <p:cNvSpPr/>
          <p:nvPr/>
        </p:nvSpPr>
        <p:spPr>
          <a:xfrm>
            <a:off x="4491861" y="46518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Oval 491"/>
          <p:cNvSpPr/>
          <p:nvPr/>
        </p:nvSpPr>
        <p:spPr>
          <a:xfrm>
            <a:off x="3707005" y="4629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Oval 492"/>
          <p:cNvSpPr/>
          <p:nvPr/>
        </p:nvSpPr>
        <p:spPr>
          <a:xfrm>
            <a:off x="3971038" y="46336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Oval 493"/>
          <p:cNvSpPr/>
          <p:nvPr/>
        </p:nvSpPr>
        <p:spPr>
          <a:xfrm>
            <a:off x="4064581" y="4694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4084798" y="46734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495"/>
          <p:cNvSpPr/>
          <p:nvPr/>
        </p:nvSpPr>
        <p:spPr>
          <a:xfrm>
            <a:off x="4464402" y="467806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Oval 496"/>
          <p:cNvSpPr/>
          <p:nvPr/>
        </p:nvSpPr>
        <p:spPr>
          <a:xfrm>
            <a:off x="4467420" y="463183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Oval 497"/>
          <p:cNvSpPr/>
          <p:nvPr/>
        </p:nvSpPr>
        <p:spPr>
          <a:xfrm>
            <a:off x="4365729" y="46469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Oval 498"/>
          <p:cNvSpPr/>
          <p:nvPr/>
        </p:nvSpPr>
        <p:spPr>
          <a:xfrm>
            <a:off x="4318656" y="460623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245330" y="467770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280032" y="462952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3946294" y="46042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4260719" y="463744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Oval 503"/>
          <p:cNvSpPr/>
          <p:nvPr/>
        </p:nvSpPr>
        <p:spPr>
          <a:xfrm>
            <a:off x="4177436" y="467906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Oval 504"/>
          <p:cNvSpPr/>
          <p:nvPr/>
        </p:nvSpPr>
        <p:spPr>
          <a:xfrm>
            <a:off x="3442972" y="46242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Oval 505"/>
          <p:cNvSpPr/>
          <p:nvPr/>
        </p:nvSpPr>
        <p:spPr>
          <a:xfrm>
            <a:off x="3888056" y="46100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Oval 506"/>
          <p:cNvSpPr/>
          <p:nvPr/>
        </p:nvSpPr>
        <p:spPr>
          <a:xfrm>
            <a:off x="4055528" y="4694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Oval 507"/>
          <p:cNvSpPr/>
          <p:nvPr/>
        </p:nvSpPr>
        <p:spPr>
          <a:xfrm>
            <a:off x="2806275" y="4617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Oval 508"/>
          <p:cNvSpPr/>
          <p:nvPr/>
        </p:nvSpPr>
        <p:spPr>
          <a:xfrm>
            <a:off x="3875986" y="46397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Oval 509"/>
          <p:cNvSpPr/>
          <p:nvPr/>
        </p:nvSpPr>
        <p:spPr>
          <a:xfrm>
            <a:off x="3010259" y="4673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Oval 510"/>
          <p:cNvSpPr/>
          <p:nvPr/>
        </p:nvSpPr>
        <p:spPr>
          <a:xfrm>
            <a:off x="3879908" y="46325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Oval 511"/>
          <p:cNvSpPr/>
          <p:nvPr/>
        </p:nvSpPr>
        <p:spPr>
          <a:xfrm>
            <a:off x="2712430" y="46260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Oval 512"/>
          <p:cNvSpPr/>
          <p:nvPr/>
        </p:nvSpPr>
        <p:spPr>
          <a:xfrm>
            <a:off x="3134279" y="46892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Oval 513"/>
          <p:cNvSpPr/>
          <p:nvPr/>
        </p:nvSpPr>
        <p:spPr>
          <a:xfrm>
            <a:off x="3633075" y="468303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118 of 123</a:t>
            </a:r>
          </a:p>
          <a:p>
            <a:pPr algn="l">
              <a:lnSpc>
                <a:spcPct val="109000"/>
              </a:lnSpc>
              <a:spcBef>
                <a:spcPts val="0"/>
              </a:spcBef>
              <a:spcAft>
                <a:spcPts val="0"/>
              </a:spcAft>
            </a:pPr>
            <a:r>
              <a:rPr sz="1250" b="0">
                <a:solidFill>
                  <a:srgbClr val="00407A"/>
                </a:solidFill>
                <a:latin typeface="Arial"/>
              </a:rPr>
              <a:t>are “yes”</a:t>
            </a:r>
          </a:p>
        </p:txBody>
      </p:sp>
      <p:sp>
        <p:nvSpPr>
          <p:cNvPr id="516" name="TextBox 515"/>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517" name="Rounded Rectangle 516"/>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TextBox 517"/>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519" name="TextBox 518"/>
          <p:cNvSpPr txBox="1"/>
          <p:nvPr/>
        </p:nvSpPr>
        <p:spPr>
          <a:xfrm>
            <a:off x="640994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vlog accepts: 114</a:t>
            </a:r>
            <a:r>
              <a:rPr sz="1250">
                <a:solidFill>
                  <a:srgbClr val="E97132"/>
                </a:solidFill>
                <a:latin typeface="Arial"/>
              </a:rPr>
              <a:t>      ●</a:t>
            </a:r>
            <a:r>
              <a:rPr sz="1250">
                <a:solidFill>
                  <a:srgbClr val="4A5A66"/>
                </a:solidFill>
                <a:latin typeface="Arial"/>
              </a:rPr>
              <a:t> vlog rejects: 9</a:t>
            </a:r>
          </a:p>
        </p:txBody>
      </p:sp>
      <p:cxnSp>
        <p:nvCxnSpPr>
          <p:cNvPr id="520" name="Connector 519"/>
          <p:cNvCxnSpPr/>
          <p:nvPr/>
        </p:nvCxnSpPr>
        <p:spPr>
          <a:xfrm>
            <a:off x="705916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1" name="TextBox 520"/>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22" name="Connector 521"/>
          <p:cNvCxnSpPr/>
          <p:nvPr/>
        </p:nvCxnSpPr>
        <p:spPr>
          <a:xfrm>
            <a:off x="856792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523" name="TextBox 522"/>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524" name="Connector 523"/>
          <p:cNvCxnSpPr/>
          <p:nvPr/>
        </p:nvCxnSpPr>
        <p:spPr>
          <a:xfrm>
            <a:off x="1007668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526" name="TextBox 525"/>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527" name="Oval 526"/>
          <p:cNvSpPr/>
          <p:nvPr/>
        </p:nvSpPr>
        <p:spPr>
          <a:xfrm>
            <a:off x="8263697" y="2918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Oval 527"/>
          <p:cNvSpPr/>
          <p:nvPr/>
        </p:nvSpPr>
        <p:spPr>
          <a:xfrm>
            <a:off x="8330988" y="2975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Oval 528"/>
          <p:cNvSpPr/>
          <p:nvPr/>
        </p:nvSpPr>
        <p:spPr>
          <a:xfrm>
            <a:off x="8203649" y="2974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Oval 529"/>
          <p:cNvSpPr/>
          <p:nvPr/>
        </p:nvSpPr>
        <p:spPr>
          <a:xfrm>
            <a:off x="8415780" y="2929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Oval 530"/>
          <p:cNvSpPr/>
          <p:nvPr/>
        </p:nvSpPr>
        <p:spPr>
          <a:xfrm>
            <a:off x="8225375" y="296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Oval 531"/>
          <p:cNvSpPr/>
          <p:nvPr/>
        </p:nvSpPr>
        <p:spPr>
          <a:xfrm>
            <a:off x="8198821" y="2960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Oval 532"/>
          <p:cNvSpPr/>
          <p:nvPr/>
        </p:nvSpPr>
        <p:spPr>
          <a:xfrm>
            <a:off x="8279087" y="2960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Oval 533"/>
          <p:cNvSpPr/>
          <p:nvPr/>
        </p:nvSpPr>
        <p:spPr>
          <a:xfrm>
            <a:off x="8264301" y="2939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Oval 534"/>
          <p:cNvSpPr/>
          <p:nvPr/>
        </p:nvSpPr>
        <p:spPr>
          <a:xfrm>
            <a:off x="8167740" y="2902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Oval 535"/>
          <p:cNvSpPr/>
          <p:nvPr/>
        </p:nvSpPr>
        <p:spPr>
          <a:xfrm>
            <a:off x="8254343" y="29154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Oval 536"/>
          <p:cNvSpPr/>
          <p:nvPr/>
        </p:nvSpPr>
        <p:spPr>
          <a:xfrm>
            <a:off x="8234428" y="2955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Oval 537"/>
          <p:cNvSpPr/>
          <p:nvPr/>
        </p:nvSpPr>
        <p:spPr>
          <a:xfrm>
            <a:off x="8388623" y="29367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Oval 538"/>
          <p:cNvSpPr/>
          <p:nvPr/>
        </p:nvSpPr>
        <p:spPr>
          <a:xfrm>
            <a:off x="8445050" y="29605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Oval 539"/>
          <p:cNvSpPr/>
          <p:nvPr/>
        </p:nvSpPr>
        <p:spPr>
          <a:xfrm>
            <a:off x="8337627" y="2955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Oval 540"/>
          <p:cNvSpPr/>
          <p:nvPr/>
        </p:nvSpPr>
        <p:spPr>
          <a:xfrm>
            <a:off x="8206063" y="29837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Oval 541"/>
          <p:cNvSpPr/>
          <p:nvPr/>
        </p:nvSpPr>
        <p:spPr>
          <a:xfrm>
            <a:off x="8200330" y="2972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Oval 542"/>
          <p:cNvSpPr/>
          <p:nvPr/>
        </p:nvSpPr>
        <p:spPr>
          <a:xfrm>
            <a:off x="8168947" y="2976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Oval 543"/>
          <p:cNvSpPr/>
          <p:nvPr/>
        </p:nvSpPr>
        <p:spPr>
          <a:xfrm>
            <a:off x="8232919" y="2965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Oval 544"/>
          <p:cNvSpPr/>
          <p:nvPr/>
        </p:nvSpPr>
        <p:spPr>
          <a:xfrm>
            <a:off x="8205761" y="2890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Oval 545"/>
          <p:cNvSpPr/>
          <p:nvPr/>
        </p:nvSpPr>
        <p:spPr>
          <a:xfrm>
            <a:off x="8269733" y="2951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Oval 546"/>
          <p:cNvSpPr/>
          <p:nvPr/>
        </p:nvSpPr>
        <p:spPr>
          <a:xfrm>
            <a:off x="8212400" y="29684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Oval 547"/>
          <p:cNvSpPr/>
          <p:nvPr/>
        </p:nvSpPr>
        <p:spPr>
          <a:xfrm>
            <a:off x="8470398" y="2982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Oval 548"/>
          <p:cNvSpPr/>
          <p:nvPr/>
        </p:nvSpPr>
        <p:spPr>
          <a:xfrm>
            <a:off x="8326160" y="2952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Oval 549"/>
          <p:cNvSpPr/>
          <p:nvPr/>
        </p:nvSpPr>
        <p:spPr>
          <a:xfrm>
            <a:off x="8370819" y="2898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Oval 550"/>
          <p:cNvSpPr/>
          <p:nvPr/>
        </p:nvSpPr>
        <p:spPr>
          <a:xfrm>
            <a:off x="8190975" y="2924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Oval 551"/>
          <p:cNvSpPr/>
          <p:nvPr/>
        </p:nvSpPr>
        <p:spPr>
          <a:xfrm>
            <a:off x="8232315" y="2946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Oval 552"/>
          <p:cNvSpPr/>
          <p:nvPr/>
        </p:nvSpPr>
        <p:spPr>
          <a:xfrm>
            <a:off x="8176189" y="290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Oval 553"/>
          <p:cNvSpPr/>
          <p:nvPr/>
        </p:nvSpPr>
        <p:spPr>
          <a:xfrm>
            <a:off x="8201537" y="2888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Oval 554"/>
          <p:cNvSpPr/>
          <p:nvPr/>
        </p:nvSpPr>
        <p:spPr>
          <a:xfrm>
            <a:off x="8315901" y="28981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Oval 555"/>
          <p:cNvSpPr/>
          <p:nvPr/>
        </p:nvSpPr>
        <p:spPr>
          <a:xfrm>
            <a:off x="8244687" y="29502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Oval 556"/>
          <p:cNvSpPr/>
          <p:nvPr/>
        </p:nvSpPr>
        <p:spPr>
          <a:xfrm>
            <a:off x="8136660" y="2955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Oval 557"/>
          <p:cNvSpPr/>
          <p:nvPr/>
        </p:nvSpPr>
        <p:spPr>
          <a:xfrm>
            <a:off x="8311073" y="2937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Oval 558"/>
          <p:cNvSpPr/>
          <p:nvPr/>
        </p:nvSpPr>
        <p:spPr>
          <a:xfrm>
            <a:off x="8174681" y="29603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Oval 559"/>
          <p:cNvSpPr/>
          <p:nvPr/>
        </p:nvSpPr>
        <p:spPr>
          <a:xfrm>
            <a:off x="8258869" y="2912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Oval 560"/>
          <p:cNvSpPr/>
          <p:nvPr/>
        </p:nvSpPr>
        <p:spPr>
          <a:xfrm>
            <a:off x="8404314" y="294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Oval 561"/>
          <p:cNvSpPr/>
          <p:nvPr/>
        </p:nvSpPr>
        <p:spPr>
          <a:xfrm>
            <a:off x="8410651" y="29374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Oval 562"/>
          <p:cNvSpPr/>
          <p:nvPr/>
        </p:nvSpPr>
        <p:spPr>
          <a:xfrm>
            <a:off x="8334911" y="2946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Oval 563"/>
          <p:cNvSpPr/>
          <p:nvPr/>
        </p:nvSpPr>
        <p:spPr>
          <a:xfrm>
            <a:off x="8211494" y="2976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Oval 564"/>
          <p:cNvSpPr/>
          <p:nvPr/>
        </p:nvSpPr>
        <p:spPr>
          <a:xfrm>
            <a:off x="8355732" y="2949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Oval 565"/>
          <p:cNvSpPr/>
          <p:nvPr/>
        </p:nvSpPr>
        <p:spPr>
          <a:xfrm>
            <a:off x="8287234" y="2951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Oval 566"/>
          <p:cNvSpPr/>
          <p:nvPr/>
        </p:nvSpPr>
        <p:spPr>
          <a:xfrm>
            <a:off x="8294476" y="2953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Oval 567"/>
          <p:cNvSpPr/>
          <p:nvPr/>
        </p:nvSpPr>
        <p:spPr>
          <a:xfrm>
            <a:off x="8197916" y="2933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Oval 568"/>
          <p:cNvSpPr/>
          <p:nvPr/>
        </p:nvSpPr>
        <p:spPr>
          <a:xfrm>
            <a:off x="8241066" y="2904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Oval 569"/>
          <p:cNvSpPr/>
          <p:nvPr/>
        </p:nvSpPr>
        <p:spPr>
          <a:xfrm>
            <a:off x="8265810" y="2972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Oval 570"/>
          <p:cNvSpPr/>
          <p:nvPr/>
        </p:nvSpPr>
        <p:spPr>
          <a:xfrm>
            <a:off x="8248006" y="2969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Oval 571"/>
          <p:cNvSpPr/>
          <p:nvPr/>
        </p:nvSpPr>
        <p:spPr>
          <a:xfrm>
            <a:off x="8238049" y="2889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Oval 572"/>
          <p:cNvSpPr/>
          <p:nvPr/>
        </p:nvSpPr>
        <p:spPr>
          <a:xfrm>
            <a:off x="8440222" y="292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Oval 573"/>
          <p:cNvSpPr/>
          <p:nvPr/>
        </p:nvSpPr>
        <p:spPr>
          <a:xfrm>
            <a:off x="8310167" y="2930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Oval 574"/>
          <p:cNvSpPr/>
          <p:nvPr/>
        </p:nvSpPr>
        <p:spPr>
          <a:xfrm>
            <a:off x="8037082" y="295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Oval 575"/>
          <p:cNvSpPr/>
          <p:nvPr/>
        </p:nvSpPr>
        <p:spPr>
          <a:xfrm>
            <a:off x="8084759" y="28865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Oval 576"/>
          <p:cNvSpPr/>
          <p:nvPr/>
        </p:nvSpPr>
        <p:spPr>
          <a:xfrm>
            <a:off x="7942332" y="289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Oval 577"/>
          <p:cNvSpPr/>
          <p:nvPr/>
        </p:nvSpPr>
        <p:spPr>
          <a:xfrm>
            <a:off x="8278483" y="2964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Oval 578"/>
          <p:cNvSpPr/>
          <p:nvPr/>
        </p:nvSpPr>
        <p:spPr>
          <a:xfrm>
            <a:off x="8158688" y="2973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Oval 579"/>
          <p:cNvSpPr/>
          <p:nvPr/>
        </p:nvSpPr>
        <p:spPr>
          <a:xfrm>
            <a:off x="8254041" y="29787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Oval 580"/>
          <p:cNvSpPr/>
          <p:nvPr/>
        </p:nvSpPr>
        <p:spPr>
          <a:xfrm>
            <a:off x="8255550" y="2908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Oval 581"/>
          <p:cNvSpPr/>
          <p:nvPr/>
        </p:nvSpPr>
        <p:spPr>
          <a:xfrm>
            <a:off x="8424230" y="294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Oval 582"/>
          <p:cNvSpPr/>
          <p:nvPr/>
        </p:nvSpPr>
        <p:spPr>
          <a:xfrm>
            <a:off x="8335816" y="2958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Oval 583"/>
          <p:cNvSpPr/>
          <p:nvPr/>
        </p:nvSpPr>
        <p:spPr>
          <a:xfrm>
            <a:off x="8287234" y="2974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Oval 584"/>
          <p:cNvSpPr/>
          <p:nvPr/>
        </p:nvSpPr>
        <p:spPr>
          <a:xfrm>
            <a:off x="8323746" y="2934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Oval 585"/>
          <p:cNvSpPr/>
          <p:nvPr/>
        </p:nvSpPr>
        <p:spPr>
          <a:xfrm>
            <a:off x="8223866" y="2926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Oval 586"/>
          <p:cNvSpPr/>
          <p:nvPr/>
        </p:nvSpPr>
        <p:spPr>
          <a:xfrm>
            <a:off x="8198821" y="29805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Oval 587"/>
          <p:cNvSpPr/>
          <p:nvPr/>
        </p:nvSpPr>
        <p:spPr>
          <a:xfrm>
            <a:off x="8250420" y="29298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Oval 588"/>
          <p:cNvSpPr/>
          <p:nvPr/>
        </p:nvSpPr>
        <p:spPr>
          <a:xfrm>
            <a:off x="8227185" y="29108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Oval 589"/>
          <p:cNvSpPr/>
          <p:nvPr/>
        </p:nvSpPr>
        <p:spPr>
          <a:xfrm>
            <a:off x="8400391" y="28927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Oval 590"/>
          <p:cNvSpPr/>
          <p:nvPr/>
        </p:nvSpPr>
        <p:spPr>
          <a:xfrm>
            <a:off x="8290252" y="2928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Oval 591"/>
          <p:cNvSpPr/>
          <p:nvPr/>
        </p:nvSpPr>
        <p:spPr>
          <a:xfrm>
            <a:off x="8244989" y="2886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Oval 592"/>
          <p:cNvSpPr/>
          <p:nvPr/>
        </p:nvSpPr>
        <p:spPr>
          <a:xfrm>
            <a:off x="8499668" y="29587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Oval 593"/>
          <p:cNvSpPr/>
          <p:nvPr/>
        </p:nvSpPr>
        <p:spPr>
          <a:xfrm>
            <a:off x="8339437" y="297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Oval 594"/>
          <p:cNvSpPr/>
          <p:nvPr/>
        </p:nvSpPr>
        <p:spPr>
          <a:xfrm>
            <a:off x="8068464" y="2956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Oval 595"/>
          <p:cNvSpPr/>
          <p:nvPr/>
        </p:nvSpPr>
        <p:spPr>
          <a:xfrm>
            <a:off x="8221452" y="2956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Oval 596"/>
          <p:cNvSpPr/>
          <p:nvPr/>
        </p:nvSpPr>
        <p:spPr>
          <a:xfrm>
            <a:off x="8291459" y="2932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Oval 597"/>
          <p:cNvSpPr/>
          <p:nvPr/>
        </p:nvSpPr>
        <p:spPr>
          <a:xfrm>
            <a:off x="8363577" y="2895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Oval 598"/>
          <p:cNvSpPr/>
          <p:nvPr/>
        </p:nvSpPr>
        <p:spPr>
          <a:xfrm>
            <a:off x="8622481" y="2981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Oval 599"/>
          <p:cNvSpPr/>
          <p:nvPr/>
        </p:nvSpPr>
        <p:spPr>
          <a:xfrm>
            <a:off x="8545534" y="2975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Oval 600"/>
          <p:cNvSpPr/>
          <p:nvPr/>
        </p:nvSpPr>
        <p:spPr>
          <a:xfrm>
            <a:off x="8469794" y="2965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Oval 601"/>
          <p:cNvSpPr/>
          <p:nvPr/>
        </p:nvSpPr>
        <p:spPr>
          <a:xfrm>
            <a:off x="8450784" y="29161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Oval 602"/>
          <p:cNvSpPr/>
          <p:nvPr/>
        </p:nvSpPr>
        <p:spPr>
          <a:xfrm>
            <a:off x="8246799" y="2914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Oval 603"/>
          <p:cNvSpPr/>
          <p:nvPr/>
        </p:nvSpPr>
        <p:spPr>
          <a:xfrm>
            <a:off x="8419703" y="2975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Oval 604"/>
          <p:cNvSpPr/>
          <p:nvPr/>
        </p:nvSpPr>
        <p:spPr>
          <a:xfrm>
            <a:off x="8218435" y="2941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Oval 605"/>
          <p:cNvSpPr/>
          <p:nvPr/>
        </p:nvSpPr>
        <p:spPr>
          <a:xfrm>
            <a:off x="8224771" y="2923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Oval 606"/>
          <p:cNvSpPr/>
          <p:nvPr/>
        </p:nvSpPr>
        <p:spPr>
          <a:xfrm>
            <a:off x="8187354" y="29840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Oval 607"/>
          <p:cNvSpPr/>
          <p:nvPr/>
        </p:nvSpPr>
        <p:spPr>
          <a:xfrm>
            <a:off x="8133341" y="29635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Oval 608"/>
          <p:cNvSpPr/>
          <p:nvPr/>
        </p:nvSpPr>
        <p:spPr>
          <a:xfrm>
            <a:off x="8226280" y="29681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Oval 609"/>
          <p:cNvSpPr/>
          <p:nvPr/>
        </p:nvSpPr>
        <p:spPr>
          <a:xfrm>
            <a:off x="8307753" y="29219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Oval 610"/>
          <p:cNvSpPr/>
          <p:nvPr/>
        </p:nvSpPr>
        <p:spPr>
          <a:xfrm>
            <a:off x="8212400" y="2936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Oval 611"/>
          <p:cNvSpPr/>
          <p:nvPr/>
        </p:nvSpPr>
        <p:spPr>
          <a:xfrm>
            <a:off x="8455008" y="2896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Oval 612"/>
          <p:cNvSpPr/>
          <p:nvPr/>
        </p:nvSpPr>
        <p:spPr>
          <a:xfrm>
            <a:off x="8264904" y="29677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Oval 613"/>
          <p:cNvSpPr/>
          <p:nvPr/>
        </p:nvSpPr>
        <p:spPr>
          <a:xfrm>
            <a:off x="8244989" y="2983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Oval 614"/>
          <p:cNvSpPr/>
          <p:nvPr/>
        </p:nvSpPr>
        <p:spPr>
          <a:xfrm>
            <a:off x="8250420" y="29195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Oval 615"/>
          <p:cNvSpPr/>
          <p:nvPr/>
        </p:nvSpPr>
        <p:spPr>
          <a:xfrm>
            <a:off x="8062127" y="2974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Oval 616"/>
          <p:cNvSpPr/>
          <p:nvPr/>
        </p:nvSpPr>
        <p:spPr>
          <a:xfrm>
            <a:off x="8014450" y="28942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Oval 617"/>
          <p:cNvSpPr/>
          <p:nvPr/>
        </p:nvSpPr>
        <p:spPr>
          <a:xfrm>
            <a:off x="8140281" y="292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Oval 618"/>
          <p:cNvSpPr/>
          <p:nvPr/>
        </p:nvSpPr>
        <p:spPr>
          <a:xfrm>
            <a:off x="8077818" y="293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Oval 619"/>
          <p:cNvSpPr/>
          <p:nvPr/>
        </p:nvSpPr>
        <p:spPr>
          <a:xfrm>
            <a:off x="8105881" y="2969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Oval 620"/>
          <p:cNvSpPr/>
          <p:nvPr/>
        </p:nvSpPr>
        <p:spPr>
          <a:xfrm>
            <a:off x="8245592" y="295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Oval 621"/>
          <p:cNvSpPr/>
          <p:nvPr/>
        </p:nvSpPr>
        <p:spPr>
          <a:xfrm>
            <a:off x="8242877" y="29143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Oval 622"/>
          <p:cNvSpPr/>
          <p:nvPr/>
        </p:nvSpPr>
        <p:spPr>
          <a:xfrm>
            <a:off x="8160498" y="29001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Oval 623"/>
          <p:cNvSpPr/>
          <p:nvPr/>
        </p:nvSpPr>
        <p:spPr>
          <a:xfrm>
            <a:off x="8297494" y="2885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Oval 624"/>
          <p:cNvSpPr/>
          <p:nvPr/>
        </p:nvSpPr>
        <p:spPr>
          <a:xfrm>
            <a:off x="8630930" y="2887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Oval 625"/>
          <p:cNvSpPr/>
          <p:nvPr/>
        </p:nvSpPr>
        <p:spPr>
          <a:xfrm>
            <a:off x="8401598" y="2954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Oval 626"/>
          <p:cNvSpPr/>
          <p:nvPr/>
        </p:nvSpPr>
        <p:spPr>
          <a:xfrm>
            <a:off x="8150842" y="29833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Oval 627"/>
          <p:cNvSpPr/>
          <p:nvPr/>
        </p:nvSpPr>
        <p:spPr>
          <a:xfrm>
            <a:off x="8268827" y="2948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Oval 628"/>
          <p:cNvSpPr/>
          <p:nvPr/>
        </p:nvSpPr>
        <p:spPr>
          <a:xfrm>
            <a:off x="8387718" y="294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Oval 629"/>
          <p:cNvSpPr/>
          <p:nvPr/>
        </p:nvSpPr>
        <p:spPr>
          <a:xfrm>
            <a:off x="8132737" y="2909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Oval 630"/>
          <p:cNvSpPr/>
          <p:nvPr/>
        </p:nvSpPr>
        <p:spPr>
          <a:xfrm>
            <a:off x="8483675" y="2937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Oval 631"/>
          <p:cNvSpPr/>
          <p:nvPr/>
        </p:nvSpPr>
        <p:spPr>
          <a:xfrm>
            <a:off x="8321332" y="2908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Oval 632"/>
          <p:cNvSpPr/>
          <p:nvPr/>
        </p:nvSpPr>
        <p:spPr>
          <a:xfrm>
            <a:off x="8250420" y="2976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Oval 633"/>
          <p:cNvSpPr/>
          <p:nvPr/>
        </p:nvSpPr>
        <p:spPr>
          <a:xfrm>
            <a:off x="8162309" y="2947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Oval 634"/>
          <p:cNvSpPr/>
          <p:nvPr/>
        </p:nvSpPr>
        <p:spPr>
          <a:xfrm>
            <a:off x="8015959" y="289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Oval 635"/>
          <p:cNvSpPr/>
          <p:nvPr/>
        </p:nvSpPr>
        <p:spPr>
          <a:xfrm>
            <a:off x="8042212" y="288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Oval 636"/>
          <p:cNvSpPr/>
          <p:nvPr/>
        </p:nvSpPr>
        <p:spPr>
          <a:xfrm>
            <a:off x="8189768" y="2927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Oval 637"/>
          <p:cNvSpPr/>
          <p:nvPr/>
        </p:nvSpPr>
        <p:spPr>
          <a:xfrm>
            <a:off x="8225073" y="289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Oval 638"/>
          <p:cNvSpPr/>
          <p:nvPr/>
        </p:nvSpPr>
        <p:spPr>
          <a:xfrm>
            <a:off x="8542818" y="2915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Oval 639"/>
          <p:cNvSpPr/>
          <p:nvPr/>
        </p:nvSpPr>
        <p:spPr>
          <a:xfrm>
            <a:off x="8257662" y="29067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Oval 640"/>
          <p:cNvSpPr/>
          <p:nvPr/>
        </p:nvSpPr>
        <p:spPr>
          <a:xfrm>
            <a:off x="8168344" y="31203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Oval 641"/>
          <p:cNvSpPr/>
          <p:nvPr/>
        </p:nvSpPr>
        <p:spPr>
          <a:xfrm>
            <a:off x="8170154" y="31861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Oval 642"/>
          <p:cNvSpPr/>
          <p:nvPr/>
        </p:nvSpPr>
        <p:spPr>
          <a:xfrm>
            <a:off x="8280596" y="31083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Oval 643"/>
          <p:cNvSpPr/>
          <p:nvPr/>
        </p:nvSpPr>
        <p:spPr>
          <a:xfrm>
            <a:off x="8422419" y="31309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Oval 644"/>
          <p:cNvSpPr/>
          <p:nvPr/>
        </p:nvSpPr>
        <p:spPr>
          <a:xfrm>
            <a:off x="8179810" y="3165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Oval 645"/>
          <p:cNvSpPr/>
          <p:nvPr/>
        </p:nvSpPr>
        <p:spPr>
          <a:xfrm>
            <a:off x="8168042" y="312374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Oval 646"/>
          <p:cNvSpPr/>
          <p:nvPr/>
        </p:nvSpPr>
        <p:spPr>
          <a:xfrm>
            <a:off x="7950781" y="31172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Oval 647"/>
          <p:cNvSpPr/>
          <p:nvPr/>
        </p:nvSpPr>
        <p:spPr>
          <a:xfrm>
            <a:off x="8381381" y="31804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Oval 648"/>
          <p:cNvSpPr/>
          <p:nvPr/>
        </p:nvSpPr>
        <p:spPr>
          <a:xfrm>
            <a:off x="8422721" y="317427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TextBox 649"/>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 of 123</a:t>
            </a:r>
          </a:p>
          <a:p>
            <a:pPr algn="l">
              <a:lnSpc>
                <a:spcPct val="109000"/>
              </a:lnSpc>
              <a:spcBef>
                <a:spcPts val="0"/>
              </a:spcBef>
              <a:spcAft>
                <a:spcPts val="0"/>
              </a:spcAft>
            </a:pPr>
            <a:r>
              <a:rPr sz="1250" b="0">
                <a:solidFill>
                  <a:srgbClr val="00407A"/>
                </a:solidFill>
                <a:latin typeface="Arial"/>
              </a:rPr>
              <a:t>are “yes”</a:t>
            </a:r>
          </a:p>
        </p:txBody>
      </p:sp>
      <p:sp>
        <p:nvSpPr>
          <p:cNvPr id="651" name="TextBox 650"/>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52" name="Oval 651"/>
          <p:cNvSpPr/>
          <p:nvPr/>
        </p:nvSpPr>
        <p:spPr>
          <a:xfrm>
            <a:off x="9796899" y="3420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Oval 652"/>
          <p:cNvSpPr/>
          <p:nvPr/>
        </p:nvSpPr>
        <p:spPr>
          <a:xfrm>
            <a:off x="9614641" y="3478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Oval 653"/>
          <p:cNvSpPr/>
          <p:nvPr/>
        </p:nvSpPr>
        <p:spPr>
          <a:xfrm>
            <a:off x="9847594" y="3477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Oval 654"/>
          <p:cNvSpPr/>
          <p:nvPr/>
        </p:nvSpPr>
        <p:spPr>
          <a:xfrm>
            <a:off x="9365092" y="3432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Oval 655"/>
          <p:cNvSpPr/>
          <p:nvPr/>
        </p:nvSpPr>
        <p:spPr>
          <a:xfrm>
            <a:off x="9739567" y="347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Oval 656"/>
          <p:cNvSpPr/>
          <p:nvPr/>
        </p:nvSpPr>
        <p:spPr>
          <a:xfrm>
            <a:off x="9827075" y="34637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Oval 657"/>
          <p:cNvSpPr/>
          <p:nvPr/>
        </p:nvSpPr>
        <p:spPr>
          <a:xfrm>
            <a:off x="9765215" y="34633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Oval 658"/>
          <p:cNvSpPr/>
          <p:nvPr/>
        </p:nvSpPr>
        <p:spPr>
          <a:xfrm>
            <a:off x="9815910" y="3442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Oval 659"/>
          <p:cNvSpPr/>
          <p:nvPr/>
        </p:nvSpPr>
        <p:spPr>
          <a:xfrm>
            <a:off x="9735342" y="3405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Oval 660"/>
          <p:cNvSpPr/>
          <p:nvPr/>
        </p:nvSpPr>
        <p:spPr>
          <a:xfrm>
            <a:off x="9768535" y="34183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Oval 661"/>
          <p:cNvSpPr/>
          <p:nvPr/>
        </p:nvSpPr>
        <p:spPr>
          <a:xfrm>
            <a:off x="9707581" y="3458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Oval 662"/>
          <p:cNvSpPr/>
          <p:nvPr/>
        </p:nvSpPr>
        <p:spPr>
          <a:xfrm>
            <a:off x="9743791" y="34396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Oval 663"/>
          <p:cNvSpPr/>
          <p:nvPr/>
        </p:nvSpPr>
        <p:spPr>
          <a:xfrm>
            <a:off x="9630634" y="34634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Oval 664"/>
          <p:cNvSpPr/>
          <p:nvPr/>
        </p:nvSpPr>
        <p:spPr>
          <a:xfrm>
            <a:off x="9608606" y="3458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Oval 665"/>
          <p:cNvSpPr/>
          <p:nvPr/>
        </p:nvSpPr>
        <p:spPr>
          <a:xfrm>
            <a:off x="9629125" y="34866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Oval 666"/>
          <p:cNvSpPr/>
          <p:nvPr/>
        </p:nvSpPr>
        <p:spPr>
          <a:xfrm>
            <a:off x="9534979" y="3475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Oval 667"/>
          <p:cNvSpPr/>
          <p:nvPr/>
        </p:nvSpPr>
        <p:spPr>
          <a:xfrm>
            <a:off x="9251030" y="3479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Oval 668"/>
          <p:cNvSpPr/>
          <p:nvPr/>
        </p:nvSpPr>
        <p:spPr>
          <a:xfrm>
            <a:off x="9687967" y="3468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Oval 669"/>
          <p:cNvSpPr/>
          <p:nvPr/>
        </p:nvSpPr>
        <p:spPr>
          <a:xfrm>
            <a:off x="9584466" y="3393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Oval 670"/>
          <p:cNvSpPr/>
          <p:nvPr/>
        </p:nvSpPr>
        <p:spPr>
          <a:xfrm>
            <a:off x="9661714" y="3454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Oval 671"/>
          <p:cNvSpPr/>
          <p:nvPr/>
        </p:nvSpPr>
        <p:spPr>
          <a:xfrm>
            <a:off x="9388931" y="3471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Oval 672"/>
          <p:cNvSpPr/>
          <p:nvPr/>
        </p:nvSpPr>
        <p:spPr>
          <a:xfrm>
            <a:off x="9741377" y="3485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Oval 673"/>
          <p:cNvSpPr/>
          <p:nvPr/>
        </p:nvSpPr>
        <p:spPr>
          <a:xfrm>
            <a:off x="9766121" y="3455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Oval 674"/>
          <p:cNvSpPr/>
          <p:nvPr/>
        </p:nvSpPr>
        <p:spPr>
          <a:xfrm>
            <a:off x="9648437" y="3401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Oval 675"/>
          <p:cNvSpPr/>
          <p:nvPr/>
        </p:nvSpPr>
        <p:spPr>
          <a:xfrm>
            <a:off x="9707279" y="3427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Oval 676"/>
          <p:cNvSpPr/>
          <p:nvPr/>
        </p:nvSpPr>
        <p:spPr>
          <a:xfrm>
            <a:off x="9670767" y="3449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Oval 677"/>
          <p:cNvSpPr/>
          <p:nvPr/>
        </p:nvSpPr>
        <p:spPr>
          <a:xfrm>
            <a:off x="9727496" y="340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Oval 678"/>
          <p:cNvSpPr/>
          <p:nvPr/>
        </p:nvSpPr>
        <p:spPr>
          <a:xfrm>
            <a:off x="9554291" y="3391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Oval 679"/>
          <p:cNvSpPr/>
          <p:nvPr/>
        </p:nvSpPr>
        <p:spPr>
          <a:xfrm>
            <a:off x="9699433" y="34010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Oval 680"/>
          <p:cNvSpPr/>
          <p:nvPr/>
        </p:nvSpPr>
        <p:spPr>
          <a:xfrm>
            <a:off x="9612831" y="34531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Oval 681"/>
          <p:cNvSpPr/>
          <p:nvPr/>
        </p:nvSpPr>
        <p:spPr>
          <a:xfrm>
            <a:off x="9757068" y="3458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Oval 682"/>
          <p:cNvSpPr/>
          <p:nvPr/>
        </p:nvSpPr>
        <p:spPr>
          <a:xfrm>
            <a:off x="9680423" y="3439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Oval 683"/>
          <p:cNvSpPr/>
          <p:nvPr/>
        </p:nvSpPr>
        <p:spPr>
          <a:xfrm>
            <a:off x="9122785" y="3463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Oval 684"/>
          <p:cNvSpPr/>
          <p:nvPr/>
        </p:nvSpPr>
        <p:spPr>
          <a:xfrm>
            <a:off x="9384706" y="3415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Oval 685"/>
          <p:cNvSpPr/>
          <p:nvPr/>
        </p:nvSpPr>
        <p:spPr>
          <a:xfrm>
            <a:off x="9647834" y="344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Oval 686"/>
          <p:cNvSpPr/>
          <p:nvPr/>
        </p:nvSpPr>
        <p:spPr>
          <a:xfrm>
            <a:off x="9442944" y="34403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Oval 687"/>
          <p:cNvSpPr/>
          <p:nvPr/>
        </p:nvSpPr>
        <p:spPr>
          <a:xfrm>
            <a:off x="9573603" y="34489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Oval 688"/>
          <p:cNvSpPr/>
          <p:nvPr/>
        </p:nvSpPr>
        <p:spPr>
          <a:xfrm>
            <a:off x="9318924" y="3479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Oval 689"/>
          <p:cNvSpPr/>
          <p:nvPr/>
        </p:nvSpPr>
        <p:spPr>
          <a:xfrm>
            <a:off x="9546143" y="34527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Oval 690"/>
          <p:cNvSpPr/>
          <p:nvPr/>
        </p:nvSpPr>
        <p:spPr>
          <a:xfrm>
            <a:off x="9575413" y="34544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Oval 691"/>
          <p:cNvSpPr/>
          <p:nvPr/>
        </p:nvSpPr>
        <p:spPr>
          <a:xfrm>
            <a:off x="9617659" y="3456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Oval 692"/>
          <p:cNvSpPr/>
          <p:nvPr/>
        </p:nvSpPr>
        <p:spPr>
          <a:xfrm>
            <a:off x="9746809" y="3436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Oval 693"/>
          <p:cNvSpPr/>
          <p:nvPr/>
        </p:nvSpPr>
        <p:spPr>
          <a:xfrm>
            <a:off x="9584768" y="34075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Oval 694"/>
          <p:cNvSpPr/>
          <p:nvPr/>
        </p:nvSpPr>
        <p:spPr>
          <a:xfrm>
            <a:off x="9418502" y="3475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Oval 695"/>
          <p:cNvSpPr/>
          <p:nvPr/>
        </p:nvSpPr>
        <p:spPr>
          <a:xfrm>
            <a:off x="9818022" y="347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Oval 696"/>
          <p:cNvSpPr/>
          <p:nvPr/>
        </p:nvSpPr>
        <p:spPr>
          <a:xfrm>
            <a:off x="9723272" y="3392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Oval 697"/>
          <p:cNvSpPr/>
          <p:nvPr/>
        </p:nvSpPr>
        <p:spPr>
          <a:xfrm>
            <a:off x="9690079" y="343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Oval 698"/>
          <p:cNvSpPr/>
          <p:nvPr/>
        </p:nvSpPr>
        <p:spPr>
          <a:xfrm>
            <a:off x="9556705" y="3433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Oval 699"/>
          <p:cNvSpPr/>
          <p:nvPr/>
        </p:nvSpPr>
        <p:spPr>
          <a:xfrm>
            <a:off x="9731117" y="345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Oval 700"/>
          <p:cNvSpPr/>
          <p:nvPr/>
        </p:nvSpPr>
        <p:spPr>
          <a:xfrm>
            <a:off x="9828885" y="33894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Oval 701"/>
          <p:cNvSpPr/>
          <p:nvPr/>
        </p:nvSpPr>
        <p:spPr>
          <a:xfrm>
            <a:off x="9418201" y="340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Oval 702"/>
          <p:cNvSpPr/>
          <p:nvPr/>
        </p:nvSpPr>
        <p:spPr>
          <a:xfrm>
            <a:off x="9710598" y="3467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Oval 703"/>
          <p:cNvSpPr/>
          <p:nvPr/>
        </p:nvSpPr>
        <p:spPr>
          <a:xfrm>
            <a:off x="9730816" y="3476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Oval 704"/>
          <p:cNvSpPr/>
          <p:nvPr/>
        </p:nvSpPr>
        <p:spPr>
          <a:xfrm>
            <a:off x="9485491" y="34816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Oval 705"/>
          <p:cNvSpPr/>
          <p:nvPr/>
        </p:nvSpPr>
        <p:spPr>
          <a:xfrm>
            <a:off x="9684044" y="34112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Oval 706"/>
          <p:cNvSpPr/>
          <p:nvPr/>
        </p:nvSpPr>
        <p:spPr>
          <a:xfrm>
            <a:off x="9706977" y="344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Oval 707"/>
          <p:cNvSpPr/>
          <p:nvPr/>
        </p:nvSpPr>
        <p:spPr>
          <a:xfrm>
            <a:off x="9850309" y="3461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Oval 708"/>
          <p:cNvSpPr/>
          <p:nvPr/>
        </p:nvSpPr>
        <p:spPr>
          <a:xfrm>
            <a:off x="9756766" y="3477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Oval 709"/>
          <p:cNvSpPr/>
          <p:nvPr/>
        </p:nvSpPr>
        <p:spPr>
          <a:xfrm>
            <a:off x="9747110" y="3437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Oval 710"/>
          <p:cNvSpPr/>
          <p:nvPr/>
        </p:nvSpPr>
        <p:spPr>
          <a:xfrm>
            <a:off x="9605890" y="342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Oval 711"/>
          <p:cNvSpPr/>
          <p:nvPr/>
        </p:nvSpPr>
        <p:spPr>
          <a:xfrm>
            <a:off x="9675595" y="34834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Oval 712"/>
          <p:cNvSpPr/>
          <p:nvPr/>
        </p:nvSpPr>
        <p:spPr>
          <a:xfrm>
            <a:off x="9566059" y="34327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Oval 713"/>
          <p:cNvSpPr/>
          <p:nvPr/>
        </p:nvSpPr>
        <p:spPr>
          <a:xfrm>
            <a:off x="9359661" y="34138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Oval 714"/>
          <p:cNvSpPr/>
          <p:nvPr/>
        </p:nvSpPr>
        <p:spPr>
          <a:xfrm>
            <a:off x="9783321" y="33956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Oval 715"/>
          <p:cNvSpPr/>
          <p:nvPr/>
        </p:nvSpPr>
        <p:spPr>
          <a:xfrm>
            <a:off x="9885614" y="3431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Oval 716"/>
          <p:cNvSpPr/>
          <p:nvPr/>
        </p:nvSpPr>
        <p:spPr>
          <a:xfrm>
            <a:off x="9686156" y="3388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Oval 717"/>
          <p:cNvSpPr/>
          <p:nvPr/>
        </p:nvSpPr>
        <p:spPr>
          <a:xfrm>
            <a:off x="9818927" y="34616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Oval 718"/>
          <p:cNvSpPr/>
          <p:nvPr/>
        </p:nvSpPr>
        <p:spPr>
          <a:xfrm>
            <a:off x="9739868" y="3478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Oval 719"/>
          <p:cNvSpPr/>
          <p:nvPr/>
        </p:nvSpPr>
        <p:spPr>
          <a:xfrm>
            <a:off x="9738058" y="3459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Oval 720"/>
          <p:cNvSpPr/>
          <p:nvPr/>
        </p:nvSpPr>
        <p:spPr>
          <a:xfrm>
            <a:off x="9708486" y="3459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Oval 721"/>
          <p:cNvSpPr/>
          <p:nvPr/>
        </p:nvSpPr>
        <p:spPr>
          <a:xfrm>
            <a:off x="9607399" y="3435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Oval 722"/>
          <p:cNvSpPr/>
          <p:nvPr/>
        </p:nvSpPr>
        <p:spPr>
          <a:xfrm>
            <a:off x="9640894" y="3398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Oval 723"/>
          <p:cNvSpPr/>
          <p:nvPr/>
        </p:nvSpPr>
        <p:spPr>
          <a:xfrm>
            <a:off x="9702753" y="3484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Oval 724"/>
          <p:cNvSpPr/>
          <p:nvPr/>
        </p:nvSpPr>
        <p:spPr>
          <a:xfrm>
            <a:off x="9693097" y="34781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Oval 725"/>
          <p:cNvSpPr/>
          <p:nvPr/>
        </p:nvSpPr>
        <p:spPr>
          <a:xfrm>
            <a:off x="9764310" y="3468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Oval 726"/>
          <p:cNvSpPr/>
          <p:nvPr/>
        </p:nvSpPr>
        <p:spPr>
          <a:xfrm>
            <a:off x="9575413" y="34190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Oval 727"/>
          <p:cNvSpPr/>
          <p:nvPr/>
        </p:nvSpPr>
        <p:spPr>
          <a:xfrm>
            <a:off x="9579336" y="34172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Oval 728"/>
          <p:cNvSpPr/>
          <p:nvPr/>
        </p:nvSpPr>
        <p:spPr>
          <a:xfrm>
            <a:off x="9774871" y="3478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Oval 729"/>
          <p:cNvSpPr/>
          <p:nvPr/>
        </p:nvSpPr>
        <p:spPr>
          <a:xfrm>
            <a:off x="9633652" y="3444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Oval 730"/>
          <p:cNvSpPr/>
          <p:nvPr/>
        </p:nvSpPr>
        <p:spPr>
          <a:xfrm>
            <a:off x="9690079" y="34266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Oval 731"/>
          <p:cNvSpPr/>
          <p:nvPr/>
        </p:nvSpPr>
        <p:spPr>
          <a:xfrm>
            <a:off x="9497863" y="34870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Oval 732"/>
          <p:cNvSpPr/>
          <p:nvPr/>
        </p:nvSpPr>
        <p:spPr>
          <a:xfrm>
            <a:off x="9439927" y="3466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Oval 733"/>
          <p:cNvSpPr/>
          <p:nvPr/>
        </p:nvSpPr>
        <p:spPr>
          <a:xfrm>
            <a:off x="9690984" y="34710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Oval 734"/>
          <p:cNvSpPr/>
          <p:nvPr/>
        </p:nvSpPr>
        <p:spPr>
          <a:xfrm>
            <a:off x="9623090" y="34248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Oval 735"/>
          <p:cNvSpPr/>
          <p:nvPr/>
        </p:nvSpPr>
        <p:spPr>
          <a:xfrm>
            <a:off x="9327675" y="3439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Oval 736"/>
          <p:cNvSpPr/>
          <p:nvPr/>
        </p:nvSpPr>
        <p:spPr>
          <a:xfrm>
            <a:off x="9621581" y="3399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Oval 737"/>
          <p:cNvSpPr/>
          <p:nvPr/>
        </p:nvSpPr>
        <p:spPr>
          <a:xfrm>
            <a:off x="9644816" y="34706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Oval 738"/>
          <p:cNvSpPr/>
          <p:nvPr/>
        </p:nvSpPr>
        <p:spPr>
          <a:xfrm>
            <a:off x="9378973" y="3486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Oval 739"/>
          <p:cNvSpPr/>
          <p:nvPr/>
        </p:nvSpPr>
        <p:spPr>
          <a:xfrm>
            <a:off x="9386215" y="34225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Oval 740"/>
          <p:cNvSpPr/>
          <p:nvPr/>
        </p:nvSpPr>
        <p:spPr>
          <a:xfrm>
            <a:off x="9660507" y="3477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Oval 741"/>
          <p:cNvSpPr/>
          <p:nvPr/>
        </p:nvSpPr>
        <p:spPr>
          <a:xfrm>
            <a:off x="9589898" y="33972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Oval 742"/>
          <p:cNvSpPr/>
          <p:nvPr/>
        </p:nvSpPr>
        <p:spPr>
          <a:xfrm>
            <a:off x="9101361" y="3430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Oval 743"/>
          <p:cNvSpPr/>
          <p:nvPr/>
        </p:nvSpPr>
        <p:spPr>
          <a:xfrm>
            <a:off x="9669258" y="343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Oval 744"/>
          <p:cNvSpPr/>
          <p:nvPr/>
        </p:nvSpPr>
        <p:spPr>
          <a:xfrm>
            <a:off x="9621280" y="3472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Oval 745"/>
          <p:cNvSpPr/>
          <p:nvPr/>
        </p:nvSpPr>
        <p:spPr>
          <a:xfrm>
            <a:off x="9288749" y="345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Oval 746"/>
          <p:cNvSpPr/>
          <p:nvPr/>
        </p:nvSpPr>
        <p:spPr>
          <a:xfrm>
            <a:off x="9151150" y="34172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Oval 747"/>
          <p:cNvSpPr/>
          <p:nvPr/>
        </p:nvSpPr>
        <p:spPr>
          <a:xfrm>
            <a:off x="9560929" y="34030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Oval 748"/>
          <p:cNvSpPr/>
          <p:nvPr/>
        </p:nvSpPr>
        <p:spPr>
          <a:xfrm>
            <a:off x="9422727" y="3388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Oval 749"/>
          <p:cNvSpPr/>
          <p:nvPr/>
        </p:nvSpPr>
        <p:spPr>
          <a:xfrm>
            <a:off x="9461955" y="3390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Oval 750"/>
          <p:cNvSpPr/>
          <p:nvPr/>
        </p:nvSpPr>
        <p:spPr>
          <a:xfrm>
            <a:off x="9370222" y="3456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Oval 751"/>
          <p:cNvSpPr/>
          <p:nvPr/>
        </p:nvSpPr>
        <p:spPr>
          <a:xfrm>
            <a:off x="9799313" y="34862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Oval 752"/>
          <p:cNvSpPr/>
          <p:nvPr/>
        </p:nvSpPr>
        <p:spPr>
          <a:xfrm>
            <a:off x="9917902" y="3451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Oval 753"/>
          <p:cNvSpPr/>
          <p:nvPr/>
        </p:nvSpPr>
        <p:spPr>
          <a:xfrm>
            <a:off x="9581448" y="345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Oval 754"/>
          <p:cNvSpPr/>
          <p:nvPr/>
        </p:nvSpPr>
        <p:spPr>
          <a:xfrm>
            <a:off x="9912169" y="3412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Oval 755"/>
          <p:cNvSpPr/>
          <p:nvPr/>
        </p:nvSpPr>
        <p:spPr>
          <a:xfrm>
            <a:off x="9850309" y="3440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Oval 756"/>
          <p:cNvSpPr/>
          <p:nvPr/>
        </p:nvSpPr>
        <p:spPr>
          <a:xfrm>
            <a:off x="9599252" y="3411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Oval 757"/>
          <p:cNvSpPr/>
          <p:nvPr/>
        </p:nvSpPr>
        <p:spPr>
          <a:xfrm>
            <a:off x="9263402" y="3479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Oval 758"/>
          <p:cNvSpPr/>
          <p:nvPr/>
        </p:nvSpPr>
        <p:spPr>
          <a:xfrm>
            <a:off x="9771854" y="3450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Oval 759"/>
          <p:cNvSpPr/>
          <p:nvPr/>
        </p:nvSpPr>
        <p:spPr>
          <a:xfrm>
            <a:off x="9841860" y="339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Oval 760"/>
          <p:cNvSpPr/>
          <p:nvPr/>
        </p:nvSpPr>
        <p:spPr>
          <a:xfrm>
            <a:off x="9807159" y="338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Oval 761"/>
          <p:cNvSpPr/>
          <p:nvPr/>
        </p:nvSpPr>
        <p:spPr>
          <a:xfrm>
            <a:off x="9657490" y="3430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Oval 762"/>
          <p:cNvSpPr/>
          <p:nvPr/>
        </p:nvSpPr>
        <p:spPr>
          <a:xfrm>
            <a:off x="9718444" y="340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Oval 763"/>
          <p:cNvSpPr/>
          <p:nvPr/>
        </p:nvSpPr>
        <p:spPr>
          <a:xfrm>
            <a:off x="9715728" y="3418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Oval 764"/>
          <p:cNvSpPr/>
          <p:nvPr/>
        </p:nvSpPr>
        <p:spPr>
          <a:xfrm>
            <a:off x="9651153" y="3409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Oval 765"/>
          <p:cNvSpPr/>
          <p:nvPr/>
        </p:nvSpPr>
        <p:spPr>
          <a:xfrm>
            <a:off x="9702149" y="362324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Oval 766"/>
          <p:cNvSpPr/>
          <p:nvPr/>
        </p:nvSpPr>
        <p:spPr>
          <a:xfrm>
            <a:off x="9362980" y="3689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Oval 767"/>
          <p:cNvSpPr/>
          <p:nvPr/>
        </p:nvSpPr>
        <p:spPr>
          <a:xfrm>
            <a:off x="9264005" y="36112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Oval 768"/>
          <p:cNvSpPr/>
          <p:nvPr/>
        </p:nvSpPr>
        <p:spPr>
          <a:xfrm>
            <a:off x="9687665" y="36338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Oval 769"/>
          <p:cNvSpPr/>
          <p:nvPr/>
        </p:nvSpPr>
        <p:spPr>
          <a:xfrm>
            <a:off x="8547948" y="3668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Oval 770"/>
          <p:cNvSpPr/>
          <p:nvPr/>
        </p:nvSpPr>
        <p:spPr>
          <a:xfrm>
            <a:off x="9210294" y="36266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Oval 771"/>
          <p:cNvSpPr/>
          <p:nvPr/>
        </p:nvSpPr>
        <p:spPr>
          <a:xfrm>
            <a:off x="9210595" y="36201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Oval 772"/>
          <p:cNvSpPr/>
          <p:nvPr/>
        </p:nvSpPr>
        <p:spPr>
          <a:xfrm>
            <a:off x="9722970" y="36833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Oval 773"/>
          <p:cNvSpPr/>
          <p:nvPr/>
        </p:nvSpPr>
        <p:spPr>
          <a:xfrm>
            <a:off x="9371127" y="367719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TextBox 77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123 of 123</a:t>
            </a:r>
          </a:p>
          <a:p>
            <a:pPr algn="l">
              <a:lnSpc>
                <a:spcPct val="109000"/>
              </a:lnSpc>
              <a:spcBef>
                <a:spcPts val="0"/>
              </a:spcBef>
              <a:spcAft>
                <a:spcPts val="0"/>
              </a:spcAft>
            </a:pPr>
            <a:r>
              <a:rPr sz="1250" b="0">
                <a:solidFill>
                  <a:srgbClr val="00407A"/>
                </a:solidFill>
                <a:latin typeface="Arial"/>
              </a:rPr>
              <a:t>are “yes”</a:t>
            </a:r>
          </a:p>
        </p:txBody>
      </p:sp>
      <p:sp>
        <p:nvSpPr>
          <p:cNvPr id="776" name="TextBox 77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77" name="Oval 776"/>
          <p:cNvSpPr/>
          <p:nvPr/>
        </p:nvSpPr>
        <p:spPr>
          <a:xfrm>
            <a:off x="9752542" y="3923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Oval 777"/>
          <p:cNvSpPr/>
          <p:nvPr/>
        </p:nvSpPr>
        <p:spPr>
          <a:xfrm>
            <a:off x="9657188" y="3981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Oval 778"/>
          <p:cNvSpPr/>
          <p:nvPr/>
        </p:nvSpPr>
        <p:spPr>
          <a:xfrm>
            <a:off x="9604985" y="3980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Oval 779"/>
          <p:cNvSpPr/>
          <p:nvPr/>
        </p:nvSpPr>
        <p:spPr>
          <a:xfrm>
            <a:off x="9468291" y="3935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Oval 780"/>
          <p:cNvSpPr/>
          <p:nvPr/>
        </p:nvSpPr>
        <p:spPr>
          <a:xfrm>
            <a:off x="9681932" y="39754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Oval 781"/>
          <p:cNvSpPr/>
          <p:nvPr/>
        </p:nvSpPr>
        <p:spPr>
          <a:xfrm>
            <a:off x="9736247" y="39666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Oval 782"/>
          <p:cNvSpPr/>
          <p:nvPr/>
        </p:nvSpPr>
        <p:spPr>
          <a:xfrm>
            <a:off x="9570284" y="39662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Oval 783"/>
          <p:cNvSpPr/>
          <p:nvPr/>
        </p:nvSpPr>
        <p:spPr>
          <a:xfrm>
            <a:off x="9659300" y="3945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Oval 784"/>
          <p:cNvSpPr/>
          <p:nvPr/>
        </p:nvSpPr>
        <p:spPr>
          <a:xfrm>
            <a:off x="9629125" y="390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Oval 785"/>
          <p:cNvSpPr/>
          <p:nvPr/>
        </p:nvSpPr>
        <p:spPr>
          <a:xfrm>
            <a:off x="9662922" y="3921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Oval 786"/>
          <p:cNvSpPr/>
          <p:nvPr/>
        </p:nvSpPr>
        <p:spPr>
          <a:xfrm>
            <a:off x="9602873" y="39612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Oval 787"/>
          <p:cNvSpPr/>
          <p:nvPr/>
        </p:nvSpPr>
        <p:spPr>
          <a:xfrm>
            <a:off x="9691286" y="39425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Oval 788"/>
          <p:cNvSpPr/>
          <p:nvPr/>
        </p:nvSpPr>
        <p:spPr>
          <a:xfrm>
            <a:off x="9581750" y="39664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Oval 789"/>
          <p:cNvSpPr/>
          <p:nvPr/>
        </p:nvSpPr>
        <p:spPr>
          <a:xfrm>
            <a:off x="9624901" y="3961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Oval 790"/>
          <p:cNvSpPr/>
          <p:nvPr/>
        </p:nvSpPr>
        <p:spPr>
          <a:xfrm>
            <a:off x="9544635" y="398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Oval 791"/>
          <p:cNvSpPr/>
          <p:nvPr/>
        </p:nvSpPr>
        <p:spPr>
          <a:xfrm>
            <a:off x="9450790" y="39785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Oval 792"/>
          <p:cNvSpPr/>
          <p:nvPr/>
        </p:nvSpPr>
        <p:spPr>
          <a:xfrm>
            <a:off x="9575715" y="3982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Oval 793"/>
          <p:cNvSpPr/>
          <p:nvPr/>
        </p:nvSpPr>
        <p:spPr>
          <a:xfrm>
            <a:off x="9427253" y="3971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Oval 794"/>
          <p:cNvSpPr/>
          <p:nvPr/>
        </p:nvSpPr>
        <p:spPr>
          <a:xfrm>
            <a:off x="9569077" y="38959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Oval 795"/>
          <p:cNvSpPr/>
          <p:nvPr/>
        </p:nvSpPr>
        <p:spPr>
          <a:xfrm>
            <a:off x="9671672" y="39569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Oval 796"/>
          <p:cNvSpPr/>
          <p:nvPr/>
        </p:nvSpPr>
        <p:spPr>
          <a:xfrm>
            <a:off x="9531056" y="3974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Oval 797"/>
          <p:cNvSpPr/>
          <p:nvPr/>
        </p:nvSpPr>
        <p:spPr>
          <a:xfrm>
            <a:off x="9573905" y="3988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Oval 798"/>
          <p:cNvSpPr/>
          <p:nvPr/>
        </p:nvSpPr>
        <p:spPr>
          <a:xfrm>
            <a:off x="9651757" y="3958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Oval 799"/>
          <p:cNvSpPr/>
          <p:nvPr/>
        </p:nvSpPr>
        <p:spPr>
          <a:xfrm>
            <a:off x="9617960" y="3904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Oval 800"/>
          <p:cNvSpPr/>
          <p:nvPr/>
        </p:nvSpPr>
        <p:spPr>
          <a:xfrm>
            <a:off x="9499372" y="3930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Oval 801"/>
          <p:cNvSpPr/>
          <p:nvPr/>
        </p:nvSpPr>
        <p:spPr>
          <a:xfrm>
            <a:off x="9513554" y="395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Oval 802"/>
          <p:cNvSpPr/>
          <p:nvPr/>
        </p:nvSpPr>
        <p:spPr>
          <a:xfrm>
            <a:off x="9619771" y="391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Oval 803"/>
          <p:cNvSpPr/>
          <p:nvPr/>
        </p:nvSpPr>
        <p:spPr>
          <a:xfrm>
            <a:off x="9439625" y="3894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Oval 804"/>
          <p:cNvSpPr/>
          <p:nvPr/>
        </p:nvSpPr>
        <p:spPr>
          <a:xfrm>
            <a:off x="9533772" y="39039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Oval 805"/>
          <p:cNvSpPr/>
          <p:nvPr/>
        </p:nvSpPr>
        <p:spPr>
          <a:xfrm>
            <a:off x="9517779" y="39560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Oval 806"/>
          <p:cNvSpPr/>
          <p:nvPr/>
        </p:nvSpPr>
        <p:spPr>
          <a:xfrm>
            <a:off x="9572396" y="39616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Oval 807"/>
          <p:cNvSpPr/>
          <p:nvPr/>
        </p:nvSpPr>
        <p:spPr>
          <a:xfrm>
            <a:off x="9649644" y="3942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Oval 808"/>
          <p:cNvSpPr/>
          <p:nvPr/>
        </p:nvSpPr>
        <p:spPr>
          <a:xfrm>
            <a:off x="9328580" y="3966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Oval 809"/>
          <p:cNvSpPr/>
          <p:nvPr/>
        </p:nvSpPr>
        <p:spPr>
          <a:xfrm>
            <a:off x="9438418" y="3918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Oval 810"/>
          <p:cNvSpPr/>
          <p:nvPr/>
        </p:nvSpPr>
        <p:spPr>
          <a:xfrm>
            <a:off x="9637574" y="395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Oval 811"/>
          <p:cNvSpPr/>
          <p:nvPr/>
        </p:nvSpPr>
        <p:spPr>
          <a:xfrm>
            <a:off x="9285732" y="39433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Oval 812"/>
          <p:cNvSpPr/>
          <p:nvPr/>
        </p:nvSpPr>
        <p:spPr>
          <a:xfrm>
            <a:off x="9451092" y="39519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Oval 813"/>
          <p:cNvSpPr/>
          <p:nvPr/>
        </p:nvSpPr>
        <p:spPr>
          <a:xfrm>
            <a:off x="9442039" y="3981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Oval 814"/>
          <p:cNvSpPr/>
          <p:nvPr/>
        </p:nvSpPr>
        <p:spPr>
          <a:xfrm>
            <a:off x="9573603" y="39557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Oval 815"/>
          <p:cNvSpPr/>
          <p:nvPr/>
        </p:nvSpPr>
        <p:spPr>
          <a:xfrm>
            <a:off x="9445962" y="39574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Oval 816"/>
          <p:cNvSpPr/>
          <p:nvPr/>
        </p:nvSpPr>
        <p:spPr>
          <a:xfrm>
            <a:off x="9576620" y="3959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Oval 817"/>
          <p:cNvSpPr/>
          <p:nvPr/>
        </p:nvSpPr>
        <p:spPr>
          <a:xfrm>
            <a:off x="9636971" y="3939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Oval 818"/>
          <p:cNvSpPr/>
          <p:nvPr/>
        </p:nvSpPr>
        <p:spPr>
          <a:xfrm>
            <a:off x="9598347" y="39104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Oval 819"/>
          <p:cNvSpPr/>
          <p:nvPr/>
        </p:nvSpPr>
        <p:spPr>
          <a:xfrm>
            <a:off x="9600761" y="39782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Oval 820"/>
          <p:cNvSpPr/>
          <p:nvPr/>
        </p:nvSpPr>
        <p:spPr>
          <a:xfrm>
            <a:off x="9720254" y="397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Oval 821"/>
          <p:cNvSpPr/>
          <p:nvPr/>
        </p:nvSpPr>
        <p:spPr>
          <a:xfrm>
            <a:off x="9658697" y="38955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Oval 822"/>
          <p:cNvSpPr/>
          <p:nvPr/>
        </p:nvSpPr>
        <p:spPr>
          <a:xfrm>
            <a:off x="9672578" y="3933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Oval 823"/>
          <p:cNvSpPr/>
          <p:nvPr/>
        </p:nvSpPr>
        <p:spPr>
          <a:xfrm>
            <a:off x="9387422" y="3935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Oval 824"/>
          <p:cNvSpPr/>
          <p:nvPr/>
        </p:nvSpPr>
        <p:spPr>
          <a:xfrm>
            <a:off x="9643006" y="3957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Oval 825"/>
          <p:cNvSpPr/>
          <p:nvPr/>
        </p:nvSpPr>
        <p:spPr>
          <a:xfrm>
            <a:off x="9725384" y="38923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Oval 826"/>
          <p:cNvSpPr/>
          <p:nvPr/>
        </p:nvSpPr>
        <p:spPr>
          <a:xfrm>
            <a:off x="9070884" y="390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Oval 827"/>
          <p:cNvSpPr/>
          <p:nvPr/>
        </p:nvSpPr>
        <p:spPr>
          <a:xfrm>
            <a:off x="9580543" y="3970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Oval 828"/>
          <p:cNvSpPr/>
          <p:nvPr/>
        </p:nvSpPr>
        <p:spPr>
          <a:xfrm>
            <a:off x="9600459" y="3979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Oval 829"/>
          <p:cNvSpPr/>
          <p:nvPr/>
        </p:nvSpPr>
        <p:spPr>
          <a:xfrm>
            <a:off x="9393457" y="39845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Oval 830"/>
          <p:cNvSpPr/>
          <p:nvPr/>
        </p:nvSpPr>
        <p:spPr>
          <a:xfrm>
            <a:off x="9495751" y="39141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Oval 831"/>
          <p:cNvSpPr/>
          <p:nvPr/>
        </p:nvSpPr>
        <p:spPr>
          <a:xfrm>
            <a:off x="9597743" y="39477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Oval 832"/>
          <p:cNvSpPr/>
          <p:nvPr/>
        </p:nvSpPr>
        <p:spPr>
          <a:xfrm>
            <a:off x="9773363" y="3963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Oval 833"/>
          <p:cNvSpPr/>
          <p:nvPr/>
        </p:nvSpPr>
        <p:spPr>
          <a:xfrm>
            <a:off x="9655378" y="3980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Oval 834"/>
          <p:cNvSpPr/>
          <p:nvPr/>
        </p:nvSpPr>
        <p:spPr>
          <a:xfrm>
            <a:off x="9603476" y="39404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Oval 835"/>
          <p:cNvSpPr/>
          <p:nvPr/>
        </p:nvSpPr>
        <p:spPr>
          <a:xfrm>
            <a:off x="9600459" y="393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Oval 836"/>
          <p:cNvSpPr/>
          <p:nvPr/>
        </p:nvSpPr>
        <p:spPr>
          <a:xfrm>
            <a:off x="9607399" y="39863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Oval 837"/>
          <p:cNvSpPr/>
          <p:nvPr/>
        </p:nvSpPr>
        <p:spPr>
          <a:xfrm>
            <a:off x="9551877" y="3935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Oval 838"/>
          <p:cNvSpPr/>
          <p:nvPr/>
        </p:nvSpPr>
        <p:spPr>
          <a:xfrm>
            <a:off x="9502389" y="39167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Oval 839"/>
          <p:cNvSpPr/>
          <p:nvPr/>
        </p:nvSpPr>
        <p:spPr>
          <a:xfrm>
            <a:off x="9671974" y="3898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Oval 840"/>
          <p:cNvSpPr/>
          <p:nvPr/>
        </p:nvSpPr>
        <p:spPr>
          <a:xfrm>
            <a:off x="9770043" y="39342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Oval 841"/>
          <p:cNvSpPr/>
          <p:nvPr/>
        </p:nvSpPr>
        <p:spPr>
          <a:xfrm>
            <a:off x="9430874" y="3891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Oval 842"/>
          <p:cNvSpPr/>
          <p:nvPr/>
        </p:nvSpPr>
        <p:spPr>
          <a:xfrm>
            <a:off x="9393155" y="39645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Oval 843"/>
          <p:cNvSpPr/>
          <p:nvPr/>
        </p:nvSpPr>
        <p:spPr>
          <a:xfrm>
            <a:off x="9611322" y="3981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Oval 844"/>
          <p:cNvSpPr/>
          <p:nvPr/>
        </p:nvSpPr>
        <p:spPr>
          <a:xfrm>
            <a:off x="9564852" y="3962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Oval 845"/>
          <p:cNvSpPr/>
          <p:nvPr/>
        </p:nvSpPr>
        <p:spPr>
          <a:xfrm>
            <a:off x="9588389" y="3962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Oval 846"/>
          <p:cNvSpPr/>
          <p:nvPr/>
        </p:nvSpPr>
        <p:spPr>
          <a:xfrm>
            <a:off x="9381689" y="3938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Oval 847"/>
          <p:cNvSpPr/>
          <p:nvPr/>
        </p:nvSpPr>
        <p:spPr>
          <a:xfrm>
            <a:off x="9592915" y="3901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Oval 848"/>
          <p:cNvSpPr/>
          <p:nvPr/>
        </p:nvSpPr>
        <p:spPr>
          <a:xfrm>
            <a:off x="9624901" y="3987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Oval 849"/>
          <p:cNvSpPr/>
          <p:nvPr/>
        </p:nvSpPr>
        <p:spPr>
          <a:xfrm>
            <a:off x="9583259" y="3981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Oval 850"/>
          <p:cNvSpPr/>
          <p:nvPr/>
        </p:nvSpPr>
        <p:spPr>
          <a:xfrm>
            <a:off x="9650550" y="39709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Oval 851"/>
          <p:cNvSpPr/>
          <p:nvPr/>
        </p:nvSpPr>
        <p:spPr>
          <a:xfrm>
            <a:off x="9619771" y="39219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Oval 852"/>
          <p:cNvSpPr/>
          <p:nvPr/>
        </p:nvSpPr>
        <p:spPr>
          <a:xfrm>
            <a:off x="9404320" y="39201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Oval 853"/>
          <p:cNvSpPr/>
          <p:nvPr/>
        </p:nvSpPr>
        <p:spPr>
          <a:xfrm>
            <a:off x="9674992" y="3981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Oval 854"/>
          <p:cNvSpPr/>
          <p:nvPr/>
        </p:nvSpPr>
        <p:spPr>
          <a:xfrm>
            <a:off x="9443548" y="3947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Oval 855"/>
          <p:cNvSpPr/>
          <p:nvPr/>
        </p:nvSpPr>
        <p:spPr>
          <a:xfrm>
            <a:off x="9423934" y="39295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Oval 856"/>
          <p:cNvSpPr/>
          <p:nvPr/>
        </p:nvSpPr>
        <p:spPr>
          <a:xfrm>
            <a:off x="9451695" y="3989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Oval 857"/>
          <p:cNvSpPr/>
          <p:nvPr/>
        </p:nvSpPr>
        <p:spPr>
          <a:xfrm>
            <a:off x="9350306" y="3969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Oval 858"/>
          <p:cNvSpPr/>
          <p:nvPr/>
        </p:nvSpPr>
        <p:spPr>
          <a:xfrm>
            <a:off x="9655076" y="39739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Oval 859"/>
          <p:cNvSpPr/>
          <p:nvPr/>
        </p:nvSpPr>
        <p:spPr>
          <a:xfrm>
            <a:off x="9591708" y="3927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Oval 860"/>
          <p:cNvSpPr/>
          <p:nvPr/>
        </p:nvSpPr>
        <p:spPr>
          <a:xfrm>
            <a:off x="9447169" y="3942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Oval 861"/>
          <p:cNvSpPr/>
          <p:nvPr/>
        </p:nvSpPr>
        <p:spPr>
          <a:xfrm>
            <a:off x="9569077" y="3902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Oval 862"/>
          <p:cNvSpPr/>
          <p:nvPr/>
        </p:nvSpPr>
        <p:spPr>
          <a:xfrm>
            <a:off x="9642704" y="39736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Oval 863"/>
          <p:cNvSpPr/>
          <p:nvPr/>
        </p:nvSpPr>
        <p:spPr>
          <a:xfrm>
            <a:off x="9433892" y="3989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Oval 864"/>
          <p:cNvSpPr/>
          <p:nvPr/>
        </p:nvSpPr>
        <p:spPr>
          <a:xfrm>
            <a:off x="9433590" y="39254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Oval 865"/>
          <p:cNvSpPr/>
          <p:nvPr/>
        </p:nvSpPr>
        <p:spPr>
          <a:xfrm>
            <a:off x="9572094" y="3980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Oval 866"/>
          <p:cNvSpPr/>
          <p:nvPr/>
        </p:nvSpPr>
        <p:spPr>
          <a:xfrm>
            <a:off x="9157185" y="39001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Oval 867"/>
          <p:cNvSpPr/>
          <p:nvPr/>
        </p:nvSpPr>
        <p:spPr>
          <a:xfrm>
            <a:off x="8667442" y="3933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Oval 868"/>
          <p:cNvSpPr/>
          <p:nvPr/>
        </p:nvSpPr>
        <p:spPr>
          <a:xfrm>
            <a:off x="9667146" y="39394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Oval 869"/>
          <p:cNvSpPr/>
          <p:nvPr/>
        </p:nvSpPr>
        <p:spPr>
          <a:xfrm>
            <a:off x="9322847" y="3974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Oval 870"/>
          <p:cNvSpPr/>
          <p:nvPr/>
        </p:nvSpPr>
        <p:spPr>
          <a:xfrm>
            <a:off x="9458032" y="395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Oval 871"/>
          <p:cNvSpPr/>
          <p:nvPr/>
        </p:nvSpPr>
        <p:spPr>
          <a:xfrm>
            <a:off x="9423632" y="39201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Oval 872"/>
          <p:cNvSpPr/>
          <p:nvPr/>
        </p:nvSpPr>
        <p:spPr>
          <a:xfrm>
            <a:off x="9546747" y="39059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Oval 873"/>
          <p:cNvSpPr/>
          <p:nvPr/>
        </p:nvSpPr>
        <p:spPr>
          <a:xfrm>
            <a:off x="9513554" y="3891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Oval 874"/>
          <p:cNvSpPr/>
          <p:nvPr/>
        </p:nvSpPr>
        <p:spPr>
          <a:xfrm>
            <a:off x="9440530" y="3893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Oval 875"/>
          <p:cNvSpPr/>
          <p:nvPr/>
        </p:nvSpPr>
        <p:spPr>
          <a:xfrm>
            <a:off x="9359962" y="3959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Oval 876"/>
          <p:cNvSpPr/>
          <p:nvPr/>
        </p:nvSpPr>
        <p:spPr>
          <a:xfrm>
            <a:off x="9753749" y="39891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Oval 877"/>
          <p:cNvSpPr/>
          <p:nvPr/>
        </p:nvSpPr>
        <p:spPr>
          <a:xfrm>
            <a:off x="9736851" y="3954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Oval 878"/>
          <p:cNvSpPr/>
          <p:nvPr/>
        </p:nvSpPr>
        <p:spPr>
          <a:xfrm>
            <a:off x="9534677" y="395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Oval 879"/>
          <p:cNvSpPr/>
          <p:nvPr/>
        </p:nvSpPr>
        <p:spPr>
          <a:xfrm>
            <a:off x="9815910" y="3915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Oval 880"/>
          <p:cNvSpPr/>
          <p:nvPr/>
        </p:nvSpPr>
        <p:spPr>
          <a:xfrm>
            <a:off x="9732023" y="3943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Oval 881"/>
          <p:cNvSpPr/>
          <p:nvPr/>
        </p:nvSpPr>
        <p:spPr>
          <a:xfrm>
            <a:off x="9544333" y="39139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Oval 882"/>
          <p:cNvSpPr/>
          <p:nvPr/>
        </p:nvSpPr>
        <p:spPr>
          <a:xfrm>
            <a:off x="9355738" y="3982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Oval 883"/>
          <p:cNvSpPr/>
          <p:nvPr/>
        </p:nvSpPr>
        <p:spPr>
          <a:xfrm>
            <a:off x="9716633" y="3953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Oval 884"/>
          <p:cNvSpPr/>
          <p:nvPr/>
        </p:nvSpPr>
        <p:spPr>
          <a:xfrm>
            <a:off x="9760689" y="389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Oval 885"/>
          <p:cNvSpPr/>
          <p:nvPr/>
        </p:nvSpPr>
        <p:spPr>
          <a:xfrm>
            <a:off x="9764914" y="389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Oval 886"/>
          <p:cNvSpPr/>
          <p:nvPr/>
        </p:nvSpPr>
        <p:spPr>
          <a:xfrm>
            <a:off x="9464972" y="3933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Oval 887"/>
          <p:cNvSpPr/>
          <p:nvPr/>
        </p:nvSpPr>
        <p:spPr>
          <a:xfrm>
            <a:off x="9610417" y="39045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Oval 888"/>
          <p:cNvSpPr/>
          <p:nvPr/>
        </p:nvSpPr>
        <p:spPr>
          <a:xfrm>
            <a:off x="9620978" y="3921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Oval 889"/>
          <p:cNvSpPr/>
          <p:nvPr/>
        </p:nvSpPr>
        <p:spPr>
          <a:xfrm>
            <a:off x="9585371" y="3912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Oval 890"/>
          <p:cNvSpPr/>
          <p:nvPr/>
        </p:nvSpPr>
        <p:spPr>
          <a:xfrm>
            <a:off x="9576319" y="4126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Oval 891"/>
          <p:cNvSpPr/>
          <p:nvPr/>
        </p:nvSpPr>
        <p:spPr>
          <a:xfrm>
            <a:off x="9518081" y="4191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Oval 892"/>
          <p:cNvSpPr/>
          <p:nvPr/>
        </p:nvSpPr>
        <p:spPr>
          <a:xfrm>
            <a:off x="8163516" y="4114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Oval 893"/>
          <p:cNvSpPr/>
          <p:nvPr/>
        </p:nvSpPr>
        <p:spPr>
          <a:xfrm>
            <a:off x="9655981" y="41368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Oval 894"/>
          <p:cNvSpPr/>
          <p:nvPr/>
        </p:nvSpPr>
        <p:spPr>
          <a:xfrm>
            <a:off x="8034668" y="4171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Oval 895"/>
          <p:cNvSpPr/>
          <p:nvPr/>
        </p:nvSpPr>
        <p:spPr>
          <a:xfrm>
            <a:off x="9563947" y="41295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Oval 896"/>
          <p:cNvSpPr/>
          <p:nvPr/>
        </p:nvSpPr>
        <p:spPr>
          <a:xfrm>
            <a:off x="8989411" y="41231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Oval 897"/>
          <p:cNvSpPr/>
          <p:nvPr/>
        </p:nvSpPr>
        <p:spPr>
          <a:xfrm>
            <a:off x="9640894" y="41862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Oval 898"/>
          <p:cNvSpPr/>
          <p:nvPr/>
        </p:nvSpPr>
        <p:spPr>
          <a:xfrm>
            <a:off x="9103775" y="418011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TextBox 899"/>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121 of 123</a:t>
            </a:r>
          </a:p>
          <a:p>
            <a:pPr algn="l">
              <a:lnSpc>
                <a:spcPct val="109000"/>
              </a:lnSpc>
              <a:spcBef>
                <a:spcPts val="0"/>
              </a:spcBef>
              <a:spcAft>
                <a:spcPts val="0"/>
              </a:spcAft>
            </a:pPr>
            <a:r>
              <a:rPr sz="1250" b="0">
                <a:solidFill>
                  <a:srgbClr val="00407A"/>
                </a:solidFill>
                <a:latin typeface="Arial"/>
              </a:rPr>
              <a:t>are “yes”</a:t>
            </a:r>
          </a:p>
        </p:txBody>
      </p:sp>
      <p:sp>
        <p:nvSpPr>
          <p:cNvPr id="901" name="TextBox 900"/>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902" name="Oval 901"/>
          <p:cNvSpPr/>
          <p:nvPr/>
        </p:nvSpPr>
        <p:spPr>
          <a:xfrm>
            <a:off x="9932386" y="4426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Oval 902"/>
          <p:cNvSpPr/>
          <p:nvPr/>
        </p:nvSpPr>
        <p:spPr>
          <a:xfrm>
            <a:off x="9458937" y="448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9027734" y="4482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Oval 904"/>
          <p:cNvSpPr/>
          <p:nvPr/>
        </p:nvSpPr>
        <p:spPr>
          <a:xfrm>
            <a:off x="9545540" y="4438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Oval 905"/>
          <p:cNvSpPr/>
          <p:nvPr/>
        </p:nvSpPr>
        <p:spPr>
          <a:xfrm>
            <a:off x="9908246" y="44783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Oval 906"/>
          <p:cNvSpPr/>
          <p:nvPr/>
        </p:nvSpPr>
        <p:spPr>
          <a:xfrm>
            <a:off x="8703954" y="44695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Oval 907"/>
          <p:cNvSpPr/>
          <p:nvPr/>
        </p:nvSpPr>
        <p:spPr>
          <a:xfrm>
            <a:off x="9881993" y="4469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Oval 908"/>
          <p:cNvSpPr/>
          <p:nvPr/>
        </p:nvSpPr>
        <p:spPr>
          <a:xfrm>
            <a:off x="9833713" y="4448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Oval 909"/>
          <p:cNvSpPr/>
          <p:nvPr/>
        </p:nvSpPr>
        <p:spPr>
          <a:xfrm>
            <a:off x="9467386" y="441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9915488" y="4424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Oval 911"/>
          <p:cNvSpPr/>
          <p:nvPr/>
        </p:nvSpPr>
        <p:spPr>
          <a:xfrm>
            <a:off x="9557912" y="4464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Oval 912"/>
          <p:cNvSpPr/>
          <p:nvPr/>
        </p:nvSpPr>
        <p:spPr>
          <a:xfrm>
            <a:off x="9704563" y="44454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Oval 913"/>
          <p:cNvSpPr/>
          <p:nvPr/>
        </p:nvSpPr>
        <p:spPr>
          <a:xfrm>
            <a:off x="9746205" y="4469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Oval 914"/>
          <p:cNvSpPr/>
          <p:nvPr/>
        </p:nvSpPr>
        <p:spPr>
          <a:xfrm>
            <a:off x="9580241" y="4464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Oval 915"/>
          <p:cNvSpPr/>
          <p:nvPr/>
        </p:nvSpPr>
        <p:spPr>
          <a:xfrm>
            <a:off x="9549463" y="449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Oval 916"/>
          <p:cNvSpPr/>
          <p:nvPr/>
        </p:nvSpPr>
        <p:spPr>
          <a:xfrm>
            <a:off x="9532866" y="44815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9770647" y="44853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Oval 918"/>
          <p:cNvSpPr/>
          <p:nvPr/>
        </p:nvSpPr>
        <p:spPr>
          <a:xfrm>
            <a:off x="9654472" y="4474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Oval 919"/>
          <p:cNvSpPr/>
          <p:nvPr/>
        </p:nvSpPr>
        <p:spPr>
          <a:xfrm>
            <a:off x="9857250" y="43989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Oval 920"/>
          <p:cNvSpPr/>
          <p:nvPr/>
        </p:nvSpPr>
        <p:spPr>
          <a:xfrm>
            <a:off x="9753749" y="44598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Oval 921"/>
          <p:cNvSpPr/>
          <p:nvPr/>
        </p:nvSpPr>
        <p:spPr>
          <a:xfrm>
            <a:off x="9430874" y="4477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Oval 922"/>
          <p:cNvSpPr/>
          <p:nvPr/>
        </p:nvSpPr>
        <p:spPr>
          <a:xfrm>
            <a:off x="9580543" y="4491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Oval 923"/>
          <p:cNvSpPr/>
          <p:nvPr/>
        </p:nvSpPr>
        <p:spPr>
          <a:xfrm>
            <a:off x="9830394" y="446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Oval 924"/>
          <p:cNvSpPr/>
          <p:nvPr/>
        </p:nvSpPr>
        <p:spPr>
          <a:xfrm>
            <a:off x="9809573" y="4407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Oval 925"/>
          <p:cNvSpPr/>
          <p:nvPr/>
        </p:nvSpPr>
        <p:spPr>
          <a:xfrm>
            <a:off x="9517175" y="4433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Oval 926"/>
          <p:cNvSpPr/>
          <p:nvPr/>
        </p:nvSpPr>
        <p:spPr>
          <a:xfrm>
            <a:off x="9741075" y="445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Oval 927"/>
          <p:cNvSpPr/>
          <p:nvPr/>
        </p:nvSpPr>
        <p:spPr>
          <a:xfrm>
            <a:off x="9861776" y="441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Oval 928"/>
          <p:cNvSpPr/>
          <p:nvPr/>
        </p:nvSpPr>
        <p:spPr>
          <a:xfrm>
            <a:off x="9538600" y="43972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Oval 929"/>
          <p:cNvSpPr/>
          <p:nvPr/>
        </p:nvSpPr>
        <p:spPr>
          <a:xfrm>
            <a:off x="9704563" y="44068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Oval 930"/>
          <p:cNvSpPr/>
          <p:nvPr/>
        </p:nvSpPr>
        <p:spPr>
          <a:xfrm>
            <a:off x="9300216" y="44589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Oval 931"/>
          <p:cNvSpPr/>
          <p:nvPr/>
        </p:nvSpPr>
        <p:spPr>
          <a:xfrm>
            <a:off x="9643308" y="44646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Oval 932"/>
          <p:cNvSpPr/>
          <p:nvPr/>
        </p:nvSpPr>
        <p:spPr>
          <a:xfrm>
            <a:off x="9861173" y="4445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Oval 933"/>
          <p:cNvSpPr/>
          <p:nvPr/>
        </p:nvSpPr>
        <p:spPr>
          <a:xfrm>
            <a:off x="9795089" y="4469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Oval 934"/>
          <p:cNvSpPr/>
          <p:nvPr/>
        </p:nvSpPr>
        <p:spPr>
          <a:xfrm>
            <a:off x="9788450" y="44212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Oval 935"/>
          <p:cNvSpPr/>
          <p:nvPr/>
        </p:nvSpPr>
        <p:spPr>
          <a:xfrm>
            <a:off x="9665034" y="445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Oval 936"/>
          <p:cNvSpPr/>
          <p:nvPr/>
        </p:nvSpPr>
        <p:spPr>
          <a:xfrm>
            <a:off x="9339745" y="44462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Oval 937"/>
          <p:cNvSpPr/>
          <p:nvPr/>
        </p:nvSpPr>
        <p:spPr>
          <a:xfrm>
            <a:off x="9819531" y="4454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Oval 938"/>
          <p:cNvSpPr/>
          <p:nvPr/>
        </p:nvSpPr>
        <p:spPr>
          <a:xfrm>
            <a:off x="9628824" y="4484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Oval 939"/>
          <p:cNvSpPr/>
          <p:nvPr/>
        </p:nvSpPr>
        <p:spPr>
          <a:xfrm>
            <a:off x="9552782" y="4458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Oval 940"/>
          <p:cNvSpPr/>
          <p:nvPr/>
        </p:nvSpPr>
        <p:spPr>
          <a:xfrm>
            <a:off x="9188567" y="44603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Oval 941"/>
          <p:cNvSpPr/>
          <p:nvPr/>
        </p:nvSpPr>
        <p:spPr>
          <a:xfrm>
            <a:off x="9840955" y="4462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Oval 942"/>
          <p:cNvSpPr/>
          <p:nvPr/>
        </p:nvSpPr>
        <p:spPr>
          <a:xfrm>
            <a:off x="9699433" y="4442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Oval 943"/>
          <p:cNvSpPr/>
          <p:nvPr/>
        </p:nvSpPr>
        <p:spPr>
          <a:xfrm>
            <a:off x="9428460" y="4413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Oval 944"/>
          <p:cNvSpPr/>
          <p:nvPr/>
        </p:nvSpPr>
        <p:spPr>
          <a:xfrm>
            <a:off x="9922428" y="4481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Oval 945"/>
          <p:cNvSpPr/>
          <p:nvPr/>
        </p:nvSpPr>
        <p:spPr>
          <a:xfrm>
            <a:off x="9940232" y="447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Oval 946"/>
          <p:cNvSpPr/>
          <p:nvPr/>
        </p:nvSpPr>
        <p:spPr>
          <a:xfrm>
            <a:off x="9886821" y="43984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Oval 947"/>
          <p:cNvSpPr/>
          <p:nvPr/>
        </p:nvSpPr>
        <p:spPr>
          <a:xfrm>
            <a:off x="9939628" y="4436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Oval 948"/>
          <p:cNvSpPr/>
          <p:nvPr/>
        </p:nvSpPr>
        <p:spPr>
          <a:xfrm>
            <a:off x="9673181" y="4438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Oval 949"/>
          <p:cNvSpPr/>
          <p:nvPr/>
        </p:nvSpPr>
        <p:spPr>
          <a:xfrm>
            <a:off x="9902513" y="44604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Oval 950"/>
          <p:cNvSpPr/>
          <p:nvPr/>
        </p:nvSpPr>
        <p:spPr>
          <a:xfrm>
            <a:off x="9920014" y="4395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Oval 951"/>
          <p:cNvSpPr/>
          <p:nvPr/>
        </p:nvSpPr>
        <p:spPr>
          <a:xfrm>
            <a:off x="9681027" y="440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Oval 952"/>
          <p:cNvSpPr/>
          <p:nvPr/>
        </p:nvSpPr>
        <p:spPr>
          <a:xfrm>
            <a:off x="9751637" y="44732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Oval 953"/>
          <p:cNvSpPr/>
          <p:nvPr/>
        </p:nvSpPr>
        <p:spPr>
          <a:xfrm>
            <a:off x="9967993" y="4482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Oval 954"/>
          <p:cNvSpPr/>
          <p:nvPr/>
        </p:nvSpPr>
        <p:spPr>
          <a:xfrm>
            <a:off x="9631238" y="44874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Oval 955"/>
          <p:cNvSpPr/>
          <p:nvPr/>
        </p:nvSpPr>
        <p:spPr>
          <a:xfrm>
            <a:off x="9815608" y="44170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Oval 956"/>
          <p:cNvSpPr/>
          <p:nvPr/>
        </p:nvSpPr>
        <p:spPr>
          <a:xfrm>
            <a:off x="9925144" y="44507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Oval 957"/>
          <p:cNvSpPr/>
          <p:nvPr/>
        </p:nvSpPr>
        <p:spPr>
          <a:xfrm>
            <a:off x="9983986" y="4466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Oval 958"/>
          <p:cNvSpPr/>
          <p:nvPr/>
        </p:nvSpPr>
        <p:spPr>
          <a:xfrm>
            <a:off x="9946870" y="4483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Oval 959"/>
          <p:cNvSpPr/>
          <p:nvPr/>
        </p:nvSpPr>
        <p:spPr>
          <a:xfrm>
            <a:off x="9890744" y="44434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Oval 960"/>
          <p:cNvSpPr/>
          <p:nvPr/>
        </p:nvSpPr>
        <p:spPr>
          <a:xfrm>
            <a:off x="9947172" y="443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Oval 961"/>
          <p:cNvSpPr/>
          <p:nvPr/>
        </p:nvSpPr>
        <p:spPr>
          <a:xfrm>
            <a:off x="9925747" y="44893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Oval 962"/>
          <p:cNvSpPr/>
          <p:nvPr/>
        </p:nvSpPr>
        <p:spPr>
          <a:xfrm>
            <a:off x="9965881" y="4438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Oval 963"/>
          <p:cNvSpPr/>
          <p:nvPr/>
        </p:nvSpPr>
        <p:spPr>
          <a:xfrm>
            <a:off x="9955319" y="4419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Oval 964"/>
          <p:cNvSpPr/>
          <p:nvPr/>
        </p:nvSpPr>
        <p:spPr>
          <a:xfrm>
            <a:off x="9929972" y="4401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Oval 965"/>
          <p:cNvSpPr/>
          <p:nvPr/>
        </p:nvSpPr>
        <p:spPr>
          <a:xfrm>
            <a:off x="10012954" y="4437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Oval 966"/>
          <p:cNvSpPr/>
          <p:nvPr/>
        </p:nvSpPr>
        <p:spPr>
          <a:xfrm>
            <a:off x="9971916" y="4394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Oval 967"/>
          <p:cNvSpPr/>
          <p:nvPr/>
        </p:nvSpPr>
        <p:spPr>
          <a:xfrm>
            <a:off x="9624599" y="446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Oval 968"/>
          <p:cNvSpPr/>
          <p:nvPr/>
        </p:nvSpPr>
        <p:spPr>
          <a:xfrm>
            <a:off x="9990624" y="4484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Oval 969"/>
          <p:cNvSpPr/>
          <p:nvPr/>
        </p:nvSpPr>
        <p:spPr>
          <a:xfrm>
            <a:off x="9968295" y="446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Oval 970"/>
          <p:cNvSpPr/>
          <p:nvPr/>
        </p:nvSpPr>
        <p:spPr>
          <a:xfrm>
            <a:off x="9932084" y="4465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Oval 971"/>
          <p:cNvSpPr/>
          <p:nvPr/>
        </p:nvSpPr>
        <p:spPr>
          <a:xfrm>
            <a:off x="9444453" y="4441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Oval 972"/>
          <p:cNvSpPr/>
          <p:nvPr/>
        </p:nvSpPr>
        <p:spPr>
          <a:xfrm>
            <a:off x="9915186" y="4404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Oval 973"/>
          <p:cNvSpPr/>
          <p:nvPr/>
        </p:nvSpPr>
        <p:spPr>
          <a:xfrm>
            <a:off x="9977951" y="44907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Oval 974"/>
          <p:cNvSpPr/>
          <p:nvPr/>
        </p:nvSpPr>
        <p:spPr>
          <a:xfrm>
            <a:off x="9935102" y="4483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Oval 975"/>
          <p:cNvSpPr/>
          <p:nvPr/>
        </p:nvSpPr>
        <p:spPr>
          <a:xfrm>
            <a:off x="9932386" y="44738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Oval 976"/>
          <p:cNvSpPr/>
          <p:nvPr/>
        </p:nvSpPr>
        <p:spPr>
          <a:xfrm>
            <a:off x="9055796" y="44248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Oval 977"/>
          <p:cNvSpPr/>
          <p:nvPr/>
        </p:nvSpPr>
        <p:spPr>
          <a:xfrm>
            <a:off x="8946864" y="44230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Oval 978"/>
          <p:cNvSpPr/>
          <p:nvPr/>
        </p:nvSpPr>
        <p:spPr>
          <a:xfrm>
            <a:off x="9969803" y="4484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Oval 979"/>
          <p:cNvSpPr/>
          <p:nvPr/>
        </p:nvSpPr>
        <p:spPr>
          <a:xfrm>
            <a:off x="9454109" y="4450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Oval 980"/>
          <p:cNvSpPr/>
          <p:nvPr/>
        </p:nvSpPr>
        <p:spPr>
          <a:xfrm>
            <a:off x="9006611" y="44325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Oval 981"/>
          <p:cNvSpPr/>
          <p:nvPr/>
        </p:nvSpPr>
        <p:spPr>
          <a:xfrm>
            <a:off x="9330994" y="4492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Oval 982"/>
          <p:cNvSpPr/>
          <p:nvPr/>
        </p:nvSpPr>
        <p:spPr>
          <a:xfrm>
            <a:off x="9335219" y="44723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Oval 983"/>
          <p:cNvSpPr/>
          <p:nvPr/>
        </p:nvSpPr>
        <p:spPr>
          <a:xfrm>
            <a:off x="9863888" y="44768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Oval 984"/>
          <p:cNvSpPr/>
          <p:nvPr/>
        </p:nvSpPr>
        <p:spPr>
          <a:xfrm>
            <a:off x="9821945" y="4430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Oval 985"/>
          <p:cNvSpPr/>
          <p:nvPr/>
        </p:nvSpPr>
        <p:spPr>
          <a:xfrm>
            <a:off x="9558515" y="4445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Oval 986"/>
          <p:cNvSpPr/>
          <p:nvPr/>
        </p:nvSpPr>
        <p:spPr>
          <a:xfrm>
            <a:off x="9353324" y="4405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Oval 987"/>
          <p:cNvSpPr/>
          <p:nvPr/>
        </p:nvSpPr>
        <p:spPr>
          <a:xfrm>
            <a:off x="9598950" y="4476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Oval 988"/>
          <p:cNvSpPr/>
          <p:nvPr/>
        </p:nvSpPr>
        <p:spPr>
          <a:xfrm>
            <a:off x="9633953" y="4492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Oval 989"/>
          <p:cNvSpPr/>
          <p:nvPr/>
        </p:nvSpPr>
        <p:spPr>
          <a:xfrm>
            <a:off x="9749524" y="44283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Oval 990"/>
          <p:cNvSpPr/>
          <p:nvPr/>
        </p:nvSpPr>
        <p:spPr>
          <a:xfrm>
            <a:off x="9897081" y="44829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Oval 991"/>
          <p:cNvSpPr/>
          <p:nvPr/>
        </p:nvSpPr>
        <p:spPr>
          <a:xfrm>
            <a:off x="9571491" y="44030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Oval 992"/>
          <p:cNvSpPr/>
          <p:nvPr/>
        </p:nvSpPr>
        <p:spPr>
          <a:xfrm>
            <a:off x="9861474" y="4436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Oval 993"/>
          <p:cNvSpPr/>
          <p:nvPr/>
        </p:nvSpPr>
        <p:spPr>
          <a:xfrm>
            <a:off x="9877165" y="44424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Oval 994"/>
          <p:cNvSpPr/>
          <p:nvPr/>
        </p:nvSpPr>
        <p:spPr>
          <a:xfrm>
            <a:off x="9701244" y="4477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Oval 995"/>
          <p:cNvSpPr/>
          <p:nvPr/>
        </p:nvSpPr>
        <p:spPr>
          <a:xfrm>
            <a:off x="9330994" y="44616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Oval 996"/>
          <p:cNvSpPr/>
          <p:nvPr/>
        </p:nvSpPr>
        <p:spPr>
          <a:xfrm>
            <a:off x="8989109" y="44231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Oval 997"/>
          <p:cNvSpPr/>
          <p:nvPr/>
        </p:nvSpPr>
        <p:spPr>
          <a:xfrm>
            <a:off x="9836731" y="44089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Oval 998"/>
          <p:cNvSpPr/>
          <p:nvPr/>
        </p:nvSpPr>
        <p:spPr>
          <a:xfrm>
            <a:off x="9527737" y="4394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Oval 999"/>
          <p:cNvSpPr/>
          <p:nvPr/>
        </p:nvSpPr>
        <p:spPr>
          <a:xfrm>
            <a:off x="9871130" y="4396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Oval 1000"/>
          <p:cNvSpPr/>
          <p:nvPr/>
        </p:nvSpPr>
        <p:spPr>
          <a:xfrm>
            <a:off x="9759482" y="446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Oval 1001"/>
          <p:cNvSpPr/>
          <p:nvPr/>
        </p:nvSpPr>
        <p:spPr>
          <a:xfrm>
            <a:off x="9968295" y="44921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Oval 1002"/>
          <p:cNvSpPr/>
          <p:nvPr/>
        </p:nvSpPr>
        <p:spPr>
          <a:xfrm>
            <a:off x="10006617" y="44574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Oval 1003"/>
          <p:cNvSpPr/>
          <p:nvPr/>
        </p:nvSpPr>
        <p:spPr>
          <a:xfrm>
            <a:off x="9483983" y="445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Oval 1004"/>
          <p:cNvSpPr/>
          <p:nvPr/>
        </p:nvSpPr>
        <p:spPr>
          <a:xfrm>
            <a:off x="9984287" y="4418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Oval 1005"/>
          <p:cNvSpPr/>
          <p:nvPr/>
        </p:nvSpPr>
        <p:spPr>
          <a:xfrm>
            <a:off x="9948982" y="4445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Oval 1006"/>
          <p:cNvSpPr/>
          <p:nvPr/>
        </p:nvSpPr>
        <p:spPr>
          <a:xfrm>
            <a:off x="9924239" y="44168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Oval 1007"/>
          <p:cNvSpPr/>
          <p:nvPr/>
        </p:nvSpPr>
        <p:spPr>
          <a:xfrm>
            <a:off x="9739265" y="44851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Oval 1008"/>
          <p:cNvSpPr/>
          <p:nvPr/>
        </p:nvSpPr>
        <p:spPr>
          <a:xfrm>
            <a:off x="9950793" y="4455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Oval 1009"/>
          <p:cNvSpPr/>
          <p:nvPr/>
        </p:nvSpPr>
        <p:spPr>
          <a:xfrm>
            <a:off x="9967389" y="440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Oval 1010"/>
          <p:cNvSpPr/>
          <p:nvPr/>
        </p:nvSpPr>
        <p:spPr>
          <a:xfrm>
            <a:off x="9965579" y="439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Oval 1011"/>
          <p:cNvSpPr/>
          <p:nvPr/>
        </p:nvSpPr>
        <p:spPr>
          <a:xfrm>
            <a:off x="9924239" y="4436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Oval 1012"/>
          <p:cNvSpPr/>
          <p:nvPr/>
        </p:nvSpPr>
        <p:spPr>
          <a:xfrm>
            <a:off x="9923333" y="4407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Oval 1013"/>
          <p:cNvSpPr/>
          <p:nvPr/>
        </p:nvSpPr>
        <p:spPr>
          <a:xfrm>
            <a:off x="9657490" y="44247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Oval 1014"/>
          <p:cNvSpPr/>
          <p:nvPr/>
        </p:nvSpPr>
        <p:spPr>
          <a:xfrm>
            <a:off x="9685553" y="4415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Oval 1015"/>
          <p:cNvSpPr/>
          <p:nvPr/>
        </p:nvSpPr>
        <p:spPr>
          <a:xfrm>
            <a:off x="8113123" y="4629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Oval 1016"/>
          <p:cNvSpPr/>
          <p:nvPr/>
        </p:nvSpPr>
        <p:spPr>
          <a:xfrm>
            <a:off x="9080842" y="4694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Oval 1017"/>
          <p:cNvSpPr/>
          <p:nvPr/>
        </p:nvSpPr>
        <p:spPr>
          <a:xfrm>
            <a:off x="7864480" y="4617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Oval 1018"/>
          <p:cNvSpPr/>
          <p:nvPr/>
        </p:nvSpPr>
        <p:spPr>
          <a:xfrm>
            <a:off x="8109804" y="46397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Oval 1019"/>
          <p:cNvSpPr/>
          <p:nvPr/>
        </p:nvSpPr>
        <p:spPr>
          <a:xfrm>
            <a:off x="8007812" y="4673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Oval 1020"/>
          <p:cNvSpPr/>
          <p:nvPr/>
        </p:nvSpPr>
        <p:spPr>
          <a:xfrm>
            <a:off x="8316504" y="46325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Oval 1021"/>
          <p:cNvSpPr/>
          <p:nvPr/>
        </p:nvSpPr>
        <p:spPr>
          <a:xfrm>
            <a:off x="7752530" y="46260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Oval 1022"/>
          <p:cNvSpPr/>
          <p:nvPr/>
        </p:nvSpPr>
        <p:spPr>
          <a:xfrm>
            <a:off x="7779386" y="46892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Oval 1023"/>
          <p:cNvSpPr/>
          <p:nvPr/>
        </p:nvSpPr>
        <p:spPr>
          <a:xfrm>
            <a:off x="8500271" y="468303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TextBox 1024"/>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115 of 123</a:t>
            </a:r>
          </a:p>
          <a:p>
            <a:pPr algn="l">
              <a:lnSpc>
                <a:spcPct val="109000"/>
              </a:lnSpc>
              <a:spcBef>
                <a:spcPts val="0"/>
              </a:spcBef>
              <a:spcAft>
                <a:spcPts val="0"/>
              </a:spcAft>
            </a:pPr>
            <a:r>
              <a:rPr sz="1250" b="0">
                <a:solidFill>
                  <a:srgbClr val="00407A"/>
                </a:solidFill>
                <a:latin typeface="Arial"/>
              </a:rPr>
              <a:t>are “yes”</a:t>
            </a:r>
          </a:p>
        </p:txBody>
      </p:sp>
      <p:sp>
        <p:nvSpPr>
          <p:cNvPr id="1026" name="TextBox 1025"/>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1027" name="Rounded Rectangle 102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TextBox 102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KEV-27B’s compile answers are right in both groups: 114 of 114 and 8 of 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 probabilities of every design, with examples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Each dot is one held-out design. A yes probability of 0.5 or more counts as “yes”.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46</a:t>
            </a:r>
          </a:p>
        </p:txBody>
      </p:sp>
      <p:sp>
        <p:nvSpPr>
          <p:cNvPr id="7" name="Rounded Rectangle 6"/>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9" name="TextBox 8"/>
          <p:cNvSpPr txBox="1"/>
          <p:nvPr/>
        </p:nvSpPr>
        <p:spPr>
          <a:xfrm>
            <a:off x="101498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tool synthesizes: 99</a:t>
            </a:r>
            <a:r>
              <a:rPr sz="1250">
                <a:solidFill>
                  <a:srgbClr val="E97132"/>
                </a:solidFill>
                <a:latin typeface="Arial"/>
              </a:rPr>
              <a:t>      ●</a:t>
            </a:r>
            <a:r>
              <a:rPr sz="1250">
                <a:solidFill>
                  <a:srgbClr val="4A5A66"/>
                </a:solidFill>
                <a:latin typeface="Arial"/>
              </a:rPr>
              <a:t> tool fails: 24</a:t>
            </a:r>
          </a:p>
        </p:txBody>
      </p:sp>
      <p:cxnSp>
        <p:nvCxnSpPr>
          <p:cNvPr id="10" name="Connector 9"/>
          <p:cNvCxnSpPr/>
          <p:nvPr/>
        </p:nvCxnSpPr>
        <p:spPr>
          <a:xfrm>
            <a:off x="166420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2" name="Connector 11"/>
          <p:cNvCxnSpPr/>
          <p:nvPr/>
        </p:nvCxnSpPr>
        <p:spPr>
          <a:xfrm>
            <a:off x="317296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8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14" name="Connector 13"/>
          <p:cNvCxnSpPr/>
          <p:nvPr/>
        </p:nvCxnSpPr>
        <p:spPr>
          <a:xfrm>
            <a:off x="468172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Oval 16"/>
          <p:cNvSpPr/>
          <p:nvPr/>
        </p:nvSpPr>
        <p:spPr>
          <a:xfrm>
            <a:off x="2314721" y="29022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36749" y="29696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81771" y="2916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482193" y="29282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374769" y="2885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683160" y="29558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564571" y="29510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773384" y="29141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462881" y="28970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341275" y="29564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094744" y="28953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603497" y="29367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640311" y="2915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308686" y="29584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60646" y="29193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149964" y="29538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436327" y="29268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371450" y="29536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417316" y="2893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201866" y="2924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503316" y="28877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140006" y="29503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519610" y="29325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413695" y="29788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341275" y="29643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181950" y="29564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427878" y="29096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222083" y="29802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664753" y="2979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086295" y="2983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205487" y="29164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396496" y="29131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342180" y="29247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264932" y="28938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145136" y="2959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2081467" y="29587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2322868" y="29576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308988" y="2981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239283" y="29842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558235" y="294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318040" y="29398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749244" y="29389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947193" y="2917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271269" y="29707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929390" y="29671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441457" y="28998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749847" y="2887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982196" y="292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808085" y="29062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719672" y="28945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2634276" y="2951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2567589" y="29366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2474046" y="29528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2474951" y="29556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2477667" y="29617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2864513" y="29224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2423352" y="29386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2571814" y="29681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2294805" y="29045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2378692" y="29818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2459864" y="29375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2195529" y="297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2757089" y="29298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119795" y="29760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2796921" y="29141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092336" y="29523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949607" y="2983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711826" y="29296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614361" y="28962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783643" y="2952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2607420" y="29849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2610136" y="29425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2801749" y="29710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2712430" y="29598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2821664" y="29180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2835847" y="2919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2886541" y="28858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2647252" y="28877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2212729" y="29133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2881411" y="2942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2689799" y="2960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2427274" y="28966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2530172" y="28921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537716" y="29042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574228" y="29428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539828" y="29647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023536" y="29139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2637897" y="29298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028968" y="29641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2921846" y="29687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586901" y="29651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628543" y="28947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2166561" y="29434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733251" y="29580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2700360" y="2929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2714542" y="29753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2350931" y="29707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2449302" y="2980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2497583" y="2904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2722388" y="315255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2478572" y="313664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2371752" y="315265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2155396" y="309064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2796619" y="3184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2433611" y="311279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2324980" y="315322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2316531" y="30947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2623715" y="311562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2200357" y="310912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2206392" y="31218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2866625" y="31745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2236265" y="316285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2718465" y="31296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2297521" y="31096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400117" y="317657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2569399" y="31692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2991852" y="312671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732647" y="318490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2327696" y="31646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2399815" y="317104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2573322" y="313190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2595048" y="310820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2087502" y="309699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 of 123</a:t>
            </a:r>
          </a:p>
          <a:p>
            <a:pPr algn="l">
              <a:lnSpc>
                <a:spcPct val="109000"/>
              </a:lnSpc>
              <a:spcBef>
                <a:spcPts val="0"/>
              </a:spcBef>
              <a:spcAft>
                <a:spcPts val="0"/>
              </a:spcAft>
            </a:pPr>
            <a:r>
              <a:rPr sz="1250" b="0">
                <a:solidFill>
                  <a:srgbClr val="00407A"/>
                </a:solidFill>
                <a:latin typeface="Arial"/>
              </a:rPr>
              <a:t>are “yes”</a:t>
            </a:r>
          </a:p>
        </p:txBody>
      </p:sp>
      <p:sp>
        <p:nvSpPr>
          <p:cNvPr id="141" name="TextBox 140"/>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42" name="Oval 141"/>
          <p:cNvSpPr/>
          <p:nvPr/>
        </p:nvSpPr>
        <p:spPr>
          <a:xfrm>
            <a:off x="4365729" y="34052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068503" y="3472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4357582" y="3419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2138498" y="34312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3985522" y="3388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281842" y="34587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4175022" y="34539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4265246" y="3417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3718773" y="3399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4189808" y="34593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3985522" y="33982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3854863" y="34397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3297527" y="3418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4099584" y="34613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3971038" y="3422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3735369" y="34568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3657517" y="34297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4050097" y="34565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3908273" y="3396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4046476" y="3427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3437540" y="33907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3875986" y="34532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4112861" y="34354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4105317" y="34818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3797832" y="3467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3934224" y="34594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3933319" y="34125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3806583" y="34832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4088419" y="34824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4113464" y="3486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3771579" y="34193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4316845" y="34160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3877193" y="34277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3874477" y="33967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3932112" y="34621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3675321" y="34616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3958666" y="34605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3843698" y="34849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3842491" y="34872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4022034" y="3447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4176531" y="34427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4354866" y="34418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4067900" y="3420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4201878" y="34737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229035" y="34700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4196446" y="34027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4214250" y="3389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3988841" y="342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4177738" y="34092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4254986" y="3397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3599581" y="34546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4204895" y="34395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4240200" y="34557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4020223" y="3458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4218474" y="34646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4373575" y="34253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4309603" y="34415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4281540" y="34710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4156917" y="34074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4295421" y="34847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4183169" y="34405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4165064" y="34757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4298137" y="34328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4387757" y="34790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4210025" y="34170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4302965" y="34552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4305379" y="3486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4208818" y="34325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4125836" y="33991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4046777" y="3455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4173815" y="34879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4218776" y="34455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4262228" y="34739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4280635" y="34627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4009360" y="34210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3784555" y="3422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4240502" y="3388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3691615" y="33906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3850035" y="34163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4144545" y="34451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4154805" y="34630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4153899" y="33995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3968322" y="33950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4103205" y="34071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3796625" y="34457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4349736" y="34676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4394094" y="34168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4175324" y="34327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4349435" y="3467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4324389" y="34716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4068503" y="34680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4009964" y="33976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4307491" y="34463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4310810" y="34610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4211232" y="3432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4204895" y="34782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4165064" y="34737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4242313" y="3483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4183471" y="3406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4262530" y="365547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3608030" y="363956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4028974" y="365557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3712134" y="359356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3814428" y="3686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4130664" y="361571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4172910" y="365614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3839775" y="35976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3277310" y="361854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4082082" y="361204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3903747" y="36247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3495778" y="36774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2707904" y="366577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3925171" y="36325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3282138" y="36125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3625531" y="367949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3388656" y="367219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3697952" y="362963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4206102" y="368782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3200966" y="36675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Oval 260"/>
          <p:cNvSpPr/>
          <p:nvPr/>
        </p:nvSpPr>
        <p:spPr>
          <a:xfrm>
            <a:off x="3636395" y="36739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3021424" y="36348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3665665" y="361112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Oval 263"/>
          <p:cNvSpPr/>
          <p:nvPr/>
        </p:nvSpPr>
        <p:spPr>
          <a:xfrm>
            <a:off x="3526557" y="359991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120 of 123</a:t>
            </a:r>
          </a:p>
          <a:p>
            <a:pPr algn="l">
              <a:lnSpc>
                <a:spcPct val="109000"/>
              </a:lnSpc>
              <a:spcBef>
                <a:spcPts val="0"/>
              </a:spcBef>
              <a:spcAft>
                <a:spcPts val="0"/>
              </a:spcAft>
            </a:pPr>
            <a:r>
              <a:rPr sz="1250" b="0">
                <a:solidFill>
                  <a:srgbClr val="00407A"/>
                </a:solidFill>
                <a:latin typeface="Arial"/>
              </a:rPr>
              <a:t>are “yes”</a:t>
            </a:r>
          </a:p>
        </p:txBody>
      </p:sp>
      <p:sp>
        <p:nvSpPr>
          <p:cNvPr id="266" name="TextBox 265"/>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67" name="Oval 266"/>
          <p:cNvSpPr/>
          <p:nvPr/>
        </p:nvSpPr>
        <p:spPr>
          <a:xfrm>
            <a:off x="4434529" y="3908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4430606" y="3975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4373876" y="39225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2777910" y="39341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4082686" y="3891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4321673" y="39616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4360599" y="39568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4342494" y="3919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3769769" y="3902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Oval 275"/>
          <p:cNvSpPr/>
          <p:nvPr/>
        </p:nvSpPr>
        <p:spPr>
          <a:xfrm>
            <a:off x="4355771" y="39622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Oval 276"/>
          <p:cNvSpPr/>
          <p:nvPr/>
        </p:nvSpPr>
        <p:spPr>
          <a:xfrm>
            <a:off x="4348228" y="39011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4391378" y="39426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Oval 278"/>
          <p:cNvSpPr/>
          <p:nvPr/>
        </p:nvSpPr>
        <p:spPr>
          <a:xfrm>
            <a:off x="3842189" y="3921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Oval 279"/>
          <p:cNvSpPr/>
          <p:nvPr/>
        </p:nvSpPr>
        <p:spPr>
          <a:xfrm>
            <a:off x="4278825" y="39642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Oval 280"/>
          <p:cNvSpPr/>
          <p:nvPr/>
        </p:nvSpPr>
        <p:spPr>
          <a:xfrm>
            <a:off x="4378403" y="3925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4179850" y="39597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3905256" y="39327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4108636" y="39594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4213948" y="3898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4359091" y="39303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Oval 286"/>
          <p:cNvSpPr/>
          <p:nvPr/>
        </p:nvSpPr>
        <p:spPr>
          <a:xfrm>
            <a:off x="4040742" y="38936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4316242" y="39561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Oval 288"/>
          <p:cNvSpPr/>
          <p:nvPr/>
        </p:nvSpPr>
        <p:spPr>
          <a:xfrm>
            <a:off x="4203990" y="39384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Oval 289"/>
          <p:cNvSpPr/>
          <p:nvPr/>
        </p:nvSpPr>
        <p:spPr>
          <a:xfrm>
            <a:off x="3862407" y="39847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Oval 290"/>
          <p:cNvSpPr/>
          <p:nvPr/>
        </p:nvSpPr>
        <p:spPr>
          <a:xfrm>
            <a:off x="3896203" y="3970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Oval 291"/>
          <p:cNvSpPr/>
          <p:nvPr/>
        </p:nvSpPr>
        <p:spPr>
          <a:xfrm>
            <a:off x="4102601" y="39623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4280333" y="39155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Oval 293"/>
          <p:cNvSpPr/>
          <p:nvPr/>
        </p:nvSpPr>
        <p:spPr>
          <a:xfrm>
            <a:off x="4122819" y="39861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4224509" y="39853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Oval 295"/>
          <p:cNvSpPr/>
          <p:nvPr/>
        </p:nvSpPr>
        <p:spPr>
          <a:xfrm>
            <a:off x="4287877" y="3989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Oval 296"/>
          <p:cNvSpPr/>
          <p:nvPr/>
        </p:nvSpPr>
        <p:spPr>
          <a:xfrm>
            <a:off x="4297835" y="39223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Oval 297"/>
          <p:cNvSpPr/>
          <p:nvPr/>
        </p:nvSpPr>
        <p:spPr>
          <a:xfrm>
            <a:off x="4439658" y="39189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4253477" y="39306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4069710" y="38996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4312621" y="39650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Oval 301"/>
          <p:cNvSpPr/>
          <p:nvPr/>
        </p:nvSpPr>
        <p:spPr>
          <a:xfrm>
            <a:off x="3963494" y="39646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4015697" y="3963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Oval 303"/>
          <p:cNvSpPr/>
          <p:nvPr/>
        </p:nvSpPr>
        <p:spPr>
          <a:xfrm>
            <a:off x="4200067" y="39878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Oval 304"/>
          <p:cNvSpPr/>
          <p:nvPr/>
        </p:nvSpPr>
        <p:spPr>
          <a:xfrm>
            <a:off x="4268565" y="3990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Oval 305"/>
          <p:cNvSpPr/>
          <p:nvPr/>
        </p:nvSpPr>
        <p:spPr>
          <a:xfrm>
            <a:off x="4113163" y="3950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Oval 306"/>
          <p:cNvSpPr/>
          <p:nvPr/>
        </p:nvSpPr>
        <p:spPr>
          <a:xfrm>
            <a:off x="4324691" y="39457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Oval 307"/>
          <p:cNvSpPr/>
          <p:nvPr/>
        </p:nvSpPr>
        <p:spPr>
          <a:xfrm>
            <a:off x="4449314" y="39447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Oval 308"/>
          <p:cNvSpPr/>
          <p:nvPr/>
        </p:nvSpPr>
        <p:spPr>
          <a:xfrm>
            <a:off x="4308698" y="3923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4371161" y="3976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4378101" y="39730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4352150" y="39056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4226320" y="3892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3902238" y="393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4332536" y="39121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4445090" y="3900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3699461" y="39575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4352150" y="39424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4396810" y="39586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4255590" y="3961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4366031" y="39675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4490654" y="39282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4437244" y="39444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4436943" y="39740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4385645" y="3910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4430606" y="39876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4411294" y="39434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4445995" y="39786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4278523" y="39357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4317751" y="39819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4314733" y="3920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4244727" y="3958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4454746" y="3989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4418838" y="39354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4381420" y="39021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4290291" y="3958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4399224" y="39908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4436943" y="39484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4393189" y="39768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4429399" y="3965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Oval 340"/>
          <p:cNvSpPr/>
          <p:nvPr/>
        </p:nvSpPr>
        <p:spPr>
          <a:xfrm>
            <a:off x="4366333" y="39239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Oval 341"/>
          <p:cNvSpPr/>
          <p:nvPr/>
        </p:nvSpPr>
        <p:spPr>
          <a:xfrm>
            <a:off x="4196145" y="3925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Oval 342"/>
          <p:cNvSpPr/>
          <p:nvPr/>
        </p:nvSpPr>
        <p:spPr>
          <a:xfrm>
            <a:off x="4418536" y="389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Oval 343"/>
          <p:cNvSpPr/>
          <p:nvPr/>
        </p:nvSpPr>
        <p:spPr>
          <a:xfrm>
            <a:off x="3778218" y="38936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Oval 344"/>
          <p:cNvSpPr/>
          <p:nvPr/>
        </p:nvSpPr>
        <p:spPr>
          <a:xfrm>
            <a:off x="4064279" y="39192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3894694" y="39481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Oval 346"/>
          <p:cNvSpPr/>
          <p:nvPr/>
        </p:nvSpPr>
        <p:spPr>
          <a:xfrm>
            <a:off x="4410388" y="3965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Oval 347"/>
          <p:cNvSpPr/>
          <p:nvPr/>
        </p:nvSpPr>
        <p:spPr>
          <a:xfrm>
            <a:off x="4157219" y="39025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Oval 348"/>
          <p:cNvSpPr/>
          <p:nvPr/>
        </p:nvSpPr>
        <p:spPr>
          <a:xfrm>
            <a:off x="4335856" y="38980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Oval 349"/>
          <p:cNvSpPr/>
          <p:nvPr/>
        </p:nvSpPr>
        <p:spPr>
          <a:xfrm>
            <a:off x="4262832" y="39100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Oval 350"/>
          <p:cNvSpPr/>
          <p:nvPr/>
        </p:nvSpPr>
        <p:spPr>
          <a:xfrm>
            <a:off x="4209120" y="39486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Oval 351"/>
          <p:cNvSpPr/>
          <p:nvPr/>
        </p:nvSpPr>
        <p:spPr>
          <a:xfrm>
            <a:off x="4450521" y="39706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4354866" y="39197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Oval 353"/>
          <p:cNvSpPr/>
          <p:nvPr/>
        </p:nvSpPr>
        <p:spPr>
          <a:xfrm>
            <a:off x="4433623" y="3935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Oval 354"/>
          <p:cNvSpPr/>
          <p:nvPr/>
        </p:nvSpPr>
        <p:spPr>
          <a:xfrm>
            <a:off x="4407673" y="3969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Oval 355"/>
          <p:cNvSpPr/>
          <p:nvPr/>
        </p:nvSpPr>
        <p:spPr>
          <a:xfrm>
            <a:off x="4337968" y="39746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Oval 356"/>
          <p:cNvSpPr/>
          <p:nvPr/>
        </p:nvSpPr>
        <p:spPr>
          <a:xfrm>
            <a:off x="4349736" y="39710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Oval 357"/>
          <p:cNvSpPr/>
          <p:nvPr/>
        </p:nvSpPr>
        <p:spPr>
          <a:xfrm>
            <a:off x="3794211" y="39005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Oval 358"/>
          <p:cNvSpPr/>
          <p:nvPr/>
        </p:nvSpPr>
        <p:spPr>
          <a:xfrm>
            <a:off x="4463799" y="39492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4434830" y="39639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Oval 360"/>
          <p:cNvSpPr/>
          <p:nvPr/>
        </p:nvSpPr>
        <p:spPr>
          <a:xfrm>
            <a:off x="4313828" y="39356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Oval 361"/>
          <p:cNvSpPr/>
          <p:nvPr/>
        </p:nvSpPr>
        <p:spPr>
          <a:xfrm>
            <a:off x="4276411" y="39811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Oval 362"/>
          <p:cNvSpPr/>
          <p:nvPr/>
        </p:nvSpPr>
        <p:spPr>
          <a:xfrm>
            <a:off x="4394999" y="39766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Oval 363"/>
          <p:cNvSpPr/>
          <p:nvPr/>
        </p:nvSpPr>
        <p:spPr>
          <a:xfrm>
            <a:off x="4351849" y="39861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4207913" y="3909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Oval 365"/>
          <p:cNvSpPr/>
          <p:nvPr/>
        </p:nvSpPr>
        <p:spPr>
          <a:xfrm>
            <a:off x="4439960" y="415839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Oval 366"/>
          <p:cNvSpPr/>
          <p:nvPr/>
        </p:nvSpPr>
        <p:spPr>
          <a:xfrm>
            <a:off x="3579967" y="414248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Oval 367"/>
          <p:cNvSpPr/>
          <p:nvPr/>
        </p:nvSpPr>
        <p:spPr>
          <a:xfrm>
            <a:off x="3948104" y="415849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Oval 368"/>
          <p:cNvSpPr/>
          <p:nvPr/>
        </p:nvSpPr>
        <p:spPr>
          <a:xfrm>
            <a:off x="4173211" y="409648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4373273" y="4189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Oval 370"/>
          <p:cNvSpPr/>
          <p:nvPr/>
        </p:nvSpPr>
        <p:spPr>
          <a:xfrm>
            <a:off x="4156313" y="411863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Oval 371"/>
          <p:cNvSpPr/>
          <p:nvPr/>
        </p:nvSpPr>
        <p:spPr>
          <a:xfrm>
            <a:off x="4336157" y="415906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Oval 372"/>
          <p:cNvSpPr/>
          <p:nvPr/>
        </p:nvSpPr>
        <p:spPr>
          <a:xfrm>
            <a:off x="4197050" y="41006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Oval 373"/>
          <p:cNvSpPr/>
          <p:nvPr/>
        </p:nvSpPr>
        <p:spPr>
          <a:xfrm>
            <a:off x="3773993" y="412146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Oval 374"/>
          <p:cNvSpPr/>
          <p:nvPr/>
        </p:nvSpPr>
        <p:spPr>
          <a:xfrm>
            <a:off x="4295723" y="411496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Oval 375"/>
          <p:cNvSpPr/>
          <p:nvPr/>
        </p:nvSpPr>
        <p:spPr>
          <a:xfrm>
            <a:off x="3998195" y="412769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Oval 376"/>
          <p:cNvSpPr/>
          <p:nvPr/>
        </p:nvSpPr>
        <p:spPr>
          <a:xfrm>
            <a:off x="2001804" y="41803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377"/>
          <p:cNvSpPr/>
          <p:nvPr/>
        </p:nvSpPr>
        <p:spPr>
          <a:xfrm>
            <a:off x="1987923" y="416869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3772786" y="41354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3898014" y="41154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Oval 380"/>
          <p:cNvSpPr/>
          <p:nvPr/>
        </p:nvSpPr>
        <p:spPr>
          <a:xfrm>
            <a:off x="3963192" y="418241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Oval 381"/>
          <p:cNvSpPr/>
          <p:nvPr/>
        </p:nvSpPr>
        <p:spPr>
          <a:xfrm>
            <a:off x="3938750" y="417511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Oval 382"/>
          <p:cNvSpPr/>
          <p:nvPr/>
        </p:nvSpPr>
        <p:spPr>
          <a:xfrm>
            <a:off x="1901321" y="413255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Oval 383"/>
          <p:cNvSpPr/>
          <p:nvPr/>
        </p:nvSpPr>
        <p:spPr>
          <a:xfrm>
            <a:off x="4178945" y="419074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Oval 384"/>
          <p:cNvSpPr/>
          <p:nvPr/>
        </p:nvSpPr>
        <p:spPr>
          <a:xfrm>
            <a:off x="3355765" y="417050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val 385"/>
          <p:cNvSpPr/>
          <p:nvPr/>
        </p:nvSpPr>
        <p:spPr>
          <a:xfrm>
            <a:off x="3911894" y="41768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Oval 386"/>
          <p:cNvSpPr/>
          <p:nvPr/>
        </p:nvSpPr>
        <p:spPr>
          <a:xfrm>
            <a:off x="2743812" y="413774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Oval 387"/>
          <p:cNvSpPr/>
          <p:nvPr/>
        </p:nvSpPr>
        <p:spPr>
          <a:xfrm>
            <a:off x="4372669" y="411404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Oval 388"/>
          <p:cNvSpPr/>
          <p:nvPr/>
        </p:nvSpPr>
        <p:spPr>
          <a:xfrm>
            <a:off x="3541946" y="410283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TextBox 389"/>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118 of 123</a:t>
            </a:r>
          </a:p>
          <a:p>
            <a:pPr algn="l">
              <a:lnSpc>
                <a:spcPct val="109000"/>
              </a:lnSpc>
              <a:spcBef>
                <a:spcPts val="0"/>
              </a:spcBef>
              <a:spcAft>
                <a:spcPts val="0"/>
              </a:spcAft>
            </a:pPr>
            <a:r>
              <a:rPr sz="1250" b="0">
                <a:solidFill>
                  <a:srgbClr val="00407A"/>
                </a:solidFill>
                <a:latin typeface="Arial"/>
              </a:rPr>
              <a:t>are “yes”</a:t>
            </a:r>
          </a:p>
        </p:txBody>
      </p:sp>
      <p:sp>
        <p:nvSpPr>
          <p:cNvPr id="391" name="TextBox 390"/>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92" name="Oval 391"/>
          <p:cNvSpPr/>
          <p:nvPr/>
        </p:nvSpPr>
        <p:spPr>
          <a:xfrm>
            <a:off x="4561264" y="4411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Oval 392"/>
          <p:cNvSpPr/>
          <p:nvPr/>
        </p:nvSpPr>
        <p:spPr>
          <a:xfrm>
            <a:off x="3328909" y="4478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Oval 393"/>
          <p:cNvSpPr/>
          <p:nvPr/>
        </p:nvSpPr>
        <p:spPr>
          <a:xfrm>
            <a:off x="3738688" y="44254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val 394"/>
          <p:cNvSpPr/>
          <p:nvPr/>
        </p:nvSpPr>
        <p:spPr>
          <a:xfrm>
            <a:off x="2992154" y="44370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Oval 395"/>
          <p:cNvSpPr/>
          <p:nvPr/>
        </p:nvSpPr>
        <p:spPr>
          <a:xfrm>
            <a:off x="4347322" y="4393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Oval 396"/>
          <p:cNvSpPr/>
          <p:nvPr/>
        </p:nvSpPr>
        <p:spPr>
          <a:xfrm>
            <a:off x="3681959" y="44645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val 397"/>
          <p:cNvSpPr/>
          <p:nvPr/>
        </p:nvSpPr>
        <p:spPr>
          <a:xfrm>
            <a:off x="4261323" y="44598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Oval 398"/>
          <p:cNvSpPr/>
          <p:nvPr/>
        </p:nvSpPr>
        <p:spPr>
          <a:xfrm>
            <a:off x="4577861" y="4422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Oval 399"/>
          <p:cNvSpPr/>
          <p:nvPr/>
        </p:nvSpPr>
        <p:spPr>
          <a:xfrm>
            <a:off x="3571820" y="4405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val 400"/>
          <p:cNvSpPr/>
          <p:nvPr/>
        </p:nvSpPr>
        <p:spPr>
          <a:xfrm>
            <a:off x="4342494" y="44652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Oval 401"/>
          <p:cNvSpPr/>
          <p:nvPr/>
        </p:nvSpPr>
        <p:spPr>
          <a:xfrm>
            <a:off x="3611047" y="4404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Oval 402"/>
          <p:cNvSpPr/>
          <p:nvPr/>
        </p:nvSpPr>
        <p:spPr>
          <a:xfrm>
            <a:off x="4358487" y="44455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Oval 403"/>
          <p:cNvSpPr/>
          <p:nvPr/>
        </p:nvSpPr>
        <p:spPr>
          <a:xfrm>
            <a:off x="4544668" y="44246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Oval 404"/>
          <p:cNvSpPr/>
          <p:nvPr/>
        </p:nvSpPr>
        <p:spPr>
          <a:xfrm>
            <a:off x="3989444" y="44671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Oval 405"/>
          <p:cNvSpPr/>
          <p:nvPr/>
        </p:nvSpPr>
        <p:spPr>
          <a:xfrm>
            <a:off x="4074840" y="4428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Oval 406"/>
          <p:cNvSpPr/>
          <p:nvPr/>
        </p:nvSpPr>
        <p:spPr>
          <a:xfrm>
            <a:off x="2444776" y="44626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Oval 407"/>
          <p:cNvSpPr/>
          <p:nvPr/>
        </p:nvSpPr>
        <p:spPr>
          <a:xfrm>
            <a:off x="4025353" y="44356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Oval 408"/>
          <p:cNvSpPr/>
          <p:nvPr/>
        </p:nvSpPr>
        <p:spPr>
          <a:xfrm>
            <a:off x="3672907" y="44623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Oval 409"/>
          <p:cNvSpPr/>
          <p:nvPr/>
        </p:nvSpPr>
        <p:spPr>
          <a:xfrm>
            <a:off x="4329217" y="44019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Oval 410"/>
          <p:cNvSpPr/>
          <p:nvPr/>
        </p:nvSpPr>
        <p:spPr>
          <a:xfrm>
            <a:off x="4245632" y="44332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Oval 411"/>
          <p:cNvSpPr/>
          <p:nvPr/>
        </p:nvSpPr>
        <p:spPr>
          <a:xfrm>
            <a:off x="4356073" y="43965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Oval 412"/>
          <p:cNvSpPr/>
          <p:nvPr/>
        </p:nvSpPr>
        <p:spPr>
          <a:xfrm>
            <a:off x="3957760" y="44591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Oval 413"/>
          <p:cNvSpPr/>
          <p:nvPr/>
        </p:nvSpPr>
        <p:spPr>
          <a:xfrm>
            <a:off x="4284860" y="44413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Oval 414"/>
          <p:cNvSpPr/>
          <p:nvPr/>
        </p:nvSpPr>
        <p:spPr>
          <a:xfrm>
            <a:off x="4267962" y="44876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Oval 415"/>
          <p:cNvSpPr/>
          <p:nvPr/>
        </p:nvSpPr>
        <p:spPr>
          <a:xfrm>
            <a:off x="3925171" y="4473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Oval 416"/>
          <p:cNvSpPr/>
          <p:nvPr/>
        </p:nvSpPr>
        <p:spPr>
          <a:xfrm>
            <a:off x="4150882" y="44652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Oval 417"/>
          <p:cNvSpPr/>
          <p:nvPr/>
        </p:nvSpPr>
        <p:spPr>
          <a:xfrm>
            <a:off x="4045872" y="44184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Oval 418"/>
          <p:cNvSpPr/>
          <p:nvPr/>
        </p:nvSpPr>
        <p:spPr>
          <a:xfrm>
            <a:off x="3811411" y="44890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3878400" y="44883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3853958" y="4492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Oval 421"/>
          <p:cNvSpPr/>
          <p:nvPr/>
        </p:nvSpPr>
        <p:spPr>
          <a:xfrm>
            <a:off x="3346713" y="4425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Oval 422"/>
          <p:cNvSpPr/>
          <p:nvPr/>
        </p:nvSpPr>
        <p:spPr>
          <a:xfrm>
            <a:off x="4408578" y="44219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Oval 423"/>
          <p:cNvSpPr/>
          <p:nvPr/>
        </p:nvSpPr>
        <p:spPr>
          <a:xfrm>
            <a:off x="4082082" y="44335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Oval 424"/>
          <p:cNvSpPr/>
          <p:nvPr/>
        </p:nvSpPr>
        <p:spPr>
          <a:xfrm>
            <a:off x="3984013" y="44026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Oval 425"/>
          <p:cNvSpPr/>
          <p:nvPr/>
        </p:nvSpPr>
        <p:spPr>
          <a:xfrm>
            <a:off x="3305071" y="44679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Oval 426"/>
          <p:cNvSpPr/>
          <p:nvPr/>
        </p:nvSpPr>
        <p:spPr>
          <a:xfrm>
            <a:off x="2669883" y="44675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4208818" y="4466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3893789" y="44907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3794211" y="4493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3813825" y="4453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4281842" y="44486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3474655" y="44477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4098679" y="44266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4445693" y="4479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4346115" y="44759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4402241" y="4408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4512381" y="4395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3332229" y="443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Oval 439"/>
          <p:cNvSpPr/>
          <p:nvPr/>
        </p:nvSpPr>
        <p:spPr>
          <a:xfrm>
            <a:off x="4170194" y="44150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Oval 440"/>
          <p:cNvSpPr/>
          <p:nvPr/>
        </p:nvSpPr>
        <p:spPr>
          <a:xfrm>
            <a:off x="4565187" y="44033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Oval 441"/>
          <p:cNvSpPr/>
          <p:nvPr/>
        </p:nvSpPr>
        <p:spPr>
          <a:xfrm>
            <a:off x="3484312" y="44604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Oval 442"/>
          <p:cNvSpPr/>
          <p:nvPr/>
        </p:nvSpPr>
        <p:spPr>
          <a:xfrm>
            <a:off x="4345512" y="44453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Oval 443"/>
          <p:cNvSpPr/>
          <p:nvPr/>
        </p:nvSpPr>
        <p:spPr>
          <a:xfrm>
            <a:off x="4557643" y="44615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Oval 444"/>
          <p:cNvSpPr/>
          <p:nvPr/>
        </p:nvSpPr>
        <p:spPr>
          <a:xfrm>
            <a:off x="4273091" y="4464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Oval 445"/>
          <p:cNvSpPr/>
          <p:nvPr/>
        </p:nvSpPr>
        <p:spPr>
          <a:xfrm>
            <a:off x="4129156" y="44704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Oval 446"/>
          <p:cNvSpPr/>
          <p:nvPr/>
        </p:nvSpPr>
        <p:spPr>
          <a:xfrm>
            <a:off x="4566998" y="44311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Oval 447"/>
          <p:cNvSpPr/>
          <p:nvPr/>
        </p:nvSpPr>
        <p:spPr>
          <a:xfrm>
            <a:off x="4541651" y="44473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Oval 448"/>
          <p:cNvSpPr/>
          <p:nvPr/>
        </p:nvSpPr>
        <p:spPr>
          <a:xfrm>
            <a:off x="4441167" y="44769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Oval 449"/>
          <p:cNvSpPr/>
          <p:nvPr/>
        </p:nvSpPr>
        <p:spPr>
          <a:xfrm>
            <a:off x="4527468" y="4413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Oval 450"/>
          <p:cNvSpPr/>
          <p:nvPr/>
        </p:nvSpPr>
        <p:spPr>
          <a:xfrm>
            <a:off x="4521735" y="44906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Oval 451"/>
          <p:cNvSpPr/>
          <p:nvPr/>
        </p:nvSpPr>
        <p:spPr>
          <a:xfrm>
            <a:off x="4528373" y="44463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Oval 452"/>
          <p:cNvSpPr/>
          <p:nvPr/>
        </p:nvSpPr>
        <p:spPr>
          <a:xfrm>
            <a:off x="4554324" y="44815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Oval 453"/>
          <p:cNvSpPr/>
          <p:nvPr/>
        </p:nvSpPr>
        <p:spPr>
          <a:xfrm>
            <a:off x="4481300" y="4438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Oval 454"/>
          <p:cNvSpPr/>
          <p:nvPr/>
        </p:nvSpPr>
        <p:spPr>
          <a:xfrm>
            <a:off x="4610148" y="44848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Oval 455"/>
          <p:cNvSpPr/>
          <p:nvPr/>
        </p:nvSpPr>
        <p:spPr>
          <a:xfrm>
            <a:off x="4575749" y="4422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Oval 456"/>
          <p:cNvSpPr/>
          <p:nvPr/>
        </p:nvSpPr>
        <p:spPr>
          <a:xfrm>
            <a:off x="4384438" y="4461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Oval 457"/>
          <p:cNvSpPr/>
          <p:nvPr/>
        </p:nvSpPr>
        <p:spPr>
          <a:xfrm>
            <a:off x="4542858" y="4492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Oval 458"/>
          <p:cNvSpPr/>
          <p:nvPr/>
        </p:nvSpPr>
        <p:spPr>
          <a:xfrm>
            <a:off x="4570317" y="4438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Oval 459"/>
          <p:cNvSpPr/>
          <p:nvPr/>
        </p:nvSpPr>
        <p:spPr>
          <a:xfrm>
            <a:off x="4479188" y="44050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Oval 460"/>
          <p:cNvSpPr/>
          <p:nvPr/>
        </p:nvSpPr>
        <p:spPr>
          <a:xfrm>
            <a:off x="4117387" y="4461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Oval 461"/>
          <p:cNvSpPr/>
          <p:nvPr/>
        </p:nvSpPr>
        <p:spPr>
          <a:xfrm>
            <a:off x="4448409" y="4493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Oval 462"/>
          <p:cNvSpPr/>
          <p:nvPr/>
        </p:nvSpPr>
        <p:spPr>
          <a:xfrm>
            <a:off x="4564282" y="44513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Oval 463"/>
          <p:cNvSpPr/>
          <p:nvPr/>
        </p:nvSpPr>
        <p:spPr>
          <a:xfrm>
            <a:off x="4563980" y="44797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Oval 464"/>
          <p:cNvSpPr/>
          <p:nvPr/>
        </p:nvSpPr>
        <p:spPr>
          <a:xfrm>
            <a:off x="4536521" y="4468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Oval 465"/>
          <p:cNvSpPr/>
          <p:nvPr/>
        </p:nvSpPr>
        <p:spPr>
          <a:xfrm>
            <a:off x="4478584" y="44268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Oval 466"/>
          <p:cNvSpPr/>
          <p:nvPr/>
        </p:nvSpPr>
        <p:spPr>
          <a:xfrm>
            <a:off x="3656008" y="4428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Oval 467"/>
          <p:cNvSpPr/>
          <p:nvPr/>
        </p:nvSpPr>
        <p:spPr>
          <a:xfrm>
            <a:off x="4569412" y="439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Oval 468"/>
          <p:cNvSpPr/>
          <p:nvPr/>
        </p:nvSpPr>
        <p:spPr>
          <a:xfrm>
            <a:off x="3972848" y="43965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Oval 469"/>
          <p:cNvSpPr/>
          <p:nvPr/>
        </p:nvSpPr>
        <p:spPr>
          <a:xfrm>
            <a:off x="3621005" y="44221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Oval 470"/>
          <p:cNvSpPr/>
          <p:nvPr/>
        </p:nvSpPr>
        <p:spPr>
          <a:xfrm>
            <a:off x="4114973" y="44510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Oval 471"/>
          <p:cNvSpPr/>
          <p:nvPr/>
        </p:nvSpPr>
        <p:spPr>
          <a:xfrm>
            <a:off x="4226621" y="4468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Oval 472"/>
          <p:cNvSpPr/>
          <p:nvPr/>
        </p:nvSpPr>
        <p:spPr>
          <a:xfrm>
            <a:off x="4192222" y="44054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Oval 473"/>
          <p:cNvSpPr/>
          <p:nvPr/>
        </p:nvSpPr>
        <p:spPr>
          <a:xfrm>
            <a:off x="4362712" y="44009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Oval 474"/>
          <p:cNvSpPr/>
          <p:nvPr/>
        </p:nvSpPr>
        <p:spPr>
          <a:xfrm>
            <a:off x="4121914" y="44129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Oval 475"/>
          <p:cNvSpPr/>
          <p:nvPr/>
        </p:nvSpPr>
        <p:spPr>
          <a:xfrm>
            <a:off x="4081177" y="44516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Oval 476"/>
          <p:cNvSpPr/>
          <p:nvPr/>
        </p:nvSpPr>
        <p:spPr>
          <a:xfrm>
            <a:off x="4557643" y="44735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Oval 477"/>
          <p:cNvSpPr/>
          <p:nvPr/>
        </p:nvSpPr>
        <p:spPr>
          <a:xfrm>
            <a:off x="4512682" y="44226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Oval 478"/>
          <p:cNvSpPr/>
          <p:nvPr/>
        </p:nvSpPr>
        <p:spPr>
          <a:xfrm>
            <a:off x="4318958" y="4438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Oval 479"/>
          <p:cNvSpPr/>
          <p:nvPr/>
        </p:nvSpPr>
        <p:spPr>
          <a:xfrm>
            <a:off x="4600794" y="447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Oval 480"/>
          <p:cNvSpPr/>
          <p:nvPr/>
        </p:nvSpPr>
        <p:spPr>
          <a:xfrm>
            <a:off x="4538030" y="44775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Oval 481"/>
          <p:cNvSpPr/>
          <p:nvPr/>
        </p:nvSpPr>
        <p:spPr>
          <a:xfrm>
            <a:off x="4551608" y="44739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Oval 482"/>
          <p:cNvSpPr/>
          <p:nvPr/>
        </p:nvSpPr>
        <p:spPr>
          <a:xfrm>
            <a:off x="3938448" y="44034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Oval 483"/>
          <p:cNvSpPr/>
          <p:nvPr/>
        </p:nvSpPr>
        <p:spPr>
          <a:xfrm>
            <a:off x="4590233" y="44521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Oval 484"/>
          <p:cNvSpPr/>
          <p:nvPr/>
        </p:nvSpPr>
        <p:spPr>
          <a:xfrm>
            <a:off x="4567601" y="44668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Oval 485"/>
          <p:cNvSpPr/>
          <p:nvPr/>
        </p:nvSpPr>
        <p:spPr>
          <a:xfrm>
            <a:off x="4480998" y="44385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Oval 486"/>
          <p:cNvSpPr/>
          <p:nvPr/>
        </p:nvSpPr>
        <p:spPr>
          <a:xfrm>
            <a:off x="4527770" y="44841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Oval 487"/>
          <p:cNvSpPr/>
          <p:nvPr/>
        </p:nvSpPr>
        <p:spPr>
          <a:xfrm>
            <a:off x="4381119" y="4479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Oval 488"/>
          <p:cNvSpPr/>
          <p:nvPr/>
        </p:nvSpPr>
        <p:spPr>
          <a:xfrm>
            <a:off x="4518114" y="44890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Oval 489"/>
          <p:cNvSpPr/>
          <p:nvPr/>
        </p:nvSpPr>
        <p:spPr>
          <a:xfrm>
            <a:off x="3987332" y="4412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Oval 490"/>
          <p:cNvSpPr/>
          <p:nvPr/>
        </p:nvSpPr>
        <p:spPr>
          <a:xfrm>
            <a:off x="4044665" y="466131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Oval 491"/>
          <p:cNvSpPr/>
          <p:nvPr/>
        </p:nvSpPr>
        <p:spPr>
          <a:xfrm>
            <a:off x="2512067" y="464540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Oval 492"/>
          <p:cNvSpPr/>
          <p:nvPr/>
        </p:nvSpPr>
        <p:spPr>
          <a:xfrm>
            <a:off x="2217255" y="466141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Oval 493"/>
          <p:cNvSpPr/>
          <p:nvPr/>
        </p:nvSpPr>
        <p:spPr>
          <a:xfrm>
            <a:off x="2474951" y="459940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3278517" y="469281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495"/>
          <p:cNvSpPr/>
          <p:nvPr/>
        </p:nvSpPr>
        <p:spPr>
          <a:xfrm>
            <a:off x="3613763" y="462155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Oval 496"/>
          <p:cNvSpPr/>
          <p:nvPr/>
        </p:nvSpPr>
        <p:spPr>
          <a:xfrm>
            <a:off x="3872365" y="466198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Oval 497"/>
          <p:cNvSpPr/>
          <p:nvPr/>
        </p:nvSpPr>
        <p:spPr>
          <a:xfrm>
            <a:off x="3705496" y="460352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Oval 498"/>
          <p:cNvSpPr/>
          <p:nvPr/>
        </p:nvSpPr>
        <p:spPr>
          <a:xfrm>
            <a:off x="4262228" y="462438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3509055" y="461788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3649370" y="46306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616473" y="468329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468922" y="467161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Oval 503"/>
          <p:cNvSpPr/>
          <p:nvPr/>
        </p:nvSpPr>
        <p:spPr>
          <a:xfrm>
            <a:off x="3425470" y="46384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Oval 504"/>
          <p:cNvSpPr/>
          <p:nvPr/>
        </p:nvSpPr>
        <p:spPr>
          <a:xfrm>
            <a:off x="2315324" y="46184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Oval 505"/>
          <p:cNvSpPr/>
          <p:nvPr/>
        </p:nvSpPr>
        <p:spPr>
          <a:xfrm>
            <a:off x="3724808" y="468533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Oval 506"/>
          <p:cNvSpPr/>
          <p:nvPr/>
        </p:nvSpPr>
        <p:spPr>
          <a:xfrm>
            <a:off x="3756794" y="46780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Oval 507"/>
          <p:cNvSpPr/>
          <p:nvPr/>
        </p:nvSpPr>
        <p:spPr>
          <a:xfrm>
            <a:off x="1692508" y="463547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Oval 508"/>
          <p:cNvSpPr/>
          <p:nvPr/>
        </p:nvSpPr>
        <p:spPr>
          <a:xfrm>
            <a:off x="2162336" y="469366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Oval 509"/>
          <p:cNvSpPr/>
          <p:nvPr/>
        </p:nvSpPr>
        <p:spPr>
          <a:xfrm>
            <a:off x="1730227" y="46734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Oval 510"/>
          <p:cNvSpPr/>
          <p:nvPr/>
        </p:nvSpPr>
        <p:spPr>
          <a:xfrm>
            <a:off x="2562157" y="467980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Oval 511"/>
          <p:cNvSpPr/>
          <p:nvPr/>
        </p:nvSpPr>
        <p:spPr>
          <a:xfrm>
            <a:off x="1713329" y="46406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Oval 512"/>
          <p:cNvSpPr/>
          <p:nvPr/>
        </p:nvSpPr>
        <p:spPr>
          <a:xfrm>
            <a:off x="2009650" y="461696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Oval 513"/>
          <p:cNvSpPr/>
          <p:nvPr/>
        </p:nvSpPr>
        <p:spPr>
          <a:xfrm>
            <a:off x="1880198" y="460575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108 of 123</a:t>
            </a:r>
          </a:p>
          <a:p>
            <a:pPr algn="l">
              <a:lnSpc>
                <a:spcPct val="109000"/>
              </a:lnSpc>
              <a:spcBef>
                <a:spcPts val="0"/>
              </a:spcBef>
              <a:spcAft>
                <a:spcPts val="0"/>
              </a:spcAft>
            </a:pPr>
            <a:r>
              <a:rPr sz="1250" b="0">
                <a:solidFill>
                  <a:srgbClr val="00407A"/>
                </a:solidFill>
                <a:latin typeface="Arial"/>
              </a:rPr>
              <a:t>are “yes”</a:t>
            </a:r>
          </a:p>
        </p:txBody>
      </p:sp>
      <p:sp>
        <p:nvSpPr>
          <p:cNvPr id="516" name="TextBox 515"/>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517" name="Rounded Rectangle 516"/>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TextBox 517"/>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519" name="TextBox 518"/>
          <p:cNvSpPr txBox="1"/>
          <p:nvPr/>
        </p:nvSpPr>
        <p:spPr>
          <a:xfrm>
            <a:off x="640994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vlog accepts: 114</a:t>
            </a:r>
            <a:r>
              <a:rPr sz="1250">
                <a:solidFill>
                  <a:srgbClr val="E97132"/>
                </a:solidFill>
                <a:latin typeface="Arial"/>
              </a:rPr>
              <a:t>      ●</a:t>
            </a:r>
            <a:r>
              <a:rPr sz="1250">
                <a:solidFill>
                  <a:srgbClr val="4A5A66"/>
                </a:solidFill>
                <a:latin typeface="Arial"/>
              </a:rPr>
              <a:t> vlog rejects: 9</a:t>
            </a:r>
          </a:p>
        </p:txBody>
      </p:sp>
      <p:cxnSp>
        <p:nvCxnSpPr>
          <p:cNvPr id="520" name="Connector 519"/>
          <p:cNvCxnSpPr/>
          <p:nvPr/>
        </p:nvCxnSpPr>
        <p:spPr>
          <a:xfrm>
            <a:off x="705916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1" name="TextBox 520"/>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22" name="Connector 521"/>
          <p:cNvCxnSpPr/>
          <p:nvPr/>
        </p:nvCxnSpPr>
        <p:spPr>
          <a:xfrm>
            <a:off x="856792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523" name="TextBox 522"/>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524" name="Connector 523"/>
          <p:cNvCxnSpPr/>
          <p:nvPr/>
        </p:nvCxnSpPr>
        <p:spPr>
          <a:xfrm>
            <a:off x="1007668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526" name="TextBox 525"/>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527" name="Oval 526"/>
          <p:cNvSpPr/>
          <p:nvPr/>
        </p:nvSpPr>
        <p:spPr>
          <a:xfrm>
            <a:off x="8142997" y="29200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Oval 527"/>
          <p:cNvSpPr/>
          <p:nvPr/>
        </p:nvSpPr>
        <p:spPr>
          <a:xfrm>
            <a:off x="8250119" y="2948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Oval 528"/>
          <p:cNvSpPr/>
          <p:nvPr/>
        </p:nvSpPr>
        <p:spPr>
          <a:xfrm>
            <a:off x="7938409" y="29608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Oval 529"/>
          <p:cNvSpPr/>
          <p:nvPr/>
        </p:nvSpPr>
        <p:spPr>
          <a:xfrm>
            <a:off x="7990914" y="29696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Oval 530"/>
          <p:cNvSpPr/>
          <p:nvPr/>
        </p:nvSpPr>
        <p:spPr>
          <a:xfrm>
            <a:off x="8198217" y="29022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Oval 531"/>
          <p:cNvSpPr/>
          <p:nvPr/>
        </p:nvSpPr>
        <p:spPr>
          <a:xfrm>
            <a:off x="7877153" y="2973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Oval 532"/>
          <p:cNvSpPr/>
          <p:nvPr/>
        </p:nvSpPr>
        <p:spPr>
          <a:xfrm>
            <a:off x="8126702" y="29356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Oval 533"/>
          <p:cNvSpPr/>
          <p:nvPr/>
        </p:nvSpPr>
        <p:spPr>
          <a:xfrm>
            <a:off x="8127607" y="29040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Oval 534"/>
          <p:cNvSpPr/>
          <p:nvPr/>
        </p:nvSpPr>
        <p:spPr>
          <a:xfrm>
            <a:off x="8095320" y="29759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Oval 535"/>
          <p:cNvSpPr/>
          <p:nvPr/>
        </p:nvSpPr>
        <p:spPr>
          <a:xfrm>
            <a:off x="8199424" y="2944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Oval 536"/>
          <p:cNvSpPr/>
          <p:nvPr/>
        </p:nvSpPr>
        <p:spPr>
          <a:xfrm>
            <a:off x="7795680" y="29570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Oval 537"/>
          <p:cNvSpPr/>
          <p:nvPr/>
        </p:nvSpPr>
        <p:spPr>
          <a:xfrm>
            <a:off x="7991819" y="2935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Oval 538"/>
          <p:cNvSpPr/>
          <p:nvPr/>
        </p:nvSpPr>
        <p:spPr>
          <a:xfrm>
            <a:off x="8143902" y="29533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Oval 539"/>
          <p:cNvSpPr/>
          <p:nvPr/>
        </p:nvSpPr>
        <p:spPr>
          <a:xfrm>
            <a:off x="8176189" y="28871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Oval 540"/>
          <p:cNvSpPr/>
          <p:nvPr/>
        </p:nvSpPr>
        <p:spPr>
          <a:xfrm>
            <a:off x="7815898" y="29578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Oval 541"/>
          <p:cNvSpPr/>
          <p:nvPr/>
        </p:nvSpPr>
        <p:spPr>
          <a:xfrm>
            <a:off x="7945651" y="29036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Oval 542"/>
          <p:cNvSpPr/>
          <p:nvPr/>
        </p:nvSpPr>
        <p:spPr>
          <a:xfrm>
            <a:off x="7999966" y="291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Oval 543"/>
          <p:cNvSpPr/>
          <p:nvPr/>
        </p:nvSpPr>
        <p:spPr>
          <a:xfrm>
            <a:off x="7932676" y="2922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Oval 544"/>
          <p:cNvSpPr/>
          <p:nvPr/>
        </p:nvSpPr>
        <p:spPr>
          <a:xfrm>
            <a:off x="7940521" y="2912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Oval 545"/>
          <p:cNvSpPr/>
          <p:nvPr/>
        </p:nvSpPr>
        <p:spPr>
          <a:xfrm>
            <a:off x="8008717" y="29251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Oval 546"/>
          <p:cNvSpPr/>
          <p:nvPr/>
        </p:nvSpPr>
        <p:spPr>
          <a:xfrm>
            <a:off x="7843659" y="2918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Oval 547"/>
          <p:cNvSpPr/>
          <p:nvPr/>
        </p:nvSpPr>
        <p:spPr>
          <a:xfrm>
            <a:off x="7805638" y="29284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Oval 548"/>
          <p:cNvSpPr/>
          <p:nvPr/>
        </p:nvSpPr>
        <p:spPr>
          <a:xfrm>
            <a:off x="7873834" y="29401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Oval 549"/>
          <p:cNvSpPr/>
          <p:nvPr/>
        </p:nvSpPr>
        <p:spPr>
          <a:xfrm>
            <a:off x="7919398" y="2952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Oval 550"/>
          <p:cNvSpPr/>
          <p:nvPr/>
        </p:nvSpPr>
        <p:spPr>
          <a:xfrm>
            <a:off x="7920605" y="2965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Oval 551"/>
          <p:cNvSpPr/>
          <p:nvPr/>
        </p:nvSpPr>
        <p:spPr>
          <a:xfrm>
            <a:off x="8086871" y="29420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Oval 552"/>
          <p:cNvSpPr/>
          <p:nvPr/>
        </p:nvSpPr>
        <p:spPr>
          <a:xfrm>
            <a:off x="7864781" y="2964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Oval 553"/>
          <p:cNvSpPr/>
          <p:nvPr/>
        </p:nvSpPr>
        <p:spPr>
          <a:xfrm>
            <a:off x="8096527" y="28960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Oval 554"/>
          <p:cNvSpPr/>
          <p:nvPr/>
        </p:nvSpPr>
        <p:spPr>
          <a:xfrm>
            <a:off x="8162611" y="29654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Oval 555"/>
          <p:cNvSpPr/>
          <p:nvPr/>
        </p:nvSpPr>
        <p:spPr>
          <a:xfrm>
            <a:off x="7853013" y="29308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Oval 556"/>
          <p:cNvSpPr/>
          <p:nvPr/>
        </p:nvSpPr>
        <p:spPr>
          <a:xfrm>
            <a:off x="7832796" y="28998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Oval 557"/>
          <p:cNvSpPr/>
          <p:nvPr/>
        </p:nvSpPr>
        <p:spPr>
          <a:xfrm>
            <a:off x="8051868" y="29579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Oval 558"/>
          <p:cNvSpPr/>
          <p:nvPr/>
        </p:nvSpPr>
        <p:spPr>
          <a:xfrm>
            <a:off x="8056092" y="298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Oval 559"/>
          <p:cNvSpPr/>
          <p:nvPr/>
        </p:nvSpPr>
        <p:spPr>
          <a:xfrm>
            <a:off x="7952591" y="28949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Oval 560"/>
          <p:cNvSpPr/>
          <p:nvPr/>
        </p:nvSpPr>
        <p:spPr>
          <a:xfrm>
            <a:off x="7885300" y="29245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Oval 561"/>
          <p:cNvSpPr/>
          <p:nvPr/>
        </p:nvSpPr>
        <p:spPr>
          <a:xfrm>
            <a:off x="7897672" y="29643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Oval 562"/>
          <p:cNvSpPr/>
          <p:nvPr/>
        </p:nvSpPr>
        <p:spPr>
          <a:xfrm>
            <a:off x="7766410" y="2905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Oval 563"/>
          <p:cNvSpPr/>
          <p:nvPr/>
        </p:nvSpPr>
        <p:spPr>
          <a:xfrm>
            <a:off x="7827666" y="2962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Oval 564"/>
          <p:cNvSpPr/>
          <p:nvPr/>
        </p:nvSpPr>
        <p:spPr>
          <a:xfrm>
            <a:off x="7855729" y="29031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Oval 565"/>
          <p:cNvSpPr/>
          <p:nvPr/>
        </p:nvSpPr>
        <p:spPr>
          <a:xfrm>
            <a:off x="8052471" y="29822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Oval 566"/>
          <p:cNvSpPr/>
          <p:nvPr/>
        </p:nvSpPr>
        <p:spPr>
          <a:xfrm>
            <a:off x="8010829" y="2947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Oval 567"/>
          <p:cNvSpPr/>
          <p:nvPr/>
        </p:nvSpPr>
        <p:spPr>
          <a:xfrm>
            <a:off x="8329781" y="29428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Oval 568"/>
          <p:cNvSpPr/>
          <p:nvPr/>
        </p:nvSpPr>
        <p:spPr>
          <a:xfrm>
            <a:off x="8021692" y="2959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Oval 569"/>
          <p:cNvSpPr/>
          <p:nvPr/>
        </p:nvSpPr>
        <p:spPr>
          <a:xfrm>
            <a:off x="8147825" y="2920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Oval 570"/>
          <p:cNvSpPr/>
          <p:nvPr/>
        </p:nvSpPr>
        <p:spPr>
          <a:xfrm>
            <a:off x="8300813" y="29334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Oval 571"/>
          <p:cNvSpPr/>
          <p:nvPr/>
        </p:nvSpPr>
        <p:spPr>
          <a:xfrm>
            <a:off x="7789645" y="29247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Oval 572"/>
          <p:cNvSpPr/>
          <p:nvPr/>
        </p:nvSpPr>
        <p:spPr>
          <a:xfrm>
            <a:off x="7803827" y="29301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Oval 573"/>
          <p:cNvSpPr/>
          <p:nvPr/>
        </p:nvSpPr>
        <p:spPr>
          <a:xfrm>
            <a:off x="8375647" y="2975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Oval 574"/>
          <p:cNvSpPr/>
          <p:nvPr/>
        </p:nvSpPr>
        <p:spPr>
          <a:xfrm>
            <a:off x="8203347" y="2973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Oval 575"/>
          <p:cNvSpPr/>
          <p:nvPr/>
        </p:nvSpPr>
        <p:spPr>
          <a:xfrm>
            <a:off x="8092906" y="29587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Oval 576"/>
          <p:cNvSpPr/>
          <p:nvPr/>
        </p:nvSpPr>
        <p:spPr>
          <a:xfrm>
            <a:off x="8006605" y="29579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Oval 577"/>
          <p:cNvSpPr/>
          <p:nvPr/>
        </p:nvSpPr>
        <p:spPr>
          <a:xfrm>
            <a:off x="8028331" y="2963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Oval 578"/>
          <p:cNvSpPr/>
          <p:nvPr/>
        </p:nvSpPr>
        <p:spPr>
          <a:xfrm>
            <a:off x="7683730" y="29000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Oval 579"/>
          <p:cNvSpPr/>
          <p:nvPr/>
        </p:nvSpPr>
        <p:spPr>
          <a:xfrm>
            <a:off x="7786024" y="295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Oval 580"/>
          <p:cNvSpPr/>
          <p:nvPr/>
        </p:nvSpPr>
        <p:spPr>
          <a:xfrm>
            <a:off x="7681014" y="29287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Oval 581"/>
          <p:cNvSpPr/>
          <p:nvPr/>
        </p:nvSpPr>
        <p:spPr>
          <a:xfrm>
            <a:off x="8095622" y="29321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Oval 582"/>
          <p:cNvSpPr/>
          <p:nvPr/>
        </p:nvSpPr>
        <p:spPr>
          <a:xfrm>
            <a:off x="8132435" y="29290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Oval 583"/>
          <p:cNvSpPr/>
          <p:nvPr/>
        </p:nvSpPr>
        <p:spPr>
          <a:xfrm>
            <a:off x="8146919" y="29334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Oval 584"/>
          <p:cNvSpPr/>
          <p:nvPr/>
        </p:nvSpPr>
        <p:spPr>
          <a:xfrm>
            <a:off x="8040099" y="28983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Oval 585"/>
          <p:cNvSpPr/>
          <p:nvPr/>
        </p:nvSpPr>
        <p:spPr>
          <a:xfrm>
            <a:off x="7647218" y="28935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Oval 586"/>
          <p:cNvSpPr/>
          <p:nvPr/>
        </p:nvSpPr>
        <p:spPr>
          <a:xfrm>
            <a:off x="7718432" y="29443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Oval 587"/>
          <p:cNvSpPr/>
          <p:nvPr/>
        </p:nvSpPr>
        <p:spPr>
          <a:xfrm>
            <a:off x="7801715" y="29530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Oval 588"/>
          <p:cNvSpPr/>
          <p:nvPr/>
        </p:nvSpPr>
        <p:spPr>
          <a:xfrm>
            <a:off x="7752228" y="29067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Oval 589"/>
          <p:cNvSpPr/>
          <p:nvPr/>
        </p:nvSpPr>
        <p:spPr>
          <a:xfrm>
            <a:off x="8114330" y="29241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Oval 590"/>
          <p:cNvSpPr/>
          <p:nvPr/>
        </p:nvSpPr>
        <p:spPr>
          <a:xfrm>
            <a:off x="8177095" y="29236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Oval 591"/>
          <p:cNvSpPr/>
          <p:nvPr/>
        </p:nvSpPr>
        <p:spPr>
          <a:xfrm>
            <a:off x="8091095" y="29491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Oval 592"/>
          <p:cNvSpPr/>
          <p:nvPr/>
        </p:nvSpPr>
        <p:spPr>
          <a:xfrm>
            <a:off x="8475226" y="29126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Oval 593"/>
          <p:cNvSpPr/>
          <p:nvPr/>
        </p:nvSpPr>
        <p:spPr>
          <a:xfrm>
            <a:off x="8415780" y="296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Oval 594"/>
          <p:cNvSpPr/>
          <p:nvPr/>
        </p:nvSpPr>
        <p:spPr>
          <a:xfrm>
            <a:off x="8177698" y="28976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Oval 595"/>
          <p:cNvSpPr/>
          <p:nvPr/>
        </p:nvSpPr>
        <p:spPr>
          <a:xfrm>
            <a:off x="8083250" y="28972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Oval 596"/>
          <p:cNvSpPr/>
          <p:nvPr/>
        </p:nvSpPr>
        <p:spPr>
          <a:xfrm>
            <a:off x="8278785" y="29809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Oval 597"/>
          <p:cNvSpPr/>
          <p:nvPr/>
        </p:nvSpPr>
        <p:spPr>
          <a:xfrm>
            <a:off x="7942030" y="29462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Oval 598"/>
          <p:cNvSpPr/>
          <p:nvPr/>
        </p:nvSpPr>
        <p:spPr>
          <a:xfrm>
            <a:off x="8063032" y="29671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Oval 599"/>
          <p:cNvSpPr/>
          <p:nvPr/>
        </p:nvSpPr>
        <p:spPr>
          <a:xfrm>
            <a:off x="8191881" y="29012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Oval 600"/>
          <p:cNvSpPr/>
          <p:nvPr/>
        </p:nvSpPr>
        <p:spPr>
          <a:xfrm>
            <a:off x="8174681" y="29771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Oval 601"/>
          <p:cNvSpPr/>
          <p:nvPr/>
        </p:nvSpPr>
        <p:spPr>
          <a:xfrm>
            <a:off x="8221754" y="29829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Oval 602"/>
          <p:cNvSpPr/>
          <p:nvPr/>
        </p:nvSpPr>
        <p:spPr>
          <a:xfrm>
            <a:off x="8288743" y="29616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Oval 603"/>
          <p:cNvSpPr/>
          <p:nvPr/>
        </p:nvSpPr>
        <p:spPr>
          <a:xfrm>
            <a:off x="8053980" y="2980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Oval 604"/>
          <p:cNvSpPr/>
          <p:nvPr/>
        </p:nvSpPr>
        <p:spPr>
          <a:xfrm>
            <a:off x="7749512" y="29166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Oval 605"/>
          <p:cNvSpPr/>
          <p:nvPr/>
        </p:nvSpPr>
        <p:spPr>
          <a:xfrm>
            <a:off x="7959230" y="2948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Oval 606"/>
          <p:cNvSpPr/>
          <p:nvPr/>
        </p:nvSpPr>
        <p:spPr>
          <a:xfrm>
            <a:off x="7958928" y="29846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Oval 607"/>
          <p:cNvSpPr/>
          <p:nvPr/>
        </p:nvSpPr>
        <p:spPr>
          <a:xfrm>
            <a:off x="8339739" y="2932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Oval 608"/>
          <p:cNvSpPr/>
          <p:nvPr/>
        </p:nvSpPr>
        <p:spPr>
          <a:xfrm>
            <a:off x="7805940" y="2969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Oval 609"/>
          <p:cNvSpPr/>
          <p:nvPr/>
        </p:nvSpPr>
        <p:spPr>
          <a:xfrm>
            <a:off x="8037082" y="29023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Oval 610"/>
          <p:cNvSpPr/>
          <p:nvPr/>
        </p:nvSpPr>
        <p:spPr>
          <a:xfrm>
            <a:off x="7828873" y="28996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Oval 611"/>
          <p:cNvSpPr/>
          <p:nvPr/>
        </p:nvSpPr>
        <p:spPr>
          <a:xfrm>
            <a:off x="8093811" y="29746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Oval 612"/>
          <p:cNvSpPr/>
          <p:nvPr/>
        </p:nvSpPr>
        <p:spPr>
          <a:xfrm>
            <a:off x="8029840" y="29173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Oval 613"/>
          <p:cNvSpPr/>
          <p:nvPr/>
        </p:nvSpPr>
        <p:spPr>
          <a:xfrm>
            <a:off x="7933883" y="29795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Oval 614"/>
          <p:cNvSpPr/>
          <p:nvPr/>
        </p:nvSpPr>
        <p:spPr>
          <a:xfrm>
            <a:off x="7932676" y="29601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Oval 615"/>
          <p:cNvSpPr/>
          <p:nvPr/>
        </p:nvSpPr>
        <p:spPr>
          <a:xfrm>
            <a:off x="8276069" y="2918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Oval 616"/>
          <p:cNvSpPr/>
          <p:nvPr/>
        </p:nvSpPr>
        <p:spPr>
          <a:xfrm>
            <a:off x="8262792" y="29371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Oval 617"/>
          <p:cNvSpPr/>
          <p:nvPr/>
        </p:nvSpPr>
        <p:spPr>
          <a:xfrm>
            <a:off x="8089888" y="29085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Oval 618"/>
          <p:cNvSpPr/>
          <p:nvPr/>
        </p:nvSpPr>
        <p:spPr>
          <a:xfrm>
            <a:off x="8089888" y="295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Oval 619"/>
          <p:cNvSpPr/>
          <p:nvPr/>
        </p:nvSpPr>
        <p:spPr>
          <a:xfrm>
            <a:off x="8100450" y="29164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Oval 620"/>
          <p:cNvSpPr/>
          <p:nvPr/>
        </p:nvSpPr>
        <p:spPr>
          <a:xfrm>
            <a:off x="8299908" y="29528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Oval 621"/>
          <p:cNvSpPr/>
          <p:nvPr/>
        </p:nvSpPr>
        <p:spPr>
          <a:xfrm>
            <a:off x="8151446" y="28951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Oval 622"/>
          <p:cNvSpPr/>
          <p:nvPr/>
        </p:nvSpPr>
        <p:spPr>
          <a:xfrm>
            <a:off x="7902802" y="2952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Oval 623"/>
          <p:cNvSpPr/>
          <p:nvPr/>
        </p:nvSpPr>
        <p:spPr>
          <a:xfrm>
            <a:off x="7910949" y="29717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Oval 624"/>
          <p:cNvSpPr/>
          <p:nvPr/>
        </p:nvSpPr>
        <p:spPr>
          <a:xfrm>
            <a:off x="8237143" y="29332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Oval 625"/>
          <p:cNvSpPr/>
          <p:nvPr/>
        </p:nvSpPr>
        <p:spPr>
          <a:xfrm>
            <a:off x="8002078" y="2929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Oval 626"/>
          <p:cNvSpPr/>
          <p:nvPr/>
        </p:nvSpPr>
        <p:spPr>
          <a:xfrm>
            <a:off x="8129418" y="29015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Oval 627"/>
          <p:cNvSpPr/>
          <p:nvPr/>
        </p:nvSpPr>
        <p:spPr>
          <a:xfrm>
            <a:off x="8254645" y="29806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Oval 628"/>
          <p:cNvSpPr/>
          <p:nvPr/>
        </p:nvSpPr>
        <p:spPr>
          <a:xfrm>
            <a:off x="7865083" y="2892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Oval 629"/>
          <p:cNvSpPr/>
          <p:nvPr/>
        </p:nvSpPr>
        <p:spPr>
          <a:xfrm>
            <a:off x="8013545" y="2885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Oval 630"/>
          <p:cNvSpPr/>
          <p:nvPr/>
        </p:nvSpPr>
        <p:spPr>
          <a:xfrm>
            <a:off x="8028633" y="29459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Oval 631"/>
          <p:cNvSpPr/>
          <p:nvPr/>
        </p:nvSpPr>
        <p:spPr>
          <a:xfrm>
            <a:off x="8154162" y="29427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Oval 632"/>
          <p:cNvSpPr/>
          <p:nvPr/>
        </p:nvSpPr>
        <p:spPr>
          <a:xfrm>
            <a:off x="8235936" y="29225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Oval 633"/>
          <p:cNvSpPr/>
          <p:nvPr/>
        </p:nvSpPr>
        <p:spPr>
          <a:xfrm>
            <a:off x="8032555" y="29030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Oval 634"/>
          <p:cNvSpPr/>
          <p:nvPr/>
        </p:nvSpPr>
        <p:spPr>
          <a:xfrm>
            <a:off x="7683428" y="29704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Oval 635"/>
          <p:cNvSpPr/>
          <p:nvPr/>
        </p:nvSpPr>
        <p:spPr>
          <a:xfrm>
            <a:off x="8162309" y="29065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Oval 636"/>
          <p:cNvSpPr/>
          <p:nvPr/>
        </p:nvSpPr>
        <p:spPr>
          <a:xfrm>
            <a:off x="8544629" y="28913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Oval 637"/>
          <p:cNvSpPr/>
          <p:nvPr/>
        </p:nvSpPr>
        <p:spPr>
          <a:xfrm>
            <a:off x="8130625" y="2916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Oval 638"/>
          <p:cNvSpPr/>
          <p:nvPr/>
        </p:nvSpPr>
        <p:spPr>
          <a:xfrm>
            <a:off x="7877757" y="29055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Oval 639"/>
          <p:cNvSpPr/>
          <p:nvPr/>
        </p:nvSpPr>
        <p:spPr>
          <a:xfrm>
            <a:off x="8362370" y="29040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Oval 640"/>
          <p:cNvSpPr/>
          <p:nvPr/>
        </p:nvSpPr>
        <p:spPr>
          <a:xfrm>
            <a:off x="8117046" y="31249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Oval 641"/>
          <p:cNvSpPr/>
          <p:nvPr/>
        </p:nvSpPr>
        <p:spPr>
          <a:xfrm>
            <a:off x="7888318" y="308735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Oval 642"/>
          <p:cNvSpPr/>
          <p:nvPr/>
        </p:nvSpPr>
        <p:spPr>
          <a:xfrm>
            <a:off x="8358749" y="31152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Oval 643"/>
          <p:cNvSpPr/>
          <p:nvPr/>
        </p:nvSpPr>
        <p:spPr>
          <a:xfrm>
            <a:off x="7770635" y="3105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Oval 644"/>
          <p:cNvSpPr/>
          <p:nvPr/>
        </p:nvSpPr>
        <p:spPr>
          <a:xfrm>
            <a:off x="8043419" y="314054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Oval 645"/>
          <p:cNvSpPr/>
          <p:nvPr/>
        </p:nvSpPr>
        <p:spPr>
          <a:xfrm>
            <a:off x="8016563" y="31375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Oval 646"/>
          <p:cNvSpPr/>
          <p:nvPr/>
        </p:nvSpPr>
        <p:spPr>
          <a:xfrm>
            <a:off x="7932676" y="3123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Oval 647"/>
          <p:cNvSpPr/>
          <p:nvPr/>
        </p:nvSpPr>
        <p:spPr>
          <a:xfrm>
            <a:off x="7966472" y="312401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Oval 648"/>
          <p:cNvSpPr/>
          <p:nvPr/>
        </p:nvSpPr>
        <p:spPr>
          <a:xfrm>
            <a:off x="7886507" y="31526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TextBox 649"/>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 of 123</a:t>
            </a:r>
          </a:p>
          <a:p>
            <a:pPr algn="l">
              <a:lnSpc>
                <a:spcPct val="109000"/>
              </a:lnSpc>
              <a:spcBef>
                <a:spcPts val="0"/>
              </a:spcBef>
              <a:spcAft>
                <a:spcPts val="0"/>
              </a:spcAft>
            </a:pPr>
            <a:r>
              <a:rPr sz="1250" b="0">
                <a:solidFill>
                  <a:srgbClr val="00407A"/>
                </a:solidFill>
                <a:latin typeface="Arial"/>
              </a:rPr>
              <a:t>are “yes”</a:t>
            </a:r>
          </a:p>
        </p:txBody>
      </p:sp>
      <p:sp>
        <p:nvSpPr>
          <p:cNvPr id="651" name="TextBox 650"/>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52" name="Oval 651"/>
          <p:cNvSpPr/>
          <p:nvPr/>
        </p:nvSpPr>
        <p:spPr>
          <a:xfrm>
            <a:off x="9848197" y="34230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Oval 652"/>
          <p:cNvSpPr/>
          <p:nvPr/>
        </p:nvSpPr>
        <p:spPr>
          <a:xfrm>
            <a:off x="9728402" y="34515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Oval 653"/>
          <p:cNvSpPr/>
          <p:nvPr/>
        </p:nvSpPr>
        <p:spPr>
          <a:xfrm>
            <a:off x="9850611" y="34638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Oval 654"/>
          <p:cNvSpPr/>
          <p:nvPr/>
        </p:nvSpPr>
        <p:spPr>
          <a:xfrm>
            <a:off x="8812584" y="3472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Oval 655"/>
          <p:cNvSpPr/>
          <p:nvPr/>
        </p:nvSpPr>
        <p:spPr>
          <a:xfrm>
            <a:off x="9608003" y="34051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Oval 656"/>
          <p:cNvSpPr/>
          <p:nvPr/>
        </p:nvSpPr>
        <p:spPr>
          <a:xfrm>
            <a:off x="9756465" y="34763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Oval 657"/>
          <p:cNvSpPr/>
          <p:nvPr/>
        </p:nvSpPr>
        <p:spPr>
          <a:xfrm>
            <a:off x="9732626" y="34385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Oval 658"/>
          <p:cNvSpPr/>
          <p:nvPr/>
        </p:nvSpPr>
        <p:spPr>
          <a:xfrm>
            <a:off x="9825868" y="34070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Oval 659"/>
          <p:cNvSpPr/>
          <p:nvPr/>
        </p:nvSpPr>
        <p:spPr>
          <a:xfrm>
            <a:off x="9595933" y="34789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Oval 660"/>
          <p:cNvSpPr/>
          <p:nvPr/>
        </p:nvSpPr>
        <p:spPr>
          <a:xfrm>
            <a:off x="9785735" y="34473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Oval 661"/>
          <p:cNvSpPr/>
          <p:nvPr/>
        </p:nvSpPr>
        <p:spPr>
          <a:xfrm>
            <a:off x="9616452" y="34600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Oval 662"/>
          <p:cNvSpPr/>
          <p:nvPr/>
        </p:nvSpPr>
        <p:spPr>
          <a:xfrm>
            <a:off x="9670465" y="3438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Oval 663"/>
          <p:cNvSpPr/>
          <p:nvPr/>
        </p:nvSpPr>
        <p:spPr>
          <a:xfrm>
            <a:off x="9351212" y="34562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Oval 664"/>
          <p:cNvSpPr/>
          <p:nvPr/>
        </p:nvSpPr>
        <p:spPr>
          <a:xfrm>
            <a:off x="9686760" y="33901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Oval 665"/>
          <p:cNvSpPr/>
          <p:nvPr/>
        </p:nvSpPr>
        <p:spPr>
          <a:xfrm>
            <a:off x="9719047" y="34607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Oval 666"/>
          <p:cNvSpPr/>
          <p:nvPr/>
        </p:nvSpPr>
        <p:spPr>
          <a:xfrm>
            <a:off x="9471912" y="34065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Oval 667"/>
          <p:cNvSpPr/>
          <p:nvPr/>
        </p:nvSpPr>
        <p:spPr>
          <a:xfrm>
            <a:off x="9331598" y="341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Oval 668"/>
          <p:cNvSpPr/>
          <p:nvPr/>
        </p:nvSpPr>
        <p:spPr>
          <a:xfrm>
            <a:off x="9656585" y="3425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Oval 669"/>
          <p:cNvSpPr/>
          <p:nvPr/>
        </p:nvSpPr>
        <p:spPr>
          <a:xfrm>
            <a:off x="9571189" y="3415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Oval 670"/>
          <p:cNvSpPr/>
          <p:nvPr/>
        </p:nvSpPr>
        <p:spPr>
          <a:xfrm>
            <a:off x="9583259" y="34280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Oval 671"/>
          <p:cNvSpPr/>
          <p:nvPr/>
        </p:nvSpPr>
        <p:spPr>
          <a:xfrm>
            <a:off x="9351212" y="34211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Oval 672"/>
          <p:cNvSpPr/>
          <p:nvPr/>
        </p:nvSpPr>
        <p:spPr>
          <a:xfrm>
            <a:off x="9569077" y="34313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Oval 673"/>
          <p:cNvSpPr/>
          <p:nvPr/>
        </p:nvSpPr>
        <p:spPr>
          <a:xfrm>
            <a:off x="9643911" y="34431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Oval 674"/>
          <p:cNvSpPr/>
          <p:nvPr/>
        </p:nvSpPr>
        <p:spPr>
          <a:xfrm>
            <a:off x="9782114" y="3455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Oval 675"/>
          <p:cNvSpPr/>
          <p:nvPr/>
        </p:nvSpPr>
        <p:spPr>
          <a:xfrm>
            <a:off x="9582957" y="346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Oval 676"/>
          <p:cNvSpPr/>
          <p:nvPr/>
        </p:nvSpPr>
        <p:spPr>
          <a:xfrm>
            <a:off x="9463162" y="34449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Oval 677"/>
          <p:cNvSpPr/>
          <p:nvPr/>
        </p:nvSpPr>
        <p:spPr>
          <a:xfrm>
            <a:off x="9473421" y="3467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Oval 678"/>
          <p:cNvSpPr/>
          <p:nvPr/>
        </p:nvSpPr>
        <p:spPr>
          <a:xfrm>
            <a:off x="9408243" y="33990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Oval 679"/>
          <p:cNvSpPr/>
          <p:nvPr/>
        </p:nvSpPr>
        <p:spPr>
          <a:xfrm>
            <a:off x="9558214" y="34683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Oval 680"/>
          <p:cNvSpPr/>
          <p:nvPr/>
        </p:nvSpPr>
        <p:spPr>
          <a:xfrm>
            <a:off x="9647834" y="34337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Oval 681"/>
          <p:cNvSpPr/>
          <p:nvPr/>
        </p:nvSpPr>
        <p:spPr>
          <a:xfrm>
            <a:off x="9598648" y="34028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Oval 682"/>
          <p:cNvSpPr/>
          <p:nvPr/>
        </p:nvSpPr>
        <p:spPr>
          <a:xfrm>
            <a:off x="9809875" y="34609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Oval 683"/>
          <p:cNvSpPr/>
          <p:nvPr/>
        </p:nvSpPr>
        <p:spPr>
          <a:xfrm>
            <a:off x="9479456" y="348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Oval 684"/>
          <p:cNvSpPr/>
          <p:nvPr/>
        </p:nvSpPr>
        <p:spPr>
          <a:xfrm>
            <a:off x="9432081" y="33978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Oval 685"/>
          <p:cNvSpPr/>
          <p:nvPr/>
        </p:nvSpPr>
        <p:spPr>
          <a:xfrm>
            <a:off x="9465274" y="3427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Oval 686"/>
          <p:cNvSpPr/>
          <p:nvPr/>
        </p:nvSpPr>
        <p:spPr>
          <a:xfrm>
            <a:off x="9628522" y="34672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Oval 687"/>
          <p:cNvSpPr/>
          <p:nvPr/>
        </p:nvSpPr>
        <p:spPr>
          <a:xfrm>
            <a:off x="9574810" y="3408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Oval 688"/>
          <p:cNvSpPr/>
          <p:nvPr/>
        </p:nvSpPr>
        <p:spPr>
          <a:xfrm>
            <a:off x="9554593" y="3465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Oval 689"/>
          <p:cNvSpPr/>
          <p:nvPr/>
        </p:nvSpPr>
        <p:spPr>
          <a:xfrm>
            <a:off x="9445358" y="34061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Oval 690"/>
          <p:cNvSpPr/>
          <p:nvPr/>
        </p:nvSpPr>
        <p:spPr>
          <a:xfrm>
            <a:off x="9496053" y="34851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Oval 691"/>
          <p:cNvSpPr/>
          <p:nvPr/>
        </p:nvSpPr>
        <p:spPr>
          <a:xfrm>
            <a:off x="9629729" y="3450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Oval 692"/>
          <p:cNvSpPr/>
          <p:nvPr/>
        </p:nvSpPr>
        <p:spPr>
          <a:xfrm>
            <a:off x="9792373" y="34457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Oval 693"/>
          <p:cNvSpPr/>
          <p:nvPr/>
        </p:nvSpPr>
        <p:spPr>
          <a:xfrm>
            <a:off x="9627013" y="346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Oval 694"/>
          <p:cNvSpPr/>
          <p:nvPr/>
        </p:nvSpPr>
        <p:spPr>
          <a:xfrm>
            <a:off x="9462860" y="3423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Oval 695"/>
          <p:cNvSpPr/>
          <p:nvPr/>
        </p:nvSpPr>
        <p:spPr>
          <a:xfrm>
            <a:off x="9506312" y="34363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Oval 696"/>
          <p:cNvSpPr/>
          <p:nvPr/>
        </p:nvSpPr>
        <p:spPr>
          <a:xfrm>
            <a:off x="9665637" y="3427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Oval 697"/>
          <p:cNvSpPr/>
          <p:nvPr/>
        </p:nvSpPr>
        <p:spPr>
          <a:xfrm>
            <a:off x="9666844" y="34330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Oval 698"/>
          <p:cNvSpPr/>
          <p:nvPr/>
        </p:nvSpPr>
        <p:spPr>
          <a:xfrm>
            <a:off x="9615245" y="3478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Oval 699"/>
          <p:cNvSpPr/>
          <p:nvPr/>
        </p:nvSpPr>
        <p:spPr>
          <a:xfrm>
            <a:off x="9718444" y="3476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Oval 700"/>
          <p:cNvSpPr/>
          <p:nvPr/>
        </p:nvSpPr>
        <p:spPr>
          <a:xfrm>
            <a:off x="9813496" y="34616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Oval 701"/>
          <p:cNvSpPr/>
          <p:nvPr/>
        </p:nvSpPr>
        <p:spPr>
          <a:xfrm>
            <a:off x="9509933" y="34608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Oval 702"/>
          <p:cNvSpPr/>
          <p:nvPr/>
        </p:nvSpPr>
        <p:spPr>
          <a:xfrm>
            <a:off x="9785131" y="3466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Oval 703"/>
          <p:cNvSpPr/>
          <p:nvPr/>
        </p:nvSpPr>
        <p:spPr>
          <a:xfrm>
            <a:off x="9784226" y="34029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Oval 704"/>
          <p:cNvSpPr/>
          <p:nvPr/>
        </p:nvSpPr>
        <p:spPr>
          <a:xfrm>
            <a:off x="9669258" y="346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Oval 705"/>
          <p:cNvSpPr/>
          <p:nvPr/>
        </p:nvSpPr>
        <p:spPr>
          <a:xfrm>
            <a:off x="9630332" y="34316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Oval 706"/>
          <p:cNvSpPr/>
          <p:nvPr/>
        </p:nvSpPr>
        <p:spPr>
          <a:xfrm>
            <a:off x="9821945" y="34350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Oval 707"/>
          <p:cNvSpPr/>
          <p:nvPr/>
        </p:nvSpPr>
        <p:spPr>
          <a:xfrm>
            <a:off x="9874450" y="3432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Oval 708"/>
          <p:cNvSpPr/>
          <p:nvPr/>
        </p:nvSpPr>
        <p:spPr>
          <a:xfrm>
            <a:off x="9837334" y="34364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Oval 709"/>
          <p:cNvSpPr/>
          <p:nvPr/>
        </p:nvSpPr>
        <p:spPr>
          <a:xfrm>
            <a:off x="9783019" y="3401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Oval 710"/>
          <p:cNvSpPr/>
          <p:nvPr/>
        </p:nvSpPr>
        <p:spPr>
          <a:xfrm>
            <a:off x="9762801" y="33964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Oval 711"/>
          <p:cNvSpPr/>
          <p:nvPr/>
        </p:nvSpPr>
        <p:spPr>
          <a:xfrm>
            <a:off x="9835825" y="34472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Oval 712"/>
          <p:cNvSpPr/>
          <p:nvPr/>
        </p:nvSpPr>
        <p:spPr>
          <a:xfrm>
            <a:off x="9750731" y="34559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Oval 713"/>
          <p:cNvSpPr/>
          <p:nvPr/>
        </p:nvSpPr>
        <p:spPr>
          <a:xfrm>
            <a:off x="9724781" y="34096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Oval 714"/>
          <p:cNvSpPr/>
          <p:nvPr/>
        </p:nvSpPr>
        <p:spPr>
          <a:xfrm>
            <a:off x="9841860" y="34271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Oval 715"/>
          <p:cNvSpPr/>
          <p:nvPr/>
        </p:nvSpPr>
        <p:spPr>
          <a:xfrm>
            <a:off x="9823152" y="34265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Oval 716"/>
          <p:cNvSpPr/>
          <p:nvPr/>
        </p:nvSpPr>
        <p:spPr>
          <a:xfrm>
            <a:off x="9727496" y="34520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Oval 717"/>
          <p:cNvSpPr/>
          <p:nvPr/>
        </p:nvSpPr>
        <p:spPr>
          <a:xfrm>
            <a:off x="9825566" y="34155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Oval 718"/>
          <p:cNvSpPr/>
          <p:nvPr/>
        </p:nvSpPr>
        <p:spPr>
          <a:xfrm>
            <a:off x="9792373" y="347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Oval 719"/>
          <p:cNvSpPr/>
          <p:nvPr/>
        </p:nvSpPr>
        <p:spPr>
          <a:xfrm>
            <a:off x="9821945" y="3400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Oval 720"/>
          <p:cNvSpPr/>
          <p:nvPr/>
        </p:nvSpPr>
        <p:spPr>
          <a:xfrm>
            <a:off x="9764310" y="34001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Oval 721"/>
          <p:cNvSpPr/>
          <p:nvPr/>
        </p:nvSpPr>
        <p:spPr>
          <a:xfrm>
            <a:off x="9764914" y="348389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Oval 722"/>
          <p:cNvSpPr/>
          <p:nvPr/>
        </p:nvSpPr>
        <p:spPr>
          <a:xfrm>
            <a:off x="9751938" y="34491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Oval 723"/>
          <p:cNvSpPr/>
          <p:nvPr/>
        </p:nvSpPr>
        <p:spPr>
          <a:xfrm>
            <a:off x="9787545" y="34701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Oval 724"/>
          <p:cNvSpPr/>
          <p:nvPr/>
        </p:nvSpPr>
        <p:spPr>
          <a:xfrm>
            <a:off x="9813798" y="34041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Oval 725"/>
          <p:cNvSpPr/>
          <p:nvPr/>
        </p:nvSpPr>
        <p:spPr>
          <a:xfrm>
            <a:off x="9848801" y="3480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Oval 726"/>
          <p:cNvSpPr/>
          <p:nvPr/>
        </p:nvSpPr>
        <p:spPr>
          <a:xfrm>
            <a:off x="9602571" y="3485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Oval 727"/>
          <p:cNvSpPr/>
          <p:nvPr/>
        </p:nvSpPr>
        <p:spPr>
          <a:xfrm>
            <a:off x="9719349" y="3464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Oval 728"/>
          <p:cNvSpPr/>
          <p:nvPr/>
        </p:nvSpPr>
        <p:spPr>
          <a:xfrm>
            <a:off x="9854534" y="3483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Oval 729"/>
          <p:cNvSpPr/>
          <p:nvPr/>
        </p:nvSpPr>
        <p:spPr>
          <a:xfrm>
            <a:off x="9614641" y="34195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Oval 730"/>
          <p:cNvSpPr/>
          <p:nvPr/>
        </p:nvSpPr>
        <p:spPr>
          <a:xfrm>
            <a:off x="9625806" y="3451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Oval 731"/>
          <p:cNvSpPr/>
          <p:nvPr/>
        </p:nvSpPr>
        <p:spPr>
          <a:xfrm>
            <a:off x="9479155" y="34875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Oval 732"/>
          <p:cNvSpPr/>
          <p:nvPr/>
        </p:nvSpPr>
        <p:spPr>
          <a:xfrm>
            <a:off x="9401906" y="3435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Oval 733"/>
          <p:cNvSpPr/>
          <p:nvPr/>
        </p:nvSpPr>
        <p:spPr>
          <a:xfrm>
            <a:off x="9531659" y="3472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Oval 734"/>
          <p:cNvSpPr/>
          <p:nvPr/>
        </p:nvSpPr>
        <p:spPr>
          <a:xfrm>
            <a:off x="9619167" y="34052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Oval 735"/>
          <p:cNvSpPr/>
          <p:nvPr/>
        </p:nvSpPr>
        <p:spPr>
          <a:xfrm>
            <a:off x="9552480" y="34025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Oval 736"/>
          <p:cNvSpPr/>
          <p:nvPr/>
        </p:nvSpPr>
        <p:spPr>
          <a:xfrm>
            <a:off x="9344875" y="34775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Oval 737"/>
          <p:cNvSpPr/>
          <p:nvPr/>
        </p:nvSpPr>
        <p:spPr>
          <a:xfrm>
            <a:off x="9592613" y="34202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Oval 738"/>
          <p:cNvSpPr/>
          <p:nvPr/>
        </p:nvSpPr>
        <p:spPr>
          <a:xfrm>
            <a:off x="9454713" y="34824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Oval 739"/>
          <p:cNvSpPr/>
          <p:nvPr/>
        </p:nvSpPr>
        <p:spPr>
          <a:xfrm>
            <a:off x="9455920" y="34631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Oval 740"/>
          <p:cNvSpPr/>
          <p:nvPr/>
        </p:nvSpPr>
        <p:spPr>
          <a:xfrm>
            <a:off x="9675293" y="3421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Oval 741"/>
          <p:cNvSpPr/>
          <p:nvPr/>
        </p:nvSpPr>
        <p:spPr>
          <a:xfrm>
            <a:off x="9003593" y="34401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Oval 742"/>
          <p:cNvSpPr/>
          <p:nvPr/>
        </p:nvSpPr>
        <p:spPr>
          <a:xfrm>
            <a:off x="7928149" y="34115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Oval 743"/>
          <p:cNvSpPr/>
          <p:nvPr/>
        </p:nvSpPr>
        <p:spPr>
          <a:xfrm>
            <a:off x="9714219" y="3454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Oval 744"/>
          <p:cNvSpPr/>
          <p:nvPr/>
        </p:nvSpPr>
        <p:spPr>
          <a:xfrm>
            <a:off x="9689777" y="34193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Oval 745"/>
          <p:cNvSpPr/>
          <p:nvPr/>
        </p:nvSpPr>
        <p:spPr>
          <a:xfrm>
            <a:off x="9487000" y="34557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Oval 746"/>
          <p:cNvSpPr/>
          <p:nvPr/>
        </p:nvSpPr>
        <p:spPr>
          <a:xfrm>
            <a:off x="8959839" y="33980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Oval 747"/>
          <p:cNvSpPr/>
          <p:nvPr/>
        </p:nvSpPr>
        <p:spPr>
          <a:xfrm>
            <a:off x="9525926" y="3455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Oval 748"/>
          <p:cNvSpPr/>
          <p:nvPr/>
        </p:nvSpPr>
        <p:spPr>
          <a:xfrm>
            <a:off x="9708788" y="34746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Oval 749"/>
          <p:cNvSpPr/>
          <p:nvPr/>
        </p:nvSpPr>
        <p:spPr>
          <a:xfrm>
            <a:off x="9734437" y="34361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Oval 750"/>
          <p:cNvSpPr/>
          <p:nvPr/>
        </p:nvSpPr>
        <p:spPr>
          <a:xfrm>
            <a:off x="9689174" y="3432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Oval 751"/>
          <p:cNvSpPr/>
          <p:nvPr/>
        </p:nvSpPr>
        <p:spPr>
          <a:xfrm>
            <a:off x="9838541" y="34044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Oval 752"/>
          <p:cNvSpPr/>
          <p:nvPr/>
        </p:nvSpPr>
        <p:spPr>
          <a:xfrm>
            <a:off x="9903116" y="34835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Oval 753"/>
          <p:cNvSpPr/>
          <p:nvPr/>
        </p:nvSpPr>
        <p:spPr>
          <a:xfrm>
            <a:off x="9751637" y="33950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Oval 754"/>
          <p:cNvSpPr/>
          <p:nvPr/>
        </p:nvSpPr>
        <p:spPr>
          <a:xfrm>
            <a:off x="9850913" y="3387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Oval 755"/>
          <p:cNvSpPr/>
          <p:nvPr/>
        </p:nvSpPr>
        <p:spPr>
          <a:xfrm>
            <a:off x="9892555" y="34488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Oval 756"/>
          <p:cNvSpPr/>
          <p:nvPr/>
        </p:nvSpPr>
        <p:spPr>
          <a:xfrm>
            <a:off x="9675595" y="34456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Oval 757"/>
          <p:cNvSpPr/>
          <p:nvPr/>
        </p:nvSpPr>
        <p:spPr>
          <a:xfrm>
            <a:off x="9763103" y="34254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Oval 758"/>
          <p:cNvSpPr/>
          <p:nvPr/>
        </p:nvSpPr>
        <p:spPr>
          <a:xfrm>
            <a:off x="9837636" y="34059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Oval 759"/>
          <p:cNvSpPr/>
          <p:nvPr/>
        </p:nvSpPr>
        <p:spPr>
          <a:xfrm>
            <a:off x="9118561" y="34733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Oval 760"/>
          <p:cNvSpPr/>
          <p:nvPr/>
        </p:nvSpPr>
        <p:spPr>
          <a:xfrm>
            <a:off x="9759180" y="34094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Oval 761"/>
          <p:cNvSpPr/>
          <p:nvPr/>
        </p:nvSpPr>
        <p:spPr>
          <a:xfrm>
            <a:off x="9829187" y="3394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Oval 762"/>
          <p:cNvSpPr/>
          <p:nvPr/>
        </p:nvSpPr>
        <p:spPr>
          <a:xfrm>
            <a:off x="9735342" y="3419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Oval 763"/>
          <p:cNvSpPr/>
          <p:nvPr/>
        </p:nvSpPr>
        <p:spPr>
          <a:xfrm>
            <a:off x="9689174" y="34084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Oval 764"/>
          <p:cNvSpPr/>
          <p:nvPr/>
        </p:nvSpPr>
        <p:spPr>
          <a:xfrm>
            <a:off x="9751637" y="34069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Oval 765"/>
          <p:cNvSpPr/>
          <p:nvPr/>
        </p:nvSpPr>
        <p:spPr>
          <a:xfrm>
            <a:off x="9545842" y="36278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Oval 766"/>
          <p:cNvSpPr/>
          <p:nvPr/>
        </p:nvSpPr>
        <p:spPr>
          <a:xfrm>
            <a:off x="9192792" y="359027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Oval 767"/>
          <p:cNvSpPr/>
          <p:nvPr/>
        </p:nvSpPr>
        <p:spPr>
          <a:xfrm>
            <a:off x="7531345" y="361815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Oval 768"/>
          <p:cNvSpPr/>
          <p:nvPr/>
        </p:nvSpPr>
        <p:spPr>
          <a:xfrm>
            <a:off x="9655981" y="3608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Oval 769"/>
          <p:cNvSpPr/>
          <p:nvPr/>
        </p:nvSpPr>
        <p:spPr>
          <a:xfrm>
            <a:off x="8299304" y="364346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Oval 770"/>
          <p:cNvSpPr/>
          <p:nvPr/>
        </p:nvSpPr>
        <p:spPr>
          <a:xfrm>
            <a:off x="9285128" y="36405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Oval 771"/>
          <p:cNvSpPr/>
          <p:nvPr/>
        </p:nvSpPr>
        <p:spPr>
          <a:xfrm>
            <a:off x="7284210" y="3625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Oval 772"/>
          <p:cNvSpPr/>
          <p:nvPr/>
        </p:nvSpPr>
        <p:spPr>
          <a:xfrm>
            <a:off x="9601364" y="36269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Oval 773"/>
          <p:cNvSpPr/>
          <p:nvPr/>
        </p:nvSpPr>
        <p:spPr>
          <a:xfrm>
            <a:off x="9148736" y="365559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TextBox 77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119 of 123</a:t>
            </a:r>
          </a:p>
          <a:p>
            <a:pPr algn="l">
              <a:lnSpc>
                <a:spcPct val="109000"/>
              </a:lnSpc>
              <a:spcBef>
                <a:spcPts val="0"/>
              </a:spcBef>
              <a:spcAft>
                <a:spcPts val="0"/>
              </a:spcAft>
            </a:pPr>
            <a:r>
              <a:rPr sz="1250" b="0">
                <a:solidFill>
                  <a:srgbClr val="00407A"/>
                </a:solidFill>
                <a:latin typeface="Arial"/>
              </a:rPr>
              <a:t>are “yes”</a:t>
            </a:r>
          </a:p>
        </p:txBody>
      </p:sp>
      <p:sp>
        <p:nvSpPr>
          <p:cNvPr id="776" name="TextBox 77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77" name="Oval 776"/>
          <p:cNvSpPr/>
          <p:nvPr/>
        </p:nvSpPr>
        <p:spPr>
          <a:xfrm>
            <a:off x="9834317" y="39259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Oval 777"/>
          <p:cNvSpPr/>
          <p:nvPr/>
        </p:nvSpPr>
        <p:spPr>
          <a:xfrm>
            <a:off x="9744998" y="39544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Oval 778"/>
          <p:cNvSpPr/>
          <p:nvPr/>
        </p:nvSpPr>
        <p:spPr>
          <a:xfrm>
            <a:off x="9836429" y="39667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Oval 779"/>
          <p:cNvSpPr/>
          <p:nvPr/>
        </p:nvSpPr>
        <p:spPr>
          <a:xfrm>
            <a:off x="9420011" y="39754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Oval 780"/>
          <p:cNvSpPr/>
          <p:nvPr/>
        </p:nvSpPr>
        <p:spPr>
          <a:xfrm>
            <a:off x="9614641" y="39080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Oval 781"/>
          <p:cNvSpPr/>
          <p:nvPr/>
        </p:nvSpPr>
        <p:spPr>
          <a:xfrm>
            <a:off x="9865095" y="39792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Oval 782"/>
          <p:cNvSpPr/>
          <p:nvPr/>
        </p:nvSpPr>
        <p:spPr>
          <a:xfrm>
            <a:off x="9706374" y="39414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Oval 783"/>
          <p:cNvSpPr/>
          <p:nvPr/>
        </p:nvSpPr>
        <p:spPr>
          <a:xfrm>
            <a:off x="9821643" y="39099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Oval 784"/>
          <p:cNvSpPr/>
          <p:nvPr/>
        </p:nvSpPr>
        <p:spPr>
          <a:xfrm>
            <a:off x="9267626" y="39818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Oval 785"/>
          <p:cNvSpPr/>
          <p:nvPr/>
        </p:nvSpPr>
        <p:spPr>
          <a:xfrm>
            <a:off x="9715728" y="39502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Oval 786"/>
          <p:cNvSpPr/>
          <p:nvPr/>
        </p:nvSpPr>
        <p:spPr>
          <a:xfrm>
            <a:off x="9651455" y="39629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Oval 787"/>
          <p:cNvSpPr/>
          <p:nvPr/>
        </p:nvSpPr>
        <p:spPr>
          <a:xfrm>
            <a:off x="9747110" y="39417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Oval 788"/>
          <p:cNvSpPr/>
          <p:nvPr/>
        </p:nvSpPr>
        <p:spPr>
          <a:xfrm>
            <a:off x="9709391" y="39591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Oval 789"/>
          <p:cNvSpPr/>
          <p:nvPr/>
        </p:nvSpPr>
        <p:spPr>
          <a:xfrm>
            <a:off x="9680725" y="38930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Oval 790"/>
          <p:cNvSpPr/>
          <p:nvPr/>
        </p:nvSpPr>
        <p:spPr>
          <a:xfrm>
            <a:off x="9732928" y="396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Oval 791"/>
          <p:cNvSpPr/>
          <p:nvPr/>
        </p:nvSpPr>
        <p:spPr>
          <a:xfrm>
            <a:off x="9559421" y="39094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Oval 792"/>
          <p:cNvSpPr/>
          <p:nvPr/>
        </p:nvSpPr>
        <p:spPr>
          <a:xfrm>
            <a:off x="9520193" y="391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Oval 793"/>
          <p:cNvSpPr/>
          <p:nvPr/>
        </p:nvSpPr>
        <p:spPr>
          <a:xfrm>
            <a:off x="9442341" y="39280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Oval 794"/>
          <p:cNvSpPr/>
          <p:nvPr/>
        </p:nvSpPr>
        <p:spPr>
          <a:xfrm>
            <a:off x="9547350" y="3918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Oval 795"/>
          <p:cNvSpPr/>
          <p:nvPr/>
        </p:nvSpPr>
        <p:spPr>
          <a:xfrm>
            <a:off x="9740774" y="39309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Oval 796"/>
          <p:cNvSpPr/>
          <p:nvPr/>
        </p:nvSpPr>
        <p:spPr>
          <a:xfrm>
            <a:off x="9558214" y="39240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Oval 797"/>
          <p:cNvSpPr/>
          <p:nvPr/>
        </p:nvSpPr>
        <p:spPr>
          <a:xfrm>
            <a:off x="9709693" y="39342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Oval 798"/>
          <p:cNvSpPr/>
          <p:nvPr/>
        </p:nvSpPr>
        <p:spPr>
          <a:xfrm>
            <a:off x="9750430" y="39460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Oval 799"/>
          <p:cNvSpPr/>
          <p:nvPr/>
        </p:nvSpPr>
        <p:spPr>
          <a:xfrm>
            <a:off x="9606192" y="3958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Oval 800"/>
          <p:cNvSpPr/>
          <p:nvPr/>
        </p:nvSpPr>
        <p:spPr>
          <a:xfrm>
            <a:off x="9460446" y="397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Oval 801"/>
          <p:cNvSpPr/>
          <p:nvPr/>
        </p:nvSpPr>
        <p:spPr>
          <a:xfrm>
            <a:off x="9539807" y="3947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Oval 802"/>
          <p:cNvSpPr/>
          <p:nvPr/>
        </p:nvSpPr>
        <p:spPr>
          <a:xfrm>
            <a:off x="9737152" y="3970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Oval 803"/>
          <p:cNvSpPr/>
          <p:nvPr/>
        </p:nvSpPr>
        <p:spPr>
          <a:xfrm>
            <a:off x="9217234" y="39019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Oval 804"/>
          <p:cNvSpPr/>
          <p:nvPr/>
        </p:nvSpPr>
        <p:spPr>
          <a:xfrm>
            <a:off x="9639988" y="39712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Oval 805"/>
          <p:cNvSpPr/>
          <p:nvPr/>
        </p:nvSpPr>
        <p:spPr>
          <a:xfrm>
            <a:off x="9671672" y="39366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Oval 806"/>
          <p:cNvSpPr/>
          <p:nvPr/>
        </p:nvSpPr>
        <p:spPr>
          <a:xfrm>
            <a:off x="9667146" y="39057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Oval 807"/>
          <p:cNvSpPr/>
          <p:nvPr/>
        </p:nvSpPr>
        <p:spPr>
          <a:xfrm>
            <a:off x="9808668" y="39638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Oval 808"/>
          <p:cNvSpPr/>
          <p:nvPr/>
        </p:nvSpPr>
        <p:spPr>
          <a:xfrm>
            <a:off x="9567266" y="398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Oval 809"/>
          <p:cNvSpPr/>
          <p:nvPr/>
        </p:nvSpPr>
        <p:spPr>
          <a:xfrm>
            <a:off x="9573905" y="39007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Oval 810"/>
          <p:cNvSpPr/>
          <p:nvPr/>
        </p:nvSpPr>
        <p:spPr>
          <a:xfrm>
            <a:off x="9730514" y="3930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Oval 811"/>
          <p:cNvSpPr/>
          <p:nvPr/>
        </p:nvSpPr>
        <p:spPr>
          <a:xfrm>
            <a:off x="9458937" y="39702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Oval 812"/>
          <p:cNvSpPr/>
          <p:nvPr/>
        </p:nvSpPr>
        <p:spPr>
          <a:xfrm>
            <a:off x="9567568" y="3911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Oval 813"/>
          <p:cNvSpPr/>
          <p:nvPr/>
        </p:nvSpPr>
        <p:spPr>
          <a:xfrm>
            <a:off x="9647532" y="3968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Oval 814"/>
          <p:cNvSpPr/>
          <p:nvPr/>
        </p:nvSpPr>
        <p:spPr>
          <a:xfrm>
            <a:off x="9651153" y="39090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Oval 815"/>
          <p:cNvSpPr/>
          <p:nvPr/>
        </p:nvSpPr>
        <p:spPr>
          <a:xfrm>
            <a:off x="9582354" y="39880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Oval 816"/>
          <p:cNvSpPr/>
          <p:nvPr/>
        </p:nvSpPr>
        <p:spPr>
          <a:xfrm>
            <a:off x="9647834" y="3953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Oval 817"/>
          <p:cNvSpPr/>
          <p:nvPr/>
        </p:nvSpPr>
        <p:spPr>
          <a:xfrm>
            <a:off x="9850913" y="39487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Oval 818"/>
          <p:cNvSpPr/>
          <p:nvPr/>
        </p:nvSpPr>
        <p:spPr>
          <a:xfrm>
            <a:off x="9735342" y="396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Oval 819"/>
          <p:cNvSpPr/>
          <p:nvPr/>
        </p:nvSpPr>
        <p:spPr>
          <a:xfrm>
            <a:off x="9697019" y="3926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Oval 820"/>
          <p:cNvSpPr/>
          <p:nvPr/>
        </p:nvSpPr>
        <p:spPr>
          <a:xfrm>
            <a:off x="9688570" y="39392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Oval 821"/>
          <p:cNvSpPr/>
          <p:nvPr/>
        </p:nvSpPr>
        <p:spPr>
          <a:xfrm>
            <a:off x="9707883" y="3930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Oval 822"/>
          <p:cNvSpPr/>
          <p:nvPr/>
        </p:nvSpPr>
        <p:spPr>
          <a:xfrm>
            <a:off x="9619469" y="3935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Oval 823"/>
          <p:cNvSpPr/>
          <p:nvPr/>
        </p:nvSpPr>
        <p:spPr>
          <a:xfrm>
            <a:off x="9370826" y="3981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Oval 824"/>
          <p:cNvSpPr/>
          <p:nvPr/>
        </p:nvSpPr>
        <p:spPr>
          <a:xfrm>
            <a:off x="9714521" y="3979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Oval 825"/>
          <p:cNvSpPr/>
          <p:nvPr/>
        </p:nvSpPr>
        <p:spPr>
          <a:xfrm>
            <a:off x="9807159" y="39645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Oval 826"/>
          <p:cNvSpPr/>
          <p:nvPr/>
        </p:nvSpPr>
        <p:spPr>
          <a:xfrm>
            <a:off x="9144813" y="39638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Oval 827"/>
          <p:cNvSpPr/>
          <p:nvPr/>
        </p:nvSpPr>
        <p:spPr>
          <a:xfrm>
            <a:off x="9665034" y="39697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Oval 828"/>
          <p:cNvSpPr/>
          <p:nvPr/>
        </p:nvSpPr>
        <p:spPr>
          <a:xfrm>
            <a:off x="9745602" y="39058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Oval 829"/>
          <p:cNvSpPr/>
          <p:nvPr/>
        </p:nvSpPr>
        <p:spPr>
          <a:xfrm>
            <a:off x="9653869" y="396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Oval 830"/>
          <p:cNvSpPr/>
          <p:nvPr/>
        </p:nvSpPr>
        <p:spPr>
          <a:xfrm>
            <a:off x="9339142" y="3934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Oval 831"/>
          <p:cNvSpPr/>
          <p:nvPr/>
        </p:nvSpPr>
        <p:spPr>
          <a:xfrm>
            <a:off x="9812892" y="39380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Oval 832"/>
          <p:cNvSpPr/>
          <p:nvPr/>
        </p:nvSpPr>
        <p:spPr>
          <a:xfrm>
            <a:off x="9872941" y="3934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Oval 833"/>
          <p:cNvSpPr/>
          <p:nvPr/>
        </p:nvSpPr>
        <p:spPr>
          <a:xfrm>
            <a:off x="9814099" y="39393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Oval 834"/>
          <p:cNvSpPr/>
          <p:nvPr/>
        </p:nvSpPr>
        <p:spPr>
          <a:xfrm>
            <a:off x="9772156" y="3904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Oval 835"/>
          <p:cNvSpPr/>
          <p:nvPr/>
        </p:nvSpPr>
        <p:spPr>
          <a:xfrm>
            <a:off x="9772156" y="38993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Oval 836"/>
          <p:cNvSpPr/>
          <p:nvPr/>
        </p:nvSpPr>
        <p:spPr>
          <a:xfrm>
            <a:off x="9827980" y="39502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Oval 837"/>
          <p:cNvSpPr/>
          <p:nvPr/>
        </p:nvSpPr>
        <p:spPr>
          <a:xfrm>
            <a:off x="9812590" y="39589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Oval 838"/>
          <p:cNvSpPr/>
          <p:nvPr/>
        </p:nvSpPr>
        <p:spPr>
          <a:xfrm>
            <a:off x="9833110" y="39125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Oval 839"/>
          <p:cNvSpPr/>
          <p:nvPr/>
        </p:nvSpPr>
        <p:spPr>
          <a:xfrm>
            <a:off x="9881993" y="39300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Oval 840"/>
          <p:cNvSpPr/>
          <p:nvPr/>
        </p:nvSpPr>
        <p:spPr>
          <a:xfrm>
            <a:off x="9894969" y="39294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Oval 841"/>
          <p:cNvSpPr/>
          <p:nvPr/>
        </p:nvSpPr>
        <p:spPr>
          <a:xfrm>
            <a:off x="9851517" y="39549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Oval 842"/>
          <p:cNvSpPr/>
          <p:nvPr/>
        </p:nvSpPr>
        <p:spPr>
          <a:xfrm>
            <a:off x="9832506" y="39184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Oval 843"/>
          <p:cNvSpPr/>
          <p:nvPr/>
        </p:nvSpPr>
        <p:spPr>
          <a:xfrm>
            <a:off x="9841860" y="39740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Oval 844"/>
          <p:cNvSpPr/>
          <p:nvPr/>
        </p:nvSpPr>
        <p:spPr>
          <a:xfrm>
            <a:off x="9853931" y="3903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Oval 845"/>
          <p:cNvSpPr/>
          <p:nvPr/>
        </p:nvSpPr>
        <p:spPr>
          <a:xfrm>
            <a:off x="9782717" y="39030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Oval 846"/>
          <p:cNvSpPr/>
          <p:nvPr/>
        </p:nvSpPr>
        <p:spPr>
          <a:xfrm>
            <a:off x="9580543" y="398681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Oval 847"/>
          <p:cNvSpPr/>
          <p:nvPr/>
        </p:nvSpPr>
        <p:spPr>
          <a:xfrm>
            <a:off x="9805650" y="39521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Oval 848"/>
          <p:cNvSpPr/>
          <p:nvPr/>
        </p:nvSpPr>
        <p:spPr>
          <a:xfrm>
            <a:off x="9834618" y="39730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Oval 849"/>
          <p:cNvSpPr/>
          <p:nvPr/>
        </p:nvSpPr>
        <p:spPr>
          <a:xfrm>
            <a:off x="9786942" y="3907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Oval 850"/>
          <p:cNvSpPr/>
          <p:nvPr/>
        </p:nvSpPr>
        <p:spPr>
          <a:xfrm>
            <a:off x="9827376" y="3982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Oval 851"/>
          <p:cNvSpPr/>
          <p:nvPr/>
        </p:nvSpPr>
        <p:spPr>
          <a:xfrm>
            <a:off x="9710900" y="3988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Oval 852"/>
          <p:cNvSpPr/>
          <p:nvPr/>
        </p:nvSpPr>
        <p:spPr>
          <a:xfrm>
            <a:off x="9600459" y="39674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Oval 853"/>
          <p:cNvSpPr/>
          <p:nvPr/>
        </p:nvSpPr>
        <p:spPr>
          <a:xfrm>
            <a:off x="9846387" y="3986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Oval 854"/>
          <p:cNvSpPr/>
          <p:nvPr/>
        </p:nvSpPr>
        <p:spPr>
          <a:xfrm>
            <a:off x="9460446" y="39224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Oval 855"/>
          <p:cNvSpPr/>
          <p:nvPr/>
        </p:nvSpPr>
        <p:spPr>
          <a:xfrm>
            <a:off x="9304138" y="39545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Oval 856"/>
          <p:cNvSpPr/>
          <p:nvPr/>
        </p:nvSpPr>
        <p:spPr>
          <a:xfrm>
            <a:off x="9533470" y="39904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Oval 857"/>
          <p:cNvSpPr/>
          <p:nvPr/>
        </p:nvSpPr>
        <p:spPr>
          <a:xfrm>
            <a:off x="9685553" y="39387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Oval 858"/>
          <p:cNvSpPr/>
          <p:nvPr/>
        </p:nvSpPr>
        <p:spPr>
          <a:xfrm>
            <a:off x="9558817" y="3975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Oval 859"/>
          <p:cNvSpPr/>
          <p:nvPr/>
        </p:nvSpPr>
        <p:spPr>
          <a:xfrm>
            <a:off x="9646929" y="39082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Oval 860"/>
          <p:cNvSpPr/>
          <p:nvPr/>
        </p:nvSpPr>
        <p:spPr>
          <a:xfrm>
            <a:off x="9644213" y="39054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Oval 861"/>
          <p:cNvSpPr/>
          <p:nvPr/>
        </p:nvSpPr>
        <p:spPr>
          <a:xfrm>
            <a:off x="9706676" y="39804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Oval 862"/>
          <p:cNvSpPr/>
          <p:nvPr/>
        </p:nvSpPr>
        <p:spPr>
          <a:xfrm>
            <a:off x="9689174" y="39231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Oval 863"/>
          <p:cNvSpPr/>
          <p:nvPr/>
        </p:nvSpPr>
        <p:spPr>
          <a:xfrm>
            <a:off x="9568775" y="39853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Oval 864"/>
          <p:cNvSpPr/>
          <p:nvPr/>
        </p:nvSpPr>
        <p:spPr>
          <a:xfrm>
            <a:off x="9556101" y="39660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Oval 865"/>
          <p:cNvSpPr/>
          <p:nvPr/>
        </p:nvSpPr>
        <p:spPr>
          <a:xfrm>
            <a:off x="8929966" y="3924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Oval 866"/>
          <p:cNvSpPr/>
          <p:nvPr/>
        </p:nvSpPr>
        <p:spPr>
          <a:xfrm>
            <a:off x="7361459" y="39430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Oval 867"/>
          <p:cNvSpPr/>
          <p:nvPr/>
        </p:nvSpPr>
        <p:spPr>
          <a:xfrm>
            <a:off x="7459830" y="39144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Oval 868"/>
          <p:cNvSpPr/>
          <p:nvPr/>
        </p:nvSpPr>
        <p:spPr>
          <a:xfrm>
            <a:off x="9750731" y="3957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Oval 869"/>
          <p:cNvSpPr/>
          <p:nvPr/>
        </p:nvSpPr>
        <p:spPr>
          <a:xfrm>
            <a:off x="9255255" y="39223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Oval 870"/>
          <p:cNvSpPr/>
          <p:nvPr/>
        </p:nvSpPr>
        <p:spPr>
          <a:xfrm>
            <a:off x="9235942" y="39586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Oval 871"/>
          <p:cNvSpPr/>
          <p:nvPr/>
        </p:nvSpPr>
        <p:spPr>
          <a:xfrm>
            <a:off x="9357548" y="39009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Oval 872"/>
          <p:cNvSpPr/>
          <p:nvPr/>
        </p:nvSpPr>
        <p:spPr>
          <a:xfrm>
            <a:off x="9437211" y="39587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Oval 873"/>
          <p:cNvSpPr/>
          <p:nvPr/>
        </p:nvSpPr>
        <p:spPr>
          <a:xfrm>
            <a:off x="9757672" y="397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Oval 874"/>
          <p:cNvSpPr/>
          <p:nvPr/>
        </p:nvSpPr>
        <p:spPr>
          <a:xfrm>
            <a:off x="9676802" y="3939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Oval 875"/>
          <p:cNvSpPr/>
          <p:nvPr/>
        </p:nvSpPr>
        <p:spPr>
          <a:xfrm>
            <a:off x="9665939" y="3934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Oval 876"/>
          <p:cNvSpPr/>
          <p:nvPr/>
        </p:nvSpPr>
        <p:spPr>
          <a:xfrm>
            <a:off x="9864492" y="39073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Oval 877"/>
          <p:cNvSpPr/>
          <p:nvPr/>
        </p:nvSpPr>
        <p:spPr>
          <a:xfrm>
            <a:off x="9697925" y="39864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Oval 878"/>
          <p:cNvSpPr/>
          <p:nvPr/>
        </p:nvSpPr>
        <p:spPr>
          <a:xfrm>
            <a:off x="9771854" y="38980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Oval 879"/>
          <p:cNvSpPr/>
          <p:nvPr/>
        </p:nvSpPr>
        <p:spPr>
          <a:xfrm>
            <a:off x="9890744" y="3890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Oval 880"/>
          <p:cNvSpPr/>
          <p:nvPr/>
        </p:nvSpPr>
        <p:spPr>
          <a:xfrm>
            <a:off x="9875958" y="39517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Oval 881"/>
          <p:cNvSpPr/>
          <p:nvPr/>
        </p:nvSpPr>
        <p:spPr>
          <a:xfrm>
            <a:off x="9722668" y="39485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Oval 882"/>
          <p:cNvSpPr/>
          <p:nvPr/>
        </p:nvSpPr>
        <p:spPr>
          <a:xfrm>
            <a:off x="9511140" y="39283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Oval 883"/>
          <p:cNvSpPr/>
          <p:nvPr/>
        </p:nvSpPr>
        <p:spPr>
          <a:xfrm>
            <a:off x="9851215" y="39088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Oval 884"/>
          <p:cNvSpPr/>
          <p:nvPr/>
        </p:nvSpPr>
        <p:spPr>
          <a:xfrm>
            <a:off x="9840955" y="39762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Oval 885"/>
          <p:cNvSpPr/>
          <p:nvPr/>
        </p:nvSpPr>
        <p:spPr>
          <a:xfrm>
            <a:off x="9671672" y="39123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Oval 886"/>
          <p:cNvSpPr/>
          <p:nvPr/>
        </p:nvSpPr>
        <p:spPr>
          <a:xfrm>
            <a:off x="9630936" y="3897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Oval 887"/>
          <p:cNvSpPr/>
          <p:nvPr/>
        </p:nvSpPr>
        <p:spPr>
          <a:xfrm>
            <a:off x="9757068" y="3922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Oval 888"/>
          <p:cNvSpPr/>
          <p:nvPr/>
        </p:nvSpPr>
        <p:spPr>
          <a:xfrm>
            <a:off x="9709391" y="39114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Oval 889"/>
          <p:cNvSpPr/>
          <p:nvPr/>
        </p:nvSpPr>
        <p:spPr>
          <a:xfrm>
            <a:off x="9610718" y="39098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Oval 890"/>
          <p:cNvSpPr/>
          <p:nvPr/>
        </p:nvSpPr>
        <p:spPr>
          <a:xfrm>
            <a:off x="8947468" y="413080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Oval 891"/>
          <p:cNvSpPr/>
          <p:nvPr/>
        </p:nvSpPr>
        <p:spPr>
          <a:xfrm>
            <a:off x="9439625" y="409319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Oval 892"/>
          <p:cNvSpPr/>
          <p:nvPr/>
        </p:nvSpPr>
        <p:spPr>
          <a:xfrm>
            <a:off x="7139068" y="41210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Oval 893"/>
          <p:cNvSpPr/>
          <p:nvPr/>
        </p:nvSpPr>
        <p:spPr>
          <a:xfrm>
            <a:off x="9577827" y="411102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Oval 894"/>
          <p:cNvSpPr/>
          <p:nvPr/>
        </p:nvSpPr>
        <p:spPr>
          <a:xfrm>
            <a:off x="7494532" y="414638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Oval 895"/>
          <p:cNvSpPr/>
          <p:nvPr/>
        </p:nvSpPr>
        <p:spPr>
          <a:xfrm>
            <a:off x="9529849" y="414342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Oval 896"/>
          <p:cNvSpPr/>
          <p:nvPr/>
        </p:nvSpPr>
        <p:spPr>
          <a:xfrm>
            <a:off x="7213299" y="412885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Oval 897"/>
          <p:cNvSpPr/>
          <p:nvPr/>
        </p:nvSpPr>
        <p:spPr>
          <a:xfrm>
            <a:off x="9689174" y="41298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Oval 898"/>
          <p:cNvSpPr/>
          <p:nvPr/>
        </p:nvSpPr>
        <p:spPr>
          <a:xfrm>
            <a:off x="7875946" y="415851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TextBox 899"/>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117 of 123</a:t>
            </a:r>
          </a:p>
          <a:p>
            <a:pPr algn="l">
              <a:lnSpc>
                <a:spcPct val="109000"/>
              </a:lnSpc>
              <a:spcBef>
                <a:spcPts val="0"/>
              </a:spcBef>
              <a:spcAft>
                <a:spcPts val="0"/>
              </a:spcAft>
            </a:pPr>
            <a:r>
              <a:rPr sz="1250" b="0">
                <a:solidFill>
                  <a:srgbClr val="00407A"/>
                </a:solidFill>
                <a:latin typeface="Arial"/>
              </a:rPr>
              <a:t>are “yes”</a:t>
            </a:r>
          </a:p>
        </p:txBody>
      </p:sp>
      <p:sp>
        <p:nvSpPr>
          <p:cNvPr id="901" name="TextBox 900"/>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902" name="Oval 901"/>
          <p:cNvSpPr/>
          <p:nvPr/>
        </p:nvSpPr>
        <p:spPr>
          <a:xfrm>
            <a:off x="9970709" y="44288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Oval 902"/>
          <p:cNvSpPr/>
          <p:nvPr/>
        </p:nvSpPr>
        <p:spPr>
          <a:xfrm>
            <a:off x="9285732" y="44574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9078126" y="44696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Oval 904"/>
          <p:cNvSpPr/>
          <p:nvPr/>
        </p:nvSpPr>
        <p:spPr>
          <a:xfrm>
            <a:off x="9003895" y="44783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Oval 905"/>
          <p:cNvSpPr/>
          <p:nvPr/>
        </p:nvSpPr>
        <p:spPr>
          <a:xfrm>
            <a:off x="9648437" y="44110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Oval 906"/>
          <p:cNvSpPr/>
          <p:nvPr/>
        </p:nvSpPr>
        <p:spPr>
          <a:xfrm>
            <a:off x="8841553" y="44822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Oval 907"/>
          <p:cNvSpPr/>
          <p:nvPr/>
        </p:nvSpPr>
        <p:spPr>
          <a:xfrm>
            <a:off x="9869320" y="44443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Oval 908"/>
          <p:cNvSpPr/>
          <p:nvPr/>
        </p:nvSpPr>
        <p:spPr>
          <a:xfrm>
            <a:off x="9654472" y="4412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Oval 909"/>
          <p:cNvSpPr/>
          <p:nvPr/>
        </p:nvSpPr>
        <p:spPr>
          <a:xfrm>
            <a:off x="9097137" y="44847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9802934" y="4453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Oval 911"/>
          <p:cNvSpPr/>
          <p:nvPr/>
        </p:nvSpPr>
        <p:spPr>
          <a:xfrm>
            <a:off x="9119164" y="44658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Oval 912"/>
          <p:cNvSpPr/>
          <p:nvPr/>
        </p:nvSpPr>
        <p:spPr>
          <a:xfrm>
            <a:off x="8566958" y="44446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Oval 913"/>
          <p:cNvSpPr/>
          <p:nvPr/>
        </p:nvSpPr>
        <p:spPr>
          <a:xfrm>
            <a:off x="9886821" y="44621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Oval 914"/>
          <p:cNvSpPr/>
          <p:nvPr/>
        </p:nvSpPr>
        <p:spPr>
          <a:xfrm>
            <a:off x="9068470" y="439595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Oval 915"/>
          <p:cNvSpPr/>
          <p:nvPr/>
        </p:nvSpPr>
        <p:spPr>
          <a:xfrm>
            <a:off x="8788444" y="446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Oval 916"/>
          <p:cNvSpPr/>
          <p:nvPr/>
        </p:nvSpPr>
        <p:spPr>
          <a:xfrm>
            <a:off x="7386203" y="4412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9562740" y="44207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Oval 918"/>
          <p:cNvSpPr/>
          <p:nvPr/>
        </p:nvSpPr>
        <p:spPr>
          <a:xfrm>
            <a:off x="9104077" y="4430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Oval 919"/>
          <p:cNvSpPr/>
          <p:nvPr/>
        </p:nvSpPr>
        <p:spPr>
          <a:xfrm>
            <a:off x="9538600" y="44209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Oval 920"/>
          <p:cNvSpPr/>
          <p:nvPr/>
        </p:nvSpPr>
        <p:spPr>
          <a:xfrm>
            <a:off x="9411562" y="44339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Oval 921"/>
          <p:cNvSpPr/>
          <p:nvPr/>
        </p:nvSpPr>
        <p:spPr>
          <a:xfrm>
            <a:off x="9413373" y="44269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Oval 922"/>
          <p:cNvSpPr/>
          <p:nvPr/>
        </p:nvSpPr>
        <p:spPr>
          <a:xfrm>
            <a:off x="9158392" y="44371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Oval 923"/>
          <p:cNvSpPr/>
          <p:nvPr/>
        </p:nvSpPr>
        <p:spPr>
          <a:xfrm>
            <a:off x="9924540" y="44489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Oval 924"/>
          <p:cNvSpPr/>
          <p:nvPr/>
        </p:nvSpPr>
        <p:spPr>
          <a:xfrm>
            <a:off x="9862078" y="44611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Oval 925"/>
          <p:cNvSpPr/>
          <p:nvPr/>
        </p:nvSpPr>
        <p:spPr>
          <a:xfrm>
            <a:off x="9265816" y="447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Oval 926"/>
          <p:cNvSpPr/>
          <p:nvPr/>
        </p:nvSpPr>
        <p:spPr>
          <a:xfrm>
            <a:off x="9666543" y="4450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Oval 927"/>
          <p:cNvSpPr/>
          <p:nvPr/>
        </p:nvSpPr>
        <p:spPr>
          <a:xfrm>
            <a:off x="9852724" y="44731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Oval 928"/>
          <p:cNvSpPr/>
          <p:nvPr/>
        </p:nvSpPr>
        <p:spPr>
          <a:xfrm>
            <a:off x="8738655" y="44048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Oval 929"/>
          <p:cNvSpPr/>
          <p:nvPr/>
        </p:nvSpPr>
        <p:spPr>
          <a:xfrm>
            <a:off x="9712711" y="44741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Oval 930"/>
          <p:cNvSpPr/>
          <p:nvPr/>
        </p:nvSpPr>
        <p:spPr>
          <a:xfrm>
            <a:off x="9315001" y="44395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Oval 931"/>
          <p:cNvSpPr/>
          <p:nvPr/>
        </p:nvSpPr>
        <p:spPr>
          <a:xfrm>
            <a:off x="9006611" y="44086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Oval 932"/>
          <p:cNvSpPr/>
          <p:nvPr/>
        </p:nvSpPr>
        <p:spPr>
          <a:xfrm>
            <a:off x="9731419" y="44667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Oval 933"/>
          <p:cNvSpPr/>
          <p:nvPr/>
        </p:nvSpPr>
        <p:spPr>
          <a:xfrm>
            <a:off x="9436909" y="449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Oval 934"/>
          <p:cNvSpPr/>
          <p:nvPr/>
        </p:nvSpPr>
        <p:spPr>
          <a:xfrm>
            <a:off x="9528642" y="44036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Oval 935"/>
          <p:cNvSpPr/>
          <p:nvPr/>
        </p:nvSpPr>
        <p:spPr>
          <a:xfrm>
            <a:off x="8915784" y="4433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Oval 936"/>
          <p:cNvSpPr/>
          <p:nvPr/>
        </p:nvSpPr>
        <p:spPr>
          <a:xfrm>
            <a:off x="8873538" y="4473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Oval 937"/>
          <p:cNvSpPr/>
          <p:nvPr/>
        </p:nvSpPr>
        <p:spPr>
          <a:xfrm>
            <a:off x="9576319" y="4414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Oval 938"/>
          <p:cNvSpPr/>
          <p:nvPr/>
        </p:nvSpPr>
        <p:spPr>
          <a:xfrm>
            <a:off x="9104077" y="4471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Oval 939"/>
          <p:cNvSpPr/>
          <p:nvPr/>
        </p:nvSpPr>
        <p:spPr>
          <a:xfrm>
            <a:off x="9047046" y="44119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Oval 940"/>
          <p:cNvSpPr/>
          <p:nvPr/>
        </p:nvSpPr>
        <p:spPr>
          <a:xfrm>
            <a:off x="8887419" y="449097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Oval 941"/>
          <p:cNvSpPr/>
          <p:nvPr/>
        </p:nvSpPr>
        <p:spPr>
          <a:xfrm>
            <a:off x="9635764" y="4456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Oval 942"/>
          <p:cNvSpPr/>
          <p:nvPr/>
        </p:nvSpPr>
        <p:spPr>
          <a:xfrm>
            <a:off x="8222056" y="44516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Oval 943"/>
          <p:cNvSpPr/>
          <p:nvPr/>
        </p:nvSpPr>
        <p:spPr>
          <a:xfrm>
            <a:off x="9371429" y="446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Oval 944"/>
          <p:cNvSpPr/>
          <p:nvPr/>
        </p:nvSpPr>
        <p:spPr>
          <a:xfrm>
            <a:off x="9833411" y="4429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Oval 945"/>
          <p:cNvSpPr/>
          <p:nvPr/>
        </p:nvSpPr>
        <p:spPr>
          <a:xfrm>
            <a:off x="9948077" y="4442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Oval 946"/>
          <p:cNvSpPr/>
          <p:nvPr/>
        </p:nvSpPr>
        <p:spPr>
          <a:xfrm>
            <a:off x="9645118" y="4433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Oval 947"/>
          <p:cNvSpPr/>
          <p:nvPr/>
        </p:nvSpPr>
        <p:spPr>
          <a:xfrm>
            <a:off x="9698226" y="4438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Oval 948"/>
          <p:cNvSpPr/>
          <p:nvPr/>
        </p:nvSpPr>
        <p:spPr>
          <a:xfrm>
            <a:off x="8564544" y="4484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Oval 949"/>
          <p:cNvSpPr/>
          <p:nvPr/>
        </p:nvSpPr>
        <p:spPr>
          <a:xfrm>
            <a:off x="9447772" y="4481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Oval 950"/>
          <p:cNvSpPr/>
          <p:nvPr/>
        </p:nvSpPr>
        <p:spPr>
          <a:xfrm>
            <a:off x="9803538" y="44674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Oval 951"/>
          <p:cNvSpPr/>
          <p:nvPr/>
        </p:nvSpPr>
        <p:spPr>
          <a:xfrm>
            <a:off x="8938717" y="44667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Oval 952"/>
          <p:cNvSpPr/>
          <p:nvPr/>
        </p:nvSpPr>
        <p:spPr>
          <a:xfrm>
            <a:off x="9770345" y="44726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Oval 953"/>
          <p:cNvSpPr/>
          <p:nvPr/>
        </p:nvSpPr>
        <p:spPr>
          <a:xfrm>
            <a:off x="9945060" y="44088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Oval 954"/>
          <p:cNvSpPr/>
          <p:nvPr/>
        </p:nvSpPr>
        <p:spPr>
          <a:xfrm>
            <a:off x="9373843" y="44685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Oval 955"/>
          <p:cNvSpPr/>
          <p:nvPr/>
        </p:nvSpPr>
        <p:spPr>
          <a:xfrm>
            <a:off x="9695812" y="4437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Oval 956"/>
          <p:cNvSpPr/>
          <p:nvPr/>
        </p:nvSpPr>
        <p:spPr>
          <a:xfrm>
            <a:off x="9899797" y="44409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Oval 957"/>
          <p:cNvSpPr/>
          <p:nvPr/>
        </p:nvSpPr>
        <p:spPr>
          <a:xfrm>
            <a:off x="9963165" y="4437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Oval 958"/>
          <p:cNvSpPr/>
          <p:nvPr/>
        </p:nvSpPr>
        <p:spPr>
          <a:xfrm>
            <a:off x="9902814" y="44422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Oval 959"/>
          <p:cNvSpPr/>
          <p:nvPr/>
        </p:nvSpPr>
        <p:spPr>
          <a:xfrm>
            <a:off x="9679216" y="4407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Oval 960"/>
          <p:cNvSpPr/>
          <p:nvPr/>
        </p:nvSpPr>
        <p:spPr>
          <a:xfrm>
            <a:off x="9939628" y="4402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Oval 961"/>
          <p:cNvSpPr/>
          <p:nvPr/>
        </p:nvSpPr>
        <p:spPr>
          <a:xfrm>
            <a:off x="9920618" y="44531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Oval 962"/>
          <p:cNvSpPr/>
          <p:nvPr/>
        </p:nvSpPr>
        <p:spPr>
          <a:xfrm>
            <a:off x="9899797" y="44618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Oval 963"/>
          <p:cNvSpPr/>
          <p:nvPr/>
        </p:nvSpPr>
        <p:spPr>
          <a:xfrm>
            <a:off x="9917600" y="44154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Oval 964"/>
          <p:cNvSpPr/>
          <p:nvPr/>
        </p:nvSpPr>
        <p:spPr>
          <a:xfrm>
            <a:off x="9460144" y="44329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Oval 965"/>
          <p:cNvSpPr/>
          <p:nvPr/>
        </p:nvSpPr>
        <p:spPr>
          <a:xfrm>
            <a:off x="10001789" y="44323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Oval 966"/>
          <p:cNvSpPr/>
          <p:nvPr/>
        </p:nvSpPr>
        <p:spPr>
          <a:xfrm>
            <a:off x="9750128" y="4457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Oval 967"/>
          <p:cNvSpPr/>
          <p:nvPr/>
        </p:nvSpPr>
        <p:spPr>
          <a:xfrm>
            <a:off x="9139684" y="44213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Oval 968"/>
          <p:cNvSpPr/>
          <p:nvPr/>
        </p:nvSpPr>
        <p:spPr>
          <a:xfrm>
            <a:off x="9944154" y="44769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Oval 969"/>
          <p:cNvSpPr/>
          <p:nvPr/>
        </p:nvSpPr>
        <p:spPr>
          <a:xfrm>
            <a:off x="9916695" y="4406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Oval 970"/>
          <p:cNvSpPr/>
          <p:nvPr/>
        </p:nvSpPr>
        <p:spPr>
          <a:xfrm>
            <a:off x="9811685" y="44059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Oval 971"/>
          <p:cNvSpPr/>
          <p:nvPr/>
        </p:nvSpPr>
        <p:spPr>
          <a:xfrm>
            <a:off x="9478551" y="448973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Oval 972"/>
          <p:cNvSpPr/>
          <p:nvPr/>
        </p:nvSpPr>
        <p:spPr>
          <a:xfrm>
            <a:off x="9830092" y="44550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Oval 973"/>
          <p:cNvSpPr/>
          <p:nvPr/>
        </p:nvSpPr>
        <p:spPr>
          <a:xfrm>
            <a:off x="9905832" y="44759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Oval 974"/>
          <p:cNvSpPr/>
          <p:nvPr/>
        </p:nvSpPr>
        <p:spPr>
          <a:xfrm>
            <a:off x="9951396" y="4409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Oval 975"/>
          <p:cNvSpPr/>
          <p:nvPr/>
        </p:nvSpPr>
        <p:spPr>
          <a:xfrm>
            <a:off x="9901909" y="4485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Oval 976"/>
          <p:cNvSpPr/>
          <p:nvPr/>
        </p:nvSpPr>
        <p:spPr>
          <a:xfrm>
            <a:off x="9802331" y="4491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Oval 977"/>
          <p:cNvSpPr/>
          <p:nvPr/>
        </p:nvSpPr>
        <p:spPr>
          <a:xfrm>
            <a:off x="8722059" y="44703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Oval 978"/>
          <p:cNvSpPr/>
          <p:nvPr/>
        </p:nvSpPr>
        <p:spPr>
          <a:xfrm>
            <a:off x="9965881" y="4489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Oval 979"/>
          <p:cNvSpPr/>
          <p:nvPr/>
        </p:nvSpPr>
        <p:spPr>
          <a:xfrm>
            <a:off x="9213311" y="44253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Oval 980"/>
          <p:cNvSpPr/>
          <p:nvPr/>
        </p:nvSpPr>
        <p:spPr>
          <a:xfrm>
            <a:off x="7877455" y="44574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Oval 981"/>
          <p:cNvSpPr/>
          <p:nvPr/>
        </p:nvSpPr>
        <p:spPr>
          <a:xfrm>
            <a:off x="7410343" y="44933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Oval 982"/>
          <p:cNvSpPr/>
          <p:nvPr/>
        </p:nvSpPr>
        <p:spPr>
          <a:xfrm>
            <a:off x="8221150" y="44416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Oval 983"/>
          <p:cNvSpPr/>
          <p:nvPr/>
        </p:nvSpPr>
        <p:spPr>
          <a:xfrm>
            <a:off x="9467084" y="4478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Oval 984"/>
          <p:cNvSpPr/>
          <p:nvPr/>
        </p:nvSpPr>
        <p:spPr>
          <a:xfrm>
            <a:off x="9519589" y="44111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Oval 985"/>
          <p:cNvSpPr/>
          <p:nvPr/>
        </p:nvSpPr>
        <p:spPr>
          <a:xfrm>
            <a:off x="8983376" y="44084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Oval 986"/>
          <p:cNvSpPr/>
          <p:nvPr/>
        </p:nvSpPr>
        <p:spPr>
          <a:xfrm>
            <a:off x="9580543" y="44834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Oval 987"/>
          <p:cNvSpPr/>
          <p:nvPr/>
        </p:nvSpPr>
        <p:spPr>
          <a:xfrm>
            <a:off x="8957425" y="44261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Oval 988"/>
          <p:cNvSpPr/>
          <p:nvPr/>
        </p:nvSpPr>
        <p:spPr>
          <a:xfrm>
            <a:off x="9276981" y="44882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Oval 989"/>
          <p:cNvSpPr/>
          <p:nvPr/>
        </p:nvSpPr>
        <p:spPr>
          <a:xfrm>
            <a:off x="9309872" y="44689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Oval 990"/>
          <p:cNvSpPr/>
          <p:nvPr/>
        </p:nvSpPr>
        <p:spPr>
          <a:xfrm>
            <a:off x="9345478" y="4427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Oval 991"/>
          <p:cNvSpPr/>
          <p:nvPr/>
        </p:nvSpPr>
        <p:spPr>
          <a:xfrm>
            <a:off x="8818318" y="44459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Oval 992"/>
          <p:cNvSpPr/>
          <p:nvPr/>
        </p:nvSpPr>
        <p:spPr>
          <a:xfrm>
            <a:off x="9731117" y="44173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Oval 993"/>
          <p:cNvSpPr/>
          <p:nvPr/>
        </p:nvSpPr>
        <p:spPr>
          <a:xfrm>
            <a:off x="9638781" y="4460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Oval 994"/>
          <p:cNvSpPr/>
          <p:nvPr/>
        </p:nvSpPr>
        <p:spPr>
          <a:xfrm>
            <a:off x="9365696" y="44252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Oval 995"/>
          <p:cNvSpPr/>
          <p:nvPr/>
        </p:nvSpPr>
        <p:spPr>
          <a:xfrm>
            <a:off x="9612227" y="44616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Oval 996"/>
          <p:cNvSpPr/>
          <p:nvPr/>
        </p:nvSpPr>
        <p:spPr>
          <a:xfrm>
            <a:off x="8187052" y="44039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Oval 997"/>
          <p:cNvSpPr/>
          <p:nvPr/>
        </p:nvSpPr>
        <p:spPr>
          <a:xfrm>
            <a:off x="9471309" y="44616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Oval 998"/>
          <p:cNvSpPr/>
          <p:nvPr/>
        </p:nvSpPr>
        <p:spPr>
          <a:xfrm>
            <a:off x="9517477" y="448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Oval 999"/>
          <p:cNvSpPr/>
          <p:nvPr/>
        </p:nvSpPr>
        <p:spPr>
          <a:xfrm>
            <a:off x="9582354" y="4442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Oval 1000"/>
          <p:cNvSpPr/>
          <p:nvPr/>
        </p:nvSpPr>
        <p:spPr>
          <a:xfrm>
            <a:off x="9462256" y="4437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Oval 1001"/>
          <p:cNvSpPr/>
          <p:nvPr/>
        </p:nvSpPr>
        <p:spPr>
          <a:xfrm>
            <a:off x="9845180" y="44102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Oval 1002"/>
          <p:cNvSpPr/>
          <p:nvPr/>
        </p:nvSpPr>
        <p:spPr>
          <a:xfrm>
            <a:off x="9963768" y="44893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Oval 1003"/>
          <p:cNvSpPr/>
          <p:nvPr/>
        </p:nvSpPr>
        <p:spPr>
          <a:xfrm>
            <a:off x="9596838" y="44009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Oval 1004"/>
          <p:cNvSpPr/>
          <p:nvPr/>
        </p:nvSpPr>
        <p:spPr>
          <a:xfrm>
            <a:off x="9530151" y="4393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Oval 1005"/>
          <p:cNvSpPr/>
          <p:nvPr/>
        </p:nvSpPr>
        <p:spPr>
          <a:xfrm>
            <a:off x="9904927" y="44546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Oval 1006"/>
          <p:cNvSpPr/>
          <p:nvPr/>
        </p:nvSpPr>
        <p:spPr>
          <a:xfrm>
            <a:off x="9891951" y="44514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Oval 1007"/>
          <p:cNvSpPr/>
          <p:nvPr/>
        </p:nvSpPr>
        <p:spPr>
          <a:xfrm>
            <a:off x="9354833" y="4431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Oval 1008"/>
          <p:cNvSpPr/>
          <p:nvPr/>
        </p:nvSpPr>
        <p:spPr>
          <a:xfrm>
            <a:off x="9982779" y="44118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Oval 1009"/>
          <p:cNvSpPr/>
          <p:nvPr/>
        </p:nvSpPr>
        <p:spPr>
          <a:xfrm>
            <a:off x="9944456" y="44791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Oval 1010"/>
          <p:cNvSpPr/>
          <p:nvPr/>
        </p:nvSpPr>
        <p:spPr>
          <a:xfrm>
            <a:off x="9917600" y="44153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Oval 1011"/>
          <p:cNvSpPr/>
          <p:nvPr/>
        </p:nvSpPr>
        <p:spPr>
          <a:xfrm>
            <a:off x="9856646" y="4400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Oval 1012"/>
          <p:cNvSpPr/>
          <p:nvPr/>
        </p:nvSpPr>
        <p:spPr>
          <a:xfrm>
            <a:off x="9805650" y="44251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Oval 1013"/>
          <p:cNvSpPr/>
          <p:nvPr/>
        </p:nvSpPr>
        <p:spPr>
          <a:xfrm>
            <a:off x="9656886" y="44143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Oval 1014"/>
          <p:cNvSpPr/>
          <p:nvPr/>
        </p:nvSpPr>
        <p:spPr>
          <a:xfrm>
            <a:off x="9463765" y="44127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Oval 1015"/>
          <p:cNvSpPr/>
          <p:nvPr/>
        </p:nvSpPr>
        <p:spPr>
          <a:xfrm>
            <a:off x="7566349" y="46337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Oval 1016"/>
          <p:cNvSpPr/>
          <p:nvPr/>
        </p:nvSpPr>
        <p:spPr>
          <a:xfrm>
            <a:off x="8396770" y="459611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Oval 1017"/>
          <p:cNvSpPr/>
          <p:nvPr/>
        </p:nvSpPr>
        <p:spPr>
          <a:xfrm>
            <a:off x="7155362" y="462399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Oval 1018"/>
          <p:cNvSpPr/>
          <p:nvPr/>
        </p:nvSpPr>
        <p:spPr>
          <a:xfrm>
            <a:off x="7409136" y="46139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Oval 1019"/>
          <p:cNvSpPr/>
          <p:nvPr/>
        </p:nvSpPr>
        <p:spPr>
          <a:xfrm>
            <a:off x="7085356" y="464930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Oval 1020"/>
          <p:cNvSpPr/>
          <p:nvPr/>
        </p:nvSpPr>
        <p:spPr>
          <a:xfrm>
            <a:off x="7784214" y="46463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Oval 1021"/>
          <p:cNvSpPr/>
          <p:nvPr/>
        </p:nvSpPr>
        <p:spPr>
          <a:xfrm>
            <a:off x="7104668" y="46317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Oval 1022"/>
          <p:cNvSpPr/>
          <p:nvPr/>
        </p:nvSpPr>
        <p:spPr>
          <a:xfrm>
            <a:off x="7333698" y="46327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Oval 1023"/>
          <p:cNvSpPr/>
          <p:nvPr/>
        </p:nvSpPr>
        <p:spPr>
          <a:xfrm>
            <a:off x="7325249" y="46614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TextBox 1024"/>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108 of 123</a:t>
            </a:r>
          </a:p>
          <a:p>
            <a:pPr algn="l">
              <a:lnSpc>
                <a:spcPct val="109000"/>
              </a:lnSpc>
              <a:spcBef>
                <a:spcPts val="0"/>
              </a:spcBef>
              <a:spcAft>
                <a:spcPts val="0"/>
              </a:spcAft>
            </a:pPr>
            <a:r>
              <a:rPr sz="1250" b="0">
                <a:solidFill>
                  <a:srgbClr val="00407A"/>
                </a:solidFill>
                <a:latin typeface="Arial"/>
              </a:rPr>
              <a:t>are “yes”</a:t>
            </a:r>
          </a:p>
        </p:txBody>
      </p:sp>
      <p:sp>
        <p:nvSpPr>
          <p:cNvPr id="1026" name="TextBox 1025"/>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1027" name="Rounded Rectangle 102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TextBox 102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KEV-27B’s compile answers are right in both groups: 108 of 114 and 9 of 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Failure-reason coverage is small and uneven</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reason counts by actual class • the prompt supplies that failure occurred.</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47</a:t>
            </a:r>
          </a:p>
        </p:txBody>
      </p:sp>
      <p:graphicFrame>
        <p:nvGraphicFramePr>
          <p:cNvPr id="7" name="Table 6"/>
          <p:cNvGraphicFramePr>
            <a:graphicFrameLocks noGrp="1"/>
          </p:cNvGraphicFramePr>
          <p:nvPr/>
        </p:nvGraphicFramePr>
        <p:xfrm>
          <a:off x="813816" y="1865376"/>
          <a:ext cx="10561319" cy="3776463"/>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Actual failure class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Cases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More than one driver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Illegal code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construct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timing control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Simulation-only statement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Asynchronous reset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Mixed assignment styles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Module-instance mismatch</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Equal weight per observed class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Accuracy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37.5%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87.5%</a:t>
                      </a:r>
                    </a:p>
                  </a:txBody>
                  <a:tcPr marL="109728" marR="91440" marT="54864" marB="36576" anchor="ctr">
                    <a:solidFill>
                      <a:srgbClr val="E3EFF5"/>
                    </a:solidFill>
                    <a:lnL>
                      <a:noFill/>
                    </a:lnL>
                    <a:lnR>
                      <a:noFill/>
                    </a:lnR>
                    <a:lnT>
                      <a:noFill/>
                    </a:lnT>
                    <a:lnB>
                      <a:noFill/>
                    </a:lnB>
                  </a:tcPr>
                </a:tc>
              </a:tr>
            </a:tbl>
          </a:graphicData>
        </a:graphic>
      </p:graphicFrame>
      <p:sp>
        <p:nvSpPr>
          <p:cNvPr id="8" name="TextBox 7"/>
          <p:cNvSpPr txBox="1"/>
          <p:nvPr/>
        </p:nvSpPr>
        <p:spPr>
          <a:xfrm>
            <a:off x="960120" y="5806440"/>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50" b="0">
                <a:solidFill>
                  <a:srgbClr val="00407A"/>
                </a:solidFill>
                <a:latin typeface="Arial"/>
              </a:rPr>
              <a:t>No true event-list or unbounded-loop cases occur in this held-out subset.</a:t>
            </a:r>
          </a:p>
          <a:p>
            <a:pPr algn="l">
              <a:lnSpc>
                <a:spcPct val="109000"/>
              </a:lnSpc>
              <a:spcBef>
                <a:spcPts val="0"/>
              </a:spcBef>
              <a:spcAft>
                <a:spcPts val="0"/>
              </a:spcAft>
            </a:pPr>
            <a:r>
              <a:rPr sz="1550" b="0">
                <a:solidFill>
                  <a:srgbClr val="00407A"/>
                </a:solidFill>
                <a:latin typeface="Arial"/>
              </a:rPr>
              <a:t>These two offered classes therefore have no measured class recall.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Failure-reason classes with examples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reason counts by actual class • the prompt supplies that failure occurred.</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48</a:t>
            </a:r>
          </a:p>
        </p:txBody>
      </p:sp>
      <p:graphicFrame>
        <p:nvGraphicFramePr>
          <p:cNvPr id="7" name="Table 6"/>
          <p:cNvGraphicFramePr>
            <a:graphicFrameLocks noGrp="1"/>
          </p:cNvGraphicFramePr>
          <p:nvPr/>
        </p:nvGraphicFramePr>
        <p:xfrm>
          <a:off x="813816" y="1865376"/>
          <a:ext cx="10561319" cy="3776463"/>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Actual failure class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Cases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More than one driver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Illegal code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construct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timing control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Simulation-only statement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Asynchronous reset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Mixed assignment styles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Module-instance mismatch</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Equal weight per observed class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Accuracy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43.8%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75.0%</a:t>
                      </a:r>
                    </a:p>
                  </a:txBody>
                  <a:tcPr marL="109728" marR="91440" marT="54864" marB="36576" anchor="ctr">
                    <a:solidFill>
                      <a:srgbClr val="E3EFF5"/>
                    </a:solidFill>
                    <a:lnL>
                      <a:noFill/>
                    </a:lnL>
                    <a:lnR>
                      <a:noFill/>
                    </a:lnR>
                    <a:lnT>
                      <a:noFill/>
                    </a:lnT>
                    <a:lnB>
                      <a:noFill/>
                    </a:lnB>
                  </a:tcPr>
                </a:tc>
              </a:tr>
            </a:tbl>
          </a:graphicData>
        </a:graphic>
      </p:graphicFrame>
      <p:sp>
        <p:nvSpPr>
          <p:cNvPr id="8" name="TextBox 7"/>
          <p:cNvSpPr txBox="1"/>
          <p:nvPr/>
        </p:nvSpPr>
        <p:spPr>
          <a:xfrm>
            <a:off x="960120" y="5806440"/>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50" b="0">
                <a:solidFill>
                  <a:srgbClr val="00407A"/>
                </a:solidFill>
                <a:latin typeface="Arial"/>
              </a:rPr>
              <a:t>The models chose event_list 16 times (7, 3, 4, 2); no test design has this class.</a:t>
            </a:r>
          </a:p>
          <a:p>
            <a:pPr algn="l">
              <a:lnSpc>
                <a:spcPct val="109000"/>
              </a:lnSpc>
              <a:spcBef>
                <a:spcPts val="0"/>
              </a:spcBef>
              <a:spcAft>
                <a:spcPts val="0"/>
              </a:spcAft>
            </a:pPr>
            <a:r>
              <a:rPr sz="1550" b="0">
                <a:solidFill>
                  <a:srgbClr val="00407A"/>
                </a:solidFill>
                <a:latin typeface="Arial"/>
              </a:rPr>
              <a:t>The three examples: multiple_drivers, illegal_code, event_list.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Probability ranking and binary decisions are different</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model can rank cases reasonably while making poor decisions at the fixed 0.5 threshold.</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49</a:t>
            </a:r>
          </a:p>
        </p:txBody>
      </p:sp>
      <p:graphicFrame>
        <p:nvGraphicFramePr>
          <p:cNvPr id="7" name="Table 6"/>
          <p:cNvGraphicFramePr>
            <a:graphicFrameLocks noGrp="1"/>
          </p:cNvGraphicFramePr>
          <p:nvPr/>
        </p:nvGraphicFramePr>
        <p:xfrm>
          <a:off x="813816" y="1874519"/>
          <a:ext cx="10561320" cy="2148840"/>
        </p:xfrm>
        <a:graphic>
          <a:graphicData uri="http://schemas.openxmlformats.org/drawingml/2006/table">
            <a:tbl>
              <a:tblPr firstRow="1" bandRow="1">
                <a:tableStyleId>{5C22544A-7EE6-4342-B048-85BDC9FD1C3A}</a:tableStyleId>
              </a:tblPr>
              <a:tblGrid>
                <a:gridCol w="4160520"/>
                <a:gridCol w="1600200"/>
                <a:gridCol w="1600200"/>
                <a:gridCol w="1600200"/>
                <a:gridCol w="1600200"/>
              </a:tblGrid>
              <a:tr h="566928">
                <a:tc>
                  <a:txBody>
                    <a:bodyPr/>
                    <a:lstStyle/>
                    <a:p>
                      <a:pPr algn="l">
                        <a:lnSpc>
                          <a:spcPct val="103000"/>
                        </a:lnSpc>
                        <a:spcBef>
                          <a:spcPts val="0"/>
                        </a:spcBef>
                        <a:spcAft>
                          <a:spcPts val="0"/>
                        </a:spcAft>
                      </a:pPr>
                      <a:r>
                        <a:rPr sz="1600" b="1">
                          <a:solidFill>
                            <a:srgbClr val="FFFFFF"/>
                          </a:solidFill>
                          <a:latin typeface="Arial"/>
                        </a:rPr>
                        <a:t>Probability 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0.692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0.994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0.334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0.030</a:t>
                      </a:r>
                    </a:p>
                  </a:txBody>
                  <a:tcPr marL="109728" marR="91440" marT="54864" marB="36576" anchor="ctr">
                    <a:solidFill>
                      <a:srgbClr val="FFFFFF"/>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0.490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0.814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0.187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0.128</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381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Ranking score: higher is better</a:t>
            </a:r>
          </a:p>
        </p:txBody>
      </p:sp>
      <p:sp>
        <p:nvSpPr>
          <p:cNvPr id="11" name="TextBox 10"/>
          <p:cNvSpPr txBox="1"/>
          <p:nvPr/>
        </p:nvSpPr>
        <p:spPr>
          <a:xfrm>
            <a:off x="104241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Chance = 0.5; perfect ordering = 1.</a:t>
            </a:r>
          </a:p>
          <a:p>
            <a:pPr algn="l">
              <a:lnSpc>
                <a:spcPct val="109000"/>
              </a:lnSpc>
              <a:spcBef>
                <a:spcPts val="0"/>
              </a:spcBef>
              <a:spcAft>
                <a:spcPts val="0"/>
              </a:spcAft>
            </a:pPr>
            <a:r>
              <a:rPr sz="1600" b="0">
                <a:solidFill>
                  <a:srgbClr val="00407A"/>
                </a:solidFill>
                <a:latin typeface="Arial"/>
              </a:rPr>
              <a:t>Compares yes probabilities for successes and failures.</a:t>
            </a:r>
          </a:p>
        </p:txBody>
      </p:sp>
      <p:sp>
        <p:nvSpPr>
          <p:cNvPr id="12" name="Rounded Rectangle 11"/>
          <p:cNvSpPr/>
          <p:nvPr/>
        </p:nvSpPr>
        <p:spPr>
          <a:xfrm>
            <a:off x="620877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Probability error: lower is better</a:t>
            </a:r>
          </a:p>
        </p:txBody>
      </p:sp>
      <p:sp>
        <p:nvSpPr>
          <p:cNvPr id="15" name="TextBox 14"/>
          <p:cNvSpPr txBox="1"/>
          <p:nvPr/>
        </p:nvSpPr>
        <p:spPr>
          <a:xfrm>
            <a:off x="643737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squared error of the yes probability.</a:t>
            </a:r>
          </a:p>
          <a:p>
            <a:pPr algn="l">
              <a:lnSpc>
                <a:spcPct val="109000"/>
              </a:lnSpc>
              <a:spcBef>
                <a:spcPts val="0"/>
              </a:spcBef>
              <a:spcAft>
                <a:spcPts val="0"/>
              </a:spcAft>
            </a:pPr>
            <a:r>
              <a:rPr sz="1600" b="0">
                <a:solidFill>
                  <a:srgbClr val="00407A"/>
                </a:solidFill>
                <a:latin typeface="Arial"/>
              </a:rPr>
              <a:t>Zero is perfect; confidently wrong answers cost more.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synthesis ranking score rises to 0.918</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Ranking (AUROC) and probability error (Brier) of the yes probabilities, with examples.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graphicFrame>
        <p:nvGraphicFramePr>
          <p:cNvPr id="7" name="Table 6"/>
          <p:cNvGraphicFramePr>
            <a:graphicFrameLocks noGrp="1"/>
          </p:cNvGraphicFramePr>
          <p:nvPr/>
        </p:nvGraphicFramePr>
        <p:xfrm>
          <a:off x="813816" y="1874519"/>
          <a:ext cx="10561320" cy="2148840"/>
        </p:xfrm>
        <a:graphic>
          <a:graphicData uri="http://schemas.openxmlformats.org/drawingml/2006/table">
            <a:tbl>
              <a:tblPr firstRow="1" bandRow="1">
                <a:tableStyleId>{5C22544A-7EE6-4342-B048-85BDC9FD1C3A}</a:tableStyleId>
              </a:tblPr>
              <a:tblGrid>
                <a:gridCol w="4160520"/>
                <a:gridCol w="1600200"/>
                <a:gridCol w="1600200"/>
                <a:gridCol w="1600200"/>
                <a:gridCol w="1600200"/>
              </a:tblGrid>
              <a:tr h="566928">
                <a:tc>
                  <a:txBody>
                    <a:bodyPr/>
                    <a:lstStyle/>
                    <a:p>
                      <a:pPr algn="l">
                        <a:lnSpc>
                          <a:spcPct val="103000"/>
                        </a:lnSpc>
                        <a:spcBef>
                          <a:spcPts val="0"/>
                        </a:spcBef>
                        <a:spcAft>
                          <a:spcPts val="0"/>
                        </a:spcAft>
                      </a:pPr>
                      <a:r>
                        <a:rPr sz="1600" b="1">
                          <a:solidFill>
                            <a:srgbClr val="FFFFFF"/>
                          </a:solidFill>
                          <a:latin typeface="Arial"/>
                        </a:rPr>
                        <a:t>Probability 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0.577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0.868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0.875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0.989</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0.420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0.056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0.057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0.068</a:t>
                      </a:r>
                    </a:p>
                  </a:txBody>
                  <a:tcPr marL="109728" marR="91440" marT="54864" marB="36576" anchor="ctr">
                    <a:solidFill>
                      <a:srgbClr val="FFFFFF"/>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0.566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0.816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0.796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0.918</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0.416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0.130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0.088</a:t>
                      </a:r>
                    </a:p>
                  </a:txBody>
                  <a:tcPr marL="109728" marR="91440" marT="54864" marB="36576" anchor="ctr">
                    <a:solidFill>
                      <a:srgbClr val="FFFFFF"/>
                    </a:solidFill>
                    <a:lnL>
                      <a:noFill/>
                    </a:lnL>
                    <a:lnR>
                      <a:noFill/>
                    </a:lnR>
                    <a:lnT>
                      <a:noFill/>
                    </a:lnT>
                    <a:lnB>
                      <a:noFill/>
                    </a:lnB>
                  </a:tcPr>
                </a:tc>
              </a:tr>
            </a:tbl>
          </a:graphicData>
        </a:graphic>
      </p:graphicFrame>
      <p:sp>
        <p:nvSpPr>
          <p:cNvPr id="8" name="Rounded Rectangle 7"/>
          <p:cNvSpPr/>
          <p:nvPr/>
        </p:nvSpPr>
        <p:spPr>
          <a:xfrm>
            <a:off x="81381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381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Ranking score: higher is better</a:t>
            </a:r>
          </a:p>
        </p:txBody>
      </p:sp>
      <p:sp>
        <p:nvSpPr>
          <p:cNvPr id="11" name="TextBox 10"/>
          <p:cNvSpPr txBox="1"/>
          <p:nvPr/>
        </p:nvSpPr>
        <p:spPr>
          <a:xfrm>
            <a:off x="104241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Chance = 0.5; perfect ordering = 1.</a:t>
            </a:r>
          </a:p>
          <a:p>
            <a:pPr algn="l">
              <a:lnSpc>
                <a:spcPct val="109000"/>
              </a:lnSpc>
              <a:spcBef>
                <a:spcPts val="0"/>
              </a:spcBef>
              <a:spcAft>
                <a:spcPts val="0"/>
              </a:spcAft>
            </a:pPr>
            <a:r>
              <a:rPr sz="1600" b="0">
                <a:solidFill>
                  <a:srgbClr val="00407A"/>
                </a:solidFill>
                <a:latin typeface="Arial"/>
              </a:rPr>
              <a:t>Compares yes probabilities for successes and failures.</a:t>
            </a:r>
          </a:p>
        </p:txBody>
      </p:sp>
      <p:sp>
        <p:nvSpPr>
          <p:cNvPr id="12" name="Rounded Rectangle 11"/>
          <p:cNvSpPr/>
          <p:nvPr/>
        </p:nvSpPr>
        <p:spPr>
          <a:xfrm>
            <a:off x="620877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877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Probability error: lower is better</a:t>
            </a:r>
          </a:p>
        </p:txBody>
      </p:sp>
      <p:sp>
        <p:nvSpPr>
          <p:cNvPr id="15" name="TextBox 14"/>
          <p:cNvSpPr txBox="1"/>
          <p:nvPr/>
        </p:nvSpPr>
        <p:spPr>
          <a:xfrm>
            <a:off x="643737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squared error of the yes probability.</a:t>
            </a:r>
          </a:p>
          <a:p>
            <a:pPr algn="l">
              <a:lnSpc>
                <a:spcPct val="109000"/>
              </a:lnSpc>
              <a:spcBef>
                <a:spcPts val="0"/>
              </a:spcBef>
              <a:spcAft>
                <a:spcPts val="0"/>
              </a:spcAft>
            </a:pPr>
            <a:r>
              <a:rPr sz="1600" b="0">
                <a:solidFill>
                  <a:srgbClr val="00407A"/>
                </a:solidFill>
                <a:latin typeface="Arial"/>
              </a:rPr>
              <a:t>Zero is perfect; confidently wrong answers cost more.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Performance levels: tolerance and expected-level error</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Within one level: higher is better. Mean level error: lower is better.</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51</a:t>
            </a:r>
          </a:p>
        </p:txBody>
      </p:sp>
      <p:graphicFrame>
        <p:nvGraphicFramePr>
          <p:cNvPr id="7" name="Table 6"/>
          <p:cNvGraphicFramePr>
            <a:graphicFrameLocks noGrp="1"/>
          </p:cNvGraphicFramePr>
          <p:nvPr/>
        </p:nvGraphicFramePr>
        <p:xfrm>
          <a:off x="813816" y="1874519"/>
          <a:ext cx="10561320" cy="3611880"/>
        </p:xfrm>
        <a:graphic>
          <a:graphicData uri="http://schemas.openxmlformats.org/drawingml/2006/table">
            <a:tbl>
              <a:tblPr firstRow="1" bandRow="1">
                <a:tableStyleId>{5C22544A-7EE6-4342-B048-85BDC9FD1C3A}</a:tableStyleId>
              </a:tblPr>
              <a:tblGrid>
                <a:gridCol w="1965960"/>
                <a:gridCol w="2240280"/>
                <a:gridCol w="1588770"/>
                <a:gridCol w="1588770"/>
                <a:gridCol w="1588770"/>
                <a:gridCol w="1588770"/>
              </a:tblGrid>
              <a:tr h="566928">
                <a:tc>
                  <a:txBody>
                    <a:bodyPr/>
                    <a:lstStyle/>
                    <a:p>
                      <a:pPr algn="l">
                        <a:lnSpc>
                          <a:spcPct val="103000"/>
                        </a:lnSpc>
                        <a:spcBef>
                          <a:spcPts val="0"/>
                        </a:spcBef>
                        <a:spcAft>
                          <a:spcPts val="0"/>
                        </a:spcAft>
                      </a:pPr>
                      <a:r>
                        <a:rPr sz="15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Measure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90.2%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100.0%</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0.994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0.713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0.649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0.485</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64.7%</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0.971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1.070</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1.321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1.242</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30.4%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40.2%</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1.509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1.742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1.622</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5705856"/>
            <a:ext cx="10149840" cy="54864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level error uses the probability-weighted expected level, not just the most likely level.</a:t>
            </a:r>
          </a:p>
          <a:p>
            <a:pPr algn="l">
              <a:lnSpc>
                <a:spcPct val="109000"/>
              </a:lnSpc>
              <a:spcBef>
                <a:spcPts val="0"/>
              </a:spcBef>
              <a:spcAft>
                <a:spcPts val="0"/>
              </a:spcAft>
            </a:pPr>
            <a:r>
              <a:rPr sz="1600" b="0">
                <a:solidFill>
                  <a:srgbClr val="00407A"/>
                </a:solidFill>
                <a:latin typeface="Arial"/>
              </a:rPr>
              <a:t>Unequal physical bin widths mean that one level is not a fixed physical error.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Level tolerance and error, with examples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Within one level: higher is better. Mean level error: lower is better.</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52</a:t>
            </a:r>
          </a:p>
        </p:txBody>
      </p:sp>
      <p:graphicFrame>
        <p:nvGraphicFramePr>
          <p:cNvPr id="7" name="Table 6"/>
          <p:cNvGraphicFramePr>
            <a:graphicFrameLocks noGrp="1"/>
          </p:cNvGraphicFramePr>
          <p:nvPr/>
        </p:nvGraphicFramePr>
        <p:xfrm>
          <a:off x="813816" y="1874519"/>
          <a:ext cx="10561320" cy="3611880"/>
        </p:xfrm>
        <a:graphic>
          <a:graphicData uri="http://schemas.openxmlformats.org/drawingml/2006/table">
            <a:tbl>
              <a:tblPr firstRow="1" bandRow="1">
                <a:tableStyleId>{5C22544A-7EE6-4342-B048-85BDC9FD1C3A}</a:tableStyleId>
              </a:tblPr>
              <a:tblGrid>
                <a:gridCol w="1965960"/>
                <a:gridCol w="2240280"/>
                <a:gridCol w="1588770"/>
                <a:gridCol w="1588770"/>
                <a:gridCol w="1588770"/>
                <a:gridCol w="1588770"/>
              </a:tblGrid>
              <a:tr h="566928">
                <a:tc>
                  <a:txBody>
                    <a:bodyPr/>
                    <a:lstStyle/>
                    <a:p>
                      <a:pPr algn="l">
                        <a:lnSpc>
                          <a:spcPct val="103000"/>
                        </a:lnSpc>
                        <a:spcBef>
                          <a:spcPts val="0"/>
                        </a:spcBef>
                        <a:spcAft>
                          <a:spcPts val="0"/>
                        </a:spcAft>
                      </a:pPr>
                      <a:r>
                        <a:rPr sz="15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Measure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93.5%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100.0%</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1.626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0.884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0.748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0.438</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88.2%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69.4%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87.1%</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1.606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0.986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1.056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1.045</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83.7%</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0.932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0.998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1.049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0.868</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76.1%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90.2%</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1.439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1.474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0.925</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5705856"/>
            <a:ext cx="10149840" cy="54864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level error uses the probability-weighted expected level, not just the most likely level.</a:t>
            </a:r>
          </a:p>
          <a:p>
            <a:pPr algn="l">
              <a:lnSpc>
                <a:spcPct val="109000"/>
              </a:lnSpc>
              <a:spcBef>
                <a:spcPts val="0"/>
              </a:spcBef>
              <a:spcAft>
                <a:spcPts val="0"/>
              </a:spcAft>
            </a:pPr>
            <a:r>
              <a:rPr sz="1600" b="0">
                <a:solidFill>
                  <a:srgbClr val="00407A"/>
                </a:solidFill>
                <a:latin typeface="Arial"/>
              </a:rPr>
              <a:t>Unequal physical bin widths mean that one level is not a fixed physical error.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order: all correctness and letter-bias counts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Counts are per distinct pair. Each pair has exactly two model answers.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53</a:t>
            </a:r>
          </a:p>
        </p:txBody>
      </p:sp>
      <p:graphicFrame>
        <p:nvGraphicFramePr>
          <p:cNvPr id="7" name="Table 6"/>
          <p:cNvGraphicFramePr>
            <a:graphicFrameLocks noGrp="1"/>
          </p:cNvGraphicFramePr>
          <p:nvPr/>
        </p:nvGraphicFramePr>
        <p:xfrm>
          <a:off x="813816" y="1874519"/>
          <a:ext cx="10561319" cy="3886200"/>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Pair outcome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Both orders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One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Neither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bl>
          </a:graphicData>
        </a:graphic>
      </p:graphicFrame>
      <p:sp>
        <p:nvSpPr>
          <p:cNvPr id="8" name="TextBox 7"/>
          <p:cNvSpPr txBox="1"/>
          <p:nvPr/>
        </p:nvSpPr>
        <p:spPr>
          <a:xfrm>
            <a:off x="960120" y="5888736"/>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00" b="0">
                <a:solidFill>
                  <a:srgbClr val="00407A"/>
                </a:solidFill>
                <a:latin typeface="Arial"/>
              </a:rPr>
              <a:t>With two opposite correct letters, “one order correct” is the same as keeping the same letter.</a:t>
            </a:r>
          </a:p>
          <a:p>
            <a:pPr algn="l">
              <a:lnSpc>
                <a:spcPct val="109000"/>
              </a:lnSpc>
              <a:spcBef>
                <a:spcPts val="0"/>
              </a:spcBef>
              <a:spcAft>
                <a:spcPts val="0"/>
              </a:spcAft>
            </a:pPr>
            <a:r>
              <a:rPr sz="1500" b="0">
                <a:solidFill>
                  <a:srgbClr val="00407A"/>
                </a:solidFill>
                <a:latin typeface="Arial"/>
              </a:rPr>
              <a:t>A consistent letter swap can still be wrong in both orders.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order counts, with examples</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Counts are per distinct pair. Each pair has exactly two model answers.</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54</a:t>
            </a:r>
          </a:p>
        </p:txBody>
      </p:sp>
      <p:graphicFrame>
        <p:nvGraphicFramePr>
          <p:cNvPr id="7" name="Table 6"/>
          <p:cNvGraphicFramePr>
            <a:graphicFrameLocks noGrp="1"/>
          </p:cNvGraphicFramePr>
          <p:nvPr/>
        </p:nvGraphicFramePr>
        <p:xfrm>
          <a:off x="813816" y="1874519"/>
          <a:ext cx="10561319" cy="3886200"/>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Pair outcome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20</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Both orders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One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Neither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bl>
          </a:graphicData>
        </a:graphic>
      </p:graphicFrame>
      <p:sp>
        <p:nvSpPr>
          <p:cNvPr id="8" name="TextBox 7"/>
          <p:cNvSpPr txBox="1"/>
          <p:nvPr/>
        </p:nvSpPr>
        <p:spPr>
          <a:xfrm>
            <a:off x="960120" y="5888736"/>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00" b="0">
                <a:solidFill>
                  <a:srgbClr val="00407A"/>
                </a:solidFill>
                <a:latin typeface="Arial"/>
              </a:rPr>
              <a:t>With two opposite correct letters, “one order correct” is the same as keeping the same letter.</a:t>
            </a:r>
          </a:p>
          <a:p>
            <a:pPr algn="l">
              <a:lnSpc>
                <a:spcPct val="109000"/>
              </a:lnSpc>
              <a:spcBef>
                <a:spcPts val="0"/>
              </a:spcBef>
              <a:spcAft>
                <a:spcPts val="0"/>
              </a:spcAft>
            </a:pPr>
            <a:r>
              <a:rPr sz="1500" b="0">
                <a:solidFill>
                  <a:srgbClr val="00407A"/>
                </a:solidFill>
                <a:latin typeface="Arial"/>
              </a:rPr>
              <a:t>A consistent letter swap can still be wrong in both orders.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Dataset composition and missing coverage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retained designs cover several sources; this is not a balanced population sample.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55</a:t>
            </a:r>
          </a:p>
        </p:txBody>
      </p:sp>
      <p:graphicFrame>
        <p:nvGraphicFramePr>
          <p:cNvPr id="6" name="Table 5"/>
          <p:cNvGraphicFramePr>
            <a:graphicFrameLocks noGrp="1"/>
          </p:cNvGraphicFramePr>
          <p:nvPr/>
        </p:nvGraphicFramePr>
        <p:xfrm>
          <a:off x="813816" y="1874519"/>
          <a:ext cx="10561320" cy="3502152"/>
        </p:xfrm>
        <a:graphic>
          <a:graphicData uri="http://schemas.openxmlformats.org/drawingml/2006/table">
            <a:tbl>
              <a:tblPr firstRow="1" bandRow="1">
                <a:tableStyleId>{5C22544A-7EE6-4342-B048-85BDC9FD1C3A}</a:tableStyleId>
              </a:tblPr>
              <a:tblGrid>
                <a:gridCol w="5074920"/>
                <a:gridCol w="1554480"/>
                <a:gridCol w="1737360"/>
                <a:gridCol w="2194560"/>
              </a:tblGrid>
              <a:tr h="566928">
                <a:tc>
                  <a:txBody>
                    <a:bodyPr/>
                    <a:lstStyle/>
                    <a:p>
                      <a:pPr algn="l">
                        <a:lnSpc>
                          <a:spcPct val="103000"/>
                        </a:lnSpc>
                        <a:spcBef>
                          <a:spcPts val="0"/>
                        </a:spcBef>
                        <a:spcAft>
                          <a:spcPts val="0"/>
                        </a:spcAft>
                      </a:pPr>
                      <a:r>
                        <a:rPr sz="1500" b="1">
                          <a:solidFill>
                            <a:srgbClr val="FFFFFF"/>
                          </a:solidFill>
                          <a:latin typeface="Arial"/>
                        </a:rPr>
                        <a:t>Design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All retained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synthesis failures</a:t>
                      </a:r>
                    </a:p>
                  </a:txBody>
                  <a:tcPr marL="109728" marR="91440" marT="54864" marB="36576" anchor="ctr">
                    <a:solidFill>
                      <a:srgbClr val="00407A"/>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MetRex: varied sizes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synthesis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Natural language-model candidates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compilation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Human reference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Older REvolution candidates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REvolution v0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Accepted edits and rejected twins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614416"/>
            <a:ext cx="10149840" cy="658368"/>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Not measured here: energy per operation, functional equivalence, post-route timing,</a:t>
            </a:r>
          </a:p>
          <a:p>
            <a:pPr algn="l">
              <a:lnSpc>
                <a:spcPct val="109000"/>
              </a:lnSpc>
              <a:spcBef>
                <a:spcPts val="0"/>
              </a:spcBef>
              <a:spcAft>
                <a:spcPts val="0"/>
              </a:spcAft>
            </a:pPr>
            <a:r>
              <a:rPr sz="1700" b="0">
                <a:solidFill>
                  <a:srgbClr val="00407A"/>
                </a:solidFill>
                <a:latin typeface="Arial"/>
              </a:rPr>
              <a:t>measured chips, other model families, or the older plan’s rename/comment controls.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4A5A66"/>
                </a:solidFill>
                <a:latin typeface="Arial"/>
              </a:rPr>
              <a:t>EXPERIMENT 1  •  NO EXAMPLES</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Evidence needed to reproduce this deck</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number is tied to the frozen dataset and saved responses; no model reruns were needed.</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56</a:t>
            </a:r>
          </a:p>
        </p:txBody>
      </p:sp>
      <p:graphicFrame>
        <p:nvGraphicFramePr>
          <p:cNvPr id="7" name="Table 6"/>
          <p:cNvGraphicFramePr>
            <a:graphicFrameLocks noGrp="1"/>
          </p:cNvGraphicFramePr>
          <p:nvPr/>
        </p:nvGraphicFramePr>
        <p:xfrm>
          <a:off x="813816" y="1874519"/>
          <a:ext cx="10561320" cy="2286000"/>
        </p:xfrm>
        <a:graphic>
          <a:graphicData uri="http://schemas.openxmlformats.org/drawingml/2006/table">
            <a:tbl>
              <a:tblPr firstRow="1" bandRow="1">
                <a:tableStyleId>{5C22544A-7EE6-4342-B048-85BDC9FD1C3A}</a:tableStyleId>
              </a:tblPr>
              <a:tblGrid>
                <a:gridCol w="1508760"/>
                <a:gridCol w="1280160"/>
                <a:gridCol w="3657600"/>
                <a:gridCol w="41148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Condor 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Completed on 15 October</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Checkpoint revision (prefix)</a:t>
                      </a:r>
                    </a:p>
                  </a:txBody>
                  <a:tcPr marL="109728" marR="91440" marT="54864" marB="36576" anchor="ctr">
                    <a:solidFill>
                      <a:srgbClr val="00407A"/>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11:30:55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bf75a6a8848e</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14:31:45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6cfce5c2fa4b</a:t>
                      </a:r>
                    </a:p>
                  </a:txBody>
                  <a:tcPr marL="109728" marR="91440" marT="54864" marB="36576" anchor="ctr">
                    <a:solidFill>
                      <a:srgbClr val="FFFFFF"/>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14:34:55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db029f08b290</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14:39:12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af0e6d551bdc</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4443984"/>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Inputs and evidence</a:t>
            </a:r>
          </a:p>
        </p:txBody>
      </p:sp>
      <p:sp>
        <p:nvSpPr>
          <p:cNvPr id="9" name="TextBox 8"/>
          <p:cNvSpPr txBox="1"/>
          <p:nvPr/>
        </p:nvSpPr>
        <p:spPr>
          <a:xfrm>
            <a:off x="960120" y="4965192"/>
            <a:ext cx="10149840" cy="9144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Questions: data/questions/dataset_v1.jsonl</a:t>
            </a:r>
          </a:p>
          <a:p>
            <a:pPr algn="l">
              <a:lnSpc>
                <a:spcPct val="109000"/>
              </a:lnSpc>
              <a:spcBef>
                <a:spcPts val="0"/>
              </a:spcBef>
              <a:spcAft>
                <a:spcPts val="0"/>
              </a:spcAft>
            </a:pPr>
            <a:r>
              <a:rPr sz="1800" b="0">
                <a:solidFill>
                  <a:srgbClr val="00407A"/>
                </a:solidFill>
                <a:latin typeface="Arial"/>
              </a:rPr>
              <a:t>Answers, scores and manifests: results/kev/</a:t>
            </a:r>
          </a:p>
          <a:p>
            <a:pPr algn="l">
              <a:lnSpc>
                <a:spcPct val="109000"/>
              </a:lnSpc>
              <a:spcBef>
                <a:spcPts val="0"/>
              </a:spcBef>
              <a:spcAft>
                <a:spcPts val="0"/>
              </a:spcAft>
            </a:pPr>
            <a:r>
              <a:rPr sz="1800" b="0">
                <a:solidFill>
                  <a:srgbClr val="00407A"/>
                </a:solidFill>
                <a:latin typeface="Arial"/>
              </a:rPr>
              <a:t>Verified tables and rebuild scripts: presentations/data/ and presentations/src/</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265176"/>
            <a:ext cx="10561320" cy="237744"/>
          </a:xfrm>
          <a:prstGeom prst="rect">
            <a:avLst/>
          </a:prstGeom>
          <a:noFill/>
        </p:spPr>
        <p:txBody>
          <a:bodyPr wrap="square" lIns="0" rIns="0" tIns="0" bIns="0" anchor="t">
            <a:noAutofit/>
          </a:bodyPr>
          <a:lstStyle/>
          <a:p>
            <a:pPr algn="l">
              <a:lnSpc>
                <a:spcPct val="109000"/>
              </a:lnSpc>
              <a:spcBef>
                <a:spcPts val="0"/>
              </a:spcBef>
              <a:spcAft>
                <a:spcPts val="0"/>
              </a:spcAft>
            </a:pPr>
            <a:r>
              <a:rPr sz="1250" b="1">
                <a:solidFill>
                  <a:srgbClr val="0B5A93"/>
                </a:solidFill>
                <a:latin typeface="Arial"/>
              </a:rPr>
              <a:t>EXPERIMENT 2  •  THREE SOLVED EXAMPLES PER QUESTION</a:t>
            </a:r>
          </a:p>
        </p:txBody>
      </p:sp>
      <p:sp>
        <p:nvSpPr>
          <p:cNvPr id="3" name="TextBox 2"/>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Evidence needed to reproduce experiment 2</a:t>
            </a:r>
          </a:p>
        </p:txBody>
      </p:sp>
      <p:sp>
        <p:nvSpPr>
          <p:cNvPr id="4" name="TextBox 3"/>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number is tied to the frozen question file and the saved answers of 16 October.</a:t>
            </a:r>
          </a:p>
        </p:txBody>
      </p:sp>
      <p:sp>
        <p:nvSpPr>
          <p:cNvPr id="5" name="TextBox 4"/>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three examples per question  •  16 October 2026  |  APPENDIX</a:t>
            </a:r>
          </a:p>
        </p:txBody>
      </p:sp>
      <p:sp>
        <p:nvSpPr>
          <p:cNvPr id="6" name="TextBox 5"/>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57</a:t>
            </a:r>
          </a:p>
        </p:txBody>
      </p:sp>
      <p:graphicFrame>
        <p:nvGraphicFramePr>
          <p:cNvPr id="7" name="Table 6"/>
          <p:cNvGraphicFramePr>
            <a:graphicFrameLocks noGrp="1"/>
          </p:cNvGraphicFramePr>
          <p:nvPr/>
        </p:nvGraphicFramePr>
        <p:xfrm>
          <a:off x="813816" y="1874519"/>
          <a:ext cx="10561320" cy="2286000"/>
        </p:xfrm>
        <a:graphic>
          <a:graphicData uri="http://schemas.openxmlformats.org/drawingml/2006/table">
            <a:tbl>
              <a:tblPr firstRow="1" bandRow="1">
                <a:tableStyleId>{5C22544A-7EE6-4342-B048-85BDC9FD1C3A}</a:tableStyleId>
              </a:tblPr>
              <a:tblGrid>
                <a:gridCol w="1508760"/>
                <a:gridCol w="1280160"/>
                <a:gridCol w="3657600"/>
                <a:gridCol w="41148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Condor 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Completed on 16 October</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Checkpoint revision (prefix)</a:t>
                      </a:r>
                    </a:p>
                  </a:txBody>
                  <a:tcPr marL="109728" marR="91440" marT="54864" marB="36576" anchor="ctr">
                    <a:solidFill>
                      <a:srgbClr val="00407A"/>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8.0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15:44:23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bf75a6a8848e</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9.0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15:49:46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6cfce5c2fa4b</a:t>
                      </a:r>
                    </a:p>
                  </a:txBody>
                  <a:tcPr marL="109728" marR="91440" marT="54864" marB="36576" anchor="ctr">
                    <a:solidFill>
                      <a:srgbClr val="FFFFFF"/>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15:57:06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db029f08b290</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20:15:35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af0e6d551bdc</a:t>
                      </a:r>
                    </a:p>
                  </a:txBody>
                  <a:tcPr marL="109728" marR="91440" marT="54864" marB="36576" anchor="ctr">
                    <a:solidFill>
                      <a:srgbClr val="FFFFFF"/>
                    </a:solidFill>
                    <a:lnL>
                      <a:noFill/>
                    </a:lnL>
                    <a:lnR>
                      <a:noFill/>
                    </a:lnR>
                    <a:lnT>
                      <a:noFill/>
                    </a:lnT>
                    <a:lnB>
                      <a:noFill/>
                    </a:lnB>
                  </a:tcPr>
                </a:tc>
              </a:tr>
            </a:tbl>
          </a:graphicData>
        </a:graphic>
      </p:graphicFrame>
      <p:sp>
        <p:nvSpPr>
          <p:cNvPr id="8" name="TextBox 7"/>
          <p:cNvSpPr txBox="1"/>
          <p:nvPr/>
        </p:nvSpPr>
        <p:spPr>
          <a:xfrm>
            <a:off x="960120" y="4443984"/>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Inputs and evidence</a:t>
            </a:r>
          </a:p>
        </p:txBody>
      </p:sp>
      <p:sp>
        <p:nvSpPr>
          <p:cNvPr id="9" name="TextBox 8"/>
          <p:cNvSpPr txBox="1"/>
          <p:nvPr/>
        </p:nvSpPr>
        <p:spPr>
          <a:xfrm>
            <a:off x="960120" y="4965192"/>
            <a:ext cx="10149840" cy="9144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Questions: data/questions/dataset_v1_fewshot3.jsonl (harness/fewshot.py)</a:t>
            </a:r>
          </a:p>
          <a:p>
            <a:pPr algn="l">
              <a:lnSpc>
                <a:spcPct val="109000"/>
              </a:lnSpc>
              <a:spcBef>
                <a:spcPts val="0"/>
              </a:spcBef>
              <a:spcAft>
                <a:spcPts val="0"/>
              </a:spcAft>
            </a:pPr>
            <a:r>
              <a:rPr sz="1800" b="0">
                <a:solidFill>
                  <a:srgbClr val="00407A"/>
                </a:solidFill>
                <a:latin typeface="Arial"/>
              </a:rPr>
              <a:t>Answers, scores, manifests and comparisons: results/kev/dataset_v1_fewshot3_*/</a:t>
            </a:r>
          </a:p>
          <a:p>
            <a:pPr algn="l">
              <a:lnSpc>
                <a:spcPct val="109000"/>
              </a:lnSpc>
              <a:spcBef>
                <a:spcPts val="0"/>
              </a:spcBef>
              <a:spcAft>
                <a:spcPts val="0"/>
              </a:spcAft>
            </a:pPr>
            <a:r>
              <a:rPr sz="1800" b="0">
                <a:solidFill>
                  <a:srgbClr val="00407A"/>
                </a:solidFill>
                <a:latin typeface="Arial"/>
              </a:rPr>
              <a:t>Verified tables: presentations/data/verified_metrics_fewshot3.json, compare_fewshot3.csv</a:t>
            </a:r>
          </a:p>
        </p:txBody>
      </p:sp>
    </p:spTree>
  </p:cSld>
  <p:clrMapOvr>
    <a:masterClrMapping/>
  </p:clrMapOvr>
</p:sld>
</file>

<file path=ppt/theme/theme1.xml><?xml version="1.0" encoding="utf-8"?>
<a:theme xmlns:a="http://schemas.openxmlformats.org/drawingml/2006/main" name="TinyTapeOut 2026: jullie feedback">
  <a:themeElements>
    <a:clrScheme name="TinyTapeOut 2026: jullie feedback">
      <a:dk1>
        <a:srgbClr val="00407A"/>
      </a:dk1>
      <a:lt1>
        <a:srgbClr val="F4F8FA"/>
      </a:lt1>
      <a:dk2>
        <a:srgbClr val="3D6E9A"/>
      </a:dk2>
      <a:lt2>
        <a:srgbClr val="DCE6ED"/>
      </a:lt2>
      <a:accent1>
        <a:srgbClr val="52BDEC"/>
      </a:accent1>
      <a:accent2>
        <a:srgbClr val="0B5A93"/>
      </a:accent2>
      <a:accent3>
        <a:srgbClr val="BFDDEC"/>
      </a:accent3>
      <a:accent4>
        <a:srgbClr val="1D8DB0"/>
      </a:accent4>
      <a:accent5>
        <a:srgbClr val="4A5A66"/>
      </a:accent5>
      <a:accent6>
        <a:srgbClr val="C8D3DA"/>
      </a:accent6>
      <a:hlink>
        <a:srgbClr val="0563C1"/>
      </a:hlink>
      <a:folHlink>
        <a:srgbClr val="954F72"/>
      </a:folHlink>
    </a:clrScheme>
    <a:fontScheme name="TinyTapeOut 2026: jullie feedb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608</Words>
  <Application>Microsoft Office PowerPoint</Application>
  <PresentationFormat>Widescreen</PresentationFormat>
  <Paragraphs>96</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TinyTapeOut 2026: jullie feedback</vt:lpstr>
      <vt:lpstr>Wat jullie ervan vonden</vt:lpstr>
      <vt:lpstr>De cijfers</vt:lpstr>
      <vt:lpstr>Jullie beste moment</vt:lpstr>
      <vt:lpstr>Waar jullie vastliepen</vt:lpstr>
      <vt:lpstr>Volgend jaar</vt:lpstr>
      <vt:lpstr>Jullie chips opmeten</vt:lpstr>
      <vt:lpstr>Bedankt!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KEV on RTL: tests, results and limitations</dc:title>
  <dc:subject>Dataset v1; all four KEV v1.0 models; 725 held-out questions</dc:subject>
  <dc:creator>JEV_RTL study</dc:creator>
  <cp:lastModifiedBy>Marian Verhelst</cp:lastModifiedBy>
  <cp:revision>1</cp:revision>
  <dcterms:created xsi:type="dcterms:W3CDTF">2026-10-14T20:01:21Z</dcterms:created>
  <dcterms:modified xsi:type="dcterms:W3CDTF">2026-10-14T20:04:01Z</dcterms:modified>
  <cp:keywords>RTL, KEV, synthesis, compilation, area, power, timing</cp:keywords>
</cp:coreProperties>
</file>