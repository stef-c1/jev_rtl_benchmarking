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presentation covers the completed KEV-0.8B, KEV-4B, KEV-9B and KEV-27B v1.0 runs. RTL means register-transfer level: code describing digital hardware. The label B denotes approximately billions of model parameters. There are 151 retained designs across development and test; the held-out test has 123 individual designs plus pair requests. The number 725 counts questions, not independent designs. All findings are specific to this dataset and tool flow. No Jev, base Qwen or commercial LLM evaluation is included.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compilation-error result is KEV-27B on the 9 compiler-rejected test designs. The area result is 61/92 exact levels. Synthesis failure detection is 4/24. The 15/16 failure-reason result is conditional on a prompt explicitly stating that synthesis failed. The strongest observed pair-area accuracy is KEV-9B at 40/46 views; the strongest observed pair-power accuracy is KEV-27B at 31/44 views. These are different models and tasks, and not a single combined design or statistically established winner.</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uses Siemens QuestaSim 2022.4 vlog -sv, a compile-only check. Synthesis uses Synopsys Design Compiler U-2022.12-SP2 with analyze, elaborate, link and compile_ultra. A synthesis pass requires no Error lines, no LINK-5/UID-341 unresolved references, no TRANS-4 unmapped generic registers, and an output netlist. Compiler acceptance is not functional correctness, complete simulator elaboration, or a guarantee of synthesizability. There are 99 test designs with both successful compilation and synthesis, 15 that compile but fail synthesis, and 9 that fail both.</a:t>
            </a:r>
          </a:p>
          <a:p/>
          <a:p>
            <a:r>
              <a:t>Evidence and reproducibility</a:t>
            </a:r>
          </a:p>
          <a:p>
            <a:r>
              <a:t>notes/synth_yesno.md; notes/DATASET.md; harness/build.py;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plan ran 159 designs; 8 are excluded under the dataset rules, leaving 151 basic design records. The test split contains 123 basic designs and the development split 28. All four models answered all 348 requests, but reported accuracy uses test only: 281 requests and 725 questions. Performance coverage is 92 area, 92 slack, 92 reachable-frequency, and 85 power questions. The 361 performance questions therefore do not mean 361 distinct designs. There are 25 distinct test pairs, each sent in both orders, containing 46 area, 44 power and 12 frequency questions. Pair metrics overlap in which pairs they cover. The analysis asserts no shared base_design_id between development and test.</a:t>
            </a:r>
          </a:p>
          <a:p/>
          <a:p>
            <a:r>
              <a:t>Evidence and reproducibility</a:t>
            </a:r>
          </a:p>
          <a:p>
            <a:r>
              <a:t>notes/DATASET.md; data/questions/dataset_v1.card.md; data/questions/dataset_v1.jsonl; presentations/src/analyse_kev.py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Condor client sends only state, API model and questions to /v1/systemone. The correct_answer and evidence fields are retained locally in the input file and output records for scoring, not sent in the request payload. The four request groups are deliberately separate. In particular the reason instruction literally states that the tool does not synthesize the module, so its score cannot be read as autonomous failure detection. All models used the same input file SHA-256 and v1.0-tagged checkpoints. Maximum actual reported input length was 7,706 tokens for every model.</a:t>
            </a:r>
          </a:p>
          <a:p/>
          <a:p>
            <a:r>
              <a:t>Evidence and reproducibility</a:t>
            </a:r>
          </a:p>
          <a:p>
            <a:r>
              <a:t>condor/kev_client.py; harness/build.py: V1_QUESTIONS and build_dataset_v1;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Binary predictions use threshold 0.5 exactly as the saved scorer. Class-specific rates use the actual tool outcome as the grouping variable. Binary balanced accuracy is the arithmetic mean of success recognition and failure detection. For reason labels the scorer averages per-class recall over the eight true classes present. Score probabilities use KEV keys 0 to 4, translated to displayed levels 1 to 5 before scoring. A constant-answer reference is a descriptive frequency of the specified label in this test set; it was not a separate run, not learned on development, and not chosen as a deployable predictor. Pair labels are exactly balanced A/B because both orders are included; always choosing a letter therefore gets 50%. There is no grand overall score across unrelated tasks.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counts are computed directly from the raw test answers. Successful recognition counts are 99,98,97,98 of 99 for 0.8B,4B,9B,27B. Failure detections are 0,0,2,4 of 24. The test class imbalance is 99 versus 24. The axis is the percentage correct within each actual-outcome group, not the fraction of all designs. All bars use the full 0–100% scale.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true positive 98, false negative 1, false positive 20, true negative 4. Overall accuracy = (98+4)/123 = 0.8292682927. Success recognition = 98/99 = 0.9898989899. Failure detection = 4/24 = 0.1666666667. Balanced accuracy = (98/99+4/24)/2 = 0.5782828283. The always-yes descriptive reference is 99/123 = 80.5% overall and 50.0% balanced. The matrix contains actual counts, not probabilities. Never interpret overall 82.9% as 82.9% of failures detected.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a derived subgroup analysis using the actual compilation and synthesis labels of the same basic requests. All bars are synthesis yes/no decisions; the right panel is not the separate compilation answer. Compiler-accepted failure detections: 0,0,1,0 of 15. Compiler-rejected failure detections: 0,0,1,4 of 9. Small subgroups do not establish general performance, but clearly localise the observed weakness.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pass-correct counts: 4,114,114,114 of 114. Error detections: 9,0,2,8 of 9. This explains the apparently high 4B pooled score (114/123) and the very low 0.8B pooled score (13/123). Balanced accuracies are 51.8%,50.0%,61.1%,94.4%. With only nine compiler errors one case changes error-detection rate by 11.1 percentage points.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are 5,9,11,15 of 16. Class-balanced reason accuracies are 17.9%,37.5%,50.0%,87.5%, respectively. The reason classes present are multiple_drivers(1), illegal_code(1), unsupported_construct(1), timing_control(3), simulation_statement(5), async_reset(1), mixed_assignments(2), instance_mismatch(2). There are no true event_list or unbounded_loop examples in the held-out reason subset. KEV-27B gets only multiple_drivers wrong, predicting async_reset. The instruction supplies the known failure and therefore this accuracy is conditional, not an end-to-end detection score.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test reason request, replace :reason: with :basic: in its question ID and inspect the corresponding synthesis probability. The reason subset has 16 known failures, while the full binary synthesis test has 24 failures; 8 noncompile designs do not receive a reason request. Failure flags within the 16-design reason subset are 0,0,1,0. Correct diagnoses when the prompt supplies failure are 5,9,11,15. Both correct counts are 0,0,1,0. In particular KEV-27B flags none of these 16, although its independent reason response is right for 15. These are retrospective conjunctions of saved answers, not measured performance of a deployed routed pipeline.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the supplied RTL_flow_Nangate15, NanGate 15nm typical corner at 0.8 V and 25 C, Design Compiler compile_ultra -gate_clock, a 500 MHz target, input/output delay of 10% of period, and 50 ps setup clock uncertainty. Area is the synthesis total cell area divided by 0.196608 square micrometres per NAND2_X1 gate. Power comes from the same design run and PrimeTime total dynamic plus leakage power using its supplied power testbench. The model receives that testbench. Power is only included when the run is successful and switching annotation is at least 95%. In the held-out test 85 of 92 performance requests have a power label; the other seven are excluded, not model errors. Levels use lower-inclusive upper-exclusive ranges, except the first and last open-ended bins.</a:t>
            </a:r>
          </a:p>
          <a:p/>
          <a:p>
            <a:r>
              <a:t>Evidence and reproducibility</a:t>
            </a:r>
          </a:p>
          <a:p>
            <a:r>
              <a:t>harness/build.py: AREA_EDGES_GE, POWER_EDGES_UW and build_dataset_v1; notes/DATASET.md; notes/README.md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Worst slack is the smallest timing margin reported after synthesis at the fixed 500 MHz target. Positive slack means the netlist meets that target. Reachable frequency is the harness formula 1000/(period_ns-slack_ns) MHz, converted here to GHz, from that same netlist. It is not measured silicon frequency, post-route timing or the result of resynthesizing at the inferred faster target. The example mac_int8 has 1437.97 ps of slack, converted to 1.43797 ns: 1/(2-1.43797)=1.779 GHz. A unit conversion bug in the supplied summary.sh is corrected by the harness. Held-out slack truths contain levels 2,3,4,5 only; reachable frequency truths contain levels 1,2,3,4 only. Thus no negative-slack or ≥4 GHz true examples occur.</a:t>
            </a:r>
          </a:p>
          <a:p/>
          <a:p>
            <a:r>
              <a:t>Evidence and reproducibility</a:t>
            </a:r>
          </a:p>
          <a:p>
            <a:r>
              <a:t>notes/DATASET.md; harness/build.py: SLACK_EDGES_NS, REACH_EDGES_MHZ and build_dataset_v1; flow/RTL_flow_Nangate15/summary.sh</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hits: 33,33,53,61 of 92. Within-one hits: 61,65,83,92. The dashed constant-answer reference is always area level 1, correct for 33/92 test examples. It is descriptive and computed from test labels, not an independently run or development-selected model. Even a within-one prediction can imply a large area difference because the bins have decade-wide boundaries. No physical relative error or post-layout area is reported.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power hits: 23,39,34,9 of 85. Within-one hits: 70,78,79,55. True level counts 1–5: 23,37,18,7,0. KEV-27B chosen-level counts: 0,0,54,30,1. It therefore systematically chooses high levels on this test distribution. This is an observed tendency, not evidence of an identified root cause. Power depends on both the synthesized design and stimulus; it is not a general intrinsic cost of the RTL. The constant-answer level-2 reference is computed from test labels.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Reachable frequency exact hits are 13,11,13,13 of 92. Slack exact hits are 8,4,3,30 of 92. True frequency level 4 is most common with 45/92 and true slack level 5 with 63/92. These are explicitly specified constant-answer references calculated from the test labels, not learned predictive baselines. No negative-slack cases are present, so the benchmark cannot evaluate missed timing violations. Level accuracy is not a timing estimation error in picoseconds or MHz.</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These are the complete true-label and chosen-label distributions for KEV-27B test performance responses. Frequency truths 13,16,18,45,0 and predictions 90,0,0,0,2. Power truths 23,37,18,7,0 and predictions 0,0,54,30,1. Each chart uses the same 0–100-design vertical scale; the two denominators are different and labelled. There is no omission or zoom. Counts at zero are printed as zero rather than represented by a nonzero bar. These distributions establish bias in chosen levels, not its cause.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old REvolution candidates of the same problem. Both runs must have usable power and at least 95% annotation, the same power testbench, and positive values for compared metrics. A question is retained for a metric if max/min is at least 1.1, so there are no ties. Twenty-five distinct pairs occur in the held-out split and 31 across both splits. The metric subsets overlap; do not sum 23+22+6 as distinct pairs. Each retained pair is sent as AB and BA. A/B labels are therefore balanced. No energy-per-operation pair question is implemented in dataset v1, despite its presence in an older planning note.</a:t>
            </a:r>
          </a:p>
          <a:p/>
          <a:p>
            <a:r>
              <a:t>Evidence and reproducibility</a:t>
            </a:r>
          </a:p>
          <a:p>
            <a:r>
              <a:t>harness/build.py: V1_PAIR_QUESTIONS and build_dataset_v1; data/questions/dataset_v1.jsonl; notes/DATASET.md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full pair accuracy values are taken from the official local harness scorer. Per-view hits: area 22,35,40,36 of 46; power 28,25,29,31 of 44; frequency 8,10,9,10 of 12. The dashed 50% reference is always choosing A or always choosing B because both orders are included. This is not independent random sampling: the two orders share designs, and different pairs can share candidates of a problem. No significance test is claimed, and different per-task maxima belong to different models. All percentage axes are 0–100%.</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are derived from matching AB/BA answers and requiring each to equal its label. Area:5,13,19,17 of23; power:6,3,9,14 of22; frequency:3,4,4,5 of6. Same-letter-both-orders is the saved scorer positional inconsistency measure; power counts are16,19,11,3 of22. A consistent switched-letter answer can still choose the wrong design in both orders, so consistency alone does not prove correctness. The both-orders criterion is therefore shown separately from the per-view accuracy. It is a stricter descriptive summary, not a new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 IDs4.0,5.0,6.0,7.0 completed with return code0. Job execution seconds are125,187,204,400; this includes setup/smoke/inference but excludes idle queue wait. Median server-reported model times are109.05,201.35,243.7,668.3ms. These medians include all348 dataset requests, development plus test, but exclude the separate smoke file. GPU0.8B: euler RTX3080Ti; larger models: aristoteles A100-SXM4-80GB. Sum of client wall times over the348 requests:52.047,99.433,104.114,279.849s. Server model latency and client wall time are distinct measures. Peak sampled GPU memory is recorded for0.8B only (7036MiB); no comparable peak is available for the larger jobs. An earlier0.8B attempt3.0 failed before inference on AMD and was corrected by requiring CUDA. No dollar-cost estimate is measured.</a:t>
            </a:r>
          </a:p>
          <a:p/>
          <a:p>
            <a:r>
              <a:t>Evidence and reproducibility</a:t>
            </a:r>
          </a:p>
          <a:p>
            <a:r>
              <a:t>results/kev/*/manifest.json; condor/logs/4.0.kev-0.8b.log; condor/logs/5.0.kev-4b.log; condor/logs/6.0.kev-9b.log; condor/logs/7.0.kev-27b.log</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distinguishes measured strengths from proposed follow-up work. The test-set probabilities suggest that the fixed0.5 threshold may hide some ranking signal, but any alternative threshold must be selected on development only, frozen and assessed on new held-out data rather than optimised on this test. Expanded failure cases should include compiler-accepted synthesis failures. The current test has no negative-slack cases, no level5 power examples, and no level5 reachable-frequency examples. No confidence interval or paired significance test is claimed here. Jev, base Qwen, commercial LLMs, renamed/comment controls, energy per operation and post-route or measured-silicon validation have no results in this completed evaluation.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following tables retain all primary question metrics, the class splits, reason coverage, probability metrics, expected-level error and pair-order checks. There is no single overall cross-task accuracy because tasks have different meanings, supports and class distributions.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the complete primary accuracy table from the saved scorer, reproduced from raw answers. The KEV model size is indicated by the four numeric columns; all are KEV v1.0. Yes/no scores use threshold0.5. Reason accuracy is conditional on the prompt supplying failure. Area/power/frequency/slack require exact ordinal level. Pair scores count both presentation orders as separate views; area46views, power44views, frequency12views. No row is a general combined model score. For probability, class and level-error metrics see later appendix slides.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rows show all four binary confusion-matrix supports with correct counts. Wrong counts are n minus correct. Compilation supports114pass/9fail; synthesis99pass/24fail. Balanced accuracy is the arithmetic mean of the two within-group percentages, not weighted by123designs. KEV0.8B synthesis always predicts yes. KEV4B compilation always predicts yes. The source answers are all present and successfully scored; there is no missing-answer adjustment.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supports are drawn from the test input. They total16. The offered option list has10classes, so event_list and unbounded_loop have zero true cases and are excluded from the saved scorer balanced accuracy. Correct class counts for every model are recomputed. KEV27B sole mistake is multiple_drivers→async_reset. Five simulation-only examples and three timing-control examples give those classes more influence in pooled accuracy than one-case classes. Balanced accuracy instead weights the eight observed class recalls equally. Do not interpret this as broad10-class validation.</a:t>
            </a:r>
          </a:p>
          <a:p/>
          <a:p>
            <a:r>
              <a:t>Evidence and reproducibility</a:t>
            </a:r>
          </a:p>
          <a:p>
            <a:r>
              <a:t>notes/synth_reason.md; data/questions/dataset_v1.jsonl;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actual success has a higher predicted yes probability than a randomly chosen actual failure, counting ties as half. It ranges0–1;0.5 corresponds to chance ordering. It is independent of the chosen decision threshold and is not failure recall. Brier score is mean((p_yes-y)^2),0–1with lower better. It measures probability error, not calibration alone. These metrics use all123binary test designs. Synthesis AUROC improves to0.814for27B although its thresholded failure recall is16.7%. Any threshold tuning must use the development split, not these test labels. No recalibrated or alternative-threshold result has been run.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argmax chosen level versus the true integer level. Mean absolute level error (mae_levels) uses the probability-weighted expected level sum(k*p_k)/sum(p_k), then averages abs(expected-true). Therefore it is not the mean absolute error of the argmax level and need not track exact accuracy monotonically. Supports:92area,85power,92reachablefrequency,92slack. Since area and power bins cover decades, ordinal error cannot be read as fixed relative or absolute physical error. All values are retained from the scorer, verified against raw responses with1e-12floating-point tolerance.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an A/B pair with opposite correct labels in AB and BA, each model response falls into0,1or2correct views. Both-order counts are read from paired saved answers, not estimated from percentages. The saved same_letter_both_orders rate equals the one-correct count divided by the number of distinct pairs for this balanced binary protocol. It is not itself an accuracy measure. Questions share design candidates and problem families, so naive independence across views is inappropriate. All row triplets sum to the labelled number of pairs.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retained basic design records only, not requests or pair views. All retained counts total151 and held-out counts123. The original plan159had8excludeddesigns:4mutantswithanunintendedclass,2traptwins that did not synthesize as required, and2noncompile designs whose DC class was not intended. Twelve retained performance cases across both splits have no usable power value, leaving98powerquestions overall and85test. The corpus also skips comparisons with incompatible testbenches or less than10%metric differences. Some source groups contain near variants; base_design_id grouping prevents cross-split leakage as checked in analyse_kev.py. Dataset v1 supersedes older planning sizes such as500perquestiontype. No planned result is presented as completed.</a:t>
            </a:r>
          </a:p>
          <a:p/>
          <a:p>
            <a:r>
              <a:t>Evidence and reproducibility</a:t>
            </a:r>
          </a:p>
          <a:p>
            <a:r>
              <a:t>data/questions/dataset_v1.card.md; notes/DATASET.md; harness/build.py;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 "4.0",</a:t>
            </a:r>
          </a:p>
          <a:p>
            <a:r>
              <a:t>    "revision": "bf75a6a8848ea6960ff2ed108d9ed44c2941174f",</a:t>
            </a:r>
          </a:p>
          <a:p>
            <a:r>
              <a:t>    "answers_file": "results/kev/dataset_v1_kev-0.8b_20261014/dataset_v1__kev-0.8b.jsonl",</a:t>
            </a:r>
          </a:p>
          <a:p>
            <a:r>
              <a:t>    "answers_sha256": "c2b175aacc788e57d7b3fbc042432c9d3fac78384ae37bc976f8bf52d9c22046",</a:t>
            </a:r>
          </a:p>
          <a:p>
            <a:r>
              <a:t>    "dataset_sha256": "96814ea63d89b98af7f87c5f6d8e5fe0f35ec710c30755c9d0723fbec4ddbe2a"</a:t>
            </a:r>
          </a:p>
          <a:p>
            <a:r>
              <a:t>  },</a:t>
            </a:r>
          </a:p>
          <a:p>
            <a:r>
              <a:t>  "kev-4b": {</a:t>
            </a:r>
          </a:p>
          <a:p>
            <a:r>
              <a:t>    "job": "5.0",</a:t>
            </a:r>
          </a:p>
          <a:p>
            <a:r>
              <a:t>    "revision": "6cfce5c2fa4b4bd64026336ab649c5ca78857d52",</a:t>
            </a:r>
          </a:p>
          <a:p>
            <a:r>
              <a:t>    "answers_file": "results/kev/dataset_v1_kev-4b_20261015/dataset_v1__kev-4b.jsonl",</a:t>
            </a:r>
          </a:p>
          <a:p>
            <a:r>
              <a:t>    "answers_sha256": "9f68340c80d407377a5288c970bab9a1af2a203aa6128c56a80555dece270b6e",</a:t>
            </a:r>
          </a:p>
          <a:p>
            <a:r>
              <a:t>    "dataset_sha256": "96814ea63d89b98af7f87c5f6d8e5fe0f35ec710c30755c9d0723fbec4ddbe2a"</a:t>
            </a:r>
          </a:p>
          <a:p>
            <a:r>
              <a:t>  },</a:t>
            </a:r>
          </a:p>
          <a:p>
            <a:r>
              <a:t>  "kev-9b": {</a:t>
            </a:r>
          </a:p>
          <a:p>
            <a:r>
              <a:t>    "job": "6.0",</a:t>
            </a:r>
          </a:p>
          <a:p>
            <a:r>
              <a:t>    "revision": "db029f08b290afd9fee4aa4bbcd9ae48602d1eb0",</a:t>
            </a:r>
          </a:p>
          <a:p>
            <a:r>
              <a:t>    "answers_file": "results/kev/dataset_v1_kev-9b_20261015/dataset_v1__kev-9b.jsonl",</a:t>
            </a:r>
          </a:p>
          <a:p>
            <a:r>
              <a:t>    "answers_sha256": "5c69346a7c9211caaff5f0e6067e82a5f6022519029d5cd1634697a1710fde34",</a:t>
            </a:r>
          </a:p>
          <a:p>
            <a:r>
              <a:t>    "dataset_sha256": "96814ea63d89b98af7f87c5f6d8e5fe0f35ec710c30755c9d0723fbec4ddbe2a"</a:t>
            </a:r>
          </a:p>
          <a:p>
            <a:r>
              <a:t>  },</a:t>
            </a:r>
          </a:p>
          <a:p>
            <a:r>
              <a:t>  "kev-27b": {</a:t>
            </a:r>
          </a:p>
          <a:p>
            <a:r>
              <a:t>    "job": "7.0",</a:t>
            </a:r>
          </a:p>
          <a:p>
            <a:r>
              <a:t>    "revision": "af0e6d551bdc2cc724f3e9d7a8bee1cd4fb8f7bf",</a:t>
            </a:r>
          </a:p>
          <a:p>
            <a:r>
              <a:t>    "answers_file": "results/kev/dataset_v1_kev-27b_20261015/dataset_v1__kev-27b.jsonl",</a:t>
            </a:r>
          </a:p>
          <a:p>
            <a:r>
              <a:t>    "answers_sha256": "c643020e0b73e9627c81fb7b0429556c70969cfef7074b7e4f6fc71d1349bf19",</a:t>
            </a:r>
          </a:p>
          <a:p>
            <a:r>
              <a:t>    "dataset_sha256": "96814ea63d89b98af7f87c5f6d8e5fe0f35ec710c30755c9d0723fbec4ddbe2a"</a:t>
            </a:r>
          </a:p>
          <a:p>
            <a:r>
              <a:t>  }</a:t>
            </a:r>
          </a:p>
          <a:p>
            <a:r>
              <a:t>}</a:t>
            </a:r>
          </a:p>
          <a:p>
            <a:r>
              <a:t>All times are Europe/Paris (CEST) as recorded in the manifests. The build verifies unique request IDs, successful HTTP responses, matching question keys, no cross-split base IDs, input fingerprints, and saved metrics versus freshly recomputed metrics. Numerical floating-point differences up to1e-12are accepted. Theme and slide masters are inherited from the user-supplied reference. This deck is derived from the completed results only.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RTL TOOL OUTCOMES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77724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The tests, the completed Condor runs, and what the scores mean</a:t>
            </a:r>
          </a:p>
        </p:txBody>
      </p:sp>
      <p:sp>
        <p:nvSpPr>
          <p:cNvPr id="6" name="TextBox 5"/>
          <p:cNvSpPr txBox="1"/>
          <p:nvPr/>
        </p:nvSpPr>
        <p:spPr>
          <a:xfrm>
            <a:off x="813816" y="5596128"/>
            <a:ext cx="10424160" cy="68580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Four model sizes  •  151 retained designs  •  725 held-out questions</a:t>
            </a:r>
          </a:p>
          <a:p>
            <a:pPr algn="l">
              <a:lnSpc>
                <a:spcPct val="109000"/>
              </a:lnSpc>
              <a:spcBef>
                <a:spcPts val="0"/>
              </a:spcBef>
              <a:spcAft>
                <a:spcPts val="0"/>
              </a:spcAft>
            </a:pPr>
            <a:r>
              <a:rPr sz="1600" b="0">
                <a:solidFill>
                  <a:srgbClr val="BFDDEC"/>
                </a:solidFill>
                <a:latin typeface="Arial"/>
              </a:rPr>
              <a:t>15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completed runs show</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Different tasks reveal different strengths. A single pooled score hides important failures.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Compilation errors:</a:t>
            </a:r>
          </a:p>
          <a:p>
            <a:pPr algn="l">
              <a:lnSpc>
                <a:spcPct val="109000"/>
              </a:lnSpc>
              <a:spcBef>
                <a:spcPts val="0"/>
              </a:spcBef>
              <a:spcAft>
                <a:spcPts val="0"/>
              </a:spcAft>
            </a:pPr>
            <a:r>
              <a:rPr sz="1900" b="0">
                <a:solidFill>
                  <a:srgbClr val="00407A"/>
                </a:solidFill>
                <a:latin typeface="Arial"/>
              </a:rPr>
              <a:t>8 of 9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levels:</a:t>
            </a:r>
          </a:p>
          <a:p>
            <a:pPr algn="l">
              <a:lnSpc>
                <a:spcPct val="109000"/>
              </a:lnSpc>
              <a:spcBef>
                <a:spcPts val="0"/>
              </a:spcBef>
              <a:spcAft>
                <a:spcPts val="0"/>
              </a:spcAft>
            </a:pPr>
            <a:r>
              <a:rPr sz="1900" b="0">
                <a:solidFill>
                  <a:srgbClr val="00407A"/>
                </a:solidFill>
                <a:latin typeface="Arial"/>
              </a:rPr>
              <a:t>61 of 92 exactly right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Synthesis is weak</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4 of 24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Failure reasons:</a:t>
            </a:r>
          </a:p>
          <a:p>
            <a:pPr algn="l">
              <a:lnSpc>
                <a:spcPct val="109000"/>
              </a:lnSpc>
              <a:spcBef>
                <a:spcPts val="0"/>
              </a:spcBef>
              <a:spcAft>
                <a:spcPts val="0"/>
              </a:spcAft>
            </a:pPr>
            <a:r>
              <a:rPr sz="1900" b="0">
                <a:solidFill>
                  <a:srgbClr val="00407A"/>
                </a:solidFill>
                <a:latin typeface="Arial"/>
              </a:rPr>
              <a:t>15 of 16 right when</a:t>
            </a:r>
          </a:p>
          <a:p>
            <a:pPr algn="l">
              <a:lnSpc>
                <a:spcPct val="109000"/>
              </a:lnSpc>
              <a:spcBef>
                <a:spcPts val="0"/>
              </a:spcBef>
              <a:spcAft>
                <a:spcPts val="0"/>
              </a:spcAft>
            </a:pPr>
            <a:r>
              <a:rPr sz="1900" b="0">
                <a:solidFill>
                  <a:srgbClr val="00407A"/>
                </a:solidFill>
                <a:latin typeface="Arial"/>
              </a:rPr>
              <a:t>failure is supplied</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 single winner</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9B leads area ranking.</a:t>
            </a:r>
          </a:p>
          <a:p>
            <a:pPr algn="l">
              <a:lnSpc>
                <a:spcPct val="109000"/>
              </a:lnSpc>
              <a:spcBef>
                <a:spcPts val="0"/>
              </a:spcBef>
              <a:spcAft>
                <a:spcPts val="0"/>
              </a:spcAft>
            </a:pPr>
            <a:r>
              <a:rPr sz="1800" b="0">
                <a:solidFill>
                  <a:srgbClr val="00407A"/>
                </a:solidFill>
                <a:latin typeface="Arial"/>
              </a:rPr>
              <a:t>27B leads power ranking.</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Absolute power and</a:t>
            </a:r>
          </a:p>
          <a:p>
            <a:pPr algn="l">
              <a:lnSpc>
                <a:spcPct val="109000"/>
              </a:lnSpc>
              <a:spcBef>
                <a:spcPts val="0"/>
              </a:spcBef>
              <a:spcAft>
                <a:spcPts val="0"/>
              </a:spcAft>
            </a:pPr>
            <a:r>
              <a:rPr sz="1800" b="0">
                <a:solidFill>
                  <a:srgbClr val="00407A"/>
                </a:solidFill>
                <a:latin typeface="Arial"/>
              </a:rPr>
              <a:t>clock-frequency levels</a:t>
            </a:r>
          </a:p>
          <a:p>
            <a:pPr algn="l">
              <a:lnSpc>
                <a:spcPct val="109000"/>
              </a:lnSpc>
              <a:spcBef>
                <a:spcPts val="0"/>
              </a:spcBef>
              <a:spcAft>
                <a:spcPts val="0"/>
              </a:spcAft>
            </a:pPr>
            <a:r>
              <a:rPr sz="1800" b="0">
                <a:solidFill>
                  <a:srgbClr val="00407A"/>
                </a:solidFill>
                <a:latin typeface="Arial"/>
              </a:rPr>
              <a:t>remain unreliable.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four runs completed. Every model answered every test question; missing data does not explain the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and synthesis answer different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RTL = register-transfer level: source code that describes digital hardware.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compile?</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the simulator compiler</a:t>
            </a:r>
          </a:p>
          <a:p>
            <a:pPr algn="l">
              <a:lnSpc>
                <a:spcPct val="109000"/>
              </a:lnSpc>
              <a:spcBef>
                <a:spcPts val="0"/>
              </a:spcBef>
              <a:spcAft>
                <a:spcPts val="0"/>
              </a:spcAft>
            </a:pPr>
            <a:r>
              <a:rPr sz="1800" b="0">
                <a:solidFill>
                  <a:srgbClr val="00407A"/>
                </a:solidFill>
                <a:latin typeface="Arial"/>
              </a:rPr>
              <a:t>accept the source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Reference: QuestaSim</a:t>
            </a:r>
          </a:p>
          <a:p>
            <a:pPr algn="l">
              <a:lnSpc>
                <a:spcPct val="109000"/>
              </a:lnSpc>
              <a:spcBef>
                <a:spcPts val="0"/>
              </a:spcBef>
              <a:spcAft>
                <a:spcPts val="0"/>
              </a:spcAft>
            </a:pPr>
            <a:r>
              <a:rPr sz="1800" b="0">
                <a:solidFill>
                  <a:srgbClr val="00407A"/>
                </a:solidFill>
                <a:latin typeface="Arial"/>
              </a:rPr>
              <a:t>vlog -sv.</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test whether</a:t>
            </a:r>
          </a:p>
          <a:p>
            <a:pPr algn="l">
              <a:lnSpc>
                <a:spcPct val="109000"/>
              </a:lnSpc>
              <a:spcBef>
                <a:spcPts val="0"/>
              </a:spcBef>
              <a:spcAft>
                <a:spcPts val="0"/>
              </a:spcAft>
            </a:pPr>
            <a:r>
              <a:rPr sz="1800" b="0">
                <a:solidFill>
                  <a:srgbClr val="00407A"/>
                </a:solidFill>
                <a:latin typeface="Arial"/>
              </a:rPr>
              <a:t>the circuit is correct.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synthesize?</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Design Compiler build</a:t>
            </a:r>
          </a:p>
          <a:p>
            <a:pPr algn="l">
              <a:lnSpc>
                <a:spcPct val="109000"/>
              </a:lnSpc>
              <a:spcBef>
                <a:spcPts val="0"/>
              </a:spcBef>
              <a:spcAft>
                <a:spcPts val="0"/>
              </a:spcAft>
            </a:pPr>
            <a:r>
              <a:rPr sz="1800" b="0">
                <a:solidFill>
                  <a:srgbClr val="00407A"/>
                </a:solidFill>
                <a:latin typeface="Arial"/>
              </a:rPr>
              <a:t>a complete gate-level</a:t>
            </a:r>
          </a:p>
          <a:p>
            <a:pPr algn="l">
              <a:lnSpc>
                <a:spcPct val="109000"/>
              </a:lnSpc>
              <a:spcBef>
                <a:spcPts val="0"/>
              </a:spcBef>
              <a:spcAft>
                <a:spcPts val="0"/>
              </a:spcAft>
            </a:pPr>
            <a:r>
              <a:rPr sz="1800" b="0">
                <a:solidFill>
                  <a:srgbClr val="00407A"/>
                </a:solidFill>
                <a:latin typeface="Arial"/>
              </a:rPr>
              <a:t>netlist from the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unresolved modules.</a:t>
            </a:r>
          </a:p>
          <a:p>
            <a:pPr algn="l">
              <a:lnSpc>
                <a:spcPct val="109000"/>
              </a:lnSpc>
              <a:spcBef>
                <a:spcPts val="0"/>
              </a:spcBef>
              <a:spcAft>
                <a:spcPts val="0"/>
              </a:spcAft>
            </a:pPr>
            <a:r>
              <a:rPr sz="1800" b="0">
                <a:solidFill>
                  <a:srgbClr val="00407A"/>
                </a:solidFill>
                <a:latin typeface="Arial"/>
              </a:rPr>
              <a:t>All registers map to cells.</a:t>
            </a:r>
          </a:p>
          <a:p>
            <a:pPr algn="l">
              <a:lnSpc>
                <a:spcPct val="109000"/>
              </a:lnSpc>
              <a:spcBef>
                <a:spcPts val="0"/>
              </a:spcBef>
              <a:spcAft>
                <a:spcPts val="0"/>
              </a:spcAft>
            </a:pPr>
            <a:r>
              <a:rPr sz="1800" b="0">
                <a:solidFill>
                  <a:srgbClr val="00407A"/>
                </a:solidFill>
                <a:latin typeface="Arial"/>
              </a:rPr>
              <a:t>No synthesis errors.</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does it cost?</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Estimate cell area, power,</a:t>
            </a:r>
          </a:p>
          <a:p>
            <a:pPr algn="l">
              <a:lnSpc>
                <a:spcPct val="109000"/>
              </a:lnSpc>
              <a:spcBef>
                <a:spcPts val="0"/>
              </a:spcBef>
              <a:spcAft>
                <a:spcPts val="0"/>
              </a:spcAft>
            </a:pPr>
            <a:r>
              <a:rPr sz="1800" b="0">
                <a:solidFill>
                  <a:srgbClr val="00407A"/>
                </a:solidFill>
                <a:latin typeface="Arial"/>
              </a:rPr>
              <a:t>and timing from the RTL.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The reference comes from</a:t>
            </a:r>
          </a:p>
          <a:p>
            <a:pPr algn="l">
              <a:lnSpc>
                <a:spcPct val="109000"/>
              </a:lnSpc>
              <a:spcBef>
                <a:spcPts val="0"/>
              </a:spcBef>
              <a:spcAft>
                <a:spcPts val="0"/>
              </a:spcAft>
            </a:pPr>
            <a:r>
              <a:rPr sz="1800" b="0">
                <a:solidFill>
                  <a:srgbClr val="00407A"/>
                </a:solidFill>
                <a:latin typeface="Arial"/>
              </a:rPr>
              <a:t>synthesis and power tools.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fabricated-chip or</a:t>
            </a:r>
          </a:p>
          <a:p>
            <a:pPr algn="l">
              <a:lnSpc>
                <a:spcPct val="109000"/>
              </a:lnSpc>
              <a:spcBef>
                <a:spcPts val="0"/>
              </a:spcBef>
              <a:spcAft>
                <a:spcPts val="0"/>
              </a:spcAft>
            </a:pPr>
            <a:r>
              <a:rPr sz="1800" b="0">
                <a:solidFill>
                  <a:srgbClr val="00407A"/>
                </a:solidFill>
                <a:latin typeface="Arial"/>
              </a:rPr>
              <a:t>post-route measurement.</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test set, 15 designs compile successfully but still fail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dataset and the held-out test set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model request can contain several questions. Questions are not independent design samples.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sp>
        <p:nvSpPr>
          <p:cNvPr id="6" name="Rounded Rectangle 5"/>
          <p:cNvSpPr/>
          <p:nvPr/>
        </p:nvSpPr>
        <p:spPr>
          <a:xfrm>
            <a:off x="81381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151</a:t>
            </a:r>
          </a:p>
        </p:txBody>
      </p:sp>
      <p:sp>
        <p:nvSpPr>
          <p:cNvPr id="8" name="TextBox 7"/>
          <p:cNvSpPr txBox="1"/>
          <p:nvPr/>
        </p:nvSpPr>
        <p:spPr>
          <a:xfrm>
            <a:off x="209397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retained designs</a:t>
            </a:r>
          </a:p>
        </p:txBody>
      </p:sp>
      <p:sp>
        <p:nvSpPr>
          <p:cNvPr id="9" name="Rounded Rectangle 8"/>
          <p:cNvSpPr/>
          <p:nvPr/>
        </p:nvSpPr>
        <p:spPr>
          <a:xfrm>
            <a:off x="4398264"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348</a:t>
            </a:r>
          </a:p>
        </p:txBody>
      </p:sp>
      <p:sp>
        <p:nvSpPr>
          <p:cNvPr id="11" name="TextBox 10"/>
          <p:cNvSpPr txBox="1"/>
          <p:nvPr/>
        </p:nvSpPr>
        <p:spPr>
          <a:xfrm>
            <a:off x="5678423"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requests across both splits</a:t>
            </a:r>
          </a:p>
        </p:txBody>
      </p:sp>
      <p:sp>
        <p:nvSpPr>
          <p:cNvPr id="12" name="Rounded Rectangle 11"/>
          <p:cNvSpPr/>
          <p:nvPr/>
        </p:nvSpPr>
        <p:spPr>
          <a:xfrm>
            <a:off x="799185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875</a:t>
            </a:r>
          </a:p>
        </p:txBody>
      </p:sp>
      <p:sp>
        <p:nvSpPr>
          <p:cNvPr id="14" name="TextBox 13"/>
          <p:cNvSpPr txBox="1"/>
          <p:nvPr/>
        </p:nvSpPr>
        <p:spPr>
          <a:xfrm>
            <a:off x="927201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questions across both splits</a:t>
            </a:r>
          </a:p>
        </p:txBody>
      </p:sp>
      <p:graphicFrame>
        <p:nvGraphicFramePr>
          <p:cNvPr id="15" name="Table 14"/>
          <p:cNvGraphicFramePr>
            <a:graphicFrameLocks noGrp="1"/>
          </p:cNvGraphicFramePr>
          <p:nvPr/>
        </p:nvGraphicFramePr>
        <p:xfrm>
          <a:off x="813816" y="3200400"/>
          <a:ext cx="10561320" cy="2285998"/>
        </p:xfrm>
        <a:graphic>
          <a:graphicData uri="http://schemas.openxmlformats.org/drawingml/2006/table">
            <a:tbl>
              <a:tblPr firstRow="1" bandRow="1">
                <a:tableStyleId>{5C22544A-7EE6-4342-B048-85BDC9FD1C3A}</a:tableStyleId>
              </a:tblPr>
              <a:tblGrid>
                <a:gridCol w="2971800"/>
                <a:gridCol w="1097280"/>
                <a:gridCol w="1143000"/>
                <a:gridCol w="5349240"/>
              </a:tblGrid>
              <a:tr h="566928">
                <a:tc>
                  <a:txBody>
                    <a:bodyPr/>
                    <a:lstStyle/>
                    <a:p>
                      <a:pPr algn="l">
                        <a:lnSpc>
                          <a:spcPct val="103000"/>
                        </a:lnSpc>
                        <a:spcBef>
                          <a:spcPts val="0"/>
                        </a:spcBef>
                        <a:spcAft>
                          <a:spcPts val="0"/>
                        </a:spcAft>
                      </a:pPr>
                      <a:r>
                        <a:rPr sz="1400" b="1">
                          <a:solidFill>
                            <a:srgbClr val="FFFFFF"/>
                          </a:solidFill>
                          <a:latin typeface="Arial"/>
                        </a:rPr>
                        <a:t>Held-out request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Requests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What is covered</a:t>
                      </a:r>
                    </a:p>
                  </a:txBody>
                  <a:tcPr marL="109728" marR="91440" marT="54864" marB="36576" anchor="ctr">
                    <a:solidFill>
                      <a:srgbClr val="00407A"/>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Basic checks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246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Compilation + synthesis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Failure reason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One of ten reason options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Performance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Area, power and two timing levels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Pair comparisons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25 distinct pairs, both orders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TOTAL TEST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 individual test designs</a:t>
                      </a:r>
                    </a:p>
                  </a:txBody>
                  <a:tcPr marL="109728" marR="91440" marT="54864" marB="36576" anchor="ctr">
                    <a:solidFill>
                      <a:srgbClr val="E3EFF5"/>
                    </a:solidFill>
                    <a:lnL>
                      <a:noFill/>
                    </a:lnL>
                    <a:lnR>
                      <a:noFill/>
                    </a:lnR>
                    <a:lnT>
                      <a:noFill/>
                    </a:lnT>
                    <a:lnB>
                      <a:noFill/>
                    </a:lnB>
                  </a:tcPr>
                </a:tc>
              </a:tr>
            </a:tbl>
          </a:graphicData>
        </a:graphic>
      </p:graphicFrame>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Development: 28 designs, 67 requests, 150 questions. Related base designs stay in the same split.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model receives for each test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Tool logs and correct answers are used for scoring; they are not sent to the model.</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sp>
        <p:nvSpPr>
          <p:cNvPr id="6" name="Rounded Rectangle 5"/>
          <p:cNvSpPr/>
          <p:nvPr/>
        </p:nvSpPr>
        <p:spPr>
          <a:xfrm>
            <a:off x="81381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Basic checks</a:t>
            </a:r>
          </a:p>
        </p:txBody>
      </p:sp>
      <p:sp>
        <p:nvSpPr>
          <p:cNvPr id="9" name="TextBox 8"/>
          <p:cNvSpPr txBox="1"/>
          <p:nvPr/>
        </p:nvSpPr>
        <p:spPr>
          <a:xfrm>
            <a:off x="104241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source + top module + tool description.</a:t>
            </a:r>
          </a:p>
          <a:p>
            <a:pPr algn="l">
              <a:lnSpc>
                <a:spcPct val="109000"/>
              </a:lnSpc>
              <a:spcBef>
                <a:spcPts val="0"/>
              </a:spcBef>
              <a:spcAft>
                <a:spcPts val="0"/>
              </a:spcAft>
            </a:pPr>
            <a:r>
              <a:rPr sz="1700" b="0">
                <a:solidFill>
                  <a:srgbClr val="00407A"/>
                </a:solidFill>
                <a:latin typeface="Arial"/>
              </a:rPr>
              <a:t>Questions: does it compile, and does it synthesize?</a:t>
            </a:r>
          </a:p>
        </p:txBody>
      </p:sp>
      <p:sp>
        <p:nvSpPr>
          <p:cNvPr id="10" name="Rounded Rectangle 9"/>
          <p:cNvSpPr/>
          <p:nvPr/>
        </p:nvSpPr>
        <p:spPr>
          <a:xfrm>
            <a:off x="620877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Failure reason</a:t>
            </a:r>
          </a:p>
        </p:txBody>
      </p:sp>
      <p:sp>
        <p:nvSpPr>
          <p:cNvPr id="13" name="TextBox 12"/>
          <p:cNvSpPr txBox="1"/>
          <p:nvPr/>
        </p:nvSpPr>
        <p:spPr>
          <a:xfrm>
            <a:off x="643737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The same source, plus a prompt saying synthesis failed.</a:t>
            </a:r>
          </a:p>
          <a:p>
            <a:pPr algn="l">
              <a:lnSpc>
                <a:spcPct val="109000"/>
              </a:lnSpc>
              <a:spcBef>
                <a:spcPts val="0"/>
              </a:spcBef>
              <a:spcAft>
                <a:spcPts val="0"/>
              </a:spcAft>
            </a:pPr>
            <a:r>
              <a:rPr sz="1700" b="0">
                <a:solidFill>
                  <a:srgbClr val="00407A"/>
                </a:solidFill>
                <a:latin typeface="Arial"/>
              </a:rPr>
              <a:t>Choose one reason from ten descriptions.</a:t>
            </a:r>
          </a:p>
        </p:txBody>
      </p:sp>
      <p:sp>
        <p:nvSpPr>
          <p:cNvPr id="14" name="Rounded Rectangle 13"/>
          <p:cNvSpPr/>
          <p:nvPr/>
        </p:nvSpPr>
        <p:spPr>
          <a:xfrm>
            <a:off x="81381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Performance</a:t>
            </a:r>
          </a:p>
        </p:txBody>
      </p:sp>
      <p:sp>
        <p:nvSpPr>
          <p:cNvPr id="17" name="TextBox 16"/>
          <p:cNvSpPr txBox="1"/>
          <p:nvPr/>
        </p:nvSpPr>
        <p:spPr>
          <a:xfrm>
            <a:off x="104241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 flow + clock target; power also gets its testbench.</a:t>
            </a:r>
          </a:p>
          <a:p>
            <a:pPr algn="l">
              <a:lnSpc>
                <a:spcPct val="109000"/>
              </a:lnSpc>
              <a:spcBef>
                <a:spcPts val="0"/>
              </a:spcBef>
              <a:spcAft>
                <a:spcPts val="0"/>
              </a:spcAft>
            </a:pPr>
            <a:r>
              <a:rPr sz="1700" b="0">
                <a:solidFill>
                  <a:srgbClr val="00407A"/>
                </a:solidFill>
                <a:latin typeface="Arial"/>
              </a:rPr>
              <a:t>Choose a level for each available metric.</a:t>
            </a:r>
          </a:p>
        </p:txBody>
      </p:sp>
      <p:sp>
        <p:nvSpPr>
          <p:cNvPr id="18" name="Rounded Rectangle 17"/>
          <p:cNvSpPr/>
          <p:nvPr/>
        </p:nvSpPr>
        <p:spPr>
          <a:xfrm>
            <a:off x="620877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Pair comparison</a:t>
            </a:r>
          </a:p>
        </p:txBody>
      </p:sp>
      <p:sp>
        <p:nvSpPr>
          <p:cNvPr id="21" name="TextBox 20"/>
          <p:cNvSpPr txBox="1"/>
          <p:nvPr/>
        </p:nvSpPr>
        <p:spPr>
          <a:xfrm>
            <a:off x="643737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Both RTL variants + the same flow and clock.</a:t>
            </a:r>
          </a:p>
          <a:p>
            <a:pPr algn="l">
              <a:lnSpc>
                <a:spcPct val="109000"/>
              </a:lnSpc>
              <a:spcBef>
                <a:spcPts val="0"/>
              </a:spcBef>
              <a:spcAft>
                <a:spcPts val="0"/>
              </a:spcAft>
            </a:pPr>
            <a:r>
              <a:rPr sz="1700" b="0">
                <a:solidFill>
                  <a:srgbClr val="00407A"/>
                </a:solidFill>
                <a:latin typeface="Arial"/>
              </a:rPr>
              <a:t>Power comparisons also share the same testbench.</a:t>
            </a:r>
          </a:p>
        </p:txBody>
      </p:sp>
      <p:sp>
        <p:nvSpPr>
          <p:cNvPr id="22" name="Rounded Rectangle 2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failure-reason task supplies a key fact that the synthesis yes/no task must discover.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scores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result needs a denominator and a clear rule for what counts as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Yes or no</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A yes probability of</a:t>
            </a:r>
          </a:p>
          <a:p>
            <a:pPr algn="l">
              <a:lnSpc>
                <a:spcPct val="109000"/>
              </a:lnSpc>
              <a:spcBef>
                <a:spcPts val="0"/>
              </a:spcBef>
              <a:spcAft>
                <a:spcPts val="0"/>
              </a:spcAft>
            </a:pPr>
            <a:r>
              <a:rPr sz="1800" b="0">
                <a:solidFill>
                  <a:srgbClr val="00407A"/>
                </a:solidFill>
                <a:latin typeface="Arial"/>
              </a:rPr>
              <a:t>0.5 or more means yes.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Show successful and failing</a:t>
            </a:r>
          </a:p>
          <a:p>
            <a:pPr algn="l">
              <a:lnSpc>
                <a:spcPct val="109000"/>
              </a:lnSpc>
              <a:spcBef>
                <a:spcPts val="0"/>
              </a:spcBef>
              <a:spcAft>
                <a:spcPts val="0"/>
              </a:spcAft>
            </a:pPr>
            <a:r>
              <a:rPr sz="1800" b="0">
                <a:solidFill>
                  <a:srgbClr val="00407A"/>
                </a:solidFill>
                <a:latin typeface="Arial"/>
              </a:rPr>
              <a:t>designs separately.</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Balanced accuracy gives</a:t>
            </a:r>
          </a:p>
          <a:p>
            <a:pPr algn="l">
              <a:lnSpc>
                <a:spcPct val="109000"/>
              </a:lnSpc>
              <a:spcBef>
                <a:spcPts val="0"/>
              </a:spcBef>
              <a:spcAft>
                <a:spcPts val="0"/>
              </a:spcAft>
            </a:pPr>
            <a:r>
              <a:rPr sz="1800" b="0">
                <a:solidFill>
                  <a:srgbClr val="00407A"/>
                </a:solidFill>
                <a:latin typeface="Arial"/>
              </a:rPr>
              <a:t>the two groups equal weight.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Five levels</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Exact: the chosen level</a:t>
            </a:r>
          </a:p>
          <a:p>
            <a:pPr algn="l">
              <a:lnSpc>
                <a:spcPct val="109000"/>
              </a:lnSpc>
              <a:spcBef>
                <a:spcPts val="0"/>
              </a:spcBef>
              <a:spcAft>
                <a:spcPts val="0"/>
              </a:spcAft>
            </a:pPr>
            <a:r>
              <a:rPr sz="1800" b="0">
                <a:solidFill>
                  <a:srgbClr val="00407A"/>
                </a:solidFill>
                <a:latin typeface="Arial"/>
              </a:rPr>
              <a:t>matches the tool label.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Within one: a difference</a:t>
            </a:r>
          </a:p>
          <a:p>
            <a:pPr algn="l">
              <a:lnSpc>
                <a:spcPct val="109000"/>
              </a:lnSpc>
              <a:spcBef>
                <a:spcPts val="0"/>
              </a:spcBef>
              <a:spcAft>
                <a:spcPts val="0"/>
              </a:spcAft>
            </a:pPr>
            <a:r>
              <a:rPr sz="1800" b="0">
                <a:solidFill>
                  <a:srgbClr val="00407A"/>
                </a:solidFill>
                <a:latin typeface="Arial"/>
              </a:rPr>
              <a:t>of at most one level.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mean a fixed</a:t>
            </a:r>
          </a:p>
          <a:p>
            <a:pPr algn="l">
              <a:lnSpc>
                <a:spcPct val="109000"/>
              </a:lnSpc>
              <a:spcBef>
                <a:spcPts val="0"/>
              </a:spcBef>
              <a:spcAft>
                <a:spcPts val="0"/>
              </a:spcAft>
            </a:pPr>
            <a:r>
              <a:rPr sz="1800" b="0">
                <a:solidFill>
                  <a:srgbClr val="00407A"/>
                </a:solidFill>
                <a:latin typeface="Arial"/>
              </a:rPr>
              <a:t>physical error tolerance.</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Choose A or B</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Each pair is sent twice,</a:t>
            </a:r>
          </a:p>
          <a:p>
            <a:pPr algn="l">
              <a:lnSpc>
                <a:spcPct val="109000"/>
              </a:lnSpc>
              <a:spcBef>
                <a:spcPts val="0"/>
              </a:spcBef>
              <a:spcAft>
                <a:spcPts val="0"/>
              </a:spcAft>
            </a:pPr>
            <a:r>
              <a:rPr sz="1800" b="0">
                <a:solidFill>
                  <a:srgbClr val="00407A"/>
                </a:solidFill>
                <a:latin typeface="Arial"/>
              </a:rPr>
              <a:t>with its order swapped.</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We report per-view accuracy</a:t>
            </a:r>
          </a:p>
          <a:p>
            <a:pPr algn="l">
              <a:lnSpc>
                <a:spcPct val="109000"/>
              </a:lnSpc>
              <a:spcBef>
                <a:spcPts val="0"/>
              </a:spcBef>
              <a:spcAft>
                <a:spcPts val="0"/>
              </a:spcAft>
            </a:pPr>
            <a:r>
              <a:rPr sz="1800" b="0">
                <a:solidFill>
                  <a:srgbClr val="00407A"/>
                </a:solidFill>
                <a:latin typeface="Arial"/>
              </a:rPr>
              <a:t>and check both orders.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50% is an always-A or</a:t>
            </a:r>
          </a:p>
          <a:p>
            <a:pPr algn="l">
              <a:lnSpc>
                <a:spcPct val="109000"/>
              </a:lnSpc>
              <a:spcBef>
                <a:spcPts val="0"/>
              </a:spcBef>
              <a:spcAft>
                <a:spcPts val="0"/>
              </a:spcAft>
            </a:pPr>
            <a:r>
              <a:rPr sz="1800" b="0">
                <a:solidFill>
                  <a:srgbClr val="00407A"/>
                </a:solidFill>
                <a:latin typeface="Arial"/>
              </a:rPr>
              <a:t>always-B reference here.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“constant-answer reference” below means always choosing one stated answer, calculated from test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Synthesis: successful and failing designs must be split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Both panels show the same yes/no question, grouped by the tool’s actual result.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Recognise successful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99 designs that the tool synthesizes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99 of 99</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56432"/>
            <a:ext cx="298704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99.0%</a:t>
            </a:r>
          </a:p>
          <a:p>
            <a:pPr algn="l">
              <a:lnSpc>
                <a:spcPct val="109000"/>
              </a:lnSpc>
              <a:spcBef>
                <a:spcPts val="0"/>
              </a:spcBef>
              <a:spcAft>
                <a:spcPts val="0"/>
              </a:spcAft>
            </a:pPr>
            <a:r>
              <a:rPr sz="1250" b="0">
                <a:solidFill>
                  <a:srgbClr val="00407A"/>
                </a:solidFill>
                <a:latin typeface="Arial"/>
              </a:rPr>
              <a:t>98 of 99</a:t>
            </a:r>
          </a:p>
        </p:txBody>
      </p:sp>
      <p:sp>
        <p:nvSpPr>
          <p:cNvPr id="21" name="TextBox 20"/>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59351"/>
            <a:ext cx="2956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98.0%</a:t>
            </a:r>
          </a:p>
          <a:p>
            <a:pPr algn="l">
              <a:lnSpc>
                <a:spcPct val="109000"/>
              </a:lnSpc>
              <a:spcBef>
                <a:spcPts val="0"/>
              </a:spcBef>
              <a:spcAft>
                <a:spcPts val="0"/>
              </a:spcAft>
            </a:pPr>
            <a:r>
              <a:rPr sz="1250" b="0">
                <a:solidFill>
                  <a:srgbClr val="00407A"/>
                </a:solidFill>
                <a:latin typeface="Arial"/>
              </a:rPr>
              <a:t>97 of 99</a:t>
            </a:r>
          </a:p>
        </p:txBody>
      </p:sp>
      <p:sp>
        <p:nvSpPr>
          <p:cNvPr id="24" name="TextBox 23"/>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62272"/>
            <a:ext cx="29870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99.0%</a:t>
            </a:r>
          </a:p>
          <a:p>
            <a:pPr algn="l">
              <a:lnSpc>
                <a:spcPct val="109000"/>
              </a:lnSpc>
              <a:spcBef>
                <a:spcPts val="0"/>
              </a:spcBef>
              <a:spcAft>
                <a:spcPts val="0"/>
              </a:spcAft>
            </a:pPr>
            <a:r>
              <a:rPr sz="1250" b="0">
                <a:solidFill>
                  <a:srgbClr val="00407A"/>
                </a:solidFill>
                <a:latin typeface="Arial"/>
              </a:rPr>
              <a:t>98 of 99</a:t>
            </a:r>
          </a:p>
        </p:txBody>
      </p:sp>
      <p:sp>
        <p:nvSpPr>
          <p:cNvPr id="27" name="TextBox 26"/>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Detect a synthesis failure</a:t>
            </a:r>
          </a:p>
        </p:txBody>
      </p:sp>
      <p:sp>
        <p:nvSpPr>
          <p:cNvPr id="30" name="TextBox 29"/>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24 designs that the tool cannot synthesize</a:t>
            </a:r>
          </a:p>
        </p:txBody>
      </p:sp>
      <p:cxnSp>
        <p:nvCxnSpPr>
          <p:cNvPr id="31" name="Connector 30"/>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3" name="Connector 32"/>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5" name="Connector 34"/>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7" name="TextBox 3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8" name="TextBox 37"/>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24</a:t>
            </a:r>
          </a:p>
        </p:txBody>
      </p:sp>
      <p:sp>
        <p:nvSpPr>
          <p:cNvPr id="39" name="TextBox 38"/>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0" name="TextBox 39"/>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24</a:t>
            </a:r>
          </a:p>
        </p:txBody>
      </p:sp>
      <p:sp>
        <p:nvSpPr>
          <p:cNvPr id="41" name="TextBox 40"/>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2" name="Rectangle 41"/>
          <p:cNvSpPr/>
          <p:nvPr/>
        </p:nvSpPr>
        <p:spPr>
          <a:xfrm>
            <a:off x="7059168" y="3959351"/>
            <a:ext cx="2514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a:t>
            </a:r>
          </a:p>
          <a:p>
            <a:pPr algn="l">
              <a:lnSpc>
                <a:spcPct val="109000"/>
              </a:lnSpc>
              <a:spcBef>
                <a:spcPts val="0"/>
              </a:spcBef>
              <a:spcAft>
                <a:spcPts val="0"/>
              </a:spcAft>
            </a:pPr>
            <a:r>
              <a:rPr sz="1250" b="0">
                <a:solidFill>
                  <a:srgbClr val="00407A"/>
                </a:solidFill>
                <a:latin typeface="Arial"/>
              </a:rPr>
              <a:t>2 of 24</a:t>
            </a:r>
          </a:p>
        </p:txBody>
      </p:sp>
      <p:sp>
        <p:nvSpPr>
          <p:cNvPr id="44" name="TextBox 43"/>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5" name="Rectangle 44"/>
          <p:cNvSpPr/>
          <p:nvPr/>
        </p:nvSpPr>
        <p:spPr>
          <a:xfrm>
            <a:off x="7059168" y="4462272"/>
            <a:ext cx="5029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16.7%</a:t>
            </a:r>
          </a:p>
          <a:p>
            <a:pPr algn="l">
              <a:lnSpc>
                <a:spcPct val="109000"/>
              </a:lnSpc>
              <a:spcBef>
                <a:spcPts val="0"/>
              </a:spcBef>
              <a:spcAft>
                <a:spcPts val="0"/>
              </a:spcAft>
            </a:pPr>
            <a:r>
              <a:rPr sz="1250" b="0">
                <a:solidFill>
                  <a:srgbClr val="00407A"/>
                </a:solidFill>
                <a:latin typeface="Arial"/>
              </a:rPr>
              <a:t>4 of 24</a:t>
            </a:r>
          </a:p>
        </p:txBody>
      </p:sp>
      <p:sp>
        <p:nvSpPr>
          <p:cNvPr id="47" name="TextBox 46"/>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8" name="Rounded Rectangle 4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recognises 98 of 99 successes, but misses 20 of 24 failures.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Why 82.9% hid poor synthesis failure detection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graphicFrame>
        <p:nvGraphicFramePr>
          <p:cNvPr id="6" name="Table 5"/>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98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correct</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82.9% overall accuracy</a:t>
            </a:r>
          </a:p>
        </p:txBody>
      </p:sp>
      <p:sp>
        <p:nvSpPr>
          <p:cNvPr id="10" name="TextBox 9"/>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102 correct of 123 designs.</a:t>
            </a:r>
          </a:p>
          <a:p>
            <a:pPr algn="l">
              <a:lnSpc>
                <a:spcPct val="109000"/>
              </a:lnSpc>
              <a:spcBef>
                <a:spcPts val="0"/>
              </a:spcBef>
              <a:spcAft>
                <a:spcPts val="0"/>
              </a:spcAft>
            </a:pPr>
            <a:r>
              <a:rPr sz="1700" b="0">
                <a:solidFill>
                  <a:srgbClr val="00407A"/>
                </a:solidFill>
                <a:latin typeface="Arial"/>
              </a:rPr>
              <a:t>Each design has equal weight; the 99 successes dominate.</a:t>
            </a:r>
          </a:p>
        </p:txBody>
      </p:sp>
      <p:sp>
        <p:nvSpPr>
          <p:cNvPr id="11" name="Rounded Rectangle 10"/>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57.8% balanced accuracy</a:t>
            </a:r>
          </a:p>
        </p:txBody>
      </p:sp>
      <p:sp>
        <p:nvSpPr>
          <p:cNvPr id="14" name="TextBox 13"/>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Average of 99.0% success recognition</a:t>
            </a:r>
          </a:p>
          <a:p>
            <a:pPr algn="l">
              <a:lnSpc>
                <a:spcPct val="109000"/>
              </a:lnSpc>
              <a:spcBef>
                <a:spcPts val="0"/>
              </a:spcBef>
              <a:spcAft>
                <a:spcPts val="0"/>
              </a:spcAft>
            </a:pPr>
            <a:r>
              <a:rPr sz="1700" b="0">
                <a:solidFill>
                  <a:srgbClr val="00407A"/>
                </a:solidFill>
                <a:latin typeface="Arial"/>
              </a:rPr>
              <a:t>and 16.7% failure detection. Each group gets half the weight.</a:t>
            </a:r>
          </a:p>
        </p:txBody>
      </p:sp>
      <p:sp>
        <p:nvSpPr>
          <p:cNvPr id="15" name="TextBox 14"/>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20 failures</a:t>
            </a:r>
          </a:p>
          <a:p>
            <a:pPr algn="l">
              <a:lnSpc>
                <a:spcPct val="109000"/>
              </a:lnSpc>
              <a:spcBef>
                <a:spcPts val="0"/>
              </a:spcBef>
              <a:spcAft>
                <a:spcPts val="0"/>
              </a:spcAft>
            </a:pPr>
            <a:r>
              <a:rPr sz="3100" b="1">
                <a:solidFill>
                  <a:srgbClr val="00407A"/>
                </a:solidFill>
                <a:latin typeface="Arial"/>
              </a:rPr>
              <a:t>missed</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Both percentages are correct. They answer different questions about an imbalanced test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Which synthesis failures do the models detect?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Split the 24 failures again: source accepted by the simulator compiler versus rejected source.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TextBox 15"/>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7" name="TextBox 16"/>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8" name="TextBox 17"/>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9" name="TextBox 18"/>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0" name="Rectangle 19"/>
          <p:cNvSpPr/>
          <p:nvPr/>
        </p:nvSpPr>
        <p:spPr>
          <a:xfrm>
            <a:off x="1664208" y="3959351"/>
            <a:ext cx="20116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2" name="TextBox 21"/>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3" name="TextBox 22"/>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4" name="TextBox 23"/>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5" name="Rounded Rectangle 2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27" name="TextBox 2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28" name="Connector 2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0" name="Connector 2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2" name="Connector 3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4" name="TextBox 33"/>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5" name="TextBox 34"/>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6" name="TextBox 3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37" name="TextBox 36"/>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8" name="TextBox 37"/>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9" name="Rectangle 38"/>
          <p:cNvSpPr/>
          <p:nvPr/>
        </p:nvSpPr>
        <p:spPr>
          <a:xfrm>
            <a:off x="7059168" y="3959351"/>
            <a:ext cx="33528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1" name="TextBox 4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2" name="Rectangle 41"/>
          <p:cNvSpPr/>
          <p:nvPr/>
        </p:nvSpPr>
        <p:spPr>
          <a:xfrm>
            <a:off x="7059168" y="4462272"/>
            <a:ext cx="13411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44.4%</a:t>
            </a:r>
          </a:p>
          <a:p>
            <a:pPr algn="l">
              <a:lnSpc>
                <a:spcPct val="109000"/>
              </a:lnSpc>
              <a:spcBef>
                <a:spcPts val="0"/>
              </a:spcBef>
              <a:spcAft>
                <a:spcPts val="0"/>
              </a:spcAft>
            </a:pPr>
            <a:r>
              <a:rPr sz="1250" b="0">
                <a:solidFill>
                  <a:srgbClr val="00407A"/>
                </a:solidFill>
                <a:latin typeface="Arial"/>
              </a:rPr>
              <a:t>4 of 9</a:t>
            </a:r>
          </a:p>
        </p:txBody>
      </p:sp>
      <p:sp>
        <p:nvSpPr>
          <p:cNvPr id="44" name="TextBox 43"/>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5" name="Rounded Rectangle 4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misses every one of the 15 synthesis failures whose source compiles.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KEV-27B detects eight of nine errors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source-code acceptance check, separate from synthesis and functional verification.</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Recognise code that compiles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114 designs accepted by vlog -sv</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53512"/>
            <a:ext cx="105877"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a:t>
            </a:r>
          </a:p>
          <a:p>
            <a:pPr algn="l">
              <a:lnSpc>
                <a:spcPct val="109000"/>
              </a:lnSpc>
              <a:spcBef>
                <a:spcPts val="0"/>
              </a:spcBef>
              <a:spcAft>
                <a:spcPts val="0"/>
              </a:spcAft>
            </a:pPr>
            <a:r>
              <a:rPr sz="1250" b="0">
                <a:solidFill>
                  <a:srgbClr val="00407A"/>
                </a:solidFill>
                <a:latin typeface="Arial"/>
              </a:rPr>
              <a:t>4 of 114</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56432"/>
            <a:ext cx="301752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1" name="TextBox 20"/>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59351"/>
            <a:ext cx="301752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4" name="TextBox 23"/>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7" name="TextBox 26"/>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Detect a compilation error</a:t>
            </a:r>
          </a:p>
        </p:txBody>
      </p:sp>
      <p:sp>
        <p:nvSpPr>
          <p:cNvPr id="30" name="TextBox 29"/>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rejected by vlog -sv</a:t>
            </a:r>
          </a:p>
        </p:txBody>
      </p:sp>
      <p:cxnSp>
        <p:nvCxnSpPr>
          <p:cNvPr id="31" name="Connector 30"/>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3" name="Connector 32"/>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5" name="Connector 34"/>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7" name="TextBox 3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8" name="Rectangle 37"/>
          <p:cNvSpPr/>
          <p:nvPr/>
        </p:nvSpPr>
        <p:spPr>
          <a:xfrm>
            <a:off x="705916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 of 9</a:t>
            </a:r>
          </a:p>
        </p:txBody>
      </p:sp>
      <p:sp>
        <p:nvSpPr>
          <p:cNvPr id="40" name="TextBox 3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1" name="TextBox 40"/>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42" name="TextBox 41"/>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3" name="Rectangle 42"/>
          <p:cNvSpPr/>
          <p:nvPr/>
        </p:nvSpPr>
        <p:spPr>
          <a:xfrm>
            <a:off x="7059168" y="3959351"/>
            <a:ext cx="670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22.2%</a:t>
            </a:r>
          </a:p>
          <a:p>
            <a:pPr algn="l">
              <a:lnSpc>
                <a:spcPct val="109000"/>
              </a:lnSpc>
              <a:spcBef>
                <a:spcPts val="0"/>
              </a:spcBef>
              <a:spcAft>
                <a:spcPts val="0"/>
              </a:spcAft>
            </a:pPr>
            <a:r>
              <a:rPr sz="1250" b="0">
                <a:solidFill>
                  <a:srgbClr val="00407A"/>
                </a:solidFill>
                <a:latin typeface="Arial"/>
              </a:rPr>
              <a:t>2 of 9</a:t>
            </a:r>
          </a:p>
        </p:txBody>
      </p:sp>
      <p:sp>
        <p:nvSpPr>
          <p:cNvPr id="45" name="TextBox 44"/>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6" name="Rectangle 45"/>
          <p:cNvSpPr/>
          <p:nvPr/>
        </p:nvSpPr>
        <p:spPr>
          <a:xfrm>
            <a:off x="7059168" y="4462272"/>
            <a:ext cx="26822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88.9%</a:t>
            </a:r>
          </a:p>
          <a:p>
            <a:pPr algn="l">
              <a:lnSpc>
                <a:spcPct val="109000"/>
              </a:lnSpc>
              <a:spcBef>
                <a:spcPts val="0"/>
              </a:spcBef>
              <a:spcAft>
                <a:spcPts val="0"/>
              </a:spcAft>
            </a:pPr>
            <a:r>
              <a:rPr sz="1250" b="0">
                <a:solidFill>
                  <a:srgbClr val="00407A"/>
                </a:solidFill>
                <a:latin typeface="Arial"/>
              </a:rPr>
              <a:t>8 of 9</a:t>
            </a:r>
          </a:p>
        </p:txBody>
      </p:sp>
      <p:sp>
        <p:nvSpPr>
          <p:cNvPr id="48" name="TextBox 47"/>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9" name="Rounded Rectangle 4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KEV-4B’s 92.7% pooled score comes from saying “compiles” for every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15 of 16 right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explicitly states that synthesis failed, then offers ten possible reasons.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sp>
        <p:nvSpPr>
          <p:cNvPr id="6" name="Rounded Rectangle 5"/>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8" name="TextBox 7"/>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62656"/>
            <a:ext cx="9429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31.3%</a:t>
            </a:r>
          </a:p>
          <a:p>
            <a:pPr algn="l">
              <a:lnSpc>
                <a:spcPct val="109000"/>
              </a:lnSpc>
              <a:spcBef>
                <a:spcPts val="0"/>
              </a:spcBef>
              <a:spcAft>
                <a:spcPts val="0"/>
              </a:spcAft>
            </a:pPr>
            <a:r>
              <a:rPr sz="1250" b="0">
                <a:solidFill>
                  <a:srgbClr val="00407A"/>
                </a:solidFill>
                <a:latin typeface="Arial"/>
              </a:rPr>
              <a:t>5 of 16</a:t>
            </a:r>
          </a:p>
        </p:txBody>
      </p:sp>
      <p:sp>
        <p:nvSpPr>
          <p:cNvPr id="18" name="TextBox 17"/>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65575"/>
            <a:ext cx="169735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56.3%</a:t>
            </a:r>
          </a:p>
          <a:p>
            <a:pPr algn="l">
              <a:lnSpc>
                <a:spcPct val="109000"/>
              </a:lnSpc>
              <a:spcBef>
                <a:spcPts val="0"/>
              </a:spcBef>
              <a:spcAft>
                <a:spcPts val="0"/>
              </a:spcAft>
            </a:pPr>
            <a:r>
              <a:rPr sz="1250" b="0">
                <a:solidFill>
                  <a:srgbClr val="00407A"/>
                </a:solidFill>
                <a:latin typeface="Arial"/>
              </a:rPr>
              <a:t>9 of 16</a:t>
            </a:r>
          </a:p>
        </p:txBody>
      </p:sp>
      <p:sp>
        <p:nvSpPr>
          <p:cNvPr id="21" name="TextBox 20"/>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4" name="TextBox 23"/>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71416"/>
            <a:ext cx="2828925"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93.8%</a:t>
            </a:r>
          </a:p>
          <a:p>
            <a:pPr algn="l">
              <a:lnSpc>
                <a:spcPct val="109000"/>
              </a:lnSpc>
              <a:spcBef>
                <a:spcPts val="0"/>
              </a:spcBef>
              <a:spcAft>
                <a:spcPts val="0"/>
              </a:spcAft>
            </a:pPr>
            <a:r>
              <a:rPr sz="1250" b="0">
                <a:solidFill>
                  <a:srgbClr val="00407A"/>
                </a:solidFill>
                <a:latin typeface="Arial"/>
              </a:rPr>
              <a:t>15 of 16</a:t>
            </a:r>
          </a:p>
        </p:txBody>
      </p:sp>
      <p:sp>
        <p:nvSpPr>
          <p:cNvPr id="27" name="TextBox 26"/>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is measured</a:t>
            </a:r>
          </a:p>
        </p:txBody>
      </p:sp>
      <p:sp>
        <p:nvSpPr>
          <p:cNvPr id="31" name="TextBox 30"/>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2100" b="0">
                <a:solidFill>
                  <a:srgbClr val="00407A"/>
                </a:solidFill>
                <a:latin typeface="Arial"/>
              </a:rPr>
              <a:t>Can the model identify the reason</a:t>
            </a:r>
          </a:p>
          <a:p>
            <a:pPr algn="l">
              <a:lnSpc>
                <a:spcPct val="109000"/>
              </a:lnSpc>
              <a:spcBef>
                <a:spcPts val="0"/>
              </a:spcBef>
              <a:spcAft>
                <a:spcPts val="0"/>
              </a:spcAft>
            </a:pPr>
            <a:r>
              <a:rPr sz="2100" b="0">
                <a:solidFill>
                  <a:srgbClr val="00407A"/>
                </a:solidFill>
                <a:latin typeface="Arial"/>
              </a:rPr>
              <a:t>when failure is already known?</a:t>
            </a:r>
          </a:p>
        </p:txBody>
      </p:sp>
      <p:sp>
        <p:nvSpPr>
          <p:cNvPr id="32" name="Rounded Rectangle 31"/>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 was</a:t>
            </a:r>
          </a:p>
        </p:txBody>
      </p:sp>
      <p:sp>
        <p:nvSpPr>
          <p:cNvPr id="35" name="TextBox 34"/>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was labelled</a:t>
            </a:r>
          </a:p>
          <a:p>
            <a:pPr algn="l">
              <a:lnSpc>
                <a:spcPct val="109000"/>
              </a:lnSpc>
              <a:spcBef>
                <a:spcPts val="0"/>
              </a:spcBef>
              <a:spcAft>
                <a:spcPts val="0"/>
              </a:spcAft>
            </a:pPr>
            <a:r>
              <a:rPr sz="1900" b="0">
                <a:solidFill>
                  <a:srgbClr val="00407A"/>
                </a:solidFill>
                <a:latin typeface="Arial"/>
              </a:rPr>
              <a:t>as an asynchronous-reset error.</a:t>
            </a:r>
          </a:p>
        </p:txBody>
      </p:sp>
      <p:sp>
        <p:nvSpPr>
          <p:cNvPr id="36" name="Rounded Rectangle 3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eight of the ten reason classes occur in these 16 test designs. Coverage is limited.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Diagnosing a known failure is not detecting that failure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responses for the same 16 reason-test designs.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graphicFrame>
        <p:nvGraphicFramePr>
          <p:cNvPr id="6" name="Table 5"/>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15 correct diagnoses, but zero failure flags on these same designs.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This is a linked analysis of existing answers, not a separately run detection-and-diagnosis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and power: choose one of five ranges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estimates a level from source code and flow information, not an exact physical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graphicFrame>
        <p:nvGraphicFramePr>
          <p:cNvPr id="6" name="Table 5"/>
          <p:cNvGraphicFramePr>
            <a:graphicFrameLocks noGrp="1"/>
          </p:cNvGraphicFramePr>
          <p:nvPr/>
        </p:nvGraphicFramePr>
        <p:xfrm>
          <a:off x="813816" y="1920240"/>
          <a:ext cx="10561320" cy="2103118"/>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Cell area</a:t>
                      </a:r>
                    </a:p>
                    <a:p>
                      <a:pPr algn="l">
                        <a:lnSpc>
                          <a:spcPct val="103000"/>
                        </a:lnSpc>
                        <a:spcBef>
                          <a:spcPts val="0"/>
                        </a:spcBef>
                        <a:spcAft>
                          <a:spcPts val="0"/>
                        </a:spcAft>
                      </a:pPr>
                      <a:r>
                        <a:rPr sz="1800" b="0">
                          <a:solidFill>
                            <a:srgbClr val="00407A"/>
                          </a:solidFill>
                          <a:latin typeface="Arial"/>
                        </a:rPr>
                        <a:t>(gate equivalents)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 to</a:t>
                      </a:r>
                    </a:p>
                    <a:p>
                      <a:pPr algn="ctr">
                        <a:lnSpc>
                          <a:spcPct val="103000"/>
                        </a:lnSpc>
                        <a:spcBef>
                          <a:spcPts val="0"/>
                        </a:spcBef>
                        <a:spcAft>
                          <a:spcPts val="0"/>
                        </a:spcAft>
                      </a:pPr>
                      <a:r>
                        <a:rPr sz="1800" b="0">
                          <a:solidFill>
                            <a:srgbClr val="00407A"/>
                          </a:solidFill>
                          <a:latin typeface="Arial"/>
                        </a:rPr>
                        <a:t>&lt;100,000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≥100,000</a:t>
                      </a:r>
                    </a:p>
                  </a:txBody>
                  <a:tcPr marL="109728" marR="91440" marT="54864" marB="36576" anchor="ctr">
                    <a:solidFill>
                      <a:srgbClr val="E3EFF5"/>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Total power</a:t>
                      </a:r>
                    </a:p>
                    <a:p>
                      <a:pPr algn="l">
                        <a:lnSpc>
                          <a:spcPct val="103000"/>
                        </a:lnSpc>
                        <a:spcBef>
                          <a:spcPts val="0"/>
                        </a:spcBef>
                        <a:spcAft>
                          <a:spcPts val="0"/>
                        </a:spcAft>
                      </a:pPr>
                      <a:r>
                        <a:rPr sz="1800" b="0">
                          <a:solidFill>
                            <a:srgbClr val="00407A"/>
                          </a:solidFill>
                          <a:latin typeface="Arial"/>
                        </a:rPr>
                        <a:t>(microwatts)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Area reference</a:t>
            </a:r>
          </a:p>
        </p:txBody>
      </p:sp>
      <p:sp>
        <p:nvSpPr>
          <p:cNvPr id="10" name="TextBox 9"/>
          <p:cNvSpPr txBox="1"/>
          <p:nvPr/>
        </p:nvSpPr>
        <p:spPr>
          <a:xfrm>
            <a:off x="104241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 gate equivalent = one two-input NAND gate</a:t>
            </a:r>
          </a:p>
          <a:p>
            <a:pPr algn="l">
              <a:lnSpc>
                <a:spcPct val="109000"/>
              </a:lnSpc>
              <a:spcBef>
                <a:spcPts val="0"/>
              </a:spcBef>
              <a:spcAft>
                <a:spcPts val="0"/>
              </a:spcAft>
            </a:pPr>
            <a:r>
              <a:rPr sz="1700" b="0">
                <a:solidFill>
                  <a:srgbClr val="00407A"/>
                </a:solidFill>
                <a:latin typeface="Arial"/>
              </a:rPr>
              <a:t>= 0.196608 square micrometres in this library.</a:t>
            </a:r>
          </a:p>
        </p:txBody>
      </p:sp>
      <p:sp>
        <p:nvSpPr>
          <p:cNvPr id="11" name="Rounded Rectangle 10"/>
          <p:cNvSpPr/>
          <p:nvPr/>
        </p:nvSpPr>
        <p:spPr>
          <a:xfrm>
            <a:off x="620877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Power reference</a:t>
            </a:r>
          </a:p>
        </p:txBody>
      </p:sp>
      <p:sp>
        <p:nvSpPr>
          <p:cNvPr id="14" name="TextBox 13"/>
          <p:cNvSpPr txBox="1"/>
          <p:nvPr/>
        </p:nvSpPr>
        <p:spPr>
          <a:xfrm>
            <a:off x="643737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Dynamic + leakage, for the supplied stimulus.</a:t>
            </a:r>
          </a:p>
          <a:p>
            <a:pPr algn="l">
              <a:lnSpc>
                <a:spcPct val="109000"/>
              </a:lnSpc>
              <a:spcBef>
                <a:spcPts val="0"/>
              </a:spcBef>
              <a:spcAft>
                <a:spcPts val="0"/>
              </a:spcAft>
            </a:pPr>
            <a:r>
              <a:rPr sz="1700" b="0">
                <a:solidFill>
                  <a:srgbClr val="00407A"/>
                </a:solidFill>
                <a:latin typeface="Arial"/>
              </a:rPr>
              <a:t>1,000 microwatts = 1 milliwatt.</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Exact level is strict; “within one level” can span a large physical range because these bins are logarithmic.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margin at 500 MHz, plus a derived frequency</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clock target is 500 MHz: one cycle lasts 2 nanoseconds (ns).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graphicFrame>
        <p:nvGraphicFramePr>
          <p:cNvPr id="6" name="Table 5"/>
          <p:cNvGraphicFramePr>
            <a:graphicFrameLocks noGrp="1"/>
          </p:cNvGraphicFramePr>
          <p:nvPr/>
        </p:nvGraphicFramePr>
        <p:xfrm>
          <a:off x="813816" y="1874519"/>
          <a:ext cx="10561320" cy="2057400"/>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Worst slack</a:t>
                      </a:r>
                    </a:p>
                    <a:p>
                      <a:pPr algn="l">
                        <a:lnSpc>
                          <a:spcPct val="103000"/>
                        </a:lnSpc>
                        <a:spcBef>
                          <a:spcPts val="0"/>
                        </a:spcBef>
                        <a:spcAft>
                          <a:spcPts val="0"/>
                        </a:spcAft>
                      </a:pPr>
                      <a:r>
                        <a:rPr sz="18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Negative:</a:t>
                      </a:r>
                    </a:p>
                    <a:p>
                      <a:pPr algn="ctr">
                        <a:lnSpc>
                          <a:spcPct val="103000"/>
                        </a:lnSpc>
                        <a:spcBef>
                          <a:spcPts val="0"/>
                        </a:spcBef>
                        <a:spcAft>
                          <a:spcPts val="0"/>
                        </a:spcAft>
                      </a:pPr>
                      <a:r>
                        <a:rPr sz="1800" b="0">
                          <a:solidFill>
                            <a:srgbClr val="00407A"/>
                          </a:solidFill>
                          <a:latin typeface="Arial"/>
                        </a:rPr>
                        <a:t>misses target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 to</a:t>
                      </a:r>
                    </a:p>
                    <a:p>
                      <a:pPr algn="ctr">
                        <a:lnSpc>
                          <a:spcPct val="103000"/>
                        </a:lnSpc>
                        <a:spcBef>
                          <a:spcPts val="0"/>
                        </a:spcBef>
                        <a:spcAft>
                          <a:spcPts val="0"/>
                        </a:spcAft>
                      </a:pPr>
                      <a:r>
                        <a:rPr sz="1800" b="0">
                          <a:solidFill>
                            <a:srgbClr val="00407A"/>
                          </a:solidFill>
                          <a:latin typeface="Arial"/>
                        </a:rPr>
                        <a:t>&lt;0.5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0.5 to</a:t>
                      </a:r>
                    </a:p>
                    <a:p>
                      <a:pPr algn="ctr">
                        <a:lnSpc>
                          <a:spcPct val="103000"/>
                        </a:lnSpc>
                        <a:spcBef>
                          <a:spcPts val="0"/>
                        </a:spcBef>
                        <a:spcAft>
                          <a:spcPts val="0"/>
                        </a:spcAft>
                      </a:pPr>
                      <a:r>
                        <a:rPr sz="1800" b="0">
                          <a:solidFill>
                            <a:srgbClr val="00407A"/>
                          </a:solidFill>
                          <a:latin typeface="Arial"/>
                        </a:rPr>
                        <a:t>&lt;1.0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≥1.5 ns</a:t>
                      </a:r>
                    </a:p>
                  </a:txBody>
                  <a:tcPr marL="109728" marR="91440" marT="54864" marB="36576" anchor="ctr">
                    <a:solidFill>
                      <a:srgbClr val="E3EFF5"/>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Reachable clock</a:t>
                      </a:r>
                    </a:p>
                    <a:p>
                      <a:pPr algn="l">
                        <a:lnSpc>
                          <a:spcPct val="103000"/>
                        </a:lnSpc>
                        <a:spcBef>
                          <a:spcPts val="0"/>
                        </a:spcBef>
                        <a:spcAft>
                          <a:spcPts val="0"/>
                        </a:spcAft>
                      </a:pPr>
                      <a:r>
                        <a:rPr sz="1800" b="0">
                          <a:solidFill>
                            <a:srgbClr val="00407A"/>
                          </a:solidFill>
                          <a:latin typeface="Arial"/>
                        </a:rPr>
                        <a:t>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 to</a:t>
                      </a:r>
                    </a:p>
                    <a:p>
                      <a:pPr algn="ctr">
                        <a:lnSpc>
                          <a:spcPct val="103000"/>
                        </a:lnSpc>
                        <a:spcBef>
                          <a:spcPts val="0"/>
                        </a:spcBef>
                        <a:spcAft>
                          <a:spcPts val="0"/>
                        </a:spcAft>
                      </a:pPr>
                      <a:r>
                        <a:rPr sz="1800" b="0">
                          <a:solidFill>
                            <a:srgbClr val="00407A"/>
                          </a:solidFill>
                          <a:latin typeface="Arial"/>
                        </a:rPr>
                        <a:t>&lt;2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2 to</a:t>
                      </a:r>
                    </a:p>
                    <a:p>
                      <a:pPr algn="ctr">
                        <a:lnSpc>
                          <a:spcPct val="103000"/>
                        </a:lnSpc>
                        <a:spcBef>
                          <a:spcPts val="0"/>
                        </a:spcBef>
                        <a:spcAft>
                          <a:spcPts val="0"/>
                        </a:spcAft>
                      </a:pPr>
                      <a:r>
                        <a:rPr sz="1800" b="0">
                          <a:solidFill>
                            <a:srgbClr val="00407A"/>
                          </a:solidFill>
                          <a:latin typeface="Arial"/>
                        </a:rPr>
                        <a:t>&lt;3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3 to</a:t>
                      </a:r>
                    </a:p>
                    <a:p>
                      <a:pPr algn="ctr">
                        <a:lnSpc>
                          <a:spcPct val="103000"/>
                        </a:lnSpc>
                        <a:spcBef>
                          <a:spcPts val="0"/>
                        </a:spcBef>
                        <a:spcAft>
                          <a:spcPts val="0"/>
                        </a:spcAft>
                      </a:pPr>
                      <a:r>
                        <a:rPr sz="1800" b="0">
                          <a:solidFill>
                            <a:srgbClr val="00407A"/>
                          </a:solidFill>
                          <a:latin typeface="Arial"/>
                        </a:rPr>
                        <a:t>&lt;4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≥4 GHz</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61104"/>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2500" b="1">
                <a:solidFill>
                  <a:srgbClr val="00407A"/>
                </a:solidFill>
                <a:latin typeface="Arial"/>
              </a:rPr>
              <a:t>Reachable frequency (GHz) = 1 ÷ [2 ns − worst slack (ns)]</a:t>
            </a:r>
          </a:p>
        </p:txBody>
      </p:sp>
      <p:sp>
        <p:nvSpPr>
          <p:cNvPr id="8" name="TextBox 7"/>
          <p:cNvSpPr txBox="1"/>
          <p:nvPr/>
        </p:nvSpPr>
        <p:spPr>
          <a:xfrm>
            <a:off x="960120" y="4919472"/>
            <a:ext cx="10149840" cy="6858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Example: 1.438 ns of slack gives a 0.562 ns limiting delay, or about 1.78 GHz.</a:t>
            </a:r>
          </a:p>
          <a:p>
            <a:pPr algn="l">
              <a:lnSpc>
                <a:spcPct val="109000"/>
              </a:lnSpc>
              <a:spcBef>
                <a:spcPts val="0"/>
              </a:spcBef>
              <a:spcAft>
                <a:spcPts val="0"/>
              </a:spcAft>
            </a:pPr>
            <a:r>
              <a:rPr sz="1800" b="0">
                <a:solidFill>
                  <a:srgbClr val="00407A"/>
                </a:solidFill>
                <a:latin typeface="Arial"/>
              </a:rPr>
              <a:t>This is derived from the netlist synthesized at 500 MHz; it is not a new optimized run.</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negative-slack designs occur in this test split. Timing-violation detection is therefore not evaluated.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improve substantially with 9B and 27B</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same flow and target • exact and within-one scores shown separately.</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108237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08237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73835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57.6%</a:t>
            </a:r>
          </a:p>
          <a:p>
            <a:pPr algn="l">
              <a:lnSpc>
                <a:spcPct val="109000"/>
              </a:lnSpc>
              <a:spcBef>
                <a:spcPts val="0"/>
              </a:spcBef>
              <a:spcAft>
                <a:spcPts val="0"/>
              </a:spcAft>
            </a:pPr>
            <a:r>
              <a:rPr sz="1250" b="0">
                <a:solidFill>
                  <a:srgbClr val="00407A"/>
                </a:solidFill>
                <a:latin typeface="Arial"/>
              </a:rPr>
              <a:t>53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2000746"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00074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13194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70.7%</a:t>
            </a:r>
          </a:p>
          <a:p>
            <a:pPr algn="l">
              <a:lnSpc>
                <a:spcPct val="109000"/>
              </a:lnSpc>
              <a:spcBef>
                <a:spcPts val="0"/>
              </a:spcBef>
              <a:spcAft>
                <a:spcPts val="0"/>
              </a:spcAft>
            </a:pPr>
            <a:r>
              <a:rPr sz="1250" b="0">
                <a:solidFill>
                  <a:srgbClr val="00407A"/>
                </a:solidFill>
                <a:latin typeface="Arial"/>
              </a:rPr>
              <a:t>65 of 92</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72232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90.2%</a:t>
            </a:r>
          </a:p>
          <a:p>
            <a:pPr algn="l">
              <a:lnSpc>
                <a:spcPct val="109000"/>
              </a:lnSpc>
              <a:spcBef>
                <a:spcPts val="0"/>
              </a:spcBef>
              <a:spcAft>
                <a:spcPts val="0"/>
              </a:spcAft>
            </a:pPr>
            <a:r>
              <a:rPr sz="1250" b="0">
                <a:solidFill>
                  <a:srgbClr val="00407A"/>
                </a:solidFill>
                <a:latin typeface="Arial"/>
              </a:rPr>
              <a:t>83 of 92</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61 of 92 exact levels; all 92 estimates are within one level.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Power levels: the largest model performs worst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85 held-out designs with usable power measurements and a supplied stimulus testbench.</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81650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27.1%</a:t>
            </a:r>
          </a:p>
          <a:p>
            <a:pPr algn="l">
              <a:lnSpc>
                <a:spcPct val="109000"/>
              </a:lnSpc>
              <a:spcBef>
                <a:spcPts val="0"/>
              </a:spcBef>
              <a:spcAft>
                <a:spcPts val="0"/>
              </a:spcAft>
            </a:pPr>
            <a:r>
              <a:rPr sz="1250" b="0">
                <a:solidFill>
                  <a:srgbClr val="00407A"/>
                </a:solidFill>
                <a:latin typeface="Arial"/>
              </a:rPr>
              <a:t>23 of 85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38450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45.9%</a:t>
            </a:r>
          </a:p>
          <a:p>
            <a:pPr algn="l">
              <a:lnSpc>
                <a:spcPct val="109000"/>
              </a:lnSpc>
              <a:spcBef>
                <a:spcPts val="0"/>
              </a:spcBef>
              <a:spcAft>
                <a:spcPts val="0"/>
              </a:spcAft>
            </a:pPr>
            <a:r>
              <a:rPr sz="1250" b="0">
                <a:solidFill>
                  <a:srgbClr val="00407A"/>
                </a:solidFill>
                <a:latin typeface="Arial"/>
              </a:rPr>
              <a:t>39 of 85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2070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31950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10.6%</a:t>
            </a:r>
          </a:p>
          <a:p>
            <a:pPr algn="l">
              <a:lnSpc>
                <a:spcPct val="109000"/>
              </a:lnSpc>
              <a:spcBef>
                <a:spcPts val="0"/>
              </a:spcBef>
              <a:spcAft>
                <a:spcPts val="0"/>
              </a:spcAft>
            </a:pPr>
            <a:r>
              <a:rPr sz="1250" b="0">
                <a:solidFill>
                  <a:srgbClr val="00407A"/>
                </a:solidFill>
                <a:latin typeface="Arial"/>
              </a:rPr>
              <a:t>9 of 85</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48501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82.4%</a:t>
            </a:r>
          </a:p>
          <a:p>
            <a:pPr algn="l">
              <a:lnSpc>
                <a:spcPct val="109000"/>
              </a:lnSpc>
              <a:spcBef>
                <a:spcPts val="0"/>
              </a:spcBef>
              <a:spcAft>
                <a:spcPts val="0"/>
              </a:spcAft>
            </a:pPr>
            <a:r>
              <a:rPr sz="1250" b="0">
                <a:solidFill>
                  <a:srgbClr val="00407A"/>
                </a:solidFill>
                <a:latin typeface="Arial"/>
              </a:rPr>
              <a:t>70 of 85</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76901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91.8%</a:t>
            </a:r>
          </a:p>
          <a:p>
            <a:pPr algn="l">
              <a:lnSpc>
                <a:spcPct val="109000"/>
              </a:lnSpc>
              <a:spcBef>
                <a:spcPts val="0"/>
              </a:spcBef>
              <a:spcAft>
                <a:spcPts val="0"/>
              </a:spcAft>
            </a:pPr>
            <a:r>
              <a:rPr sz="1250" b="0">
                <a:solidFill>
                  <a:srgbClr val="00407A"/>
                </a:solidFill>
                <a:latin typeface="Arial"/>
              </a:rPr>
              <a:t>78 of 85</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80451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92.9%</a:t>
            </a:r>
          </a:p>
          <a:p>
            <a:pPr algn="l">
              <a:lnSpc>
                <a:spcPct val="109000"/>
              </a:lnSpc>
              <a:spcBef>
                <a:spcPts val="0"/>
              </a:spcBef>
              <a:spcAft>
                <a:spcPts val="0"/>
              </a:spcAft>
            </a:pPr>
            <a:r>
              <a:rPr sz="1250" b="0">
                <a:solidFill>
                  <a:srgbClr val="00407A"/>
                </a:solidFill>
                <a:latin typeface="Arial"/>
              </a:rPr>
              <a:t>79 of 85</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195251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64.7%</a:t>
            </a:r>
          </a:p>
          <a:p>
            <a:pPr algn="l">
              <a:lnSpc>
                <a:spcPct val="109000"/>
              </a:lnSpc>
              <a:spcBef>
                <a:spcPts val="0"/>
              </a:spcBef>
              <a:spcAft>
                <a:spcPts val="0"/>
              </a:spcAft>
            </a:pPr>
            <a:r>
              <a:rPr sz="1250" b="0">
                <a:solidFill>
                  <a:srgbClr val="00407A"/>
                </a:solidFill>
                <a:latin typeface="Arial"/>
              </a:rPr>
              <a:t>55 of 85</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predicts only levels 3–5, although 60 of the 85 true labels are levels 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remain unreliable for every model</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these are level estimates from RTL, not timing-tool replacements.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426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36079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42638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4263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62393"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a:t>
            </a:r>
          </a:p>
          <a:p>
            <a:pPr algn="l">
              <a:lnSpc>
                <a:spcPct val="109000"/>
              </a:lnSpc>
              <a:spcBef>
                <a:spcPts val="0"/>
              </a:spcBef>
              <a:spcAft>
                <a:spcPts val="0"/>
              </a:spcAft>
            </a:pPr>
            <a:r>
              <a:rPr sz="1250" b="0">
                <a:solidFill>
                  <a:srgbClr val="00407A"/>
                </a:solidFill>
                <a:latin typeface="Arial"/>
              </a:rPr>
              <a:t>8 of 92</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13119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4.3%</a:t>
            </a:r>
          </a:p>
          <a:p>
            <a:pPr algn="l">
              <a:lnSpc>
                <a:spcPct val="109000"/>
              </a:lnSpc>
              <a:spcBef>
                <a:spcPts val="0"/>
              </a:spcBef>
              <a:spcAft>
                <a:spcPts val="0"/>
              </a:spcAft>
            </a:pPr>
            <a:r>
              <a:rPr sz="1250" b="0">
                <a:solidFill>
                  <a:srgbClr val="00407A"/>
                </a:solidFill>
                <a:latin typeface="Arial"/>
              </a:rPr>
              <a:t>4 of 92</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9839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3.3%</a:t>
            </a:r>
          </a:p>
          <a:p>
            <a:pPr algn="l">
              <a:lnSpc>
                <a:spcPct val="109000"/>
              </a:lnSpc>
              <a:spcBef>
                <a:spcPts val="0"/>
              </a:spcBef>
              <a:spcAft>
                <a:spcPts val="0"/>
              </a:spcAft>
            </a:pPr>
            <a:r>
              <a:rPr sz="1250" b="0">
                <a:solidFill>
                  <a:srgbClr val="00407A"/>
                </a:solidFill>
                <a:latin typeface="Arial"/>
              </a:rPr>
              <a:t>3 of 92</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98397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32.6%</a:t>
            </a:r>
          </a:p>
          <a:p>
            <a:pPr algn="l">
              <a:lnSpc>
                <a:spcPct val="109000"/>
              </a:lnSpc>
              <a:spcBef>
                <a:spcPts val="0"/>
              </a:spcBef>
              <a:spcAft>
                <a:spcPts val="0"/>
              </a:spcAft>
            </a:pPr>
            <a:r>
              <a:rPr sz="1250" b="0">
                <a:solidFill>
                  <a:srgbClr val="00407A"/>
                </a:solidFill>
                <a:latin typeface="Arial"/>
              </a:rPr>
              <a:t>30 of 92</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54" name="Rounded Rectangle 5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27B’s better slack result still falls below the stated constant-answer reference.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predicted levels reveal the mismatch</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chart heights are design counts, not accuracy. Every level is shown, including zero counts.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18</a:t>
            </a:r>
          </a:p>
        </p:txBody>
      </p:sp>
      <p:sp>
        <p:nvSpPr>
          <p:cNvPr id="6" name="Rounded Rectangle 5"/>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8" name="TextBox 7"/>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9" name="Connector 8"/>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3" name="Connector 12"/>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5" name="Connector 14"/>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7" name="Connector 16"/>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19" name="Rectangle 18"/>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1" name="Rectangle 20"/>
          <p:cNvSpPr/>
          <p:nvPr/>
        </p:nvSpPr>
        <p:spPr>
          <a:xfrm>
            <a:off x="1728216" y="3079699"/>
            <a:ext cx="201168" cy="17117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00784" y="283281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90</a:t>
            </a:r>
          </a:p>
        </p:txBody>
      </p:sp>
      <p:sp>
        <p:nvSpPr>
          <p:cNvPr id="23" name="TextBox 22"/>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4" name="Rectangle 23"/>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6" name="TextBox 25"/>
          <p:cNvSpPr txBox="1"/>
          <p:nvPr/>
        </p:nvSpPr>
        <p:spPr>
          <a:xfrm>
            <a:off x="255483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27" name="TextBox 26"/>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28" name="Rectangle 27"/>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0" name="TextBox 29"/>
          <p:cNvSpPr txBox="1"/>
          <p:nvPr/>
        </p:nvSpPr>
        <p:spPr>
          <a:xfrm>
            <a:off x="340888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1" name="TextBox 30"/>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2" name="Rectangle 31"/>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4" name="TextBox 33"/>
          <p:cNvSpPr txBox="1"/>
          <p:nvPr/>
        </p:nvSpPr>
        <p:spPr>
          <a:xfrm>
            <a:off x="426293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5" name="TextBox 34"/>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36" name="TextBox 35"/>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7" name="Rectangle 36"/>
          <p:cNvSpPr/>
          <p:nvPr/>
        </p:nvSpPr>
        <p:spPr>
          <a:xfrm>
            <a:off x="5144414" y="4753416"/>
            <a:ext cx="201168" cy="3803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16982" y="450652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a:t>
            </a:r>
          </a:p>
        </p:txBody>
      </p:sp>
      <p:sp>
        <p:nvSpPr>
          <p:cNvPr id="39" name="TextBox 38"/>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0" name="TextBox 39"/>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1" name="Rectangle 40"/>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3" name="Rectangle 42"/>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5" name="Rounded Rectangle 44"/>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47" name="TextBox 46"/>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48" name="Connector 47"/>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0" name="Connector 49"/>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2" name="Connector 51"/>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4" name="Connector 53"/>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6" name="Connector 55"/>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58" name="Rectangle 57"/>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0" name="TextBox 59"/>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1" name="TextBox 60"/>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2" name="Rectangle 61"/>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4" name="TextBox 63"/>
          <p:cNvSpPr txBox="1"/>
          <p:nvPr/>
        </p:nvSpPr>
        <p:spPr>
          <a:xfrm>
            <a:off x="794979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5" name="TextBox 64"/>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66" name="Rectangle 65"/>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68" name="Rectangle 67"/>
          <p:cNvSpPr/>
          <p:nvPr/>
        </p:nvSpPr>
        <p:spPr>
          <a:xfrm>
            <a:off x="8831275" y="3764401"/>
            <a:ext cx="201168" cy="102705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03843" y="351751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54</a:t>
            </a:r>
          </a:p>
        </p:txBody>
      </p:sp>
      <p:sp>
        <p:nvSpPr>
          <p:cNvPr id="70" name="TextBox 69"/>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1" name="Rectangle 70"/>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3" name="Rectangle 72"/>
          <p:cNvSpPr/>
          <p:nvPr/>
        </p:nvSpPr>
        <p:spPr>
          <a:xfrm>
            <a:off x="9685324"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57892"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75" name="TextBox 74"/>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76" name="TextBox 75"/>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77" name="Rectangle 76"/>
          <p:cNvSpPr/>
          <p:nvPr/>
        </p:nvSpPr>
        <p:spPr>
          <a:xfrm>
            <a:off x="10539374"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11942"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79" name="TextBox 78"/>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0" name="TextBox 79"/>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1" name="Rectangle 80"/>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3" name="Rectangle 82"/>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5" name="Rounded Rectangle 8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usually chooses the lowest frequency level and high power levels; the tool labels have a different distribution.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tests ask which variant is better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candidates for the same problem, with the same flow and power stimulus.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sp>
        <p:nvSpPr>
          <p:cNvPr id="6" name="Rounded Rectangle 5"/>
          <p:cNvSpPr/>
          <p:nvPr/>
        </p:nvSpPr>
        <p:spPr>
          <a:xfrm>
            <a:off x="81381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Three comparisons</a:t>
            </a:r>
          </a:p>
        </p:txBody>
      </p:sp>
      <p:sp>
        <p:nvSpPr>
          <p:cNvPr id="9" name="TextBox 8"/>
          <p:cNvSpPr txBox="1"/>
          <p:nvPr/>
        </p:nvSpPr>
        <p:spPr>
          <a:xfrm>
            <a:off x="104241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00407A"/>
                </a:solidFill>
                <a:latin typeface="Arial"/>
              </a:rPr>
              <a:t>Smaller cell area</a:t>
            </a:r>
          </a:p>
          <a:p>
            <a:pPr algn="l">
              <a:lnSpc>
                <a:spcPct val="109000"/>
              </a:lnSpc>
              <a:spcBef>
                <a:spcPts val="0"/>
              </a:spcBef>
              <a:spcAft>
                <a:spcPts val="0"/>
              </a:spcAft>
            </a:pPr>
            <a:r>
              <a:rPr sz="2300" b="0">
                <a:solidFill>
                  <a:srgbClr val="00407A"/>
                </a:solidFill>
                <a:latin typeface="Arial"/>
              </a:rPr>
              <a:t>Lower total power</a:t>
            </a:r>
          </a:p>
          <a:p>
            <a:pPr algn="l">
              <a:lnSpc>
                <a:spcPct val="109000"/>
              </a:lnSpc>
              <a:spcBef>
                <a:spcPts val="0"/>
              </a:spcBef>
              <a:spcAft>
                <a:spcPts val="0"/>
              </a:spcAft>
            </a:pPr>
            <a:r>
              <a:rPr sz="2300" b="0">
                <a:solidFill>
                  <a:srgbClr val="00407A"/>
                </a:solidFill>
                <a:latin typeface="Arial"/>
              </a:rPr>
              <a:t>Higher derived clock frequency</a:t>
            </a:r>
          </a:p>
        </p:txBody>
      </p:sp>
      <p:sp>
        <p:nvSpPr>
          <p:cNvPr id="10" name="Rounded Rectangle 9"/>
          <p:cNvSpPr/>
          <p:nvPr/>
        </p:nvSpPr>
        <p:spPr>
          <a:xfrm>
            <a:off x="620877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Eligibility and coverage</a:t>
            </a:r>
          </a:p>
        </p:txBody>
      </p:sp>
      <p:sp>
        <p:nvSpPr>
          <p:cNvPr id="13" name="TextBox 12"/>
          <p:cNvSpPr txBox="1"/>
          <p:nvPr/>
        </p:nvSpPr>
        <p:spPr>
          <a:xfrm>
            <a:off x="643737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Metric differs by at least 10%.</a:t>
            </a:r>
          </a:p>
          <a:p>
            <a:pPr algn="l">
              <a:lnSpc>
                <a:spcPct val="109000"/>
              </a:lnSpc>
              <a:spcBef>
                <a:spcPts val="0"/>
              </a:spcBef>
              <a:spcAft>
                <a:spcPts val="0"/>
              </a:spcAft>
            </a:pPr>
            <a:r>
              <a:rPr sz="1900" b="0">
                <a:solidFill>
                  <a:srgbClr val="00407A"/>
                </a:solidFill>
                <a:latin typeface="Arial"/>
              </a:rPr>
              <a:t>Area: 23 distinct pairs, 46 views.</a:t>
            </a:r>
          </a:p>
          <a:p>
            <a:pPr algn="l">
              <a:lnSpc>
                <a:spcPct val="109000"/>
              </a:lnSpc>
              <a:spcBef>
                <a:spcPts val="0"/>
              </a:spcBef>
              <a:spcAft>
                <a:spcPts val="0"/>
              </a:spcAft>
            </a:pPr>
            <a:r>
              <a:rPr sz="1900" b="0">
                <a:solidFill>
                  <a:srgbClr val="00407A"/>
                </a:solidFill>
                <a:latin typeface="Arial"/>
              </a:rPr>
              <a:t>Power: 22 pairs, 44 views.</a:t>
            </a:r>
          </a:p>
          <a:p>
            <a:pPr algn="l">
              <a:lnSpc>
                <a:spcPct val="109000"/>
              </a:lnSpc>
              <a:spcBef>
                <a:spcPts val="0"/>
              </a:spcBef>
              <a:spcAft>
                <a:spcPts val="0"/>
              </a:spcAft>
            </a:pPr>
            <a:r>
              <a:rPr sz="1900" b="0">
                <a:solidFill>
                  <a:srgbClr val="00407A"/>
                </a:solidFill>
                <a:latin typeface="Arial"/>
              </a:rPr>
              <a:t>Frequency: 6 pairs, 12 views.</a:t>
            </a:r>
          </a:p>
        </p:txBody>
      </p:sp>
      <p:sp>
        <p:nvSpPr>
          <p:cNvPr id="14" name="TextBox 13"/>
          <p:cNvSpPr txBox="1"/>
          <p:nvPr/>
        </p:nvSpPr>
        <p:spPr>
          <a:xfrm>
            <a:off x="1005840" y="4590288"/>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First request:  [design X = A]  [design Y = B]</a:t>
            </a:r>
          </a:p>
        </p:txBody>
      </p:sp>
      <p:sp>
        <p:nvSpPr>
          <p:cNvPr id="15" name="TextBox 14"/>
          <p:cNvSpPr txBox="1"/>
          <p:nvPr/>
        </p:nvSpPr>
        <p:spPr>
          <a:xfrm>
            <a:off x="1005840" y="5166360"/>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Swap request:  [design Y = A]  [design X = B]</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model tracking the better design should switch letters when the design order is swapped.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rankings improve, but the strongest model varies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Per-view accuracy: each distinct pair contributes its two presentation orders.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sp>
        <p:nvSpPr>
          <p:cNvPr id="6" name="Rounded Rectangle 5"/>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8" name="TextBox 7"/>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590384"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47.8%</a:t>
            </a:r>
          </a:p>
          <a:p>
            <a:pPr algn="l">
              <a:lnSpc>
                <a:spcPct val="109000"/>
              </a:lnSpc>
              <a:spcBef>
                <a:spcPts val="0"/>
              </a:spcBef>
              <a:spcAft>
                <a:spcPts val="0"/>
              </a:spcAft>
            </a:pPr>
            <a:r>
              <a:rPr sz="1250" b="0">
                <a:solidFill>
                  <a:srgbClr val="00407A"/>
                </a:solidFill>
                <a:latin typeface="Arial"/>
              </a:rPr>
              <a:t>22 of 46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9392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10734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87.0%</a:t>
            </a:r>
          </a:p>
          <a:p>
            <a:pPr algn="l">
              <a:lnSpc>
                <a:spcPct val="109000"/>
              </a:lnSpc>
              <a:spcBef>
                <a:spcPts val="0"/>
              </a:spcBef>
              <a:spcAft>
                <a:spcPts val="0"/>
              </a:spcAft>
            </a:pPr>
            <a:r>
              <a:rPr sz="1250" b="0">
                <a:solidFill>
                  <a:srgbClr val="00407A"/>
                </a:solidFill>
                <a:latin typeface="Arial"/>
              </a:rPr>
              <a:t>40 of 46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96608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78.3%</a:t>
            </a:r>
          </a:p>
          <a:p>
            <a:pPr algn="l">
              <a:lnSpc>
                <a:spcPct val="109000"/>
              </a:lnSpc>
              <a:spcBef>
                <a:spcPts val="0"/>
              </a:spcBef>
              <a:spcAft>
                <a:spcPts val="0"/>
              </a:spcAft>
            </a:pPr>
            <a:r>
              <a:rPr sz="1250" b="0">
                <a:solidFill>
                  <a:srgbClr val="00407A"/>
                </a:solidFill>
                <a:latin typeface="Arial"/>
              </a:rPr>
              <a:t>36 of 46</a:t>
            </a:r>
          </a:p>
        </p:txBody>
      </p:sp>
      <p:sp>
        <p:nvSpPr>
          <p:cNvPr id="28" name="TextBox 27"/>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0" name="Rounded Rectangle 29"/>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2" name="TextBox 31"/>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3" name="Connector 32"/>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5248655" y="2962656"/>
            <a:ext cx="78555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43" name="TextBox 42"/>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5248655" y="3465575"/>
            <a:ext cx="70138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56.8%</a:t>
            </a:r>
          </a:p>
          <a:p>
            <a:pPr algn="l">
              <a:lnSpc>
                <a:spcPct val="109000"/>
              </a:lnSpc>
              <a:spcBef>
                <a:spcPts val="0"/>
              </a:spcBef>
              <a:spcAft>
                <a:spcPts val="0"/>
              </a:spcAft>
            </a:pPr>
            <a:r>
              <a:rPr sz="1250" b="0">
                <a:solidFill>
                  <a:srgbClr val="00407A"/>
                </a:solidFill>
                <a:latin typeface="Arial"/>
              </a:rPr>
              <a:t>25 of 44</a:t>
            </a:r>
          </a:p>
        </p:txBody>
      </p:sp>
      <p:sp>
        <p:nvSpPr>
          <p:cNvPr id="46" name="TextBox 45"/>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5248655" y="3968495"/>
            <a:ext cx="8136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65.9%</a:t>
            </a:r>
          </a:p>
          <a:p>
            <a:pPr algn="l">
              <a:lnSpc>
                <a:spcPct val="109000"/>
              </a:lnSpc>
              <a:spcBef>
                <a:spcPts val="0"/>
              </a:spcBef>
              <a:spcAft>
                <a:spcPts val="0"/>
              </a:spcAft>
            </a:pPr>
            <a:r>
              <a:rPr sz="1250" b="0">
                <a:solidFill>
                  <a:srgbClr val="00407A"/>
                </a:solidFill>
                <a:latin typeface="Arial"/>
              </a:rPr>
              <a:t>29 of 44</a:t>
            </a:r>
          </a:p>
        </p:txBody>
      </p:sp>
      <p:sp>
        <p:nvSpPr>
          <p:cNvPr id="49" name="TextBox 48"/>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5248655" y="4471416"/>
            <a:ext cx="869719"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2" name="TextBox 51"/>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54" name="Rounded Rectangle 53"/>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56" name="TextBox 55"/>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57" name="Connector 56"/>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9" name="Connector 58"/>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61" name="Connector 60"/>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63" name="Connector 62"/>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65" name="Rectangle 64"/>
          <p:cNvSpPr/>
          <p:nvPr/>
        </p:nvSpPr>
        <p:spPr>
          <a:xfrm>
            <a:off x="8842248" y="2962656"/>
            <a:ext cx="8229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66.7%</a:t>
            </a:r>
          </a:p>
          <a:p>
            <a:pPr algn="l">
              <a:lnSpc>
                <a:spcPct val="109000"/>
              </a:lnSpc>
              <a:spcBef>
                <a:spcPts val="0"/>
              </a:spcBef>
              <a:spcAft>
                <a:spcPts val="0"/>
              </a:spcAft>
            </a:pPr>
            <a:r>
              <a:rPr sz="1250" b="0">
                <a:solidFill>
                  <a:srgbClr val="00407A"/>
                </a:solidFill>
                <a:latin typeface="Arial"/>
              </a:rPr>
              <a:t>8 of 12</a:t>
            </a:r>
          </a:p>
        </p:txBody>
      </p:sp>
      <p:sp>
        <p:nvSpPr>
          <p:cNvPr id="67" name="TextBox 66"/>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8" name="Rectangle 67"/>
          <p:cNvSpPr/>
          <p:nvPr/>
        </p:nvSpPr>
        <p:spPr>
          <a:xfrm>
            <a:off x="8842248" y="3465575"/>
            <a:ext cx="102870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0" name="TextBox 69"/>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1" name="Rectangle 70"/>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73" name="TextBox 72"/>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74" name="Rectangle 73"/>
          <p:cNvSpPr/>
          <p:nvPr/>
        </p:nvSpPr>
        <p:spPr>
          <a:xfrm>
            <a:off x="8842248" y="4471416"/>
            <a:ext cx="102870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6" name="TextBox 75"/>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77" name="TextBox 76"/>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78" name="Rounded Rectangle 7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9B leads area ranking (40 of 46 views); 27B leads power ranking (31 of 44). Frequency has only six pairs.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Check the design ranking in both orders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stronger test counts a pair correct only when both presentation orders are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graphicFrame>
        <p:nvGraphicFramePr>
          <p:cNvPr id="6" name="Table 5"/>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13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19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8" name="TextBox 7"/>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16 of 22 pairs   •   4B: 19 of 22   •   9B: 11 of 22   •   27B: 3 of 22</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Keeping the same letter after a swap guarantees at least one wrong view. Lower is better for that error count.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evaluations completed</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EXECUTION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graphicFrame>
        <p:nvGraphicFramePr>
          <p:cNvPr id="6" name="Table 5"/>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3080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125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187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201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204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244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400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668 ms</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348 dataset requests answered, 5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8" name="Rounded Rectangle 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runs used the same dataset fingerprint and v1.0 checkpoints. Maximum reported input length: 7,706 tokens.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evidence supports—and what needs work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are observations on dataset v1, not a guarantee for unseen design families.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INTERPRETATION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23</a:t>
            </a:r>
          </a:p>
        </p:txBody>
      </p:sp>
      <p:sp>
        <p:nvSpPr>
          <p:cNvPr id="6" name="Rounded Rectangle 5"/>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in this test</a:t>
            </a:r>
          </a:p>
        </p:txBody>
      </p:sp>
      <p:sp>
        <p:nvSpPr>
          <p:cNvPr id="9" name="TextBox 8"/>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2000" b="0">
                <a:solidFill>
                  <a:srgbClr val="00407A"/>
                </a:solidFill>
                <a:latin typeface="Arial"/>
              </a:rPr>
              <a:t>27B: source-compilation screening.</a:t>
            </a:r>
          </a:p>
          <a:p>
            <a:pPr algn="l">
              <a:lnSpc>
                <a:spcPct val="109000"/>
              </a:lnSpc>
              <a:spcBef>
                <a:spcPts val="0"/>
              </a:spcBef>
              <a:spcAft>
                <a:spcPts val="0"/>
              </a:spcAft>
            </a:pPr>
            <a:r>
              <a:rPr sz="2000" b="0">
                <a:solidFill>
                  <a:srgbClr val="00407A"/>
                </a:solidFill>
                <a:latin typeface="Arial"/>
              </a:rPr>
              <a:t>27B: failure reasons when failure is known.</a:t>
            </a:r>
          </a:p>
          <a:p>
            <a:pPr algn="l">
              <a:lnSpc>
                <a:spcPct val="109000"/>
              </a:lnSpc>
              <a:spcBef>
                <a:spcPts val="0"/>
              </a:spcBef>
              <a:spcAft>
                <a:spcPts val="0"/>
              </a:spcAft>
            </a:pPr>
            <a:r>
              <a:rPr sz="2000" b="0">
                <a:solidFill>
                  <a:srgbClr val="00407A"/>
                </a:solidFill>
                <a:latin typeface="Arial"/>
              </a:rPr>
              <a:t>27B: coarse area levels.</a:t>
            </a:r>
          </a:p>
          <a:p>
            <a:pPr algn="l">
              <a:lnSpc>
                <a:spcPct val="109000"/>
              </a:lnSpc>
              <a:spcBef>
                <a:spcPts val="0"/>
              </a:spcBef>
              <a:spcAft>
                <a:spcPts val="0"/>
              </a:spcAft>
            </a:pPr>
            <a:r>
              <a:rPr sz="2000" b="0">
                <a:solidFill>
                  <a:srgbClr val="00407A"/>
                </a:solidFill>
                <a:latin typeface="Arial"/>
              </a:rPr>
              <a:t>9B: pairwise area ranking.</a:t>
            </a:r>
          </a:p>
          <a:p>
            <a:pPr algn="l">
              <a:lnSpc>
                <a:spcPct val="109000"/>
              </a:lnSpc>
              <a:spcBef>
                <a:spcPts val="0"/>
              </a:spcBef>
              <a:spcAft>
                <a:spcPts val="0"/>
              </a:spcAft>
            </a:pPr>
            <a:r>
              <a:rPr sz="2000" b="0">
                <a:solidFill>
                  <a:srgbClr val="00407A"/>
                </a:solidFill>
                <a:latin typeface="Arial"/>
              </a:rPr>
              <a:t>27B: pairwise power ranking.</a:t>
            </a:r>
          </a:p>
        </p:txBody>
      </p:sp>
      <p:sp>
        <p:nvSpPr>
          <p:cNvPr id="10" name="Rounded Rectangle 9"/>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3" name="TextBox 12"/>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Choose binary thresholds on development data.</a:t>
            </a:r>
          </a:p>
          <a:p>
            <a:pPr algn="l">
              <a:lnSpc>
                <a:spcPct val="109000"/>
              </a:lnSpc>
              <a:spcBef>
                <a:spcPts val="0"/>
              </a:spcBef>
              <a:spcAft>
                <a:spcPts val="0"/>
              </a:spcAft>
            </a:pPr>
            <a:r>
              <a:rPr sz="1800" b="0">
                <a:solidFill>
                  <a:srgbClr val="00407A"/>
                </a:solidFill>
                <a:latin typeface="Arial"/>
              </a:rPr>
              <a:t>Expand synthesis failures and rare classes.</a:t>
            </a:r>
          </a:p>
          <a:p>
            <a:pPr algn="l">
              <a:lnSpc>
                <a:spcPct val="109000"/>
              </a:lnSpc>
              <a:spcBef>
                <a:spcPts val="0"/>
              </a:spcBef>
              <a:spcAft>
                <a:spcPts val="0"/>
              </a:spcAft>
            </a:pPr>
            <a:r>
              <a:rPr sz="1800" b="0">
                <a:solidFill>
                  <a:srgbClr val="00407A"/>
                </a:solidFill>
                <a:latin typeface="Arial"/>
              </a:rPr>
              <a:t>Add designs that miss the timing target.</a:t>
            </a:r>
          </a:p>
          <a:p>
            <a:pPr algn="l">
              <a:lnSpc>
                <a:spcPct val="109000"/>
              </a:lnSpc>
              <a:spcBef>
                <a:spcPts val="0"/>
              </a:spcBef>
              <a:spcAft>
                <a:spcPts val="0"/>
              </a:spcAft>
            </a:pPr>
            <a:r>
              <a:rPr sz="1800" b="0">
                <a:solidFill>
                  <a:srgbClr val="00407A"/>
                </a:solidFill>
                <a:latin typeface="Arial"/>
              </a:rPr>
              <a:t>Check power and timing across design groups.</a:t>
            </a:r>
          </a:p>
          <a:p>
            <a:pPr algn="l">
              <a:lnSpc>
                <a:spcPct val="109000"/>
              </a:lnSpc>
              <a:spcBef>
                <a:spcPts val="0"/>
              </a:spcBef>
              <a:spcAft>
                <a:spcPts val="0"/>
              </a:spcAft>
            </a:pPr>
            <a:r>
              <a:rPr sz="1800" b="0">
                <a:solidFill>
                  <a:srgbClr val="00407A"/>
                </a:solidFill>
                <a:latin typeface="Arial"/>
              </a:rPr>
              <a:t>Compare other models under the same protocol.</a:t>
            </a:r>
          </a:p>
        </p:txBody>
      </p:sp>
      <p:sp>
        <p:nvSpPr>
          <p:cNvPr id="14" name="Rounded Rectangle 1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Reliable synthesis-failure screening is not established by these scores.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THE DETAIL BEHIND THE NUMBERS</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coverage limits</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Exact counts, probability metrics, level errors and reproducible evidence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graphicFrame>
        <p:nvGraphicFramePr>
          <p:cNvPr id="6" name="Table 5"/>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99.2%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93.8%</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27.1%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47.8%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78.3%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Pooled yes/no scores conceal class imbalance. Use the successful/failing split on the next slide.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every class, count and weighting</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graphicFrame>
        <p:nvGraphicFramePr>
          <p:cNvPr id="6" name="Table 5"/>
          <p:cNvGraphicFramePr>
            <a:graphicFrameLocks noGrp="1"/>
          </p:cNvGraphicFramePr>
          <p:nvPr/>
        </p:nvGraphicFramePr>
        <p:xfrm>
          <a:off x="813816" y="1874519"/>
          <a:ext cx="10515600" cy="333756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(22.2%)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8 (88.9%)</a:t>
                      </a:r>
                    </a:p>
                  </a:txBody>
                  <a:tcPr marL="109728" marR="91440" marT="54864" marB="36576" anchor="ctr">
                    <a:solidFill>
                      <a:srgbClr val="FFFFFF"/>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61.1%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94.4%</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 (98.0%)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FFFFFF"/>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balanced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49.5%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57.8%</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50468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Entries show the number correct, followed by the percentage of that group.</a:t>
            </a:r>
          </a:p>
          <a:p>
            <a:pPr algn="l">
              <a:lnSpc>
                <a:spcPct val="109000"/>
              </a:lnSpc>
              <a:spcBef>
                <a:spcPts val="0"/>
              </a:spcBef>
              <a:spcAft>
                <a:spcPts val="0"/>
              </a:spcAft>
            </a:pPr>
            <a:r>
              <a:rPr sz="1700" b="0">
                <a:solidFill>
                  <a:srgbClr val="00407A"/>
                </a:solidFill>
                <a:latin typeface="Arial"/>
              </a:rPr>
              <a:t>Balanced accuracy averages success recognition and failure detection with 50% weight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coverage is small and uneven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graphicFrame>
        <p:nvGraphicFramePr>
          <p:cNvPr id="6" name="Table 5"/>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No true event-list or unbounded-loop cases occur in this held-out subset.</a:t>
            </a:r>
          </a:p>
          <a:p>
            <a:pPr algn="l">
              <a:lnSpc>
                <a:spcPct val="109000"/>
              </a:lnSpc>
              <a:spcBef>
                <a:spcPts val="0"/>
              </a:spcBef>
              <a:spcAft>
                <a:spcPts val="0"/>
              </a:spcAft>
            </a:pPr>
            <a:r>
              <a:rPr sz="1550" b="0">
                <a:solidFill>
                  <a:srgbClr val="00407A"/>
                </a:solidFill>
                <a:latin typeface="Arial"/>
              </a:rPr>
              <a:t>These two offered classes therefore have no measured class recall.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Probability ranking and binary decisions are different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cases reasonably while making poor decisions at the fixed 0.5 threshold.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graphicFrame>
        <p:nvGraphicFramePr>
          <p:cNvPr id="6" name="Table 5"/>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0.692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0.994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0.334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0.030</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0.187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0.128</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0" name="TextBox 9"/>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1" name="Rounded Rectangle 10"/>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4" name="TextBox 13"/>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Performance levels: tolerance and expected-level error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Within one level: higher is better. Mean level error: lower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graphicFrame>
        <p:nvGraphicFramePr>
          <p:cNvPr id="6" name="Table 5"/>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0.649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0.485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64.7%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0.971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1.070</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1.242</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1.509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1.742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1.622</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all correctness and letter-bias counts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30</a:t>
            </a:r>
          </a:p>
        </p:txBody>
      </p:sp>
      <p:graphicFrame>
        <p:nvGraphicFramePr>
          <p:cNvPr id="6" name="Table 5"/>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Dataset composition and missing coverage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cover several sources; this is not a balanced population sample.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31</a:t>
            </a:r>
          </a:p>
        </p:txBody>
      </p:sp>
      <p:graphicFrame>
        <p:nvGraphicFramePr>
          <p:cNvPr id="6" name="Table 5"/>
          <p:cNvGraphicFramePr>
            <a:graphicFrameLocks noGrp="1"/>
          </p:cNvGraphicFramePr>
          <p:nvPr/>
        </p:nvGraphicFramePr>
        <p:xfrm>
          <a:off x="813816" y="1874519"/>
          <a:ext cx="10561320" cy="3502152"/>
        </p:xfrm>
        <a:graphic>
          <a:graphicData uri="http://schemas.openxmlformats.org/drawingml/2006/table">
            <a:tbl>
              <a:tblPr firstRow="1" bandRow="1">
                <a:tableStyleId>{5C22544A-7EE6-4342-B048-85BDC9FD1C3A}</a:tableStyleId>
              </a:tblPr>
              <a:tblGrid>
                <a:gridCol w="5074920"/>
                <a:gridCol w="1554480"/>
                <a:gridCol w="1737360"/>
                <a:gridCol w="2194560"/>
              </a:tblGrid>
              <a:tr h="566928">
                <a:tc>
                  <a:txBody>
                    <a:bodyPr/>
                    <a:lstStyle/>
                    <a:p>
                      <a:pPr algn="l">
                        <a:lnSpc>
                          <a:spcPct val="103000"/>
                        </a:lnSpc>
                        <a:spcBef>
                          <a:spcPts val="0"/>
                        </a:spcBef>
                        <a:spcAft>
                          <a:spcPts val="0"/>
                        </a:spcAft>
                      </a:pPr>
                      <a:r>
                        <a:rPr sz="1500" b="1">
                          <a:solidFill>
                            <a:srgbClr val="FFFFFF"/>
                          </a:solidFill>
                          <a:latin typeface="Arial"/>
                        </a:rPr>
                        <a:t>Design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All retained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synthesis failures</a:t>
                      </a:r>
                    </a:p>
                  </a:txBody>
                  <a:tcPr marL="109728" marR="91440" marT="54864" marB="36576" anchor="ctr">
                    <a:solidFill>
                      <a:srgbClr val="00407A"/>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MetRex: varied sizes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synthesis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Natural language-model candidates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compilation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Human reference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Older REvolution candidates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REvolution v0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Accepted edits and rejected twins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14416"/>
            <a:ext cx="10149840" cy="658368"/>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Not measured here: energy per operation, functional equivalence, post-route timing,</a:t>
            </a:r>
          </a:p>
          <a:p>
            <a:pPr algn="l">
              <a:lnSpc>
                <a:spcPct val="109000"/>
              </a:lnSpc>
              <a:spcBef>
                <a:spcPts val="0"/>
              </a:spcBef>
              <a:spcAft>
                <a:spcPts val="0"/>
              </a:spcAft>
            </a:pPr>
            <a:r>
              <a:rPr sz="1700" b="0">
                <a:solidFill>
                  <a:srgbClr val="00407A"/>
                </a:solidFill>
                <a:latin typeface="Arial"/>
              </a:rPr>
              <a:t>measured chips, other model families, or the older plan’s rename/comment controls.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this deck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dataset and saved responses; no model reruns were needed.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32</a:t>
            </a:r>
          </a:p>
        </p:txBody>
      </p:sp>
      <p:graphicFrame>
        <p:nvGraphicFramePr>
          <p:cNvPr id="6" name="Table 5"/>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15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11:30:55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14:31:45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14:34:55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14:39:12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8" name="TextBox 7"/>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data/questions/dataset_v1.jsonl</a:t>
            </a:r>
          </a:p>
          <a:p>
            <a:pPr algn="l">
              <a:lnSpc>
                <a:spcPct val="109000"/>
              </a:lnSpc>
              <a:spcBef>
                <a:spcPts val="0"/>
              </a:spcBef>
              <a:spcAft>
                <a:spcPts val="0"/>
              </a:spcAft>
            </a:pPr>
            <a:r>
              <a:rPr sz="1800" b="0">
                <a:solidFill>
                  <a:srgbClr val="00407A"/>
                </a:solidFill>
                <a:latin typeface="Arial"/>
              </a:rPr>
              <a:t>Answers, scores and manifests: results/kev/</a:t>
            </a:r>
          </a:p>
          <a:p>
            <a:pPr algn="l">
              <a:lnSpc>
                <a:spcPct val="109000"/>
              </a:lnSpc>
              <a:spcBef>
                <a:spcPts val="0"/>
              </a:spcBef>
              <a:spcAft>
                <a:spcPts val="0"/>
              </a:spcAft>
            </a:pPr>
            <a:r>
              <a:rPr sz="1800" b="0">
                <a:solidFill>
                  <a:srgbClr val="00407A"/>
                </a:solidFill>
                <a:latin typeface="Arial"/>
              </a:rPr>
              <a:t>Verified tables and rebuild scripts: presentations/data/ and presentations/src/</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tests, results and limitations</dc:title>
  <dc:subject>Dataset v1; all four KEV v1.0 models; 725 held-out questions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