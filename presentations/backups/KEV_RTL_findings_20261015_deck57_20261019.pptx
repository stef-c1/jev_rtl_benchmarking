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8"/>
    <p:sldId id="257" r:id="rId7"/>
    <p:sldId id="258" r:id="rId6"/>
    <p:sldId id="259" r:id="rId5"/>
    <p:sldId id="260" r:id="rId4"/>
    <p:sldId id="261" r:id="rId3"/>
    <p:sldId id="262" r:id="rId2"/>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 id="291" r:id="rId44"/>
    <p:sldId id="292" r:id="rId45"/>
    <p:sldId id="293" r:id="rId46"/>
    <p:sldId id="294" r:id="rId47"/>
    <p:sldId id="295" r:id="rId48"/>
    <p:sldId id="296" r:id="rId49"/>
    <p:sldId id="297" r:id="rId50"/>
    <p:sldId id="298" r:id="rId51"/>
    <p:sldId id="299" r:id="rId52"/>
    <p:sldId id="300" r:id="rId53"/>
    <p:sldId id="301" r:id="rId54"/>
    <p:sldId id="302" r:id="rId55"/>
    <p:sldId id="303" r:id="rId56"/>
    <p:sldId id="304" r:id="rId57"/>
    <p:sldId id="305" r:id="rId58"/>
    <p:sldId id="306" r:id="rId59"/>
    <p:sldId id="307" r:id="rId60"/>
    <p:sldId id="308" r:id="rId61"/>
    <p:sldId id="309" r:id="rId62"/>
    <p:sldId id="310" r:id="rId63"/>
    <p:sldId id="311" r:id="rId64"/>
    <p:sldId id="312" r:id="rId6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6B04C1B-7AD6-4013-AE6D-F69CCB37705D}" v="2" dt="2026-10-14T20:03:10.63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8" d="100"/>
          <a:sy n="78" d="100"/>
        </p:scale>
        <p:origin x="85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7.xml"/><Relationship Id="rId3" Type="http://schemas.openxmlformats.org/officeDocument/2006/relationships/slide" Target="slides/slide6.xml"/><Relationship Id="rId4" Type="http://schemas.openxmlformats.org/officeDocument/2006/relationships/slide" Target="slides/slide5.xml"/><Relationship Id="rId5" Type="http://schemas.openxmlformats.org/officeDocument/2006/relationships/slide" Target="slides/slide4.xml"/><Relationship Id="rId6" Type="http://schemas.openxmlformats.org/officeDocument/2006/relationships/slide" Target="slides/slide3.xml"/><Relationship Id="rId7" Type="http://schemas.openxmlformats.org/officeDocument/2006/relationships/slide" Target="slides/slide2.xml"/><Relationship Id="rId8" Type="http://schemas.openxmlformats.org/officeDocument/2006/relationships/slide" Target="slides/slide1.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4" Type="http://schemas.microsoft.com/office/2016/11/relationships/changesInfo" Target="changesInfos/changesInfo1.xml"/><Relationship Id="rId15" Type="http://schemas.microsoft.com/office/2015/10/relationships/revisionInfo" Target="revisionInfo.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 Id="rId23" Type="http://schemas.openxmlformats.org/officeDocument/2006/relationships/slide" Target="slides/slide15.xml"/><Relationship Id="rId24" Type="http://schemas.openxmlformats.org/officeDocument/2006/relationships/slide" Target="slides/slide16.xml"/><Relationship Id="rId25" Type="http://schemas.openxmlformats.org/officeDocument/2006/relationships/slide" Target="slides/slide17.xml"/><Relationship Id="rId26" Type="http://schemas.openxmlformats.org/officeDocument/2006/relationships/slide" Target="slides/slide18.xml"/><Relationship Id="rId27" Type="http://schemas.openxmlformats.org/officeDocument/2006/relationships/slide" Target="slides/slide19.xml"/><Relationship Id="rId28" Type="http://schemas.openxmlformats.org/officeDocument/2006/relationships/slide" Target="slides/slide20.xml"/><Relationship Id="rId29" Type="http://schemas.openxmlformats.org/officeDocument/2006/relationships/slide" Target="slides/slide21.xml"/><Relationship Id="rId30" Type="http://schemas.openxmlformats.org/officeDocument/2006/relationships/slide" Target="slides/slide22.xml"/><Relationship Id="rId31" Type="http://schemas.openxmlformats.org/officeDocument/2006/relationships/slide" Target="slides/slide23.xml"/><Relationship Id="rId32" Type="http://schemas.openxmlformats.org/officeDocument/2006/relationships/slide" Target="slides/slide24.xml"/><Relationship Id="rId33" Type="http://schemas.openxmlformats.org/officeDocument/2006/relationships/slide" Target="slides/slide25.xml"/><Relationship Id="rId34" Type="http://schemas.openxmlformats.org/officeDocument/2006/relationships/slide" Target="slides/slide26.xml"/><Relationship Id="rId35" Type="http://schemas.openxmlformats.org/officeDocument/2006/relationships/slide" Target="slides/slide27.xml"/><Relationship Id="rId36" Type="http://schemas.openxmlformats.org/officeDocument/2006/relationships/slide" Target="slides/slide28.xml"/><Relationship Id="rId37" Type="http://schemas.openxmlformats.org/officeDocument/2006/relationships/slide" Target="slides/slide29.xml"/><Relationship Id="rId38" Type="http://schemas.openxmlformats.org/officeDocument/2006/relationships/slide" Target="slides/slide30.xml"/><Relationship Id="rId39" Type="http://schemas.openxmlformats.org/officeDocument/2006/relationships/slide" Target="slides/slide31.xml"/><Relationship Id="rId40" Type="http://schemas.openxmlformats.org/officeDocument/2006/relationships/slide" Target="slides/slide32.xml"/><Relationship Id="rId41" Type="http://schemas.openxmlformats.org/officeDocument/2006/relationships/slide" Target="slides/slide33.xml"/><Relationship Id="rId42" Type="http://schemas.openxmlformats.org/officeDocument/2006/relationships/slide" Target="slides/slide34.xml"/><Relationship Id="rId43" Type="http://schemas.openxmlformats.org/officeDocument/2006/relationships/slide" Target="slides/slide35.xml"/><Relationship Id="rId44" Type="http://schemas.openxmlformats.org/officeDocument/2006/relationships/slide" Target="slides/slide36.xml"/><Relationship Id="rId45" Type="http://schemas.openxmlformats.org/officeDocument/2006/relationships/slide" Target="slides/slide37.xml"/><Relationship Id="rId46" Type="http://schemas.openxmlformats.org/officeDocument/2006/relationships/slide" Target="slides/slide38.xml"/><Relationship Id="rId47" Type="http://schemas.openxmlformats.org/officeDocument/2006/relationships/slide" Target="slides/slide39.xml"/><Relationship Id="rId48" Type="http://schemas.openxmlformats.org/officeDocument/2006/relationships/slide" Target="slides/slide40.xml"/><Relationship Id="rId49" Type="http://schemas.openxmlformats.org/officeDocument/2006/relationships/slide" Target="slides/slide41.xml"/><Relationship Id="rId50" Type="http://schemas.openxmlformats.org/officeDocument/2006/relationships/slide" Target="slides/slide42.xml"/><Relationship Id="rId51" Type="http://schemas.openxmlformats.org/officeDocument/2006/relationships/slide" Target="slides/slide43.xml"/><Relationship Id="rId52" Type="http://schemas.openxmlformats.org/officeDocument/2006/relationships/slide" Target="slides/slide44.xml"/><Relationship Id="rId53" Type="http://schemas.openxmlformats.org/officeDocument/2006/relationships/slide" Target="slides/slide45.xml"/><Relationship Id="rId54" Type="http://schemas.openxmlformats.org/officeDocument/2006/relationships/slide" Target="slides/slide46.xml"/><Relationship Id="rId55" Type="http://schemas.openxmlformats.org/officeDocument/2006/relationships/slide" Target="slides/slide47.xml"/><Relationship Id="rId56" Type="http://schemas.openxmlformats.org/officeDocument/2006/relationships/slide" Target="slides/slide48.xml"/><Relationship Id="rId57" Type="http://schemas.openxmlformats.org/officeDocument/2006/relationships/slide" Target="slides/slide49.xml"/><Relationship Id="rId58" Type="http://schemas.openxmlformats.org/officeDocument/2006/relationships/slide" Target="slides/slide50.xml"/><Relationship Id="rId59" Type="http://schemas.openxmlformats.org/officeDocument/2006/relationships/slide" Target="slides/slide51.xml"/><Relationship Id="rId60" Type="http://schemas.openxmlformats.org/officeDocument/2006/relationships/slide" Target="slides/slide52.xml"/><Relationship Id="rId61" Type="http://schemas.openxmlformats.org/officeDocument/2006/relationships/slide" Target="slides/slide53.xml"/><Relationship Id="rId62" Type="http://schemas.openxmlformats.org/officeDocument/2006/relationships/slide" Target="slides/slide54.xml"/><Relationship Id="rId63" Type="http://schemas.openxmlformats.org/officeDocument/2006/relationships/slide" Target="slides/slide55.xml"/><Relationship Id="rId64" Type="http://schemas.openxmlformats.org/officeDocument/2006/relationships/slide" Target="slides/slide56.xml"/><Relationship Id="rId65" Type="http://schemas.openxmlformats.org/officeDocument/2006/relationships/slide" Target="slides/slide5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ian Verhelst" userId="731a6a4d-0ae0-40ab-8310-2cd6e3bb0597" providerId="ADAL" clId="{B0FF59DE-8C83-455B-9775-86E18A21BAE3}"/>
    <pc:docChg chg="custSel delSld modSld">
      <pc:chgData name="Marian Verhelst" userId="731a6a4d-0ae0-40ab-8310-2cd6e3bb0597" providerId="ADAL" clId="{B0FF59DE-8C83-455B-9775-86E18A21BAE3}" dt="2026-10-14T20:03:58.793" v="54" actId="20577"/>
      <pc:docMkLst>
        <pc:docMk/>
      </pc:docMkLst>
      <pc:sldChg chg="del">
        <pc:chgData name="Marian Verhelst" userId="731a6a4d-0ae0-40ab-8310-2cd6e3bb0597" providerId="ADAL" clId="{B0FF59DE-8C83-455B-9775-86E18A21BAE3}" dt="2026-10-14T20:01:31.973" v="0" actId="47"/>
        <pc:sldMkLst>
          <pc:docMk/>
          <pc:sldMk cId="0" sldId="257"/>
        </pc:sldMkLst>
      </pc:sldChg>
      <pc:sldChg chg="modSp mod">
        <pc:chgData name="Marian Verhelst" userId="731a6a4d-0ae0-40ab-8310-2cd6e3bb0597" providerId="ADAL" clId="{B0FF59DE-8C83-455B-9775-86E18A21BAE3}" dt="2026-10-14T20:02:06.567" v="10" actId="403"/>
        <pc:sldMkLst>
          <pc:docMk/>
          <pc:sldMk cId="0" sldId="259"/>
        </pc:sldMkLst>
        <pc:spChg chg="mod">
          <ac:chgData name="Marian Verhelst" userId="731a6a4d-0ae0-40ab-8310-2cd6e3bb0597" providerId="ADAL" clId="{B0FF59DE-8C83-455B-9775-86E18A21BAE3}" dt="2026-10-14T20:01:53.987" v="4" actId="20577"/>
          <ac:spMkLst>
            <pc:docMk/>
            <pc:sldMk cId="0" sldId="259"/>
            <ac:spMk id="7" creationId="{00000000-0000-0000-0000-000000000000}"/>
          </ac:spMkLst>
        </pc:spChg>
        <pc:spChg chg="mod">
          <ac:chgData name="Marian Verhelst" userId="731a6a4d-0ae0-40ab-8310-2cd6e3bb0597" providerId="ADAL" clId="{B0FF59DE-8C83-455B-9775-86E18A21BAE3}" dt="2026-10-14T20:02:06.567" v="10" actId="403"/>
          <ac:spMkLst>
            <pc:docMk/>
            <pc:sldMk cId="0" sldId="259"/>
            <ac:spMk id="9" creationId="{00000000-0000-0000-0000-000000000000}"/>
          </ac:spMkLst>
        </pc:spChg>
      </pc:sldChg>
      <pc:sldChg chg="modSp mod">
        <pc:chgData name="Marian Verhelst" userId="731a6a4d-0ae0-40ab-8310-2cd6e3bb0597" providerId="ADAL" clId="{B0FF59DE-8C83-455B-9775-86E18A21BAE3}" dt="2026-10-14T20:02:20.287" v="14" actId="404"/>
        <pc:sldMkLst>
          <pc:docMk/>
          <pc:sldMk cId="0" sldId="260"/>
        </pc:sldMkLst>
        <pc:spChg chg="mod">
          <ac:chgData name="Marian Verhelst" userId="731a6a4d-0ae0-40ab-8310-2cd6e3bb0597" providerId="ADAL" clId="{B0FF59DE-8C83-455B-9775-86E18A21BAE3}" dt="2026-10-14T20:02:20.287" v="14" actId="404"/>
          <ac:spMkLst>
            <pc:docMk/>
            <pc:sldMk cId="0" sldId="260"/>
            <ac:spMk id="12" creationId="{00000000-0000-0000-0000-000000000000}"/>
          </ac:spMkLst>
        </pc:spChg>
      </pc:sldChg>
      <pc:sldChg chg="modSp mod">
        <pc:chgData name="Marian Verhelst" userId="731a6a4d-0ae0-40ab-8310-2cd6e3bb0597" providerId="ADAL" clId="{B0FF59DE-8C83-455B-9775-86E18A21BAE3}" dt="2026-10-14T20:02:51.421" v="15" actId="20577"/>
        <pc:sldMkLst>
          <pc:docMk/>
          <pc:sldMk cId="0" sldId="261"/>
        </pc:sldMkLst>
        <pc:spChg chg="mod">
          <ac:chgData name="Marian Verhelst" userId="731a6a4d-0ae0-40ab-8310-2cd6e3bb0597" providerId="ADAL" clId="{B0FF59DE-8C83-455B-9775-86E18A21BAE3}" dt="2026-10-14T20:02:51.421" v="15" actId="20577"/>
          <ac:spMkLst>
            <pc:docMk/>
            <pc:sldMk cId="0" sldId="261"/>
            <ac:spMk id="6" creationId="{00000000-0000-0000-0000-000000000000}"/>
          </ac:spMkLst>
        </pc:spChg>
      </pc:sldChg>
      <pc:sldChg chg="modSp mod">
        <pc:chgData name="Marian Verhelst" userId="731a6a4d-0ae0-40ab-8310-2cd6e3bb0597" providerId="ADAL" clId="{B0FF59DE-8C83-455B-9775-86E18A21BAE3}" dt="2026-10-14T20:03:37.335" v="35" actId="20577"/>
        <pc:sldMkLst>
          <pc:docMk/>
          <pc:sldMk cId="0" sldId="262"/>
        </pc:sldMkLst>
        <pc:spChg chg="mod">
          <ac:chgData name="Marian Verhelst" userId="731a6a4d-0ae0-40ab-8310-2cd6e3bb0597" providerId="ADAL" clId="{B0FF59DE-8C83-455B-9775-86E18A21BAE3}" dt="2026-10-14T20:03:25.848" v="27" actId="207"/>
          <ac:spMkLst>
            <pc:docMk/>
            <pc:sldMk cId="0" sldId="262"/>
            <ac:spMk id="9" creationId="{00000000-0000-0000-0000-000000000000}"/>
          </ac:spMkLst>
        </pc:spChg>
        <pc:graphicFrameChg chg="mod modGraphic">
          <ac:chgData name="Marian Verhelst" userId="731a6a4d-0ae0-40ab-8310-2cd6e3bb0597" providerId="ADAL" clId="{B0FF59DE-8C83-455B-9775-86E18A21BAE3}" dt="2026-10-14T20:03:37.335" v="35" actId="20577"/>
          <ac:graphicFrameMkLst>
            <pc:docMk/>
            <pc:sldMk cId="0" sldId="262"/>
            <ac:graphicFrameMk id="8" creationId="{00000000-0000-0000-0000-000000000000}"/>
          </ac:graphicFrameMkLst>
        </pc:graphicFrameChg>
      </pc:sldChg>
      <pc:sldChg chg="modSp mod">
        <pc:chgData name="Marian Verhelst" userId="731a6a4d-0ae0-40ab-8310-2cd6e3bb0597" providerId="ADAL" clId="{B0FF59DE-8C83-455B-9775-86E18A21BAE3}" dt="2026-10-14T20:03:58.793" v="54" actId="20577"/>
        <pc:sldMkLst>
          <pc:docMk/>
          <pc:sldMk cId="0" sldId="263"/>
        </pc:sldMkLst>
        <pc:spChg chg="mod">
          <ac:chgData name="Marian Verhelst" userId="731a6a4d-0ae0-40ab-8310-2cd6e3bb0597" providerId="ADAL" clId="{B0FF59DE-8C83-455B-9775-86E18A21BAE3}" dt="2026-10-14T20:03:58.793" v="54" actId="20577"/>
          <ac:spMkLst>
            <pc:docMk/>
            <pc:sldMk cId="0" sldId="263"/>
            <ac:spMk id="4"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594147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This presentation covers the completed KEV-0.8B, KEV-4B, KEV-9B and KEV-27B v1.0 runs. RTL means register-transfer level: code describing digital hardware. The label B denotes approximately billions of model parameters. There are 151 retained designs across development and test; the held-out test has 123 individual designs plus pair requests. The number 725 counts questions, not independent designs. All findings are specific to this dataset and tool flow. No Jev, base Qwen or commercial LLM evaluation is included. Experiment 1 (15 October) sends the questions with no examples. Experiment 2 (16 October) sends the same 725 test questions, one per request, each with three solved development designs of the same question before the design. After each test, the slides of experiment 1 come first, then the same slides with the data of experiment 2; the label above each title names the experiment.</a:t>
            </a:r>
          </a:p>
          <a:p/>
          <a:p>
            <a:r>
              <a:t>Evidence and reproducibility</a:t>
            </a:r>
          </a:p>
          <a:p>
            <a:r>
              <a:t>data/questions/dataset_v1.jsonl; results/kev/*/dataset_v1__*.jsonl; harness/score.py</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The compilation-error result is KEV-27B on the 9 compiler-rejected test designs. The area result is 61/92 exact levels. Synthesis failure detection is 4/24. The 15/16 failure-reason result is conditional on a prompt explicitly stating that synthesis failed. The strongest observed pair-area accuracy is KEV-9B at 40/46 views; the strongest observed pair-power accuracy is KEV-27B at 31/44 views. These are different models and tasks, and not a single combined design or statistically established winner.</a:t>
            </a:r>
          </a:p>
          <a:p/>
          <a:p>
            <a:r>
              <a:t>Evidence and reproducibility</a:t>
            </a:r>
          </a:p>
          <a:p>
            <a:r>
              <a:t>data/questions/dataset_v1.jsonl; results/kev/*/dataset_v1__*.jsonl; harness/score.py</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Experiment 2 sends the 725 test questions of experiment 1 again, one question per request, each with three solved development designs of the same question in a new first state field. The numbers in brackets are experiment 1. KEV-27B synthesis: failures detected 4 to 12 of 24 (paired McNemar test within the 24 failures: 0 lost, 8 gained, p = 0.0078); successes recognised 98 to 96 of 99. KEV-27B exact power levels 9 to 36 of 85 (p &lt; 0.001); exact area levels 61 to 48 of 92 (p = 0.029). Pair views of KEV-27B: area 36 to 41 of 46 (p = 0.062), power 31 to 35 of 44 (p = 0.12), frequency 10 to 11 of 12 (p = 1); “leads” means the highest count of the four models with examples, not a significant difference. KEV-0.8B gives one answer to every question of 6 question keys: synthesizes = no, area = 5, power = 5, slack = 5, smaller_area = A, higher_reach = B. Constant answers, from the test labels: power level 2 is right for 37 of 85, frequency level 4 for 45 of 92, slack level 5 for 63 of 92. With examples the best exact counts are 36, 36 and 63; the slack count 63 is KEV-0.8B answering level 5 for every design, so it ties the constant answer and does not beat it.</a:t>
            </a:r>
          </a:p>
          <a:p/>
          <a:p>
            <a:r>
              <a:t>Evidence and reproducibility</a:t>
            </a:r>
          </a:p>
          <a:p>
            <a:r>
              <a:t>data/questions/dataset_v1_fewshot3.jsonl; results/kev/dataset_v1_fewshot3_*/dataset_v1_fewshot3__*.jsonl; results/kev/*/dataset_v1__*.jsonl (experiment 1); harness/score.py; harness/compare.py</a:t>
            </a:r>
          </a:p>
          <a:p>
            <a:r>
              <a:t>All numerical results use the held-out test split unless explicitly labelled otherwise.</a:t>
            </a:r>
          </a:p>
          <a:p>
            <a:r>
              <a:t>Dataset SHA-256: 4c4d74d86c5e96e7440a7fa7716945f9212b3382ad7b6e0584e0414ca53b5f15 (experiment 2); 96814ea63d89b98af7f87c5f6d8e5fe0f35ec710c30755c9d0723fbec4ddbe2a (experiment 1, the source).</a:t>
            </a:r>
          </a:p>
          <a:p>
            <a:r>
              <a:t>Verified calculations: presentations/data/verified_metrics_fewshot3.json and compare_fewshot3.csv.</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Compilation uses Siemens QuestaSim 2022.4 vlog -sv, a compile-only check. Synthesis uses Synopsys Design Compiler U-2022.12-SP2 with analyze, elaborate, link and compile_ultra. A synthesis pass requires no Error lines, no LINK-5/UID-341 unresolved references, no TRANS-4 unmapped generic registers, and an output netlist. Compiler acceptance is not functional correctness, complete simulator elaboration, or a guarantee of synthesizability. There are 99 test designs with both successful compilation and synthesis, 15 that compile but fail synthesis, and 9 that fail both.</a:t>
            </a:r>
          </a:p>
          <a:p/>
          <a:p>
            <a:r>
              <a:t>Evidence and reproducibility</a:t>
            </a:r>
          </a:p>
          <a:p>
            <a:r>
              <a:t>notes/synth_yesno.md; notes/DATASET.md; harness/build.py; data/questions/dataset_v1.jsonl</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The plan ran 159 designs; 8 are excluded under the dataset rules, leaving 151 basic design records. The test split contains 123 basic designs and the development split 28. All four models answered all 348 requests, but reported accuracy uses test only: 281 requests and 725 questions. Performance coverage is 92 area, 92 slack, 92 reachable-frequency, and 85 power questions. The 361 performance questions therefore do not mean 361 distinct designs. There are 25 distinct test pairs, each sent in both orders, containing 46 area, 44 power and 12 frequency questions. Pair metrics overlap in which pairs they cover. The analysis asserts no shared base_design_id between development and test.</a:t>
            </a:r>
          </a:p>
          <a:p/>
          <a:p>
            <a:r>
              <a:t>Evidence and reproducibility</a:t>
            </a:r>
          </a:p>
          <a:p>
            <a:r>
              <a:t>notes/DATASET.md; data/questions/dataset_v1.card.md; data/questions/dataset_v1.jsonl; presentations/src/analyse_kev.py</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The Condor client sends only state, API model and questions to /v1/systemone. The correct_answer and evidence fields are retained locally in the input file and output records for scoring, not sent in the request payload. The four request groups are deliberately separate. In particular the reason instruction literally states that the tool does not synthesize the module, so its score cannot be read as autonomous failure detection. All models used the same input file SHA-256 and v1.0-tagged checkpoints. Maximum actual reported input length was 7,706 tokens for every model.</a:t>
            </a:r>
          </a:p>
          <a:p/>
          <a:p>
            <a:r>
              <a:t>Evidence and reproducibility</a:t>
            </a:r>
          </a:p>
          <a:p>
            <a:r>
              <a:t>condor/kev_client.py; harness/build.py: V1_QUESTIONS and build_dataset_v1; data/questions/dataset_v1.jsonl</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Experiment 2 (MV, 2026-10-16) asks the 725 test questions of experiment 1 again. Each request holds one question; experiment 1 sent up to four questions in one request (test split: 123 basic requests with 2 questions; 10 pair requests with 1 question; 28 pair requests with 2 questions; 12 pair requests with 3 questions; 7 performance requests with 3 questions; 85 performance requests with 4 questions; 16 reason requests with 1 question). The state of each request is the state of experiment 1 with one new first field, examples; the analysis checks this for all 725 requests. Kev answers each question in its own row (the state followed by that question), and the Kev README reports that asking questions together or separately gives probabilities within 4e-6 in its fp32 tests. One question per request therefore should not change an answer by itself; the examples are the change. Rules of the example sets (harness/fewshot.py): compile and synth get the two shortest development designs that the tool rejects (with different errors or classes) and the working base design of the first one; reason gets the three shortest failed designs of three classes; each level question gets the shortest development design in each level range 1 to 2, 3 and 4 to 5, with the exact value and the level text. A pair question gets the three designs of its metric with the exact value only, no level and no solved pair (MV’s rule). A failed example also shows the first vlog or DC error (an addition that MV accepted). No example shares a base design with a test design (checked here); harness/fewshot.py also excludes an example that implements the function of a test design. Exact Kev input tokens: median 2,155, maximum 8,607. 3 requests exceed 8,192 tokens, the validated context of Kev-0.8B, 4B and 9B (Kev README; Kev-27B: 65,536): metrex_19218:area, metrex_19218:power, metrex_19218:slack. They are scored like all others.</a:t>
            </a:r>
          </a:p>
          <a:p/>
          <a:p>
            <a:r>
              <a:t>Evidence and reproducibility</a:t>
            </a:r>
          </a:p>
          <a:p>
            <a:r>
              <a:t>data/questions/dataset_v1_fewshot3.jsonl; data/questions/dataset_v1_fewshot3.card.md; harness/fewshot.py; notes/VERIFICATION.md item 14; condor/kev_src/README.md</a:t>
            </a:r>
          </a:p>
          <a:p>
            <a:r>
              <a:t>All numerical results use the held-out test split unless explicitly labelled otherwise.</a:t>
            </a:r>
          </a:p>
          <a:p>
            <a:r>
              <a:t>Dataset SHA-256: 4c4d74d86c5e96e7440a7fa7716945f9212b3382ad7b6e0584e0414ca53b5f15 (experiment 2); 96814ea63d89b98af7f87c5f6d8e5fe0f35ec710c30755c9d0723fbec4ddbe2a (experiment 1, the source).</a:t>
            </a:r>
          </a:p>
          <a:p>
            <a:r>
              <a:t>Verified calculations: presentations/data/verified_metrics_fewshot3.json and compare_fewshot3.csv.</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Binary predictions use threshold 0.5 exactly as the saved scorer. The yes/no score is plain accuracy: the share of the 123 test designs with a correct answer (MV, 2026-10-19). Beside each bar, the result slides give the correct answers on the designs where the tool says “yes” and on those where it says “no”. Two dashed lines give the score of a constant answer: always “yes” scores 92.7% for compilation (114 of 123) and 80.5% for synthesis (99 of 123); always “no” scores 7.3% and 19.5%. Class-specific rates use the actual tool outcome as the grouping variable. For reason labels the scorer averages per-class recall over the eight true classes present. Score probabilities use KEV keys 0 to 4, translated to displayed levels 1 to 5 before scoring. A constant-answer reference is a descriptive frequency of the specified label in this test set; it was not a separate run, not learned on development, and not chosen as a deployable predictor. Pair labels are exactly balanced A/B because both orders are included; always choosing a letter therefore gets 50%. There is no grand overall score across unrelated tasks.</a:t>
            </a:r>
          </a:p>
          <a:p/>
          <a:p>
            <a:r>
              <a:t>Evidence and reproducibility</a:t>
            </a:r>
          </a:p>
          <a:p>
            <a:r>
              <a:t>data/questions/dataset_v1.jsonl; results/kev/*/dataset_v1__*.jsonl; harness/score.py</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One test set of 123 held-out designs answers both questions; all designs were sent together. Each bar is one score per model and question: the share of the 123 designs with a correct answer (plain accuracy; MV, 2026-10-19). A yes probability of 0.5 or more counts as “yes”. Beside each bar are the correct answers on the designs where the tool says “yes” and on the designs where it says “no”; the two counts add up to the correct answers of the bar. The two dashed lines are the scores of a constant answer: always “yes” scores 80.5% for synthesis (99 of 123) and 92.7% for compilation (114 of 123); always “no” scores 19.5% (24 of 123) and 7.3% (9 of 123). Designs between each score and the nearer dashed line: synthesis 0, 1, 0, 3; compilation 4, 0, 2, 8 (0.8B, 4B, 9B, 27B). “Yes” answers of the models, of 123: synthesis 123, 122, 119, 118; compilation 4, 123, 121, 115. One design changes a score by 0.8 percentage points. KEV-0.8B answers “no” to compilation for 119 of the 123 designs, with yes probabilities between 0.30 and 0.53 for every design: its 9 of 9 on the compile errors is this near-constant “no”, not a detection. The question is yes/no only; it does not ask which error occurred (that is the failure-reason test, where 0.8B is right for 5 of 16). The same KEV-0.8B answers “yes” to synthesis for all 123 designs, so for 119 designs it answers both “does not compile” and “synthesizes”; in this test set, every design that vlog rejects also fails synthesis. The appendix slide “Most failing designs get the same answer as successes” shows every yes probability.</a:t>
            </a:r>
          </a:p>
          <a:p/>
          <a:p>
            <a:r>
              <a:t>Evidence and reproducibility</a:t>
            </a:r>
          </a:p>
          <a:p>
            <a:r>
              <a:t>data/questions/dataset_v1.jsonl; results/kev/*/dataset_v1__*.jsonl; harness/score.py</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KEV-27B confusion counts: true positive 98, false negative 1, false positive 20, true negative 4. Overall accuracy = (98+4)/123 = 0.8292682927. Success recognition = 98/99 = 0.9898989899. Failure detection = 4/24 = 0.1666666667. The always-yes reference is 99/123 = 0.8048780488: 99 designs correct, 3 fewer than KEV-27B. The matrix contains actual counts, not probabilities. Never interpret overall 82.9% as 82.9% of failures detected.</a:t>
            </a:r>
          </a:p>
          <a:p/>
          <a:p>
            <a:r>
              <a:t>Evidence and reproducibility</a:t>
            </a:r>
          </a:p>
          <a:p>
            <a:r>
              <a:t>data/questions/dataset_v1.jsonl; results/kev/*/dataset_v1__*.jsonl; harness/score.py</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This is a derived subgroup analysis using the actual compilation and synthesis labels of the same basic requests. All bars are synthesis yes/no decisions; the right panel is not the separate compilation answer. Compiler-accepted failure detections: 0,0,1,0 of 15. Compiler-rejected failure detections: 0,0,1,4 of 9. Small subgroups do not establish general performance, but clearly localise the observed weakness.</a:t>
            </a:r>
          </a:p>
          <a:p/>
          <a:p>
            <a:r>
              <a:t>Evidence and reproducibility</a:t>
            </a:r>
          </a:p>
          <a:p>
            <a:r>
              <a:t>data/questions/dataset_v1.jsonl; results/kev/*/dataset_v1__*.jsonl; harness/score.py</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The same 123 held-out designs and the same two questions as in experiment 1, but each question is now a separate request with three solved examples: for compilation one design that compiles and two that fail, for synthesis one that synthesizes and two that fail. Each bar is the share of the 123 designs with a correct answer, with examples; the orange mark on the bar is the same score without examples (experiment 1, previous slides). Beside each bar are the correct answers with examples on the designs where the tool says “yes” and on those where it says “no”. The dashed lines are the scores of always “no” and always “yes”. Correct answers per tool class, without examples to with examples, with the exact McNemar test within each class: KEV-0.8B synthesis 99 to 0 of 99 “yes” designs (p &lt; 0.001), 0 to 24 of 24 “no” designs (p &lt; 0.001), compilation 4 to 1 of 114 “yes” designs (p = 0.38), 9 to 9 of 9 “no” designs (p = 1); KEV-4B synthesis 98 to 98 of 99 “yes” designs (p = 1), 0 to 2 of 24 “no” designs (p = 0.5), compilation 114 to 113 of 114 “yes” designs (p = 1), 0 to 3 of 9 “no” designs (p = 0.25); KEV-9B synthesis 97 to 98 of 99 “yes” designs (p = 1), 2 to 4 of 24 “no” designs (p = 0.5), compilation 114 to 112 of 114 “yes” designs (p = 0.5), 2 to 4 of 9 “no” designs (p = 0.5); KEV-27B synthesis 98 to 96 of 99 “yes” designs (p = 0.5), 4 to 12 of 24 “no” designs (p = 0.0078), compilation 114 to 108 of 114 “yes” designs (p = 0.031), 8 to 9 of 9 “no” designs (p = 1). KEV-0.8B moves from “yes” for every design to “no” for every design on synthesis, so its score falls from 80.5% to 19.5%, from one dashed line to the other. KEV-27B on compilation falls from 99.2% to 95.1%: with examples it answers “no” for 6 designs that compile. KEV-27B: 3 designs get both “does not compile” and “synthesizes” (KEV-4B 2, KEV-9B 2); in this test set every design that vlog rejects also fails synthesis. One design changes a score by 0.8 percentage points.</a:t>
            </a:r>
          </a:p>
          <a:p/>
          <a:p>
            <a:r>
              <a:t>Evidence and reproducibility</a:t>
            </a:r>
          </a:p>
          <a:p>
            <a:r>
              <a:t>data/questions/dataset_v1_fewshot3.jsonl; results/kev/dataset_v1_fewshot3_*/dataset_v1_fewshot3__*.jsonl; results/kev/*/dataset_v1__*.jsonl (experiment 1); harness/score.py; harness/compare.py</a:t>
            </a:r>
          </a:p>
          <a:p>
            <a:r>
              <a:t>All numerical results use the held-out test split unless explicitly labelled otherwise.</a:t>
            </a:r>
          </a:p>
          <a:p>
            <a:r>
              <a:t>Dataset SHA-256: 4c4d74d86c5e96e7440a7fa7716945f9212b3382ad7b6e0584e0414ca53b5f15 (experiment 2); 96814ea63d89b98af7f87c5f6d8e5fe0f35ec710c30755c9d0723fbec4ddbe2a (experiment 1, the source).</a:t>
            </a:r>
          </a:p>
          <a:p>
            <a:r>
              <a:t>Verified calculations: presentations/data/verified_metrics_fewshot3.json and compare_fewshot3.csv.</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KEV-27B confusion counts with examples: true positive 96, false negative 3, false positive 12, true negative 12. Overall accuracy = 108/123 = 0.8780. Success recognition = 96/99 = 0.9697. Failure detection = 12/24 = 0.5000. Always “yes” = 99/123 = 0.8049. Without examples (slide “Why 82.9% hid poor synthesis failure detection”): 98, 1, 20, 4. Paired McNemar tests within each class: failures 0 lost and 8 gained (p = 0.0078); successes 2 lost and 0 gained (p = 0.5); all 123 designs 2 lost and 8 gained (p = 0.11). The examples of the synthesis question are one design that synthesizes and two that fail, each failure with its first Design Compiler error.</a:t>
            </a:r>
          </a:p>
          <a:p/>
          <a:p>
            <a:r>
              <a:t>Evidence and reproducibility</a:t>
            </a:r>
          </a:p>
          <a:p>
            <a:r>
              <a:t>data/questions/dataset_v1_fewshot3.jsonl; results/kev/dataset_v1_fewshot3_*/dataset_v1_fewshot3__*.jsonl; results/kev/*/dataset_v1__*.jsonl (experiment 1); harness/score.py; harness/compare.py</a:t>
            </a:r>
          </a:p>
          <a:p>
            <a:r>
              <a:t>All numerical results use the held-out test split unless explicitly labelled otherwise.</a:t>
            </a:r>
          </a:p>
          <a:p>
            <a:r>
              <a:t>Dataset SHA-256: 4c4d74d86c5e96e7440a7fa7716945f9212b3382ad7b6e0584e0414ca53b5f15 (experiment 2); 96814ea63d89b98af7f87c5f6d8e5fe0f35ec710c30755c9d0723fbec4ddbe2a (experiment 1, the source).</a:t>
            </a:r>
          </a:p>
          <a:p>
            <a:r>
              <a:t>Verified calculations: presentations/data/verified_metrics_fewshot3.json and compare_fewshot3.csv.</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The same derived subgroup analysis as in experiment 1, on the synthesis answers with examples. Compiler-accepted failure detections: 15, 1, 2, 4 of 15 (without examples 0, 0, 1, 0). Compiler-rejected failure detections: 9, 1, 2, 8 of 9 (without examples 0, 0, 1, 4). Order: 0.8B, 4B, 9B, 27B. KEV-0.8B gives every one of the 123 designs a synthesis probability below 0.5, so its full bars are a constant “no”, not a detection. Ranking (AUROC of the 99 successes against each subgroup) for KEV-27B: 0.881 for the 15 and 0.980 for the 9 (without examples 0.713 and 0.982). Small subgroups; no general claim.</a:t>
            </a:r>
          </a:p>
          <a:p/>
          <a:p>
            <a:r>
              <a:t>Evidence and reproducibility</a:t>
            </a:r>
          </a:p>
          <a:p>
            <a:r>
              <a:t>data/questions/dataset_v1_fewshot3.jsonl; results/kev/dataset_v1_fewshot3_*/dataset_v1_fewshot3__*.jsonl; results/kev/*/dataset_v1__*.jsonl (experiment 1); harness/score.py; harness/compare.py</a:t>
            </a:r>
          </a:p>
          <a:p>
            <a:r>
              <a:t>All numerical results use the held-out test split unless explicitly labelled otherwise.</a:t>
            </a:r>
          </a:p>
          <a:p>
            <a:r>
              <a:t>Dataset SHA-256: 4c4d74d86c5e96e7440a7fa7716945f9212b3382ad7b6e0584e0414ca53b5f15 (experiment 2); 96814ea63d89b98af7f87c5f6d8e5fe0f35ec710c30755c9d0723fbec4ddbe2a (experiment 1, the source).</a:t>
            </a:r>
          </a:p>
          <a:p>
            <a:r>
              <a:t>Verified calculations: presentations/data/verified_metrics_fewshot3.json and compare_fewshot3.csv.</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This slide lists the ten options of the failure-reason question exactly as the model reads them (option name, then its text). Every one of the 25 reason questions in dataset v1 offers the same ten options in the same order. The columns count the reason questions whose correct answer is that option: 16 in the test split and 9 in the development split. In the test split, 8 of the ten options occur; event_list and unbounded_loop occur only in the development split, once each. The correct answer comes from the Design Compiler message IDs (and the vlog result to separate illegal_code from unsupported_construct), with the rules in notes/synth_reason.md; a design is kept only if all its messages belong to one class. 22 of the 25 failing designs are injected one-construct edits of a working design (mutants and the rejected twins of the trap pairs). The other 3 are natural failures: one MetRex design and two LLM-written candidates. 8 further test designs fail synthesis with illegal_code; they are the injected compile errors (one removed semicolon or one undeclared name) and get only the yes/no questions, by the dataset rules.</a:t>
            </a:r>
          </a:p>
          <a:p/>
          <a:p>
            <a:r>
              <a:t>Evidence and reproducibility</a:t>
            </a:r>
          </a:p>
          <a:p>
            <a:r>
              <a:t>data/questions/dataset_v1.jsonl (records with request = reason); notes/synth_reason.md; notes/DATASET.md; presentations/data/verified_metrics.json</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Correct reason counts are 5,9,11,15 of 16. Class-balanced reason accuracies are 17.9%,37.5%,50.0%,87.5%, respectively. The reason classes present are multiple_drivers(1), illegal_code(1), unsupported_construct(1), timing_control(3), simulation_statement(5), async_reset(1), mixed_assignments(2), instance_mismatch(2). There are no true event_list or unbounded_loop examples in the held-out reason subset. KEV-27B gets only multiple_drivers wrong, predicting async_reset. The instruction supplies the known failure and therefore this accuracy is conditional, not an end-to-end detection score.</a:t>
            </a:r>
          </a:p>
          <a:p/>
          <a:p>
            <a:r>
              <a:t>Evidence and reproducibility</a:t>
            </a:r>
          </a:p>
          <a:p>
            <a:r>
              <a:t>data/questions/dataset_v1.jsonl; results/kev/*/dataset_v1__*.jsonl; harness/score.py</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For each test reason request, replace :reason: with :basic: in its question ID and inspect the corresponding synthesis probability. The reason subset has 16 known failures, while the full binary synthesis test has 24 failures; 8 noncompile designs do not receive a reason request. Failure flags within the 16-design reason subset are 0,0,1,0. Correct diagnoses when the prompt supplies failure are 5,9,11,15. Both correct counts are 0,0,1,0. In particular KEV-27B flags none of these 16, although its independent reason response is right for 15. These are retrospective conjunctions of saved answers, not measured performance of a deployed routed pipeline.</a:t>
            </a:r>
          </a:p>
          <a:p/>
          <a:p>
            <a:r>
              <a:t>Evidence and reproducibility</a:t>
            </a:r>
          </a:p>
          <a:p>
            <a:r>
              <a:t>data/questions/dataset_v1.jsonl; results/kev/*/dataset_v1__*.jsonl; harness/score.py</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Correct reason counts with examples: 1, 10, 11, 14 of 16 (without examples 5, 9, 11, 15; 0.8B, 4B, 9B, 27B). Class-balanced reason accuracies: 4.2%, 43.8%, 50.0%, 75.0%. Paired McNemar tests: 0.8B 5 lost and 1 gained (p = 0.22), 4B 0 lost and 1 gained (p = 1), 9B 0 lost and 0 gained (p = 1), 27B 1 lost and 0 gained (p = 1). KEV-27B is wrong on the one multiple_drivers design and the one async_reset design, and chooses event_list for both; without examples it chose async_reset for the multiple_drivers design. event_list answers per model with examples: 7, 3, 4, 2 (without examples 0, 3, 3, 0); no test reason question has the class event_list, so each such answer is wrong. The three examples are failed development designs of the classes multiple_drivers, illegal_code, event_list; an example of a class that no test design has comes before every reason question. This is an observation on one example set; the slides do not test the cause. The instruction still supplies the known failure, so this accuracy is conditional, not an end-to-end detection score.</a:t>
            </a:r>
          </a:p>
          <a:p/>
          <a:p>
            <a:r>
              <a:t>Evidence and reproducibility</a:t>
            </a:r>
          </a:p>
          <a:p>
            <a:r>
              <a:t>data/questions/dataset_v1_fewshot3.jsonl; results/kev/dataset_v1_fewshot3_*/dataset_v1_fewshot3__*.jsonl; results/kev/*/dataset_v1__*.jsonl (experiment 1); harness/score.py; harness/compare.py</a:t>
            </a:r>
          </a:p>
          <a:p>
            <a:r>
              <a:t>All numerical results use the held-out test split unless explicitly labelled otherwise.</a:t>
            </a:r>
          </a:p>
          <a:p>
            <a:r>
              <a:t>Dataset SHA-256: 4c4d74d86c5e96e7440a7fa7716945f9212b3382ad7b6e0584e0414ca53b5f15 (experiment 2); 96814ea63d89b98af7f87c5f6d8e5fe0f35ec710c30755c9d0723fbec4ddbe2a (experiment 1, the source).</a:t>
            </a:r>
          </a:p>
          <a:p>
            <a:r>
              <a:t>Verified calculations: presentations/data/verified_metrics_fewshot3.json and compare_fewshot3.csv.</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The same linked analysis as in experiment 1, on the answers with examples: for each test reason question, the synthesis answer of the same design (its own request with examples) is matched. Failure flags within the 16-design reason subset: 16, 1, 2, 5 (without examples 0, 0, 1, 0). Correct diagnoses: 1, 10, 11, 14 (without examples 5, 9, 11, 15). Both correct: 1, 1, 2, 5 (without examples 0, 0, 1, 0). Order: 0.8B, 4B, 9B, 27B. KEV-0.8B answers “no” to the synthesis question for every one of the 123 designs, so its 16 flags carry no information. These are retrospective conjunctions of saved answers, not a deployed detection-and-diagnosis pipeline.</a:t>
            </a:r>
          </a:p>
          <a:p/>
          <a:p>
            <a:r>
              <a:t>Evidence and reproducibility</a:t>
            </a:r>
          </a:p>
          <a:p>
            <a:r>
              <a:t>data/questions/dataset_v1_fewshot3.jsonl; results/kev/dataset_v1_fewshot3_*/dataset_v1_fewshot3__*.jsonl; results/kev/*/dataset_v1__*.jsonl (experiment 1); harness/score.py; harness/compare.py</a:t>
            </a:r>
          </a:p>
          <a:p>
            <a:r>
              <a:t>All numerical results use the held-out test split unless explicitly labelled otherwise.</a:t>
            </a:r>
          </a:p>
          <a:p>
            <a:r>
              <a:t>Dataset SHA-256: 4c4d74d86c5e96e7440a7fa7716945f9212b3382ad7b6e0584e0414ca53b5f15 (experiment 2); 96814ea63d89b98af7f87c5f6d8e5fe0f35ec710c30755c9d0723fbec4ddbe2a (experiment 1, the source).</a:t>
            </a:r>
          </a:p>
          <a:p>
            <a:r>
              <a:t>Verified calculations: presentations/data/verified_metrics_fewshot3.json and compare_fewshot3.csv.</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The reference synthesis uses the supplied RTL_flow_Nangate15, NanGate 15nm typical corner at 0.8 V and 25 C, Design Compiler compile_ultra -gate_clock, a 500 MHz target, input/output delay of 10% of period, and 50 ps setup clock uncertainty. Area is the synthesis total cell area divided by 0.196608 square micrometres per NAND2_X1 gate. Power comes from the same design run and PrimeTime total dynamic plus leakage power using its supplied power testbench. The model receives that testbench. Power is only included when the run is successful and switching annotation is at least 95%. In the held-out test 85 of 92 performance requests have a power label; the other seven are excluded, not model errors. Levels use lower-inclusive upper-exclusive ranges, except the first and last open-ended bins.</a:t>
            </a:r>
          </a:p>
          <a:p/>
          <a:p>
            <a:r>
              <a:t>Evidence and reproducibility</a:t>
            </a:r>
          </a:p>
          <a:p>
            <a:r>
              <a:t>harness/build.py: AREA_EDGES_GE, POWER_EDGES_UW and build_dataset_v1; notes/DATASET.md; notes/README.md</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Worst slack is the smallest timing margin reported after synthesis at the fixed 500 MHz target. Positive slack means the netlist meets that target. Reachable frequency is the harness formula 1000/(period_ns-slack_ns) MHz, converted here to GHz, from that same netlist. It is not measured silicon frequency, post-route timing or the result of resynthesizing at the inferred faster target. The example mac_int8 has 1437.97 ps of slack, converted to 1.43797 ns: 1/(2-1.43797)=1.779 GHz. A unit conversion bug in the supplied summary.sh is corrected by the harness. Held-out slack truths contain levels 2,3,4,5 only; reachable frequency truths contain levels 1,2,3,4 only. Thus no negative-slack or ≥4 GHz true examples occur.</a:t>
            </a:r>
          </a:p>
          <a:p/>
          <a:p>
            <a:r>
              <a:t>Evidence and reproducibility</a:t>
            </a:r>
          </a:p>
          <a:p>
            <a:r>
              <a:t>notes/DATASET.md; harness/build.py: SLACK_EDGES_NS, REACH_EDGES_MHZ and build_dataset_v1; flow/RTL_flow_Nangate15/summary.sh</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Exact area hits: 33,33,53,61 of 92. Within-one hits: 61,65,83,92. The dashed constant-answer reference is always area level 1, correct for 33/92 test examples. It is descriptive and computed from test labels, not an independently run or development-selected model. Even a within-one prediction can imply a large area difference because the bins have decade-wide boundaries. No physical relative error or post-layout area is reported.</a:t>
            </a:r>
          </a:p>
          <a:p/>
          <a:p>
            <a:r>
              <a:t>Evidence and reproducibility</a:t>
            </a:r>
          </a:p>
          <a:p>
            <a:r>
              <a:t>data/questions/dataset_v1.jsonl; results/kev/*/dataset_v1__*.jsonl; harness/score.py</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Exact hits of 92, without examples to with examples, with the paired McNemar test: 0.8B 33 to 2 (p &lt; 0.001); 4B 33 to 46 (p = 0.098); 9B 53 to 50 (p = 0.76); 27B 61 to 48 (p = 0.029). Within-one hits with examples: 11, 86, 85, 92 (without examples 61, 65, 83, 92). True level counts 1 to 5: 33, 28, 20, 9, 2. Chosen level counts with examples: 0.8B 0, 0, 0, 0, 92; 4B 13, 55, 2, 21, 1; 9B 16, 41, 10, 21, 4; 27B 40, 34, 15, 1, 2 (KEV-27B without examples: 21, 45, 20, 5, 1). The examples of this question: 71.5 GE (level 1)  •  1,323.3 GE (level 3)  •  519,474.0 GE (level 5). The bins cover decades of gate equivalents, so one level is not a fixed physical error.</a:t>
            </a:r>
          </a:p>
          <a:p/>
          <a:p>
            <a:r>
              <a:t>Evidence and reproducibility</a:t>
            </a:r>
          </a:p>
          <a:p>
            <a:r>
              <a:t>data/questions/dataset_v1_fewshot3.jsonl; results/kev/dataset_v1_fewshot3_*/dataset_v1_fewshot3__*.jsonl; results/kev/*/dataset_v1__*.jsonl (experiment 1); harness/score.py; harness/compare.py</a:t>
            </a:r>
          </a:p>
          <a:p>
            <a:r>
              <a:t>All numerical results use the held-out test split unless explicitly labelled otherwise.</a:t>
            </a:r>
          </a:p>
          <a:p>
            <a:r>
              <a:t>Dataset SHA-256: 4c4d74d86c5e96e7440a7fa7716945f9212b3382ad7b6e0584e0414ca53b5f15 (experiment 2); 96814ea63d89b98af7f87c5f6d8e5fe0f35ec710c30755c9d0723fbec4ddbe2a (experiment 1, the source).</a:t>
            </a:r>
          </a:p>
          <a:p>
            <a:r>
              <a:t>Verified calculations: presentations/data/verified_metrics_fewshot3.json and compare_fewshot3.csv.</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Exact power hits: 23,39,34,9 of 85. Within-one hits: 70,78,79,55. True level counts 1–5: 23,37,18,7,0. KEV-27B chosen-level counts: 0,0,54,30,1. It therefore systematically chooses high levels on this test distribution. This is an observed tendency, not evidence of an identified root cause. Power depends on both the synthesized design and stimulus; it is not a general intrinsic cost of the RTL. The constant-answer level-2 reference is computed from test labels.</a:t>
            </a:r>
          </a:p>
          <a:p/>
          <a:p>
            <a:r>
              <a:t>Evidence and reproducibility</a:t>
            </a:r>
          </a:p>
          <a:p>
            <a:r>
              <a:t>data/questions/dataset_v1.jsonl; results/kev/*/dataset_v1__*.jsonl; harness/score.py</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Exact hits of 85, without examples to with examples, with the paired McNemar test: 0.8B 23 to 0 (p &lt; 0.001); 4B 39 to 34 (p = 0.38); 9B 34 to 24 (p = 0.12); 27B 9 to 36 (p &lt; 0.001). Within-one hits with examples: 7, 75, 59, 74 (without examples 70, 78, 79, 55). True level counts 1 to 5: 23, 37, 18, 7, 0. Chosen level counts with examples: 0.8B 0, 0, 0, 0, 85; 4B 0, 49, 11, 22, 3; 9B 1, 34, 5, 40, 5; 27B 0, 41, 25, 13, 6 (KEV-27B without examples: 0, 0, 54, 30, 1). The examples of this question: 12.48 µW (level 2)  •  300.8 µW (level 3)  •  26.2 mW (level 5). Power depends on the synthesized design and on the stimulus of its testbench.</a:t>
            </a:r>
          </a:p>
          <a:p/>
          <a:p>
            <a:r>
              <a:t>Evidence and reproducibility</a:t>
            </a:r>
          </a:p>
          <a:p>
            <a:r>
              <a:t>data/questions/dataset_v1_fewshot3.jsonl; results/kev/dataset_v1_fewshot3_*/dataset_v1_fewshot3__*.jsonl; results/kev/*/dataset_v1__*.jsonl (experiment 1); harness/score.py; harness/compare.py</a:t>
            </a:r>
          </a:p>
          <a:p>
            <a:r>
              <a:t>All numerical results use the held-out test split unless explicitly labelled otherwise.</a:t>
            </a:r>
          </a:p>
          <a:p>
            <a:r>
              <a:t>Dataset SHA-256: 4c4d74d86c5e96e7440a7fa7716945f9212b3382ad7b6e0584e0414ca53b5f15 (experiment 2); 96814ea63d89b98af7f87c5f6d8e5fe0f35ec710c30755c9d0723fbec4ddbe2a (experiment 1, the source).</a:t>
            </a:r>
          </a:p>
          <a:p>
            <a:r>
              <a:t>Verified calculations: presentations/data/verified_metrics_fewshot3.json and compare_fewshot3.csv.</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Reachable frequency exact hits are 13,11,13,13 of 92. Slack exact hits are 8,4,3,30 of 92. True frequency level 4 is most common with 45/92 and true slack level 5 with 63/92. These are explicitly specified constant-answer references calculated from the test labels, not learned predictive baselines. No negative-slack cases are present, so the benchmark cannot evaluate missed timing violations. Level accuracy is not a timing estimation error in picoseconds or MHz.</a:t>
            </a:r>
          </a:p>
          <a:p/>
          <a:p>
            <a:r>
              <a:t>Evidence and reproducibility</a:t>
            </a:r>
          </a:p>
          <a:p>
            <a:r>
              <a:t>data/questions/dataset_v1.jsonl; results/kev/*/dataset_v1__*.jsonl; harness/score.py</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Clock frequency. Exact hits of 92, without examples to with examples, with the paired McNemar test: 0.8B 13 to 22 (p = 0.11); 4B 11 to 21 (p = 0.064); 9B 13 to 15 (p = 0.85); 27B 13 to 36 (p &lt; 0.001). Within-one hits with examples: 57, 47, 47, 77 (without examples 29, 29, 31, 29). True level counts 1 to 5: 13, 16, 18, 45, 0. Chosen level counts with examples: 0.8B 15, 14, 0, 25, 38; 4B 9, 78, 5, 0, 0; 9B 2, 87, 3, 0, 0; 27B 29, 1, 30, 32, 0 (KEV-27B without examples: 90, 0, 0, 0, 2). The examples of this question: 612 MHz (level 1)  •  2,137 MHz (level 3)  •  3,572 MHz (level 4). Timing margin (slack). Exact hits of 92, without examples to with examples, with the paired McNemar test: 0.8B 8 to 63 (p &lt; 0.001); 4B 4 to 10 (p = 0.11); 9B 3 to 15 (p = 0.0042); 27B 30 to 60 (p &lt; 0.001). Within-one hits with examples: 79, 30, 70, 83 (without examples 28, 26, 11, 37). True level counts 1 to 5: 0, 5, 8, 16, 63. Chosen level counts with examples: 0.8B 0, 0, 0, 0, 92; 4B 0, 16, 67, 0, 9; 9B 0, 27, 0, 62, 3; 27B 8, 2, 13, 1, 68 (KEV-27B without examples: 56, 2, 0, 2, 32). The examples of this question: +0.365 ns (level 2)  •  +0.962 ns (level 3)  •  +1.532 ns (level 5). No negative-slack design occurs, so missed timing violations are not tested. Level accuracy is not a timing error in picoseconds or MHz.</a:t>
            </a:r>
          </a:p>
          <a:p/>
          <a:p>
            <a:r>
              <a:t>Evidence and reproducibility</a:t>
            </a:r>
          </a:p>
          <a:p>
            <a:r>
              <a:t>data/questions/dataset_v1_fewshot3.jsonl; results/kev/dataset_v1_fewshot3_*/dataset_v1_fewshot3__*.jsonl; results/kev/*/dataset_v1__*.jsonl (experiment 1); harness/score.py; harness/compare.py</a:t>
            </a:r>
          </a:p>
          <a:p>
            <a:r>
              <a:t>All numerical results use the held-out test split unless explicitly labelled otherwise.</a:t>
            </a:r>
          </a:p>
          <a:p>
            <a:r>
              <a:t>Dataset SHA-256: 4c4d74d86c5e96e7440a7fa7716945f9212b3382ad7b6e0584e0414ca53b5f15 (experiment 2); 96814ea63d89b98af7f87c5f6d8e5fe0f35ec710c30755c9d0723fbec4ddbe2a (experiment 1, the source).</a:t>
            </a:r>
          </a:p>
          <a:p>
            <a:r>
              <a:t>Verified calculations: presentations/data/verified_metrics_fewshot3.json and compare_fewshot3.csv.</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These are the complete true-label and chosen-label distributions for KEV-27B test performance responses. Frequency truths 13,16,18,45,0 and predictions 90,0,0,0,2. Power truths 23,37,18,7,0 and predictions 0,0,54,30,1. Each chart uses the same 0–100-design vertical scale; the two denominators are different and labelled. There is no omission or zoom. Counts at zero are printed as zero rather than represented by a nonzero bar. These distributions establish bias in chosen levels, not its cause.</a:t>
            </a:r>
          </a:p>
          <a:p/>
          <a:p>
            <a:r>
              <a:t>Evidence and reproducibility</a:t>
            </a:r>
          </a:p>
          <a:p>
            <a:r>
              <a:t>data/questions/dataset_v1.jsonl; results/kev/*/dataset_v1__*.jsonl; harness/score.py</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KEV-27B with examples. Frequency truths 13, 16, 18, 45, 0; chosen 29, 1, 30, 32, 0 (without examples 90, 0, 0, 0, 2). Power truths 23, 37, 18, 7, 0; chosen 0, 41, 25, 13, 6 (without examples 0, 0, 54, 30, 1). “Closer” means a smaller sum over the five levels of |chosen count − true count|: frequency 56 with examples against 158 without; power 46 against 120. Equal counts do not mean correct answers: a design can get a level of the right count but the wrong design. The exact-level scores are on the previous slides. The examples of the frequency question: 612 MHz (level 1)  •  2,137 MHz (level 3)  •  3,572 MHz (level 4); of the power question: 12.48 µW (level 2)  •  300.8 µW (level 3)  •  26.2 mW (level 5). Same 0 to 100 vertical scale as the experiment 1 slide.</a:t>
            </a:r>
          </a:p>
          <a:p/>
          <a:p>
            <a:r>
              <a:t>Evidence and reproducibility</a:t>
            </a:r>
          </a:p>
          <a:p>
            <a:r>
              <a:t>data/questions/dataset_v1_fewshot3.jsonl; results/kev/dataset_v1_fewshot3_*/dataset_v1_fewshot3__*.jsonl; results/kev/*/dataset_v1__*.jsonl (experiment 1); harness/score.py; harness/compare.py</a:t>
            </a:r>
          </a:p>
          <a:p>
            <a:r>
              <a:t>All numerical results use the held-out test split unless explicitly labelled otherwise.</a:t>
            </a:r>
          </a:p>
          <a:p>
            <a:r>
              <a:t>Dataset SHA-256: 4c4d74d86c5e96e7440a7fa7716945f9212b3382ad7b6e0584e0414ca53b5f15 (experiment 2); 96814ea63d89b98af7f87c5f6d8e5fe0f35ec710c30755c9d0723fbec4ddbe2a (experiment 1, the source).</a:t>
            </a:r>
          </a:p>
          <a:p>
            <a:r>
              <a:t>Verified calculations: presentations/data/verified_metrics_fewshot3.json and compare_fewshot3.csv.</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Pair inputs are old REvolution candidates of the same problem. Both runs must have usable power and at least 95% annotation, the same power testbench, and positive values for compared metrics. A question is retained for a metric if max/min is at least 1.1, so there are no ties. Twenty-five distinct pairs occur in the held-out split and 31 across both splits. The metric subsets overlap; do not sum 23+22+6 as distinct pairs. Each retained pair is sent as AB and BA. A/B labels are therefore balanced. No energy-per-operation pair question is implemented in dataset v1, despite its presence in an older planning note.</a:t>
            </a:r>
          </a:p>
          <a:p/>
          <a:p>
            <a:r>
              <a:t>Evidence and reproducibility</a:t>
            </a:r>
          </a:p>
          <a:p>
            <a:r>
              <a:t>harness/build.py: V1_PAIR_QUESTIONS and build_dataset_v1; data/questions/dataset_v1.jsonl; notes/DATASET.md</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The full pair accuracy values are taken from the official local harness scorer. Per-view hits: area 22,35,40,36 of 46; power 28,25,29,31 of 44; frequency 8,10,9,10 of 12. The dashed 50% reference is always choosing A or always choosing B because both orders are included. This is not independent random sampling: the two orders share designs, and different pairs can share candidates of a problem. No significance test is claimed, and different per-task maxima belong to different models. All percentage axes are 0–100%.</a:t>
            </a:r>
          </a:p>
          <a:p/>
          <a:p>
            <a:r>
              <a:t>Evidence and reproducibility</a:t>
            </a:r>
          </a:p>
          <a:p>
            <a:r>
              <a:t>data/questions/dataset_v1.jsonl; results/kev/*/dataset_v1__*.jsonl; harness/score.py</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Both-order correct counts are derived from matching AB/BA answers and requiring each to equal its label. Area:5,13,19,17 of23; power:6,3,9,14 of22; frequency:3,4,4,5 of6. Same-letter-both-orders is the saved scorer positional inconsistency measure; power counts are16,19,11,3 of22. A consistent switched-letter answer can still choose the wrong design in both orders, so consistency alone does not prove correctness. The both-orders criterion is therefore shown separately from the per-view accuracy. It is a stricter descriptive summary, not a new experiment.</a:t>
            </a:r>
          </a:p>
          <a:p/>
          <a:p>
            <a:r>
              <a:t>Evidence and reproducibility</a:t>
            </a:r>
          </a:p>
          <a:p>
            <a:r>
              <a:t>data/questions/dataset_v1.jsonl; results/kev/*/dataset_v1__*.jsonl; harness/score.py</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Per-view hits with examples, and without examples in brackets (0.8B, 4B, 9B, 27B): area 23, 31, 35, 41 of 46 (22, 35, 40, 36); power 24, 28, 31, 35 of 44 (28, 25, 29, 31); frequency 6, 6, 9, 11 of 12 (8, 10, 9, 10). Paired McNemar tests, KEV-27B: area p = 0.062, power p = 0.12, frequency p = 1; 27B leads each pair test with the highest count, but no change of 27B against experiment 1 has p &lt; 0.05. Letters chosen with examples: 0.8B area 46 A, power 6 A and 38 B, frequency 12 B; 4B area 12 A and 34 B, power 10 A and 34 B, frequency 12 B; 9B area 30 A and 16 B, power 29 A and 15 B, frequency 5 A and 7 B; 27B area 22 A and 24 B, power 23 A and 21 B, frequency 7 A and 5 B. A model that always gives one letter scores exactly 50%, because both orders are included. The pair questions show the three examples of their metric with the exact values only (no levels, no solved pair).</a:t>
            </a:r>
          </a:p>
          <a:p/>
          <a:p>
            <a:r>
              <a:t>Evidence and reproducibility</a:t>
            </a:r>
          </a:p>
          <a:p>
            <a:r>
              <a:t>data/questions/dataset_v1_fewshot3.jsonl; results/kev/dataset_v1_fewshot3_*/dataset_v1_fewshot3__*.jsonl; results/kev/*/dataset_v1__*.jsonl (experiment 1); harness/score.py; harness/compare.py</a:t>
            </a:r>
          </a:p>
          <a:p>
            <a:r>
              <a:t>All numerical results use the held-out test split unless explicitly labelled otherwise.</a:t>
            </a:r>
          </a:p>
          <a:p>
            <a:r>
              <a:t>Dataset SHA-256: 4c4d74d86c5e96e7440a7fa7716945f9212b3382ad7b6e0584e0414ca53b5f15 (experiment 2); 96814ea63d89b98af7f87c5f6d8e5fe0f35ec710c30755c9d0723fbec4ddbe2a (experiment 1, the source).</a:t>
            </a:r>
          </a:p>
          <a:p>
            <a:r>
              <a:t>Verified calculations: presentations/data/verified_metrics_fewshot3.json and compare_fewshot3.csv.</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Both-order correct counts with examples (without examples in brackets), 0.8B, 4B, 9B, 27B: area 0, 10, 12, 20 of 23 (5, 13, 19, 17); power 3, 8, 11, 17 of 22 (6, 3, 9, 14); frequency 0, 0, 4, 5 of 6 (3, 4, 4, 5). Same letter in both orders, power: 18, 12, 9, 1 of 22 (without examples 16, 19, 11, 3). With two opposite correct letters, a pair with the same letter in both orders has exactly one correct view. A consistent letter swap can still choose the wrong design in both orders, so consistency alone does not prove correctness.</a:t>
            </a:r>
          </a:p>
          <a:p/>
          <a:p>
            <a:r>
              <a:t>Evidence and reproducibility</a:t>
            </a:r>
          </a:p>
          <a:p>
            <a:r>
              <a:t>data/questions/dataset_v1_fewshot3.jsonl; results/kev/dataset_v1_fewshot3_*/dataset_v1_fewshot3__*.jsonl; results/kev/*/dataset_v1__*.jsonl (experiment 1); harness/score.py; harness/compare.py</a:t>
            </a:r>
          </a:p>
          <a:p>
            <a:r>
              <a:t>All numerical results use the held-out test split unless explicitly labelled otherwise.</a:t>
            </a:r>
          </a:p>
          <a:p>
            <a:r>
              <a:t>Dataset SHA-256: 4c4d74d86c5e96e7440a7fa7716945f9212b3382ad7b6e0584e0414ca53b5f15 (experiment 2); 96814ea63d89b98af7f87c5f6d8e5fe0f35ec710c30755c9d0723fbec4ddbe2a (experiment 1, the source).</a:t>
            </a:r>
          </a:p>
          <a:p>
            <a:r>
              <a:t>Verified calculations: presentations/data/verified_metrics_fewshot3.json and compare_fewshot3.csv.</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Condor job IDs4.0,5.0,6.0,7.0 completed with return code0. Job execution seconds are125,187,204,400; this includes setup/smoke/inference but excludes idle queue wait. Median server-reported model times are109.05,201.35,243.7,668.3ms. These medians include all348 dataset requests, development plus test, but exclude the separate smoke file. GPU0.8B: euler RTX3080Ti; larger models: aristoteles A100-SXM4-80GB. Sum of client wall times over the348 requests:52.047,99.433,104.114,279.849s. Server model latency and client wall time are distinct measures. Peak sampled GPU memory is recorded for0.8B only (7036MiB); no comparable peak is available for the larger jobs. An earlier0.8B attempt3.0 failed before inference on AMD and was corrected by requiring CUDA. No dollar-cost estimate is measured.</a:t>
            </a:r>
          </a:p>
          <a:p/>
          <a:p>
            <a:r>
              <a:t>Evidence and reproducibility</a:t>
            </a:r>
          </a:p>
          <a:p>
            <a:r>
              <a:t>results/kev/*/manifest.json; condor/logs/4.0.kev-0.8b.log; condor/logs/5.0.kev-4b.log; condor/logs/6.0.kev-9b.log; condor/logs/7.0.kev-27b.log</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Condor jobs 8.0, 9.0, 10.0, 11.0 were submitted from 2026-10-16 15:39:43 to 2026-10-16 15:39:44 and completed with return code 0. KEV-0.8B: goryu, NVIDIA GeForce RTX 5060 Ti, queue wait 3 s, Condor TimeExecute 276 s, median model time 179 ms (maximum 821 ms), sum of client wall times 166.5 s, peak GPU memory of the Kev server 6,668 MiB; KEV-4B: hawberry, NVIDIA GeForce RTX 3090, queue wait 2 s, Condor TimeExecute 599 s, median model time 555 ms (maximum 2159 ms), sum of client wall times 466.6 s, peak GPU memory of the Kev server 21,736 MiB; KEV-9B: euler, NVIDIA RTX PRO 5000 Blackwell, queue wait 10 min 22 s, Condor TimeExecute 418 s, median model time 301 ms (maximum 1234 ms), sum of client wall times 256.4 s, peak GPU memory of the Kev server 28,458 MiB; KEV-27B: aristoteles, NVIDIA A100-SXM4-80GB, queue wait 4 h 17 min, Condor TimeExecute 1074 s, median model time 1062 ms (maximum 4036 ms), sum of client wall times 877.5 s, peak GPU memory of the Kev server 74,418 MiB. Job time is Condor TimeExecute, as in experiment 1 (condor_execution_seconds); it includes setup, the smoke file and inference, but not the queue wait. The medians cover the 725 requests of the question file, not the smoke file. Each request is answered once, with HTTP 200 and the answer key of its question, and the input tokens reported by the server equal the builder counts for all 725 requests (checked by the analysis). Every model used the same v1.0 checkpoint revision as in experiment 1. The requests above 8,192 tokens are metrex_19218:area, metrex_19218:power, metrex_19218:slack; Kev-27B is validated to 65,536 tokens. No dollar cost is measured.</a:t>
            </a:r>
          </a:p>
          <a:p/>
          <a:p>
            <a:r>
              <a:t>Evidence and reproducibility</a:t>
            </a:r>
          </a:p>
          <a:p>
            <a:r>
              <a:t>results/kev/dataset_v1_fewshot3_*/manifest.json; condor/logs/8.0.kev-0.8b.log; condor/logs/9.0.kev-4b.log; condor/logs/10.0.kev-9b.log; condor/logs/11.0.kev-27b.log</a:t>
            </a:r>
          </a:p>
          <a:p>
            <a:r>
              <a:t>All numerical results use the held-out test split unless explicitly labelled otherwise.</a:t>
            </a:r>
          </a:p>
          <a:p>
            <a:r>
              <a:t>Dataset SHA-256: 4c4d74d86c5e96e7440a7fa7716945f9212b3382ad7b6e0584e0414ca53b5f15 (experiment 2); 96814ea63d89b98af7f87c5f6d8e5fe0f35ec710c30755c9d0723fbec4ddbe2a (experiment 1, the source).</a:t>
            </a:r>
          </a:p>
          <a:p>
            <a:r>
              <a:t>Verified calculations: presentations/data/verified_metrics_fewshot3.json and compare_fewshot3.csv.</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This slide distinguishes measured strengths from proposed follow-up work. The test-set probabilities suggest that the fixed0.5 threshold may hide some ranking signal, but any alternative threshold must be selected on development only, frozen and assessed on new held-out data rather than optimised on this test. Expanded failure cases should include compiler-accepted synthesis failures. The current test has no negative-slack cases, no level5 power examples, and no level5 reachable-frequency examples. No confidence interval or paired significance test is claimed here. Jev, base Qwen, commercial LLMs, renamed/comment controls, energy per operation and post-route or measured-silicon validation have no results in this completed evaluation.</a:t>
            </a:r>
          </a:p>
          <a:p/>
          <a:p>
            <a:r>
              <a:t>Evidence and reproducibility</a:t>
            </a:r>
          </a:p>
          <a:p>
            <a:r>
              <a:t>data/questions/dataset_v1.jsonl; results/kev/*/dataset_v1__*.jsonl; harness/score.py</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This slide separates measured results of experiment 2 from proposed follow-up work. Experiment 2 uses one fixed set of three examples per question key. Measured with examples, KEV-27B: synthesis failures detected 4 to 12 of 24 (p = 0.0078 within the failures); exact power levels 9 to 36 of 85 (p &lt; 0.001); area pairs right in both orders 17 to 20 of 23. Not better: KEV-27B exact area levels 61 to 48 of 92 (p = 0.029); KEV-27B answers “does not compile” for 6 of the 114 designs that compile (p = 0.031); KEV-0.8B gives one answer to every design in 6 of 10 question keys. The yes/no examples hold one “yes” and two “no” designs (MV’s setup); the effect of this mix is not measured here. event_list is the class of one reason example and of no test design. Any threshold or example-set choice must use development data, not these test labels.</a:t>
            </a:r>
          </a:p>
          <a:p/>
          <a:p>
            <a:r>
              <a:t>Evidence and reproducibility</a:t>
            </a:r>
          </a:p>
          <a:p>
            <a:r>
              <a:t>data/questions/dataset_v1_fewshot3.jsonl; results/kev/dataset_v1_fewshot3_*/dataset_v1_fewshot3__*.jsonl; results/kev/*/dataset_v1__*.jsonl (experiment 1); harness/score.py; harness/compare.py</a:t>
            </a:r>
          </a:p>
          <a:p>
            <a:r>
              <a:t>All numerical results use the held-out test split unless explicitly labelled otherwise.</a:t>
            </a:r>
          </a:p>
          <a:p>
            <a:r>
              <a:t>Dataset SHA-256: 4c4d74d86c5e96e7440a7fa7716945f9212b3382ad7b6e0584e0414ca53b5f15 (experiment 2); 96814ea63d89b98af7f87c5f6d8e5fe0f35ec710c30755c9d0723fbec4ddbe2a (experiment 1, the source).</a:t>
            </a:r>
          </a:p>
          <a:p>
            <a:r>
              <a:t>Verified calculations: presentations/data/verified_metrics_fewshot3.json and compare_fewshot3.csv.</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Appendix for review and reproduction. The following tables retain all primary question metrics, the class splits, reason coverage, probability metrics, expected-level error and pair-order checks. There is no single overall cross-task accuracy because tasks have different meanings, supports and class distributions.</a:t>
            </a:r>
          </a:p>
          <a:p/>
          <a:p>
            <a:r>
              <a:t>Evidence and reproducibility</a:t>
            </a:r>
          </a:p>
          <a:p>
            <a:r>
              <a:t>data/questions/dataset_v1.jsonl; results/kev/*/dataset_v1__*.jsonl; harness/score.py</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This is the complete primary accuracy table from the saved scorer, reproduced from raw answers. The KEV model size is indicated by the four numeric columns; all are KEV v1.0. Yes/no scores use threshold0.5. Reason accuracy is conditional on the prompt supplying failure. Area/power/frequency/slack require exact ordinal level. Pair scores count both presentation orders as separate views; area46views, power44views, frequency12views. No row is a general combined model score. For probability, class and level-error metrics see later appendix slides.</a:t>
            </a:r>
          </a:p>
          <a:p/>
          <a:p>
            <a:r>
              <a:t>Evidence and reproducibility</a:t>
            </a:r>
          </a:p>
          <a:p>
            <a:r>
              <a:t>data/questions/dataset_v1.jsonl; results/kev/*/dataset_v1__*.jsonl; harness/score.py</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The complete primary accuracy table of experiment 2 from the saved scorer, reproduced from the raw answers. The same questions and the same scoring rules as the experiment 1 table on the previous slide. Yes/no scores use the threshold 0.5. Reason accuracy is conditional on the prompt supplying the failure. Area, power, frequency and slack require the exact level. Pair scores count both presentation orders as separate views. The next slide gives the paired test of each change against experiment 1.</a:t>
            </a:r>
          </a:p>
          <a:p/>
          <a:p>
            <a:r>
              <a:t>Evidence and reproducibility</a:t>
            </a:r>
          </a:p>
          <a:p>
            <a:r>
              <a:t>data/questions/dataset_v1_fewshot3.jsonl; results/kev/dataset_v1_fewshot3_*/dataset_v1_fewshot3__*.jsonl; results/kev/*/dataset_v1__*.jsonl (experiment 1); harness/score.py; harness/compare.py</a:t>
            </a:r>
          </a:p>
          <a:p>
            <a:r>
              <a:t>All numerical results use the held-out test split unless explicitly labelled otherwise.</a:t>
            </a:r>
          </a:p>
          <a:p>
            <a:r>
              <a:t>Dataset SHA-256: 4c4d74d86c5e96e7440a7fa7716945f9212b3382ad7b6e0584e0414ca53b5f15 (experiment 2); 96814ea63d89b98af7f87c5f6d8e5fe0f35ec710c30755c9d0723fbec4ddbe2a (experiment 1, the source).</a:t>
            </a:r>
          </a:p>
          <a:p>
            <a:r>
              <a:t>Verified calculations: presentations/data/verified_metrics_fewshot3.json and compare_fewshot3.csv.</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For each model and question key, the questions are matched one to one (the question ID of experiment 1 is in the field source_question_id of experiment 2). b = questions correct only without examples, c = questions correct only with examples; the exact two-sided McNemar p value is the binomial test of b against b + c with probability 0.5 (the rule of harness/compare.py; the analysis recomputes it and checks it against each compare_with_dataset_v1.json). p &lt; 0.05: 0.8B synthesizes, 0.8B area level, 0.8B power level, 0.8B slack level, 9B slack level, 27B area level, 27B power level, 27B frequency level, 27B slack level. The KEV-0.8B changes with p &lt; 0.05 come with one answer for every design (synthesis “no”, area, power and slack level 5). The test counts changed answers only; it says nothing about the reason for a change. No correction for the 40 tests is applied.</a:t>
            </a:r>
          </a:p>
          <a:p/>
          <a:p>
            <a:r>
              <a:t>Evidence and reproducibility</a:t>
            </a:r>
          </a:p>
          <a:p>
            <a:r>
              <a:t>data/questions/dataset_v1_fewshot3.jsonl; results/kev/dataset_v1_fewshot3_*/dataset_v1_fewshot3__*.jsonl; results/kev/*/dataset_v1__*.jsonl (experiment 1); harness/score.py; harness/compare.py</a:t>
            </a:r>
          </a:p>
          <a:p>
            <a:r>
              <a:t>All numerical results use the held-out test split unless explicitly labelled otherwise.</a:t>
            </a:r>
          </a:p>
          <a:p>
            <a:r>
              <a:t>Dataset SHA-256: 4c4d74d86c5e96e7440a7fa7716945f9212b3382ad7b6e0584e0414ca53b5f15 (experiment 2); 96814ea63d89b98af7f87c5f6d8e5fe0f35ec710c30755c9d0723fbec4ddbe2a (experiment 1, the source).</a:t>
            </a:r>
          </a:p>
          <a:p>
            <a:r>
              <a:t>Verified calculations: presentations/data/verified_metrics_fewshot3.json and compare_fewshot3.csv.</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The rows show all four binary confusion-matrix supports with correct counts. Wrong counts are n minus correct. Compilation supports114pass/9fail; synthesis99pass/24fail. The “all designs” rows are plain accuracy: the correct answers of both groups divided by 123, the score on the result slides. KEV0.8B synthesis always predicts yes. KEV4B compilation always predicts yes. The source answers are all present and successfully scored; there is no missing-answer adjustment. The “yes” rows count the answers with a yes probability of 0.5 or more among all 123 test designs: correct answers on successes plus wrong answers on failures.</a:t>
            </a:r>
          </a:p>
          <a:p/>
          <a:p>
            <a:r>
              <a:t>Evidence and reproducibility</a:t>
            </a:r>
          </a:p>
          <a:p>
            <a:r>
              <a:t>data/questions/dataset_v1.jsonl; results/kev/*/dataset_v1__*.jsonl; harness/score.py</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The four binary confusion-matrix supports of experiment 2 with correct counts; wrong counts are n minus correct. Compilation supports 114 pass and 9 fail; synthesis 99 pass and 24 fail. KEV-0.8B answers “no” to synthesis for all 123 designs and “yes” to compilation for 1 design. The paired test of each class against experiment 1 is in the speaker notes of the slide “27B’s synthesis score rises from 82.9% to 87.8%”. The “yes” rows count the answers with a yes probability of 0.5 or more among all 123 test designs.</a:t>
            </a:r>
          </a:p>
          <a:p/>
          <a:p>
            <a:r>
              <a:t>Evidence and reproducibility</a:t>
            </a:r>
          </a:p>
          <a:p>
            <a:r>
              <a:t>data/questions/dataset_v1_fewshot3.jsonl; results/kev/dataset_v1_fewshot3_*/dataset_v1_fewshot3__*.jsonl; results/kev/*/dataset_v1__*.jsonl (experiment 1); harness/score.py; harness/compare.py</a:t>
            </a:r>
          </a:p>
          <a:p>
            <a:r>
              <a:t>All numerical results use the held-out test split unless explicitly labelled otherwise.</a:t>
            </a:r>
          </a:p>
          <a:p>
            <a:r>
              <a:t>Dataset SHA-256: 4c4d74d86c5e96e7440a7fa7716945f9212b3382ad7b6e0584e0414ca53b5f15 (experiment 2); 96814ea63d89b98af7f87c5f6d8e5fe0f35ec710c30755c9d0723fbec4ddbe2a (experiment 1, the source).</a:t>
            </a:r>
          </a:p>
          <a:p>
            <a:r>
              <a:t>Verified calculations: presentations/data/verified_metrics_fewshot3.json and compare_fewshot3.csv.</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Each dot is the saved noul answer (the yes probability) of one held-out basic request. In each model row, the upper teal dots are the designs that the tool accepts and the lower orange dots are the designs that the tool rejects. The small vertical spread in each lane comes from a fixed hash of the question ID and only reduces overlap; it carries no data. A probability of 0.5 or more counts as “yes”, as in the saved scorer. “Yes” answers of 123, synthesis: 123, 122, 119, 118; compilation: 4, 123, 121, 115 (0.8B, 4B, 9B, 27B). KEV-0.8B gives every design a compile probability between 0.30 and 0.53 and a synthesis probability between 0.52 and 0.74, for successes and failures alike (AUROC 0.563 and 0.490; 0.5 is chance). KEV-27B compile probabilities: successes 0.56 to 0.99, failures 0.24 to 0.68 (AUROC 0.994). KEV-27B synthesis probabilities: the 9 failures that also fail vlog rank below the successes (AUROC 0.982), but only 4 fall below 0.5; the 15 failures that pass vlog get 0.60 to 0.95 (AUROC 0.713). The Kev README names no RTL training data. A search of the Kev suites (evals/) for Verilog terms finds only the C++ logging macro VLOG and the word “vlog” in a text about videos. Kev-27B also trained on C++ code-review questions (devtools-v1) and starts from a post-trained Qwen model whose training data is not published.</a:t>
            </a:r>
          </a:p>
          <a:p/>
          <a:p>
            <a:r>
              <a:t>Evidence and reproducibility</a:t>
            </a:r>
          </a:p>
          <a:p>
            <a:r>
              <a:t>results/kev/*/dataset_v1__*.jsonl; presentations/src/analyse_kev.py; github.com/jaredpalmer/kev README and evals/ (commit 5e42a7a)</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The same dot plot as the experiment 1 slide before, with the answers of experiment 2. Each dot is the saved noul answer (the yes probability) of one held-out design; upper teal dots: the tool accepts the design, lower orange dots: the tool rejects it. The small vertical spread comes from a fixed hash of the question ID and carries no data. “Yes” answers of 123, synthesis: 0, 120, 118, 108; compilation: 1, 119, 117, 108 (0.8B, 4B, 9B, 27B). KEV-0.8B probabilities: compilation 0.21 to 0.50, synthesis 0.14 to 0.49 (AUROC 0.577 and 0.566; 0.5 is chance). KEV-27B synthesis: 12 of 24 failures fall below 0.5, exactly half, so this answer set is not right for most failures. The 9 failures that also fail vlog: 8 below 0.5 (AUROC against the successes 0.980); the 15 failures that pass vlog: 4 below 0.5, probabilities 0.20 to 0.87 (AUROC 0.881).</a:t>
            </a:r>
          </a:p>
          <a:p/>
          <a:p>
            <a:r>
              <a:t>Evidence and reproducibility</a:t>
            </a:r>
          </a:p>
          <a:p>
            <a:r>
              <a:t>data/questions/dataset_v1_fewshot3.jsonl; results/kev/dataset_v1_fewshot3_*/dataset_v1_fewshot3__*.jsonl; results/kev/*/dataset_v1__*.jsonl (experiment 1); harness/score.py; harness/compare.py; presentations/src/analyse_kev.py</a:t>
            </a:r>
          </a:p>
          <a:p>
            <a:r>
              <a:t>All numerical results use the held-out test split unless explicitly labelled otherwise.</a:t>
            </a:r>
          </a:p>
          <a:p>
            <a:r>
              <a:t>Dataset SHA-256: 4c4d74d86c5e96e7440a7fa7716945f9212b3382ad7b6e0584e0414ca53b5f15 (experiment 2); 96814ea63d89b98af7f87c5f6d8e5fe0f35ec710c30755c9d0723fbec4ddbe2a (experiment 1, the source).</a:t>
            </a:r>
          </a:p>
          <a:p>
            <a:r>
              <a:t>Verified calculations: presentations/data/verified_metrics_fewshot3.json and compare_fewshot3.csv.</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The eight observed reason classes and supports are drawn from the test input. They total16. The offered option list has10classes, so event_list and unbounded_loop have zero true cases and are excluded from the saved scorer balanced accuracy. Correct class counts for every model are recomputed. KEV27B sole mistake is multiple_drivers→async_reset. Five simulation-only examples and three timing-control examples give those classes more influence in pooled accuracy than one-case classes. Balanced accuracy instead weights the eight observed class recalls equally. Do not interpret this as broad10-class validation.</a:t>
            </a:r>
          </a:p>
          <a:p/>
          <a:p>
            <a:r>
              <a:t>Evidence and reproducibility</a:t>
            </a:r>
          </a:p>
          <a:p>
            <a:r>
              <a:t>notes/synth_reason.md; data/questions/dataset_v1.jsonl; presentations/data/verified_metrics.json</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The eight observed reason classes and their supports are the same as in experiment 1 (16 test designs). The scorer’s balanced accuracy weights the eight observed class recalls equally. Wrong answers with examples, per model (true class: chosen class and count): 0.8B: multiple_drivers → async_reset ×1, illegal_code → async_reset ×1, unsupported_construct → event_list ×1, timing_control → event_list ×2, simulation_statement → async_reset ×3, event_list ×1, multiple_drivers ×1, async_reset → multiple_drivers ×1, mixed_assignments → event_list ×2, instance_mismatch → multiple_drivers ×1, event_list ×1; 4B: multiple_drivers → event_list ×1, illegal_code → unbounded_loop ×1, async_reset → event_list ×1, mixed_assignments → event_list ×1, async_reset ×1, instance_mismatch → multiple_drivers ×1; 9B: multiple_drivers → event_list ×1, illegal_code → unbounded_loop ×1, async_reset → event_list ×1, mixed_assignments → event_list ×2; 27B: multiple_drivers → event_list ×1, async_reset → event_list ×1. event_list answers per model: 7, 3, 4, 2 with examples, 0, 3, 3, 0 without. Do not read this as a broad ten-class validation.</a:t>
            </a:r>
          </a:p>
          <a:p/>
          <a:p>
            <a:r>
              <a:t>Evidence and reproducibility</a:t>
            </a:r>
          </a:p>
          <a:p>
            <a:r>
              <a:t>data/questions/dataset_v1_fewshot3.jsonl; results/kev/dataset_v1_fewshot3_*/dataset_v1_fewshot3__*.jsonl; results/kev/*/dataset_v1__*.jsonl (experiment 1); harness/score.py; harness/compare.py; notes/synth_reason.md</a:t>
            </a:r>
          </a:p>
          <a:p>
            <a:r>
              <a:t>All numerical results use the held-out test split unless explicitly labelled otherwise.</a:t>
            </a:r>
          </a:p>
          <a:p>
            <a:r>
              <a:t>Dataset SHA-256: 4c4d74d86c5e96e7440a7fa7716945f9212b3382ad7b6e0584e0414ca53b5f15 (experiment 2); 96814ea63d89b98af7f87c5f6d8e5fe0f35ec710c30755c9d0723fbec4ddbe2a (experiment 1, the source).</a:t>
            </a:r>
          </a:p>
          <a:p>
            <a:r>
              <a:t>Verified calculations: presentations/data/verified_metrics_fewshot3.json and compare_fewshot3.csv.</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AUROC is the probability that a randomly chosen actual success has a higher predicted yes probability than a randomly chosen actual failure, counting ties as half. It ranges0–1;0.5 corresponds to chance ordering. It is independent of the chosen decision threshold and is not failure recall. Brier score is mean((p_yes-y)^2),0–1with lower better. It measures probability error, not calibration alone. These metrics use all123binary test designs. Synthesis AUROC improves to0.814for27B although its thresholded failure recall is16.7%. Any threshold tuning must use the development split, not these test labels. No recalibrated or alternative-threshold result has been run.</a:t>
            </a:r>
          </a:p>
          <a:p/>
          <a:p>
            <a:r>
              <a:t>Evidence and reproducibility</a:t>
            </a:r>
          </a:p>
          <a:p>
            <a:r>
              <a:t>data/questions/dataset_v1.jsonl; results/kev/*/dataset_v1__*.jsonl; harness/score.py</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The same metrics as in experiment 1, on the answers with examples (all 123 binary test designs). Without examples, in the order 0.8B, 4B, 9B, 27B: compilation AUROC 0.563, 0.763, 0.692, 0.994, Brier 0.334, 0.064, 0.066, 0.030; synthesis AUROC 0.490, 0.714, 0.740, 0.814, Brier 0.187, 0.148, 0.144, 0.128. KEV-27B synthesis AUROC 0.814 to 0.918, with failure recall at 0.5 of 16.7% to 50.0%. AUROC does not depend on the threshold. Any threshold tuning must use the development split, not these test labels.</a:t>
            </a:r>
          </a:p>
          <a:p/>
          <a:p>
            <a:r>
              <a:t>Evidence and reproducibility</a:t>
            </a:r>
          </a:p>
          <a:p>
            <a:r>
              <a:t>data/questions/dataset_v1_fewshot3.jsonl; results/kev/dataset_v1_fewshot3_*/dataset_v1_fewshot3__*.jsonl; results/kev/*/dataset_v1__*.jsonl (experiment 1); harness/score.py; harness/compare.py</a:t>
            </a:r>
          </a:p>
          <a:p>
            <a:r>
              <a:t>All numerical results use the held-out test split unless explicitly labelled otherwise.</a:t>
            </a:r>
          </a:p>
          <a:p>
            <a:r>
              <a:t>Dataset SHA-256: 4c4d74d86c5e96e7440a7fa7716945f9212b3382ad7b6e0584e0414ca53b5f15 (experiment 2); 96814ea63d89b98af7f87c5f6d8e5fe0f35ec710c30755c9d0723fbec4ddbe2a (experiment 1, the source).</a:t>
            </a:r>
          </a:p>
          <a:p>
            <a:r>
              <a:t>Verified calculations: presentations/data/verified_metrics_fewshot3.json and compare_fewshot3.csv.</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The saved scorer computes within_one from the argmax chosen level versus the true integer level. Mean absolute level error (mae_levels) uses the probability-weighted expected level sum(k*p_k)/sum(p_k), then averages abs(expected-true). Therefore it is not the mean absolute error of the argmax level and need not track exact accuracy monotonically. Supports:92area,85power,92reachablefrequency,92slack. Since area and power bins cover decades, ordinal error cannot be read as fixed relative or absolute physical error. All values are retained from the scorer, verified against raw responses with1e-12floating-point tolerance.</a:t>
            </a:r>
          </a:p>
          <a:p/>
          <a:p>
            <a:r>
              <a:t>Evidence and reproducibility</a:t>
            </a:r>
          </a:p>
          <a:p>
            <a:r>
              <a:t>data/questions/dataset_v1.jsonl; results/kev/*/dataset_v1__*.jsonl; harness/score.py</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The same two measures as in experiment 1, on the answers with examples. Without examples (0.8B, 4B, 9B, 27B): area within one 66.3%, 70.7%, 90.2%, 100.0%, mean level error 0.994, 0.713, 0.649, 0.485; power within one 82.4%, 91.8%, 92.9%, 64.7%, mean level error 0.971, 0.754, 0.900, 1.070; frequency within one 31.5%, 31.5%, 33.7%, 31.5%, mean level error 1.119, 1.321, 1.208, 1.242; slack within one 30.4%, 28.3%, 12.0%, 40.2%, mean level error 1.509, 1.654, 1.742, 1.622. KEV-0.8B gives level 5 to every design for area, power and slack, so its within-one score is the share of true levels 4 and 5: area 12.0%, power 8.2%, slack 85.9%.</a:t>
            </a:r>
          </a:p>
          <a:p/>
          <a:p>
            <a:r>
              <a:t>Evidence and reproducibility</a:t>
            </a:r>
          </a:p>
          <a:p>
            <a:r>
              <a:t>data/questions/dataset_v1_fewshot3.jsonl; results/kev/dataset_v1_fewshot3_*/dataset_v1_fewshot3__*.jsonl; results/kev/*/dataset_v1__*.jsonl (experiment 1); harness/score.py; harness/compare.py</a:t>
            </a:r>
          </a:p>
          <a:p>
            <a:r>
              <a:t>All numerical results use the held-out test split unless explicitly labelled otherwise.</a:t>
            </a:r>
          </a:p>
          <a:p>
            <a:r>
              <a:t>Dataset SHA-256: 4c4d74d86c5e96e7440a7fa7716945f9212b3382ad7b6e0584e0414ca53b5f15 (experiment 2); 96814ea63d89b98af7f87c5f6d8e5fe0f35ec710c30755c9d0723fbec4ddbe2a (experiment 1, the source).</a:t>
            </a:r>
          </a:p>
          <a:p>
            <a:r>
              <a:t>Verified calculations: presentations/data/verified_metrics_fewshot3.json and compare_fewshot3.csv.</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For an A/B pair with opposite correct labels in AB and BA, each model response falls into0,1or2correct views. Both-order counts are read from paired saved answers, not estimated from percentages. The saved same_letter_both_orders rate equals the one-correct count divided by the number of distinct pairs for this balanced binary protocol. It is not itself an accuracy measure. Questions share design candidates and problem families, so naive independence across views is inappropriate. All row triplets sum to the labelled number of pairs.</a:t>
            </a:r>
          </a:p>
          <a:p/>
          <a:p>
            <a:r>
              <a:t>Evidence and reproducibility</a:t>
            </a:r>
          </a:p>
          <a:p>
            <a:r>
              <a:t>data/questions/dataset_v1.jsonl; results/kev/*/dataset_v1__*.jsonl; harness/score.py</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The same counts as in experiment 1, on the pair answers with examples (one request per pair, order and metric). Each row triplet sums to the number of pairs (checked). Without examples (0.8B, 4B, 9B, 27B): area both 5/13/19/17, one 12/9/2/2, neither 6/1/2/4; power both 6/3/9/14, one 16/19/11/3, neither 0/0/2/5; frequency both 3/4/4/5, one 2/2/1/0, neither 1/0/1/1. A model with one letter for every view has every pair in “one order correct” (KEV-0.8B area and frequency, KEV-4B frequency).</a:t>
            </a:r>
          </a:p>
          <a:p/>
          <a:p>
            <a:r>
              <a:t>Evidence and reproducibility</a:t>
            </a:r>
          </a:p>
          <a:p>
            <a:r>
              <a:t>data/questions/dataset_v1_fewshot3.jsonl; results/kev/dataset_v1_fewshot3_*/dataset_v1_fewshot3__*.jsonl; results/kev/*/dataset_v1__*.jsonl (experiment 1); harness/score.py; harness/compare.py</a:t>
            </a:r>
          </a:p>
          <a:p>
            <a:r>
              <a:t>All numerical results use the held-out test split unless explicitly labelled otherwise.</a:t>
            </a:r>
          </a:p>
          <a:p>
            <a:r>
              <a:t>Dataset SHA-256: 4c4d74d86c5e96e7440a7fa7716945f9212b3382ad7b6e0584e0414ca53b5f15 (experiment 2); 96814ea63d89b98af7f87c5f6d8e5fe0f35ec710c30755c9d0723fbec4ddbe2a (experiment 1, the source).</a:t>
            </a:r>
          </a:p>
          <a:p>
            <a:r>
              <a:t>Verified calculations: presentations/data/verified_metrics_fewshot3.json and compare_fewshot3.csv.</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The group counts are based on retained basic design records only, not requests or pair views. All retained counts total151 and held-out counts123. The original plan159had8excludeddesigns:4mutantswithanunintendedclass,2traptwins that did not synthesize as required, and2noncompile designs whose DC class was not intended. Twelve retained performance cases across both splits have no usable power value, leaving98powerquestions overall and85test. The corpus also skips comparisons with incompatible testbenches or less than10%metric differences. Some source groups contain near variants; base_design_id grouping prevents cross-split leakage as checked in analyse_kev.py. Dataset v1 supersedes older planning sizes such as500perquestiontype. No planned result is presented as completed.</a:t>
            </a:r>
          </a:p>
          <a:p/>
          <a:p>
            <a:r>
              <a:t>Evidence and reproducibility</a:t>
            </a:r>
          </a:p>
          <a:p>
            <a:r>
              <a:t>data/questions/dataset_v1.card.md; notes/DATASET.md; harness/build.py; presentations/data/verified_metrics.json</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Full provenance:</a:t>
            </a:r>
          </a:p>
          <a:p>
            <a:r>
              <a:t>{</a:t>
            </a:r>
          </a:p>
          <a:p>
            <a:r>
              <a:t>  "kev-0.8b": {</a:t>
            </a:r>
          </a:p>
          <a:p>
            <a:r>
              <a:t>    "job": "4.0",</a:t>
            </a:r>
          </a:p>
          <a:p>
            <a:r>
              <a:t>    "revision": "bf75a6a8848ea6960ff2ed108d9ed44c2941174f",</a:t>
            </a:r>
          </a:p>
          <a:p>
            <a:r>
              <a:t>    "answers_file": "results/kev/dataset_v1_kev-0.8b_20261014/dataset_v1__kev-0.8b.jsonl",</a:t>
            </a:r>
          </a:p>
          <a:p>
            <a:r>
              <a:t>    "answers_sha256": "c2b175aacc788e57d7b3fbc042432c9d3fac78384ae37bc976f8bf52d9c22046",</a:t>
            </a:r>
          </a:p>
          <a:p>
            <a:r>
              <a:t>    "dataset_sha256": "96814ea63d89b98af7f87c5f6d8e5fe0f35ec710c30755c9d0723fbec4ddbe2a"</a:t>
            </a:r>
          </a:p>
          <a:p>
            <a:r>
              <a:t>  },</a:t>
            </a:r>
          </a:p>
          <a:p>
            <a:r>
              <a:t>  "kev-4b": {</a:t>
            </a:r>
          </a:p>
          <a:p>
            <a:r>
              <a:t>    "job": "5.0",</a:t>
            </a:r>
          </a:p>
          <a:p>
            <a:r>
              <a:t>    "revision": "6cfce5c2fa4b4bd64026336ab649c5ca78857d52",</a:t>
            </a:r>
          </a:p>
          <a:p>
            <a:r>
              <a:t>    "answers_file": "results/kev/dataset_v1_kev-4b_20261015/dataset_v1__kev-4b.jsonl",</a:t>
            </a:r>
          </a:p>
          <a:p>
            <a:r>
              <a:t>    "answers_sha256": "9f68340c80d407377a5288c970bab9a1af2a203aa6128c56a80555dece270b6e",</a:t>
            </a:r>
          </a:p>
          <a:p>
            <a:r>
              <a:t>    "dataset_sha256": "96814ea63d89b98af7f87c5f6d8e5fe0f35ec710c30755c9d0723fbec4ddbe2a"</a:t>
            </a:r>
          </a:p>
          <a:p>
            <a:r>
              <a:t>  },</a:t>
            </a:r>
          </a:p>
          <a:p>
            <a:r>
              <a:t>  "kev-9b": {</a:t>
            </a:r>
          </a:p>
          <a:p>
            <a:r>
              <a:t>    "job": "6.0",</a:t>
            </a:r>
          </a:p>
          <a:p>
            <a:r>
              <a:t>    "revision": "db029f08b290afd9fee4aa4bbcd9ae48602d1eb0",</a:t>
            </a:r>
          </a:p>
          <a:p>
            <a:r>
              <a:t>    "answers_file": "results/kev/dataset_v1_kev-9b_20261015/dataset_v1__kev-9b.jsonl",</a:t>
            </a:r>
          </a:p>
          <a:p>
            <a:r>
              <a:t>    "answers_sha256": "5c69346a7c9211caaff5f0e6067e82a5f6022519029d5cd1634697a1710fde34",</a:t>
            </a:r>
          </a:p>
          <a:p>
            <a:r>
              <a:t>    "dataset_sha256": "96814ea63d89b98af7f87c5f6d8e5fe0f35ec710c30755c9d0723fbec4ddbe2a"</a:t>
            </a:r>
          </a:p>
          <a:p>
            <a:r>
              <a:t>  },</a:t>
            </a:r>
          </a:p>
          <a:p>
            <a:r>
              <a:t>  "kev-27b": {</a:t>
            </a:r>
          </a:p>
          <a:p>
            <a:r>
              <a:t>    "job": "7.0",</a:t>
            </a:r>
          </a:p>
          <a:p>
            <a:r>
              <a:t>    "revision": "af0e6d551bdc2cc724f3e9d7a8bee1cd4fb8f7bf",</a:t>
            </a:r>
          </a:p>
          <a:p>
            <a:r>
              <a:t>    "answers_file": "results/kev/dataset_v1_kev-27b_20261015/dataset_v1__kev-27b.jsonl",</a:t>
            </a:r>
          </a:p>
          <a:p>
            <a:r>
              <a:t>    "answers_sha256": "c643020e0b73e9627c81fb7b0429556c70969cfef7074b7e4f6fc71d1349bf19",</a:t>
            </a:r>
          </a:p>
          <a:p>
            <a:r>
              <a:t>    "dataset_sha256": "96814ea63d89b98af7f87c5f6d8e5fe0f35ec710c30755c9d0723fbec4ddbe2a"</a:t>
            </a:r>
          </a:p>
          <a:p>
            <a:r>
              <a:t>  }</a:t>
            </a:r>
          </a:p>
          <a:p>
            <a:r>
              <a:t>}</a:t>
            </a:r>
          </a:p>
          <a:p>
            <a:r>
              <a:t>All times are Europe/Paris (CEST) as recorded in the manifests. The build verifies unique request IDs, successful HTTP responses, matching question keys, no cross-split base IDs, input fingerprints, and saved metrics versus freshly recomputed metrics. Numerical floating-point differences up to1e-12are accepted. Theme and slide masters are inherited from the user-supplied reference. This deck is derived from the completed results only.</a:t>
            </a:r>
          </a:p>
          <a:p/>
          <a:p>
            <a:r>
              <a:t>Evidence and reproducibility</a:t>
            </a:r>
          </a:p>
          <a:p>
            <a:r>
              <a:t>data/questions/dataset_v1.jsonl; results/kev/*/dataset_v1__*.jsonl; harness/score.py</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Full provenance of experiment 2:</a:t>
            </a:r>
          </a:p>
          <a:p>
            <a:r>
              <a:t>{</a:t>
            </a:r>
          </a:p>
          <a:p>
            <a:r>
              <a:t>  "kev-0.8b": {</a:t>
            </a:r>
          </a:p>
          <a:p>
            <a:r>
              <a:t>    "job": "8.0",</a:t>
            </a:r>
          </a:p>
          <a:p>
            <a:r>
              <a:t>    "revision": "bf75a6a8848ea6960ff2ed108d9ed44c2941174f",</a:t>
            </a:r>
          </a:p>
          <a:p>
            <a:r>
              <a:t>    "answers_file": "results/kev/dataset_v1_fewshot3_kev-0.8b_20261016/dataset_v1_fewshot3__kev-0.8b.jsonl",</a:t>
            </a:r>
          </a:p>
          <a:p>
            <a:r>
              <a:t>    "answers_sha256": "8f99dca6875fb0d3e1347ceec24b5ca87e15305b713faedc4e36d029e9460fad",</a:t>
            </a:r>
          </a:p>
          <a:p>
            <a:r>
              <a:t>    "dataset_sha256": "4c4d74d86c5e96e7440a7fa7716945f9212b3382ad7b6e0584e0414ca53b5f15"</a:t>
            </a:r>
          </a:p>
          <a:p>
            <a:r>
              <a:t>  },</a:t>
            </a:r>
          </a:p>
          <a:p>
            <a:r>
              <a:t>  "kev-4b": {</a:t>
            </a:r>
          </a:p>
          <a:p>
            <a:r>
              <a:t>    "job": "9.0",</a:t>
            </a:r>
          </a:p>
          <a:p>
            <a:r>
              <a:t>    "revision": "6cfce5c2fa4b4bd64026336ab649c5ca78857d52",</a:t>
            </a:r>
          </a:p>
          <a:p>
            <a:r>
              <a:t>    "answers_file": "results/kev/dataset_v1_fewshot3_kev-4b_20261016/dataset_v1_fewshot3__kev-4b.jsonl",</a:t>
            </a:r>
          </a:p>
          <a:p>
            <a:r>
              <a:t>    "answers_sha256": "e09c42166afd73b1e8dbde69b397e057b8de695bfddcfd6a5650bf8e664ec13f",</a:t>
            </a:r>
          </a:p>
          <a:p>
            <a:r>
              <a:t>    "dataset_sha256": "4c4d74d86c5e96e7440a7fa7716945f9212b3382ad7b6e0584e0414ca53b5f15"</a:t>
            </a:r>
          </a:p>
          <a:p>
            <a:r>
              <a:t>  },</a:t>
            </a:r>
          </a:p>
          <a:p>
            <a:r>
              <a:t>  "kev-9b": {</a:t>
            </a:r>
          </a:p>
          <a:p>
            <a:r>
              <a:t>    "job": "10.0",</a:t>
            </a:r>
          </a:p>
          <a:p>
            <a:r>
              <a:t>    "revision": "db029f08b290afd9fee4aa4bbcd9ae48602d1eb0",</a:t>
            </a:r>
          </a:p>
          <a:p>
            <a:r>
              <a:t>    "answers_file": "results/kev/dataset_v1_fewshot3_kev-9b_20261016/dataset_v1_fewshot3__kev-9b.jsonl",</a:t>
            </a:r>
          </a:p>
          <a:p>
            <a:r>
              <a:t>    "answers_sha256": "b71ac8dd4a892adcfe5471e56ae757f62889a420024fa706eb2f93fea7b3cf5b",</a:t>
            </a:r>
          </a:p>
          <a:p>
            <a:r>
              <a:t>    "dataset_sha256": "4c4d74d86c5e96e7440a7fa7716945f9212b3382ad7b6e0584e0414ca53b5f15"</a:t>
            </a:r>
          </a:p>
          <a:p>
            <a:r>
              <a:t>  },</a:t>
            </a:r>
          </a:p>
          <a:p>
            <a:r>
              <a:t>  "kev-27b": {</a:t>
            </a:r>
          </a:p>
          <a:p>
            <a:r>
              <a:t>    "job": "11.0",</a:t>
            </a:r>
          </a:p>
          <a:p>
            <a:r>
              <a:t>    "revision": "af0e6d551bdc2cc724f3e9d7a8bee1cd4fb8f7bf",</a:t>
            </a:r>
          </a:p>
          <a:p>
            <a:r>
              <a:t>    "answers_file": "results/kev/dataset_v1_fewshot3_kev-27b_20261016/dataset_v1_fewshot3__kev-27b.jsonl",</a:t>
            </a:r>
          </a:p>
          <a:p>
            <a:r>
              <a:t>    "answers_sha256": "6df2d313de200b3c7b222a8b607ea5de9f2ac53a26c6d96b4d9c357b6abf4fea",</a:t>
            </a:r>
          </a:p>
          <a:p>
            <a:r>
              <a:t>    "dataset_sha256": "4c4d74d86c5e96e7440a7fa7716945f9212b3382ad7b6e0584e0414ca53b5f15"</a:t>
            </a:r>
          </a:p>
          <a:p>
            <a:r>
              <a:t>  }</a:t>
            </a:r>
          </a:p>
          <a:p>
            <a:r>
              <a:t>}</a:t>
            </a:r>
          </a:p>
          <a:p>
            <a:r>
              <a:t>The question file comes from dataset_v1.jsonl with SHA-256 96814ea63d89b98af7f87c5f6d8e5fe0f35ec710c30755c9d0723fbec4ddbe2a, the file of experiment 1 (checked in each manifest). All times are the local time of mercury (CEST) as written in the manifests. The build checks: one answer per question ID, HTTP 200, the answer key of each question, server input tokens equal to the builder counts, the smoke answers, the saved scores against fresh scores, and every paired comparison against compare_with_dataset_v1.json. The checkpoint revisions are equal to those of experiment 1.</a:t>
            </a:r>
          </a:p>
          <a:p/>
          <a:p>
            <a:r>
              <a:t>Evidence and reproducibility</a:t>
            </a:r>
          </a:p>
          <a:p>
            <a:r>
              <a:t>data/questions/dataset_v1_fewshot3.jsonl; results/kev/dataset_v1_fewshot3_*/dataset_v1_fewshot3__*.jsonl; results/kev/*/dataset_v1__*.jsonl (experiment 1); harness/score.py; harness/compare.py</a:t>
            </a:r>
          </a:p>
          <a:p>
            <a:r>
              <a:t>All numerical results use the held-out test split unless explicitly labelled otherwise.</a:t>
            </a:r>
          </a:p>
          <a:p>
            <a:r>
              <a:t>Dataset SHA-256: 4c4d74d86c5e96e7440a7fa7716945f9212b3382ad7b6e0584e0414ca53b5f15 (experiment 2); 96814ea63d89b98af7f87c5f6d8e5fe0f35ec710c30755c9d0723fbec4ddbe2a (experiment 1, the source).</a:t>
            </a:r>
          </a:p>
          <a:p>
            <a:r>
              <a:t>Verified calculations: presentations/data/verified_metrics_fewshot3.json and compare_fewshot3.csv.</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4F8FA"/>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2800"/>
            <a:ext cx="10566400" cy="502920"/>
          </a:xfrm>
          <a:prstGeom prst="rect">
            <a:avLst/>
          </a:prstGeom>
          <a:noFill/>
          <a:ln/>
        </p:spPr>
        <p:txBody>
          <a:bodyPr wrap="square" lIns="0" tIns="0" rIns="0" bIns="0" rtlCol="0" anchor="t"/>
          <a:lstStyle>
            <a:lvl1pPr marL="0" indent="0" algn="l">
              <a:lnSpc>
                <a:spcPct val="115000"/>
              </a:lnSpc>
              <a:buNone/>
              <a:defRPr lang="en-US" sz="3600" dirty="0">
                <a:solidFill>
                  <a:srgbClr val="00407A"/>
                </a:solidFill>
                <a:latin typeface="Arial" pitchFamily="34" charset="0"/>
                <a:ea typeface="Arial" pitchFamily="34" charset="-122"/>
                <a:cs typeface="Arial"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620520"/>
            <a:ext cx="10566400" cy="4424680"/>
          </a:xfrm>
          <a:prstGeom prst="rect">
            <a:avLst/>
          </a:prstGeom>
          <a:noFill/>
          <a:ln/>
        </p:spPr>
        <p:txBody>
          <a:bodyPr wrap="square" lIns="0" tIns="0" rIns="0" bIns="0" rtlCol="0" anchor="t"/>
          <a:lstStyle>
            <a:lvl1pPr marL="0" indent="0" algn="l">
              <a:lnSpc>
                <a:spcPct val="140000"/>
              </a:lnSpc>
              <a:buNone/>
              <a:defRPr lang="en-US" sz="1600" dirty="0">
                <a:solidFill>
                  <a:srgbClr val="00407A"/>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4F8FA"/>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2800"/>
            <a:ext cx="10566400" cy="502920"/>
          </a:xfrm>
          <a:prstGeom prst="rect">
            <a:avLst/>
          </a:prstGeom>
          <a:noFill/>
          <a:ln/>
        </p:spPr>
        <p:txBody>
          <a:bodyPr wrap="square" lIns="0" tIns="0" rIns="0" bIns="0" rtlCol="0" anchor="t"/>
          <a:lstStyle>
            <a:lvl1pPr marL="0" indent="0" algn="l">
              <a:lnSpc>
                <a:spcPct val="115000"/>
              </a:lnSpc>
              <a:buNone/>
              <a:defRPr lang="en-US" sz="3600" dirty="0">
                <a:solidFill>
                  <a:srgbClr val="00407A"/>
                </a:solidFill>
                <a:latin typeface="Arial" pitchFamily="34" charset="0"/>
                <a:ea typeface="Arial" pitchFamily="34" charset="-122"/>
                <a:cs typeface="Arial"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620520"/>
            <a:ext cx="10566400" cy="4424680"/>
          </a:xfrm>
          <a:prstGeom prst="rect">
            <a:avLst/>
          </a:prstGeom>
          <a:noFill/>
          <a:ln/>
        </p:spPr>
        <p:txBody>
          <a:bodyPr wrap="square" lIns="0" tIns="0" rIns="0" bIns="0" rtlCol="0" anchor="t"/>
          <a:lstStyle>
            <a:lvl1pPr marL="0" indent="0" algn="l">
              <a:lnSpc>
                <a:spcPct val="140000"/>
              </a:lnSpc>
              <a:buNone/>
              <a:defRPr lang="en-US" sz="1600" dirty="0">
                <a:solidFill>
                  <a:srgbClr val="00407A"/>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407A"/>
        </a:solidFill>
        <a:effectLst/>
      </p:bgPr>
    </p:bg>
    <p:spTree>
      <p:nvGrpSpPr>
        <p:cNvPr id="1" name=""/>
        <p:cNvGrpSpPr/>
        <p:nvPr/>
      </p:nvGrpSpPr>
      <p:grpSpPr/>
      <p:sp>
        <p:nvSpPr>
          <p:cNvPr id="2" name="Rounded Rectangle 1"/>
          <p:cNvSpPr/>
          <p:nvPr/>
        </p:nvSpPr>
        <p:spPr>
          <a:xfrm>
            <a:off x="8549640" y="1325880"/>
            <a:ext cx="1828800" cy="1828800"/>
          </a:xfrm>
          <a:prstGeom prst="roundRect">
            <a:avLst>
              <a:gd name="adj" fmla="val 6000"/>
            </a:avLst>
          </a:prstGeom>
          <a:noFill/>
          <a:ln w="12700">
            <a:solidFill>
              <a:srgbClr val="1D8D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3816" y="1783080"/>
            <a:ext cx="9144000" cy="320040"/>
          </a:xfrm>
          <a:prstGeom prst="rect">
            <a:avLst/>
          </a:prstGeom>
          <a:noFill/>
        </p:spPr>
        <p:txBody>
          <a:bodyPr wrap="square" lIns="0" rIns="0" tIns="0" bIns="0" anchor="t">
            <a:noAutofit/>
          </a:bodyPr>
          <a:lstStyle/>
          <a:p>
            <a:pPr algn="l">
              <a:lnSpc>
                <a:spcPct val="109000"/>
              </a:lnSpc>
              <a:spcBef>
                <a:spcPts val="0"/>
              </a:spcBef>
              <a:spcAft>
                <a:spcPts val="0"/>
              </a:spcAft>
            </a:pPr>
            <a:r>
              <a:rPr sz="1600" b="1">
                <a:solidFill>
                  <a:srgbClr val="52BDEC"/>
                </a:solidFill>
                <a:latin typeface="Arial"/>
              </a:rPr>
              <a:t>RTL TOOL OUTCOMES  •  KEV v1.0</a:t>
            </a:r>
          </a:p>
        </p:txBody>
      </p:sp>
      <p:sp>
        <p:nvSpPr>
          <p:cNvPr id="4" name="TextBox 3"/>
          <p:cNvSpPr txBox="1"/>
          <p:nvPr/>
        </p:nvSpPr>
        <p:spPr>
          <a:xfrm>
            <a:off x="813816" y="2331720"/>
            <a:ext cx="8321040" cy="1481328"/>
          </a:xfrm>
          <a:prstGeom prst="rect">
            <a:avLst/>
          </a:prstGeom>
          <a:noFill/>
        </p:spPr>
        <p:txBody>
          <a:bodyPr wrap="square" lIns="0" rIns="0" tIns="0" bIns="0" anchor="t">
            <a:noAutofit/>
          </a:bodyPr>
          <a:lstStyle/>
          <a:p>
            <a:pPr algn="l">
              <a:lnSpc>
                <a:spcPct val="109000"/>
              </a:lnSpc>
              <a:spcBef>
                <a:spcPts val="0"/>
              </a:spcBef>
              <a:spcAft>
                <a:spcPts val="0"/>
              </a:spcAft>
            </a:pPr>
            <a:r>
              <a:rPr sz="4300" b="1">
                <a:solidFill>
                  <a:srgbClr val="FFFFFF"/>
                </a:solidFill>
                <a:latin typeface="Arial"/>
              </a:rPr>
              <a:t>What can KEV tell us</a:t>
            </a:r>
          </a:p>
          <a:p>
            <a:pPr algn="l">
              <a:lnSpc>
                <a:spcPct val="109000"/>
              </a:lnSpc>
              <a:spcBef>
                <a:spcPts val="0"/>
              </a:spcBef>
              <a:spcAft>
                <a:spcPts val="0"/>
              </a:spcAft>
            </a:pPr>
            <a:r>
              <a:rPr sz="4300" b="1">
                <a:solidFill>
                  <a:srgbClr val="FFFFFF"/>
                </a:solidFill>
                <a:latin typeface="Arial"/>
              </a:rPr>
              <a:t>about an RTL design?</a:t>
            </a:r>
          </a:p>
        </p:txBody>
      </p:sp>
      <p:sp>
        <p:nvSpPr>
          <p:cNvPr id="5" name="TextBox 4"/>
          <p:cNvSpPr txBox="1"/>
          <p:nvPr/>
        </p:nvSpPr>
        <p:spPr>
          <a:xfrm>
            <a:off x="813816" y="4160520"/>
            <a:ext cx="9052560" cy="777240"/>
          </a:xfrm>
          <a:prstGeom prst="rect">
            <a:avLst/>
          </a:prstGeom>
          <a:noFill/>
        </p:spPr>
        <p:txBody>
          <a:bodyPr wrap="square" lIns="0" rIns="0" tIns="0" bIns="0" anchor="t">
            <a:noAutofit/>
          </a:bodyPr>
          <a:lstStyle/>
          <a:p>
            <a:pPr algn="l">
              <a:lnSpc>
                <a:spcPct val="109000"/>
              </a:lnSpc>
              <a:spcBef>
                <a:spcPts val="0"/>
              </a:spcBef>
              <a:spcAft>
                <a:spcPts val="0"/>
              </a:spcAft>
            </a:pPr>
            <a:r>
              <a:rPr sz="2300" b="0">
                <a:solidFill>
                  <a:srgbClr val="BFDDEC"/>
                </a:solidFill>
                <a:latin typeface="Arial"/>
              </a:rPr>
              <a:t>The tests, the completed Condor runs, and what the scores mean</a:t>
            </a:r>
          </a:p>
        </p:txBody>
      </p:sp>
      <p:sp>
        <p:nvSpPr>
          <p:cNvPr id="6" name="TextBox 5"/>
          <p:cNvSpPr txBox="1"/>
          <p:nvPr/>
        </p:nvSpPr>
        <p:spPr>
          <a:xfrm>
            <a:off x="813816" y="5596128"/>
            <a:ext cx="10424160" cy="685800"/>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BFDDEC"/>
                </a:solidFill>
                <a:latin typeface="Arial"/>
              </a:rPr>
              <a:t>Four model sizes  •  151 retained designs  •  725 held-out questions</a:t>
            </a:r>
          </a:p>
          <a:p>
            <a:pPr algn="l">
              <a:lnSpc>
                <a:spcPct val="109000"/>
              </a:lnSpc>
              <a:spcBef>
                <a:spcPts val="0"/>
              </a:spcBef>
              <a:spcAft>
                <a:spcPts val="0"/>
              </a:spcAft>
            </a:pPr>
            <a:r>
              <a:rPr sz="1600" b="0">
                <a:solidFill>
                  <a:srgbClr val="BFDDEC"/>
                </a:solidFill>
                <a:latin typeface="Arial"/>
              </a:rPr>
              <a:t>Experiment 1: no examples (15 October 2026)  •  Experiment 2: three solved examples (16 October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265176"/>
            <a:ext cx="10561320" cy="237744"/>
          </a:xfrm>
          <a:prstGeom prst="rect">
            <a:avLst/>
          </a:prstGeom>
          <a:noFill/>
        </p:spPr>
        <p:txBody>
          <a:bodyPr wrap="square" lIns="0" rIns="0" tIns="0" bIns="0" anchor="t">
            <a:noAutofit/>
          </a:bodyPr>
          <a:lstStyle/>
          <a:p>
            <a:pPr algn="l">
              <a:lnSpc>
                <a:spcPct val="109000"/>
              </a:lnSpc>
              <a:spcBef>
                <a:spcPts val="0"/>
              </a:spcBef>
              <a:spcAft>
                <a:spcPts val="0"/>
              </a:spcAft>
            </a:pPr>
            <a:r>
              <a:rPr sz="1250" b="1">
                <a:solidFill>
                  <a:srgbClr val="4A5A66"/>
                </a:solidFill>
                <a:latin typeface="Arial"/>
              </a:rPr>
              <a:t>EXPERIMENT 1  •  NO EXAMPLES</a:t>
            </a:r>
          </a:p>
        </p:txBody>
      </p:sp>
      <p:sp>
        <p:nvSpPr>
          <p:cNvPr id="3" name="TextBox 2"/>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What the completed runs show</a:t>
            </a:r>
          </a:p>
        </p:txBody>
      </p:sp>
      <p:sp>
        <p:nvSpPr>
          <p:cNvPr id="4" name="TextBox 3"/>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Different tasks reveal different strengths. A single pooled score hides important failures.</a:t>
            </a:r>
          </a:p>
        </p:txBody>
      </p:sp>
      <p:sp>
        <p:nvSpPr>
          <p:cNvPr id="5" name="TextBox 4"/>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OVERVIEW</a:t>
            </a:r>
          </a:p>
        </p:txBody>
      </p:sp>
      <p:sp>
        <p:nvSpPr>
          <p:cNvPr id="6" name="TextBox 5"/>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2</a:t>
            </a:r>
          </a:p>
        </p:txBody>
      </p:sp>
      <p:sp>
        <p:nvSpPr>
          <p:cNvPr id="7" name="Rounded Rectangle 6"/>
          <p:cNvSpPr/>
          <p:nvPr/>
        </p:nvSpPr>
        <p:spPr>
          <a:xfrm>
            <a:off x="813816" y="1828800"/>
            <a:ext cx="3383280" cy="361188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13816" y="1828800"/>
            <a:ext cx="3383280" cy="41148"/>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42416" y="2057400"/>
            <a:ext cx="2926080" cy="658368"/>
          </a:xfrm>
          <a:prstGeom prst="rect">
            <a:avLst/>
          </a:prstGeom>
          <a:noFill/>
        </p:spPr>
        <p:txBody>
          <a:bodyPr wrap="square" lIns="0" rIns="0" tIns="0" bIns="0" anchor="t">
            <a:noAutofit/>
          </a:bodyPr>
          <a:lstStyle/>
          <a:p>
            <a:pPr algn="l">
              <a:lnSpc>
                <a:spcPct val="109000"/>
              </a:lnSpc>
              <a:spcBef>
                <a:spcPts val="0"/>
              </a:spcBef>
              <a:spcAft>
                <a:spcPts val="0"/>
              </a:spcAft>
            </a:pPr>
            <a:r>
              <a:rPr sz="2100" b="1">
                <a:solidFill>
                  <a:srgbClr val="00407A"/>
                </a:solidFill>
                <a:latin typeface="Arial"/>
              </a:rPr>
              <a:t>Better with 27B</a:t>
            </a:r>
          </a:p>
        </p:txBody>
      </p:sp>
      <p:sp>
        <p:nvSpPr>
          <p:cNvPr id="10" name="TextBox 9"/>
          <p:cNvSpPr txBox="1"/>
          <p:nvPr/>
        </p:nvSpPr>
        <p:spPr>
          <a:xfrm>
            <a:off x="1042416" y="2834640"/>
            <a:ext cx="2926080" cy="2423160"/>
          </a:xfrm>
          <a:prstGeom prst="rect">
            <a:avLst/>
          </a:prstGeom>
          <a:noFill/>
        </p:spPr>
        <p:txBody>
          <a:bodyPr wrap="square" lIns="0" rIns="0" tIns="0" bIns="0" anchor="t">
            <a:noAutofit/>
          </a:bodyPr>
          <a:lstStyle/>
          <a:p>
            <a:pPr algn="l">
              <a:lnSpc>
                <a:spcPct val="109000"/>
              </a:lnSpc>
              <a:spcBef>
                <a:spcPts val="0"/>
              </a:spcBef>
              <a:spcAft>
                <a:spcPts val="0"/>
              </a:spcAft>
            </a:pPr>
            <a:r>
              <a:rPr sz="1900" b="0">
                <a:solidFill>
                  <a:srgbClr val="00407A"/>
                </a:solidFill>
                <a:latin typeface="Arial"/>
              </a:rPr>
              <a:t>Compilation errors:</a:t>
            </a:r>
          </a:p>
          <a:p>
            <a:pPr algn="l">
              <a:lnSpc>
                <a:spcPct val="109000"/>
              </a:lnSpc>
              <a:spcBef>
                <a:spcPts val="0"/>
              </a:spcBef>
              <a:spcAft>
                <a:spcPts val="0"/>
              </a:spcAft>
            </a:pPr>
            <a:r>
              <a:rPr sz="1900" b="0">
                <a:solidFill>
                  <a:srgbClr val="00407A"/>
                </a:solidFill>
                <a:latin typeface="Arial"/>
              </a:rPr>
              <a:t>8 of 9 detected</a:t>
            </a:r>
          </a:p>
          <a:p>
            <a:pPr algn="l">
              <a:lnSpc>
                <a:spcPct val="109000"/>
              </a:lnSpc>
              <a:spcBef>
                <a:spcPts val="0"/>
              </a:spcBef>
              <a:spcAft>
                <a:spcPts val="0"/>
              </a:spcAft>
            </a:pPr>
            <a:r>
              <a:rPr sz="1900" b="0">
                <a:solidFill>
                  <a:srgbClr val="00407A"/>
                </a:solidFill>
                <a:latin typeface="Arial"/>
              </a:rPr>
              <a:t/>
            </a:r>
          </a:p>
          <a:p>
            <a:pPr algn="l">
              <a:lnSpc>
                <a:spcPct val="109000"/>
              </a:lnSpc>
              <a:spcBef>
                <a:spcPts val="0"/>
              </a:spcBef>
              <a:spcAft>
                <a:spcPts val="0"/>
              </a:spcAft>
            </a:pPr>
            <a:r>
              <a:rPr sz="1900" b="0">
                <a:solidFill>
                  <a:srgbClr val="00407A"/>
                </a:solidFill>
                <a:latin typeface="Arial"/>
              </a:rPr>
              <a:t>Area levels:</a:t>
            </a:r>
          </a:p>
          <a:p>
            <a:pPr algn="l">
              <a:lnSpc>
                <a:spcPct val="109000"/>
              </a:lnSpc>
              <a:spcBef>
                <a:spcPts val="0"/>
              </a:spcBef>
              <a:spcAft>
                <a:spcPts val="0"/>
              </a:spcAft>
            </a:pPr>
            <a:r>
              <a:rPr sz="1900" b="0">
                <a:solidFill>
                  <a:srgbClr val="00407A"/>
                </a:solidFill>
                <a:latin typeface="Arial"/>
              </a:rPr>
              <a:t>61 of 92 exactly right</a:t>
            </a:r>
          </a:p>
        </p:txBody>
      </p:sp>
      <p:sp>
        <p:nvSpPr>
          <p:cNvPr id="11" name="Rounded Rectangle 10"/>
          <p:cNvSpPr/>
          <p:nvPr/>
        </p:nvSpPr>
        <p:spPr>
          <a:xfrm>
            <a:off x="4398264" y="1828800"/>
            <a:ext cx="3383280" cy="361188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98264" y="1828800"/>
            <a:ext cx="338328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26864" y="2057400"/>
            <a:ext cx="2926080" cy="658368"/>
          </a:xfrm>
          <a:prstGeom prst="rect">
            <a:avLst/>
          </a:prstGeom>
          <a:noFill/>
        </p:spPr>
        <p:txBody>
          <a:bodyPr wrap="square" lIns="0" rIns="0" tIns="0" bIns="0" anchor="t">
            <a:noAutofit/>
          </a:bodyPr>
          <a:lstStyle/>
          <a:p>
            <a:pPr algn="l">
              <a:lnSpc>
                <a:spcPct val="109000"/>
              </a:lnSpc>
              <a:spcBef>
                <a:spcPts val="0"/>
              </a:spcBef>
              <a:spcAft>
                <a:spcPts val="0"/>
              </a:spcAft>
            </a:pPr>
            <a:r>
              <a:rPr sz="2100" b="1">
                <a:solidFill>
                  <a:srgbClr val="00407A"/>
                </a:solidFill>
                <a:latin typeface="Arial"/>
              </a:rPr>
              <a:t>Synthesis is weak</a:t>
            </a:r>
          </a:p>
        </p:txBody>
      </p:sp>
      <p:sp>
        <p:nvSpPr>
          <p:cNvPr id="14" name="TextBox 13"/>
          <p:cNvSpPr txBox="1"/>
          <p:nvPr/>
        </p:nvSpPr>
        <p:spPr>
          <a:xfrm>
            <a:off x="4626864" y="2834640"/>
            <a:ext cx="2926080" cy="2423160"/>
          </a:xfrm>
          <a:prstGeom prst="rect">
            <a:avLst/>
          </a:prstGeom>
          <a:noFill/>
        </p:spPr>
        <p:txBody>
          <a:bodyPr wrap="square" lIns="0" rIns="0" tIns="0" bIns="0" anchor="t">
            <a:noAutofit/>
          </a:bodyPr>
          <a:lstStyle/>
          <a:p>
            <a:pPr algn="l">
              <a:lnSpc>
                <a:spcPct val="109000"/>
              </a:lnSpc>
              <a:spcBef>
                <a:spcPts val="0"/>
              </a:spcBef>
              <a:spcAft>
                <a:spcPts val="0"/>
              </a:spcAft>
            </a:pPr>
            <a:r>
              <a:rPr sz="1900" b="0">
                <a:solidFill>
                  <a:srgbClr val="00407A"/>
                </a:solidFill>
                <a:latin typeface="Arial"/>
              </a:rPr>
              <a:t>Synthesis failures:</a:t>
            </a:r>
          </a:p>
          <a:p>
            <a:pPr algn="l">
              <a:lnSpc>
                <a:spcPct val="109000"/>
              </a:lnSpc>
              <a:spcBef>
                <a:spcPts val="0"/>
              </a:spcBef>
              <a:spcAft>
                <a:spcPts val="0"/>
              </a:spcAft>
            </a:pPr>
            <a:r>
              <a:rPr sz="1900" b="0">
                <a:solidFill>
                  <a:srgbClr val="00407A"/>
                </a:solidFill>
                <a:latin typeface="Arial"/>
              </a:rPr>
              <a:t>4 of 24 detected</a:t>
            </a:r>
          </a:p>
          <a:p>
            <a:pPr algn="l">
              <a:lnSpc>
                <a:spcPct val="109000"/>
              </a:lnSpc>
              <a:spcBef>
                <a:spcPts val="0"/>
              </a:spcBef>
              <a:spcAft>
                <a:spcPts val="0"/>
              </a:spcAft>
            </a:pPr>
            <a:r>
              <a:rPr sz="1900" b="0">
                <a:solidFill>
                  <a:srgbClr val="00407A"/>
                </a:solidFill>
                <a:latin typeface="Arial"/>
              </a:rPr>
              <a:t/>
            </a:r>
          </a:p>
          <a:p>
            <a:pPr algn="l">
              <a:lnSpc>
                <a:spcPct val="109000"/>
              </a:lnSpc>
              <a:spcBef>
                <a:spcPts val="0"/>
              </a:spcBef>
              <a:spcAft>
                <a:spcPts val="0"/>
              </a:spcAft>
            </a:pPr>
            <a:r>
              <a:rPr sz="1900" b="0">
                <a:solidFill>
                  <a:srgbClr val="00407A"/>
                </a:solidFill>
                <a:latin typeface="Arial"/>
              </a:rPr>
              <a:t>Failure reasons:</a:t>
            </a:r>
          </a:p>
          <a:p>
            <a:pPr algn="l">
              <a:lnSpc>
                <a:spcPct val="109000"/>
              </a:lnSpc>
              <a:spcBef>
                <a:spcPts val="0"/>
              </a:spcBef>
              <a:spcAft>
                <a:spcPts val="0"/>
              </a:spcAft>
            </a:pPr>
            <a:r>
              <a:rPr sz="1900" b="0">
                <a:solidFill>
                  <a:srgbClr val="00407A"/>
                </a:solidFill>
                <a:latin typeface="Arial"/>
              </a:rPr>
              <a:t>15 of 16 right when</a:t>
            </a:r>
          </a:p>
          <a:p>
            <a:pPr algn="l">
              <a:lnSpc>
                <a:spcPct val="109000"/>
              </a:lnSpc>
              <a:spcBef>
                <a:spcPts val="0"/>
              </a:spcBef>
              <a:spcAft>
                <a:spcPts val="0"/>
              </a:spcAft>
            </a:pPr>
            <a:r>
              <a:rPr sz="1900" b="0">
                <a:solidFill>
                  <a:srgbClr val="00407A"/>
                </a:solidFill>
                <a:latin typeface="Arial"/>
              </a:rPr>
              <a:t>failure is supplied</a:t>
            </a:r>
          </a:p>
        </p:txBody>
      </p:sp>
      <p:sp>
        <p:nvSpPr>
          <p:cNvPr id="15" name="Rounded Rectangle 14"/>
          <p:cNvSpPr/>
          <p:nvPr/>
        </p:nvSpPr>
        <p:spPr>
          <a:xfrm>
            <a:off x="7991856" y="1828800"/>
            <a:ext cx="3383280" cy="361188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991856" y="1828800"/>
            <a:ext cx="3383280" cy="41148"/>
          </a:xfrm>
          <a:prstGeom prst="rect">
            <a:avLst/>
          </a:prstGeom>
          <a:solidFill>
            <a:srgbClr val="0B5A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0456" y="2057400"/>
            <a:ext cx="2926080" cy="658368"/>
          </a:xfrm>
          <a:prstGeom prst="rect">
            <a:avLst/>
          </a:prstGeom>
          <a:noFill/>
        </p:spPr>
        <p:txBody>
          <a:bodyPr wrap="square" lIns="0" rIns="0" tIns="0" bIns="0" anchor="t">
            <a:noAutofit/>
          </a:bodyPr>
          <a:lstStyle/>
          <a:p>
            <a:pPr algn="l">
              <a:lnSpc>
                <a:spcPct val="109000"/>
              </a:lnSpc>
              <a:spcBef>
                <a:spcPts val="0"/>
              </a:spcBef>
              <a:spcAft>
                <a:spcPts val="0"/>
              </a:spcAft>
            </a:pPr>
            <a:r>
              <a:rPr sz="2100" b="1">
                <a:solidFill>
                  <a:srgbClr val="00407A"/>
                </a:solidFill>
                <a:latin typeface="Arial"/>
              </a:rPr>
              <a:t>No single winner</a:t>
            </a:r>
          </a:p>
        </p:txBody>
      </p:sp>
      <p:sp>
        <p:nvSpPr>
          <p:cNvPr id="18" name="TextBox 17"/>
          <p:cNvSpPr txBox="1"/>
          <p:nvPr/>
        </p:nvSpPr>
        <p:spPr>
          <a:xfrm>
            <a:off x="8220456" y="2834640"/>
            <a:ext cx="2926080" cy="2423160"/>
          </a:xfrm>
          <a:prstGeom prst="rect">
            <a:avLst/>
          </a:prstGeom>
          <a:noFill/>
        </p:spPr>
        <p:txBody>
          <a:bodyPr wrap="square" lIns="0" rIns="0" tIns="0" bIns="0" anchor="t">
            <a:noAutofit/>
          </a:bodyPr>
          <a:lstStyle/>
          <a:p>
            <a:pPr algn="l">
              <a:lnSpc>
                <a:spcPct val="109000"/>
              </a:lnSpc>
              <a:spcBef>
                <a:spcPts val="0"/>
              </a:spcBef>
              <a:spcAft>
                <a:spcPts val="0"/>
              </a:spcAft>
            </a:pPr>
            <a:r>
              <a:rPr sz="1800" b="0">
                <a:solidFill>
                  <a:srgbClr val="00407A"/>
                </a:solidFill>
                <a:latin typeface="Arial"/>
              </a:rPr>
              <a:t>9B leads area ranking.</a:t>
            </a:r>
          </a:p>
          <a:p>
            <a:pPr algn="l">
              <a:lnSpc>
                <a:spcPct val="109000"/>
              </a:lnSpc>
              <a:spcBef>
                <a:spcPts val="0"/>
              </a:spcBef>
              <a:spcAft>
                <a:spcPts val="0"/>
              </a:spcAft>
            </a:pPr>
            <a:r>
              <a:rPr sz="1800" b="0">
                <a:solidFill>
                  <a:srgbClr val="00407A"/>
                </a:solidFill>
                <a:latin typeface="Arial"/>
              </a:rPr>
              <a:t>27B leads power ranking.</a:t>
            </a:r>
          </a:p>
          <a:p>
            <a:pPr algn="l">
              <a:lnSpc>
                <a:spcPct val="109000"/>
              </a:lnSpc>
              <a:spcBef>
                <a:spcPts val="0"/>
              </a:spcBef>
              <a:spcAft>
                <a:spcPts val="0"/>
              </a:spcAft>
            </a:pPr>
            <a:r>
              <a:rPr sz="1800" b="0">
                <a:solidFill>
                  <a:srgbClr val="00407A"/>
                </a:solidFill>
                <a:latin typeface="Arial"/>
              </a:rPr>
              <a:t/>
            </a:r>
          </a:p>
          <a:p>
            <a:pPr algn="l">
              <a:lnSpc>
                <a:spcPct val="109000"/>
              </a:lnSpc>
              <a:spcBef>
                <a:spcPts val="0"/>
              </a:spcBef>
              <a:spcAft>
                <a:spcPts val="0"/>
              </a:spcAft>
            </a:pPr>
            <a:r>
              <a:rPr sz="1800" b="0">
                <a:solidFill>
                  <a:srgbClr val="00407A"/>
                </a:solidFill>
                <a:latin typeface="Arial"/>
              </a:rPr>
              <a:t>Absolute power and</a:t>
            </a:r>
          </a:p>
          <a:p>
            <a:pPr algn="l">
              <a:lnSpc>
                <a:spcPct val="109000"/>
              </a:lnSpc>
              <a:spcBef>
                <a:spcPts val="0"/>
              </a:spcBef>
              <a:spcAft>
                <a:spcPts val="0"/>
              </a:spcAft>
            </a:pPr>
            <a:r>
              <a:rPr sz="1800" b="0">
                <a:solidFill>
                  <a:srgbClr val="00407A"/>
                </a:solidFill>
                <a:latin typeface="Arial"/>
              </a:rPr>
              <a:t>clock-frequency levels</a:t>
            </a:r>
          </a:p>
          <a:p>
            <a:pPr algn="l">
              <a:lnSpc>
                <a:spcPct val="109000"/>
              </a:lnSpc>
              <a:spcBef>
                <a:spcPts val="0"/>
              </a:spcBef>
              <a:spcAft>
                <a:spcPts val="0"/>
              </a:spcAft>
            </a:pPr>
            <a:r>
              <a:rPr sz="1800" b="0">
                <a:solidFill>
                  <a:srgbClr val="00407A"/>
                </a:solidFill>
                <a:latin typeface="Arial"/>
              </a:rPr>
              <a:t>remain unreliable.</a:t>
            </a:r>
          </a:p>
        </p:txBody>
      </p:sp>
      <p:sp>
        <p:nvSpPr>
          <p:cNvPr id="19" name="Rounded Rectangle 18"/>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All four runs completed. Every model answered every test question; missing data does not explain the errors.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265176"/>
            <a:ext cx="10561320" cy="237744"/>
          </a:xfrm>
          <a:prstGeom prst="rect">
            <a:avLst/>
          </a:prstGeom>
          <a:noFill/>
        </p:spPr>
        <p:txBody>
          <a:bodyPr wrap="square" lIns="0" rIns="0" tIns="0" bIns="0" anchor="t">
            <a:noAutofit/>
          </a:bodyPr>
          <a:lstStyle/>
          <a:p>
            <a:pPr algn="l">
              <a:lnSpc>
                <a:spcPct val="109000"/>
              </a:lnSpc>
              <a:spcBef>
                <a:spcPts val="0"/>
              </a:spcBef>
              <a:spcAft>
                <a:spcPts val="0"/>
              </a:spcAft>
            </a:pPr>
            <a:r>
              <a:rPr sz="1250" b="1">
                <a:solidFill>
                  <a:srgbClr val="0B5A93"/>
                </a:solidFill>
                <a:latin typeface="Arial"/>
              </a:rPr>
              <a:t>EXPERIMENT 2  •  THREE SOLVED EXAMPLES PER QUESTION</a:t>
            </a:r>
          </a:p>
        </p:txBody>
      </p:sp>
      <p:sp>
        <p:nvSpPr>
          <p:cNvPr id="3" name="TextBox 2"/>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What three solved examples change</a:t>
            </a:r>
          </a:p>
        </p:txBody>
      </p:sp>
      <p:sp>
        <p:nvSpPr>
          <p:cNvPr id="4" name="TextBox 3"/>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Experiment 2: the same 725 test questions, each with three solved examples before the design.</a:t>
            </a:r>
          </a:p>
        </p:txBody>
      </p:sp>
      <p:sp>
        <p:nvSpPr>
          <p:cNvPr id="5" name="TextBox 4"/>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three examples per question  •  16 October 2026  |  OVERVIEW</a:t>
            </a:r>
          </a:p>
        </p:txBody>
      </p:sp>
      <p:sp>
        <p:nvSpPr>
          <p:cNvPr id="6" name="TextBox 5"/>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3</a:t>
            </a:r>
          </a:p>
        </p:txBody>
      </p:sp>
      <p:sp>
        <p:nvSpPr>
          <p:cNvPr id="7" name="Rounded Rectangle 6"/>
          <p:cNvSpPr/>
          <p:nvPr/>
        </p:nvSpPr>
        <p:spPr>
          <a:xfrm>
            <a:off x="813816" y="1828800"/>
            <a:ext cx="3383280" cy="361188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13816" y="1828800"/>
            <a:ext cx="3383280" cy="41148"/>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42416" y="2057400"/>
            <a:ext cx="2926080" cy="658368"/>
          </a:xfrm>
          <a:prstGeom prst="rect">
            <a:avLst/>
          </a:prstGeom>
          <a:noFill/>
        </p:spPr>
        <p:txBody>
          <a:bodyPr wrap="square" lIns="0" rIns="0" tIns="0" bIns="0" anchor="t">
            <a:noAutofit/>
          </a:bodyPr>
          <a:lstStyle/>
          <a:p>
            <a:pPr algn="l">
              <a:lnSpc>
                <a:spcPct val="109000"/>
              </a:lnSpc>
              <a:spcBef>
                <a:spcPts val="0"/>
              </a:spcBef>
              <a:spcAft>
                <a:spcPts val="0"/>
              </a:spcAft>
            </a:pPr>
            <a:r>
              <a:rPr sz="2100" b="1">
                <a:solidFill>
                  <a:srgbClr val="00407A"/>
                </a:solidFill>
                <a:latin typeface="Arial"/>
              </a:rPr>
              <a:t>Better with 27B</a:t>
            </a:r>
          </a:p>
        </p:txBody>
      </p:sp>
      <p:sp>
        <p:nvSpPr>
          <p:cNvPr id="10" name="TextBox 9"/>
          <p:cNvSpPr txBox="1"/>
          <p:nvPr/>
        </p:nvSpPr>
        <p:spPr>
          <a:xfrm>
            <a:off x="1042416" y="2834640"/>
            <a:ext cx="2926080" cy="2423160"/>
          </a:xfrm>
          <a:prstGeom prst="rect">
            <a:avLst/>
          </a:prstGeom>
          <a:noFill/>
        </p:spPr>
        <p:txBody>
          <a:bodyPr wrap="square" lIns="0" rIns="0" tIns="0" bIns="0" anchor="t">
            <a:noAutofit/>
          </a:bodyPr>
          <a:lstStyle/>
          <a:p>
            <a:pPr algn="l">
              <a:lnSpc>
                <a:spcPct val="109000"/>
              </a:lnSpc>
              <a:spcBef>
                <a:spcPts val="0"/>
              </a:spcBef>
              <a:spcAft>
                <a:spcPts val="0"/>
              </a:spcAft>
            </a:pPr>
            <a:r>
              <a:rPr sz="1900" b="0">
                <a:solidFill>
                  <a:srgbClr val="00407A"/>
                </a:solidFill>
                <a:latin typeface="Arial"/>
              </a:rPr>
              <a:t>Synthesis failures:</a:t>
            </a:r>
          </a:p>
          <a:p>
            <a:pPr algn="l">
              <a:lnSpc>
                <a:spcPct val="109000"/>
              </a:lnSpc>
              <a:spcBef>
                <a:spcPts val="0"/>
              </a:spcBef>
              <a:spcAft>
                <a:spcPts val="0"/>
              </a:spcAft>
            </a:pPr>
            <a:r>
              <a:rPr sz="1900" b="0">
                <a:solidFill>
                  <a:srgbClr val="00407A"/>
                </a:solidFill>
                <a:latin typeface="Arial"/>
              </a:rPr>
              <a:t>12 of 24 detected</a:t>
            </a:r>
          </a:p>
          <a:p>
            <a:pPr algn="l">
              <a:lnSpc>
                <a:spcPct val="109000"/>
              </a:lnSpc>
              <a:spcBef>
                <a:spcPts val="0"/>
              </a:spcBef>
              <a:spcAft>
                <a:spcPts val="0"/>
              </a:spcAft>
            </a:pPr>
            <a:r>
              <a:rPr sz="1900" b="0">
                <a:solidFill>
                  <a:srgbClr val="00407A"/>
                </a:solidFill>
                <a:latin typeface="Arial"/>
              </a:rPr>
              <a:t>(4 without examples)</a:t>
            </a:r>
          </a:p>
          <a:p>
            <a:pPr algn="l">
              <a:lnSpc>
                <a:spcPct val="109000"/>
              </a:lnSpc>
              <a:spcBef>
                <a:spcPts val="0"/>
              </a:spcBef>
              <a:spcAft>
                <a:spcPts val="0"/>
              </a:spcAft>
            </a:pPr>
            <a:r>
              <a:rPr sz="1900" b="0">
                <a:solidFill>
                  <a:srgbClr val="00407A"/>
                </a:solidFill>
                <a:latin typeface="Arial"/>
              </a:rPr>
              <a:t/>
            </a:r>
          </a:p>
          <a:p>
            <a:pPr algn="l">
              <a:lnSpc>
                <a:spcPct val="109000"/>
              </a:lnSpc>
              <a:spcBef>
                <a:spcPts val="0"/>
              </a:spcBef>
              <a:spcAft>
                <a:spcPts val="0"/>
              </a:spcAft>
            </a:pPr>
            <a:r>
              <a:rPr sz="1900" b="0">
                <a:solidFill>
                  <a:srgbClr val="00407A"/>
                </a:solidFill>
                <a:latin typeface="Arial"/>
              </a:rPr>
              <a:t>Power levels:</a:t>
            </a:r>
          </a:p>
          <a:p>
            <a:pPr algn="l">
              <a:lnSpc>
                <a:spcPct val="109000"/>
              </a:lnSpc>
              <a:spcBef>
                <a:spcPts val="0"/>
              </a:spcBef>
              <a:spcAft>
                <a:spcPts val="0"/>
              </a:spcAft>
            </a:pPr>
            <a:r>
              <a:rPr sz="1900" b="0">
                <a:solidFill>
                  <a:srgbClr val="00407A"/>
                </a:solidFill>
                <a:latin typeface="Arial"/>
              </a:rPr>
              <a:t>36 of 85 exactly right</a:t>
            </a:r>
          </a:p>
          <a:p>
            <a:pPr algn="l">
              <a:lnSpc>
                <a:spcPct val="109000"/>
              </a:lnSpc>
              <a:spcBef>
                <a:spcPts val="0"/>
              </a:spcBef>
              <a:spcAft>
                <a:spcPts val="0"/>
              </a:spcAft>
            </a:pPr>
            <a:r>
              <a:rPr sz="1900" b="0">
                <a:solidFill>
                  <a:srgbClr val="00407A"/>
                </a:solidFill>
                <a:latin typeface="Arial"/>
              </a:rPr>
              <a:t>(9 without examples)</a:t>
            </a:r>
          </a:p>
        </p:txBody>
      </p:sp>
      <p:sp>
        <p:nvSpPr>
          <p:cNvPr id="11" name="Rounded Rectangle 10"/>
          <p:cNvSpPr/>
          <p:nvPr/>
        </p:nvSpPr>
        <p:spPr>
          <a:xfrm>
            <a:off x="4398264" y="1828800"/>
            <a:ext cx="3383280" cy="361188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98264" y="1828800"/>
            <a:ext cx="338328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26864" y="2057400"/>
            <a:ext cx="2926080" cy="658368"/>
          </a:xfrm>
          <a:prstGeom prst="rect">
            <a:avLst/>
          </a:prstGeom>
          <a:noFill/>
        </p:spPr>
        <p:txBody>
          <a:bodyPr wrap="square" lIns="0" rIns="0" tIns="0" bIns="0" anchor="t">
            <a:noAutofit/>
          </a:bodyPr>
          <a:lstStyle/>
          <a:p>
            <a:pPr algn="l">
              <a:lnSpc>
                <a:spcPct val="109000"/>
              </a:lnSpc>
              <a:spcBef>
                <a:spcPts val="0"/>
              </a:spcBef>
              <a:spcAft>
                <a:spcPts val="0"/>
              </a:spcAft>
            </a:pPr>
            <a:r>
              <a:rPr sz="2100" b="1">
                <a:solidFill>
                  <a:srgbClr val="00407A"/>
                </a:solidFill>
                <a:latin typeface="Arial"/>
              </a:rPr>
              <a:t>Pairs: 27B leads</a:t>
            </a:r>
          </a:p>
        </p:txBody>
      </p:sp>
      <p:sp>
        <p:nvSpPr>
          <p:cNvPr id="14" name="TextBox 13"/>
          <p:cNvSpPr txBox="1"/>
          <p:nvPr/>
        </p:nvSpPr>
        <p:spPr>
          <a:xfrm>
            <a:off x="4626864" y="2834640"/>
            <a:ext cx="2926080" cy="2423160"/>
          </a:xfrm>
          <a:prstGeom prst="rect">
            <a:avLst/>
          </a:prstGeom>
          <a:noFill/>
        </p:spPr>
        <p:txBody>
          <a:bodyPr wrap="square" lIns="0" rIns="0" tIns="0" bIns="0" anchor="t">
            <a:noAutofit/>
          </a:bodyPr>
          <a:lstStyle/>
          <a:p>
            <a:pPr algn="l">
              <a:lnSpc>
                <a:spcPct val="109000"/>
              </a:lnSpc>
              <a:spcBef>
                <a:spcPts val="0"/>
              </a:spcBef>
              <a:spcAft>
                <a:spcPts val="0"/>
              </a:spcAft>
            </a:pPr>
            <a:r>
              <a:rPr sz="1900" b="0">
                <a:solidFill>
                  <a:srgbClr val="00407A"/>
                </a:solidFill>
                <a:latin typeface="Arial"/>
              </a:rPr>
              <a:t>Views answered right</a:t>
            </a:r>
          </a:p>
          <a:p>
            <a:pPr algn="l">
              <a:lnSpc>
                <a:spcPct val="109000"/>
              </a:lnSpc>
              <a:spcBef>
                <a:spcPts val="0"/>
              </a:spcBef>
              <a:spcAft>
                <a:spcPts val="0"/>
              </a:spcAft>
            </a:pPr>
            <a:r>
              <a:rPr sz="1900" b="0">
                <a:solidFill>
                  <a:srgbClr val="00407A"/>
                </a:solidFill>
                <a:latin typeface="Arial"/>
              </a:rPr>
              <a:t>(without examples):</a:t>
            </a:r>
          </a:p>
          <a:p>
            <a:pPr algn="l">
              <a:lnSpc>
                <a:spcPct val="109000"/>
              </a:lnSpc>
              <a:spcBef>
                <a:spcPts val="0"/>
              </a:spcBef>
              <a:spcAft>
                <a:spcPts val="0"/>
              </a:spcAft>
            </a:pPr>
            <a:r>
              <a:rPr sz="1900" b="0">
                <a:solidFill>
                  <a:srgbClr val="00407A"/>
                </a:solidFill>
                <a:latin typeface="Arial"/>
              </a:rPr>
              <a:t/>
            </a:r>
          </a:p>
          <a:p>
            <a:pPr algn="l">
              <a:lnSpc>
                <a:spcPct val="109000"/>
              </a:lnSpc>
              <a:spcBef>
                <a:spcPts val="0"/>
              </a:spcBef>
              <a:spcAft>
                <a:spcPts val="0"/>
              </a:spcAft>
            </a:pPr>
            <a:r>
              <a:rPr sz="1900" b="0">
                <a:solidFill>
                  <a:srgbClr val="00407A"/>
                </a:solidFill>
                <a:latin typeface="Arial"/>
              </a:rPr>
              <a:t>Area: 41 of 46 (36)</a:t>
            </a:r>
          </a:p>
          <a:p>
            <a:pPr algn="l">
              <a:lnSpc>
                <a:spcPct val="109000"/>
              </a:lnSpc>
              <a:spcBef>
                <a:spcPts val="0"/>
              </a:spcBef>
              <a:spcAft>
                <a:spcPts val="0"/>
              </a:spcAft>
            </a:pPr>
            <a:r>
              <a:rPr sz="1900" b="0">
                <a:solidFill>
                  <a:srgbClr val="00407A"/>
                </a:solidFill>
                <a:latin typeface="Arial"/>
              </a:rPr>
              <a:t>Power: 35 of 44 (31)</a:t>
            </a:r>
          </a:p>
          <a:p>
            <a:pPr algn="l">
              <a:lnSpc>
                <a:spcPct val="109000"/>
              </a:lnSpc>
              <a:spcBef>
                <a:spcPts val="0"/>
              </a:spcBef>
              <a:spcAft>
                <a:spcPts val="0"/>
              </a:spcAft>
            </a:pPr>
            <a:r>
              <a:rPr sz="1900" b="0">
                <a:solidFill>
                  <a:srgbClr val="00407A"/>
                </a:solidFill>
                <a:latin typeface="Arial"/>
              </a:rPr>
              <a:t>Frequency: 11 of 12 (10)</a:t>
            </a:r>
          </a:p>
        </p:txBody>
      </p:sp>
      <p:sp>
        <p:nvSpPr>
          <p:cNvPr id="15" name="Rounded Rectangle 14"/>
          <p:cNvSpPr/>
          <p:nvPr/>
        </p:nvSpPr>
        <p:spPr>
          <a:xfrm>
            <a:off x="7991856" y="1828800"/>
            <a:ext cx="3383280" cy="361188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991856" y="1828800"/>
            <a:ext cx="3383280" cy="41148"/>
          </a:xfrm>
          <a:prstGeom prst="rect">
            <a:avLst/>
          </a:prstGeom>
          <a:solidFill>
            <a:srgbClr val="0B5A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0456" y="2057400"/>
            <a:ext cx="2926080" cy="658368"/>
          </a:xfrm>
          <a:prstGeom prst="rect">
            <a:avLst/>
          </a:prstGeom>
          <a:noFill/>
        </p:spPr>
        <p:txBody>
          <a:bodyPr wrap="square" lIns="0" rIns="0" tIns="0" bIns="0" anchor="t">
            <a:noAutofit/>
          </a:bodyPr>
          <a:lstStyle/>
          <a:p>
            <a:pPr algn="l">
              <a:lnSpc>
                <a:spcPct val="109000"/>
              </a:lnSpc>
              <a:spcBef>
                <a:spcPts val="0"/>
              </a:spcBef>
              <a:spcAft>
                <a:spcPts val="0"/>
              </a:spcAft>
            </a:pPr>
            <a:r>
              <a:rPr sz="2100" b="1">
                <a:solidFill>
                  <a:srgbClr val="00407A"/>
                </a:solidFill>
                <a:latin typeface="Arial"/>
              </a:rPr>
              <a:t>Worse with examples</a:t>
            </a:r>
          </a:p>
        </p:txBody>
      </p:sp>
      <p:sp>
        <p:nvSpPr>
          <p:cNvPr id="18" name="TextBox 17"/>
          <p:cNvSpPr txBox="1"/>
          <p:nvPr/>
        </p:nvSpPr>
        <p:spPr>
          <a:xfrm>
            <a:off x="8220456" y="2834640"/>
            <a:ext cx="2926080" cy="2423160"/>
          </a:xfrm>
          <a:prstGeom prst="rect">
            <a:avLst/>
          </a:prstGeom>
          <a:noFill/>
        </p:spPr>
        <p:txBody>
          <a:bodyPr wrap="square" lIns="0" rIns="0" tIns="0" bIns="0" anchor="t">
            <a:noAutofit/>
          </a:bodyPr>
          <a:lstStyle/>
          <a:p>
            <a:pPr algn="l">
              <a:lnSpc>
                <a:spcPct val="109000"/>
              </a:lnSpc>
              <a:spcBef>
                <a:spcPts val="0"/>
              </a:spcBef>
              <a:spcAft>
                <a:spcPts val="0"/>
              </a:spcAft>
            </a:pPr>
            <a:r>
              <a:rPr sz="1800" b="0">
                <a:solidFill>
                  <a:srgbClr val="00407A"/>
                </a:solidFill>
                <a:latin typeface="Arial"/>
              </a:rPr>
              <a:t>27B area levels:</a:t>
            </a:r>
          </a:p>
          <a:p>
            <a:pPr algn="l">
              <a:lnSpc>
                <a:spcPct val="109000"/>
              </a:lnSpc>
              <a:spcBef>
                <a:spcPts val="0"/>
              </a:spcBef>
              <a:spcAft>
                <a:spcPts val="0"/>
              </a:spcAft>
            </a:pPr>
            <a:r>
              <a:rPr sz="1800" b="0">
                <a:solidFill>
                  <a:srgbClr val="00407A"/>
                </a:solidFill>
                <a:latin typeface="Arial"/>
              </a:rPr>
              <a:t>48 of 92 exactly right</a:t>
            </a:r>
          </a:p>
          <a:p>
            <a:pPr algn="l">
              <a:lnSpc>
                <a:spcPct val="109000"/>
              </a:lnSpc>
              <a:spcBef>
                <a:spcPts val="0"/>
              </a:spcBef>
              <a:spcAft>
                <a:spcPts val="0"/>
              </a:spcAft>
            </a:pPr>
            <a:r>
              <a:rPr sz="1800" b="0">
                <a:solidFill>
                  <a:srgbClr val="00407A"/>
                </a:solidFill>
                <a:latin typeface="Arial"/>
              </a:rPr>
              <a:t>(61 without examples)</a:t>
            </a:r>
          </a:p>
          <a:p>
            <a:pPr algn="l">
              <a:lnSpc>
                <a:spcPct val="109000"/>
              </a:lnSpc>
              <a:spcBef>
                <a:spcPts val="0"/>
              </a:spcBef>
              <a:spcAft>
                <a:spcPts val="0"/>
              </a:spcAft>
            </a:pPr>
            <a:r>
              <a:rPr sz="1800" b="0">
                <a:solidFill>
                  <a:srgbClr val="00407A"/>
                </a:solidFill>
                <a:latin typeface="Arial"/>
              </a:rPr>
              <a:t/>
            </a:r>
          </a:p>
          <a:p>
            <a:pPr algn="l">
              <a:lnSpc>
                <a:spcPct val="109000"/>
              </a:lnSpc>
              <a:spcBef>
                <a:spcPts val="0"/>
              </a:spcBef>
              <a:spcAft>
                <a:spcPts val="0"/>
              </a:spcAft>
            </a:pPr>
            <a:r>
              <a:rPr sz="1800" b="0">
                <a:solidFill>
                  <a:srgbClr val="00407A"/>
                </a:solidFill>
                <a:latin typeface="Arial"/>
              </a:rPr>
              <a:t>KEV-0.8B gives one</a:t>
            </a:r>
          </a:p>
          <a:p>
            <a:pPr algn="l">
              <a:lnSpc>
                <a:spcPct val="109000"/>
              </a:lnSpc>
              <a:spcBef>
                <a:spcPts val="0"/>
              </a:spcBef>
              <a:spcAft>
                <a:spcPts val="0"/>
              </a:spcAft>
            </a:pPr>
            <a:r>
              <a:rPr sz="1800" b="0">
                <a:solidFill>
                  <a:srgbClr val="00407A"/>
                </a:solidFill>
                <a:latin typeface="Arial"/>
              </a:rPr>
              <a:t>answer to every design</a:t>
            </a:r>
          </a:p>
          <a:p>
            <a:pPr algn="l">
              <a:lnSpc>
                <a:spcPct val="109000"/>
              </a:lnSpc>
              <a:spcBef>
                <a:spcPts val="0"/>
              </a:spcBef>
              <a:spcAft>
                <a:spcPts val="0"/>
              </a:spcAft>
            </a:pPr>
            <a:r>
              <a:rPr sz="1800" b="0">
                <a:solidFill>
                  <a:srgbClr val="00407A"/>
                </a:solidFill>
                <a:latin typeface="Arial"/>
              </a:rPr>
              <a:t>in 6 of 10 questions</a:t>
            </a:r>
          </a:p>
        </p:txBody>
      </p:sp>
      <p:sp>
        <p:nvSpPr>
          <p:cNvPr id="19" name="Rounded Rectangle 18"/>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With examples, no power or timing level score beats a constant answer.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Compilation and synthesis answer different questions</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RTL = register-transfer level: source code that describes digital hardware.</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TESTS</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4</a:t>
            </a:r>
          </a:p>
        </p:txBody>
      </p:sp>
      <p:sp>
        <p:nvSpPr>
          <p:cNvPr id="6" name="Rounded Rectangle 5"/>
          <p:cNvSpPr/>
          <p:nvPr/>
        </p:nvSpPr>
        <p:spPr>
          <a:xfrm>
            <a:off x="813816" y="1828800"/>
            <a:ext cx="3383280" cy="361188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13816" y="1828800"/>
            <a:ext cx="338328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42416" y="2057400"/>
            <a:ext cx="2926080" cy="658368"/>
          </a:xfrm>
          <a:prstGeom prst="rect">
            <a:avLst/>
          </a:prstGeom>
          <a:noFill/>
        </p:spPr>
        <p:txBody>
          <a:bodyPr wrap="square" lIns="0" rIns="0" tIns="0" bIns="0" anchor="t">
            <a:noAutofit/>
          </a:bodyPr>
          <a:lstStyle/>
          <a:p>
            <a:pPr algn="l">
              <a:lnSpc>
                <a:spcPct val="109000"/>
              </a:lnSpc>
              <a:spcBef>
                <a:spcPts val="0"/>
              </a:spcBef>
              <a:spcAft>
                <a:spcPts val="0"/>
              </a:spcAft>
            </a:pPr>
            <a:r>
              <a:rPr sz="2100" b="1">
                <a:solidFill>
                  <a:srgbClr val="00407A"/>
                </a:solidFill>
                <a:latin typeface="Arial"/>
              </a:rPr>
              <a:t>Does it compile?</a:t>
            </a:r>
          </a:p>
        </p:txBody>
      </p:sp>
      <p:sp>
        <p:nvSpPr>
          <p:cNvPr id="9" name="TextBox 8"/>
          <p:cNvSpPr txBox="1"/>
          <p:nvPr/>
        </p:nvSpPr>
        <p:spPr>
          <a:xfrm>
            <a:off x="1042416" y="2834640"/>
            <a:ext cx="2926080" cy="2423160"/>
          </a:xfrm>
          <a:prstGeom prst="rect">
            <a:avLst/>
          </a:prstGeom>
          <a:noFill/>
        </p:spPr>
        <p:txBody>
          <a:bodyPr wrap="square" lIns="0" rIns="0" tIns="0" bIns="0" anchor="t">
            <a:noAutofit/>
          </a:bodyPr>
          <a:lstStyle/>
          <a:p>
            <a:pPr algn="l">
              <a:lnSpc>
                <a:spcPct val="109000"/>
              </a:lnSpc>
              <a:spcBef>
                <a:spcPts val="0"/>
              </a:spcBef>
              <a:spcAft>
                <a:spcPts val="0"/>
              </a:spcAft>
            </a:pPr>
            <a:r>
              <a:rPr sz="1800" b="0">
                <a:solidFill>
                  <a:srgbClr val="00407A"/>
                </a:solidFill>
                <a:latin typeface="Arial"/>
              </a:rPr>
              <a:t>Can the simulator compiler</a:t>
            </a:r>
          </a:p>
          <a:p>
            <a:pPr algn="l">
              <a:lnSpc>
                <a:spcPct val="109000"/>
              </a:lnSpc>
              <a:spcBef>
                <a:spcPts val="0"/>
              </a:spcBef>
              <a:spcAft>
                <a:spcPts val="0"/>
              </a:spcAft>
            </a:pPr>
            <a:r>
              <a:rPr sz="1800" b="0">
                <a:solidFill>
                  <a:srgbClr val="00407A"/>
                </a:solidFill>
                <a:latin typeface="Arial"/>
              </a:rPr>
              <a:t>accept the source code?</a:t>
            </a:r>
          </a:p>
          <a:p>
            <a:pPr algn="l">
              <a:lnSpc>
                <a:spcPct val="109000"/>
              </a:lnSpc>
              <a:spcBef>
                <a:spcPts val="0"/>
              </a:spcBef>
              <a:spcAft>
                <a:spcPts val="0"/>
              </a:spcAft>
            </a:pPr>
            <a:r>
              <a:rPr sz="1800" b="0">
                <a:solidFill>
                  <a:srgbClr val="00407A"/>
                </a:solidFill>
                <a:latin typeface="Arial"/>
              </a:rPr>
              <a:t/>
            </a:r>
          </a:p>
          <a:p>
            <a:pPr algn="l">
              <a:lnSpc>
                <a:spcPct val="109000"/>
              </a:lnSpc>
              <a:spcBef>
                <a:spcPts val="0"/>
              </a:spcBef>
              <a:spcAft>
                <a:spcPts val="0"/>
              </a:spcAft>
            </a:pPr>
            <a:r>
              <a:rPr sz="1800" b="0">
                <a:solidFill>
                  <a:srgbClr val="00407A"/>
                </a:solidFill>
                <a:latin typeface="Arial"/>
              </a:rPr>
              <a:t>Reference: QuestaSim</a:t>
            </a:r>
          </a:p>
          <a:p>
            <a:pPr algn="l">
              <a:lnSpc>
                <a:spcPct val="109000"/>
              </a:lnSpc>
              <a:spcBef>
                <a:spcPts val="0"/>
              </a:spcBef>
              <a:spcAft>
                <a:spcPts val="0"/>
              </a:spcAft>
            </a:pPr>
            <a:r>
              <a:rPr sz="1800" b="0">
                <a:solidFill>
                  <a:srgbClr val="00407A"/>
                </a:solidFill>
                <a:latin typeface="Arial"/>
              </a:rPr>
              <a:t>vlog -sv.</a:t>
            </a:r>
          </a:p>
          <a:p>
            <a:pPr algn="l">
              <a:lnSpc>
                <a:spcPct val="109000"/>
              </a:lnSpc>
              <a:spcBef>
                <a:spcPts val="0"/>
              </a:spcBef>
              <a:spcAft>
                <a:spcPts val="0"/>
              </a:spcAft>
            </a:pPr>
            <a:r>
              <a:rPr sz="1800" b="0">
                <a:solidFill>
                  <a:srgbClr val="00407A"/>
                </a:solidFill>
                <a:latin typeface="Arial"/>
              </a:rPr>
              <a:t/>
            </a:r>
          </a:p>
          <a:p>
            <a:pPr algn="l">
              <a:lnSpc>
                <a:spcPct val="109000"/>
              </a:lnSpc>
              <a:spcBef>
                <a:spcPts val="0"/>
              </a:spcBef>
              <a:spcAft>
                <a:spcPts val="0"/>
              </a:spcAft>
            </a:pPr>
            <a:r>
              <a:rPr sz="1800" b="0">
                <a:solidFill>
                  <a:srgbClr val="00407A"/>
                </a:solidFill>
                <a:latin typeface="Arial"/>
              </a:rPr>
              <a:t>This does not test whether</a:t>
            </a:r>
          </a:p>
          <a:p>
            <a:pPr algn="l">
              <a:lnSpc>
                <a:spcPct val="109000"/>
              </a:lnSpc>
              <a:spcBef>
                <a:spcPts val="0"/>
              </a:spcBef>
              <a:spcAft>
                <a:spcPts val="0"/>
              </a:spcAft>
            </a:pPr>
            <a:r>
              <a:rPr sz="1800" b="0">
                <a:solidFill>
                  <a:srgbClr val="00407A"/>
                </a:solidFill>
                <a:latin typeface="Arial"/>
              </a:rPr>
              <a:t>the circuit is correct.</a:t>
            </a:r>
          </a:p>
        </p:txBody>
      </p:sp>
      <p:sp>
        <p:nvSpPr>
          <p:cNvPr id="10" name="Rounded Rectangle 9"/>
          <p:cNvSpPr/>
          <p:nvPr/>
        </p:nvSpPr>
        <p:spPr>
          <a:xfrm>
            <a:off x="4398264" y="1828800"/>
            <a:ext cx="3383280" cy="361188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98264" y="1828800"/>
            <a:ext cx="338328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26864" y="2057400"/>
            <a:ext cx="2926080" cy="658368"/>
          </a:xfrm>
          <a:prstGeom prst="rect">
            <a:avLst/>
          </a:prstGeom>
          <a:noFill/>
        </p:spPr>
        <p:txBody>
          <a:bodyPr wrap="square" lIns="0" rIns="0" tIns="0" bIns="0" anchor="t">
            <a:noAutofit/>
          </a:bodyPr>
          <a:lstStyle/>
          <a:p>
            <a:pPr algn="l">
              <a:lnSpc>
                <a:spcPct val="109000"/>
              </a:lnSpc>
              <a:spcBef>
                <a:spcPts val="0"/>
              </a:spcBef>
              <a:spcAft>
                <a:spcPts val="0"/>
              </a:spcAft>
            </a:pPr>
            <a:r>
              <a:rPr sz="2100" b="1">
                <a:solidFill>
                  <a:srgbClr val="00407A"/>
                </a:solidFill>
                <a:latin typeface="Arial"/>
              </a:rPr>
              <a:t>Does it synthesize?</a:t>
            </a:r>
          </a:p>
        </p:txBody>
      </p:sp>
      <p:sp>
        <p:nvSpPr>
          <p:cNvPr id="13" name="TextBox 12"/>
          <p:cNvSpPr txBox="1"/>
          <p:nvPr/>
        </p:nvSpPr>
        <p:spPr>
          <a:xfrm>
            <a:off x="4626864" y="2834640"/>
            <a:ext cx="2926080" cy="2423160"/>
          </a:xfrm>
          <a:prstGeom prst="rect">
            <a:avLst/>
          </a:prstGeom>
          <a:noFill/>
        </p:spPr>
        <p:txBody>
          <a:bodyPr wrap="square" lIns="0" rIns="0" tIns="0" bIns="0" anchor="t">
            <a:noAutofit/>
          </a:bodyPr>
          <a:lstStyle/>
          <a:p>
            <a:pPr algn="l">
              <a:lnSpc>
                <a:spcPct val="109000"/>
              </a:lnSpc>
              <a:spcBef>
                <a:spcPts val="0"/>
              </a:spcBef>
              <a:spcAft>
                <a:spcPts val="0"/>
              </a:spcAft>
            </a:pPr>
            <a:r>
              <a:rPr sz="1800" b="0">
                <a:solidFill>
                  <a:srgbClr val="00407A"/>
                </a:solidFill>
                <a:latin typeface="Arial"/>
              </a:rPr>
              <a:t>Can Design Compiler build</a:t>
            </a:r>
          </a:p>
          <a:p>
            <a:pPr algn="l">
              <a:lnSpc>
                <a:spcPct val="109000"/>
              </a:lnSpc>
              <a:spcBef>
                <a:spcPts val="0"/>
              </a:spcBef>
              <a:spcAft>
                <a:spcPts val="0"/>
              </a:spcAft>
            </a:pPr>
            <a:r>
              <a:rPr sz="1800" b="0">
                <a:solidFill>
                  <a:srgbClr val="00407A"/>
                </a:solidFill>
                <a:latin typeface="Arial"/>
              </a:rPr>
              <a:t>a complete gate-level</a:t>
            </a:r>
          </a:p>
          <a:p>
            <a:pPr algn="l">
              <a:lnSpc>
                <a:spcPct val="109000"/>
              </a:lnSpc>
              <a:spcBef>
                <a:spcPts val="0"/>
              </a:spcBef>
              <a:spcAft>
                <a:spcPts val="0"/>
              </a:spcAft>
            </a:pPr>
            <a:r>
              <a:rPr sz="1800" b="0">
                <a:solidFill>
                  <a:srgbClr val="00407A"/>
                </a:solidFill>
                <a:latin typeface="Arial"/>
              </a:rPr>
              <a:t>netlist from the code?</a:t>
            </a:r>
          </a:p>
          <a:p>
            <a:pPr algn="l">
              <a:lnSpc>
                <a:spcPct val="109000"/>
              </a:lnSpc>
              <a:spcBef>
                <a:spcPts val="0"/>
              </a:spcBef>
              <a:spcAft>
                <a:spcPts val="0"/>
              </a:spcAft>
            </a:pPr>
            <a:r>
              <a:rPr sz="1800" b="0">
                <a:solidFill>
                  <a:srgbClr val="00407A"/>
                </a:solidFill>
                <a:latin typeface="Arial"/>
              </a:rPr>
              <a:t/>
            </a:r>
          </a:p>
          <a:p>
            <a:pPr algn="l">
              <a:lnSpc>
                <a:spcPct val="109000"/>
              </a:lnSpc>
              <a:spcBef>
                <a:spcPts val="0"/>
              </a:spcBef>
              <a:spcAft>
                <a:spcPts val="0"/>
              </a:spcAft>
            </a:pPr>
            <a:r>
              <a:rPr sz="1800" b="0">
                <a:solidFill>
                  <a:srgbClr val="00407A"/>
                </a:solidFill>
                <a:latin typeface="Arial"/>
              </a:rPr>
              <a:t>No unresolved modules.</a:t>
            </a:r>
          </a:p>
          <a:p>
            <a:pPr algn="l">
              <a:lnSpc>
                <a:spcPct val="109000"/>
              </a:lnSpc>
              <a:spcBef>
                <a:spcPts val="0"/>
              </a:spcBef>
              <a:spcAft>
                <a:spcPts val="0"/>
              </a:spcAft>
            </a:pPr>
            <a:r>
              <a:rPr sz="1800" b="0">
                <a:solidFill>
                  <a:srgbClr val="00407A"/>
                </a:solidFill>
                <a:latin typeface="Arial"/>
              </a:rPr>
              <a:t>All registers map to cells.</a:t>
            </a:r>
          </a:p>
          <a:p>
            <a:pPr algn="l">
              <a:lnSpc>
                <a:spcPct val="109000"/>
              </a:lnSpc>
              <a:spcBef>
                <a:spcPts val="0"/>
              </a:spcBef>
              <a:spcAft>
                <a:spcPts val="0"/>
              </a:spcAft>
            </a:pPr>
            <a:r>
              <a:rPr sz="1800" b="0">
                <a:solidFill>
                  <a:srgbClr val="00407A"/>
                </a:solidFill>
                <a:latin typeface="Arial"/>
              </a:rPr>
              <a:t>No synthesis errors.</a:t>
            </a:r>
          </a:p>
        </p:txBody>
      </p:sp>
      <p:sp>
        <p:nvSpPr>
          <p:cNvPr id="14" name="Rounded Rectangle 13"/>
          <p:cNvSpPr/>
          <p:nvPr/>
        </p:nvSpPr>
        <p:spPr>
          <a:xfrm>
            <a:off x="7991856" y="1828800"/>
            <a:ext cx="3383280" cy="361188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991856" y="1828800"/>
            <a:ext cx="338328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0456" y="2057400"/>
            <a:ext cx="2926080" cy="658368"/>
          </a:xfrm>
          <a:prstGeom prst="rect">
            <a:avLst/>
          </a:prstGeom>
          <a:noFill/>
        </p:spPr>
        <p:txBody>
          <a:bodyPr wrap="square" lIns="0" rIns="0" tIns="0" bIns="0" anchor="t">
            <a:noAutofit/>
          </a:bodyPr>
          <a:lstStyle/>
          <a:p>
            <a:pPr algn="l">
              <a:lnSpc>
                <a:spcPct val="109000"/>
              </a:lnSpc>
              <a:spcBef>
                <a:spcPts val="0"/>
              </a:spcBef>
              <a:spcAft>
                <a:spcPts val="0"/>
              </a:spcAft>
            </a:pPr>
            <a:r>
              <a:rPr sz="2100" b="1">
                <a:solidFill>
                  <a:srgbClr val="00407A"/>
                </a:solidFill>
                <a:latin typeface="Arial"/>
              </a:rPr>
              <a:t>What does it cost?</a:t>
            </a:r>
          </a:p>
        </p:txBody>
      </p:sp>
      <p:sp>
        <p:nvSpPr>
          <p:cNvPr id="17" name="TextBox 16"/>
          <p:cNvSpPr txBox="1"/>
          <p:nvPr/>
        </p:nvSpPr>
        <p:spPr>
          <a:xfrm>
            <a:off x="8220456" y="2834640"/>
            <a:ext cx="2926080" cy="2423160"/>
          </a:xfrm>
          <a:prstGeom prst="rect">
            <a:avLst/>
          </a:prstGeom>
          <a:noFill/>
        </p:spPr>
        <p:txBody>
          <a:bodyPr wrap="square" lIns="0" rIns="0" tIns="0" bIns="0" anchor="t">
            <a:noAutofit/>
          </a:bodyPr>
          <a:lstStyle/>
          <a:p>
            <a:pPr algn="l">
              <a:lnSpc>
                <a:spcPct val="109000"/>
              </a:lnSpc>
              <a:spcBef>
                <a:spcPts val="0"/>
              </a:spcBef>
              <a:spcAft>
                <a:spcPts val="0"/>
              </a:spcAft>
            </a:pPr>
            <a:r>
              <a:rPr sz="1800" b="0">
                <a:solidFill>
                  <a:srgbClr val="00407A"/>
                </a:solidFill>
                <a:latin typeface="Arial"/>
              </a:rPr>
              <a:t>Estimate cell area, power,</a:t>
            </a:r>
          </a:p>
          <a:p>
            <a:pPr algn="l">
              <a:lnSpc>
                <a:spcPct val="109000"/>
              </a:lnSpc>
              <a:spcBef>
                <a:spcPts val="0"/>
              </a:spcBef>
              <a:spcAft>
                <a:spcPts val="0"/>
              </a:spcAft>
            </a:pPr>
            <a:r>
              <a:rPr sz="1800" b="0">
                <a:solidFill>
                  <a:srgbClr val="00407A"/>
                </a:solidFill>
                <a:latin typeface="Arial"/>
              </a:rPr>
              <a:t>and timing from the RTL.</a:t>
            </a:r>
          </a:p>
          <a:p>
            <a:pPr algn="l">
              <a:lnSpc>
                <a:spcPct val="109000"/>
              </a:lnSpc>
              <a:spcBef>
                <a:spcPts val="0"/>
              </a:spcBef>
              <a:spcAft>
                <a:spcPts val="0"/>
              </a:spcAft>
            </a:pPr>
            <a:r>
              <a:rPr sz="1800" b="0">
                <a:solidFill>
                  <a:srgbClr val="00407A"/>
                </a:solidFill>
                <a:latin typeface="Arial"/>
              </a:rPr>
              <a:t/>
            </a:r>
          </a:p>
          <a:p>
            <a:pPr algn="l">
              <a:lnSpc>
                <a:spcPct val="109000"/>
              </a:lnSpc>
              <a:spcBef>
                <a:spcPts val="0"/>
              </a:spcBef>
              <a:spcAft>
                <a:spcPts val="0"/>
              </a:spcAft>
            </a:pPr>
            <a:r>
              <a:rPr sz="1800" b="0">
                <a:solidFill>
                  <a:srgbClr val="00407A"/>
                </a:solidFill>
                <a:latin typeface="Arial"/>
              </a:rPr>
              <a:t>The reference comes from</a:t>
            </a:r>
          </a:p>
          <a:p>
            <a:pPr algn="l">
              <a:lnSpc>
                <a:spcPct val="109000"/>
              </a:lnSpc>
              <a:spcBef>
                <a:spcPts val="0"/>
              </a:spcBef>
              <a:spcAft>
                <a:spcPts val="0"/>
              </a:spcAft>
            </a:pPr>
            <a:r>
              <a:rPr sz="1800" b="0">
                <a:solidFill>
                  <a:srgbClr val="00407A"/>
                </a:solidFill>
                <a:latin typeface="Arial"/>
              </a:rPr>
              <a:t>synthesis and power tools.</a:t>
            </a:r>
          </a:p>
          <a:p>
            <a:pPr algn="l">
              <a:lnSpc>
                <a:spcPct val="109000"/>
              </a:lnSpc>
              <a:spcBef>
                <a:spcPts val="0"/>
              </a:spcBef>
              <a:spcAft>
                <a:spcPts val="0"/>
              </a:spcAft>
            </a:pPr>
            <a:r>
              <a:rPr sz="1800" b="0">
                <a:solidFill>
                  <a:srgbClr val="00407A"/>
                </a:solidFill>
                <a:latin typeface="Arial"/>
              </a:rPr>
              <a:t/>
            </a:r>
          </a:p>
          <a:p>
            <a:pPr algn="l">
              <a:lnSpc>
                <a:spcPct val="109000"/>
              </a:lnSpc>
              <a:spcBef>
                <a:spcPts val="0"/>
              </a:spcBef>
              <a:spcAft>
                <a:spcPts val="0"/>
              </a:spcAft>
            </a:pPr>
            <a:r>
              <a:rPr sz="1800" b="0">
                <a:solidFill>
                  <a:srgbClr val="00407A"/>
                </a:solidFill>
                <a:latin typeface="Arial"/>
              </a:rPr>
              <a:t>No fabricated-chip or</a:t>
            </a:r>
          </a:p>
          <a:p>
            <a:pPr algn="l">
              <a:lnSpc>
                <a:spcPct val="109000"/>
              </a:lnSpc>
              <a:spcBef>
                <a:spcPts val="0"/>
              </a:spcBef>
              <a:spcAft>
                <a:spcPts val="0"/>
              </a:spcAft>
            </a:pPr>
            <a:r>
              <a:rPr sz="1800" b="0">
                <a:solidFill>
                  <a:srgbClr val="00407A"/>
                </a:solidFill>
                <a:latin typeface="Arial"/>
              </a:rPr>
              <a:t>post-route measurement.</a:t>
            </a:r>
          </a:p>
        </p:txBody>
      </p:sp>
      <p:sp>
        <p:nvSpPr>
          <p:cNvPr id="18" name="Rounded Rectangle 17"/>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In the test set, 15 designs compile successfully but still fail synthesis.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The dataset and the held-out test set</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One model request can contain several questions. Questions are not independent design samples.</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TESTS</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5</a:t>
            </a:r>
          </a:p>
        </p:txBody>
      </p:sp>
      <p:sp>
        <p:nvSpPr>
          <p:cNvPr id="6" name="Rounded Rectangle 5"/>
          <p:cNvSpPr/>
          <p:nvPr/>
        </p:nvSpPr>
        <p:spPr>
          <a:xfrm>
            <a:off x="813816" y="1828800"/>
            <a:ext cx="3383280" cy="1078992"/>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96696" y="1947672"/>
            <a:ext cx="1051560" cy="502920"/>
          </a:xfrm>
          <a:prstGeom prst="rect">
            <a:avLst/>
          </a:prstGeom>
          <a:noFill/>
        </p:spPr>
        <p:txBody>
          <a:bodyPr wrap="square" lIns="0" rIns="0" tIns="0" bIns="0" anchor="t">
            <a:noAutofit/>
          </a:bodyPr>
          <a:lstStyle/>
          <a:p>
            <a:pPr algn="l">
              <a:lnSpc>
                <a:spcPct val="109000"/>
              </a:lnSpc>
              <a:spcBef>
                <a:spcPts val="0"/>
              </a:spcBef>
              <a:spcAft>
                <a:spcPts val="0"/>
              </a:spcAft>
            </a:pPr>
            <a:r>
              <a:rPr sz="3200" b="1">
                <a:solidFill>
                  <a:srgbClr val="00407A"/>
                </a:solidFill>
                <a:latin typeface="Arial"/>
              </a:rPr>
              <a:t>151</a:t>
            </a:r>
          </a:p>
        </p:txBody>
      </p:sp>
      <p:sp>
        <p:nvSpPr>
          <p:cNvPr id="8" name="TextBox 7"/>
          <p:cNvSpPr txBox="1"/>
          <p:nvPr/>
        </p:nvSpPr>
        <p:spPr>
          <a:xfrm>
            <a:off x="2093976" y="2011680"/>
            <a:ext cx="1901952" cy="594360"/>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00407A"/>
                </a:solidFill>
                <a:latin typeface="Arial"/>
              </a:rPr>
              <a:t>retained designs</a:t>
            </a:r>
          </a:p>
        </p:txBody>
      </p:sp>
      <p:sp>
        <p:nvSpPr>
          <p:cNvPr id="9" name="Rounded Rectangle 8"/>
          <p:cNvSpPr/>
          <p:nvPr/>
        </p:nvSpPr>
        <p:spPr>
          <a:xfrm>
            <a:off x="4398264" y="1828800"/>
            <a:ext cx="3383280" cy="1078992"/>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81144" y="1947672"/>
            <a:ext cx="1051560" cy="502920"/>
          </a:xfrm>
          <a:prstGeom prst="rect">
            <a:avLst/>
          </a:prstGeom>
          <a:noFill/>
        </p:spPr>
        <p:txBody>
          <a:bodyPr wrap="square" lIns="0" rIns="0" tIns="0" bIns="0" anchor="t">
            <a:noAutofit/>
          </a:bodyPr>
          <a:lstStyle/>
          <a:p>
            <a:pPr algn="l">
              <a:lnSpc>
                <a:spcPct val="109000"/>
              </a:lnSpc>
              <a:spcBef>
                <a:spcPts val="0"/>
              </a:spcBef>
              <a:spcAft>
                <a:spcPts val="0"/>
              </a:spcAft>
            </a:pPr>
            <a:r>
              <a:rPr sz="3200" b="1">
                <a:solidFill>
                  <a:srgbClr val="00407A"/>
                </a:solidFill>
                <a:latin typeface="Arial"/>
              </a:rPr>
              <a:t>348</a:t>
            </a:r>
          </a:p>
        </p:txBody>
      </p:sp>
      <p:sp>
        <p:nvSpPr>
          <p:cNvPr id="11" name="TextBox 10"/>
          <p:cNvSpPr txBox="1"/>
          <p:nvPr/>
        </p:nvSpPr>
        <p:spPr>
          <a:xfrm>
            <a:off x="5678423" y="2011680"/>
            <a:ext cx="1901952" cy="594360"/>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00407A"/>
                </a:solidFill>
                <a:latin typeface="Arial"/>
              </a:rPr>
              <a:t>requests across both splits</a:t>
            </a:r>
          </a:p>
        </p:txBody>
      </p:sp>
      <p:sp>
        <p:nvSpPr>
          <p:cNvPr id="12" name="Rounded Rectangle 11"/>
          <p:cNvSpPr/>
          <p:nvPr/>
        </p:nvSpPr>
        <p:spPr>
          <a:xfrm>
            <a:off x="7991856" y="1828800"/>
            <a:ext cx="3383280" cy="1078992"/>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74736" y="1947672"/>
            <a:ext cx="1051560" cy="502920"/>
          </a:xfrm>
          <a:prstGeom prst="rect">
            <a:avLst/>
          </a:prstGeom>
          <a:noFill/>
        </p:spPr>
        <p:txBody>
          <a:bodyPr wrap="square" lIns="0" rIns="0" tIns="0" bIns="0" anchor="t">
            <a:noAutofit/>
          </a:bodyPr>
          <a:lstStyle/>
          <a:p>
            <a:pPr algn="l">
              <a:lnSpc>
                <a:spcPct val="109000"/>
              </a:lnSpc>
              <a:spcBef>
                <a:spcPts val="0"/>
              </a:spcBef>
              <a:spcAft>
                <a:spcPts val="0"/>
              </a:spcAft>
            </a:pPr>
            <a:r>
              <a:rPr sz="3200" b="1">
                <a:solidFill>
                  <a:srgbClr val="00407A"/>
                </a:solidFill>
                <a:latin typeface="Arial"/>
              </a:rPr>
              <a:t>875</a:t>
            </a:r>
          </a:p>
        </p:txBody>
      </p:sp>
      <p:sp>
        <p:nvSpPr>
          <p:cNvPr id="14" name="TextBox 13"/>
          <p:cNvSpPr txBox="1"/>
          <p:nvPr/>
        </p:nvSpPr>
        <p:spPr>
          <a:xfrm>
            <a:off x="9272016" y="2011680"/>
            <a:ext cx="1901952" cy="594360"/>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00407A"/>
                </a:solidFill>
                <a:latin typeface="Arial"/>
              </a:rPr>
              <a:t>questions across both splits</a:t>
            </a:r>
          </a:p>
        </p:txBody>
      </p:sp>
      <p:graphicFrame>
        <p:nvGraphicFramePr>
          <p:cNvPr id="15" name="Table 14"/>
          <p:cNvGraphicFramePr>
            <a:graphicFrameLocks noGrp="1"/>
          </p:cNvGraphicFramePr>
          <p:nvPr/>
        </p:nvGraphicFramePr>
        <p:xfrm>
          <a:off x="813816" y="3200400"/>
          <a:ext cx="10561320" cy="2285998"/>
        </p:xfrm>
        <a:graphic>
          <a:graphicData uri="http://schemas.openxmlformats.org/drawingml/2006/table">
            <a:tbl>
              <a:tblPr firstRow="1" bandRow="1">
                <a:tableStyleId>{5C22544A-7EE6-4342-B048-85BDC9FD1C3A}</a:tableStyleId>
              </a:tblPr>
              <a:tblGrid>
                <a:gridCol w="2971800"/>
                <a:gridCol w="1097280"/>
                <a:gridCol w="1143000"/>
                <a:gridCol w="5349240"/>
              </a:tblGrid>
              <a:tr h="566928">
                <a:tc>
                  <a:txBody>
                    <a:bodyPr/>
                    <a:lstStyle/>
                    <a:p>
                      <a:pPr algn="l">
                        <a:lnSpc>
                          <a:spcPct val="103000"/>
                        </a:lnSpc>
                        <a:spcBef>
                          <a:spcPts val="0"/>
                        </a:spcBef>
                        <a:spcAft>
                          <a:spcPts val="0"/>
                        </a:spcAft>
                      </a:pPr>
                      <a:r>
                        <a:rPr sz="1400" b="1">
                          <a:solidFill>
                            <a:srgbClr val="FFFFFF"/>
                          </a:solidFill>
                          <a:latin typeface="Arial"/>
                        </a:rPr>
                        <a:t>Held-out request group</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400" b="1">
                          <a:solidFill>
                            <a:srgbClr val="FFFFFF"/>
                          </a:solidFill>
                          <a:latin typeface="Arial"/>
                        </a:rPr>
                        <a:t>Requests</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400" b="1">
                          <a:solidFill>
                            <a:srgbClr val="FFFFFF"/>
                          </a:solidFill>
                          <a:latin typeface="Arial"/>
                        </a:rPr>
                        <a:t>Questions</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400" b="1">
                          <a:solidFill>
                            <a:srgbClr val="FFFFFF"/>
                          </a:solidFill>
                          <a:latin typeface="Arial"/>
                        </a:rPr>
                        <a:t>What is covered</a:t>
                      </a:r>
                    </a:p>
                  </a:txBody>
                  <a:tcPr marL="109728" marR="91440" marT="54864" marB="36576" anchor="ctr">
                    <a:solidFill>
                      <a:srgbClr val="00407A"/>
                    </a:solidFill>
                    <a:lnL>
                      <a:noFill/>
                    </a:lnL>
                    <a:lnR>
                      <a:noFill/>
                    </a:lnR>
                    <a:lnT>
                      <a:noFill/>
                    </a:lnT>
                    <a:lnB>
                      <a:noFill/>
                    </a:lnB>
                  </a:tcPr>
                </a:tc>
              </a:tr>
              <a:tr h="343814">
                <a:tc>
                  <a:txBody>
                    <a:bodyPr/>
                    <a:lstStyle/>
                    <a:p>
                      <a:pPr algn="l">
                        <a:lnSpc>
                          <a:spcPct val="103000"/>
                        </a:lnSpc>
                        <a:spcBef>
                          <a:spcPts val="0"/>
                        </a:spcBef>
                        <a:spcAft>
                          <a:spcPts val="0"/>
                        </a:spcAft>
                      </a:pPr>
                      <a:r>
                        <a:rPr sz="1600" b="0">
                          <a:solidFill>
                            <a:srgbClr val="00407A"/>
                          </a:solidFill>
                          <a:latin typeface="Arial"/>
                        </a:rPr>
                        <a:t>Basic checks</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123</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246</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Compilation + synthesis</a:t>
                      </a:r>
                    </a:p>
                  </a:txBody>
                  <a:tcPr marL="109728" marR="91440" marT="54864" marB="36576" anchor="ctr">
                    <a:solidFill>
                      <a:srgbClr val="E3EFF5"/>
                    </a:solidFill>
                    <a:lnL>
                      <a:noFill/>
                    </a:lnL>
                    <a:lnR>
                      <a:noFill/>
                    </a:lnR>
                    <a:lnT>
                      <a:noFill/>
                    </a:lnT>
                    <a:lnB>
                      <a:noFill/>
                    </a:lnB>
                  </a:tcPr>
                </a:tc>
              </a:tr>
              <a:tr h="343814">
                <a:tc>
                  <a:txBody>
                    <a:bodyPr/>
                    <a:lstStyle/>
                    <a:p>
                      <a:pPr algn="l">
                        <a:lnSpc>
                          <a:spcPct val="103000"/>
                        </a:lnSpc>
                        <a:spcBef>
                          <a:spcPts val="0"/>
                        </a:spcBef>
                        <a:spcAft>
                          <a:spcPts val="0"/>
                        </a:spcAft>
                      </a:pPr>
                      <a:r>
                        <a:rPr sz="1600" b="0">
                          <a:solidFill>
                            <a:srgbClr val="00407A"/>
                          </a:solidFill>
                          <a:latin typeface="Arial"/>
                        </a:rPr>
                        <a:t>Failure reason</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16</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16</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One of ten reason options</a:t>
                      </a:r>
                    </a:p>
                  </a:txBody>
                  <a:tcPr marL="109728" marR="91440" marT="54864" marB="36576" anchor="ctr">
                    <a:solidFill>
                      <a:srgbClr val="FFFFFF"/>
                    </a:solidFill>
                    <a:lnL>
                      <a:noFill/>
                    </a:lnL>
                    <a:lnR>
                      <a:noFill/>
                    </a:lnR>
                    <a:lnT>
                      <a:noFill/>
                    </a:lnT>
                    <a:lnB>
                      <a:noFill/>
                    </a:lnB>
                  </a:tcPr>
                </a:tc>
              </a:tr>
              <a:tr h="343814">
                <a:tc>
                  <a:txBody>
                    <a:bodyPr/>
                    <a:lstStyle/>
                    <a:p>
                      <a:pPr algn="l">
                        <a:lnSpc>
                          <a:spcPct val="103000"/>
                        </a:lnSpc>
                        <a:spcBef>
                          <a:spcPts val="0"/>
                        </a:spcBef>
                        <a:spcAft>
                          <a:spcPts val="0"/>
                        </a:spcAft>
                      </a:pPr>
                      <a:r>
                        <a:rPr sz="1600" b="0">
                          <a:solidFill>
                            <a:srgbClr val="00407A"/>
                          </a:solidFill>
                          <a:latin typeface="Arial"/>
                        </a:rPr>
                        <a:t>Performance</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92</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361</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Area, power and two timing levels</a:t>
                      </a:r>
                    </a:p>
                  </a:txBody>
                  <a:tcPr marL="109728" marR="91440" marT="54864" marB="36576" anchor="ctr">
                    <a:solidFill>
                      <a:srgbClr val="E3EFF5"/>
                    </a:solidFill>
                    <a:lnL>
                      <a:noFill/>
                    </a:lnL>
                    <a:lnR>
                      <a:noFill/>
                    </a:lnR>
                    <a:lnT>
                      <a:noFill/>
                    </a:lnT>
                    <a:lnB>
                      <a:noFill/>
                    </a:lnB>
                  </a:tcPr>
                </a:tc>
              </a:tr>
              <a:tr h="343814">
                <a:tc>
                  <a:txBody>
                    <a:bodyPr/>
                    <a:lstStyle/>
                    <a:p>
                      <a:pPr algn="l">
                        <a:lnSpc>
                          <a:spcPct val="103000"/>
                        </a:lnSpc>
                        <a:spcBef>
                          <a:spcPts val="0"/>
                        </a:spcBef>
                        <a:spcAft>
                          <a:spcPts val="0"/>
                        </a:spcAft>
                      </a:pPr>
                      <a:r>
                        <a:rPr sz="1600" b="0">
                          <a:solidFill>
                            <a:srgbClr val="00407A"/>
                          </a:solidFill>
                          <a:latin typeface="Arial"/>
                        </a:rPr>
                        <a:t>Pair comparisons</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50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102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25 distinct pairs, both orders</a:t>
                      </a:r>
                    </a:p>
                  </a:txBody>
                  <a:tcPr marL="109728" marR="91440" marT="54864" marB="36576" anchor="ctr">
                    <a:solidFill>
                      <a:srgbClr val="FFFFFF"/>
                    </a:solidFill>
                    <a:lnL>
                      <a:noFill/>
                    </a:lnL>
                    <a:lnR>
                      <a:noFill/>
                    </a:lnR>
                    <a:lnT>
                      <a:noFill/>
                    </a:lnT>
                    <a:lnB>
                      <a:noFill/>
                    </a:lnB>
                  </a:tcPr>
                </a:tc>
              </a:tr>
              <a:tr h="343814">
                <a:tc>
                  <a:txBody>
                    <a:bodyPr/>
                    <a:lstStyle/>
                    <a:p>
                      <a:pPr algn="l">
                        <a:lnSpc>
                          <a:spcPct val="103000"/>
                        </a:lnSpc>
                        <a:spcBef>
                          <a:spcPts val="0"/>
                        </a:spcBef>
                        <a:spcAft>
                          <a:spcPts val="0"/>
                        </a:spcAft>
                      </a:pPr>
                      <a:r>
                        <a:rPr sz="1600" b="0">
                          <a:solidFill>
                            <a:srgbClr val="00407A"/>
                          </a:solidFill>
                          <a:latin typeface="Arial"/>
                        </a:rPr>
                        <a:t>TOTAL TEST</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281</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725</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123 individual test designs</a:t>
                      </a:r>
                    </a:p>
                  </a:txBody>
                  <a:tcPr marL="109728" marR="91440" marT="54864" marB="36576" anchor="ctr">
                    <a:solidFill>
                      <a:srgbClr val="E3EFF5"/>
                    </a:solidFill>
                    <a:lnL>
                      <a:noFill/>
                    </a:lnL>
                    <a:lnR>
                      <a:noFill/>
                    </a:lnR>
                    <a:lnT>
                      <a:noFill/>
                    </a:lnT>
                    <a:lnB>
                      <a:noFill/>
                    </a:lnB>
                  </a:tcPr>
                </a:tc>
              </a:tr>
            </a:tbl>
          </a:graphicData>
        </a:graphic>
      </p:graphicFrame>
      <p:sp>
        <p:nvSpPr>
          <p:cNvPr id="16" name="Rounded Rectangle 15"/>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Development: 28 designs, 67 requests, 150 questions. Related base designs stay in the same split.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What the model receives for each test</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Tool logs and correct answers are used for scoring; they are not sent to the model.</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TESTS</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6</a:t>
            </a:r>
          </a:p>
        </p:txBody>
      </p:sp>
      <p:sp>
        <p:nvSpPr>
          <p:cNvPr id="6" name="Rounded Rectangle 5"/>
          <p:cNvSpPr/>
          <p:nvPr/>
        </p:nvSpPr>
        <p:spPr>
          <a:xfrm>
            <a:off x="813816" y="1828800"/>
            <a:ext cx="5166360" cy="173736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13816" y="1828800"/>
            <a:ext cx="516636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42416" y="1975104"/>
            <a:ext cx="4709160" cy="384048"/>
          </a:xfrm>
          <a:prstGeom prst="rect">
            <a:avLst/>
          </a:prstGeom>
          <a:noFill/>
        </p:spPr>
        <p:txBody>
          <a:bodyPr wrap="square" lIns="0" rIns="0" tIns="0" bIns="0" anchor="t">
            <a:noAutofit/>
          </a:bodyPr>
          <a:lstStyle/>
          <a:p>
            <a:pPr algn="l">
              <a:lnSpc>
                <a:spcPct val="109000"/>
              </a:lnSpc>
              <a:spcBef>
                <a:spcPts val="0"/>
              </a:spcBef>
              <a:spcAft>
                <a:spcPts val="0"/>
              </a:spcAft>
            </a:pPr>
            <a:r>
              <a:rPr sz="2000" b="1">
                <a:solidFill>
                  <a:srgbClr val="00407A"/>
                </a:solidFill>
                <a:latin typeface="Arial"/>
              </a:rPr>
              <a:t>Basic checks</a:t>
            </a:r>
          </a:p>
        </p:txBody>
      </p:sp>
      <p:sp>
        <p:nvSpPr>
          <p:cNvPr id="9" name="TextBox 8"/>
          <p:cNvSpPr txBox="1"/>
          <p:nvPr/>
        </p:nvSpPr>
        <p:spPr>
          <a:xfrm>
            <a:off x="1042416" y="2487168"/>
            <a:ext cx="4709160" cy="987552"/>
          </a:xfrm>
          <a:prstGeom prst="rect">
            <a:avLst/>
          </a:prstGeom>
          <a:noFill/>
        </p:spPr>
        <p:txBody>
          <a:bodyPr wrap="square" lIns="0" rIns="0" tIns="0" bIns="0" anchor="t">
            <a:noAutofit/>
          </a:bodyPr>
          <a:lstStyle/>
          <a:p>
            <a:pPr algn="l">
              <a:lnSpc>
                <a:spcPct val="109000"/>
              </a:lnSpc>
              <a:spcBef>
                <a:spcPts val="0"/>
              </a:spcBef>
              <a:spcAft>
                <a:spcPts val="0"/>
              </a:spcAft>
            </a:pPr>
            <a:r>
              <a:rPr sz="1700" b="0">
                <a:solidFill>
                  <a:srgbClr val="00407A"/>
                </a:solidFill>
                <a:latin typeface="Arial"/>
              </a:rPr>
              <a:t>RTL source + top module + tool description.</a:t>
            </a:r>
          </a:p>
          <a:p>
            <a:pPr algn="l">
              <a:lnSpc>
                <a:spcPct val="109000"/>
              </a:lnSpc>
              <a:spcBef>
                <a:spcPts val="0"/>
              </a:spcBef>
              <a:spcAft>
                <a:spcPts val="0"/>
              </a:spcAft>
            </a:pPr>
            <a:r>
              <a:rPr sz="1700" b="0">
                <a:solidFill>
                  <a:srgbClr val="00407A"/>
                </a:solidFill>
                <a:latin typeface="Arial"/>
              </a:rPr>
              <a:t>Questions: does it compile, and does it synthesize?</a:t>
            </a:r>
          </a:p>
        </p:txBody>
      </p:sp>
      <p:sp>
        <p:nvSpPr>
          <p:cNvPr id="10" name="Rounded Rectangle 9"/>
          <p:cNvSpPr/>
          <p:nvPr/>
        </p:nvSpPr>
        <p:spPr>
          <a:xfrm>
            <a:off x="6208776" y="1828800"/>
            <a:ext cx="5166360" cy="173736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08776" y="1828800"/>
            <a:ext cx="516636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37376" y="1975104"/>
            <a:ext cx="4709160" cy="384048"/>
          </a:xfrm>
          <a:prstGeom prst="rect">
            <a:avLst/>
          </a:prstGeom>
          <a:noFill/>
        </p:spPr>
        <p:txBody>
          <a:bodyPr wrap="square" lIns="0" rIns="0" tIns="0" bIns="0" anchor="t">
            <a:noAutofit/>
          </a:bodyPr>
          <a:lstStyle/>
          <a:p>
            <a:pPr algn="l">
              <a:lnSpc>
                <a:spcPct val="109000"/>
              </a:lnSpc>
              <a:spcBef>
                <a:spcPts val="0"/>
              </a:spcBef>
              <a:spcAft>
                <a:spcPts val="0"/>
              </a:spcAft>
            </a:pPr>
            <a:r>
              <a:rPr sz="2000" b="1">
                <a:solidFill>
                  <a:srgbClr val="00407A"/>
                </a:solidFill>
                <a:latin typeface="Arial"/>
              </a:rPr>
              <a:t>Failure reason</a:t>
            </a:r>
          </a:p>
        </p:txBody>
      </p:sp>
      <p:sp>
        <p:nvSpPr>
          <p:cNvPr id="13" name="TextBox 12"/>
          <p:cNvSpPr txBox="1"/>
          <p:nvPr/>
        </p:nvSpPr>
        <p:spPr>
          <a:xfrm>
            <a:off x="6437376" y="2487168"/>
            <a:ext cx="4709160" cy="987552"/>
          </a:xfrm>
          <a:prstGeom prst="rect">
            <a:avLst/>
          </a:prstGeom>
          <a:noFill/>
        </p:spPr>
        <p:txBody>
          <a:bodyPr wrap="square" lIns="0" rIns="0" tIns="0" bIns="0" anchor="t">
            <a:noAutofit/>
          </a:bodyPr>
          <a:lstStyle/>
          <a:p>
            <a:pPr algn="l">
              <a:lnSpc>
                <a:spcPct val="109000"/>
              </a:lnSpc>
              <a:spcBef>
                <a:spcPts val="0"/>
              </a:spcBef>
              <a:spcAft>
                <a:spcPts val="0"/>
              </a:spcAft>
            </a:pPr>
            <a:r>
              <a:rPr sz="1700" b="0">
                <a:solidFill>
                  <a:srgbClr val="00407A"/>
                </a:solidFill>
                <a:latin typeface="Arial"/>
              </a:rPr>
              <a:t>The same source, plus a prompt saying synthesis failed.</a:t>
            </a:r>
          </a:p>
          <a:p>
            <a:pPr algn="l">
              <a:lnSpc>
                <a:spcPct val="109000"/>
              </a:lnSpc>
              <a:spcBef>
                <a:spcPts val="0"/>
              </a:spcBef>
              <a:spcAft>
                <a:spcPts val="0"/>
              </a:spcAft>
            </a:pPr>
            <a:r>
              <a:rPr sz="1700" b="0">
                <a:solidFill>
                  <a:srgbClr val="00407A"/>
                </a:solidFill>
                <a:latin typeface="Arial"/>
              </a:rPr>
              <a:t>Choose one reason from ten descriptions.</a:t>
            </a:r>
          </a:p>
        </p:txBody>
      </p:sp>
      <p:sp>
        <p:nvSpPr>
          <p:cNvPr id="14" name="Rounded Rectangle 13"/>
          <p:cNvSpPr/>
          <p:nvPr/>
        </p:nvSpPr>
        <p:spPr>
          <a:xfrm>
            <a:off x="813816" y="3749039"/>
            <a:ext cx="5166360" cy="173736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13816" y="3749039"/>
            <a:ext cx="516636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2416" y="3895344"/>
            <a:ext cx="4709160" cy="384048"/>
          </a:xfrm>
          <a:prstGeom prst="rect">
            <a:avLst/>
          </a:prstGeom>
          <a:noFill/>
        </p:spPr>
        <p:txBody>
          <a:bodyPr wrap="square" lIns="0" rIns="0" tIns="0" bIns="0" anchor="t">
            <a:noAutofit/>
          </a:bodyPr>
          <a:lstStyle/>
          <a:p>
            <a:pPr algn="l">
              <a:lnSpc>
                <a:spcPct val="109000"/>
              </a:lnSpc>
              <a:spcBef>
                <a:spcPts val="0"/>
              </a:spcBef>
              <a:spcAft>
                <a:spcPts val="0"/>
              </a:spcAft>
            </a:pPr>
            <a:r>
              <a:rPr sz="2000" b="1">
                <a:solidFill>
                  <a:srgbClr val="00407A"/>
                </a:solidFill>
                <a:latin typeface="Arial"/>
              </a:rPr>
              <a:t>Performance</a:t>
            </a:r>
          </a:p>
        </p:txBody>
      </p:sp>
      <p:sp>
        <p:nvSpPr>
          <p:cNvPr id="17" name="TextBox 16"/>
          <p:cNvSpPr txBox="1"/>
          <p:nvPr/>
        </p:nvSpPr>
        <p:spPr>
          <a:xfrm>
            <a:off x="1042416" y="4407407"/>
            <a:ext cx="4709160" cy="987552"/>
          </a:xfrm>
          <a:prstGeom prst="rect">
            <a:avLst/>
          </a:prstGeom>
          <a:noFill/>
        </p:spPr>
        <p:txBody>
          <a:bodyPr wrap="square" lIns="0" rIns="0" tIns="0" bIns="0" anchor="t">
            <a:noAutofit/>
          </a:bodyPr>
          <a:lstStyle/>
          <a:p>
            <a:pPr algn="l">
              <a:lnSpc>
                <a:spcPct val="109000"/>
              </a:lnSpc>
              <a:spcBef>
                <a:spcPts val="0"/>
              </a:spcBef>
              <a:spcAft>
                <a:spcPts val="0"/>
              </a:spcAft>
            </a:pPr>
            <a:r>
              <a:rPr sz="1700" b="0">
                <a:solidFill>
                  <a:srgbClr val="00407A"/>
                </a:solidFill>
                <a:latin typeface="Arial"/>
              </a:rPr>
              <a:t>RTL + flow + clock target; power also gets its testbench.</a:t>
            </a:r>
          </a:p>
          <a:p>
            <a:pPr algn="l">
              <a:lnSpc>
                <a:spcPct val="109000"/>
              </a:lnSpc>
              <a:spcBef>
                <a:spcPts val="0"/>
              </a:spcBef>
              <a:spcAft>
                <a:spcPts val="0"/>
              </a:spcAft>
            </a:pPr>
            <a:r>
              <a:rPr sz="1700" b="0">
                <a:solidFill>
                  <a:srgbClr val="00407A"/>
                </a:solidFill>
                <a:latin typeface="Arial"/>
              </a:rPr>
              <a:t>Choose a level for each available metric.</a:t>
            </a:r>
          </a:p>
        </p:txBody>
      </p:sp>
      <p:sp>
        <p:nvSpPr>
          <p:cNvPr id="18" name="Rounded Rectangle 17"/>
          <p:cNvSpPr/>
          <p:nvPr/>
        </p:nvSpPr>
        <p:spPr>
          <a:xfrm>
            <a:off x="6208776" y="3749039"/>
            <a:ext cx="5166360" cy="173736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08776" y="3749039"/>
            <a:ext cx="516636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37376" y="3895344"/>
            <a:ext cx="4709160" cy="384048"/>
          </a:xfrm>
          <a:prstGeom prst="rect">
            <a:avLst/>
          </a:prstGeom>
          <a:noFill/>
        </p:spPr>
        <p:txBody>
          <a:bodyPr wrap="square" lIns="0" rIns="0" tIns="0" bIns="0" anchor="t">
            <a:noAutofit/>
          </a:bodyPr>
          <a:lstStyle/>
          <a:p>
            <a:pPr algn="l">
              <a:lnSpc>
                <a:spcPct val="109000"/>
              </a:lnSpc>
              <a:spcBef>
                <a:spcPts val="0"/>
              </a:spcBef>
              <a:spcAft>
                <a:spcPts val="0"/>
              </a:spcAft>
            </a:pPr>
            <a:r>
              <a:rPr sz="2000" b="1">
                <a:solidFill>
                  <a:srgbClr val="00407A"/>
                </a:solidFill>
                <a:latin typeface="Arial"/>
              </a:rPr>
              <a:t>Pair comparison</a:t>
            </a:r>
          </a:p>
        </p:txBody>
      </p:sp>
      <p:sp>
        <p:nvSpPr>
          <p:cNvPr id="21" name="TextBox 20"/>
          <p:cNvSpPr txBox="1"/>
          <p:nvPr/>
        </p:nvSpPr>
        <p:spPr>
          <a:xfrm>
            <a:off x="6437376" y="4407407"/>
            <a:ext cx="4709160" cy="987552"/>
          </a:xfrm>
          <a:prstGeom prst="rect">
            <a:avLst/>
          </a:prstGeom>
          <a:noFill/>
        </p:spPr>
        <p:txBody>
          <a:bodyPr wrap="square" lIns="0" rIns="0" tIns="0" bIns="0" anchor="t">
            <a:noAutofit/>
          </a:bodyPr>
          <a:lstStyle/>
          <a:p>
            <a:pPr algn="l">
              <a:lnSpc>
                <a:spcPct val="109000"/>
              </a:lnSpc>
              <a:spcBef>
                <a:spcPts val="0"/>
              </a:spcBef>
              <a:spcAft>
                <a:spcPts val="0"/>
              </a:spcAft>
            </a:pPr>
            <a:r>
              <a:rPr sz="1700" b="0">
                <a:solidFill>
                  <a:srgbClr val="00407A"/>
                </a:solidFill>
                <a:latin typeface="Arial"/>
              </a:rPr>
              <a:t>Both RTL variants + the same flow and clock.</a:t>
            </a:r>
          </a:p>
          <a:p>
            <a:pPr algn="l">
              <a:lnSpc>
                <a:spcPct val="109000"/>
              </a:lnSpc>
              <a:spcBef>
                <a:spcPts val="0"/>
              </a:spcBef>
              <a:spcAft>
                <a:spcPts val="0"/>
              </a:spcAft>
            </a:pPr>
            <a:r>
              <a:rPr sz="1700" b="0">
                <a:solidFill>
                  <a:srgbClr val="00407A"/>
                </a:solidFill>
                <a:latin typeface="Arial"/>
              </a:rPr>
              <a:t>Power comparisons also share the same testbench.</a:t>
            </a:r>
          </a:p>
        </p:txBody>
      </p:sp>
      <p:sp>
        <p:nvSpPr>
          <p:cNvPr id="22" name="Rounded Rectangle 21"/>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The failure-reason task supplies a key fact that the synthesis yes/no task must discover.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265176"/>
            <a:ext cx="10561320" cy="237744"/>
          </a:xfrm>
          <a:prstGeom prst="rect">
            <a:avLst/>
          </a:prstGeom>
          <a:noFill/>
        </p:spPr>
        <p:txBody>
          <a:bodyPr wrap="square" lIns="0" rIns="0" tIns="0" bIns="0" anchor="t">
            <a:noAutofit/>
          </a:bodyPr>
          <a:lstStyle/>
          <a:p>
            <a:pPr algn="l">
              <a:lnSpc>
                <a:spcPct val="109000"/>
              </a:lnSpc>
              <a:spcBef>
                <a:spcPts val="0"/>
              </a:spcBef>
              <a:spcAft>
                <a:spcPts val="0"/>
              </a:spcAft>
            </a:pPr>
            <a:r>
              <a:rPr sz="1250" b="1">
                <a:solidFill>
                  <a:srgbClr val="0B5A93"/>
                </a:solidFill>
                <a:latin typeface="Arial"/>
              </a:rPr>
              <a:t>EXPERIMENT 2  •  THREE SOLVED EXAMPLES PER QUESTION</a:t>
            </a:r>
          </a:p>
        </p:txBody>
      </p:sp>
      <p:sp>
        <p:nvSpPr>
          <p:cNvPr id="3" name="TextBox 2"/>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Experiment 2: three solved examples per question</a:t>
            </a:r>
          </a:p>
        </p:txBody>
      </p:sp>
      <p:sp>
        <p:nvSpPr>
          <p:cNvPr id="4" name="TextBox 3"/>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The same 725 test questions, one per request. Only the three examples are new.</a:t>
            </a:r>
          </a:p>
        </p:txBody>
      </p:sp>
      <p:sp>
        <p:nvSpPr>
          <p:cNvPr id="5" name="TextBox 4"/>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three examples per question  •  16 October 2026  |  TESTS</a:t>
            </a:r>
          </a:p>
        </p:txBody>
      </p:sp>
      <p:sp>
        <p:nvSpPr>
          <p:cNvPr id="6" name="TextBox 5"/>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7</a:t>
            </a:r>
          </a:p>
        </p:txBody>
      </p:sp>
      <p:graphicFrame>
        <p:nvGraphicFramePr>
          <p:cNvPr id="7" name="Table 6"/>
          <p:cNvGraphicFramePr>
            <a:graphicFrameLocks noGrp="1"/>
          </p:cNvGraphicFramePr>
          <p:nvPr/>
        </p:nvGraphicFramePr>
        <p:xfrm>
          <a:off x="813816" y="1810512"/>
          <a:ext cx="10561320" cy="3703312"/>
        </p:xfrm>
        <a:graphic>
          <a:graphicData uri="http://schemas.openxmlformats.org/drawingml/2006/table">
            <a:tbl>
              <a:tblPr firstRow="1" bandRow="1">
                <a:tableStyleId>{5C22544A-7EE6-4342-B048-85BDC9FD1C3A}</a:tableStyleId>
              </a:tblPr>
              <a:tblGrid>
                <a:gridCol w="2514600"/>
                <a:gridCol w="8046720"/>
              </a:tblGrid>
              <a:tr h="566928">
                <a:tc>
                  <a:txBody>
                    <a:bodyPr/>
                    <a:lstStyle/>
                    <a:p>
                      <a:pPr algn="l">
                        <a:lnSpc>
                          <a:spcPct val="103000"/>
                        </a:lnSpc>
                        <a:spcBef>
                          <a:spcPts val="0"/>
                        </a:spcBef>
                        <a:spcAft>
                          <a:spcPts val="0"/>
                        </a:spcAft>
                      </a:pPr>
                      <a:r>
                        <a:rPr sz="1500" b="1">
                          <a:solidFill>
                            <a:srgbClr val="FFFFFF"/>
                          </a:solidFill>
                          <a:latin typeface="Arial"/>
                        </a:rPr>
                        <a:t>Question</a:t>
                      </a:r>
                    </a:p>
                  </a:txBody>
                  <a:tcPr marL="109728" marR="91440" marT="54864" marB="36576" anchor="ctr">
                    <a:solidFill>
                      <a:srgbClr val="00407A"/>
                    </a:solidFill>
                    <a:lnL>
                      <a:noFill/>
                    </a:lnL>
                    <a:lnR>
                      <a:noFill/>
                    </a:lnR>
                    <a:lnT>
                      <a:noFill/>
                    </a:lnT>
                    <a:lnB>
                      <a:noFill/>
                    </a:lnB>
                  </a:tcPr>
                </a:tc>
                <a:tc>
                  <a:txBody>
                    <a:bodyPr/>
                    <a:lstStyle/>
                    <a:p>
                      <a:pPr algn="l">
                        <a:lnSpc>
                          <a:spcPct val="103000"/>
                        </a:lnSpc>
                        <a:spcBef>
                          <a:spcPts val="0"/>
                        </a:spcBef>
                        <a:spcAft>
                          <a:spcPts val="0"/>
                        </a:spcAft>
                      </a:pPr>
                      <a:r>
                        <a:rPr sz="1500" b="1">
                          <a:solidFill>
                            <a:srgbClr val="FFFFFF"/>
                          </a:solidFill>
                          <a:latin typeface="Arial"/>
                        </a:rPr>
                        <a:t>The three examples before the design, with their tool result</a:t>
                      </a:r>
                    </a:p>
                  </a:txBody>
                  <a:tcPr marL="109728" marR="91440" marT="54864" marB="36576" anchor="ctr">
                    <a:solidFill>
                      <a:srgbClr val="00407A"/>
                    </a:solidFill>
                    <a:lnL>
                      <a:noFill/>
                    </a:lnL>
                    <a:lnR>
                      <a:noFill/>
                    </a:lnR>
                    <a:lnT>
                      <a:noFill/>
                    </a:lnT>
                    <a:lnB>
                      <a:noFill/>
                    </a:lnB>
                  </a:tcPr>
                </a:tc>
              </a:tr>
              <a:tr h="392048">
                <a:tc>
                  <a:txBody>
                    <a:bodyPr/>
                    <a:lstStyle/>
                    <a:p>
                      <a:pPr algn="l">
                        <a:lnSpc>
                          <a:spcPct val="103000"/>
                        </a:lnSpc>
                        <a:spcBef>
                          <a:spcPts val="0"/>
                        </a:spcBef>
                        <a:spcAft>
                          <a:spcPts val="0"/>
                        </a:spcAft>
                      </a:pPr>
                      <a:r>
                        <a:rPr sz="1500" b="1">
                          <a:solidFill>
                            <a:srgbClr val="00407A"/>
                          </a:solidFill>
                          <a:latin typeface="Arial"/>
                        </a:rPr>
                        <a:t>Does it compile?</a:t>
                      </a:r>
                    </a:p>
                  </a:txBody>
                  <a:tcPr marL="109728" marR="91440" marT="54864" marB="36576" anchor="ctr">
                    <a:solidFill>
                      <a:srgbClr val="E3EFF5"/>
                    </a:solidFill>
                    <a:lnL>
                      <a:noFill/>
                    </a:lnL>
                    <a:lnR>
                      <a:noFill/>
                    </a:lnR>
                    <a:lnT>
                      <a:noFill/>
                    </a:lnT>
                    <a:lnB>
                      <a:noFill/>
                    </a:lnB>
                  </a:tcPr>
                </a:tc>
                <a:tc>
                  <a:txBody>
                    <a:bodyPr/>
                    <a:lstStyle/>
                    <a:p>
                      <a:pPr algn="l">
                        <a:lnSpc>
                          <a:spcPct val="103000"/>
                        </a:lnSpc>
                        <a:spcBef>
                          <a:spcPts val="0"/>
                        </a:spcBef>
                        <a:spcAft>
                          <a:spcPts val="0"/>
                        </a:spcAft>
                      </a:pPr>
                      <a:r>
                        <a:rPr sz="1500" b="0">
                          <a:solidFill>
                            <a:srgbClr val="00407A"/>
                          </a:solidFill>
                          <a:latin typeface="Arial"/>
                        </a:rPr>
                        <a:t>1 compiles, 2 fail; each failure with its first vlog error</a:t>
                      </a:r>
                    </a:p>
                  </a:txBody>
                  <a:tcPr marL="109728" marR="91440" marT="54864" marB="36576" anchor="ctr">
                    <a:solidFill>
                      <a:srgbClr val="E3EFF5"/>
                    </a:solidFill>
                    <a:lnL>
                      <a:noFill/>
                    </a:lnL>
                    <a:lnR>
                      <a:noFill/>
                    </a:lnR>
                    <a:lnT>
                      <a:noFill/>
                    </a:lnT>
                    <a:lnB>
                      <a:noFill/>
                    </a:lnB>
                  </a:tcPr>
                </a:tc>
              </a:tr>
              <a:tr h="392048">
                <a:tc>
                  <a:txBody>
                    <a:bodyPr/>
                    <a:lstStyle/>
                    <a:p>
                      <a:pPr algn="l">
                        <a:lnSpc>
                          <a:spcPct val="103000"/>
                        </a:lnSpc>
                        <a:spcBef>
                          <a:spcPts val="0"/>
                        </a:spcBef>
                        <a:spcAft>
                          <a:spcPts val="0"/>
                        </a:spcAft>
                      </a:pPr>
                      <a:r>
                        <a:rPr sz="1500" b="1">
                          <a:solidFill>
                            <a:srgbClr val="00407A"/>
                          </a:solidFill>
                          <a:latin typeface="Arial"/>
                        </a:rPr>
                        <a:t>Does it synthesize?</a:t>
                      </a:r>
                    </a:p>
                  </a:txBody>
                  <a:tcPr marL="109728" marR="91440" marT="54864" marB="36576" anchor="ctr">
                    <a:solidFill>
                      <a:srgbClr val="FFFFFF"/>
                    </a:solidFill>
                    <a:lnL>
                      <a:noFill/>
                    </a:lnL>
                    <a:lnR>
                      <a:noFill/>
                    </a:lnR>
                    <a:lnT>
                      <a:noFill/>
                    </a:lnT>
                    <a:lnB>
                      <a:noFill/>
                    </a:lnB>
                  </a:tcPr>
                </a:tc>
                <a:tc>
                  <a:txBody>
                    <a:bodyPr/>
                    <a:lstStyle/>
                    <a:p>
                      <a:pPr algn="l">
                        <a:lnSpc>
                          <a:spcPct val="103000"/>
                        </a:lnSpc>
                        <a:spcBef>
                          <a:spcPts val="0"/>
                        </a:spcBef>
                        <a:spcAft>
                          <a:spcPts val="0"/>
                        </a:spcAft>
                      </a:pPr>
                      <a:r>
                        <a:rPr sz="1500" b="0">
                          <a:solidFill>
                            <a:srgbClr val="00407A"/>
                          </a:solidFill>
                          <a:latin typeface="Arial"/>
                        </a:rPr>
                        <a:t>1 synthesizes, 2 fail; each failure with its first DC error</a:t>
                      </a:r>
                    </a:p>
                  </a:txBody>
                  <a:tcPr marL="109728" marR="91440" marT="54864" marB="36576" anchor="ctr">
                    <a:solidFill>
                      <a:srgbClr val="FFFFFF"/>
                    </a:solidFill>
                    <a:lnL>
                      <a:noFill/>
                    </a:lnL>
                    <a:lnR>
                      <a:noFill/>
                    </a:lnR>
                    <a:lnT>
                      <a:noFill/>
                    </a:lnT>
                    <a:lnB>
                      <a:noFill/>
                    </a:lnB>
                  </a:tcPr>
                </a:tc>
              </a:tr>
              <a:tr h="392048">
                <a:tc>
                  <a:txBody>
                    <a:bodyPr/>
                    <a:lstStyle/>
                    <a:p>
                      <a:pPr algn="l">
                        <a:lnSpc>
                          <a:spcPct val="103000"/>
                        </a:lnSpc>
                        <a:spcBef>
                          <a:spcPts val="0"/>
                        </a:spcBef>
                        <a:spcAft>
                          <a:spcPts val="0"/>
                        </a:spcAft>
                      </a:pPr>
                      <a:r>
                        <a:rPr sz="1500" b="1">
                          <a:solidFill>
                            <a:srgbClr val="00407A"/>
                          </a:solidFill>
                          <a:latin typeface="Arial"/>
                        </a:rPr>
                        <a:t>Failure reason</a:t>
                      </a:r>
                    </a:p>
                  </a:txBody>
                  <a:tcPr marL="109728" marR="91440" marT="54864" marB="36576" anchor="ctr">
                    <a:solidFill>
                      <a:srgbClr val="E3EFF5"/>
                    </a:solidFill>
                    <a:lnL>
                      <a:noFill/>
                    </a:lnL>
                    <a:lnR>
                      <a:noFill/>
                    </a:lnR>
                    <a:lnT>
                      <a:noFill/>
                    </a:lnT>
                    <a:lnB>
                      <a:noFill/>
                    </a:lnB>
                  </a:tcPr>
                </a:tc>
                <a:tc>
                  <a:txBody>
                    <a:bodyPr/>
                    <a:lstStyle/>
                    <a:p>
                      <a:pPr algn="l">
                        <a:lnSpc>
                          <a:spcPct val="103000"/>
                        </a:lnSpc>
                        <a:spcBef>
                          <a:spcPts val="0"/>
                        </a:spcBef>
                        <a:spcAft>
                          <a:spcPts val="0"/>
                        </a:spcAft>
                      </a:pPr>
                      <a:r>
                        <a:rPr sz="1500" b="0">
                          <a:solidFill>
                            <a:srgbClr val="00407A"/>
                          </a:solidFill>
                          <a:latin typeface="Arial"/>
                        </a:rPr>
                        <a:t>multiple_drivers, illegal_code and event_list; each with its first DC error</a:t>
                      </a:r>
                    </a:p>
                  </a:txBody>
                  <a:tcPr marL="109728" marR="91440" marT="54864" marB="36576" anchor="ctr">
                    <a:solidFill>
                      <a:srgbClr val="E3EFF5"/>
                    </a:solidFill>
                    <a:lnL>
                      <a:noFill/>
                    </a:lnL>
                    <a:lnR>
                      <a:noFill/>
                    </a:lnR>
                    <a:lnT>
                      <a:noFill/>
                    </a:lnT>
                    <a:lnB>
                      <a:noFill/>
                    </a:lnB>
                  </a:tcPr>
                </a:tc>
              </a:tr>
              <a:tr h="392048">
                <a:tc>
                  <a:txBody>
                    <a:bodyPr/>
                    <a:lstStyle/>
                    <a:p>
                      <a:pPr algn="l">
                        <a:lnSpc>
                          <a:spcPct val="103000"/>
                        </a:lnSpc>
                        <a:spcBef>
                          <a:spcPts val="0"/>
                        </a:spcBef>
                        <a:spcAft>
                          <a:spcPts val="0"/>
                        </a:spcAft>
                      </a:pPr>
                      <a:r>
                        <a:rPr sz="1500" b="1">
                          <a:solidFill>
                            <a:srgbClr val="00407A"/>
                          </a:solidFill>
                          <a:latin typeface="Arial"/>
                        </a:rPr>
                        <a:t>Slack level</a:t>
                      </a:r>
                    </a:p>
                  </a:txBody>
                  <a:tcPr marL="109728" marR="91440" marT="54864" marB="36576" anchor="ctr">
                    <a:solidFill>
                      <a:srgbClr val="FFFFFF"/>
                    </a:solidFill>
                    <a:lnL>
                      <a:noFill/>
                    </a:lnL>
                    <a:lnR>
                      <a:noFill/>
                    </a:lnR>
                    <a:lnT>
                      <a:noFill/>
                    </a:lnT>
                    <a:lnB>
                      <a:noFill/>
                    </a:lnB>
                  </a:tcPr>
                </a:tc>
                <a:tc>
                  <a:txBody>
                    <a:bodyPr/>
                    <a:lstStyle/>
                    <a:p>
                      <a:pPr algn="l">
                        <a:lnSpc>
                          <a:spcPct val="103000"/>
                        </a:lnSpc>
                        <a:spcBef>
                          <a:spcPts val="0"/>
                        </a:spcBef>
                        <a:spcAft>
                          <a:spcPts val="0"/>
                        </a:spcAft>
                      </a:pPr>
                      <a:r>
                        <a:rPr sz="1500" b="0">
                          <a:solidFill>
                            <a:srgbClr val="00407A"/>
                          </a:solidFill>
                          <a:latin typeface="Arial"/>
                        </a:rPr>
                        <a:t>+0.365 ns (level 2)  •  +0.962 ns (level 3)  •  +1.532 ns (level 5)</a:t>
                      </a:r>
                    </a:p>
                  </a:txBody>
                  <a:tcPr marL="109728" marR="91440" marT="54864" marB="36576" anchor="ctr">
                    <a:solidFill>
                      <a:srgbClr val="FFFFFF"/>
                    </a:solidFill>
                    <a:lnL>
                      <a:noFill/>
                    </a:lnL>
                    <a:lnR>
                      <a:noFill/>
                    </a:lnR>
                    <a:lnT>
                      <a:noFill/>
                    </a:lnT>
                    <a:lnB>
                      <a:noFill/>
                    </a:lnB>
                  </a:tcPr>
                </a:tc>
              </a:tr>
              <a:tr h="392048">
                <a:tc>
                  <a:txBody>
                    <a:bodyPr/>
                    <a:lstStyle/>
                    <a:p>
                      <a:pPr algn="l">
                        <a:lnSpc>
                          <a:spcPct val="103000"/>
                        </a:lnSpc>
                        <a:spcBef>
                          <a:spcPts val="0"/>
                        </a:spcBef>
                        <a:spcAft>
                          <a:spcPts val="0"/>
                        </a:spcAft>
                      </a:pPr>
                      <a:r>
                        <a:rPr sz="1500" b="1">
                          <a:solidFill>
                            <a:srgbClr val="00407A"/>
                          </a:solidFill>
                          <a:latin typeface="Arial"/>
                        </a:rPr>
                        <a:t>Frequency level</a:t>
                      </a:r>
                    </a:p>
                  </a:txBody>
                  <a:tcPr marL="109728" marR="91440" marT="54864" marB="36576" anchor="ctr">
                    <a:solidFill>
                      <a:srgbClr val="E3EFF5"/>
                    </a:solidFill>
                    <a:lnL>
                      <a:noFill/>
                    </a:lnL>
                    <a:lnR>
                      <a:noFill/>
                    </a:lnR>
                    <a:lnT>
                      <a:noFill/>
                    </a:lnT>
                    <a:lnB>
                      <a:noFill/>
                    </a:lnB>
                  </a:tcPr>
                </a:tc>
                <a:tc>
                  <a:txBody>
                    <a:bodyPr/>
                    <a:lstStyle/>
                    <a:p>
                      <a:pPr algn="l">
                        <a:lnSpc>
                          <a:spcPct val="103000"/>
                        </a:lnSpc>
                        <a:spcBef>
                          <a:spcPts val="0"/>
                        </a:spcBef>
                        <a:spcAft>
                          <a:spcPts val="0"/>
                        </a:spcAft>
                      </a:pPr>
                      <a:r>
                        <a:rPr sz="1500" b="0">
                          <a:solidFill>
                            <a:srgbClr val="00407A"/>
                          </a:solidFill>
                          <a:latin typeface="Arial"/>
                        </a:rPr>
                        <a:t>612 MHz (level 1)  •  2,137 MHz (level 3)  •  3,572 MHz (level 4)</a:t>
                      </a:r>
                    </a:p>
                  </a:txBody>
                  <a:tcPr marL="109728" marR="91440" marT="54864" marB="36576" anchor="ctr">
                    <a:solidFill>
                      <a:srgbClr val="E3EFF5"/>
                    </a:solidFill>
                    <a:lnL>
                      <a:noFill/>
                    </a:lnL>
                    <a:lnR>
                      <a:noFill/>
                    </a:lnR>
                    <a:lnT>
                      <a:noFill/>
                    </a:lnT>
                    <a:lnB>
                      <a:noFill/>
                    </a:lnB>
                  </a:tcPr>
                </a:tc>
              </a:tr>
              <a:tr h="392048">
                <a:tc>
                  <a:txBody>
                    <a:bodyPr/>
                    <a:lstStyle/>
                    <a:p>
                      <a:pPr algn="l">
                        <a:lnSpc>
                          <a:spcPct val="103000"/>
                        </a:lnSpc>
                        <a:spcBef>
                          <a:spcPts val="0"/>
                        </a:spcBef>
                        <a:spcAft>
                          <a:spcPts val="0"/>
                        </a:spcAft>
                      </a:pPr>
                      <a:r>
                        <a:rPr sz="1500" b="1">
                          <a:solidFill>
                            <a:srgbClr val="00407A"/>
                          </a:solidFill>
                          <a:latin typeface="Arial"/>
                        </a:rPr>
                        <a:t>Area level</a:t>
                      </a:r>
                    </a:p>
                  </a:txBody>
                  <a:tcPr marL="109728" marR="91440" marT="54864" marB="36576" anchor="ctr">
                    <a:solidFill>
                      <a:srgbClr val="FFFFFF"/>
                    </a:solidFill>
                    <a:lnL>
                      <a:noFill/>
                    </a:lnL>
                    <a:lnR>
                      <a:noFill/>
                    </a:lnR>
                    <a:lnT>
                      <a:noFill/>
                    </a:lnT>
                    <a:lnB>
                      <a:noFill/>
                    </a:lnB>
                  </a:tcPr>
                </a:tc>
                <a:tc>
                  <a:txBody>
                    <a:bodyPr/>
                    <a:lstStyle/>
                    <a:p>
                      <a:pPr algn="l">
                        <a:lnSpc>
                          <a:spcPct val="103000"/>
                        </a:lnSpc>
                        <a:spcBef>
                          <a:spcPts val="0"/>
                        </a:spcBef>
                        <a:spcAft>
                          <a:spcPts val="0"/>
                        </a:spcAft>
                      </a:pPr>
                      <a:r>
                        <a:rPr sz="1500" b="0">
                          <a:solidFill>
                            <a:srgbClr val="00407A"/>
                          </a:solidFill>
                          <a:latin typeface="Arial"/>
                        </a:rPr>
                        <a:t>71.5 GE (level 1)  •  1,323.3 GE (level 3)  •  519,474.0 GE (level 5)</a:t>
                      </a:r>
                    </a:p>
                  </a:txBody>
                  <a:tcPr marL="109728" marR="91440" marT="54864" marB="36576" anchor="ctr">
                    <a:solidFill>
                      <a:srgbClr val="FFFFFF"/>
                    </a:solidFill>
                    <a:lnL>
                      <a:noFill/>
                    </a:lnL>
                    <a:lnR>
                      <a:noFill/>
                    </a:lnR>
                    <a:lnT>
                      <a:noFill/>
                    </a:lnT>
                    <a:lnB>
                      <a:noFill/>
                    </a:lnB>
                  </a:tcPr>
                </a:tc>
              </a:tr>
              <a:tr h="392048">
                <a:tc>
                  <a:txBody>
                    <a:bodyPr/>
                    <a:lstStyle/>
                    <a:p>
                      <a:pPr algn="l">
                        <a:lnSpc>
                          <a:spcPct val="103000"/>
                        </a:lnSpc>
                        <a:spcBef>
                          <a:spcPts val="0"/>
                        </a:spcBef>
                        <a:spcAft>
                          <a:spcPts val="0"/>
                        </a:spcAft>
                      </a:pPr>
                      <a:r>
                        <a:rPr sz="1500" b="1">
                          <a:solidFill>
                            <a:srgbClr val="00407A"/>
                          </a:solidFill>
                          <a:latin typeface="Arial"/>
                        </a:rPr>
                        <a:t>Power level</a:t>
                      </a:r>
                    </a:p>
                  </a:txBody>
                  <a:tcPr marL="109728" marR="91440" marT="54864" marB="36576" anchor="ctr">
                    <a:solidFill>
                      <a:srgbClr val="E3EFF5"/>
                    </a:solidFill>
                    <a:lnL>
                      <a:noFill/>
                    </a:lnL>
                    <a:lnR>
                      <a:noFill/>
                    </a:lnR>
                    <a:lnT>
                      <a:noFill/>
                    </a:lnT>
                    <a:lnB>
                      <a:noFill/>
                    </a:lnB>
                  </a:tcPr>
                </a:tc>
                <a:tc>
                  <a:txBody>
                    <a:bodyPr/>
                    <a:lstStyle/>
                    <a:p>
                      <a:pPr algn="l">
                        <a:lnSpc>
                          <a:spcPct val="103000"/>
                        </a:lnSpc>
                        <a:spcBef>
                          <a:spcPts val="0"/>
                        </a:spcBef>
                        <a:spcAft>
                          <a:spcPts val="0"/>
                        </a:spcAft>
                      </a:pPr>
                      <a:r>
                        <a:rPr sz="1500" b="0">
                          <a:solidFill>
                            <a:srgbClr val="00407A"/>
                          </a:solidFill>
                          <a:latin typeface="Arial"/>
                        </a:rPr>
                        <a:t>12.48 µW (level 2)  •  300.8 µW (level 3)  •  26.2 mW (level 5)</a:t>
                      </a:r>
                    </a:p>
                  </a:txBody>
                  <a:tcPr marL="109728" marR="91440" marT="54864" marB="36576" anchor="ctr">
                    <a:solidFill>
                      <a:srgbClr val="E3EFF5"/>
                    </a:solidFill>
                    <a:lnL>
                      <a:noFill/>
                    </a:lnL>
                    <a:lnR>
                      <a:noFill/>
                    </a:lnR>
                    <a:lnT>
                      <a:noFill/>
                    </a:lnT>
                    <a:lnB>
                      <a:noFill/>
                    </a:lnB>
                  </a:tcPr>
                </a:tc>
              </a:tr>
              <a:tr h="392048">
                <a:tc>
                  <a:txBody>
                    <a:bodyPr/>
                    <a:lstStyle/>
                    <a:p>
                      <a:pPr algn="l">
                        <a:lnSpc>
                          <a:spcPct val="103000"/>
                        </a:lnSpc>
                        <a:spcBef>
                          <a:spcPts val="0"/>
                        </a:spcBef>
                        <a:spcAft>
                          <a:spcPts val="0"/>
                        </a:spcAft>
                      </a:pPr>
                      <a:r>
                        <a:rPr sz="1500" b="1">
                          <a:solidFill>
                            <a:srgbClr val="00407A"/>
                          </a:solidFill>
                          <a:latin typeface="Arial"/>
                        </a:rPr>
                        <a:t>Pair questions</a:t>
                      </a:r>
                    </a:p>
                  </a:txBody>
                  <a:tcPr marL="109728" marR="91440" marT="54864" marB="36576" anchor="ctr">
                    <a:solidFill>
                      <a:srgbClr val="FFFFFF"/>
                    </a:solidFill>
                    <a:lnL>
                      <a:noFill/>
                    </a:lnL>
                    <a:lnR>
                      <a:noFill/>
                    </a:lnR>
                    <a:lnT>
                      <a:noFill/>
                    </a:lnT>
                    <a:lnB>
                      <a:noFill/>
                    </a:lnB>
                  </a:tcPr>
                </a:tc>
                <a:tc>
                  <a:txBody>
                    <a:bodyPr/>
                    <a:lstStyle/>
                    <a:p>
                      <a:pPr algn="l">
                        <a:lnSpc>
                          <a:spcPct val="103000"/>
                        </a:lnSpc>
                        <a:spcBef>
                          <a:spcPts val="0"/>
                        </a:spcBef>
                        <a:spcAft>
                          <a:spcPts val="0"/>
                        </a:spcAft>
                      </a:pPr>
                      <a:r>
                        <a:rPr sz="1500" b="0">
                          <a:solidFill>
                            <a:srgbClr val="00407A"/>
                          </a:solidFill>
                          <a:latin typeface="Arial"/>
                        </a:rPr>
                        <a:t>The three designs of their metric (area, power or frequency), exact value only</a:t>
                      </a:r>
                    </a:p>
                  </a:txBody>
                  <a:tcPr marL="109728" marR="91440" marT="54864" marB="36576" anchor="ctr">
                    <a:solidFill>
                      <a:srgbClr val="FFFFFF"/>
                    </a:solidFill>
                    <a:lnL>
                      <a:noFill/>
                    </a:lnL>
                    <a:lnR>
                      <a:noFill/>
                    </a:lnR>
                    <a:lnT>
                      <a:noFill/>
                    </a:lnT>
                    <a:lnB>
                      <a:noFill/>
                    </a:lnB>
                  </a:tcPr>
                </a:tc>
              </a:tr>
            </a:tbl>
          </a:graphicData>
        </a:graphic>
      </p:graphicFrame>
      <p:sp>
        <p:nvSpPr>
          <p:cNvPr id="8" name="Rounded Rectangle 7"/>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All questions of one kind get the same three examples, all from the development split.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How to read the scores</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Every result needs a denominator and a clear rule for what counts as correct.</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TESTS</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8</a:t>
            </a:r>
          </a:p>
        </p:txBody>
      </p:sp>
      <p:sp>
        <p:nvSpPr>
          <p:cNvPr id="6" name="Rounded Rectangle 5"/>
          <p:cNvSpPr/>
          <p:nvPr/>
        </p:nvSpPr>
        <p:spPr>
          <a:xfrm>
            <a:off x="813816" y="1828800"/>
            <a:ext cx="3383280" cy="361188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13816" y="1828800"/>
            <a:ext cx="338328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42416" y="2057400"/>
            <a:ext cx="2926080" cy="658368"/>
          </a:xfrm>
          <a:prstGeom prst="rect">
            <a:avLst/>
          </a:prstGeom>
          <a:noFill/>
        </p:spPr>
        <p:txBody>
          <a:bodyPr wrap="square" lIns="0" rIns="0" tIns="0" bIns="0" anchor="t">
            <a:noAutofit/>
          </a:bodyPr>
          <a:lstStyle/>
          <a:p>
            <a:pPr algn="l">
              <a:lnSpc>
                <a:spcPct val="109000"/>
              </a:lnSpc>
              <a:spcBef>
                <a:spcPts val="0"/>
              </a:spcBef>
              <a:spcAft>
                <a:spcPts val="0"/>
              </a:spcAft>
            </a:pPr>
            <a:r>
              <a:rPr sz="2100" b="1">
                <a:solidFill>
                  <a:srgbClr val="00407A"/>
                </a:solidFill>
                <a:latin typeface="Arial"/>
              </a:rPr>
              <a:t>Yes or no</a:t>
            </a:r>
          </a:p>
        </p:txBody>
      </p:sp>
      <p:sp>
        <p:nvSpPr>
          <p:cNvPr id="9" name="TextBox 8"/>
          <p:cNvSpPr txBox="1"/>
          <p:nvPr/>
        </p:nvSpPr>
        <p:spPr>
          <a:xfrm>
            <a:off x="1042416" y="2834640"/>
            <a:ext cx="2926080" cy="2423160"/>
          </a:xfrm>
          <a:prstGeom prst="rect">
            <a:avLst/>
          </a:prstGeom>
          <a:noFill/>
        </p:spPr>
        <p:txBody>
          <a:bodyPr wrap="square" lIns="0" rIns="0" tIns="0" bIns="0" anchor="t">
            <a:noAutofit/>
          </a:bodyPr>
          <a:lstStyle/>
          <a:p>
            <a:pPr algn="l">
              <a:lnSpc>
                <a:spcPct val="109000"/>
              </a:lnSpc>
              <a:spcBef>
                <a:spcPts val="0"/>
              </a:spcBef>
              <a:spcAft>
                <a:spcPts val="0"/>
              </a:spcAft>
            </a:pPr>
            <a:r>
              <a:rPr sz="1800" b="0">
                <a:solidFill>
                  <a:srgbClr val="00407A"/>
                </a:solidFill>
                <a:latin typeface="Arial"/>
              </a:rPr>
              <a:t>A yes probability of</a:t>
            </a:r>
          </a:p>
          <a:p>
            <a:pPr algn="l">
              <a:lnSpc>
                <a:spcPct val="109000"/>
              </a:lnSpc>
              <a:spcBef>
                <a:spcPts val="0"/>
              </a:spcBef>
              <a:spcAft>
                <a:spcPts val="0"/>
              </a:spcAft>
            </a:pPr>
            <a:r>
              <a:rPr sz="1800" b="0">
                <a:solidFill>
                  <a:srgbClr val="00407A"/>
                </a:solidFill>
                <a:latin typeface="Arial"/>
              </a:rPr>
              <a:t>0.5 or more means yes.</a:t>
            </a:r>
          </a:p>
          <a:p>
            <a:pPr algn="l">
              <a:lnSpc>
                <a:spcPct val="109000"/>
              </a:lnSpc>
              <a:spcBef>
                <a:spcPts val="0"/>
              </a:spcBef>
              <a:spcAft>
                <a:spcPts val="0"/>
              </a:spcAft>
            </a:pPr>
            <a:r>
              <a:rPr sz="1800" b="0">
                <a:solidFill>
                  <a:srgbClr val="00407A"/>
                </a:solidFill>
                <a:latin typeface="Arial"/>
              </a:rPr>
              <a:t/>
            </a:r>
          </a:p>
          <a:p>
            <a:pPr algn="l">
              <a:lnSpc>
                <a:spcPct val="109000"/>
              </a:lnSpc>
              <a:spcBef>
                <a:spcPts val="0"/>
              </a:spcBef>
              <a:spcAft>
                <a:spcPts val="0"/>
              </a:spcAft>
            </a:pPr>
            <a:r>
              <a:rPr sz="1800" b="0">
                <a:solidFill>
                  <a:srgbClr val="00407A"/>
                </a:solidFill>
                <a:latin typeface="Arial"/>
              </a:rPr>
              <a:t>Score: correct answers</a:t>
            </a:r>
          </a:p>
          <a:p>
            <a:pPr algn="l">
              <a:lnSpc>
                <a:spcPct val="109000"/>
              </a:lnSpc>
              <a:spcBef>
                <a:spcPts val="0"/>
              </a:spcBef>
              <a:spcAft>
                <a:spcPts val="0"/>
              </a:spcAft>
            </a:pPr>
            <a:r>
              <a:rPr sz="1800" b="0">
                <a:solidFill>
                  <a:srgbClr val="00407A"/>
                </a:solidFill>
                <a:latin typeface="Arial"/>
              </a:rPr>
              <a:t>of all 123 designs.</a:t>
            </a:r>
          </a:p>
          <a:p>
            <a:pPr algn="l">
              <a:lnSpc>
                <a:spcPct val="109000"/>
              </a:lnSpc>
              <a:spcBef>
                <a:spcPts val="0"/>
              </a:spcBef>
              <a:spcAft>
                <a:spcPts val="0"/>
              </a:spcAft>
            </a:pPr>
            <a:r>
              <a:rPr sz="1800" b="0">
                <a:solidFill>
                  <a:srgbClr val="00407A"/>
                </a:solidFill>
                <a:latin typeface="Arial"/>
              </a:rPr>
              <a:t/>
            </a:r>
          </a:p>
          <a:p>
            <a:pPr algn="l">
              <a:lnSpc>
                <a:spcPct val="109000"/>
              </a:lnSpc>
              <a:spcBef>
                <a:spcPts val="0"/>
              </a:spcBef>
              <a:spcAft>
                <a:spcPts val="0"/>
              </a:spcAft>
            </a:pPr>
            <a:r>
              <a:rPr sz="1800" b="0">
                <a:solidFill>
                  <a:srgbClr val="00407A"/>
                </a:solidFill>
                <a:latin typeface="Arial"/>
              </a:rPr>
              <a:t>Dashed lines: always</a:t>
            </a:r>
          </a:p>
          <a:p>
            <a:pPr algn="l">
              <a:lnSpc>
                <a:spcPct val="109000"/>
              </a:lnSpc>
              <a:spcBef>
                <a:spcPts val="0"/>
              </a:spcBef>
              <a:spcAft>
                <a:spcPts val="0"/>
              </a:spcAft>
            </a:pPr>
            <a:r>
              <a:rPr sz="1800" b="0">
                <a:solidFill>
                  <a:srgbClr val="00407A"/>
                </a:solidFill>
                <a:latin typeface="Arial"/>
              </a:rPr>
              <a:t>“yes”, always “no”.</a:t>
            </a:r>
          </a:p>
        </p:txBody>
      </p:sp>
      <p:sp>
        <p:nvSpPr>
          <p:cNvPr id="10" name="Rounded Rectangle 9"/>
          <p:cNvSpPr/>
          <p:nvPr/>
        </p:nvSpPr>
        <p:spPr>
          <a:xfrm>
            <a:off x="4398264" y="1828800"/>
            <a:ext cx="3383280" cy="361188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98264" y="1828800"/>
            <a:ext cx="338328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26864" y="2057400"/>
            <a:ext cx="2926080" cy="658368"/>
          </a:xfrm>
          <a:prstGeom prst="rect">
            <a:avLst/>
          </a:prstGeom>
          <a:noFill/>
        </p:spPr>
        <p:txBody>
          <a:bodyPr wrap="square" lIns="0" rIns="0" tIns="0" bIns="0" anchor="t">
            <a:noAutofit/>
          </a:bodyPr>
          <a:lstStyle/>
          <a:p>
            <a:pPr algn="l">
              <a:lnSpc>
                <a:spcPct val="109000"/>
              </a:lnSpc>
              <a:spcBef>
                <a:spcPts val="0"/>
              </a:spcBef>
              <a:spcAft>
                <a:spcPts val="0"/>
              </a:spcAft>
            </a:pPr>
            <a:r>
              <a:rPr sz="2100" b="1">
                <a:solidFill>
                  <a:srgbClr val="00407A"/>
                </a:solidFill>
                <a:latin typeface="Arial"/>
              </a:rPr>
              <a:t>Five levels</a:t>
            </a:r>
          </a:p>
        </p:txBody>
      </p:sp>
      <p:sp>
        <p:nvSpPr>
          <p:cNvPr id="13" name="TextBox 12"/>
          <p:cNvSpPr txBox="1"/>
          <p:nvPr/>
        </p:nvSpPr>
        <p:spPr>
          <a:xfrm>
            <a:off x="4626864" y="2834640"/>
            <a:ext cx="2926080" cy="2423160"/>
          </a:xfrm>
          <a:prstGeom prst="rect">
            <a:avLst/>
          </a:prstGeom>
          <a:noFill/>
        </p:spPr>
        <p:txBody>
          <a:bodyPr wrap="square" lIns="0" rIns="0" tIns="0" bIns="0" anchor="t">
            <a:noAutofit/>
          </a:bodyPr>
          <a:lstStyle/>
          <a:p>
            <a:pPr algn="l">
              <a:lnSpc>
                <a:spcPct val="109000"/>
              </a:lnSpc>
              <a:spcBef>
                <a:spcPts val="0"/>
              </a:spcBef>
              <a:spcAft>
                <a:spcPts val="0"/>
              </a:spcAft>
            </a:pPr>
            <a:r>
              <a:rPr sz="1800" b="0">
                <a:solidFill>
                  <a:srgbClr val="00407A"/>
                </a:solidFill>
                <a:latin typeface="Arial"/>
              </a:rPr>
              <a:t>Exact: the chosen level</a:t>
            </a:r>
          </a:p>
          <a:p>
            <a:pPr algn="l">
              <a:lnSpc>
                <a:spcPct val="109000"/>
              </a:lnSpc>
              <a:spcBef>
                <a:spcPts val="0"/>
              </a:spcBef>
              <a:spcAft>
                <a:spcPts val="0"/>
              </a:spcAft>
            </a:pPr>
            <a:r>
              <a:rPr sz="1800" b="0">
                <a:solidFill>
                  <a:srgbClr val="00407A"/>
                </a:solidFill>
                <a:latin typeface="Arial"/>
              </a:rPr>
              <a:t>matches the tool label.</a:t>
            </a:r>
          </a:p>
          <a:p>
            <a:pPr algn="l">
              <a:lnSpc>
                <a:spcPct val="109000"/>
              </a:lnSpc>
              <a:spcBef>
                <a:spcPts val="0"/>
              </a:spcBef>
              <a:spcAft>
                <a:spcPts val="0"/>
              </a:spcAft>
            </a:pPr>
            <a:r>
              <a:rPr sz="1800" b="0">
                <a:solidFill>
                  <a:srgbClr val="00407A"/>
                </a:solidFill>
                <a:latin typeface="Arial"/>
              </a:rPr>
              <a:t/>
            </a:r>
          </a:p>
          <a:p>
            <a:pPr algn="l">
              <a:lnSpc>
                <a:spcPct val="109000"/>
              </a:lnSpc>
              <a:spcBef>
                <a:spcPts val="0"/>
              </a:spcBef>
              <a:spcAft>
                <a:spcPts val="0"/>
              </a:spcAft>
            </a:pPr>
            <a:r>
              <a:rPr sz="1800" b="0">
                <a:solidFill>
                  <a:srgbClr val="00407A"/>
                </a:solidFill>
                <a:latin typeface="Arial"/>
              </a:rPr>
              <a:t>Within one: a difference</a:t>
            </a:r>
          </a:p>
          <a:p>
            <a:pPr algn="l">
              <a:lnSpc>
                <a:spcPct val="109000"/>
              </a:lnSpc>
              <a:spcBef>
                <a:spcPts val="0"/>
              </a:spcBef>
              <a:spcAft>
                <a:spcPts val="0"/>
              </a:spcAft>
            </a:pPr>
            <a:r>
              <a:rPr sz="1800" b="0">
                <a:solidFill>
                  <a:srgbClr val="00407A"/>
                </a:solidFill>
                <a:latin typeface="Arial"/>
              </a:rPr>
              <a:t>of at most one level.</a:t>
            </a:r>
          </a:p>
          <a:p>
            <a:pPr algn="l">
              <a:lnSpc>
                <a:spcPct val="109000"/>
              </a:lnSpc>
              <a:spcBef>
                <a:spcPts val="0"/>
              </a:spcBef>
              <a:spcAft>
                <a:spcPts val="0"/>
              </a:spcAft>
            </a:pPr>
            <a:r>
              <a:rPr sz="1800" b="0">
                <a:solidFill>
                  <a:srgbClr val="00407A"/>
                </a:solidFill>
                <a:latin typeface="Arial"/>
              </a:rPr>
              <a:t/>
            </a:r>
          </a:p>
          <a:p>
            <a:pPr algn="l">
              <a:lnSpc>
                <a:spcPct val="109000"/>
              </a:lnSpc>
              <a:spcBef>
                <a:spcPts val="0"/>
              </a:spcBef>
              <a:spcAft>
                <a:spcPts val="0"/>
              </a:spcAft>
            </a:pPr>
            <a:r>
              <a:rPr sz="1800" b="0">
                <a:solidFill>
                  <a:srgbClr val="00407A"/>
                </a:solidFill>
                <a:latin typeface="Arial"/>
              </a:rPr>
              <a:t>This does not mean a fixed</a:t>
            </a:r>
          </a:p>
          <a:p>
            <a:pPr algn="l">
              <a:lnSpc>
                <a:spcPct val="109000"/>
              </a:lnSpc>
              <a:spcBef>
                <a:spcPts val="0"/>
              </a:spcBef>
              <a:spcAft>
                <a:spcPts val="0"/>
              </a:spcAft>
            </a:pPr>
            <a:r>
              <a:rPr sz="1800" b="0">
                <a:solidFill>
                  <a:srgbClr val="00407A"/>
                </a:solidFill>
                <a:latin typeface="Arial"/>
              </a:rPr>
              <a:t>physical error tolerance.</a:t>
            </a:r>
          </a:p>
        </p:txBody>
      </p:sp>
      <p:sp>
        <p:nvSpPr>
          <p:cNvPr id="14" name="Rounded Rectangle 13"/>
          <p:cNvSpPr/>
          <p:nvPr/>
        </p:nvSpPr>
        <p:spPr>
          <a:xfrm>
            <a:off x="7991856" y="1828800"/>
            <a:ext cx="3383280" cy="361188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991856" y="1828800"/>
            <a:ext cx="338328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0456" y="2057400"/>
            <a:ext cx="2926080" cy="658368"/>
          </a:xfrm>
          <a:prstGeom prst="rect">
            <a:avLst/>
          </a:prstGeom>
          <a:noFill/>
        </p:spPr>
        <p:txBody>
          <a:bodyPr wrap="square" lIns="0" rIns="0" tIns="0" bIns="0" anchor="t">
            <a:noAutofit/>
          </a:bodyPr>
          <a:lstStyle/>
          <a:p>
            <a:pPr algn="l">
              <a:lnSpc>
                <a:spcPct val="109000"/>
              </a:lnSpc>
              <a:spcBef>
                <a:spcPts val="0"/>
              </a:spcBef>
              <a:spcAft>
                <a:spcPts val="0"/>
              </a:spcAft>
            </a:pPr>
            <a:r>
              <a:rPr sz="2100" b="1">
                <a:solidFill>
                  <a:srgbClr val="00407A"/>
                </a:solidFill>
                <a:latin typeface="Arial"/>
              </a:rPr>
              <a:t>Choose A or B</a:t>
            </a:r>
          </a:p>
        </p:txBody>
      </p:sp>
      <p:sp>
        <p:nvSpPr>
          <p:cNvPr id="17" name="TextBox 16"/>
          <p:cNvSpPr txBox="1"/>
          <p:nvPr/>
        </p:nvSpPr>
        <p:spPr>
          <a:xfrm>
            <a:off x="8220456" y="2834640"/>
            <a:ext cx="2926080" cy="2423160"/>
          </a:xfrm>
          <a:prstGeom prst="rect">
            <a:avLst/>
          </a:prstGeom>
          <a:noFill/>
        </p:spPr>
        <p:txBody>
          <a:bodyPr wrap="square" lIns="0" rIns="0" tIns="0" bIns="0" anchor="t">
            <a:noAutofit/>
          </a:bodyPr>
          <a:lstStyle/>
          <a:p>
            <a:pPr algn="l">
              <a:lnSpc>
                <a:spcPct val="109000"/>
              </a:lnSpc>
              <a:spcBef>
                <a:spcPts val="0"/>
              </a:spcBef>
              <a:spcAft>
                <a:spcPts val="0"/>
              </a:spcAft>
            </a:pPr>
            <a:r>
              <a:rPr sz="1800" b="0">
                <a:solidFill>
                  <a:srgbClr val="00407A"/>
                </a:solidFill>
                <a:latin typeface="Arial"/>
              </a:rPr>
              <a:t>Each pair is sent twice,</a:t>
            </a:r>
          </a:p>
          <a:p>
            <a:pPr algn="l">
              <a:lnSpc>
                <a:spcPct val="109000"/>
              </a:lnSpc>
              <a:spcBef>
                <a:spcPts val="0"/>
              </a:spcBef>
              <a:spcAft>
                <a:spcPts val="0"/>
              </a:spcAft>
            </a:pPr>
            <a:r>
              <a:rPr sz="1800" b="0">
                <a:solidFill>
                  <a:srgbClr val="00407A"/>
                </a:solidFill>
                <a:latin typeface="Arial"/>
              </a:rPr>
              <a:t>with its order swapped.</a:t>
            </a:r>
          </a:p>
          <a:p>
            <a:pPr algn="l">
              <a:lnSpc>
                <a:spcPct val="109000"/>
              </a:lnSpc>
              <a:spcBef>
                <a:spcPts val="0"/>
              </a:spcBef>
              <a:spcAft>
                <a:spcPts val="0"/>
              </a:spcAft>
            </a:pPr>
            <a:r>
              <a:rPr sz="1800" b="0">
                <a:solidFill>
                  <a:srgbClr val="00407A"/>
                </a:solidFill>
                <a:latin typeface="Arial"/>
              </a:rPr>
              <a:t/>
            </a:r>
          </a:p>
          <a:p>
            <a:pPr algn="l">
              <a:lnSpc>
                <a:spcPct val="109000"/>
              </a:lnSpc>
              <a:spcBef>
                <a:spcPts val="0"/>
              </a:spcBef>
              <a:spcAft>
                <a:spcPts val="0"/>
              </a:spcAft>
            </a:pPr>
            <a:r>
              <a:rPr sz="1800" b="0">
                <a:solidFill>
                  <a:srgbClr val="00407A"/>
                </a:solidFill>
                <a:latin typeface="Arial"/>
              </a:rPr>
              <a:t>We report per-view accuracy</a:t>
            </a:r>
          </a:p>
          <a:p>
            <a:pPr algn="l">
              <a:lnSpc>
                <a:spcPct val="109000"/>
              </a:lnSpc>
              <a:spcBef>
                <a:spcPts val="0"/>
              </a:spcBef>
              <a:spcAft>
                <a:spcPts val="0"/>
              </a:spcAft>
            </a:pPr>
            <a:r>
              <a:rPr sz="1800" b="0">
                <a:solidFill>
                  <a:srgbClr val="00407A"/>
                </a:solidFill>
                <a:latin typeface="Arial"/>
              </a:rPr>
              <a:t>and check both orders.</a:t>
            </a:r>
          </a:p>
          <a:p>
            <a:pPr algn="l">
              <a:lnSpc>
                <a:spcPct val="109000"/>
              </a:lnSpc>
              <a:spcBef>
                <a:spcPts val="0"/>
              </a:spcBef>
              <a:spcAft>
                <a:spcPts val="0"/>
              </a:spcAft>
            </a:pPr>
            <a:r>
              <a:rPr sz="1800" b="0">
                <a:solidFill>
                  <a:srgbClr val="00407A"/>
                </a:solidFill>
                <a:latin typeface="Arial"/>
              </a:rPr>
              <a:t/>
            </a:r>
          </a:p>
          <a:p>
            <a:pPr algn="l">
              <a:lnSpc>
                <a:spcPct val="109000"/>
              </a:lnSpc>
              <a:spcBef>
                <a:spcPts val="0"/>
              </a:spcBef>
              <a:spcAft>
                <a:spcPts val="0"/>
              </a:spcAft>
            </a:pPr>
            <a:r>
              <a:rPr sz="1800" b="0">
                <a:solidFill>
                  <a:srgbClr val="00407A"/>
                </a:solidFill>
                <a:latin typeface="Arial"/>
              </a:rPr>
              <a:t>50% is an always-A or</a:t>
            </a:r>
          </a:p>
          <a:p>
            <a:pPr algn="l">
              <a:lnSpc>
                <a:spcPct val="109000"/>
              </a:lnSpc>
              <a:spcBef>
                <a:spcPts val="0"/>
              </a:spcBef>
              <a:spcAft>
                <a:spcPts val="0"/>
              </a:spcAft>
            </a:pPr>
            <a:r>
              <a:rPr sz="1800" b="0">
                <a:solidFill>
                  <a:srgbClr val="00407A"/>
                </a:solidFill>
                <a:latin typeface="Arial"/>
              </a:rPr>
              <a:t>always-B reference here.</a:t>
            </a:r>
          </a:p>
        </p:txBody>
      </p:sp>
      <p:sp>
        <p:nvSpPr>
          <p:cNvPr id="18" name="Rounded Rectangle 17"/>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A “constant-answer reference” below means always choosing one stated answer, calculated from test labels.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265176"/>
            <a:ext cx="10561320" cy="237744"/>
          </a:xfrm>
          <a:prstGeom prst="rect">
            <a:avLst/>
          </a:prstGeom>
          <a:noFill/>
        </p:spPr>
        <p:txBody>
          <a:bodyPr wrap="square" lIns="0" rIns="0" tIns="0" bIns="0" anchor="t">
            <a:noAutofit/>
          </a:bodyPr>
          <a:lstStyle/>
          <a:p>
            <a:pPr algn="l">
              <a:lnSpc>
                <a:spcPct val="109000"/>
              </a:lnSpc>
              <a:spcBef>
                <a:spcPts val="0"/>
              </a:spcBef>
              <a:spcAft>
                <a:spcPts val="0"/>
              </a:spcAft>
            </a:pPr>
            <a:r>
              <a:rPr sz="1250" b="1">
                <a:solidFill>
                  <a:srgbClr val="4A5A66"/>
                </a:solidFill>
                <a:latin typeface="Arial"/>
              </a:rPr>
              <a:t>EXPERIMENT 1  •  NO EXAMPLES</a:t>
            </a:r>
          </a:p>
        </p:txBody>
      </p:sp>
      <p:sp>
        <p:nvSpPr>
          <p:cNvPr id="3" name="TextBox 2"/>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Seven of eight scores are close to a constant answer</a:t>
            </a:r>
          </a:p>
        </p:txBody>
      </p:sp>
      <p:sp>
        <p:nvSpPr>
          <p:cNvPr id="4" name="TextBox 3"/>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Beside each bar: the score, then the correct answers on the designs where the tool says “yes” and “no”.</a:t>
            </a:r>
          </a:p>
        </p:txBody>
      </p:sp>
      <p:sp>
        <p:nvSpPr>
          <p:cNvPr id="5" name="TextBox 4"/>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RESULTS</a:t>
            </a:r>
          </a:p>
        </p:txBody>
      </p:sp>
      <p:sp>
        <p:nvSpPr>
          <p:cNvPr id="6" name="TextBox 5"/>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9</a:t>
            </a:r>
          </a:p>
        </p:txBody>
      </p:sp>
      <p:sp>
        <p:nvSpPr>
          <p:cNvPr id="7" name="Rounded Rectangle 6"/>
          <p:cNvSpPr/>
          <p:nvPr/>
        </p:nvSpPr>
        <p:spPr>
          <a:xfrm>
            <a:off x="813816" y="1819656"/>
            <a:ext cx="5166360" cy="3730752"/>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14984" y="1984248"/>
            <a:ext cx="4764024" cy="502920"/>
          </a:xfrm>
          <a:prstGeom prst="rect">
            <a:avLst/>
          </a:prstGeom>
          <a:noFill/>
        </p:spPr>
        <p:txBody>
          <a:bodyPr wrap="square" lIns="0" rIns="0" tIns="0" bIns="0" anchor="t">
            <a:noAutofit/>
          </a:bodyPr>
          <a:lstStyle/>
          <a:p>
            <a:pPr algn="l">
              <a:lnSpc>
                <a:spcPct val="109000"/>
              </a:lnSpc>
              <a:spcBef>
                <a:spcPts val="0"/>
              </a:spcBef>
              <a:spcAft>
                <a:spcPts val="0"/>
              </a:spcAft>
            </a:pPr>
            <a:r>
              <a:rPr sz="1800" b="1">
                <a:solidFill>
                  <a:srgbClr val="00407A"/>
                </a:solidFill>
                <a:latin typeface="Arial"/>
              </a:rPr>
              <a:t>Does it synthesize?</a:t>
            </a:r>
          </a:p>
        </p:txBody>
      </p:sp>
      <p:sp>
        <p:nvSpPr>
          <p:cNvPr id="9" name="TextBox 8"/>
          <p:cNvSpPr txBox="1"/>
          <p:nvPr/>
        </p:nvSpPr>
        <p:spPr>
          <a:xfrm>
            <a:off x="1014984" y="2432304"/>
            <a:ext cx="4764024" cy="347472"/>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4A5A66"/>
                </a:solidFill>
                <a:latin typeface="Arial"/>
              </a:rPr>
              <a:t>Tool answers for the 123 designs: 99 yes · 24 no</a:t>
            </a:r>
          </a:p>
        </p:txBody>
      </p:sp>
      <p:cxnSp>
        <p:nvCxnSpPr>
          <p:cNvPr id="10" name="Connector 9"/>
          <p:cNvCxnSpPr/>
          <p:nvPr/>
        </p:nvCxnSpPr>
        <p:spPr>
          <a:xfrm>
            <a:off x="166420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146304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a:t>
            </a:r>
          </a:p>
        </p:txBody>
      </p:sp>
      <p:cxnSp>
        <p:nvCxnSpPr>
          <p:cNvPr id="12" name="Connector 11"/>
          <p:cNvCxnSpPr/>
          <p:nvPr/>
        </p:nvCxnSpPr>
        <p:spPr>
          <a:xfrm>
            <a:off x="2770632"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2569464"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50</a:t>
            </a:r>
          </a:p>
        </p:txBody>
      </p:sp>
      <p:cxnSp>
        <p:nvCxnSpPr>
          <p:cNvPr id="14" name="Connector 13"/>
          <p:cNvCxnSpPr/>
          <p:nvPr/>
        </p:nvCxnSpPr>
        <p:spPr>
          <a:xfrm>
            <a:off x="3877056"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3675888"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100</a:t>
            </a:r>
          </a:p>
        </p:txBody>
      </p:sp>
      <p:cxnSp>
        <p:nvCxnSpPr>
          <p:cNvPr id="16" name="Connector 15"/>
          <p:cNvCxnSpPr/>
          <p:nvPr/>
        </p:nvCxnSpPr>
        <p:spPr>
          <a:xfrm>
            <a:off x="2095983" y="2825496"/>
            <a:ext cx="0" cy="1856232"/>
          </a:xfrm>
          <a:prstGeom prst="line">
            <a:avLst/>
          </a:prstGeom>
          <a:ln w="15240">
            <a:solidFill>
              <a:srgbClr val="4A5A66"/>
            </a:solidFill>
            <a:prstDash val="dash"/>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3445280" y="2825496"/>
            <a:ext cx="0" cy="1856232"/>
          </a:xfrm>
          <a:prstGeom prst="line">
            <a:avLst/>
          </a:prstGeom>
          <a:ln w="15240">
            <a:solidFill>
              <a:srgbClr val="4A5A66"/>
            </a:solidFill>
            <a:prstDash val="dash"/>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996696" y="292150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0.8B</a:t>
            </a:r>
          </a:p>
        </p:txBody>
      </p:sp>
      <p:sp>
        <p:nvSpPr>
          <p:cNvPr id="19" name="Rectangle 18"/>
          <p:cNvSpPr/>
          <p:nvPr/>
        </p:nvSpPr>
        <p:spPr>
          <a:xfrm>
            <a:off x="1664208" y="2953512"/>
            <a:ext cx="1781072" cy="237744"/>
          </a:xfrm>
          <a:prstGeom prst="rect">
            <a:avLst/>
          </a:prstGeom>
          <a:solidFill>
            <a:srgbClr val="4A5A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995928" y="2866644"/>
            <a:ext cx="1810512" cy="429768"/>
          </a:xfrm>
          <a:prstGeom prst="rect">
            <a:avLst/>
          </a:prstGeom>
          <a:noFill/>
        </p:spPr>
        <p:txBody>
          <a:bodyPr wrap="square" lIns="0" rIns="0" tIns="0" bIns="0" anchor="t">
            <a:noAutofit/>
          </a:bodyPr>
          <a:lstStyle/>
          <a:p>
            <a:pPr algn="l">
              <a:lnSpc>
                <a:spcPct val="109000"/>
              </a:lnSpc>
              <a:spcBef>
                <a:spcPts val="0"/>
              </a:spcBef>
              <a:spcAft>
                <a:spcPts val="0"/>
              </a:spcAft>
            </a:pPr>
            <a:r>
              <a:rPr sz="1200" b="0">
                <a:solidFill>
                  <a:srgbClr val="00407A"/>
                </a:solidFill>
                <a:latin typeface="Arial"/>
              </a:rPr>
              <a:t>80.5%</a:t>
            </a:r>
          </a:p>
          <a:p>
            <a:pPr algn="l">
              <a:lnSpc>
                <a:spcPct val="109000"/>
              </a:lnSpc>
              <a:spcBef>
                <a:spcPts val="0"/>
              </a:spcBef>
              <a:spcAft>
                <a:spcPts val="0"/>
              </a:spcAft>
            </a:pPr>
            <a:r>
              <a:rPr sz="1200" b="0">
                <a:solidFill>
                  <a:srgbClr val="00407A"/>
                </a:solidFill>
                <a:latin typeface="Arial"/>
              </a:rPr>
              <a:t>99 of 99 yes · 0 of 24 no</a:t>
            </a:r>
          </a:p>
        </p:txBody>
      </p:sp>
      <p:sp>
        <p:nvSpPr>
          <p:cNvPr id="21" name="TextBox 20"/>
          <p:cNvSpPr txBox="1"/>
          <p:nvPr/>
        </p:nvSpPr>
        <p:spPr>
          <a:xfrm>
            <a:off x="996696" y="3424427"/>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4B</a:t>
            </a:r>
          </a:p>
        </p:txBody>
      </p:sp>
      <p:sp>
        <p:nvSpPr>
          <p:cNvPr id="22" name="Rectangle 21"/>
          <p:cNvSpPr/>
          <p:nvPr/>
        </p:nvSpPr>
        <p:spPr>
          <a:xfrm>
            <a:off x="1664208" y="3456432"/>
            <a:ext cx="1763082" cy="237744"/>
          </a:xfrm>
          <a:prstGeom prst="rect">
            <a:avLst/>
          </a:prstGeom>
          <a:solidFill>
            <a:srgbClr val="0B5A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995928" y="3369563"/>
            <a:ext cx="1810512" cy="429768"/>
          </a:xfrm>
          <a:prstGeom prst="rect">
            <a:avLst/>
          </a:prstGeom>
          <a:noFill/>
        </p:spPr>
        <p:txBody>
          <a:bodyPr wrap="square" lIns="0" rIns="0" tIns="0" bIns="0" anchor="t">
            <a:noAutofit/>
          </a:bodyPr>
          <a:lstStyle/>
          <a:p>
            <a:pPr algn="l">
              <a:lnSpc>
                <a:spcPct val="109000"/>
              </a:lnSpc>
              <a:spcBef>
                <a:spcPts val="0"/>
              </a:spcBef>
              <a:spcAft>
                <a:spcPts val="0"/>
              </a:spcAft>
            </a:pPr>
            <a:r>
              <a:rPr sz="1200" b="0">
                <a:solidFill>
                  <a:srgbClr val="00407A"/>
                </a:solidFill>
                <a:latin typeface="Arial"/>
              </a:rPr>
              <a:t>79.7%</a:t>
            </a:r>
          </a:p>
          <a:p>
            <a:pPr algn="l">
              <a:lnSpc>
                <a:spcPct val="109000"/>
              </a:lnSpc>
              <a:spcBef>
                <a:spcPts val="0"/>
              </a:spcBef>
              <a:spcAft>
                <a:spcPts val="0"/>
              </a:spcAft>
            </a:pPr>
            <a:r>
              <a:rPr sz="1200" b="0">
                <a:solidFill>
                  <a:srgbClr val="00407A"/>
                </a:solidFill>
                <a:latin typeface="Arial"/>
              </a:rPr>
              <a:t>98 of 99 yes · 0 of 24 no</a:t>
            </a:r>
          </a:p>
        </p:txBody>
      </p:sp>
      <p:sp>
        <p:nvSpPr>
          <p:cNvPr id="24" name="TextBox 23"/>
          <p:cNvSpPr txBox="1"/>
          <p:nvPr/>
        </p:nvSpPr>
        <p:spPr>
          <a:xfrm>
            <a:off x="996696" y="392734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9B</a:t>
            </a:r>
          </a:p>
        </p:txBody>
      </p:sp>
      <p:sp>
        <p:nvSpPr>
          <p:cNvPr id="25" name="Rectangle 24"/>
          <p:cNvSpPr/>
          <p:nvPr/>
        </p:nvSpPr>
        <p:spPr>
          <a:xfrm>
            <a:off x="1664208" y="3959351"/>
            <a:ext cx="1781072" cy="237744"/>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995928" y="3872483"/>
            <a:ext cx="1810512" cy="429768"/>
          </a:xfrm>
          <a:prstGeom prst="rect">
            <a:avLst/>
          </a:prstGeom>
          <a:noFill/>
        </p:spPr>
        <p:txBody>
          <a:bodyPr wrap="square" lIns="0" rIns="0" tIns="0" bIns="0" anchor="t">
            <a:noAutofit/>
          </a:bodyPr>
          <a:lstStyle/>
          <a:p>
            <a:pPr algn="l">
              <a:lnSpc>
                <a:spcPct val="109000"/>
              </a:lnSpc>
              <a:spcBef>
                <a:spcPts val="0"/>
              </a:spcBef>
              <a:spcAft>
                <a:spcPts val="0"/>
              </a:spcAft>
            </a:pPr>
            <a:r>
              <a:rPr sz="1200" b="0">
                <a:solidFill>
                  <a:srgbClr val="00407A"/>
                </a:solidFill>
                <a:latin typeface="Arial"/>
              </a:rPr>
              <a:t>80.5%</a:t>
            </a:r>
          </a:p>
          <a:p>
            <a:pPr algn="l">
              <a:lnSpc>
                <a:spcPct val="109000"/>
              </a:lnSpc>
              <a:spcBef>
                <a:spcPts val="0"/>
              </a:spcBef>
              <a:spcAft>
                <a:spcPts val="0"/>
              </a:spcAft>
            </a:pPr>
            <a:r>
              <a:rPr sz="1200" b="0">
                <a:solidFill>
                  <a:srgbClr val="00407A"/>
                </a:solidFill>
                <a:latin typeface="Arial"/>
              </a:rPr>
              <a:t>97 of 99 yes · 2 of 24 no</a:t>
            </a:r>
          </a:p>
        </p:txBody>
      </p:sp>
      <p:sp>
        <p:nvSpPr>
          <p:cNvPr id="27" name="TextBox 26"/>
          <p:cNvSpPr txBox="1"/>
          <p:nvPr/>
        </p:nvSpPr>
        <p:spPr>
          <a:xfrm>
            <a:off x="996696" y="443026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27B</a:t>
            </a:r>
          </a:p>
        </p:txBody>
      </p:sp>
      <p:sp>
        <p:nvSpPr>
          <p:cNvPr id="28" name="Rectangle 27"/>
          <p:cNvSpPr/>
          <p:nvPr/>
        </p:nvSpPr>
        <p:spPr>
          <a:xfrm>
            <a:off x="1664208" y="4462272"/>
            <a:ext cx="1835044" cy="237744"/>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995928" y="4375404"/>
            <a:ext cx="1810512" cy="429768"/>
          </a:xfrm>
          <a:prstGeom prst="rect">
            <a:avLst/>
          </a:prstGeom>
          <a:noFill/>
        </p:spPr>
        <p:txBody>
          <a:bodyPr wrap="square" lIns="0" rIns="0" tIns="0" bIns="0" anchor="t">
            <a:noAutofit/>
          </a:bodyPr>
          <a:lstStyle/>
          <a:p>
            <a:pPr algn="l">
              <a:lnSpc>
                <a:spcPct val="109000"/>
              </a:lnSpc>
              <a:spcBef>
                <a:spcPts val="0"/>
              </a:spcBef>
              <a:spcAft>
                <a:spcPts val="0"/>
              </a:spcAft>
            </a:pPr>
            <a:r>
              <a:rPr sz="1200" b="0">
                <a:solidFill>
                  <a:srgbClr val="00407A"/>
                </a:solidFill>
                <a:latin typeface="Arial"/>
              </a:rPr>
              <a:t>82.9%</a:t>
            </a:r>
          </a:p>
          <a:p>
            <a:pPr algn="l">
              <a:lnSpc>
                <a:spcPct val="109000"/>
              </a:lnSpc>
              <a:spcBef>
                <a:spcPts val="0"/>
              </a:spcBef>
              <a:spcAft>
                <a:spcPts val="0"/>
              </a:spcAft>
            </a:pPr>
            <a:r>
              <a:rPr sz="1200" b="0">
                <a:solidFill>
                  <a:srgbClr val="00407A"/>
                </a:solidFill>
                <a:latin typeface="Arial"/>
              </a:rPr>
              <a:t>98 of 99 yes · 4 of 24 no</a:t>
            </a:r>
          </a:p>
        </p:txBody>
      </p:sp>
      <p:sp>
        <p:nvSpPr>
          <p:cNvPr id="30" name="TextBox 29"/>
          <p:cNvSpPr txBox="1"/>
          <p:nvPr/>
        </p:nvSpPr>
        <p:spPr>
          <a:xfrm>
            <a:off x="996696" y="5029200"/>
            <a:ext cx="4800600" cy="219456"/>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4A5A66"/>
                </a:solidFill>
                <a:latin typeface="Arial"/>
              </a:rPr>
              <a:t>Correct answers (%) — higher is better</a:t>
            </a:r>
          </a:p>
        </p:txBody>
      </p:sp>
      <p:sp>
        <p:nvSpPr>
          <p:cNvPr id="31" name="TextBox 30"/>
          <p:cNvSpPr txBox="1"/>
          <p:nvPr/>
        </p:nvSpPr>
        <p:spPr>
          <a:xfrm>
            <a:off x="996696" y="5285232"/>
            <a:ext cx="4800600" cy="210312"/>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Dashed lines: always “no” = 19.5% · always “yes” = 80.5%</a:t>
            </a:r>
          </a:p>
        </p:txBody>
      </p:sp>
      <p:sp>
        <p:nvSpPr>
          <p:cNvPr id="32" name="Rounded Rectangle 31"/>
          <p:cNvSpPr/>
          <p:nvPr/>
        </p:nvSpPr>
        <p:spPr>
          <a:xfrm>
            <a:off x="6208776" y="1819656"/>
            <a:ext cx="5166360" cy="3730752"/>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09944" y="1984248"/>
            <a:ext cx="4764024" cy="502920"/>
          </a:xfrm>
          <a:prstGeom prst="rect">
            <a:avLst/>
          </a:prstGeom>
          <a:noFill/>
        </p:spPr>
        <p:txBody>
          <a:bodyPr wrap="square" lIns="0" rIns="0" tIns="0" bIns="0" anchor="t">
            <a:noAutofit/>
          </a:bodyPr>
          <a:lstStyle/>
          <a:p>
            <a:pPr algn="l">
              <a:lnSpc>
                <a:spcPct val="109000"/>
              </a:lnSpc>
              <a:spcBef>
                <a:spcPts val="0"/>
              </a:spcBef>
              <a:spcAft>
                <a:spcPts val="0"/>
              </a:spcAft>
            </a:pPr>
            <a:r>
              <a:rPr sz="1800" b="1">
                <a:solidFill>
                  <a:srgbClr val="00407A"/>
                </a:solidFill>
                <a:latin typeface="Arial"/>
              </a:rPr>
              <a:t>Does it compile?</a:t>
            </a:r>
          </a:p>
        </p:txBody>
      </p:sp>
      <p:sp>
        <p:nvSpPr>
          <p:cNvPr id="34" name="TextBox 33"/>
          <p:cNvSpPr txBox="1"/>
          <p:nvPr/>
        </p:nvSpPr>
        <p:spPr>
          <a:xfrm>
            <a:off x="6409944" y="2432304"/>
            <a:ext cx="4764024" cy="347472"/>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4A5A66"/>
                </a:solidFill>
                <a:latin typeface="Arial"/>
              </a:rPr>
              <a:t>Tool answers for the 123 designs: 114 yes · 9 no</a:t>
            </a:r>
          </a:p>
        </p:txBody>
      </p:sp>
      <p:cxnSp>
        <p:nvCxnSpPr>
          <p:cNvPr id="35" name="Connector 34"/>
          <p:cNvCxnSpPr/>
          <p:nvPr/>
        </p:nvCxnSpPr>
        <p:spPr>
          <a:xfrm>
            <a:off x="705916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685800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a:t>
            </a:r>
          </a:p>
        </p:txBody>
      </p:sp>
      <p:cxnSp>
        <p:nvCxnSpPr>
          <p:cNvPr id="37" name="Connector 36"/>
          <p:cNvCxnSpPr/>
          <p:nvPr/>
        </p:nvCxnSpPr>
        <p:spPr>
          <a:xfrm>
            <a:off x="8165592"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7964423"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50</a:t>
            </a:r>
          </a:p>
        </p:txBody>
      </p:sp>
      <p:cxnSp>
        <p:nvCxnSpPr>
          <p:cNvPr id="39" name="Connector 38"/>
          <p:cNvCxnSpPr/>
          <p:nvPr/>
        </p:nvCxnSpPr>
        <p:spPr>
          <a:xfrm>
            <a:off x="9272016"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9070848"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100</a:t>
            </a:r>
          </a:p>
        </p:txBody>
      </p:sp>
      <p:cxnSp>
        <p:nvCxnSpPr>
          <p:cNvPr id="41" name="Connector 40"/>
          <p:cNvCxnSpPr/>
          <p:nvPr/>
        </p:nvCxnSpPr>
        <p:spPr>
          <a:xfrm>
            <a:off x="7221083" y="2825496"/>
            <a:ext cx="0" cy="1856232"/>
          </a:xfrm>
          <a:prstGeom prst="line">
            <a:avLst/>
          </a:prstGeom>
          <a:ln w="15240">
            <a:solidFill>
              <a:srgbClr val="4A5A66"/>
            </a:solidFill>
            <a:prstDash val="dash"/>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9110100" y="2825496"/>
            <a:ext cx="0" cy="1856232"/>
          </a:xfrm>
          <a:prstGeom prst="line">
            <a:avLst/>
          </a:prstGeom>
          <a:ln w="15240">
            <a:solidFill>
              <a:srgbClr val="4A5A66"/>
            </a:solidFill>
            <a:prstDash val="dash"/>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6391656" y="292150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0.8B</a:t>
            </a:r>
          </a:p>
        </p:txBody>
      </p:sp>
      <p:sp>
        <p:nvSpPr>
          <p:cNvPr id="44" name="Rectangle 43"/>
          <p:cNvSpPr/>
          <p:nvPr/>
        </p:nvSpPr>
        <p:spPr>
          <a:xfrm>
            <a:off x="7059168" y="2953512"/>
            <a:ext cx="233878" cy="237744"/>
          </a:xfrm>
          <a:prstGeom prst="rect">
            <a:avLst/>
          </a:prstGeom>
          <a:solidFill>
            <a:srgbClr val="4A5A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390888" y="2866644"/>
            <a:ext cx="1810512" cy="429768"/>
          </a:xfrm>
          <a:prstGeom prst="rect">
            <a:avLst/>
          </a:prstGeom>
          <a:noFill/>
        </p:spPr>
        <p:txBody>
          <a:bodyPr wrap="square" lIns="0" rIns="0" tIns="0" bIns="0" anchor="t">
            <a:noAutofit/>
          </a:bodyPr>
          <a:lstStyle/>
          <a:p>
            <a:pPr algn="l">
              <a:lnSpc>
                <a:spcPct val="109000"/>
              </a:lnSpc>
              <a:spcBef>
                <a:spcPts val="0"/>
              </a:spcBef>
              <a:spcAft>
                <a:spcPts val="0"/>
              </a:spcAft>
            </a:pPr>
            <a:r>
              <a:rPr sz="1200" b="0">
                <a:solidFill>
                  <a:srgbClr val="00407A"/>
                </a:solidFill>
                <a:latin typeface="Arial"/>
              </a:rPr>
              <a:t>10.6%</a:t>
            </a:r>
          </a:p>
          <a:p>
            <a:pPr algn="l">
              <a:lnSpc>
                <a:spcPct val="109000"/>
              </a:lnSpc>
              <a:spcBef>
                <a:spcPts val="0"/>
              </a:spcBef>
              <a:spcAft>
                <a:spcPts val="0"/>
              </a:spcAft>
            </a:pPr>
            <a:r>
              <a:rPr sz="1200" b="0">
                <a:solidFill>
                  <a:srgbClr val="00407A"/>
                </a:solidFill>
                <a:latin typeface="Arial"/>
              </a:rPr>
              <a:t>4 of 114 yes · 9 of 9 no</a:t>
            </a:r>
          </a:p>
        </p:txBody>
      </p:sp>
      <p:sp>
        <p:nvSpPr>
          <p:cNvPr id="46" name="TextBox 45"/>
          <p:cNvSpPr txBox="1"/>
          <p:nvPr/>
        </p:nvSpPr>
        <p:spPr>
          <a:xfrm>
            <a:off x="6391656" y="3424427"/>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4B</a:t>
            </a:r>
          </a:p>
        </p:txBody>
      </p:sp>
      <p:sp>
        <p:nvSpPr>
          <p:cNvPr id="47" name="Rectangle 46"/>
          <p:cNvSpPr/>
          <p:nvPr/>
        </p:nvSpPr>
        <p:spPr>
          <a:xfrm>
            <a:off x="7059168" y="3456432"/>
            <a:ext cx="2050932" cy="237744"/>
          </a:xfrm>
          <a:prstGeom prst="rect">
            <a:avLst/>
          </a:prstGeom>
          <a:solidFill>
            <a:srgbClr val="0B5A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390888" y="3369563"/>
            <a:ext cx="1810512" cy="429768"/>
          </a:xfrm>
          <a:prstGeom prst="rect">
            <a:avLst/>
          </a:prstGeom>
          <a:noFill/>
        </p:spPr>
        <p:txBody>
          <a:bodyPr wrap="square" lIns="0" rIns="0" tIns="0" bIns="0" anchor="t">
            <a:noAutofit/>
          </a:bodyPr>
          <a:lstStyle/>
          <a:p>
            <a:pPr algn="l">
              <a:lnSpc>
                <a:spcPct val="109000"/>
              </a:lnSpc>
              <a:spcBef>
                <a:spcPts val="0"/>
              </a:spcBef>
              <a:spcAft>
                <a:spcPts val="0"/>
              </a:spcAft>
            </a:pPr>
            <a:r>
              <a:rPr sz="1200" b="0">
                <a:solidFill>
                  <a:srgbClr val="00407A"/>
                </a:solidFill>
                <a:latin typeface="Arial"/>
              </a:rPr>
              <a:t>92.7%</a:t>
            </a:r>
          </a:p>
          <a:p>
            <a:pPr algn="l">
              <a:lnSpc>
                <a:spcPct val="109000"/>
              </a:lnSpc>
              <a:spcBef>
                <a:spcPts val="0"/>
              </a:spcBef>
              <a:spcAft>
                <a:spcPts val="0"/>
              </a:spcAft>
            </a:pPr>
            <a:r>
              <a:rPr sz="1200" b="0">
                <a:solidFill>
                  <a:srgbClr val="00407A"/>
                </a:solidFill>
                <a:latin typeface="Arial"/>
              </a:rPr>
              <a:t>114 of 114 yes · 0 of 9 no</a:t>
            </a:r>
          </a:p>
        </p:txBody>
      </p:sp>
      <p:sp>
        <p:nvSpPr>
          <p:cNvPr id="49" name="TextBox 48"/>
          <p:cNvSpPr txBox="1"/>
          <p:nvPr/>
        </p:nvSpPr>
        <p:spPr>
          <a:xfrm>
            <a:off x="6391656" y="392734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9B</a:t>
            </a:r>
          </a:p>
        </p:txBody>
      </p:sp>
      <p:sp>
        <p:nvSpPr>
          <p:cNvPr id="50" name="Rectangle 49"/>
          <p:cNvSpPr/>
          <p:nvPr/>
        </p:nvSpPr>
        <p:spPr>
          <a:xfrm>
            <a:off x="7059168" y="3959351"/>
            <a:ext cx="2086913" cy="237744"/>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9390888" y="3872483"/>
            <a:ext cx="1810512" cy="429768"/>
          </a:xfrm>
          <a:prstGeom prst="rect">
            <a:avLst/>
          </a:prstGeom>
          <a:noFill/>
        </p:spPr>
        <p:txBody>
          <a:bodyPr wrap="square" lIns="0" rIns="0" tIns="0" bIns="0" anchor="t">
            <a:noAutofit/>
          </a:bodyPr>
          <a:lstStyle/>
          <a:p>
            <a:pPr algn="l">
              <a:lnSpc>
                <a:spcPct val="109000"/>
              </a:lnSpc>
              <a:spcBef>
                <a:spcPts val="0"/>
              </a:spcBef>
              <a:spcAft>
                <a:spcPts val="0"/>
              </a:spcAft>
            </a:pPr>
            <a:r>
              <a:rPr sz="1200" b="0">
                <a:solidFill>
                  <a:srgbClr val="00407A"/>
                </a:solidFill>
                <a:latin typeface="Arial"/>
              </a:rPr>
              <a:t>94.3%</a:t>
            </a:r>
          </a:p>
          <a:p>
            <a:pPr algn="l">
              <a:lnSpc>
                <a:spcPct val="109000"/>
              </a:lnSpc>
              <a:spcBef>
                <a:spcPts val="0"/>
              </a:spcBef>
              <a:spcAft>
                <a:spcPts val="0"/>
              </a:spcAft>
            </a:pPr>
            <a:r>
              <a:rPr sz="1200" b="0">
                <a:solidFill>
                  <a:srgbClr val="00407A"/>
                </a:solidFill>
                <a:latin typeface="Arial"/>
              </a:rPr>
              <a:t>114 of 114 yes · 2 of 9 no</a:t>
            </a:r>
          </a:p>
        </p:txBody>
      </p:sp>
      <p:sp>
        <p:nvSpPr>
          <p:cNvPr id="52" name="TextBox 51"/>
          <p:cNvSpPr txBox="1"/>
          <p:nvPr/>
        </p:nvSpPr>
        <p:spPr>
          <a:xfrm>
            <a:off x="6391656" y="443026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27B</a:t>
            </a:r>
          </a:p>
        </p:txBody>
      </p:sp>
      <p:sp>
        <p:nvSpPr>
          <p:cNvPr id="53" name="Rectangle 52"/>
          <p:cNvSpPr/>
          <p:nvPr/>
        </p:nvSpPr>
        <p:spPr>
          <a:xfrm>
            <a:off x="7059168" y="4462272"/>
            <a:ext cx="2194857" cy="237744"/>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9390888" y="4375404"/>
            <a:ext cx="1810512" cy="429768"/>
          </a:xfrm>
          <a:prstGeom prst="rect">
            <a:avLst/>
          </a:prstGeom>
          <a:noFill/>
        </p:spPr>
        <p:txBody>
          <a:bodyPr wrap="square" lIns="0" rIns="0" tIns="0" bIns="0" anchor="t">
            <a:noAutofit/>
          </a:bodyPr>
          <a:lstStyle/>
          <a:p>
            <a:pPr algn="l">
              <a:lnSpc>
                <a:spcPct val="109000"/>
              </a:lnSpc>
              <a:spcBef>
                <a:spcPts val="0"/>
              </a:spcBef>
              <a:spcAft>
                <a:spcPts val="0"/>
              </a:spcAft>
            </a:pPr>
            <a:r>
              <a:rPr sz="1200" b="0">
                <a:solidFill>
                  <a:srgbClr val="00407A"/>
                </a:solidFill>
                <a:latin typeface="Arial"/>
              </a:rPr>
              <a:t>99.2%</a:t>
            </a:r>
          </a:p>
          <a:p>
            <a:pPr algn="l">
              <a:lnSpc>
                <a:spcPct val="109000"/>
              </a:lnSpc>
              <a:spcBef>
                <a:spcPts val="0"/>
              </a:spcBef>
              <a:spcAft>
                <a:spcPts val="0"/>
              </a:spcAft>
            </a:pPr>
            <a:r>
              <a:rPr sz="1200" b="0">
                <a:solidFill>
                  <a:srgbClr val="00407A"/>
                </a:solidFill>
                <a:latin typeface="Arial"/>
              </a:rPr>
              <a:t>114 of 114 yes · 8 of 9 no</a:t>
            </a:r>
          </a:p>
        </p:txBody>
      </p:sp>
      <p:sp>
        <p:nvSpPr>
          <p:cNvPr id="55" name="TextBox 54"/>
          <p:cNvSpPr txBox="1"/>
          <p:nvPr/>
        </p:nvSpPr>
        <p:spPr>
          <a:xfrm>
            <a:off x="6391656" y="5029200"/>
            <a:ext cx="4800600" cy="219456"/>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4A5A66"/>
                </a:solidFill>
                <a:latin typeface="Arial"/>
              </a:rPr>
              <a:t>Correct answers (%) — higher is better</a:t>
            </a:r>
          </a:p>
        </p:txBody>
      </p:sp>
      <p:sp>
        <p:nvSpPr>
          <p:cNvPr id="56" name="TextBox 55"/>
          <p:cNvSpPr txBox="1"/>
          <p:nvPr/>
        </p:nvSpPr>
        <p:spPr>
          <a:xfrm>
            <a:off x="6391656" y="5285232"/>
            <a:ext cx="4800600" cy="210312"/>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Dashed lines: always “no” = 7.3% · always “yes” = 92.7%</a:t>
            </a:r>
          </a:p>
        </p:txBody>
      </p:sp>
      <p:sp>
        <p:nvSpPr>
          <p:cNvPr id="57" name="Rounded Rectangle 56"/>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Only KEV-27B on compilation gets most “yes” and most “no” designs right.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265176"/>
            <a:ext cx="10561320" cy="237744"/>
          </a:xfrm>
          <a:prstGeom prst="rect">
            <a:avLst/>
          </a:prstGeom>
          <a:noFill/>
        </p:spPr>
        <p:txBody>
          <a:bodyPr wrap="square" lIns="0" rIns="0" tIns="0" bIns="0" anchor="t">
            <a:noAutofit/>
          </a:bodyPr>
          <a:lstStyle/>
          <a:p>
            <a:pPr algn="l">
              <a:lnSpc>
                <a:spcPct val="109000"/>
              </a:lnSpc>
              <a:spcBef>
                <a:spcPts val="0"/>
              </a:spcBef>
              <a:spcAft>
                <a:spcPts val="0"/>
              </a:spcAft>
            </a:pPr>
            <a:r>
              <a:rPr sz="1250" b="1">
                <a:solidFill>
                  <a:srgbClr val="4A5A66"/>
                </a:solidFill>
                <a:latin typeface="Arial"/>
              </a:rPr>
              <a:t>EXPERIMENT 1  •  NO EXAMPLES</a:t>
            </a:r>
          </a:p>
        </p:txBody>
      </p:sp>
      <p:sp>
        <p:nvSpPr>
          <p:cNvPr id="3" name="TextBox 2"/>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Why 82.9% hides poor synthesis failure detection</a:t>
            </a:r>
          </a:p>
        </p:txBody>
      </p:sp>
      <p:sp>
        <p:nvSpPr>
          <p:cNvPr id="4" name="TextBox 3"/>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KEV-27B • 123 held-out designs • a yes/no threshold of 0.5</a:t>
            </a:r>
          </a:p>
        </p:txBody>
      </p:sp>
      <p:sp>
        <p:nvSpPr>
          <p:cNvPr id="5" name="TextBox 4"/>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RESULTS</a:t>
            </a:r>
          </a:p>
        </p:txBody>
      </p:sp>
      <p:sp>
        <p:nvSpPr>
          <p:cNvPr id="6" name="TextBox 5"/>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10</a:t>
            </a:r>
          </a:p>
        </p:txBody>
      </p:sp>
      <p:graphicFrame>
        <p:nvGraphicFramePr>
          <p:cNvPr id="7" name="Table 6"/>
          <p:cNvGraphicFramePr>
            <a:graphicFrameLocks noGrp="1"/>
          </p:cNvGraphicFramePr>
          <p:nvPr/>
        </p:nvGraphicFramePr>
        <p:xfrm>
          <a:off x="813816" y="1874519"/>
          <a:ext cx="7498080" cy="1737358"/>
        </p:xfrm>
        <a:graphic>
          <a:graphicData uri="http://schemas.openxmlformats.org/drawingml/2006/table">
            <a:tbl>
              <a:tblPr firstRow="1" bandRow="1">
                <a:tableStyleId>{5C22544A-7EE6-4342-B048-85BDC9FD1C3A}</a:tableStyleId>
              </a:tblPr>
              <a:tblGrid>
                <a:gridCol w="2834640"/>
                <a:gridCol w="2331720"/>
                <a:gridCol w="2331720"/>
              </a:tblGrid>
              <a:tr h="566928">
                <a:tc>
                  <a:txBody>
                    <a:bodyPr/>
                    <a:lstStyle/>
                    <a:p>
                      <a:pPr algn="l">
                        <a:lnSpc>
                          <a:spcPct val="103000"/>
                        </a:lnSpc>
                        <a:spcBef>
                          <a:spcPts val="0"/>
                        </a:spcBef>
                        <a:spcAft>
                          <a:spcPts val="0"/>
                        </a:spcAft>
                      </a:pPr>
                      <a:r>
                        <a:rPr sz="1700" b="1">
                          <a:solidFill>
                            <a:srgbClr val="FFFFFF"/>
                          </a:solidFill>
                          <a:latin typeface="Arial"/>
                        </a:rPr>
                        <a:t>Actual tool result</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700" b="1">
                          <a:solidFill>
                            <a:srgbClr val="FFFFFF"/>
                          </a:solidFill>
                          <a:latin typeface="Arial"/>
                        </a:rPr>
                        <a:t>Model says YES</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700" b="1">
                          <a:solidFill>
                            <a:srgbClr val="FFFFFF"/>
                          </a:solidFill>
                          <a:latin typeface="Arial"/>
                        </a:rPr>
                        <a:t>Model says NO</a:t>
                      </a:r>
                    </a:p>
                  </a:txBody>
                  <a:tcPr marL="109728" marR="91440" marT="54864" marB="36576" anchor="ctr">
                    <a:solidFill>
                      <a:srgbClr val="00407A"/>
                    </a:solidFill>
                    <a:lnL>
                      <a:noFill/>
                    </a:lnL>
                    <a:lnR>
                      <a:noFill/>
                    </a:lnR>
                    <a:lnT>
                      <a:noFill/>
                    </a:lnT>
                    <a:lnB>
                      <a:noFill/>
                    </a:lnB>
                  </a:tcPr>
                </a:tc>
              </a:tr>
              <a:tr h="585215">
                <a:tc>
                  <a:txBody>
                    <a:bodyPr/>
                    <a:lstStyle/>
                    <a:p>
                      <a:pPr algn="l">
                        <a:lnSpc>
                          <a:spcPct val="103000"/>
                        </a:lnSpc>
                        <a:spcBef>
                          <a:spcPts val="0"/>
                        </a:spcBef>
                        <a:spcAft>
                          <a:spcPts val="0"/>
                        </a:spcAft>
                      </a:pPr>
                      <a:r>
                        <a:rPr sz="2100" b="0">
                          <a:solidFill>
                            <a:srgbClr val="00407A"/>
                          </a:solidFill>
                          <a:latin typeface="Arial"/>
                        </a:rPr>
                        <a:t>Synthesizes — 99 designs</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98 correct</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1 wrong</a:t>
                      </a:r>
                    </a:p>
                  </a:txBody>
                  <a:tcPr marL="109728" marR="91440" marT="54864" marB="36576" anchor="ctr">
                    <a:solidFill>
                      <a:srgbClr val="E3EFF5"/>
                    </a:solidFill>
                    <a:lnL>
                      <a:noFill/>
                    </a:lnL>
                    <a:lnR>
                      <a:noFill/>
                    </a:lnR>
                    <a:lnT>
                      <a:noFill/>
                    </a:lnT>
                    <a:lnB>
                      <a:noFill/>
                    </a:lnB>
                  </a:tcPr>
                </a:tc>
              </a:tr>
              <a:tr h="585215">
                <a:tc>
                  <a:txBody>
                    <a:bodyPr/>
                    <a:lstStyle/>
                    <a:p>
                      <a:pPr algn="l">
                        <a:lnSpc>
                          <a:spcPct val="103000"/>
                        </a:lnSpc>
                        <a:spcBef>
                          <a:spcPts val="0"/>
                        </a:spcBef>
                        <a:spcAft>
                          <a:spcPts val="0"/>
                        </a:spcAft>
                      </a:pPr>
                      <a:r>
                        <a:rPr sz="2100" b="0">
                          <a:solidFill>
                            <a:srgbClr val="00407A"/>
                          </a:solidFill>
                          <a:latin typeface="Arial"/>
                        </a:rPr>
                        <a:t>Fails synthesis — 24 designs</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20 wrong</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4 correct</a:t>
                      </a:r>
                    </a:p>
                  </a:txBody>
                  <a:tcPr marL="109728" marR="91440" marT="54864" marB="36576" anchor="ctr">
                    <a:solidFill>
                      <a:srgbClr val="FFFFFF"/>
                    </a:solidFill>
                    <a:lnL>
                      <a:noFill/>
                    </a:lnL>
                    <a:lnR>
                      <a:noFill/>
                    </a:lnR>
                    <a:lnT>
                      <a:noFill/>
                    </a:lnT>
                    <a:lnB>
                      <a:noFill/>
                    </a:lnB>
                  </a:tcPr>
                </a:tc>
              </a:tr>
            </a:tbl>
          </a:graphicData>
        </a:graphic>
      </p:graphicFrame>
      <p:sp>
        <p:nvSpPr>
          <p:cNvPr id="8" name="Rounded Rectangle 7"/>
          <p:cNvSpPr/>
          <p:nvPr/>
        </p:nvSpPr>
        <p:spPr>
          <a:xfrm>
            <a:off x="813816" y="3840480"/>
            <a:ext cx="5166360" cy="1627632"/>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13816" y="3840480"/>
            <a:ext cx="516636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2416" y="3986784"/>
            <a:ext cx="4709160" cy="384048"/>
          </a:xfrm>
          <a:prstGeom prst="rect">
            <a:avLst/>
          </a:prstGeom>
          <a:noFill/>
        </p:spPr>
        <p:txBody>
          <a:bodyPr wrap="square" lIns="0" rIns="0" tIns="0" bIns="0" anchor="t">
            <a:noAutofit/>
          </a:bodyPr>
          <a:lstStyle/>
          <a:p>
            <a:pPr algn="l">
              <a:lnSpc>
                <a:spcPct val="109000"/>
              </a:lnSpc>
              <a:spcBef>
                <a:spcPts val="0"/>
              </a:spcBef>
              <a:spcAft>
                <a:spcPts val="0"/>
              </a:spcAft>
            </a:pPr>
            <a:r>
              <a:rPr sz="2000" b="1">
                <a:solidFill>
                  <a:srgbClr val="00407A"/>
                </a:solidFill>
                <a:latin typeface="Arial"/>
              </a:rPr>
              <a:t>82.9% overall accuracy</a:t>
            </a:r>
          </a:p>
        </p:txBody>
      </p:sp>
      <p:sp>
        <p:nvSpPr>
          <p:cNvPr id="11" name="TextBox 10"/>
          <p:cNvSpPr txBox="1"/>
          <p:nvPr/>
        </p:nvSpPr>
        <p:spPr>
          <a:xfrm>
            <a:off x="1042416" y="4498848"/>
            <a:ext cx="4709160" cy="877824"/>
          </a:xfrm>
          <a:prstGeom prst="rect">
            <a:avLst/>
          </a:prstGeom>
          <a:noFill/>
        </p:spPr>
        <p:txBody>
          <a:bodyPr wrap="square" lIns="0" rIns="0" tIns="0" bIns="0" anchor="t">
            <a:noAutofit/>
          </a:bodyPr>
          <a:lstStyle/>
          <a:p>
            <a:pPr algn="l">
              <a:lnSpc>
                <a:spcPct val="109000"/>
              </a:lnSpc>
              <a:spcBef>
                <a:spcPts val="0"/>
              </a:spcBef>
              <a:spcAft>
                <a:spcPts val="0"/>
              </a:spcAft>
            </a:pPr>
            <a:r>
              <a:rPr sz="1700" b="0">
                <a:solidFill>
                  <a:srgbClr val="00407A"/>
                </a:solidFill>
                <a:latin typeface="Arial"/>
              </a:rPr>
              <a:t>102 correct of 123 designs.</a:t>
            </a:r>
          </a:p>
          <a:p>
            <a:pPr algn="l">
              <a:lnSpc>
                <a:spcPct val="109000"/>
              </a:lnSpc>
              <a:spcBef>
                <a:spcPts val="0"/>
              </a:spcBef>
              <a:spcAft>
                <a:spcPts val="0"/>
              </a:spcAft>
            </a:pPr>
            <a:r>
              <a:rPr sz="1700" b="0">
                <a:solidFill>
                  <a:srgbClr val="00407A"/>
                </a:solidFill>
                <a:latin typeface="Arial"/>
              </a:rPr>
              <a:t>Each design has equal weight; the 99 successes dominate.</a:t>
            </a:r>
          </a:p>
        </p:txBody>
      </p:sp>
      <p:sp>
        <p:nvSpPr>
          <p:cNvPr id="12" name="Rounded Rectangle 11"/>
          <p:cNvSpPr/>
          <p:nvPr/>
        </p:nvSpPr>
        <p:spPr>
          <a:xfrm>
            <a:off x="6208776" y="3840480"/>
            <a:ext cx="5166360" cy="1627632"/>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08776" y="3840480"/>
            <a:ext cx="516636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7376" y="3986784"/>
            <a:ext cx="4709160" cy="384048"/>
          </a:xfrm>
          <a:prstGeom prst="rect">
            <a:avLst/>
          </a:prstGeom>
          <a:noFill/>
        </p:spPr>
        <p:txBody>
          <a:bodyPr wrap="square" lIns="0" rIns="0" tIns="0" bIns="0" anchor="t">
            <a:noAutofit/>
          </a:bodyPr>
          <a:lstStyle/>
          <a:p>
            <a:pPr algn="l">
              <a:lnSpc>
                <a:spcPct val="109000"/>
              </a:lnSpc>
              <a:spcBef>
                <a:spcPts val="0"/>
              </a:spcBef>
              <a:spcAft>
                <a:spcPts val="0"/>
              </a:spcAft>
            </a:pPr>
            <a:r>
              <a:rPr sz="2000" b="1">
                <a:solidFill>
                  <a:srgbClr val="00407A"/>
                </a:solidFill>
                <a:latin typeface="Arial"/>
              </a:rPr>
              <a:t>80.5% for always “yes”</a:t>
            </a:r>
          </a:p>
        </p:txBody>
      </p:sp>
      <p:sp>
        <p:nvSpPr>
          <p:cNvPr id="15" name="TextBox 14"/>
          <p:cNvSpPr txBox="1"/>
          <p:nvPr/>
        </p:nvSpPr>
        <p:spPr>
          <a:xfrm>
            <a:off x="6437376" y="4498848"/>
            <a:ext cx="4709160" cy="877824"/>
          </a:xfrm>
          <a:prstGeom prst="rect">
            <a:avLst/>
          </a:prstGeom>
          <a:noFill/>
        </p:spPr>
        <p:txBody>
          <a:bodyPr wrap="square" lIns="0" rIns="0" tIns="0" bIns="0" anchor="t">
            <a:noAutofit/>
          </a:bodyPr>
          <a:lstStyle/>
          <a:p>
            <a:pPr algn="l">
              <a:lnSpc>
                <a:spcPct val="109000"/>
              </a:lnSpc>
              <a:spcBef>
                <a:spcPts val="0"/>
              </a:spcBef>
              <a:spcAft>
                <a:spcPts val="0"/>
              </a:spcAft>
            </a:pPr>
            <a:r>
              <a:rPr sz="1700" b="0">
                <a:solidFill>
                  <a:srgbClr val="00407A"/>
                </a:solidFill>
                <a:latin typeface="Arial"/>
              </a:rPr>
              <a:t>A constant “yes” gets 99 correct.</a:t>
            </a:r>
          </a:p>
          <a:p>
            <a:pPr algn="l">
              <a:lnSpc>
                <a:spcPct val="109000"/>
              </a:lnSpc>
              <a:spcBef>
                <a:spcPts val="0"/>
              </a:spcBef>
              <a:spcAft>
                <a:spcPts val="0"/>
              </a:spcAft>
            </a:pPr>
            <a:r>
              <a:rPr sz="1700" b="0">
                <a:solidFill>
                  <a:srgbClr val="00407A"/>
                </a:solidFill>
                <a:latin typeface="Arial"/>
              </a:rPr>
              <a:t>27B gets only 3 more.</a:t>
            </a:r>
          </a:p>
        </p:txBody>
      </p:sp>
      <p:sp>
        <p:nvSpPr>
          <p:cNvPr id="16" name="TextBox 15"/>
          <p:cNvSpPr txBox="1"/>
          <p:nvPr/>
        </p:nvSpPr>
        <p:spPr>
          <a:xfrm>
            <a:off x="8732520" y="1920240"/>
            <a:ext cx="2377440" cy="1371600"/>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20 failures</a:t>
            </a:r>
          </a:p>
          <a:p>
            <a:pPr algn="l">
              <a:lnSpc>
                <a:spcPct val="109000"/>
              </a:lnSpc>
              <a:spcBef>
                <a:spcPts val="0"/>
              </a:spcBef>
              <a:spcAft>
                <a:spcPts val="0"/>
              </a:spcAft>
            </a:pPr>
            <a:r>
              <a:rPr sz="3100" b="1">
                <a:solidFill>
                  <a:srgbClr val="00407A"/>
                </a:solidFill>
                <a:latin typeface="Arial"/>
              </a:rPr>
              <a:t>missed</a:t>
            </a:r>
          </a:p>
        </p:txBody>
      </p:sp>
      <p:sp>
        <p:nvSpPr>
          <p:cNvPr id="17" name="Rounded Rectangle 16"/>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Read 82.9% against the 80.5% of always “yes”: the gain is 3 of 123 designs.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265176"/>
            <a:ext cx="10561320" cy="237744"/>
          </a:xfrm>
          <a:prstGeom prst="rect">
            <a:avLst/>
          </a:prstGeom>
          <a:noFill/>
        </p:spPr>
        <p:txBody>
          <a:bodyPr wrap="square" lIns="0" rIns="0" tIns="0" bIns="0" anchor="t">
            <a:noAutofit/>
          </a:bodyPr>
          <a:lstStyle/>
          <a:p>
            <a:pPr algn="l">
              <a:lnSpc>
                <a:spcPct val="109000"/>
              </a:lnSpc>
              <a:spcBef>
                <a:spcPts val="0"/>
              </a:spcBef>
              <a:spcAft>
                <a:spcPts val="0"/>
              </a:spcAft>
            </a:pPr>
            <a:r>
              <a:rPr sz="1250" b="1">
                <a:solidFill>
                  <a:srgbClr val="4A5A66"/>
                </a:solidFill>
                <a:latin typeface="Arial"/>
              </a:rPr>
              <a:t>EXPERIMENT 1  •  NO EXAMPLES</a:t>
            </a:r>
          </a:p>
        </p:txBody>
      </p:sp>
      <p:sp>
        <p:nvSpPr>
          <p:cNvPr id="3" name="TextBox 2"/>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Which synthesis failures do the models detect?</a:t>
            </a:r>
          </a:p>
        </p:txBody>
      </p:sp>
      <p:sp>
        <p:nvSpPr>
          <p:cNvPr id="4" name="TextBox 3"/>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Split the 24 failures again: source accepted by the simulator compiler versus rejected source.</a:t>
            </a:r>
          </a:p>
        </p:txBody>
      </p:sp>
      <p:sp>
        <p:nvSpPr>
          <p:cNvPr id="5" name="TextBox 4"/>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RESULTS</a:t>
            </a:r>
          </a:p>
        </p:txBody>
      </p:sp>
      <p:sp>
        <p:nvSpPr>
          <p:cNvPr id="6" name="TextBox 5"/>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11</a:t>
            </a:r>
          </a:p>
        </p:txBody>
      </p:sp>
      <p:sp>
        <p:nvSpPr>
          <p:cNvPr id="7" name="Rounded Rectangle 6"/>
          <p:cNvSpPr/>
          <p:nvPr/>
        </p:nvSpPr>
        <p:spPr>
          <a:xfrm>
            <a:off x="813816" y="1819656"/>
            <a:ext cx="5166360" cy="3730752"/>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14984" y="1984248"/>
            <a:ext cx="4764024" cy="502920"/>
          </a:xfrm>
          <a:prstGeom prst="rect">
            <a:avLst/>
          </a:prstGeom>
          <a:noFill/>
        </p:spPr>
        <p:txBody>
          <a:bodyPr wrap="square" lIns="0" rIns="0" tIns="0" bIns="0" anchor="t">
            <a:noAutofit/>
          </a:bodyPr>
          <a:lstStyle/>
          <a:p>
            <a:pPr algn="l">
              <a:lnSpc>
                <a:spcPct val="109000"/>
              </a:lnSpc>
              <a:spcBef>
                <a:spcPts val="0"/>
              </a:spcBef>
              <a:spcAft>
                <a:spcPts val="0"/>
              </a:spcAft>
            </a:pPr>
            <a:r>
              <a:rPr sz="1800" b="1">
                <a:solidFill>
                  <a:srgbClr val="00407A"/>
                </a:solidFill>
                <a:latin typeface="Arial"/>
              </a:rPr>
              <a:t>Compiles, but fails synthesis</a:t>
            </a:r>
          </a:p>
        </p:txBody>
      </p:sp>
      <p:sp>
        <p:nvSpPr>
          <p:cNvPr id="9" name="TextBox 8"/>
          <p:cNvSpPr txBox="1"/>
          <p:nvPr/>
        </p:nvSpPr>
        <p:spPr>
          <a:xfrm>
            <a:off x="1014984" y="2432304"/>
            <a:ext cx="4764024" cy="347472"/>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4A5A66"/>
                </a:solidFill>
                <a:latin typeface="Arial"/>
              </a:rPr>
              <a:t>15 designs • synthesis-specific failure cases</a:t>
            </a:r>
          </a:p>
        </p:txBody>
      </p:sp>
      <p:cxnSp>
        <p:nvCxnSpPr>
          <p:cNvPr id="10" name="Connector 9"/>
          <p:cNvCxnSpPr/>
          <p:nvPr/>
        </p:nvCxnSpPr>
        <p:spPr>
          <a:xfrm>
            <a:off x="166420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146304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a:t>
            </a:r>
          </a:p>
        </p:txBody>
      </p:sp>
      <p:cxnSp>
        <p:nvCxnSpPr>
          <p:cNvPr id="12" name="Connector 11"/>
          <p:cNvCxnSpPr/>
          <p:nvPr/>
        </p:nvCxnSpPr>
        <p:spPr>
          <a:xfrm>
            <a:off x="317296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2971799"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50</a:t>
            </a:r>
          </a:p>
        </p:txBody>
      </p:sp>
      <p:cxnSp>
        <p:nvCxnSpPr>
          <p:cNvPr id="14" name="Connector 13"/>
          <p:cNvCxnSpPr/>
          <p:nvPr/>
        </p:nvCxnSpPr>
        <p:spPr>
          <a:xfrm>
            <a:off x="468172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448056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100</a:t>
            </a:r>
          </a:p>
        </p:txBody>
      </p:sp>
      <p:sp>
        <p:nvSpPr>
          <p:cNvPr id="16" name="TextBox 15"/>
          <p:cNvSpPr txBox="1"/>
          <p:nvPr/>
        </p:nvSpPr>
        <p:spPr>
          <a:xfrm>
            <a:off x="996696" y="292150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0.8B</a:t>
            </a:r>
          </a:p>
        </p:txBody>
      </p:sp>
      <p:sp>
        <p:nvSpPr>
          <p:cNvPr id="17" name="TextBox 16"/>
          <p:cNvSpPr txBox="1"/>
          <p:nvPr/>
        </p:nvSpPr>
        <p:spPr>
          <a:xfrm>
            <a:off x="4800600" y="286664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0.0%</a:t>
            </a:r>
          </a:p>
          <a:p>
            <a:pPr algn="l">
              <a:lnSpc>
                <a:spcPct val="109000"/>
              </a:lnSpc>
              <a:spcBef>
                <a:spcPts val="0"/>
              </a:spcBef>
              <a:spcAft>
                <a:spcPts val="0"/>
              </a:spcAft>
            </a:pPr>
            <a:r>
              <a:rPr sz="1250" b="0">
                <a:solidFill>
                  <a:srgbClr val="00407A"/>
                </a:solidFill>
                <a:latin typeface="Arial"/>
              </a:rPr>
              <a:t>0 of 15</a:t>
            </a:r>
          </a:p>
        </p:txBody>
      </p:sp>
      <p:sp>
        <p:nvSpPr>
          <p:cNvPr id="18" name="TextBox 17"/>
          <p:cNvSpPr txBox="1"/>
          <p:nvPr/>
        </p:nvSpPr>
        <p:spPr>
          <a:xfrm>
            <a:off x="996696" y="3424427"/>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4B</a:t>
            </a:r>
          </a:p>
        </p:txBody>
      </p:sp>
      <p:sp>
        <p:nvSpPr>
          <p:cNvPr id="19" name="TextBox 18"/>
          <p:cNvSpPr txBox="1"/>
          <p:nvPr/>
        </p:nvSpPr>
        <p:spPr>
          <a:xfrm>
            <a:off x="4800600" y="336956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0.0%</a:t>
            </a:r>
          </a:p>
          <a:p>
            <a:pPr algn="l">
              <a:lnSpc>
                <a:spcPct val="109000"/>
              </a:lnSpc>
              <a:spcBef>
                <a:spcPts val="0"/>
              </a:spcBef>
              <a:spcAft>
                <a:spcPts val="0"/>
              </a:spcAft>
            </a:pPr>
            <a:r>
              <a:rPr sz="1250" b="0">
                <a:solidFill>
                  <a:srgbClr val="00407A"/>
                </a:solidFill>
                <a:latin typeface="Arial"/>
              </a:rPr>
              <a:t>0 of 15</a:t>
            </a:r>
          </a:p>
        </p:txBody>
      </p:sp>
      <p:sp>
        <p:nvSpPr>
          <p:cNvPr id="20" name="TextBox 19"/>
          <p:cNvSpPr txBox="1"/>
          <p:nvPr/>
        </p:nvSpPr>
        <p:spPr>
          <a:xfrm>
            <a:off x="996696" y="392734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9B</a:t>
            </a:r>
          </a:p>
        </p:txBody>
      </p:sp>
      <p:sp>
        <p:nvSpPr>
          <p:cNvPr id="21" name="Rectangle 20"/>
          <p:cNvSpPr/>
          <p:nvPr/>
        </p:nvSpPr>
        <p:spPr>
          <a:xfrm>
            <a:off x="1664208" y="3959351"/>
            <a:ext cx="201168" cy="237744"/>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800600" y="387248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6.7%</a:t>
            </a:r>
          </a:p>
          <a:p>
            <a:pPr algn="l">
              <a:lnSpc>
                <a:spcPct val="109000"/>
              </a:lnSpc>
              <a:spcBef>
                <a:spcPts val="0"/>
              </a:spcBef>
              <a:spcAft>
                <a:spcPts val="0"/>
              </a:spcAft>
            </a:pPr>
            <a:r>
              <a:rPr sz="1250" b="0">
                <a:solidFill>
                  <a:srgbClr val="00407A"/>
                </a:solidFill>
                <a:latin typeface="Arial"/>
              </a:rPr>
              <a:t>1 of 15</a:t>
            </a:r>
          </a:p>
        </p:txBody>
      </p:sp>
      <p:sp>
        <p:nvSpPr>
          <p:cNvPr id="23" name="TextBox 22"/>
          <p:cNvSpPr txBox="1"/>
          <p:nvPr/>
        </p:nvSpPr>
        <p:spPr>
          <a:xfrm>
            <a:off x="996696" y="443026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27B</a:t>
            </a:r>
          </a:p>
        </p:txBody>
      </p:sp>
      <p:sp>
        <p:nvSpPr>
          <p:cNvPr id="24" name="TextBox 23"/>
          <p:cNvSpPr txBox="1"/>
          <p:nvPr/>
        </p:nvSpPr>
        <p:spPr>
          <a:xfrm>
            <a:off x="4800600" y="437540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0.0%</a:t>
            </a:r>
          </a:p>
          <a:p>
            <a:pPr algn="l">
              <a:lnSpc>
                <a:spcPct val="109000"/>
              </a:lnSpc>
              <a:spcBef>
                <a:spcPts val="0"/>
              </a:spcBef>
              <a:spcAft>
                <a:spcPts val="0"/>
              </a:spcAft>
            </a:pPr>
            <a:r>
              <a:rPr sz="1250" b="0">
                <a:solidFill>
                  <a:srgbClr val="00407A"/>
                </a:solidFill>
                <a:latin typeface="Arial"/>
              </a:rPr>
              <a:t>0 of 15</a:t>
            </a:r>
          </a:p>
        </p:txBody>
      </p:sp>
      <p:sp>
        <p:nvSpPr>
          <p:cNvPr id="25" name="TextBox 24"/>
          <p:cNvSpPr txBox="1"/>
          <p:nvPr/>
        </p:nvSpPr>
        <p:spPr>
          <a:xfrm>
            <a:off x="996696" y="5029200"/>
            <a:ext cx="4800600" cy="219456"/>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4A5A66"/>
                </a:solidFill>
                <a:latin typeface="Arial"/>
              </a:rPr>
              <a:t>Correct answers (%) — higher is better</a:t>
            </a:r>
          </a:p>
        </p:txBody>
      </p:sp>
      <p:sp>
        <p:nvSpPr>
          <p:cNvPr id="26" name="Rounded Rectangle 25"/>
          <p:cNvSpPr/>
          <p:nvPr/>
        </p:nvSpPr>
        <p:spPr>
          <a:xfrm>
            <a:off x="6208776" y="1819656"/>
            <a:ext cx="5166360" cy="3730752"/>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9944" y="1984248"/>
            <a:ext cx="4764024" cy="502920"/>
          </a:xfrm>
          <a:prstGeom prst="rect">
            <a:avLst/>
          </a:prstGeom>
          <a:noFill/>
        </p:spPr>
        <p:txBody>
          <a:bodyPr wrap="square" lIns="0" rIns="0" tIns="0" bIns="0" anchor="t">
            <a:noAutofit/>
          </a:bodyPr>
          <a:lstStyle/>
          <a:p>
            <a:pPr algn="l">
              <a:lnSpc>
                <a:spcPct val="109000"/>
              </a:lnSpc>
              <a:spcBef>
                <a:spcPts val="0"/>
              </a:spcBef>
              <a:spcAft>
                <a:spcPts val="0"/>
              </a:spcAft>
            </a:pPr>
            <a:r>
              <a:rPr sz="1800" b="1">
                <a:solidFill>
                  <a:srgbClr val="00407A"/>
                </a:solidFill>
                <a:latin typeface="Arial"/>
              </a:rPr>
              <a:t>Compilation also fails</a:t>
            </a:r>
          </a:p>
        </p:txBody>
      </p:sp>
      <p:sp>
        <p:nvSpPr>
          <p:cNvPr id="28" name="TextBox 27"/>
          <p:cNvSpPr txBox="1"/>
          <p:nvPr/>
        </p:nvSpPr>
        <p:spPr>
          <a:xfrm>
            <a:off x="6409944" y="2432304"/>
            <a:ext cx="4764024" cy="347472"/>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4A5A66"/>
                </a:solidFill>
                <a:latin typeface="Arial"/>
              </a:rPr>
              <a:t>9 designs • both tools reject the design</a:t>
            </a:r>
          </a:p>
        </p:txBody>
      </p:sp>
      <p:cxnSp>
        <p:nvCxnSpPr>
          <p:cNvPr id="29" name="Connector 28"/>
          <p:cNvCxnSpPr/>
          <p:nvPr/>
        </p:nvCxnSpPr>
        <p:spPr>
          <a:xfrm>
            <a:off x="705916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685800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a:t>
            </a:r>
          </a:p>
        </p:txBody>
      </p:sp>
      <p:cxnSp>
        <p:nvCxnSpPr>
          <p:cNvPr id="31" name="Connector 30"/>
          <p:cNvCxnSpPr/>
          <p:nvPr/>
        </p:nvCxnSpPr>
        <p:spPr>
          <a:xfrm>
            <a:off x="856792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8366759"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50</a:t>
            </a:r>
          </a:p>
        </p:txBody>
      </p:sp>
      <p:cxnSp>
        <p:nvCxnSpPr>
          <p:cNvPr id="33" name="Connector 32"/>
          <p:cNvCxnSpPr/>
          <p:nvPr/>
        </p:nvCxnSpPr>
        <p:spPr>
          <a:xfrm>
            <a:off x="1007668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9875519"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100</a:t>
            </a:r>
          </a:p>
        </p:txBody>
      </p:sp>
      <p:sp>
        <p:nvSpPr>
          <p:cNvPr id="35" name="TextBox 34"/>
          <p:cNvSpPr txBox="1"/>
          <p:nvPr/>
        </p:nvSpPr>
        <p:spPr>
          <a:xfrm>
            <a:off x="6391656" y="292150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0.8B</a:t>
            </a:r>
          </a:p>
        </p:txBody>
      </p:sp>
      <p:sp>
        <p:nvSpPr>
          <p:cNvPr id="36" name="TextBox 35"/>
          <p:cNvSpPr txBox="1"/>
          <p:nvPr/>
        </p:nvSpPr>
        <p:spPr>
          <a:xfrm>
            <a:off x="10195560" y="286664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0.0%</a:t>
            </a:r>
          </a:p>
          <a:p>
            <a:pPr algn="l">
              <a:lnSpc>
                <a:spcPct val="109000"/>
              </a:lnSpc>
              <a:spcBef>
                <a:spcPts val="0"/>
              </a:spcBef>
              <a:spcAft>
                <a:spcPts val="0"/>
              </a:spcAft>
            </a:pPr>
            <a:r>
              <a:rPr sz="1250" b="0">
                <a:solidFill>
                  <a:srgbClr val="00407A"/>
                </a:solidFill>
                <a:latin typeface="Arial"/>
              </a:rPr>
              <a:t>0 of 9</a:t>
            </a:r>
          </a:p>
        </p:txBody>
      </p:sp>
      <p:sp>
        <p:nvSpPr>
          <p:cNvPr id="37" name="TextBox 36"/>
          <p:cNvSpPr txBox="1"/>
          <p:nvPr/>
        </p:nvSpPr>
        <p:spPr>
          <a:xfrm>
            <a:off x="6391656" y="3424427"/>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4B</a:t>
            </a:r>
          </a:p>
        </p:txBody>
      </p:sp>
      <p:sp>
        <p:nvSpPr>
          <p:cNvPr id="38" name="TextBox 37"/>
          <p:cNvSpPr txBox="1"/>
          <p:nvPr/>
        </p:nvSpPr>
        <p:spPr>
          <a:xfrm>
            <a:off x="10195560" y="336956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0.0%</a:t>
            </a:r>
          </a:p>
          <a:p>
            <a:pPr algn="l">
              <a:lnSpc>
                <a:spcPct val="109000"/>
              </a:lnSpc>
              <a:spcBef>
                <a:spcPts val="0"/>
              </a:spcBef>
              <a:spcAft>
                <a:spcPts val="0"/>
              </a:spcAft>
            </a:pPr>
            <a:r>
              <a:rPr sz="1250" b="0">
                <a:solidFill>
                  <a:srgbClr val="00407A"/>
                </a:solidFill>
                <a:latin typeface="Arial"/>
              </a:rPr>
              <a:t>0 of 9</a:t>
            </a:r>
          </a:p>
        </p:txBody>
      </p:sp>
      <p:sp>
        <p:nvSpPr>
          <p:cNvPr id="39" name="TextBox 38"/>
          <p:cNvSpPr txBox="1"/>
          <p:nvPr/>
        </p:nvSpPr>
        <p:spPr>
          <a:xfrm>
            <a:off x="6391656" y="392734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9B</a:t>
            </a:r>
          </a:p>
        </p:txBody>
      </p:sp>
      <p:sp>
        <p:nvSpPr>
          <p:cNvPr id="40" name="Rectangle 39"/>
          <p:cNvSpPr/>
          <p:nvPr/>
        </p:nvSpPr>
        <p:spPr>
          <a:xfrm>
            <a:off x="7059168" y="3959351"/>
            <a:ext cx="335280" cy="237744"/>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195560" y="387248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11.1%</a:t>
            </a:r>
          </a:p>
          <a:p>
            <a:pPr algn="l">
              <a:lnSpc>
                <a:spcPct val="109000"/>
              </a:lnSpc>
              <a:spcBef>
                <a:spcPts val="0"/>
              </a:spcBef>
              <a:spcAft>
                <a:spcPts val="0"/>
              </a:spcAft>
            </a:pPr>
            <a:r>
              <a:rPr sz="1250" b="0">
                <a:solidFill>
                  <a:srgbClr val="00407A"/>
                </a:solidFill>
                <a:latin typeface="Arial"/>
              </a:rPr>
              <a:t>1 of 9</a:t>
            </a:r>
          </a:p>
        </p:txBody>
      </p:sp>
      <p:sp>
        <p:nvSpPr>
          <p:cNvPr id="42" name="TextBox 41"/>
          <p:cNvSpPr txBox="1"/>
          <p:nvPr/>
        </p:nvSpPr>
        <p:spPr>
          <a:xfrm>
            <a:off x="6391656" y="443026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27B</a:t>
            </a:r>
          </a:p>
        </p:txBody>
      </p:sp>
      <p:sp>
        <p:nvSpPr>
          <p:cNvPr id="43" name="Rectangle 42"/>
          <p:cNvSpPr/>
          <p:nvPr/>
        </p:nvSpPr>
        <p:spPr>
          <a:xfrm>
            <a:off x="7059168" y="4462272"/>
            <a:ext cx="1341120" cy="237744"/>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195560" y="437540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44.4%</a:t>
            </a:r>
          </a:p>
          <a:p>
            <a:pPr algn="l">
              <a:lnSpc>
                <a:spcPct val="109000"/>
              </a:lnSpc>
              <a:spcBef>
                <a:spcPts val="0"/>
              </a:spcBef>
              <a:spcAft>
                <a:spcPts val="0"/>
              </a:spcAft>
            </a:pPr>
            <a:r>
              <a:rPr sz="1250" b="0">
                <a:solidFill>
                  <a:srgbClr val="00407A"/>
                </a:solidFill>
                <a:latin typeface="Arial"/>
              </a:rPr>
              <a:t>4 of 9</a:t>
            </a:r>
          </a:p>
        </p:txBody>
      </p:sp>
      <p:sp>
        <p:nvSpPr>
          <p:cNvPr id="45" name="TextBox 44"/>
          <p:cNvSpPr txBox="1"/>
          <p:nvPr/>
        </p:nvSpPr>
        <p:spPr>
          <a:xfrm>
            <a:off x="6391656" y="5029200"/>
            <a:ext cx="4800600" cy="219456"/>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4A5A66"/>
                </a:solidFill>
                <a:latin typeface="Arial"/>
              </a:rPr>
              <a:t>Correct answers (%) — higher is better</a:t>
            </a:r>
          </a:p>
        </p:txBody>
      </p:sp>
      <p:sp>
        <p:nvSpPr>
          <p:cNvPr id="46" name="Rounded Rectangle 45"/>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KEV-27B misses every one of the 15 synthesis failures whose source compiles.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265176"/>
            <a:ext cx="10561320" cy="237744"/>
          </a:xfrm>
          <a:prstGeom prst="rect">
            <a:avLst/>
          </a:prstGeom>
          <a:noFill/>
        </p:spPr>
        <p:txBody>
          <a:bodyPr wrap="square" lIns="0" rIns="0" tIns="0" bIns="0" anchor="t">
            <a:noAutofit/>
          </a:bodyPr>
          <a:lstStyle/>
          <a:p>
            <a:pPr algn="l">
              <a:lnSpc>
                <a:spcPct val="109000"/>
              </a:lnSpc>
              <a:spcBef>
                <a:spcPts val="0"/>
              </a:spcBef>
              <a:spcAft>
                <a:spcPts val="0"/>
              </a:spcAft>
            </a:pPr>
            <a:r>
              <a:rPr sz="1250" b="1">
                <a:solidFill>
                  <a:srgbClr val="0B5A93"/>
                </a:solidFill>
                <a:latin typeface="Arial"/>
              </a:rPr>
              <a:t>EXPERIMENT 2  •  THREE SOLVED EXAMPLES PER QUESTION</a:t>
            </a:r>
          </a:p>
        </p:txBody>
      </p:sp>
      <p:sp>
        <p:nvSpPr>
          <p:cNvPr id="3" name="TextBox 2"/>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27B’s synthesis score rises from 82.9% to 87.8%</a:t>
            </a:r>
          </a:p>
        </p:txBody>
      </p:sp>
      <p:sp>
        <p:nvSpPr>
          <p:cNvPr id="4" name="TextBox 3"/>
          <p:cNvSpPr txBox="1"/>
          <p:nvPr/>
        </p:nvSpPr>
        <p:spPr>
          <a:xfrm>
            <a:off x="813816" y="1261872"/>
            <a:ext cx="10561320" cy="438912"/>
          </a:xfrm>
          <a:prstGeom prst="rect">
            <a:avLst/>
          </a:prstGeom>
          <a:noFill/>
        </p:spPr>
        <p:txBody>
          <a:bodyPr wrap="square" lIns="0" rIns="0" tIns="0" bIns="0">
            <a:noAutofit/>
          </a:bodyPr>
          <a:lstStyle/>
          <a:p>
            <a:pPr>
              <a:lnSpc>
                <a:spcPct val="109000"/>
              </a:lnSpc>
              <a:spcBef>
                <a:spcPts val="0"/>
              </a:spcBef>
              <a:spcAft>
                <a:spcPts val="0"/>
              </a:spcAft>
            </a:pPr>
            <a:r>
              <a:rPr sz="1600" b="0">
                <a:solidFill>
                  <a:srgbClr val="4A5A66"/>
                </a:solidFill>
                <a:latin typeface="Arial"/>
              </a:rPr>
              <a:t>Same 123 designs; each question now has three solved examples.    </a:t>
            </a:r>
            <a:r>
              <a:rPr sz="1600" b="1">
                <a:solidFill>
                  <a:srgbClr val="E97132"/>
                </a:solidFill>
                <a:latin typeface="Arial"/>
              </a:rPr>
              <a:t>|</a:t>
            </a:r>
            <a:r>
              <a:rPr sz="1600" b="0">
                <a:solidFill>
                  <a:srgbClr val="4A5A66"/>
                </a:solidFill>
                <a:latin typeface="Arial"/>
              </a:rPr>
              <a:t> = the score without examples</a:t>
            </a:r>
          </a:p>
        </p:txBody>
      </p:sp>
      <p:sp>
        <p:nvSpPr>
          <p:cNvPr id="5" name="TextBox 4"/>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three examples per question  •  16 October 2026  |  RESULTS</a:t>
            </a:r>
          </a:p>
        </p:txBody>
      </p:sp>
      <p:sp>
        <p:nvSpPr>
          <p:cNvPr id="6" name="TextBox 5"/>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12</a:t>
            </a:r>
          </a:p>
        </p:txBody>
      </p:sp>
      <p:sp>
        <p:nvSpPr>
          <p:cNvPr id="7" name="Rounded Rectangle 6"/>
          <p:cNvSpPr/>
          <p:nvPr/>
        </p:nvSpPr>
        <p:spPr>
          <a:xfrm>
            <a:off x="813816" y="1819656"/>
            <a:ext cx="5166360" cy="3730752"/>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14984" y="1984248"/>
            <a:ext cx="4764024" cy="502920"/>
          </a:xfrm>
          <a:prstGeom prst="rect">
            <a:avLst/>
          </a:prstGeom>
          <a:noFill/>
        </p:spPr>
        <p:txBody>
          <a:bodyPr wrap="square" lIns="0" rIns="0" tIns="0" bIns="0" anchor="t">
            <a:noAutofit/>
          </a:bodyPr>
          <a:lstStyle/>
          <a:p>
            <a:pPr algn="l">
              <a:lnSpc>
                <a:spcPct val="109000"/>
              </a:lnSpc>
              <a:spcBef>
                <a:spcPts val="0"/>
              </a:spcBef>
              <a:spcAft>
                <a:spcPts val="0"/>
              </a:spcAft>
            </a:pPr>
            <a:r>
              <a:rPr sz="1800" b="1">
                <a:solidFill>
                  <a:srgbClr val="00407A"/>
                </a:solidFill>
                <a:latin typeface="Arial"/>
              </a:rPr>
              <a:t>Does it synthesize?</a:t>
            </a:r>
          </a:p>
        </p:txBody>
      </p:sp>
      <p:sp>
        <p:nvSpPr>
          <p:cNvPr id="9" name="TextBox 8"/>
          <p:cNvSpPr txBox="1"/>
          <p:nvPr/>
        </p:nvSpPr>
        <p:spPr>
          <a:xfrm>
            <a:off x="1014984" y="2432304"/>
            <a:ext cx="4764024" cy="347472"/>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4A5A66"/>
                </a:solidFill>
                <a:latin typeface="Arial"/>
              </a:rPr>
              <a:t>Tool answers for the 123 designs: 99 yes · 24 no</a:t>
            </a:r>
          </a:p>
        </p:txBody>
      </p:sp>
      <p:cxnSp>
        <p:nvCxnSpPr>
          <p:cNvPr id="10" name="Connector 9"/>
          <p:cNvCxnSpPr/>
          <p:nvPr/>
        </p:nvCxnSpPr>
        <p:spPr>
          <a:xfrm>
            <a:off x="166420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146304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a:t>
            </a:r>
          </a:p>
        </p:txBody>
      </p:sp>
      <p:cxnSp>
        <p:nvCxnSpPr>
          <p:cNvPr id="12" name="Connector 11"/>
          <p:cNvCxnSpPr/>
          <p:nvPr/>
        </p:nvCxnSpPr>
        <p:spPr>
          <a:xfrm>
            <a:off x="2770632"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2569464"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50</a:t>
            </a:r>
          </a:p>
        </p:txBody>
      </p:sp>
      <p:cxnSp>
        <p:nvCxnSpPr>
          <p:cNvPr id="14" name="Connector 13"/>
          <p:cNvCxnSpPr/>
          <p:nvPr/>
        </p:nvCxnSpPr>
        <p:spPr>
          <a:xfrm>
            <a:off x="3877056"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3675888"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100</a:t>
            </a:r>
          </a:p>
        </p:txBody>
      </p:sp>
      <p:cxnSp>
        <p:nvCxnSpPr>
          <p:cNvPr id="16" name="Connector 15"/>
          <p:cNvCxnSpPr/>
          <p:nvPr/>
        </p:nvCxnSpPr>
        <p:spPr>
          <a:xfrm>
            <a:off x="2095983" y="2825496"/>
            <a:ext cx="0" cy="1856232"/>
          </a:xfrm>
          <a:prstGeom prst="line">
            <a:avLst/>
          </a:prstGeom>
          <a:ln w="15240">
            <a:solidFill>
              <a:srgbClr val="4A5A66"/>
            </a:solidFill>
            <a:prstDash val="dash"/>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3445280" y="2825496"/>
            <a:ext cx="0" cy="1856232"/>
          </a:xfrm>
          <a:prstGeom prst="line">
            <a:avLst/>
          </a:prstGeom>
          <a:ln w="15240">
            <a:solidFill>
              <a:srgbClr val="4A5A66"/>
            </a:solidFill>
            <a:prstDash val="dash"/>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996696" y="292150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0.8B</a:t>
            </a:r>
          </a:p>
        </p:txBody>
      </p:sp>
      <p:sp>
        <p:nvSpPr>
          <p:cNvPr id="19" name="Rectangle 18"/>
          <p:cNvSpPr/>
          <p:nvPr/>
        </p:nvSpPr>
        <p:spPr>
          <a:xfrm>
            <a:off x="1664208" y="2953512"/>
            <a:ext cx="431775" cy="237744"/>
          </a:xfrm>
          <a:prstGeom prst="rect">
            <a:avLst/>
          </a:prstGeom>
          <a:solidFill>
            <a:srgbClr val="4A5A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995928" y="2866644"/>
            <a:ext cx="1810512" cy="429768"/>
          </a:xfrm>
          <a:prstGeom prst="rect">
            <a:avLst/>
          </a:prstGeom>
          <a:noFill/>
        </p:spPr>
        <p:txBody>
          <a:bodyPr wrap="square" lIns="0" rIns="0" tIns="0" bIns="0" anchor="t">
            <a:noAutofit/>
          </a:bodyPr>
          <a:lstStyle/>
          <a:p>
            <a:pPr algn="l">
              <a:lnSpc>
                <a:spcPct val="109000"/>
              </a:lnSpc>
              <a:spcBef>
                <a:spcPts val="0"/>
              </a:spcBef>
              <a:spcAft>
                <a:spcPts val="0"/>
              </a:spcAft>
            </a:pPr>
            <a:r>
              <a:rPr sz="1200" b="0">
                <a:solidFill>
                  <a:srgbClr val="00407A"/>
                </a:solidFill>
                <a:latin typeface="Arial"/>
              </a:rPr>
              <a:t>19.5%</a:t>
            </a:r>
          </a:p>
          <a:p>
            <a:pPr algn="l">
              <a:lnSpc>
                <a:spcPct val="109000"/>
              </a:lnSpc>
              <a:spcBef>
                <a:spcPts val="0"/>
              </a:spcBef>
              <a:spcAft>
                <a:spcPts val="0"/>
              </a:spcAft>
            </a:pPr>
            <a:r>
              <a:rPr sz="1200" b="0">
                <a:solidFill>
                  <a:srgbClr val="00407A"/>
                </a:solidFill>
                <a:latin typeface="Arial"/>
              </a:rPr>
              <a:t>0 of 99 yes · 24 of 24 no</a:t>
            </a:r>
          </a:p>
        </p:txBody>
      </p:sp>
      <p:sp>
        <p:nvSpPr>
          <p:cNvPr id="21" name="TextBox 20"/>
          <p:cNvSpPr txBox="1"/>
          <p:nvPr/>
        </p:nvSpPr>
        <p:spPr>
          <a:xfrm>
            <a:off x="996696" y="3424427"/>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4B</a:t>
            </a:r>
          </a:p>
        </p:txBody>
      </p:sp>
      <p:sp>
        <p:nvSpPr>
          <p:cNvPr id="22" name="Rectangle 21"/>
          <p:cNvSpPr/>
          <p:nvPr/>
        </p:nvSpPr>
        <p:spPr>
          <a:xfrm>
            <a:off x="1664208" y="3456432"/>
            <a:ext cx="1799063" cy="237744"/>
          </a:xfrm>
          <a:prstGeom prst="rect">
            <a:avLst/>
          </a:prstGeom>
          <a:solidFill>
            <a:srgbClr val="0B5A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995928" y="3369563"/>
            <a:ext cx="1810512" cy="429768"/>
          </a:xfrm>
          <a:prstGeom prst="rect">
            <a:avLst/>
          </a:prstGeom>
          <a:noFill/>
        </p:spPr>
        <p:txBody>
          <a:bodyPr wrap="square" lIns="0" rIns="0" tIns="0" bIns="0" anchor="t">
            <a:noAutofit/>
          </a:bodyPr>
          <a:lstStyle/>
          <a:p>
            <a:pPr algn="l">
              <a:lnSpc>
                <a:spcPct val="109000"/>
              </a:lnSpc>
              <a:spcBef>
                <a:spcPts val="0"/>
              </a:spcBef>
              <a:spcAft>
                <a:spcPts val="0"/>
              </a:spcAft>
            </a:pPr>
            <a:r>
              <a:rPr sz="1200" b="0">
                <a:solidFill>
                  <a:srgbClr val="00407A"/>
                </a:solidFill>
                <a:latin typeface="Arial"/>
              </a:rPr>
              <a:t>81.3%</a:t>
            </a:r>
          </a:p>
          <a:p>
            <a:pPr algn="l">
              <a:lnSpc>
                <a:spcPct val="109000"/>
              </a:lnSpc>
              <a:spcBef>
                <a:spcPts val="0"/>
              </a:spcBef>
              <a:spcAft>
                <a:spcPts val="0"/>
              </a:spcAft>
            </a:pPr>
            <a:r>
              <a:rPr sz="1200" b="0">
                <a:solidFill>
                  <a:srgbClr val="00407A"/>
                </a:solidFill>
                <a:latin typeface="Arial"/>
              </a:rPr>
              <a:t>98 of 99 yes · 2 of 24 no</a:t>
            </a:r>
          </a:p>
        </p:txBody>
      </p:sp>
      <p:sp>
        <p:nvSpPr>
          <p:cNvPr id="24" name="TextBox 23"/>
          <p:cNvSpPr txBox="1"/>
          <p:nvPr/>
        </p:nvSpPr>
        <p:spPr>
          <a:xfrm>
            <a:off x="996696" y="392734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9B</a:t>
            </a:r>
          </a:p>
        </p:txBody>
      </p:sp>
      <p:sp>
        <p:nvSpPr>
          <p:cNvPr id="25" name="Rectangle 24"/>
          <p:cNvSpPr/>
          <p:nvPr/>
        </p:nvSpPr>
        <p:spPr>
          <a:xfrm>
            <a:off x="1664208" y="3959351"/>
            <a:ext cx="1835044" cy="237744"/>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995928" y="3872483"/>
            <a:ext cx="1810512" cy="429768"/>
          </a:xfrm>
          <a:prstGeom prst="rect">
            <a:avLst/>
          </a:prstGeom>
          <a:noFill/>
        </p:spPr>
        <p:txBody>
          <a:bodyPr wrap="square" lIns="0" rIns="0" tIns="0" bIns="0" anchor="t">
            <a:noAutofit/>
          </a:bodyPr>
          <a:lstStyle/>
          <a:p>
            <a:pPr algn="l">
              <a:lnSpc>
                <a:spcPct val="109000"/>
              </a:lnSpc>
              <a:spcBef>
                <a:spcPts val="0"/>
              </a:spcBef>
              <a:spcAft>
                <a:spcPts val="0"/>
              </a:spcAft>
            </a:pPr>
            <a:r>
              <a:rPr sz="1200" b="0">
                <a:solidFill>
                  <a:srgbClr val="00407A"/>
                </a:solidFill>
                <a:latin typeface="Arial"/>
              </a:rPr>
              <a:t>82.9%</a:t>
            </a:r>
          </a:p>
          <a:p>
            <a:pPr algn="l">
              <a:lnSpc>
                <a:spcPct val="109000"/>
              </a:lnSpc>
              <a:spcBef>
                <a:spcPts val="0"/>
              </a:spcBef>
              <a:spcAft>
                <a:spcPts val="0"/>
              </a:spcAft>
            </a:pPr>
            <a:r>
              <a:rPr sz="1200" b="0">
                <a:solidFill>
                  <a:srgbClr val="00407A"/>
                </a:solidFill>
                <a:latin typeface="Arial"/>
              </a:rPr>
              <a:t>98 of 99 yes · 4 of 24 no</a:t>
            </a:r>
          </a:p>
        </p:txBody>
      </p:sp>
      <p:sp>
        <p:nvSpPr>
          <p:cNvPr id="27" name="TextBox 26"/>
          <p:cNvSpPr txBox="1"/>
          <p:nvPr/>
        </p:nvSpPr>
        <p:spPr>
          <a:xfrm>
            <a:off x="996696" y="443026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27B</a:t>
            </a:r>
          </a:p>
        </p:txBody>
      </p:sp>
      <p:sp>
        <p:nvSpPr>
          <p:cNvPr id="28" name="Rectangle 27"/>
          <p:cNvSpPr/>
          <p:nvPr/>
        </p:nvSpPr>
        <p:spPr>
          <a:xfrm>
            <a:off x="1664208" y="4462272"/>
            <a:ext cx="1942988" cy="237744"/>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995928" y="4375404"/>
            <a:ext cx="1810512" cy="429768"/>
          </a:xfrm>
          <a:prstGeom prst="rect">
            <a:avLst/>
          </a:prstGeom>
          <a:noFill/>
        </p:spPr>
        <p:txBody>
          <a:bodyPr wrap="square" lIns="0" rIns="0" tIns="0" bIns="0" anchor="t">
            <a:noAutofit/>
          </a:bodyPr>
          <a:lstStyle/>
          <a:p>
            <a:pPr algn="l">
              <a:lnSpc>
                <a:spcPct val="109000"/>
              </a:lnSpc>
              <a:spcBef>
                <a:spcPts val="0"/>
              </a:spcBef>
              <a:spcAft>
                <a:spcPts val="0"/>
              </a:spcAft>
            </a:pPr>
            <a:r>
              <a:rPr sz="1200" b="0">
                <a:solidFill>
                  <a:srgbClr val="00407A"/>
                </a:solidFill>
                <a:latin typeface="Arial"/>
              </a:rPr>
              <a:t>87.8%</a:t>
            </a:r>
          </a:p>
          <a:p>
            <a:pPr algn="l">
              <a:lnSpc>
                <a:spcPct val="109000"/>
              </a:lnSpc>
              <a:spcBef>
                <a:spcPts val="0"/>
              </a:spcBef>
              <a:spcAft>
                <a:spcPts val="0"/>
              </a:spcAft>
            </a:pPr>
            <a:r>
              <a:rPr sz="1200" b="0">
                <a:solidFill>
                  <a:srgbClr val="00407A"/>
                </a:solidFill>
                <a:latin typeface="Arial"/>
              </a:rPr>
              <a:t>96 of 99 yes · 12 of 24 no</a:t>
            </a:r>
          </a:p>
        </p:txBody>
      </p:sp>
      <p:cxnSp>
        <p:nvCxnSpPr>
          <p:cNvPr id="30" name="Connector 29"/>
          <p:cNvCxnSpPr/>
          <p:nvPr/>
        </p:nvCxnSpPr>
        <p:spPr>
          <a:xfrm>
            <a:off x="3445280" y="2907791"/>
            <a:ext cx="0" cy="329185"/>
          </a:xfrm>
          <a:prstGeom prst="line">
            <a:avLst/>
          </a:prstGeom>
          <a:ln w="34925">
            <a:solidFill>
              <a:srgbClr val="E97132"/>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3427290" y="3410711"/>
            <a:ext cx="0" cy="329185"/>
          </a:xfrm>
          <a:prstGeom prst="line">
            <a:avLst/>
          </a:prstGeom>
          <a:ln w="34925">
            <a:solidFill>
              <a:srgbClr val="E97132"/>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3445280" y="3913631"/>
            <a:ext cx="0" cy="329185"/>
          </a:xfrm>
          <a:prstGeom prst="line">
            <a:avLst/>
          </a:prstGeom>
          <a:ln w="34925">
            <a:solidFill>
              <a:srgbClr val="E97132"/>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3499252" y="4416552"/>
            <a:ext cx="0" cy="329184"/>
          </a:xfrm>
          <a:prstGeom prst="line">
            <a:avLst/>
          </a:prstGeom>
          <a:ln w="34925">
            <a:solidFill>
              <a:srgbClr val="E97132"/>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996696" y="5029200"/>
            <a:ext cx="4800600" cy="219456"/>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4A5A66"/>
                </a:solidFill>
                <a:latin typeface="Arial"/>
              </a:rPr>
              <a:t>Correct answers (%) — higher is better</a:t>
            </a:r>
          </a:p>
        </p:txBody>
      </p:sp>
      <p:sp>
        <p:nvSpPr>
          <p:cNvPr id="35" name="TextBox 34"/>
          <p:cNvSpPr txBox="1"/>
          <p:nvPr/>
        </p:nvSpPr>
        <p:spPr>
          <a:xfrm>
            <a:off x="996696" y="5285232"/>
            <a:ext cx="4800600" cy="210312"/>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Dashed lines: always “no” = 19.5% · always “yes” = 80.5%</a:t>
            </a:r>
          </a:p>
        </p:txBody>
      </p:sp>
      <p:sp>
        <p:nvSpPr>
          <p:cNvPr id="36" name="Rounded Rectangle 35"/>
          <p:cNvSpPr/>
          <p:nvPr/>
        </p:nvSpPr>
        <p:spPr>
          <a:xfrm>
            <a:off x="6208776" y="1819656"/>
            <a:ext cx="5166360" cy="3730752"/>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09944" y="1984248"/>
            <a:ext cx="4764024" cy="502920"/>
          </a:xfrm>
          <a:prstGeom prst="rect">
            <a:avLst/>
          </a:prstGeom>
          <a:noFill/>
        </p:spPr>
        <p:txBody>
          <a:bodyPr wrap="square" lIns="0" rIns="0" tIns="0" bIns="0" anchor="t">
            <a:noAutofit/>
          </a:bodyPr>
          <a:lstStyle/>
          <a:p>
            <a:pPr algn="l">
              <a:lnSpc>
                <a:spcPct val="109000"/>
              </a:lnSpc>
              <a:spcBef>
                <a:spcPts val="0"/>
              </a:spcBef>
              <a:spcAft>
                <a:spcPts val="0"/>
              </a:spcAft>
            </a:pPr>
            <a:r>
              <a:rPr sz="1800" b="1">
                <a:solidFill>
                  <a:srgbClr val="00407A"/>
                </a:solidFill>
                <a:latin typeface="Arial"/>
              </a:rPr>
              <a:t>Does it compile?</a:t>
            </a:r>
          </a:p>
        </p:txBody>
      </p:sp>
      <p:sp>
        <p:nvSpPr>
          <p:cNvPr id="38" name="TextBox 37"/>
          <p:cNvSpPr txBox="1"/>
          <p:nvPr/>
        </p:nvSpPr>
        <p:spPr>
          <a:xfrm>
            <a:off x="6409944" y="2432304"/>
            <a:ext cx="4764024" cy="347472"/>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4A5A66"/>
                </a:solidFill>
                <a:latin typeface="Arial"/>
              </a:rPr>
              <a:t>Tool answers for the 123 designs: 114 yes · 9 no</a:t>
            </a:r>
          </a:p>
        </p:txBody>
      </p:sp>
      <p:cxnSp>
        <p:nvCxnSpPr>
          <p:cNvPr id="39" name="Connector 38"/>
          <p:cNvCxnSpPr/>
          <p:nvPr/>
        </p:nvCxnSpPr>
        <p:spPr>
          <a:xfrm>
            <a:off x="705916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685800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a:t>
            </a:r>
          </a:p>
        </p:txBody>
      </p:sp>
      <p:cxnSp>
        <p:nvCxnSpPr>
          <p:cNvPr id="41" name="Connector 40"/>
          <p:cNvCxnSpPr/>
          <p:nvPr/>
        </p:nvCxnSpPr>
        <p:spPr>
          <a:xfrm>
            <a:off x="8165592"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7964423"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50</a:t>
            </a:r>
          </a:p>
        </p:txBody>
      </p:sp>
      <p:cxnSp>
        <p:nvCxnSpPr>
          <p:cNvPr id="43" name="Connector 42"/>
          <p:cNvCxnSpPr/>
          <p:nvPr/>
        </p:nvCxnSpPr>
        <p:spPr>
          <a:xfrm>
            <a:off x="9272016"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9070848"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100</a:t>
            </a:r>
          </a:p>
        </p:txBody>
      </p:sp>
      <p:cxnSp>
        <p:nvCxnSpPr>
          <p:cNvPr id="45" name="Connector 44"/>
          <p:cNvCxnSpPr/>
          <p:nvPr/>
        </p:nvCxnSpPr>
        <p:spPr>
          <a:xfrm>
            <a:off x="7221083" y="2825496"/>
            <a:ext cx="0" cy="1856232"/>
          </a:xfrm>
          <a:prstGeom prst="line">
            <a:avLst/>
          </a:prstGeom>
          <a:ln w="15240">
            <a:solidFill>
              <a:srgbClr val="4A5A66"/>
            </a:solidFill>
            <a:prstDash val="dash"/>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9110100" y="2825496"/>
            <a:ext cx="0" cy="1856232"/>
          </a:xfrm>
          <a:prstGeom prst="line">
            <a:avLst/>
          </a:prstGeom>
          <a:ln w="15240">
            <a:solidFill>
              <a:srgbClr val="4A5A66"/>
            </a:solidFill>
            <a:prstDash val="dash"/>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6391656" y="292150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0.8B</a:t>
            </a:r>
          </a:p>
        </p:txBody>
      </p:sp>
      <p:sp>
        <p:nvSpPr>
          <p:cNvPr id="48" name="Rectangle 47"/>
          <p:cNvSpPr/>
          <p:nvPr/>
        </p:nvSpPr>
        <p:spPr>
          <a:xfrm>
            <a:off x="7059168" y="2953512"/>
            <a:ext cx="179906" cy="237744"/>
          </a:xfrm>
          <a:prstGeom prst="rect">
            <a:avLst/>
          </a:prstGeom>
          <a:solidFill>
            <a:srgbClr val="4A5A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390888" y="2866644"/>
            <a:ext cx="1810512" cy="429768"/>
          </a:xfrm>
          <a:prstGeom prst="rect">
            <a:avLst/>
          </a:prstGeom>
          <a:noFill/>
        </p:spPr>
        <p:txBody>
          <a:bodyPr wrap="square" lIns="0" rIns="0" tIns="0" bIns="0" anchor="t">
            <a:noAutofit/>
          </a:bodyPr>
          <a:lstStyle/>
          <a:p>
            <a:pPr algn="l">
              <a:lnSpc>
                <a:spcPct val="109000"/>
              </a:lnSpc>
              <a:spcBef>
                <a:spcPts val="0"/>
              </a:spcBef>
              <a:spcAft>
                <a:spcPts val="0"/>
              </a:spcAft>
            </a:pPr>
            <a:r>
              <a:rPr sz="1200" b="0">
                <a:solidFill>
                  <a:srgbClr val="00407A"/>
                </a:solidFill>
                <a:latin typeface="Arial"/>
              </a:rPr>
              <a:t>8.1%</a:t>
            </a:r>
          </a:p>
          <a:p>
            <a:pPr algn="l">
              <a:lnSpc>
                <a:spcPct val="109000"/>
              </a:lnSpc>
              <a:spcBef>
                <a:spcPts val="0"/>
              </a:spcBef>
              <a:spcAft>
                <a:spcPts val="0"/>
              </a:spcAft>
            </a:pPr>
            <a:r>
              <a:rPr sz="1200" b="0">
                <a:solidFill>
                  <a:srgbClr val="00407A"/>
                </a:solidFill>
                <a:latin typeface="Arial"/>
              </a:rPr>
              <a:t>1 of 114 yes · 9 of 9 no</a:t>
            </a:r>
          </a:p>
        </p:txBody>
      </p:sp>
      <p:sp>
        <p:nvSpPr>
          <p:cNvPr id="50" name="TextBox 49"/>
          <p:cNvSpPr txBox="1"/>
          <p:nvPr/>
        </p:nvSpPr>
        <p:spPr>
          <a:xfrm>
            <a:off x="6391656" y="3424427"/>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4B</a:t>
            </a:r>
          </a:p>
        </p:txBody>
      </p:sp>
      <p:sp>
        <p:nvSpPr>
          <p:cNvPr id="51" name="Rectangle 50"/>
          <p:cNvSpPr/>
          <p:nvPr/>
        </p:nvSpPr>
        <p:spPr>
          <a:xfrm>
            <a:off x="7059168" y="3456432"/>
            <a:ext cx="2086913" cy="237744"/>
          </a:xfrm>
          <a:prstGeom prst="rect">
            <a:avLst/>
          </a:prstGeom>
          <a:solidFill>
            <a:srgbClr val="0B5A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9390888" y="3369563"/>
            <a:ext cx="1810512" cy="429768"/>
          </a:xfrm>
          <a:prstGeom prst="rect">
            <a:avLst/>
          </a:prstGeom>
          <a:noFill/>
        </p:spPr>
        <p:txBody>
          <a:bodyPr wrap="square" lIns="0" rIns="0" tIns="0" bIns="0" anchor="t">
            <a:noAutofit/>
          </a:bodyPr>
          <a:lstStyle/>
          <a:p>
            <a:pPr algn="l">
              <a:lnSpc>
                <a:spcPct val="109000"/>
              </a:lnSpc>
              <a:spcBef>
                <a:spcPts val="0"/>
              </a:spcBef>
              <a:spcAft>
                <a:spcPts val="0"/>
              </a:spcAft>
            </a:pPr>
            <a:r>
              <a:rPr sz="1200" b="0">
                <a:solidFill>
                  <a:srgbClr val="00407A"/>
                </a:solidFill>
                <a:latin typeface="Arial"/>
              </a:rPr>
              <a:t>94.3%</a:t>
            </a:r>
          </a:p>
          <a:p>
            <a:pPr algn="l">
              <a:lnSpc>
                <a:spcPct val="109000"/>
              </a:lnSpc>
              <a:spcBef>
                <a:spcPts val="0"/>
              </a:spcBef>
              <a:spcAft>
                <a:spcPts val="0"/>
              </a:spcAft>
            </a:pPr>
            <a:r>
              <a:rPr sz="1200" b="0">
                <a:solidFill>
                  <a:srgbClr val="00407A"/>
                </a:solidFill>
                <a:latin typeface="Arial"/>
              </a:rPr>
              <a:t>113 of 114 yes · 3 of 9 no</a:t>
            </a:r>
          </a:p>
        </p:txBody>
      </p:sp>
      <p:sp>
        <p:nvSpPr>
          <p:cNvPr id="53" name="TextBox 52"/>
          <p:cNvSpPr txBox="1"/>
          <p:nvPr/>
        </p:nvSpPr>
        <p:spPr>
          <a:xfrm>
            <a:off x="6391656" y="392734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9B</a:t>
            </a:r>
          </a:p>
        </p:txBody>
      </p:sp>
      <p:sp>
        <p:nvSpPr>
          <p:cNvPr id="54" name="Rectangle 53"/>
          <p:cNvSpPr/>
          <p:nvPr/>
        </p:nvSpPr>
        <p:spPr>
          <a:xfrm>
            <a:off x="7059168" y="3959351"/>
            <a:ext cx="2086913" cy="237744"/>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390888" y="3872483"/>
            <a:ext cx="1810512" cy="429768"/>
          </a:xfrm>
          <a:prstGeom prst="rect">
            <a:avLst/>
          </a:prstGeom>
          <a:noFill/>
        </p:spPr>
        <p:txBody>
          <a:bodyPr wrap="square" lIns="0" rIns="0" tIns="0" bIns="0" anchor="t">
            <a:noAutofit/>
          </a:bodyPr>
          <a:lstStyle/>
          <a:p>
            <a:pPr algn="l">
              <a:lnSpc>
                <a:spcPct val="109000"/>
              </a:lnSpc>
              <a:spcBef>
                <a:spcPts val="0"/>
              </a:spcBef>
              <a:spcAft>
                <a:spcPts val="0"/>
              </a:spcAft>
            </a:pPr>
            <a:r>
              <a:rPr sz="1200" b="0">
                <a:solidFill>
                  <a:srgbClr val="00407A"/>
                </a:solidFill>
                <a:latin typeface="Arial"/>
              </a:rPr>
              <a:t>94.3%</a:t>
            </a:r>
          </a:p>
          <a:p>
            <a:pPr algn="l">
              <a:lnSpc>
                <a:spcPct val="109000"/>
              </a:lnSpc>
              <a:spcBef>
                <a:spcPts val="0"/>
              </a:spcBef>
              <a:spcAft>
                <a:spcPts val="0"/>
              </a:spcAft>
            </a:pPr>
            <a:r>
              <a:rPr sz="1200" b="0">
                <a:solidFill>
                  <a:srgbClr val="00407A"/>
                </a:solidFill>
                <a:latin typeface="Arial"/>
              </a:rPr>
              <a:t>112 of 114 yes · 4 of 9 no</a:t>
            </a:r>
          </a:p>
        </p:txBody>
      </p:sp>
      <p:sp>
        <p:nvSpPr>
          <p:cNvPr id="56" name="TextBox 55"/>
          <p:cNvSpPr txBox="1"/>
          <p:nvPr/>
        </p:nvSpPr>
        <p:spPr>
          <a:xfrm>
            <a:off x="6391656" y="443026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27B</a:t>
            </a:r>
          </a:p>
        </p:txBody>
      </p:sp>
      <p:sp>
        <p:nvSpPr>
          <p:cNvPr id="57" name="Rectangle 56"/>
          <p:cNvSpPr/>
          <p:nvPr/>
        </p:nvSpPr>
        <p:spPr>
          <a:xfrm>
            <a:off x="7059168" y="4462272"/>
            <a:ext cx="2104904" cy="237744"/>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9390888" y="4375404"/>
            <a:ext cx="1810512" cy="429768"/>
          </a:xfrm>
          <a:prstGeom prst="rect">
            <a:avLst/>
          </a:prstGeom>
          <a:noFill/>
        </p:spPr>
        <p:txBody>
          <a:bodyPr wrap="square" lIns="0" rIns="0" tIns="0" bIns="0" anchor="t">
            <a:noAutofit/>
          </a:bodyPr>
          <a:lstStyle/>
          <a:p>
            <a:pPr algn="l">
              <a:lnSpc>
                <a:spcPct val="109000"/>
              </a:lnSpc>
              <a:spcBef>
                <a:spcPts val="0"/>
              </a:spcBef>
              <a:spcAft>
                <a:spcPts val="0"/>
              </a:spcAft>
            </a:pPr>
            <a:r>
              <a:rPr sz="1200" b="0">
                <a:solidFill>
                  <a:srgbClr val="00407A"/>
                </a:solidFill>
                <a:latin typeface="Arial"/>
              </a:rPr>
              <a:t>95.1%</a:t>
            </a:r>
          </a:p>
          <a:p>
            <a:pPr algn="l">
              <a:lnSpc>
                <a:spcPct val="109000"/>
              </a:lnSpc>
              <a:spcBef>
                <a:spcPts val="0"/>
              </a:spcBef>
              <a:spcAft>
                <a:spcPts val="0"/>
              </a:spcAft>
            </a:pPr>
            <a:r>
              <a:rPr sz="1200" b="0">
                <a:solidFill>
                  <a:srgbClr val="00407A"/>
                </a:solidFill>
                <a:latin typeface="Arial"/>
              </a:rPr>
              <a:t>108 of 114 yes · 9 of 9 no</a:t>
            </a:r>
          </a:p>
        </p:txBody>
      </p:sp>
      <p:cxnSp>
        <p:nvCxnSpPr>
          <p:cNvPr id="59" name="Connector 58"/>
          <p:cNvCxnSpPr/>
          <p:nvPr/>
        </p:nvCxnSpPr>
        <p:spPr>
          <a:xfrm>
            <a:off x="7293046" y="2907791"/>
            <a:ext cx="0" cy="329185"/>
          </a:xfrm>
          <a:prstGeom prst="line">
            <a:avLst/>
          </a:prstGeom>
          <a:ln w="34925">
            <a:solidFill>
              <a:srgbClr val="E97132"/>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9110100" y="3410711"/>
            <a:ext cx="0" cy="329185"/>
          </a:xfrm>
          <a:prstGeom prst="line">
            <a:avLst/>
          </a:prstGeom>
          <a:ln w="34925">
            <a:solidFill>
              <a:srgbClr val="E97132"/>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9146081" y="3913631"/>
            <a:ext cx="0" cy="329185"/>
          </a:xfrm>
          <a:prstGeom prst="line">
            <a:avLst/>
          </a:prstGeom>
          <a:ln w="34925">
            <a:solidFill>
              <a:srgbClr val="E97132"/>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9254025" y="4416552"/>
            <a:ext cx="0" cy="329184"/>
          </a:xfrm>
          <a:prstGeom prst="line">
            <a:avLst/>
          </a:prstGeom>
          <a:ln w="34925">
            <a:solidFill>
              <a:srgbClr val="E97132"/>
            </a:solidFill>
          </a:ln>
        </p:spPr>
        <p:style>
          <a:lnRef idx="2">
            <a:schemeClr val="accent1"/>
          </a:lnRef>
          <a:fillRef idx="0">
            <a:schemeClr val="accent1"/>
          </a:fillRef>
          <a:effectRef idx="1">
            <a:schemeClr val="accent1"/>
          </a:effectRef>
          <a:fontRef idx="minor">
            <a:schemeClr val="tx1"/>
          </a:fontRef>
        </p:style>
      </p:cxnSp>
      <p:sp>
        <p:nvSpPr>
          <p:cNvPr id="63" name="TextBox 62"/>
          <p:cNvSpPr txBox="1"/>
          <p:nvPr/>
        </p:nvSpPr>
        <p:spPr>
          <a:xfrm>
            <a:off x="6391656" y="5029200"/>
            <a:ext cx="4800600" cy="219456"/>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4A5A66"/>
                </a:solidFill>
                <a:latin typeface="Arial"/>
              </a:rPr>
              <a:t>Correct answers (%) — higher is better</a:t>
            </a:r>
          </a:p>
        </p:txBody>
      </p:sp>
      <p:sp>
        <p:nvSpPr>
          <p:cNvPr id="64" name="TextBox 63"/>
          <p:cNvSpPr txBox="1"/>
          <p:nvPr/>
        </p:nvSpPr>
        <p:spPr>
          <a:xfrm>
            <a:off x="6391656" y="5285232"/>
            <a:ext cx="4800600" cy="210312"/>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Dashed lines: always “no” = 7.3% · always “yes” = 92.7%</a:t>
            </a:r>
          </a:p>
        </p:txBody>
      </p:sp>
      <p:sp>
        <p:nvSpPr>
          <p:cNvPr id="65" name="Rounded Rectangle 64"/>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KEV-0.8B now answers “no” for 123 of 123 designs (synthesis) and 122 of 123 (compilation).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265176"/>
            <a:ext cx="10561320" cy="237744"/>
          </a:xfrm>
          <a:prstGeom prst="rect">
            <a:avLst/>
          </a:prstGeom>
          <a:noFill/>
        </p:spPr>
        <p:txBody>
          <a:bodyPr wrap="square" lIns="0" rIns="0" tIns="0" bIns="0" anchor="t">
            <a:noAutofit/>
          </a:bodyPr>
          <a:lstStyle/>
          <a:p>
            <a:pPr algn="l">
              <a:lnSpc>
                <a:spcPct val="109000"/>
              </a:lnSpc>
              <a:spcBef>
                <a:spcPts val="0"/>
              </a:spcBef>
              <a:spcAft>
                <a:spcPts val="0"/>
              </a:spcAft>
            </a:pPr>
            <a:r>
              <a:rPr sz="1250" b="1">
                <a:solidFill>
                  <a:srgbClr val="0B5A93"/>
                </a:solidFill>
                <a:latin typeface="Arial"/>
              </a:rPr>
              <a:t>EXPERIMENT 2  •  THREE SOLVED EXAMPLES PER QUESTION</a:t>
            </a:r>
          </a:p>
        </p:txBody>
      </p:sp>
      <p:sp>
        <p:nvSpPr>
          <p:cNvPr id="3" name="TextBox 2"/>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27B now detects 12 of the 24 synthesis failures</a:t>
            </a:r>
          </a:p>
        </p:txBody>
      </p:sp>
      <p:sp>
        <p:nvSpPr>
          <p:cNvPr id="4" name="TextBox 3"/>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KEV-27B • 123 held-out designs • a yes/no threshold of 0.5 • three solved examples per question</a:t>
            </a:r>
          </a:p>
        </p:txBody>
      </p:sp>
      <p:sp>
        <p:nvSpPr>
          <p:cNvPr id="5" name="TextBox 4"/>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three examples per question  •  16 October 2026  |  RESULTS</a:t>
            </a:r>
          </a:p>
        </p:txBody>
      </p:sp>
      <p:sp>
        <p:nvSpPr>
          <p:cNvPr id="6" name="TextBox 5"/>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13</a:t>
            </a:r>
          </a:p>
        </p:txBody>
      </p:sp>
      <p:graphicFrame>
        <p:nvGraphicFramePr>
          <p:cNvPr id="7" name="Table 6"/>
          <p:cNvGraphicFramePr>
            <a:graphicFrameLocks noGrp="1"/>
          </p:cNvGraphicFramePr>
          <p:nvPr/>
        </p:nvGraphicFramePr>
        <p:xfrm>
          <a:off x="813816" y="1874519"/>
          <a:ext cx="7498080" cy="1737358"/>
        </p:xfrm>
        <a:graphic>
          <a:graphicData uri="http://schemas.openxmlformats.org/drawingml/2006/table">
            <a:tbl>
              <a:tblPr firstRow="1" bandRow="1">
                <a:tableStyleId>{5C22544A-7EE6-4342-B048-85BDC9FD1C3A}</a:tableStyleId>
              </a:tblPr>
              <a:tblGrid>
                <a:gridCol w="2834640"/>
                <a:gridCol w="2331720"/>
                <a:gridCol w="2331720"/>
              </a:tblGrid>
              <a:tr h="566928">
                <a:tc>
                  <a:txBody>
                    <a:bodyPr/>
                    <a:lstStyle/>
                    <a:p>
                      <a:pPr algn="l">
                        <a:lnSpc>
                          <a:spcPct val="103000"/>
                        </a:lnSpc>
                        <a:spcBef>
                          <a:spcPts val="0"/>
                        </a:spcBef>
                        <a:spcAft>
                          <a:spcPts val="0"/>
                        </a:spcAft>
                      </a:pPr>
                      <a:r>
                        <a:rPr sz="1700" b="1">
                          <a:solidFill>
                            <a:srgbClr val="FFFFFF"/>
                          </a:solidFill>
                          <a:latin typeface="Arial"/>
                        </a:rPr>
                        <a:t>Actual tool result</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700" b="1">
                          <a:solidFill>
                            <a:srgbClr val="FFFFFF"/>
                          </a:solidFill>
                          <a:latin typeface="Arial"/>
                        </a:rPr>
                        <a:t>Model says YES</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700" b="1">
                          <a:solidFill>
                            <a:srgbClr val="FFFFFF"/>
                          </a:solidFill>
                          <a:latin typeface="Arial"/>
                        </a:rPr>
                        <a:t>Model says NO</a:t>
                      </a:r>
                    </a:p>
                  </a:txBody>
                  <a:tcPr marL="109728" marR="91440" marT="54864" marB="36576" anchor="ctr">
                    <a:solidFill>
                      <a:srgbClr val="00407A"/>
                    </a:solidFill>
                    <a:lnL>
                      <a:noFill/>
                    </a:lnL>
                    <a:lnR>
                      <a:noFill/>
                    </a:lnR>
                    <a:lnT>
                      <a:noFill/>
                    </a:lnT>
                    <a:lnB>
                      <a:noFill/>
                    </a:lnB>
                  </a:tcPr>
                </a:tc>
              </a:tr>
              <a:tr h="585215">
                <a:tc>
                  <a:txBody>
                    <a:bodyPr/>
                    <a:lstStyle/>
                    <a:p>
                      <a:pPr algn="l">
                        <a:lnSpc>
                          <a:spcPct val="103000"/>
                        </a:lnSpc>
                        <a:spcBef>
                          <a:spcPts val="0"/>
                        </a:spcBef>
                        <a:spcAft>
                          <a:spcPts val="0"/>
                        </a:spcAft>
                      </a:pPr>
                      <a:r>
                        <a:rPr sz="2100" b="0">
                          <a:solidFill>
                            <a:srgbClr val="00407A"/>
                          </a:solidFill>
                          <a:latin typeface="Arial"/>
                        </a:rPr>
                        <a:t>Synthesizes — 99 designs</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96 correct</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3 wrong</a:t>
                      </a:r>
                    </a:p>
                  </a:txBody>
                  <a:tcPr marL="109728" marR="91440" marT="54864" marB="36576" anchor="ctr">
                    <a:solidFill>
                      <a:srgbClr val="E3EFF5"/>
                    </a:solidFill>
                    <a:lnL>
                      <a:noFill/>
                    </a:lnL>
                    <a:lnR>
                      <a:noFill/>
                    </a:lnR>
                    <a:lnT>
                      <a:noFill/>
                    </a:lnT>
                    <a:lnB>
                      <a:noFill/>
                    </a:lnB>
                  </a:tcPr>
                </a:tc>
              </a:tr>
              <a:tr h="585215">
                <a:tc>
                  <a:txBody>
                    <a:bodyPr/>
                    <a:lstStyle/>
                    <a:p>
                      <a:pPr algn="l">
                        <a:lnSpc>
                          <a:spcPct val="103000"/>
                        </a:lnSpc>
                        <a:spcBef>
                          <a:spcPts val="0"/>
                        </a:spcBef>
                        <a:spcAft>
                          <a:spcPts val="0"/>
                        </a:spcAft>
                      </a:pPr>
                      <a:r>
                        <a:rPr sz="2100" b="0">
                          <a:solidFill>
                            <a:srgbClr val="00407A"/>
                          </a:solidFill>
                          <a:latin typeface="Arial"/>
                        </a:rPr>
                        <a:t>Fails synthesis — 24 designs</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12 wrong</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12 correct</a:t>
                      </a:r>
                    </a:p>
                  </a:txBody>
                  <a:tcPr marL="109728" marR="91440" marT="54864" marB="36576" anchor="ctr">
                    <a:solidFill>
                      <a:srgbClr val="FFFFFF"/>
                    </a:solidFill>
                    <a:lnL>
                      <a:noFill/>
                    </a:lnL>
                    <a:lnR>
                      <a:noFill/>
                    </a:lnR>
                    <a:lnT>
                      <a:noFill/>
                    </a:lnT>
                    <a:lnB>
                      <a:noFill/>
                    </a:lnB>
                  </a:tcPr>
                </a:tc>
              </a:tr>
            </a:tbl>
          </a:graphicData>
        </a:graphic>
      </p:graphicFrame>
      <p:sp>
        <p:nvSpPr>
          <p:cNvPr id="8" name="Rounded Rectangle 7"/>
          <p:cNvSpPr/>
          <p:nvPr/>
        </p:nvSpPr>
        <p:spPr>
          <a:xfrm>
            <a:off x="813816" y="3840480"/>
            <a:ext cx="5166360" cy="1627632"/>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13816" y="3840480"/>
            <a:ext cx="516636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2416" y="3986784"/>
            <a:ext cx="4709160" cy="384048"/>
          </a:xfrm>
          <a:prstGeom prst="rect">
            <a:avLst/>
          </a:prstGeom>
          <a:noFill/>
        </p:spPr>
        <p:txBody>
          <a:bodyPr wrap="square" lIns="0" rIns="0" tIns="0" bIns="0" anchor="t">
            <a:noAutofit/>
          </a:bodyPr>
          <a:lstStyle/>
          <a:p>
            <a:pPr algn="l">
              <a:lnSpc>
                <a:spcPct val="109000"/>
              </a:lnSpc>
              <a:spcBef>
                <a:spcPts val="0"/>
              </a:spcBef>
              <a:spcAft>
                <a:spcPts val="0"/>
              </a:spcAft>
            </a:pPr>
            <a:r>
              <a:rPr sz="2000" b="1">
                <a:solidFill>
                  <a:srgbClr val="00407A"/>
                </a:solidFill>
                <a:latin typeface="Arial"/>
              </a:rPr>
              <a:t>87.8% overall accuracy</a:t>
            </a:r>
          </a:p>
        </p:txBody>
      </p:sp>
      <p:sp>
        <p:nvSpPr>
          <p:cNvPr id="11" name="TextBox 10"/>
          <p:cNvSpPr txBox="1"/>
          <p:nvPr/>
        </p:nvSpPr>
        <p:spPr>
          <a:xfrm>
            <a:off x="1042416" y="4498848"/>
            <a:ext cx="4709160" cy="877824"/>
          </a:xfrm>
          <a:prstGeom prst="rect">
            <a:avLst/>
          </a:prstGeom>
          <a:noFill/>
        </p:spPr>
        <p:txBody>
          <a:bodyPr wrap="square" lIns="0" rIns="0" tIns="0" bIns="0" anchor="t">
            <a:noAutofit/>
          </a:bodyPr>
          <a:lstStyle/>
          <a:p>
            <a:pPr algn="l">
              <a:lnSpc>
                <a:spcPct val="109000"/>
              </a:lnSpc>
              <a:spcBef>
                <a:spcPts val="0"/>
              </a:spcBef>
              <a:spcAft>
                <a:spcPts val="0"/>
              </a:spcAft>
            </a:pPr>
            <a:r>
              <a:rPr sz="1700" b="0">
                <a:solidFill>
                  <a:srgbClr val="00407A"/>
                </a:solidFill>
                <a:latin typeface="Arial"/>
              </a:rPr>
              <a:t>108 correct of 123 designs.</a:t>
            </a:r>
          </a:p>
          <a:p>
            <a:pPr algn="l">
              <a:lnSpc>
                <a:spcPct val="109000"/>
              </a:lnSpc>
              <a:spcBef>
                <a:spcPts val="0"/>
              </a:spcBef>
              <a:spcAft>
                <a:spcPts val="0"/>
              </a:spcAft>
            </a:pPr>
            <a:r>
              <a:rPr sz="1700" b="0">
                <a:solidFill>
                  <a:srgbClr val="00407A"/>
                </a:solidFill>
                <a:latin typeface="Arial"/>
              </a:rPr>
              <a:t>Without examples: 82.9% (102 of 123).</a:t>
            </a:r>
          </a:p>
        </p:txBody>
      </p:sp>
      <p:sp>
        <p:nvSpPr>
          <p:cNvPr id="12" name="Rounded Rectangle 11"/>
          <p:cNvSpPr/>
          <p:nvPr/>
        </p:nvSpPr>
        <p:spPr>
          <a:xfrm>
            <a:off x="6208776" y="3840480"/>
            <a:ext cx="5166360" cy="1627632"/>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08776" y="3840480"/>
            <a:ext cx="516636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7376" y="3986784"/>
            <a:ext cx="4709160" cy="384048"/>
          </a:xfrm>
          <a:prstGeom prst="rect">
            <a:avLst/>
          </a:prstGeom>
          <a:noFill/>
        </p:spPr>
        <p:txBody>
          <a:bodyPr wrap="square" lIns="0" rIns="0" tIns="0" bIns="0" anchor="t">
            <a:noAutofit/>
          </a:bodyPr>
          <a:lstStyle/>
          <a:p>
            <a:pPr algn="l">
              <a:lnSpc>
                <a:spcPct val="109000"/>
              </a:lnSpc>
              <a:spcBef>
                <a:spcPts val="0"/>
              </a:spcBef>
              <a:spcAft>
                <a:spcPts val="0"/>
              </a:spcAft>
            </a:pPr>
            <a:r>
              <a:rPr sz="2000" b="1">
                <a:solidFill>
                  <a:srgbClr val="00407A"/>
                </a:solidFill>
                <a:latin typeface="Arial"/>
              </a:rPr>
              <a:t>80.5% for always “yes”</a:t>
            </a:r>
          </a:p>
        </p:txBody>
      </p:sp>
      <p:sp>
        <p:nvSpPr>
          <p:cNvPr id="15" name="TextBox 14"/>
          <p:cNvSpPr txBox="1"/>
          <p:nvPr/>
        </p:nvSpPr>
        <p:spPr>
          <a:xfrm>
            <a:off x="6437376" y="4498848"/>
            <a:ext cx="4709160" cy="877824"/>
          </a:xfrm>
          <a:prstGeom prst="rect">
            <a:avLst/>
          </a:prstGeom>
          <a:noFill/>
        </p:spPr>
        <p:txBody>
          <a:bodyPr wrap="square" lIns="0" rIns="0" tIns="0" bIns="0" anchor="t">
            <a:noAutofit/>
          </a:bodyPr>
          <a:lstStyle/>
          <a:p>
            <a:pPr algn="l">
              <a:lnSpc>
                <a:spcPct val="109000"/>
              </a:lnSpc>
              <a:spcBef>
                <a:spcPts val="0"/>
              </a:spcBef>
              <a:spcAft>
                <a:spcPts val="0"/>
              </a:spcAft>
            </a:pPr>
            <a:r>
              <a:rPr sz="1700" b="0">
                <a:solidFill>
                  <a:srgbClr val="00407A"/>
                </a:solidFill>
                <a:latin typeface="Arial"/>
              </a:rPr>
              <a:t>A constant “yes” gets 99 correct. 27B now</a:t>
            </a:r>
          </a:p>
          <a:p>
            <a:pPr algn="l">
              <a:lnSpc>
                <a:spcPct val="109000"/>
              </a:lnSpc>
              <a:spcBef>
                <a:spcPts val="0"/>
              </a:spcBef>
              <a:spcAft>
                <a:spcPts val="0"/>
              </a:spcAft>
            </a:pPr>
            <a:r>
              <a:rPr sz="1700" b="0">
                <a:solidFill>
                  <a:srgbClr val="00407A"/>
                </a:solidFill>
                <a:latin typeface="Arial"/>
              </a:rPr>
              <a:t>gets 9 more; without examples, 3 more.</a:t>
            </a:r>
          </a:p>
        </p:txBody>
      </p:sp>
      <p:sp>
        <p:nvSpPr>
          <p:cNvPr id="16" name="TextBox 15"/>
          <p:cNvSpPr txBox="1"/>
          <p:nvPr/>
        </p:nvSpPr>
        <p:spPr>
          <a:xfrm>
            <a:off x="8732520" y="1920240"/>
            <a:ext cx="2377440" cy="1371600"/>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12 failures</a:t>
            </a:r>
          </a:p>
          <a:p>
            <a:pPr algn="l">
              <a:lnSpc>
                <a:spcPct val="109000"/>
              </a:lnSpc>
              <a:spcBef>
                <a:spcPts val="0"/>
              </a:spcBef>
              <a:spcAft>
                <a:spcPts val="0"/>
              </a:spcAft>
            </a:pPr>
            <a:r>
              <a:rPr sz="3100" b="1">
                <a:solidFill>
                  <a:srgbClr val="00407A"/>
                </a:solidFill>
                <a:latin typeface="Arial"/>
              </a:rPr>
              <a:t>missed</a:t>
            </a:r>
          </a:p>
        </p:txBody>
      </p:sp>
      <p:sp>
        <p:nvSpPr>
          <p:cNvPr id="17" name="Rounded Rectangle 16"/>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Failure detection rises from 4 to 12 of 24; success recognition falls from 98 to 96 of 99.</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265176"/>
            <a:ext cx="10561320" cy="237744"/>
          </a:xfrm>
          <a:prstGeom prst="rect">
            <a:avLst/>
          </a:prstGeom>
          <a:noFill/>
        </p:spPr>
        <p:txBody>
          <a:bodyPr wrap="square" lIns="0" rIns="0" tIns="0" bIns="0" anchor="t">
            <a:noAutofit/>
          </a:bodyPr>
          <a:lstStyle/>
          <a:p>
            <a:pPr algn="l">
              <a:lnSpc>
                <a:spcPct val="109000"/>
              </a:lnSpc>
              <a:spcBef>
                <a:spcPts val="0"/>
              </a:spcBef>
              <a:spcAft>
                <a:spcPts val="0"/>
              </a:spcAft>
            </a:pPr>
            <a:r>
              <a:rPr sz="1250" b="1">
                <a:solidFill>
                  <a:srgbClr val="0B5A93"/>
                </a:solidFill>
                <a:latin typeface="Arial"/>
              </a:rPr>
              <a:t>EXPERIMENT 2  •  THREE SOLVED EXAMPLES PER QUESTION</a:t>
            </a:r>
          </a:p>
        </p:txBody>
      </p:sp>
      <p:sp>
        <p:nvSpPr>
          <p:cNvPr id="3" name="TextBox 2"/>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27B detects 4 of the 15 synthesis-only failures</a:t>
            </a:r>
          </a:p>
        </p:txBody>
      </p:sp>
      <p:sp>
        <p:nvSpPr>
          <p:cNvPr id="4" name="TextBox 3"/>
          <p:cNvSpPr txBox="1"/>
          <p:nvPr/>
        </p:nvSpPr>
        <p:spPr>
          <a:xfrm>
            <a:off x="813816" y="1261872"/>
            <a:ext cx="10561320" cy="438912"/>
          </a:xfrm>
          <a:prstGeom prst="rect">
            <a:avLst/>
          </a:prstGeom>
          <a:noFill/>
        </p:spPr>
        <p:txBody>
          <a:bodyPr wrap="square" lIns="0" rIns="0" tIns="0" bIns="0">
            <a:noAutofit/>
          </a:bodyPr>
          <a:lstStyle/>
          <a:p>
            <a:pPr>
              <a:lnSpc>
                <a:spcPct val="109000"/>
              </a:lnSpc>
              <a:spcBef>
                <a:spcPts val="0"/>
              </a:spcBef>
              <a:spcAft>
                <a:spcPts val="0"/>
              </a:spcAft>
            </a:pPr>
            <a:r>
              <a:rPr sz="1600" b="0">
                <a:solidFill>
                  <a:srgbClr val="4A5A66"/>
                </a:solidFill>
                <a:latin typeface="Arial"/>
              </a:rPr>
              <a:t>The same split of the 24 failures, with three solved examples.    </a:t>
            </a:r>
            <a:r>
              <a:rPr sz="1600" b="1">
                <a:solidFill>
                  <a:srgbClr val="E97132"/>
                </a:solidFill>
                <a:latin typeface="Arial"/>
              </a:rPr>
              <a:t>|</a:t>
            </a:r>
            <a:r>
              <a:rPr sz="1600" b="0">
                <a:solidFill>
                  <a:srgbClr val="4A5A66"/>
                </a:solidFill>
                <a:latin typeface="Arial"/>
              </a:rPr>
              <a:t> = the score without examples</a:t>
            </a:r>
          </a:p>
        </p:txBody>
      </p:sp>
      <p:sp>
        <p:nvSpPr>
          <p:cNvPr id="5" name="TextBox 4"/>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three examples per question  •  16 October 2026  |  RESULTS</a:t>
            </a:r>
          </a:p>
        </p:txBody>
      </p:sp>
      <p:sp>
        <p:nvSpPr>
          <p:cNvPr id="6" name="TextBox 5"/>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14</a:t>
            </a:r>
          </a:p>
        </p:txBody>
      </p:sp>
      <p:sp>
        <p:nvSpPr>
          <p:cNvPr id="7" name="Rounded Rectangle 6"/>
          <p:cNvSpPr/>
          <p:nvPr/>
        </p:nvSpPr>
        <p:spPr>
          <a:xfrm>
            <a:off x="813816" y="1819656"/>
            <a:ext cx="5166360" cy="3730752"/>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14984" y="1984248"/>
            <a:ext cx="4764024" cy="502920"/>
          </a:xfrm>
          <a:prstGeom prst="rect">
            <a:avLst/>
          </a:prstGeom>
          <a:noFill/>
        </p:spPr>
        <p:txBody>
          <a:bodyPr wrap="square" lIns="0" rIns="0" tIns="0" bIns="0" anchor="t">
            <a:noAutofit/>
          </a:bodyPr>
          <a:lstStyle/>
          <a:p>
            <a:pPr algn="l">
              <a:lnSpc>
                <a:spcPct val="109000"/>
              </a:lnSpc>
              <a:spcBef>
                <a:spcPts val="0"/>
              </a:spcBef>
              <a:spcAft>
                <a:spcPts val="0"/>
              </a:spcAft>
            </a:pPr>
            <a:r>
              <a:rPr sz="1800" b="1">
                <a:solidFill>
                  <a:srgbClr val="00407A"/>
                </a:solidFill>
                <a:latin typeface="Arial"/>
              </a:rPr>
              <a:t>Compiles, but fails synthesis</a:t>
            </a:r>
          </a:p>
        </p:txBody>
      </p:sp>
      <p:sp>
        <p:nvSpPr>
          <p:cNvPr id="9" name="TextBox 8"/>
          <p:cNvSpPr txBox="1"/>
          <p:nvPr/>
        </p:nvSpPr>
        <p:spPr>
          <a:xfrm>
            <a:off x="1014984" y="2432304"/>
            <a:ext cx="4764024" cy="347472"/>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4A5A66"/>
                </a:solidFill>
                <a:latin typeface="Arial"/>
              </a:rPr>
              <a:t>15 designs • synthesis-specific failure cases</a:t>
            </a:r>
          </a:p>
        </p:txBody>
      </p:sp>
      <p:cxnSp>
        <p:nvCxnSpPr>
          <p:cNvPr id="10" name="Connector 9"/>
          <p:cNvCxnSpPr/>
          <p:nvPr/>
        </p:nvCxnSpPr>
        <p:spPr>
          <a:xfrm>
            <a:off x="166420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146304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a:t>
            </a:r>
          </a:p>
        </p:txBody>
      </p:sp>
      <p:cxnSp>
        <p:nvCxnSpPr>
          <p:cNvPr id="12" name="Connector 11"/>
          <p:cNvCxnSpPr/>
          <p:nvPr/>
        </p:nvCxnSpPr>
        <p:spPr>
          <a:xfrm>
            <a:off x="317296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2971799"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50</a:t>
            </a:r>
          </a:p>
        </p:txBody>
      </p:sp>
      <p:cxnSp>
        <p:nvCxnSpPr>
          <p:cNvPr id="14" name="Connector 13"/>
          <p:cNvCxnSpPr/>
          <p:nvPr/>
        </p:nvCxnSpPr>
        <p:spPr>
          <a:xfrm>
            <a:off x="468172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448056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100</a:t>
            </a:r>
          </a:p>
        </p:txBody>
      </p:sp>
      <p:sp>
        <p:nvSpPr>
          <p:cNvPr id="16" name="TextBox 15"/>
          <p:cNvSpPr txBox="1"/>
          <p:nvPr/>
        </p:nvSpPr>
        <p:spPr>
          <a:xfrm>
            <a:off x="996696" y="292150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0.8B</a:t>
            </a:r>
          </a:p>
        </p:txBody>
      </p:sp>
      <p:sp>
        <p:nvSpPr>
          <p:cNvPr id="17" name="Rectangle 16"/>
          <p:cNvSpPr/>
          <p:nvPr/>
        </p:nvSpPr>
        <p:spPr>
          <a:xfrm>
            <a:off x="1664208" y="2953512"/>
            <a:ext cx="3017520" cy="237744"/>
          </a:xfrm>
          <a:prstGeom prst="rect">
            <a:avLst/>
          </a:prstGeom>
          <a:solidFill>
            <a:srgbClr val="4A5A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800600" y="286664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100.0%</a:t>
            </a:r>
          </a:p>
          <a:p>
            <a:pPr algn="l">
              <a:lnSpc>
                <a:spcPct val="109000"/>
              </a:lnSpc>
              <a:spcBef>
                <a:spcPts val="0"/>
              </a:spcBef>
              <a:spcAft>
                <a:spcPts val="0"/>
              </a:spcAft>
            </a:pPr>
            <a:r>
              <a:rPr sz="1250" b="0">
                <a:solidFill>
                  <a:srgbClr val="00407A"/>
                </a:solidFill>
                <a:latin typeface="Arial"/>
              </a:rPr>
              <a:t>15 of 15</a:t>
            </a:r>
          </a:p>
        </p:txBody>
      </p:sp>
      <p:sp>
        <p:nvSpPr>
          <p:cNvPr id="19" name="TextBox 18"/>
          <p:cNvSpPr txBox="1"/>
          <p:nvPr/>
        </p:nvSpPr>
        <p:spPr>
          <a:xfrm>
            <a:off x="996696" y="3424427"/>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4B</a:t>
            </a:r>
          </a:p>
        </p:txBody>
      </p:sp>
      <p:sp>
        <p:nvSpPr>
          <p:cNvPr id="20" name="Rectangle 19"/>
          <p:cNvSpPr/>
          <p:nvPr/>
        </p:nvSpPr>
        <p:spPr>
          <a:xfrm>
            <a:off x="1664208" y="3456432"/>
            <a:ext cx="201168" cy="237744"/>
          </a:xfrm>
          <a:prstGeom prst="rect">
            <a:avLst/>
          </a:prstGeom>
          <a:solidFill>
            <a:srgbClr val="0B5A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800600" y="336956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6.7%</a:t>
            </a:r>
          </a:p>
          <a:p>
            <a:pPr algn="l">
              <a:lnSpc>
                <a:spcPct val="109000"/>
              </a:lnSpc>
              <a:spcBef>
                <a:spcPts val="0"/>
              </a:spcBef>
              <a:spcAft>
                <a:spcPts val="0"/>
              </a:spcAft>
            </a:pPr>
            <a:r>
              <a:rPr sz="1250" b="0">
                <a:solidFill>
                  <a:srgbClr val="00407A"/>
                </a:solidFill>
                <a:latin typeface="Arial"/>
              </a:rPr>
              <a:t>1 of 15</a:t>
            </a:r>
          </a:p>
        </p:txBody>
      </p:sp>
      <p:sp>
        <p:nvSpPr>
          <p:cNvPr id="22" name="TextBox 21"/>
          <p:cNvSpPr txBox="1"/>
          <p:nvPr/>
        </p:nvSpPr>
        <p:spPr>
          <a:xfrm>
            <a:off x="996696" y="392734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9B</a:t>
            </a:r>
          </a:p>
        </p:txBody>
      </p:sp>
      <p:sp>
        <p:nvSpPr>
          <p:cNvPr id="23" name="Rectangle 22"/>
          <p:cNvSpPr/>
          <p:nvPr/>
        </p:nvSpPr>
        <p:spPr>
          <a:xfrm>
            <a:off x="1664208" y="3959351"/>
            <a:ext cx="402336" cy="237744"/>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00600" y="387248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13.3%</a:t>
            </a:r>
          </a:p>
          <a:p>
            <a:pPr algn="l">
              <a:lnSpc>
                <a:spcPct val="109000"/>
              </a:lnSpc>
              <a:spcBef>
                <a:spcPts val="0"/>
              </a:spcBef>
              <a:spcAft>
                <a:spcPts val="0"/>
              </a:spcAft>
            </a:pPr>
            <a:r>
              <a:rPr sz="1250" b="0">
                <a:solidFill>
                  <a:srgbClr val="00407A"/>
                </a:solidFill>
                <a:latin typeface="Arial"/>
              </a:rPr>
              <a:t>2 of 15</a:t>
            </a:r>
          </a:p>
        </p:txBody>
      </p:sp>
      <p:sp>
        <p:nvSpPr>
          <p:cNvPr id="25" name="TextBox 24"/>
          <p:cNvSpPr txBox="1"/>
          <p:nvPr/>
        </p:nvSpPr>
        <p:spPr>
          <a:xfrm>
            <a:off x="996696" y="443026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27B</a:t>
            </a:r>
          </a:p>
        </p:txBody>
      </p:sp>
      <p:sp>
        <p:nvSpPr>
          <p:cNvPr id="26" name="Rectangle 25"/>
          <p:cNvSpPr/>
          <p:nvPr/>
        </p:nvSpPr>
        <p:spPr>
          <a:xfrm>
            <a:off x="1664208" y="4462272"/>
            <a:ext cx="804672" cy="237744"/>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800600" y="437540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26.7%</a:t>
            </a:r>
          </a:p>
          <a:p>
            <a:pPr algn="l">
              <a:lnSpc>
                <a:spcPct val="109000"/>
              </a:lnSpc>
              <a:spcBef>
                <a:spcPts val="0"/>
              </a:spcBef>
              <a:spcAft>
                <a:spcPts val="0"/>
              </a:spcAft>
            </a:pPr>
            <a:r>
              <a:rPr sz="1250" b="0">
                <a:solidFill>
                  <a:srgbClr val="00407A"/>
                </a:solidFill>
                <a:latin typeface="Arial"/>
              </a:rPr>
              <a:t>4 of 15</a:t>
            </a:r>
          </a:p>
        </p:txBody>
      </p:sp>
      <p:cxnSp>
        <p:nvCxnSpPr>
          <p:cNvPr id="28" name="Connector 27"/>
          <p:cNvCxnSpPr/>
          <p:nvPr/>
        </p:nvCxnSpPr>
        <p:spPr>
          <a:xfrm>
            <a:off x="1664208" y="2907791"/>
            <a:ext cx="0" cy="329185"/>
          </a:xfrm>
          <a:prstGeom prst="line">
            <a:avLst/>
          </a:prstGeom>
          <a:ln w="34925">
            <a:solidFill>
              <a:srgbClr val="E97132"/>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1664208" y="3410711"/>
            <a:ext cx="0" cy="329185"/>
          </a:xfrm>
          <a:prstGeom prst="line">
            <a:avLst/>
          </a:prstGeom>
          <a:ln w="34925">
            <a:solidFill>
              <a:srgbClr val="E97132"/>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1865376" y="3913631"/>
            <a:ext cx="0" cy="329185"/>
          </a:xfrm>
          <a:prstGeom prst="line">
            <a:avLst/>
          </a:prstGeom>
          <a:ln w="34925">
            <a:solidFill>
              <a:srgbClr val="E97132"/>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1664208" y="4416552"/>
            <a:ext cx="0" cy="329184"/>
          </a:xfrm>
          <a:prstGeom prst="line">
            <a:avLst/>
          </a:prstGeom>
          <a:ln w="34925">
            <a:solidFill>
              <a:srgbClr val="E97132"/>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996696" y="5029200"/>
            <a:ext cx="4800600" cy="219456"/>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4A5A66"/>
                </a:solidFill>
                <a:latin typeface="Arial"/>
              </a:rPr>
              <a:t>Correct answers (%) — higher is better</a:t>
            </a:r>
          </a:p>
        </p:txBody>
      </p:sp>
      <p:sp>
        <p:nvSpPr>
          <p:cNvPr id="33" name="Rounded Rectangle 32"/>
          <p:cNvSpPr/>
          <p:nvPr/>
        </p:nvSpPr>
        <p:spPr>
          <a:xfrm>
            <a:off x="6208776" y="1819656"/>
            <a:ext cx="5166360" cy="3730752"/>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09944" y="1984248"/>
            <a:ext cx="4764024" cy="502920"/>
          </a:xfrm>
          <a:prstGeom prst="rect">
            <a:avLst/>
          </a:prstGeom>
          <a:noFill/>
        </p:spPr>
        <p:txBody>
          <a:bodyPr wrap="square" lIns="0" rIns="0" tIns="0" bIns="0" anchor="t">
            <a:noAutofit/>
          </a:bodyPr>
          <a:lstStyle/>
          <a:p>
            <a:pPr algn="l">
              <a:lnSpc>
                <a:spcPct val="109000"/>
              </a:lnSpc>
              <a:spcBef>
                <a:spcPts val="0"/>
              </a:spcBef>
              <a:spcAft>
                <a:spcPts val="0"/>
              </a:spcAft>
            </a:pPr>
            <a:r>
              <a:rPr sz="1800" b="1">
                <a:solidFill>
                  <a:srgbClr val="00407A"/>
                </a:solidFill>
                <a:latin typeface="Arial"/>
              </a:rPr>
              <a:t>Compilation also fails</a:t>
            </a:r>
          </a:p>
        </p:txBody>
      </p:sp>
      <p:sp>
        <p:nvSpPr>
          <p:cNvPr id="35" name="TextBox 34"/>
          <p:cNvSpPr txBox="1"/>
          <p:nvPr/>
        </p:nvSpPr>
        <p:spPr>
          <a:xfrm>
            <a:off x="6409944" y="2432304"/>
            <a:ext cx="4764024" cy="347472"/>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4A5A66"/>
                </a:solidFill>
                <a:latin typeface="Arial"/>
              </a:rPr>
              <a:t>9 designs • both tools reject the design</a:t>
            </a:r>
          </a:p>
        </p:txBody>
      </p:sp>
      <p:cxnSp>
        <p:nvCxnSpPr>
          <p:cNvPr id="36" name="Connector 35"/>
          <p:cNvCxnSpPr/>
          <p:nvPr/>
        </p:nvCxnSpPr>
        <p:spPr>
          <a:xfrm>
            <a:off x="705916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685800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a:t>
            </a:r>
          </a:p>
        </p:txBody>
      </p:sp>
      <p:cxnSp>
        <p:nvCxnSpPr>
          <p:cNvPr id="38" name="Connector 37"/>
          <p:cNvCxnSpPr/>
          <p:nvPr/>
        </p:nvCxnSpPr>
        <p:spPr>
          <a:xfrm>
            <a:off x="856792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8366759"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50</a:t>
            </a:r>
          </a:p>
        </p:txBody>
      </p:sp>
      <p:cxnSp>
        <p:nvCxnSpPr>
          <p:cNvPr id="40" name="Connector 39"/>
          <p:cNvCxnSpPr/>
          <p:nvPr/>
        </p:nvCxnSpPr>
        <p:spPr>
          <a:xfrm>
            <a:off x="1007668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9875519"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100</a:t>
            </a:r>
          </a:p>
        </p:txBody>
      </p:sp>
      <p:sp>
        <p:nvSpPr>
          <p:cNvPr id="42" name="TextBox 41"/>
          <p:cNvSpPr txBox="1"/>
          <p:nvPr/>
        </p:nvSpPr>
        <p:spPr>
          <a:xfrm>
            <a:off x="6391656" y="292150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0.8B</a:t>
            </a:r>
          </a:p>
        </p:txBody>
      </p:sp>
      <p:sp>
        <p:nvSpPr>
          <p:cNvPr id="43" name="Rectangle 42"/>
          <p:cNvSpPr/>
          <p:nvPr/>
        </p:nvSpPr>
        <p:spPr>
          <a:xfrm>
            <a:off x="7059168" y="2953512"/>
            <a:ext cx="3017520" cy="237744"/>
          </a:xfrm>
          <a:prstGeom prst="rect">
            <a:avLst/>
          </a:prstGeom>
          <a:solidFill>
            <a:srgbClr val="4A5A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195560" y="286664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100.0%</a:t>
            </a:r>
          </a:p>
          <a:p>
            <a:pPr algn="l">
              <a:lnSpc>
                <a:spcPct val="109000"/>
              </a:lnSpc>
              <a:spcBef>
                <a:spcPts val="0"/>
              </a:spcBef>
              <a:spcAft>
                <a:spcPts val="0"/>
              </a:spcAft>
            </a:pPr>
            <a:r>
              <a:rPr sz="1250" b="0">
                <a:solidFill>
                  <a:srgbClr val="00407A"/>
                </a:solidFill>
                <a:latin typeface="Arial"/>
              </a:rPr>
              <a:t>9 of 9</a:t>
            </a:r>
          </a:p>
        </p:txBody>
      </p:sp>
      <p:sp>
        <p:nvSpPr>
          <p:cNvPr id="45" name="TextBox 44"/>
          <p:cNvSpPr txBox="1"/>
          <p:nvPr/>
        </p:nvSpPr>
        <p:spPr>
          <a:xfrm>
            <a:off x="6391656" y="3424427"/>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4B</a:t>
            </a:r>
          </a:p>
        </p:txBody>
      </p:sp>
      <p:sp>
        <p:nvSpPr>
          <p:cNvPr id="46" name="Rectangle 45"/>
          <p:cNvSpPr/>
          <p:nvPr/>
        </p:nvSpPr>
        <p:spPr>
          <a:xfrm>
            <a:off x="7059168" y="3456432"/>
            <a:ext cx="335280" cy="237744"/>
          </a:xfrm>
          <a:prstGeom prst="rect">
            <a:avLst/>
          </a:prstGeom>
          <a:solidFill>
            <a:srgbClr val="0B5A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195560" y="336956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11.1%</a:t>
            </a:r>
          </a:p>
          <a:p>
            <a:pPr algn="l">
              <a:lnSpc>
                <a:spcPct val="109000"/>
              </a:lnSpc>
              <a:spcBef>
                <a:spcPts val="0"/>
              </a:spcBef>
              <a:spcAft>
                <a:spcPts val="0"/>
              </a:spcAft>
            </a:pPr>
            <a:r>
              <a:rPr sz="1250" b="0">
                <a:solidFill>
                  <a:srgbClr val="00407A"/>
                </a:solidFill>
                <a:latin typeface="Arial"/>
              </a:rPr>
              <a:t>1 of 9</a:t>
            </a:r>
          </a:p>
        </p:txBody>
      </p:sp>
      <p:sp>
        <p:nvSpPr>
          <p:cNvPr id="48" name="TextBox 47"/>
          <p:cNvSpPr txBox="1"/>
          <p:nvPr/>
        </p:nvSpPr>
        <p:spPr>
          <a:xfrm>
            <a:off x="6391656" y="392734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9B</a:t>
            </a:r>
          </a:p>
        </p:txBody>
      </p:sp>
      <p:sp>
        <p:nvSpPr>
          <p:cNvPr id="49" name="Rectangle 48"/>
          <p:cNvSpPr/>
          <p:nvPr/>
        </p:nvSpPr>
        <p:spPr>
          <a:xfrm>
            <a:off x="7059168" y="3959351"/>
            <a:ext cx="670560" cy="237744"/>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195560" y="387248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22.2%</a:t>
            </a:r>
          </a:p>
          <a:p>
            <a:pPr algn="l">
              <a:lnSpc>
                <a:spcPct val="109000"/>
              </a:lnSpc>
              <a:spcBef>
                <a:spcPts val="0"/>
              </a:spcBef>
              <a:spcAft>
                <a:spcPts val="0"/>
              </a:spcAft>
            </a:pPr>
            <a:r>
              <a:rPr sz="1250" b="0">
                <a:solidFill>
                  <a:srgbClr val="00407A"/>
                </a:solidFill>
                <a:latin typeface="Arial"/>
              </a:rPr>
              <a:t>2 of 9</a:t>
            </a:r>
          </a:p>
        </p:txBody>
      </p:sp>
      <p:sp>
        <p:nvSpPr>
          <p:cNvPr id="51" name="TextBox 50"/>
          <p:cNvSpPr txBox="1"/>
          <p:nvPr/>
        </p:nvSpPr>
        <p:spPr>
          <a:xfrm>
            <a:off x="6391656" y="443026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27B</a:t>
            </a:r>
          </a:p>
        </p:txBody>
      </p:sp>
      <p:sp>
        <p:nvSpPr>
          <p:cNvPr id="52" name="Rectangle 51"/>
          <p:cNvSpPr/>
          <p:nvPr/>
        </p:nvSpPr>
        <p:spPr>
          <a:xfrm>
            <a:off x="7059168" y="4462272"/>
            <a:ext cx="2682240" cy="237744"/>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10195560" y="437540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88.9%</a:t>
            </a:r>
          </a:p>
          <a:p>
            <a:pPr algn="l">
              <a:lnSpc>
                <a:spcPct val="109000"/>
              </a:lnSpc>
              <a:spcBef>
                <a:spcPts val="0"/>
              </a:spcBef>
              <a:spcAft>
                <a:spcPts val="0"/>
              </a:spcAft>
            </a:pPr>
            <a:r>
              <a:rPr sz="1250" b="0">
                <a:solidFill>
                  <a:srgbClr val="00407A"/>
                </a:solidFill>
                <a:latin typeface="Arial"/>
              </a:rPr>
              <a:t>8 of 9</a:t>
            </a:r>
          </a:p>
        </p:txBody>
      </p:sp>
      <p:cxnSp>
        <p:nvCxnSpPr>
          <p:cNvPr id="54" name="Connector 53"/>
          <p:cNvCxnSpPr/>
          <p:nvPr/>
        </p:nvCxnSpPr>
        <p:spPr>
          <a:xfrm>
            <a:off x="7059168" y="2907791"/>
            <a:ext cx="0" cy="329185"/>
          </a:xfrm>
          <a:prstGeom prst="line">
            <a:avLst/>
          </a:prstGeom>
          <a:ln w="34925">
            <a:solidFill>
              <a:srgbClr val="E97132"/>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7059168" y="3410711"/>
            <a:ext cx="0" cy="329185"/>
          </a:xfrm>
          <a:prstGeom prst="line">
            <a:avLst/>
          </a:prstGeom>
          <a:ln w="34925">
            <a:solidFill>
              <a:srgbClr val="E97132"/>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7394447" y="3913631"/>
            <a:ext cx="0" cy="329185"/>
          </a:xfrm>
          <a:prstGeom prst="line">
            <a:avLst/>
          </a:prstGeom>
          <a:ln w="34925">
            <a:solidFill>
              <a:srgbClr val="E97132"/>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8400288" y="4416552"/>
            <a:ext cx="0" cy="329184"/>
          </a:xfrm>
          <a:prstGeom prst="line">
            <a:avLst/>
          </a:prstGeom>
          <a:ln w="34925">
            <a:solidFill>
              <a:srgbClr val="E97132"/>
            </a:solidFill>
          </a:ln>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6391656" y="5029200"/>
            <a:ext cx="4800600" cy="219456"/>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4A5A66"/>
                </a:solidFill>
                <a:latin typeface="Arial"/>
              </a:rPr>
              <a:t>Correct answers (%) — higher is better</a:t>
            </a:r>
          </a:p>
        </p:txBody>
      </p:sp>
      <p:sp>
        <p:nvSpPr>
          <p:cNvPr id="59" name="Rounded Rectangle 58"/>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KEV-0.8B’s 15 of 15 and 9 of 9 come from answering “no” for all 123 designs.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Failure reason: choose one of ten options</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The prompt says that synthesis failed. 25 reason questions: 16 test, 9 development (dev).</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TESTS</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15</a:t>
            </a:r>
          </a:p>
        </p:txBody>
      </p:sp>
      <p:graphicFrame>
        <p:nvGraphicFramePr>
          <p:cNvPr id="6" name="Table 5"/>
          <p:cNvGraphicFramePr>
            <a:graphicFrameLocks noGrp="1"/>
          </p:cNvGraphicFramePr>
          <p:nvPr/>
        </p:nvGraphicFramePr>
        <p:xfrm>
          <a:off x="813816" y="1783080"/>
          <a:ext cx="10561320" cy="3749040"/>
        </p:xfrm>
        <a:graphic>
          <a:graphicData uri="http://schemas.openxmlformats.org/drawingml/2006/table">
            <a:tbl>
              <a:tblPr firstRow="1" bandRow="1">
                <a:tableStyleId>{5C22544A-7EE6-4342-B048-85BDC9FD1C3A}</a:tableStyleId>
              </a:tblPr>
              <a:tblGrid>
                <a:gridCol w="2103120"/>
                <a:gridCol w="6995160"/>
                <a:gridCol w="640080"/>
                <a:gridCol w="822960"/>
              </a:tblGrid>
              <a:tr h="365760">
                <a:tc>
                  <a:txBody>
                    <a:bodyPr/>
                    <a:lstStyle/>
                    <a:p>
                      <a:pPr algn="l">
                        <a:lnSpc>
                          <a:spcPct val="103000"/>
                        </a:lnSpc>
                        <a:spcBef>
                          <a:spcPts val="0"/>
                        </a:spcBef>
                        <a:spcAft>
                          <a:spcPts val="0"/>
                        </a:spcAft>
                      </a:pPr>
                      <a:r>
                        <a:rPr sz="1300" b="1">
                          <a:solidFill>
                            <a:srgbClr val="FFFFFF"/>
                          </a:solidFill>
                          <a:latin typeface="Arial"/>
                        </a:rPr>
                        <a:t>Option</a:t>
                      </a:r>
                    </a:p>
                  </a:txBody>
                  <a:tcPr marL="109728" marR="91440" marT="54864" marB="36576" anchor="ctr">
                    <a:solidFill>
                      <a:srgbClr val="00407A"/>
                    </a:solidFill>
                    <a:lnL>
                      <a:noFill/>
                    </a:lnL>
                    <a:lnR>
                      <a:noFill/>
                    </a:lnR>
                    <a:lnT>
                      <a:noFill/>
                    </a:lnT>
                    <a:lnB>
                      <a:noFill/>
                    </a:lnB>
                  </a:tcPr>
                </a:tc>
                <a:tc>
                  <a:txBody>
                    <a:bodyPr/>
                    <a:lstStyle/>
                    <a:p>
                      <a:pPr algn="l">
                        <a:lnSpc>
                          <a:spcPct val="103000"/>
                        </a:lnSpc>
                        <a:spcBef>
                          <a:spcPts val="0"/>
                        </a:spcBef>
                        <a:spcAft>
                          <a:spcPts val="0"/>
                        </a:spcAft>
                      </a:pPr>
                      <a:r>
                        <a:rPr sz="1300" b="1">
                          <a:solidFill>
                            <a:srgbClr val="FFFFFF"/>
                          </a:solidFill>
                          <a:latin typeface="Arial"/>
                        </a:rPr>
                        <a:t>Text of the option, as the model reads it</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300" b="1">
                          <a:solidFill>
                            <a:srgbClr val="FFFFFF"/>
                          </a:solidFill>
                          <a:latin typeface="Arial"/>
                        </a:rPr>
                        <a:t>Test</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300" b="1">
                          <a:solidFill>
                            <a:srgbClr val="FFFFFF"/>
                          </a:solidFill>
                          <a:latin typeface="Arial"/>
                        </a:rPr>
                        <a:t>Dev</a:t>
                      </a:r>
                    </a:p>
                  </a:txBody>
                  <a:tcPr marL="109728" marR="91440" marT="54864" marB="36576" anchor="ctr">
                    <a:solidFill>
                      <a:srgbClr val="00407A"/>
                    </a:solidFill>
                    <a:lnL>
                      <a:noFill/>
                    </a:lnL>
                    <a:lnR>
                      <a:noFill/>
                    </a:lnR>
                    <a:lnT>
                      <a:noFill/>
                    </a:lnT>
                    <a:lnB>
                      <a:noFill/>
                    </a:lnB>
                  </a:tcPr>
                </a:tc>
              </a:tr>
              <a:tr h="365760">
                <a:tc>
                  <a:txBody>
                    <a:bodyPr/>
                    <a:lstStyle/>
                    <a:p>
                      <a:pPr algn="l">
                        <a:lnSpc>
                          <a:spcPct val="103000"/>
                        </a:lnSpc>
                        <a:spcBef>
                          <a:spcPts val="0"/>
                        </a:spcBef>
                        <a:spcAft>
                          <a:spcPts val="0"/>
                        </a:spcAft>
                      </a:pPr>
                      <a:r>
                        <a:rPr sz="1050" b="1">
                          <a:solidFill>
                            <a:srgbClr val="00407A"/>
                          </a:solidFill>
                          <a:latin typeface="Arial"/>
                        </a:rPr>
                        <a:t>illegal_code</a:t>
                      </a:r>
                    </a:p>
                  </a:txBody>
                  <a:tcPr marL="109728" marR="91440" marT="54864" marB="36576" anchor="ctr">
                    <a:solidFill>
                      <a:srgbClr val="E3EFF5"/>
                    </a:solidFill>
                    <a:lnL>
                      <a:noFill/>
                    </a:lnL>
                    <a:lnR>
                      <a:noFill/>
                    </a:lnR>
                    <a:lnT>
                      <a:noFill/>
                    </a:lnT>
                    <a:lnB>
                      <a:noFill/>
                    </a:lnB>
                  </a:tcPr>
                </a:tc>
                <a:tc>
                  <a:txBody>
                    <a:bodyPr/>
                    <a:lstStyle/>
                    <a:p>
                      <a:pPr algn="l">
                        <a:lnSpc>
                          <a:spcPct val="103000"/>
                        </a:lnSpc>
                        <a:spcBef>
                          <a:spcPts val="0"/>
                        </a:spcBef>
                        <a:spcAft>
                          <a:spcPts val="0"/>
                        </a:spcAft>
                      </a:pPr>
                      <a:r>
                        <a:rPr sz="1050" b="0">
                          <a:solidFill>
                            <a:srgbClr val="00407A"/>
                          </a:solidFill>
                          <a:latin typeface="Arial"/>
                        </a:rPr>
                        <a:t>The code is not legal Verilog or SystemVerilog: a syntax error, an undeclared name, a non-constant range, or a procedural assignment to a net.</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050" b="0">
                          <a:solidFill>
                            <a:srgbClr val="00407A"/>
                          </a:solidFill>
                          <a:latin typeface="Arial"/>
                        </a:rPr>
                        <a:t>1</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050" b="0">
                          <a:solidFill>
                            <a:srgbClr val="00407A"/>
                          </a:solidFill>
                          <a:latin typeface="Arial"/>
                        </a:rPr>
                        <a:t>3</a:t>
                      </a:r>
                    </a:p>
                  </a:txBody>
                  <a:tcPr marL="109728" marR="91440" marT="54864" marB="36576" anchor="ctr">
                    <a:solidFill>
                      <a:srgbClr val="E3EFF5"/>
                    </a:solidFill>
                    <a:lnL>
                      <a:noFill/>
                    </a:lnL>
                    <a:lnR>
                      <a:noFill/>
                    </a:lnR>
                    <a:lnT>
                      <a:noFill/>
                    </a:lnT>
                    <a:lnB>
                      <a:noFill/>
                    </a:lnB>
                  </a:tcPr>
                </a:tc>
              </a:tr>
              <a:tr h="365760">
                <a:tc>
                  <a:txBody>
                    <a:bodyPr/>
                    <a:lstStyle/>
                    <a:p>
                      <a:pPr algn="l">
                        <a:lnSpc>
                          <a:spcPct val="103000"/>
                        </a:lnSpc>
                        <a:spcBef>
                          <a:spcPts val="0"/>
                        </a:spcBef>
                        <a:spcAft>
                          <a:spcPts val="0"/>
                        </a:spcAft>
                      </a:pPr>
                      <a:r>
                        <a:rPr sz="1050" b="1">
                          <a:solidFill>
                            <a:srgbClr val="00407A"/>
                          </a:solidFill>
                          <a:latin typeface="Arial"/>
                        </a:rPr>
                        <a:t>unsupported_construct</a:t>
                      </a:r>
                    </a:p>
                  </a:txBody>
                  <a:tcPr marL="109728" marR="91440" marT="54864" marB="36576" anchor="ctr">
                    <a:solidFill>
                      <a:srgbClr val="FFFFFF"/>
                    </a:solidFill>
                    <a:lnL>
                      <a:noFill/>
                    </a:lnL>
                    <a:lnR>
                      <a:noFill/>
                    </a:lnR>
                    <a:lnT>
                      <a:noFill/>
                    </a:lnT>
                    <a:lnB>
                      <a:noFill/>
                    </a:lnB>
                  </a:tcPr>
                </a:tc>
                <a:tc>
                  <a:txBody>
                    <a:bodyPr/>
                    <a:lstStyle/>
                    <a:p>
                      <a:pPr algn="l">
                        <a:lnSpc>
                          <a:spcPct val="103000"/>
                        </a:lnSpc>
                        <a:spcBef>
                          <a:spcPts val="0"/>
                        </a:spcBef>
                        <a:spcAft>
                          <a:spcPts val="0"/>
                        </a:spcAft>
                      </a:pPr>
                      <a:r>
                        <a:rPr sz="1050" b="0">
                          <a:solidFill>
                            <a:srgbClr val="00407A"/>
                          </a:solidFill>
                          <a:latin typeface="Arial"/>
                        </a:rPr>
                        <a:t>The code is legal for a simulator, but it uses a data type or construct that synthesis does not support: real, time, string, trireg, a class, a dynamic array, a DPI import, or a user-defined primitive.</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050" b="0">
                          <a:solidFill>
                            <a:srgbClr val="00407A"/>
                          </a:solidFill>
                          <a:latin typeface="Arial"/>
                        </a:rPr>
                        <a:t>1</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050" b="0">
                          <a:solidFill>
                            <a:srgbClr val="00407A"/>
                          </a:solidFill>
                          <a:latin typeface="Arial"/>
                        </a:rPr>
                        <a:t>0</a:t>
                      </a:r>
                    </a:p>
                  </a:txBody>
                  <a:tcPr marL="109728" marR="91440" marT="54864" marB="36576" anchor="ctr">
                    <a:solidFill>
                      <a:srgbClr val="FFFFFF"/>
                    </a:solidFill>
                    <a:lnL>
                      <a:noFill/>
                    </a:lnL>
                    <a:lnR>
                      <a:noFill/>
                    </a:lnR>
                    <a:lnT>
                      <a:noFill/>
                    </a:lnT>
                    <a:lnB>
                      <a:noFill/>
                    </a:lnB>
                  </a:tcPr>
                </a:tc>
              </a:tr>
              <a:tr h="365760">
                <a:tc>
                  <a:txBody>
                    <a:bodyPr/>
                    <a:lstStyle/>
                    <a:p>
                      <a:pPr algn="l">
                        <a:lnSpc>
                          <a:spcPct val="103000"/>
                        </a:lnSpc>
                        <a:spcBef>
                          <a:spcPts val="0"/>
                        </a:spcBef>
                        <a:spcAft>
                          <a:spcPts val="0"/>
                        </a:spcAft>
                      </a:pPr>
                      <a:r>
                        <a:rPr sz="1050" b="1">
                          <a:solidFill>
                            <a:srgbClr val="00407A"/>
                          </a:solidFill>
                          <a:latin typeface="Arial"/>
                        </a:rPr>
                        <a:t>timing_control</a:t>
                      </a:r>
                    </a:p>
                  </a:txBody>
                  <a:tcPr marL="109728" marR="91440" marT="54864" marB="36576" anchor="ctr">
                    <a:solidFill>
                      <a:srgbClr val="E3EFF5"/>
                    </a:solidFill>
                    <a:lnL>
                      <a:noFill/>
                    </a:lnL>
                    <a:lnR>
                      <a:noFill/>
                    </a:lnR>
                    <a:lnT>
                      <a:noFill/>
                    </a:lnT>
                    <a:lnB>
                      <a:noFill/>
                    </a:lnB>
                  </a:tcPr>
                </a:tc>
                <a:tc>
                  <a:txBody>
                    <a:bodyPr/>
                    <a:lstStyle/>
                    <a:p>
                      <a:pPr algn="l">
                        <a:lnSpc>
                          <a:spcPct val="103000"/>
                        </a:lnSpc>
                        <a:spcBef>
                          <a:spcPts val="0"/>
                        </a:spcBef>
                        <a:spcAft>
                          <a:spcPts val="0"/>
                        </a:spcAft>
                      </a:pPr>
                      <a:r>
                        <a:rPr sz="1050" b="0">
                          <a:solidFill>
                            <a:srgbClr val="00407A"/>
                          </a:solidFill>
                          <a:latin typeface="Arial"/>
                        </a:rPr>
                        <a:t>The code uses a timing control that synthesis does not support: wait, fork-join, or an event trigger (-&gt;).</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050" b="0">
                          <a:solidFill>
                            <a:srgbClr val="00407A"/>
                          </a:solidFill>
                          <a:latin typeface="Arial"/>
                        </a:rPr>
                        <a:t>3</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050" b="0">
                          <a:solidFill>
                            <a:srgbClr val="00407A"/>
                          </a:solidFill>
                          <a:latin typeface="Arial"/>
                        </a:rPr>
                        <a:t>1</a:t>
                      </a:r>
                    </a:p>
                  </a:txBody>
                  <a:tcPr marL="109728" marR="91440" marT="54864" marB="36576" anchor="ctr">
                    <a:solidFill>
                      <a:srgbClr val="E3EFF5"/>
                    </a:solidFill>
                    <a:lnL>
                      <a:noFill/>
                    </a:lnL>
                    <a:lnR>
                      <a:noFill/>
                    </a:lnR>
                    <a:lnT>
                      <a:noFill/>
                    </a:lnT>
                    <a:lnB>
                      <a:noFill/>
                    </a:lnB>
                  </a:tcPr>
                </a:tc>
              </a:tr>
              <a:tr h="365760">
                <a:tc>
                  <a:txBody>
                    <a:bodyPr/>
                    <a:lstStyle/>
                    <a:p>
                      <a:pPr algn="l">
                        <a:lnSpc>
                          <a:spcPct val="103000"/>
                        </a:lnSpc>
                        <a:spcBef>
                          <a:spcPts val="0"/>
                        </a:spcBef>
                        <a:spcAft>
                          <a:spcPts val="0"/>
                        </a:spcAft>
                      </a:pPr>
                      <a:r>
                        <a:rPr sz="1050" b="1">
                          <a:solidFill>
                            <a:srgbClr val="00407A"/>
                          </a:solidFill>
                          <a:latin typeface="Arial"/>
                        </a:rPr>
                        <a:t>simulation_statement</a:t>
                      </a:r>
                    </a:p>
                  </a:txBody>
                  <a:tcPr marL="109728" marR="91440" marT="54864" marB="36576" anchor="ctr">
                    <a:solidFill>
                      <a:srgbClr val="FFFFFF"/>
                    </a:solidFill>
                    <a:lnL>
                      <a:noFill/>
                    </a:lnL>
                    <a:lnR>
                      <a:noFill/>
                    </a:lnR>
                    <a:lnT>
                      <a:noFill/>
                    </a:lnT>
                    <a:lnB>
                      <a:noFill/>
                    </a:lnB>
                  </a:tcPr>
                </a:tc>
                <a:tc>
                  <a:txBody>
                    <a:bodyPr/>
                    <a:lstStyle/>
                    <a:p>
                      <a:pPr algn="l">
                        <a:lnSpc>
                          <a:spcPct val="103000"/>
                        </a:lnSpc>
                        <a:spcBef>
                          <a:spcPts val="0"/>
                        </a:spcBef>
                        <a:spcAft>
                          <a:spcPts val="0"/>
                        </a:spcAft>
                      </a:pPr>
                      <a:r>
                        <a:rPr sz="1050" b="0">
                          <a:solidFill>
                            <a:srgbClr val="00407A"/>
                          </a:solidFill>
                          <a:latin typeface="Arial"/>
                        </a:rPr>
                        <a:t>The code uses a statement or system function for simulation only: force-release, procedural assign-deassign, or $random.</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050" b="0">
                          <a:solidFill>
                            <a:srgbClr val="00407A"/>
                          </a:solidFill>
                          <a:latin typeface="Arial"/>
                        </a:rPr>
                        <a:t>5</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050" b="0">
                          <a:solidFill>
                            <a:srgbClr val="00407A"/>
                          </a:solidFill>
                          <a:latin typeface="Arial"/>
                        </a:rPr>
                        <a:t>1</a:t>
                      </a:r>
                    </a:p>
                  </a:txBody>
                  <a:tcPr marL="109728" marR="91440" marT="54864" marB="36576" anchor="ctr">
                    <a:solidFill>
                      <a:srgbClr val="FFFFFF"/>
                    </a:solidFill>
                    <a:lnL>
                      <a:noFill/>
                    </a:lnL>
                    <a:lnR>
                      <a:noFill/>
                    </a:lnR>
                    <a:lnT>
                      <a:noFill/>
                    </a:lnT>
                    <a:lnB>
                      <a:noFill/>
                    </a:lnB>
                  </a:tcPr>
                </a:tc>
              </a:tr>
              <a:tr h="365760">
                <a:tc>
                  <a:txBody>
                    <a:bodyPr/>
                    <a:lstStyle/>
                    <a:p>
                      <a:pPr algn="l">
                        <a:lnSpc>
                          <a:spcPct val="103000"/>
                        </a:lnSpc>
                        <a:spcBef>
                          <a:spcPts val="0"/>
                        </a:spcBef>
                        <a:spcAft>
                          <a:spcPts val="0"/>
                        </a:spcAft>
                      </a:pPr>
                      <a:r>
                        <a:rPr sz="1050" b="1">
                          <a:solidFill>
                            <a:srgbClr val="00407A"/>
                          </a:solidFill>
                          <a:latin typeface="Arial"/>
                        </a:rPr>
                        <a:t>event_list</a:t>
                      </a:r>
                    </a:p>
                  </a:txBody>
                  <a:tcPr marL="109728" marR="91440" marT="54864" marB="36576" anchor="ctr">
                    <a:solidFill>
                      <a:srgbClr val="E3EFF5"/>
                    </a:solidFill>
                    <a:lnL>
                      <a:noFill/>
                    </a:lnL>
                    <a:lnR>
                      <a:noFill/>
                    </a:lnR>
                    <a:lnT>
                      <a:noFill/>
                    </a:lnT>
                    <a:lnB>
                      <a:noFill/>
                    </a:lnB>
                  </a:tcPr>
                </a:tc>
                <a:tc>
                  <a:txBody>
                    <a:bodyPr/>
                    <a:lstStyle/>
                    <a:p>
                      <a:pPr algn="l">
                        <a:lnSpc>
                          <a:spcPct val="103000"/>
                        </a:lnSpc>
                        <a:spcBef>
                          <a:spcPts val="0"/>
                        </a:spcBef>
                        <a:spcAft>
                          <a:spcPts val="0"/>
                        </a:spcAft>
                      </a:pPr>
                      <a:r>
                        <a:rPr sz="1050" b="0">
                          <a:solidFill>
                            <a:srgbClr val="00407A"/>
                          </a:solidFill>
                          <a:latin typeface="Arial"/>
                        </a:rPr>
                        <a:t>An event list that synthesis does not support: both edges of one signal, edge and level events mixed, or different edges in one process.</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050" b="0">
                          <a:solidFill>
                            <a:srgbClr val="00407A"/>
                          </a:solidFill>
                          <a:latin typeface="Arial"/>
                        </a:rPr>
                        <a:t>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050" b="0">
                          <a:solidFill>
                            <a:srgbClr val="00407A"/>
                          </a:solidFill>
                          <a:latin typeface="Arial"/>
                        </a:rPr>
                        <a:t>1</a:t>
                      </a:r>
                    </a:p>
                  </a:txBody>
                  <a:tcPr marL="109728" marR="91440" marT="54864" marB="36576" anchor="ctr">
                    <a:solidFill>
                      <a:srgbClr val="E3EFF5"/>
                    </a:solidFill>
                    <a:lnL>
                      <a:noFill/>
                    </a:lnL>
                    <a:lnR>
                      <a:noFill/>
                    </a:lnR>
                    <a:lnT>
                      <a:noFill/>
                    </a:lnT>
                    <a:lnB>
                      <a:noFill/>
                    </a:lnB>
                  </a:tcPr>
                </a:tc>
              </a:tr>
              <a:tr h="365760">
                <a:tc>
                  <a:txBody>
                    <a:bodyPr/>
                    <a:lstStyle/>
                    <a:p>
                      <a:pPr algn="l">
                        <a:lnSpc>
                          <a:spcPct val="103000"/>
                        </a:lnSpc>
                        <a:spcBef>
                          <a:spcPts val="0"/>
                        </a:spcBef>
                        <a:spcAft>
                          <a:spcPts val="0"/>
                        </a:spcAft>
                      </a:pPr>
                      <a:r>
                        <a:rPr sz="1050" b="1">
                          <a:solidFill>
                            <a:srgbClr val="00407A"/>
                          </a:solidFill>
                          <a:latin typeface="Arial"/>
                        </a:rPr>
                        <a:t>async_reset</a:t>
                      </a:r>
                    </a:p>
                  </a:txBody>
                  <a:tcPr marL="109728" marR="91440" marT="54864" marB="36576" anchor="ctr">
                    <a:solidFill>
                      <a:srgbClr val="FFFFFF"/>
                    </a:solidFill>
                    <a:lnL>
                      <a:noFill/>
                    </a:lnL>
                    <a:lnR>
                      <a:noFill/>
                    </a:lnR>
                    <a:lnT>
                      <a:noFill/>
                    </a:lnT>
                    <a:lnB>
                      <a:noFill/>
                    </a:lnB>
                  </a:tcPr>
                </a:tc>
                <a:tc>
                  <a:txBody>
                    <a:bodyPr/>
                    <a:lstStyle/>
                    <a:p>
                      <a:pPr algn="l">
                        <a:lnSpc>
                          <a:spcPct val="103000"/>
                        </a:lnSpc>
                        <a:spcBef>
                          <a:spcPts val="0"/>
                        </a:spcBef>
                        <a:spcAft>
                          <a:spcPts val="0"/>
                        </a:spcAft>
                      </a:pPr>
                      <a:r>
                        <a:rPr sz="1050" b="0">
                          <a:solidFill>
                            <a:srgbClr val="00407A"/>
                          </a:solidFill>
                          <a:latin typeface="Arial"/>
                        </a:rPr>
                        <a:t>An asynchronous reset or set that synthesis cannot build: statements outside the reset if-else, a second edge signal without the reset template, or a reset to a non-constant value.</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050" b="0">
                          <a:solidFill>
                            <a:srgbClr val="00407A"/>
                          </a:solidFill>
                          <a:latin typeface="Arial"/>
                        </a:rPr>
                        <a:t>1</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050" b="0">
                          <a:solidFill>
                            <a:srgbClr val="00407A"/>
                          </a:solidFill>
                          <a:latin typeface="Arial"/>
                        </a:rPr>
                        <a:t>0</a:t>
                      </a:r>
                    </a:p>
                  </a:txBody>
                  <a:tcPr marL="109728" marR="91440" marT="54864" marB="36576" anchor="ctr">
                    <a:solidFill>
                      <a:srgbClr val="FFFFFF"/>
                    </a:solidFill>
                    <a:lnL>
                      <a:noFill/>
                    </a:lnL>
                    <a:lnR>
                      <a:noFill/>
                    </a:lnR>
                    <a:lnT>
                      <a:noFill/>
                    </a:lnT>
                    <a:lnB>
                      <a:noFill/>
                    </a:lnB>
                  </a:tcPr>
                </a:tc>
              </a:tr>
              <a:tr h="228600">
                <a:tc>
                  <a:txBody>
                    <a:bodyPr/>
                    <a:lstStyle/>
                    <a:p>
                      <a:pPr algn="l">
                        <a:lnSpc>
                          <a:spcPct val="103000"/>
                        </a:lnSpc>
                        <a:spcBef>
                          <a:spcPts val="0"/>
                        </a:spcBef>
                        <a:spcAft>
                          <a:spcPts val="0"/>
                        </a:spcAft>
                      </a:pPr>
                      <a:r>
                        <a:rPr sz="1050" b="1">
                          <a:solidFill>
                            <a:srgbClr val="00407A"/>
                          </a:solidFill>
                          <a:latin typeface="Arial"/>
                        </a:rPr>
                        <a:t>multiple_drivers</a:t>
                      </a:r>
                    </a:p>
                  </a:txBody>
                  <a:tcPr marL="109728" marR="91440" marT="54864" marB="36576" anchor="ctr">
                    <a:solidFill>
                      <a:srgbClr val="E3EFF5"/>
                    </a:solidFill>
                    <a:lnL>
                      <a:noFill/>
                    </a:lnL>
                    <a:lnR>
                      <a:noFill/>
                    </a:lnR>
                    <a:lnT>
                      <a:noFill/>
                    </a:lnT>
                    <a:lnB>
                      <a:noFill/>
                    </a:lnB>
                  </a:tcPr>
                </a:tc>
                <a:tc>
                  <a:txBody>
                    <a:bodyPr/>
                    <a:lstStyle/>
                    <a:p>
                      <a:pPr algn="l">
                        <a:lnSpc>
                          <a:spcPct val="103000"/>
                        </a:lnSpc>
                        <a:spcBef>
                          <a:spcPts val="0"/>
                        </a:spcBef>
                        <a:spcAft>
                          <a:spcPts val="0"/>
                        </a:spcAft>
                      </a:pPr>
                      <a:r>
                        <a:rPr sz="1050" b="0">
                          <a:solidFill>
                            <a:srgbClr val="00407A"/>
                          </a:solidFill>
                          <a:latin typeface="Arial"/>
                        </a:rPr>
                        <a:t>A signal has more than one driver, for example assignments in two always blocks.</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050" b="0">
                          <a:solidFill>
                            <a:srgbClr val="00407A"/>
                          </a:solidFill>
                          <a:latin typeface="Arial"/>
                        </a:rPr>
                        <a:t>1</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050" b="0">
                          <a:solidFill>
                            <a:srgbClr val="00407A"/>
                          </a:solidFill>
                          <a:latin typeface="Arial"/>
                        </a:rPr>
                        <a:t>2</a:t>
                      </a:r>
                    </a:p>
                  </a:txBody>
                  <a:tcPr marL="109728" marR="91440" marT="54864" marB="36576" anchor="ctr">
                    <a:solidFill>
                      <a:srgbClr val="E3EFF5"/>
                    </a:solidFill>
                    <a:lnL>
                      <a:noFill/>
                    </a:lnL>
                    <a:lnR>
                      <a:noFill/>
                    </a:lnR>
                    <a:lnT>
                      <a:noFill/>
                    </a:lnT>
                    <a:lnB>
                      <a:noFill/>
                    </a:lnB>
                  </a:tcPr>
                </a:tc>
              </a:tr>
              <a:tr h="228600">
                <a:tc>
                  <a:txBody>
                    <a:bodyPr/>
                    <a:lstStyle/>
                    <a:p>
                      <a:pPr algn="l">
                        <a:lnSpc>
                          <a:spcPct val="103000"/>
                        </a:lnSpc>
                        <a:spcBef>
                          <a:spcPts val="0"/>
                        </a:spcBef>
                        <a:spcAft>
                          <a:spcPts val="0"/>
                        </a:spcAft>
                      </a:pPr>
                      <a:r>
                        <a:rPr sz="1050" b="1">
                          <a:solidFill>
                            <a:srgbClr val="00407A"/>
                          </a:solidFill>
                          <a:latin typeface="Arial"/>
                        </a:rPr>
                        <a:t>mixed_assignments</a:t>
                      </a:r>
                    </a:p>
                  </a:txBody>
                  <a:tcPr marL="109728" marR="91440" marT="54864" marB="36576" anchor="ctr">
                    <a:solidFill>
                      <a:srgbClr val="FFFFFF"/>
                    </a:solidFill>
                    <a:lnL>
                      <a:noFill/>
                    </a:lnL>
                    <a:lnR>
                      <a:noFill/>
                    </a:lnR>
                    <a:lnT>
                      <a:noFill/>
                    </a:lnT>
                    <a:lnB>
                      <a:noFill/>
                    </a:lnB>
                  </a:tcPr>
                </a:tc>
                <a:tc>
                  <a:txBody>
                    <a:bodyPr/>
                    <a:lstStyle/>
                    <a:p>
                      <a:pPr algn="l">
                        <a:lnSpc>
                          <a:spcPct val="103000"/>
                        </a:lnSpc>
                        <a:spcBef>
                          <a:spcPts val="0"/>
                        </a:spcBef>
                        <a:spcAft>
                          <a:spcPts val="0"/>
                        </a:spcAft>
                      </a:pPr>
                      <a:r>
                        <a:rPr sz="1050" b="0">
                          <a:solidFill>
                            <a:srgbClr val="00407A"/>
                          </a:solidFill>
                          <a:latin typeface="Arial"/>
                        </a:rPr>
                        <a:t>One variable gets blocking and nonblocking assignments in the same always block.</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050" b="0">
                          <a:solidFill>
                            <a:srgbClr val="00407A"/>
                          </a:solidFill>
                          <a:latin typeface="Arial"/>
                        </a:rPr>
                        <a:t>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050" b="0">
                          <a:solidFill>
                            <a:srgbClr val="00407A"/>
                          </a:solidFill>
                          <a:latin typeface="Arial"/>
                        </a:rPr>
                        <a:t>0</a:t>
                      </a:r>
                    </a:p>
                  </a:txBody>
                  <a:tcPr marL="109728" marR="91440" marT="54864" marB="36576" anchor="ctr">
                    <a:solidFill>
                      <a:srgbClr val="FFFFFF"/>
                    </a:solidFill>
                    <a:lnL>
                      <a:noFill/>
                    </a:lnL>
                    <a:lnR>
                      <a:noFill/>
                    </a:lnR>
                    <a:lnT>
                      <a:noFill/>
                    </a:lnT>
                    <a:lnB>
                      <a:noFill/>
                    </a:lnB>
                  </a:tcPr>
                </a:tc>
              </a:tr>
              <a:tr h="365760">
                <a:tc>
                  <a:txBody>
                    <a:bodyPr/>
                    <a:lstStyle/>
                    <a:p>
                      <a:pPr algn="l">
                        <a:lnSpc>
                          <a:spcPct val="103000"/>
                        </a:lnSpc>
                        <a:spcBef>
                          <a:spcPts val="0"/>
                        </a:spcBef>
                        <a:spcAft>
                          <a:spcPts val="0"/>
                        </a:spcAft>
                      </a:pPr>
                      <a:r>
                        <a:rPr sz="1050" b="1">
                          <a:solidFill>
                            <a:srgbClr val="00407A"/>
                          </a:solidFill>
                          <a:latin typeface="Arial"/>
                        </a:rPr>
                        <a:t>unbounded_loop</a:t>
                      </a:r>
                    </a:p>
                  </a:txBody>
                  <a:tcPr marL="109728" marR="91440" marT="54864" marB="36576" anchor="ctr">
                    <a:solidFill>
                      <a:srgbClr val="E3EFF5"/>
                    </a:solidFill>
                    <a:lnL>
                      <a:noFill/>
                    </a:lnL>
                    <a:lnR>
                      <a:noFill/>
                    </a:lnR>
                    <a:lnT>
                      <a:noFill/>
                    </a:lnT>
                    <a:lnB>
                      <a:noFill/>
                    </a:lnB>
                  </a:tcPr>
                </a:tc>
                <a:tc>
                  <a:txBody>
                    <a:bodyPr/>
                    <a:lstStyle/>
                    <a:p>
                      <a:pPr algn="l">
                        <a:lnSpc>
                          <a:spcPct val="103000"/>
                        </a:lnSpc>
                        <a:spcBef>
                          <a:spcPts val="0"/>
                        </a:spcBef>
                        <a:spcAft>
                          <a:spcPts val="0"/>
                        </a:spcAft>
                      </a:pPr>
                      <a:r>
                        <a:rPr sz="1050" b="0">
                          <a:solidFill>
                            <a:srgbClr val="00407A"/>
                          </a:solidFill>
                          <a:latin typeface="Arial"/>
                        </a:rPr>
                        <a:t>A loop or a recursion that synthesis cannot unroll: a forever loop with no timing control, or a recursion with no constant limit.</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050" b="0">
                          <a:solidFill>
                            <a:srgbClr val="00407A"/>
                          </a:solidFill>
                          <a:latin typeface="Arial"/>
                        </a:rPr>
                        <a:t>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050" b="0">
                          <a:solidFill>
                            <a:srgbClr val="00407A"/>
                          </a:solidFill>
                          <a:latin typeface="Arial"/>
                        </a:rPr>
                        <a:t>1</a:t>
                      </a:r>
                    </a:p>
                  </a:txBody>
                  <a:tcPr marL="109728" marR="91440" marT="54864" marB="36576" anchor="ctr">
                    <a:solidFill>
                      <a:srgbClr val="E3EFF5"/>
                    </a:solidFill>
                    <a:lnL>
                      <a:noFill/>
                    </a:lnL>
                    <a:lnR>
                      <a:noFill/>
                    </a:lnR>
                    <a:lnT>
                      <a:noFill/>
                    </a:lnT>
                    <a:lnB>
                      <a:noFill/>
                    </a:lnB>
                  </a:tcPr>
                </a:tc>
              </a:tr>
              <a:tr h="365760">
                <a:tc>
                  <a:txBody>
                    <a:bodyPr/>
                    <a:lstStyle/>
                    <a:p>
                      <a:pPr algn="l">
                        <a:lnSpc>
                          <a:spcPct val="103000"/>
                        </a:lnSpc>
                        <a:spcBef>
                          <a:spcPts val="0"/>
                        </a:spcBef>
                        <a:spcAft>
                          <a:spcPts val="0"/>
                        </a:spcAft>
                      </a:pPr>
                      <a:r>
                        <a:rPr sz="1050" b="1">
                          <a:solidFill>
                            <a:srgbClr val="00407A"/>
                          </a:solidFill>
                          <a:latin typeface="Arial"/>
                        </a:rPr>
                        <a:t>instance_mismatch</a:t>
                      </a:r>
                    </a:p>
                  </a:txBody>
                  <a:tcPr marL="109728" marR="91440" marT="54864" marB="36576" anchor="ctr">
                    <a:solidFill>
                      <a:srgbClr val="FFFFFF"/>
                    </a:solidFill>
                    <a:lnL>
                      <a:noFill/>
                    </a:lnL>
                    <a:lnR>
                      <a:noFill/>
                    </a:lnR>
                    <a:lnT>
                      <a:noFill/>
                    </a:lnT>
                    <a:lnB>
                      <a:noFill/>
                    </a:lnB>
                  </a:tcPr>
                </a:tc>
                <a:tc>
                  <a:txBody>
                    <a:bodyPr/>
                    <a:lstStyle/>
                    <a:p>
                      <a:pPr algn="l">
                        <a:lnSpc>
                          <a:spcPct val="103000"/>
                        </a:lnSpc>
                        <a:spcBef>
                          <a:spcPts val="0"/>
                        </a:spcBef>
                        <a:spcAft>
                          <a:spcPts val="0"/>
                        </a:spcAft>
                      </a:pPr>
                      <a:r>
                        <a:rPr sz="1050" b="0">
                          <a:solidFill>
                            <a:srgbClr val="00407A"/>
                          </a:solidFill>
                          <a:latin typeface="Arial"/>
                        </a:rPr>
                        <a:t>A module instance does not match a module: a missing module, an unknown parameter, or an unknown port.</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050" b="0">
                          <a:solidFill>
                            <a:srgbClr val="00407A"/>
                          </a:solidFill>
                          <a:latin typeface="Arial"/>
                        </a:rPr>
                        <a:t>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050" b="0">
                          <a:solidFill>
                            <a:srgbClr val="00407A"/>
                          </a:solidFill>
                          <a:latin typeface="Arial"/>
                        </a:rPr>
                        <a:t>0</a:t>
                      </a:r>
                    </a:p>
                  </a:txBody>
                  <a:tcPr marL="109728" marR="91440" marT="54864" marB="36576" anchor="ctr">
                    <a:solidFill>
                      <a:srgbClr val="FFFFFF"/>
                    </a:solidFill>
                    <a:lnL>
                      <a:noFill/>
                    </a:lnL>
                    <a:lnR>
                      <a:noFill/>
                    </a:lnR>
                    <a:lnT>
                      <a:noFill/>
                    </a:lnT>
                    <a:lnB>
                      <a:noFill/>
                    </a:lnB>
                  </a:tcPr>
                </a:tc>
              </a:tr>
            </a:tbl>
          </a:graphicData>
        </a:graphic>
      </p:graphicFrame>
      <p:sp>
        <p:nvSpPr>
          <p:cNvPr id="7" name="Rounded Rectangle 6"/>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22 of the 25 failures are injected edits. 8 more test designs with a compile error get no reason question.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265176"/>
            <a:ext cx="10561320" cy="237744"/>
          </a:xfrm>
          <a:prstGeom prst="rect">
            <a:avLst/>
          </a:prstGeom>
          <a:noFill/>
        </p:spPr>
        <p:txBody>
          <a:bodyPr wrap="square" lIns="0" rIns="0" tIns="0" bIns="0" anchor="t">
            <a:noAutofit/>
          </a:bodyPr>
          <a:lstStyle/>
          <a:p>
            <a:pPr algn="l">
              <a:lnSpc>
                <a:spcPct val="109000"/>
              </a:lnSpc>
              <a:spcBef>
                <a:spcPts val="0"/>
              </a:spcBef>
              <a:spcAft>
                <a:spcPts val="0"/>
              </a:spcAft>
            </a:pPr>
            <a:r>
              <a:rPr sz="1250" b="1">
                <a:solidFill>
                  <a:srgbClr val="4A5A66"/>
                </a:solidFill>
                <a:latin typeface="Arial"/>
              </a:rPr>
              <a:t>EXPERIMENT 1  •  NO EXAMPLES</a:t>
            </a:r>
          </a:p>
        </p:txBody>
      </p:sp>
      <p:sp>
        <p:nvSpPr>
          <p:cNvPr id="3" name="TextBox 2"/>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Failure reasons: 27B gets 15 of 16 right</a:t>
            </a:r>
          </a:p>
        </p:txBody>
      </p:sp>
      <p:sp>
        <p:nvSpPr>
          <p:cNvPr id="4" name="TextBox 3"/>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The prompt explicitly states that synthesis failed, then offers ten possible reasons.</a:t>
            </a:r>
          </a:p>
        </p:txBody>
      </p:sp>
      <p:sp>
        <p:nvSpPr>
          <p:cNvPr id="5" name="TextBox 4"/>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RESULTS</a:t>
            </a:r>
          </a:p>
        </p:txBody>
      </p:sp>
      <p:sp>
        <p:nvSpPr>
          <p:cNvPr id="6" name="TextBox 5"/>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16</a:t>
            </a:r>
          </a:p>
        </p:txBody>
      </p:sp>
      <p:sp>
        <p:nvSpPr>
          <p:cNvPr id="7" name="Rounded Rectangle 6"/>
          <p:cNvSpPr/>
          <p:nvPr/>
        </p:nvSpPr>
        <p:spPr>
          <a:xfrm>
            <a:off x="813816" y="1828800"/>
            <a:ext cx="5166360" cy="3730752"/>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14984" y="1993392"/>
            <a:ext cx="4764024" cy="502920"/>
          </a:xfrm>
          <a:prstGeom prst="rect">
            <a:avLst/>
          </a:prstGeom>
          <a:noFill/>
        </p:spPr>
        <p:txBody>
          <a:bodyPr wrap="square" lIns="0" rIns="0" tIns="0" bIns="0" anchor="t">
            <a:noAutofit/>
          </a:bodyPr>
          <a:lstStyle/>
          <a:p>
            <a:pPr algn="l">
              <a:lnSpc>
                <a:spcPct val="109000"/>
              </a:lnSpc>
              <a:spcBef>
                <a:spcPts val="0"/>
              </a:spcBef>
              <a:spcAft>
                <a:spcPts val="0"/>
              </a:spcAft>
            </a:pPr>
            <a:r>
              <a:rPr sz="1800" b="1">
                <a:solidFill>
                  <a:srgbClr val="00407A"/>
                </a:solidFill>
                <a:latin typeface="Arial"/>
              </a:rPr>
              <a:t>Choose the correct failure reason</a:t>
            </a:r>
          </a:p>
        </p:txBody>
      </p:sp>
      <p:sp>
        <p:nvSpPr>
          <p:cNvPr id="9" name="TextBox 8"/>
          <p:cNvSpPr txBox="1"/>
          <p:nvPr/>
        </p:nvSpPr>
        <p:spPr>
          <a:xfrm>
            <a:off x="1014984" y="2441448"/>
            <a:ext cx="4764024" cy="347472"/>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4A5A66"/>
                </a:solidFill>
                <a:latin typeface="Arial"/>
              </a:rPr>
              <a:t>16 known-failure designs • one choice per design</a:t>
            </a:r>
          </a:p>
        </p:txBody>
      </p:sp>
      <p:cxnSp>
        <p:nvCxnSpPr>
          <p:cNvPr id="10" name="Connector 9"/>
          <p:cNvCxnSpPr/>
          <p:nvPr/>
        </p:nvCxnSpPr>
        <p:spPr>
          <a:xfrm>
            <a:off x="1664208" y="2834639"/>
            <a:ext cx="0" cy="1856233"/>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1463040" y="4773168"/>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a:t>
            </a:r>
          </a:p>
        </p:txBody>
      </p:sp>
      <p:cxnSp>
        <p:nvCxnSpPr>
          <p:cNvPr id="12" name="Connector 11"/>
          <p:cNvCxnSpPr/>
          <p:nvPr/>
        </p:nvCxnSpPr>
        <p:spPr>
          <a:xfrm>
            <a:off x="3172968" y="2834639"/>
            <a:ext cx="0" cy="1856233"/>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2971799" y="4773168"/>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50</a:t>
            </a:r>
          </a:p>
        </p:txBody>
      </p:sp>
      <p:cxnSp>
        <p:nvCxnSpPr>
          <p:cNvPr id="14" name="Connector 13"/>
          <p:cNvCxnSpPr/>
          <p:nvPr/>
        </p:nvCxnSpPr>
        <p:spPr>
          <a:xfrm>
            <a:off x="4681728" y="2834639"/>
            <a:ext cx="0" cy="1856233"/>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4480560" y="4773168"/>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100</a:t>
            </a:r>
          </a:p>
        </p:txBody>
      </p:sp>
      <p:sp>
        <p:nvSpPr>
          <p:cNvPr id="16" name="TextBox 15"/>
          <p:cNvSpPr txBox="1"/>
          <p:nvPr/>
        </p:nvSpPr>
        <p:spPr>
          <a:xfrm>
            <a:off x="996696" y="2930651"/>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0.8B</a:t>
            </a:r>
          </a:p>
        </p:txBody>
      </p:sp>
      <p:sp>
        <p:nvSpPr>
          <p:cNvPr id="17" name="Rectangle 16"/>
          <p:cNvSpPr/>
          <p:nvPr/>
        </p:nvSpPr>
        <p:spPr>
          <a:xfrm>
            <a:off x="1664208" y="2962656"/>
            <a:ext cx="942975" cy="237744"/>
          </a:xfrm>
          <a:prstGeom prst="rect">
            <a:avLst/>
          </a:prstGeom>
          <a:solidFill>
            <a:srgbClr val="4A5A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800600" y="2875787"/>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31.3%</a:t>
            </a:r>
          </a:p>
          <a:p>
            <a:pPr algn="l">
              <a:lnSpc>
                <a:spcPct val="109000"/>
              </a:lnSpc>
              <a:spcBef>
                <a:spcPts val="0"/>
              </a:spcBef>
              <a:spcAft>
                <a:spcPts val="0"/>
              </a:spcAft>
            </a:pPr>
            <a:r>
              <a:rPr sz="1250" b="0">
                <a:solidFill>
                  <a:srgbClr val="00407A"/>
                </a:solidFill>
                <a:latin typeface="Arial"/>
              </a:rPr>
              <a:t>5 of 16</a:t>
            </a:r>
          </a:p>
        </p:txBody>
      </p:sp>
      <p:sp>
        <p:nvSpPr>
          <p:cNvPr id="19" name="TextBox 18"/>
          <p:cNvSpPr txBox="1"/>
          <p:nvPr/>
        </p:nvSpPr>
        <p:spPr>
          <a:xfrm>
            <a:off x="996696" y="3433571"/>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4B</a:t>
            </a:r>
          </a:p>
        </p:txBody>
      </p:sp>
      <p:sp>
        <p:nvSpPr>
          <p:cNvPr id="20" name="Rectangle 19"/>
          <p:cNvSpPr/>
          <p:nvPr/>
        </p:nvSpPr>
        <p:spPr>
          <a:xfrm>
            <a:off x="1664208" y="3465575"/>
            <a:ext cx="1697355" cy="237744"/>
          </a:xfrm>
          <a:prstGeom prst="rect">
            <a:avLst/>
          </a:prstGeom>
          <a:solidFill>
            <a:srgbClr val="0B5A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800600" y="3378707"/>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56.3%</a:t>
            </a:r>
          </a:p>
          <a:p>
            <a:pPr algn="l">
              <a:lnSpc>
                <a:spcPct val="109000"/>
              </a:lnSpc>
              <a:spcBef>
                <a:spcPts val="0"/>
              </a:spcBef>
              <a:spcAft>
                <a:spcPts val="0"/>
              </a:spcAft>
            </a:pPr>
            <a:r>
              <a:rPr sz="1250" b="0">
                <a:solidFill>
                  <a:srgbClr val="00407A"/>
                </a:solidFill>
                <a:latin typeface="Arial"/>
              </a:rPr>
              <a:t>9 of 16</a:t>
            </a:r>
          </a:p>
        </p:txBody>
      </p:sp>
      <p:sp>
        <p:nvSpPr>
          <p:cNvPr id="22" name="TextBox 21"/>
          <p:cNvSpPr txBox="1"/>
          <p:nvPr/>
        </p:nvSpPr>
        <p:spPr>
          <a:xfrm>
            <a:off x="996696" y="3936491"/>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9B</a:t>
            </a:r>
          </a:p>
        </p:txBody>
      </p:sp>
      <p:sp>
        <p:nvSpPr>
          <p:cNvPr id="23" name="Rectangle 22"/>
          <p:cNvSpPr/>
          <p:nvPr/>
        </p:nvSpPr>
        <p:spPr>
          <a:xfrm>
            <a:off x="1664208" y="3968495"/>
            <a:ext cx="2074545" cy="237744"/>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00600" y="3881627"/>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68.8%</a:t>
            </a:r>
          </a:p>
          <a:p>
            <a:pPr algn="l">
              <a:lnSpc>
                <a:spcPct val="109000"/>
              </a:lnSpc>
              <a:spcBef>
                <a:spcPts val="0"/>
              </a:spcBef>
              <a:spcAft>
                <a:spcPts val="0"/>
              </a:spcAft>
            </a:pPr>
            <a:r>
              <a:rPr sz="1250" b="0">
                <a:solidFill>
                  <a:srgbClr val="00407A"/>
                </a:solidFill>
                <a:latin typeface="Arial"/>
              </a:rPr>
              <a:t>11 of 16</a:t>
            </a:r>
          </a:p>
        </p:txBody>
      </p:sp>
      <p:sp>
        <p:nvSpPr>
          <p:cNvPr id="25" name="TextBox 24"/>
          <p:cNvSpPr txBox="1"/>
          <p:nvPr/>
        </p:nvSpPr>
        <p:spPr>
          <a:xfrm>
            <a:off x="996696" y="4439412"/>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27B</a:t>
            </a:r>
          </a:p>
        </p:txBody>
      </p:sp>
      <p:sp>
        <p:nvSpPr>
          <p:cNvPr id="26" name="Rectangle 25"/>
          <p:cNvSpPr/>
          <p:nvPr/>
        </p:nvSpPr>
        <p:spPr>
          <a:xfrm>
            <a:off x="1664208" y="4471416"/>
            <a:ext cx="2828925" cy="237744"/>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800600" y="4384548"/>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93.8%</a:t>
            </a:r>
          </a:p>
          <a:p>
            <a:pPr algn="l">
              <a:lnSpc>
                <a:spcPct val="109000"/>
              </a:lnSpc>
              <a:spcBef>
                <a:spcPts val="0"/>
              </a:spcBef>
              <a:spcAft>
                <a:spcPts val="0"/>
              </a:spcAft>
            </a:pPr>
            <a:r>
              <a:rPr sz="1250" b="0">
                <a:solidFill>
                  <a:srgbClr val="00407A"/>
                </a:solidFill>
                <a:latin typeface="Arial"/>
              </a:rPr>
              <a:t>15 of 16</a:t>
            </a:r>
          </a:p>
        </p:txBody>
      </p:sp>
      <p:sp>
        <p:nvSpPr>
          <p:cNvPr id="28" name="TextBox 27"/>
          <p:cNvSpPr txBox="1"/>
          <p:nvPr/>
        </p:nvSpPr>
        <p:spPr>
          <a:xfrm>
            <a:off x="996696" y="5038344"/>
            <a:ext cx="4800600" cy="219456"/>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4A5A66"/>
                </a:solidFill>
                <a:latin typeface="Arial"/>
              </a:rPr>
              <a:t>Correct answers (%) — higher is better</a:t>
            </a:r>
          </a:p>
        </p:txBody>
      </p:sp>
      <p:sp>
        <p:nvSpPr>
          <p:cNvPr id="29" name="Rounded Rectangle 28"/>
          <p:cNvSpPr/>
          <p:nvPr/>
        </p:nvSpPr>
        <p:spPr>
          <a:xfrm>
            <a:off x="6208776" y="1828800"/>
            <a:ext cx="5166360" cy="1874519"/>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208776" y="1828800"/>
            <a:ext cx="516636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37376" y="2057400"/>
            <a:ext cx="4709160" cy="658368"/>
          </a:xfrm>
          <a:prstGeom prst="rect">
            <a:avLst/>
          </a:prstGeom>
          <a:noFill/>
        </p:spPr>
        <p:txBody>
          <a:bodyPr wrap="square" lIns="0" rIns="0" tIns="0" bIns="0" anchor="t">
            <a:noAutofit/>
          </a:bodyPr>
          <a:lstStyle/>
          <a:p>
            <a:pPr algn="l">
              <a:lnSpc>
                <a:spcPct val="109000"/>
              </a:lnSpc>
              <a:spcBef>
                <a:spcPts val="0"/>
              </a:spcBef>
              <a:spcAft>
                <a:spcPts val="0"/>
              </a:spcAft>
            </a:pPr>
            <a:r>
              <a:rPr sz="2100" b="1">
                <a:solidFill>
                  <a:srgbClr val="00407A"/>
                </a:solidFill>
                <a:latin typeface="Arial"/>
              </a:rPr>
              <a:t>What is measured</a:t>
            </a:r>
          </a:p>
        </p:txBody>
      </p:sp>
      <p:sp>
        <p:nvSpPr>
          <p:cNvPr id="32" name="TextBox 31"/>
          <p:cNvSpPr txBox="1"/>
          <p:nvPr/>
        </p:nvSpPr>
        <p:spPr>
          <a:xfrm>
            <a:off x="6437376" y="2834640"/>
            <a:ext cx="4709160" cy="685799"/>
          </a:xfrm>
          <a:prstGeom prst="rect">
            <a:avLst/>
          </a:prstGeom>
          <a:noFill/>
        </p:spPr>
        <p:txBody>
          <a:bodyPr wrap="square" lIns="0" rIns="0" tIns="0" bIns="0" anchor="t">
            <a:noAutofit/>
          </a:bodyPr>
          <a:lstStyle/>
          <a:p>
            <a:pPr algn="l">
              <a:lnSpc>
                <a:spcPct val="109000"/>
              </a:lnSpc>
              <a:spcBef>
                <a:spcPts val="0"/>
              </a:spcBef>
              <a:spcAft>
                <a:spcPts val="0"/>
              </a:spcAft>
            </a:pPr>
            <a:r>
              <a:rPr sz="2100" b="0">
                <a:solidFill>
                  <a:srgbClr val="00407A"/>
                </a:solidFill>
                <a:latin typeface="Arial"/>
              </a:rPr>
              <a:t>Can the model identify the reason</a:t>
            </a:r>
          </a:p>
          <a:p>
            <a:pPr algn="l">
              <a:lnSpc>
                <a:spcPct val="109000"/>
              </a:lnSpc>
              <a:spcBef>
                <a:spcPts val="0"/>
              </a:spcBef>
              <a:spcAft>
                <a:spcPts val="0"/>
              </a:spcAft>
            </a:pPr>
            <a:r>
              <a:rPr sz="2100" b="0">
                <a:solidFill>
                  <a:srgbClr val="00407A"/>
                </a:solidFill>
                <a:latin typeface="Arial"/>
              </a:rPr>
              <a:t>when failure is already known?</a:t>
            </a:r>
          </a:p>
        </p:txBody>
      </p:sp>
      <p:sp>
        <p:nvSpPr>
          <p:cNvPr id="33" name="Rounded Rectangle 32"/>
          <p:cNvSpPr/>
          <p:nvPr/>
        </p:nvSpPr>
        <p:spPr>
          <a:xfrm>
            <a:off x="6208776" y="3886200"/>
            <a:ext cx="5166360" cy="1664208"/>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208776" y="3886200"/>
            <a:ext cx="516636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37376" y="4032504"/>
            <a:ext cx="4709160" cy="384048"/>
          </a:xfrm>
          <a:prstGeom prst="rect">
            <a:avLst/>
          </a:prstGeom>
          <a:noFill/>
        </p:spPr>
        <p:txBody>
          <a:bodyPr wrap="square" lIns="0" rIns="0" tIns="0" bIns="0" anchor="t">
            <a:noAutofit/>
          </a:bodyPr>
          <a:lstStyle/>
          <a:p>
            <a:pPr algn="l">
              <a:lnSpc>
                <a:spcPct val="109000"/>
              </a:lnSpc>
              <a:spcBef>
                <a:spcPts val="0"/>
              </a:spcBef>
              <a:spcAft>
                <a:spcPts val="0"/>
              </a:spcAft>
            </a:pPr>
            <a:r>
              <a:rPr sz="2000" b="1">
                <a:solidFill>
                  <a:srgbClr val="00407A"/>
                </a:solidFill>
                <a:latin typeface="Arial"/>
              </a:rPr>
              <a:t>What the 27B error was</a:t>
            </a:r>
          </a:p>
        </p:txBody>
      </p:sp>
      <p:sp>
        <p:nvSpPr>
          <p:cNvPr id="36" name="TextBox 35"/>
          <p:cNvSpPr txBox="1"/>
          <p:nvPr/>
        </p:nvSpPr>
        <p:spPr>
          <a:xfrm>
            <a:off x="6437376" y="4544568"/>
            <a:ext cx="4709160" cy="914400"/>
          </a:xfrm>
          <a:prstGeom prst="rect">
            <a:avLst/>
          </a:prstGeom>
          <a:noFill/>
        </p:spPr>
        <p:txBody>
          <a:bodyPr wrap="square" lIns="0" rIns="0" tIns="0" bIns="0" anchor="t">
            <a:noAutofit/>
          </a:bodyPr>
          <a:lstStyle/>
          <a:p>
            <a:pPr algn="l">
              <a:lnSpc>
                <a:spcPct val="109000"/>
              </a:lnSpc>
              <a:spcBef>
                <a:spcPts val="0"/>
              </a:spcBef>
              <a:spcAft>
                <a:spcPts val="0"/>
              </a:spcAft>
            </a:pPr>
            <a:r>
              <a:rPr sz="1900" b="0">
                <a:solidFill>
                  <a:srgbClr val="00407A"/>
                </a:solidFill>
                <a:latin typeface="Arial"/>
              </a:rPr>
              <a:t>A multiple-driver error was labelled</a:t>
            </a:r>
          </a:p>
          <a:p>
            <a:pPr algn="l">
              <a:lnSpc>
                <a:spcPct val="109000"/>
              </a:lnSpc>
              <a:spcBef>
                <a:spcPts val="0"/>
              </a:spcBef>
              <a:spcAft>
                <a:spcPts val="0"/>
              </a:spcAft>
            </a:pPr>
            <a:r>
              <a:rPr sz="1900" b="0">
                <a:solidFill>
                  <a:srgbClr val="00407A"/>
                </a:solidFill>
                <a:latin typeface="Arial"/>
              </a:rPr>
              <a:t>as an asynchronous-reset error.</a:t>
            </a:r>
          </a:p>
        </p:txBody>
      </p:sp>
      <p:sp>
        <p:nvSpPr>
          <p:cNvPr id="37" name="Rounded Rectangle 36"/>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Only eight of the ten reason classes occur in these 16 test designs. Coverage is limited.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265176"/>
            <a:ext cx="10561320" cy="237744"/>
          </a:xfrm>
          <a:prstGeom prst="rect">
            <a:avLst/>
          </a:prstGeom>
          <a:noFill/>
        </p:spPr>
        <p:txBody>
          <a:bodyPr wrap="square" lIns="0" rIns="0" tIns="0" bIns="0" anchor="t">
            <a:noAutofit/>
          </a:bodyPr>
          <a:lstStyle/>
          <a:p>
            <a:pPr algn="l">
              <a:lnSpc>
                <a:spcPct val="109000"/>
              </a:lnSpc>
              <a:spcBef>
                <a:spcPts val="0"/>
              </a:spcBef>
              <a:spcAft>
                <a:spcPts val="0"/>
              </a:spcAft>
            </a:pPr>
            <a:r>
              <a:rPr sz="1250" b="1">
                <a:solidFill>
                  <a:srgbClr val="4A5A66"/>
                </a:solidFill>
                <a:latin typeface="Arial"/>
              </a:rPr>
              <a:t>EXPERIMENT 1  •  NO EXAMPLES</a:t>
            </a:r>
          </a:p>
        </p:txBody>
      </p:sp>
      <p:sp>
        <p:nvSpPr>
          <p:cNvPr id="3" name="TextBox 2"/>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Diagnosing a known failure is not detecting that failure</a:t>
            </a:r>
          </a:p>
        </p:txBody>
      </p:sp>
      <p:sp>
        <p:nvSpPr>
          <p:cNvPr id="4" name="TextBox 3"/>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Match the two saved responses for the same 16 reason-test designs.</a:t>
            </a:r>
          </a:p>
        </p:txBody>
      </p:sp>
      <p:sp>
        <p:nvSpPr>
          <p:cNvPr id="5" name="TextBox 4"/>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RESULTS</a:t>
            </a:r>
          </a:p>
        </p:txBody>
      </p:sp>
      <p:sp>
        <p:nvSpPr>
          <p:cNvPr id="6" name="TextBox 5"/>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17</a:t>
            </a:r>
          </a:p>
        </p:txBody>
      </p:sp>
      <p:graphicFrame>
        <p:nvGraphicFramePr>
          <p:cNvPr id="7" name="Table 6"/>
          <p:cNvGraphicFramePr>
            <a:graphicFrameLocks noGrp="1"/>
          </p:cNvGraphicFramePr>
          <p:nvPr/>
        </p:nvGraphicFramePr>
        <p:xfrm>
          <a:off x="813816" y="1920240"/>
          <a:ext cx="10561320" cy="2514600"/>
        </p:xfrm>
        <a:graphic>
          <a:graphicData uri="http://schemas.openxmlformats.org/drawingml/2006/table">
            <a:tbl>
              <a:tblPr firstRow="1" bandRow="1">
                <a:tableStyleId>{5C22544A-7EE6-4342-B048-85BDC9FD1C3A}</a:tableStyleId>
              </a:tblPr>
              <a:tblGrid>
                <a:gridCol w="1371600"/>
                <a:gridCol w="2743200"/>
                <a:gridCol w="3703320"/>
                <a:gridCol w="2743200"/>
              </a:tblGrid>
              <a:tr h="566928">
                <a:tc>
                  <a:txBody>
                    <a:bodyPr/>
                    <a:lstStyle/>
                    <a:p>
                      <a:pPr algn="l">
                        <a:lnSpc>
                          <a:spcPct val="103000"/>
                        </a:lnSpc>
                        <a:spcBef>
                          <a:spcPts val="0"/>
                        </a:spcBef>
                        <a:spcAft>
                          <a:spcPts val="0"/>
                        </a:spcAft>
                      </a:pPr>
                      <a:r>
                        <a:rPr sz="1600" b="1">
                          <a:solidFill>
                            <a:srgbClr val="FFFFFF"/>
                          </a:solidFill>
                          <a:latin typeface="Arial"/>
                        </a:rPr>
                        <a:t>Model</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Says synthesis failed</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Correct reason when told it failed</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Both answers correct</a:t>
                      </a:r>
                    </a:p>
                  </a:txBody>
                  <a:tcPr marL="109728" marR="91440" marT="54864" marB="36576" anchor="ctr">
                    <a:solidFill>
                      <a:srgbClr val="00407A"/>
                    </a:solidFill>
                    <a:lnL>
                      <a:noFill/>
                    </a:lnL>
                    <a:lnR>
                      <a:noFill/>
                    </a:lnR>
                    <a:lnT>
                      <a:noFill/>
                    </a:lnT>
                    <a:lnB>
                      <a:noFill/>
                    </a:lnB>
                  </a:tcPr>
                </a:tc>
              </a:tr>
              <a:tr h="486918">
                <a:tc>
                  <a:txBody>
                    <a:bodyPr/>
                    <a:lstStyle/>
                    <a:p>
                      <a:pPr algn="l">
                        <a:lnSpc>
                          <a:spcPct val="103000"/>
                        </a:lnSpc>
                        <a:spcBef>
                          <a:spcPts val="0"/>
                        </a:spcBef>
                        <a:spcAft>
                          <a:spcPts val="0"/>
                        </a:spcAft>
                      </a:pPr>
                      <a:r>
                        <a:rPr sz="2100" b="0">
                          <a:solidFill>
                            <a:srgbClr val="00407A"/>
                          </a:solidFill>
                          <a:latin typeface="Arial"/>
                        </a:rPr>
                        <a:t>KEV-0.8B</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0 of 16</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5 of 16</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0 of 16</a:t>
                      </a:r>
                    </a:p>
                  </a:txBody>
                  <a:tcPr marL="109728" marR="91440" marT="54864" marB="36576" anchor="ctr">
                    <a:solidFill>
                      <a:srgbClr val="E3EFF5"/>
                    </a:solidFill>
                    <a:lnL>
                      <a:noFill/>
                    </a:lnL>
                    <a:lnR>
                      <a:noFill/>
                    </a:lnR>
                    <a:lnT>
                      <a:noFill/>
                    </a:lnT>
                    <a:lnB>
                      <a:noFill/>
                    </a:lnB>
                  </a:tcPr>
                </a:tc>
              </a:tr>
              <a:tr h="486918">
                <a:tc>
                  <a:txBody>
                    <a:bodyPr/>
                    <a:lstStyle/>
                    <a:p>
                      <a:pPr algn="l">
                        <a:lnSpc>
                          <a:spcPct val="103000"/>
                        </a:lnSpc>
                        <a:spcBef>
                          <a:spcPts val="0"/>
                        </a:spcBef>
                        <a:spcAft>
                          <a:spcPts val="0"/>
                        </a:spcAft>
                      </a:pPr>
                      <a:r>
                        <a:rPr sz="2100" b="0">
                          <a:solidFill>
                            <a:srgbClr val="00407A"/>
                          </a:solidFill>
                          <a:latin typeface="Arial"/>
                        </a:rPr>
                        <a:t>KEV-4B</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0 of 16</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9 of 16</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0 of 16</a:t>
                      </a:r>
                    </a:p>
                  </a:txBody>
                  <a:tcPr marL="109728" marR="91440" marT="54864" marB="36576" anchor="ctr">
                    <a:solidFill>
                      <a:srgbClr val="FFFFFF"/>
                    </a:solidFill>
                    <a:lnL>
                      <a:noFill/>
                    </a:lnL>
                    <a:lnR>
                      <a:noFill/>
                    </a:lnR>
                    <a:lnT>
                      <a:noFill/>
                    </a:lnT>
                    <a:lnB>
                      <a:noFill/>
                    </a:lnB>
                  </a:tcPr>
                </a:tc>
              </a:tr>
              <a:tr h="486918">
                <a:tc>
                  <a:txBody>
                    <a:bodyPr/>
                    <a:lstStyle/>
                    <a:p>
                      <a:pPr algn="l">
                        <a:lnSpc>
                          <a:spcPct val="103000"/>
                        </a:lnSpc>
                        <a:spcBef>
                          <a:spcPts val="0"/>
                        </a:spcBef>
                        <a:spcAft>
                          <a:spcPts val="0"/>
                        </a:spcAft>
                      </a:pPr>
                      <a:r>
                        <a:rPr sz="2100" b="0">
                          <a:solidFill>
                            <a:srgbClr val="00407A"/>
                          </a:solidFill>
                          <a:latin typeface="Arial"/>
                        </a:rPr>
                        <a:t>KEV-9B</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1 of 16</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11 of 16</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1 of 16</a:t>
                      </a:r>
                    </a:p>
                  </a:txBody>
                  <a:tcPr marL="109728" marR="91440" marT="54864" marB="36576" anchor="ctr">
                    <a:solidFill>
                      <a:srgbClr val="E3EFF5"/>
                    </a:solidFill>
                    <a:lnL>
                      <a:noFill/>
                    </a:lnL>
                    <a:lnR>
                      <a:noFill/>
                    </a:lnR>
                    <a:lnT>
                      <a:noFill/>
                    </a:lnT>
                    <a:lnB>
                      <a:noFill/>
                    </a:lnB>
                  </a:tcPr>
                </a:tc>
              </a:tr>
              <a:tr h="486918">
                <a:tc>
                  <a:txBody>
                    <a:bodyPr/>
                    <a:lstStyle/>
                    <a:p>
                      <a:pPr algn="l">
                        <a:lnSpc>
                          <a:spcPct val="103000"/>
                        </a:lnSpc>
                        <a:spcBef>
                          <a:spcPts val="0"/>
                        </a:spcBef>
                        <a:spcAft>
                          <a:spcPts val="0"/>
                        </a:spcAft>
                      </a:pPr>
                      <a:r>
                        <a:rPr sz="2100" b="0">
                          <a:solidFill>
                            <a:srgbClr val="00407A"/>
                          </a:solidFill>
                          <a:latin typeface="Arial"/>
                        </a:rPr>
                        <a:t>KEV-27B</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0 of 16</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15 of 16</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0 of 16</a:t>
                      </a:r>
                    </a:p>
                  </a:txBody>
                  <a:tcPr marL="109728" marR="91440" marT="54864" marB="36576" anchor="ctr">
                    <a:solidFill>
                      <a:srgbClr val="FFFFFF"/>
                    </a:solidFill>
                    <a:lnL>
                      <a:noFill/>
                    </a:lnL>
                    <a:lnR>
                      <a:noFill/>
                    </a:lnR>
                    <a:lnT>
                      <a:noFill/>
                    </a:lnT>
                    <a:lnB>
                      <a:noFill/>
                    </a:lnB>
                  </a:tcPr>
                </a:tc>
              </a:tr>
            </a:tbl>
          </a:graphicData>
        </a:graphic>
      </p:graphicFrame>
      <p:sp>
        <p:nvSpPr>
          <p:cNvPr id="8" name="Rounded Rectangle 7"/>
          <p:cNvSpPr/>
          <p:nvPr/>
        </p:nvSpPr>
        <p:spPr>
          <a:xfrm>
            <a:off x="813816" y="4709160"/>
            <a:ext cx="10561320" cy="841248"/>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4910328"/>
            <a:ext cx="10058400" cy="502920"/>
          </a:xfrm>
          <a:prstGeom prst="rect">
            <a:avLst/>
          </a:prstGeom>
          <a:noFill/>
        </p:spPr>
        <p:txBody>
          <a:bodyPr wrap="square" lIns="0" rIns="0" tIns="0" bIns="0" anchor="t">
            <a:noAutofit/>
          </a:bodyPr>
          <a:lstStyle/>
          <a:p>
            <a:pPr algn="l">
              <a:lnSpc>
                <a:spcPct val="109000"/>
              </a:lnSpc>
              <a:spcBef>
                <a:spcPts val="0"/>
              </a:spcBef>
              <a:spcAft>
                <a:spcPts val="0"/>
              </a:spcAft>
            </a:pPr>
            <a:r>
              <a:rPr sz="2300" b="1">
                <a:solidFill>
                  <a:srgbClr val="00407A"/>
                </a:solidFill>
                <a:latin typeface="Arial"/>
              </a:rPr>
              <a:t>27B: 15 correct diagnoses, but zero failure flags on these same designs.</a:t>
            </a:r>
          </a:p>
        </p:txBody>
      </p:sp>
      <p:sp>
        <p:nvSpPr>
          <p:cNvPr id="10" name="Rounded Rectangle 9"/>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This is a linked analysis of existing answers, not a separately run detection-and-diagnosis system.</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265176"/>
            <a:ext cx="10561320" cy="237744"/>
          </a:xfrm>
          <a:prstGeom prst="rect">
            <a:avLst/>
          </a:prstGeom>
          <a:noFill/>
        </p:spPr>
        <p:txBody>
          <a:bodyPr wrap="square" lIns="0" rIns="0" tIns="0" bIns="0" anchor="t">
            <a:noAutofit/>
          </a:bodyPr>
          <a:lstStyle/>
          <a:p>
            <a:pPr algn="l">
              <a:lnSpc>
                <a:spcPct val="109000"/>
              </a:lnSpc>
              <a:spcBef>
                <a:spcPts val="0"/>
              </a:spcBef>
              <a:spcAft>
                <a:spcPts val="0"/>
              </a:spcAft>
            </a:pPr>
            <a:r>
              <a:rPr sz="1250" b="1">
                <a:solidFill>
                  <a:srgbClr val="0B5A93"/>
                </a:solidFill>
                <a:latin typeface="Arial"/>
              </a:rPr>
              <a:t>EXPERIMENT 2  •  THREE SOLVED EXAMPLES PER QUESTION</a:t>
            </a:r>
          </a:p>
        </p:txBody>
      </p:sp>
      <p:sp>
        <p:nvSpPr>
          <p:cNvPr id="3" name="TextBox 2"/>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Failure reasons: 27B gets 14 of 16 right</a:t>
            </a:r>
          </a:p>
        </p:txBody>
      </p:sp>
      <p:sp>
        <p:nvSpPr>
          <p:cNvPr id="4" name="TextBox 3"/>
          <p:cNvSpPr txBox="1"/>
          <p:nvPr/>
        </p:nvSpPr>
        <p:spPr>
          <a:xfrm>
            <a:off x="813816" y="1261872"/>
            <a:ext cx="10561320" cy="438912"/>
          </a:xfrm>
          <a:prstGeom prst="rect">
            <a:avLst/>
          </a:prstGeom>
          <a:noFill/>
        </p:spPr>
        <p:txBody>
          <a:bodyPr wrap="square" lIns="0" rIns="0" tIns="0" bIns="0">
            <a:noAutofit/>
          </a:bodyPr>
          <a:lstStyle/>
          <a:p>
            <a:pPr>
              <a:lnSpc>
                <a:spcPct val="109000"/>
              </a:lnSpc>
              <a:spcBef>
                <a:spcPts val="0"/>
              </a:spcBef>
              <a:spcAft>
                <a:spcPts val="0"/>
              </a:spcAft>
            </a:pPr>
            <a:r>
              <a:rPr sz="1600" b="0">
                <a:solidFill>
                  <a:srgbClr val="4A5A66"/>
                </a:solidFill>
                <a:latin typeface="Arial"/>
              </a:rPr>
              <a:t>The prompt states that synthesis failed; three solved examples come first.    </a:t>
            </a:r>
            <a:r>
              <a:rPr sz="1600" b="1">
                <a:solidFill>
                  <a:srgbClr val="E97132"/>
                </a:solidFill>
                <a:latin typeface="Arial"/>
              </a:rPr>
              <a:t>|</a:t>
            </a:r>
            <a:r>
              <a:rPr sz="1600" b="0">
                <a:solidFill>
                  <a:srgbClr val="4A5A66"/>
                </a:solidFill>
                <a:latin typeface="Arial"/>
              </a:rPr>
              <a:t> = the score without examples</a:t>
            </a:r>
          </a:p>
        </p:txBody>
      </p:sp>
      <p:sp>
        <p:nvSpPr>
          <p:cNvPr id="5" name="TextBox 4"/>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three examples per question  •  16 October 2026  |  RESULTS</a:t>
            </a:r>
          </a:p>
        </p:txBody>
      </p:sp>
      <p:sp>
        <p:nvSpPr>
          <p:cNvPr id="6" name="TextBox 5"/>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18</a:t>
            </a:r>
          </a:p>
        </p:txBody>
      </p:sp>
      <p:sp>
        <p:nvSpPr>
          <p:cNvPr id="7" name="Rounded Rectangle 6"/>
          <p:cNvSpPr/>
          <p:nvPr/>
        </p:nvSpPr>
        <p:spPr>
          <a:xfrm>
            <a:off x="813816" y="1828800"/>
            <a:ext cx="5166360" cy="3730752"/>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14984" y="1993392"/>
            <a:ext cx="4764024" cy="502920"/>
          </a:xfrm>
          <a:prstGeom prst="rect">
            <a:avLst/>
          </a:prstGeom>
          <a:noFill/>
        </p:spPr>
        <p:txBody>
          <a:bodyPr wrap="square" lIns="0" rIns="0" tIns="0" bIns="0" anchor="t">
            <a:noAutofit/>
          </a:bodyPr>
          <a:lstStyle/>
          <a:p>
            <a:pPr algn="l">
              <a:lnSpc>
                <a:spcPct val="109000"/>
              </a:lnSpc>
              <a:spcBef>
                <a:spcPts val="0"/>
              </a:spcBef>
              <a:spcAft>
                <a:spcPts val="0"/>
              </a:spcAft>
            </a:pPr>
            <a:r>
              <a:rPr sz="1800" b="1">
                <a:solidFill>
                  <a:srgbClr val="00407A"/>
                </a:solidFill>
                <a:latin typeface="Arial"/>
              </a:rPr>
              <a:t>Choose the correct failure reason</a:t>
            </a:r>
          </a:p>
        </p:txBody>
      </p:sp>
      <p:sp>
        <p:nvSpPr>
          <p:cNvPr id="9" name="TextBox 8"/>
          <p:cNvSpPr txBox="1"/>
          <p:nvPr/>
        </p:nvSpPr>
        <p:spPr>
          <a:xfrm>
            <a:off x="1014984" y="2441448"/>
            <a:ext cx="4764024" cy="347472"/>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4A5A66"/>
                </a:solidFill>
                <a:latin typeface="Arial"/>
              </a:rPr>
              <a:t>16 known-failure designs • one choice per design</a:t>
            </a:r>
          </a:p>
        </p:txBody>
      </p:sp>
      <p:cxnSp>
        <p:nvCxnSpPr>
          <p:cNvPr id="10" name="Connector 9"/>
          <p:cNvCxnSpPr/>
          <p:nvPr/>
        </p:nvCxnSpPr>
        <p:spPr>
          <a:xfrm>
            <a:off x="1664208" y="2834639"/>
            <a:ext cx="0" cy="1856233"/>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1463040" y="4773168"/>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a:t>
            </a:r>
          </a:p>
        </p:txBody>
      </p:sp>
      <p:cxnSp>
        <p:nvCxnSpPr>
          <p:cNvPr id="12" name="Connector 11"/>
          <p:cNvCxnSpPr/>
          <p:nvPr/>
        </p:nvCxnSpPr>
        <p:spPr>
          <a:xfrm>
            <a:off x="3172968" y="2834639"/>
            <a:ext cx="0" cy="1856233"/>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2971799" y="4773168"/>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50</a:t>
            </a:r>
          </a:p>
        </p:txBody>
      </p:sp>
      <p:cxnSp>
        <p:nvCxnSpPr>
          <p:cNvPr id="14" name="Connector 13"/>
          <p:cNvCxnSpPr/>
          <p:nvPr/>
        </p:nvCxnSpPr>
        <p:spPr>
          <a:xfrm>
            <a:off x="4681728" y="2834639"/>
            <a:ext cx="0" cy="1856233"/>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4480560" y="4773168"/>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100</a:t>
            </a:r>
          </a:p>
        </p:txBody>
      </p:sp>
      <p:sp>
        <p:nvSpPr>
          <p:cNvPr id="16" name="TextBox 15"/>
          <p:cNvSpPr txBox="1"/>
          <p:nvPr/>
        </p:nvSpPr>
        <p:spPr>
          <a:xfrm>
            <a:off x="996696" y="2930651"/>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0.8B</a:t>
            </a:r>
          </a:p>
        </p:txBody>
      </p:sp>
      <p:sp>
        <p:nvSpPr>
          <p:cNvPr id="17" name="Rectangle 16"/>
          <p:cNvSpPr/>
          <p:nvPr/>
        </p:nvSpPr>
        <p:spPr>
          <a:xfrm>
            <a:off x="1664208" y="2962656"/>
            <a:ext cx="188595" cy="237744"/>
          </a:xfrm>
          <a:prstGeom prst="rect">
            <a:avLst/>
          </a:prstGeom>
          <a:solidFill>
            <a:srgbClr val="4A5A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800600" y="2875787"/>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6.3%</a:t>
            </a:r>
          </a:p>
          <a:p>
            <a:pPr algn="l">
              <a:lnSpc>
                <a:spcPct val="109000"/>
              </a:lnSpc>
              <a:spcBef>
                <a:spcPts val="0"/>
              </a:spcBef>
              <a:spcAft>
                <a:spcPts val="0"/>
              </a:spcAft>
            </a:pPr>
            <a:r>
              <a:rPr sz="1250" b="0">
                <a:solidFill>
                  <a:srgbClr val="00407A"/>
                </a:solidFill>
                <a:latin typeface="Arial"/>
              </a:rPr>
              <a:t>1 of 16</a:t>
            </a:r>
          </a:p>
        </p:txBody>
      </p:sp>
      <p:sp>
        <p:nvSpPr>
          <p:cNvPr id="19" name="TextBox 18"/>
          <p:cNvSpPr txBox="1"/>
          <p:nvPr/>
        </p:nvSpPr>
        <p:spPr>
          <a:xfrm>
            <a:off x="996696" y="3433571"/>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4B</a:t>
            </a:r>
          </a:p>
        </p:txBody>
      </p:sp>
      <p:sp>
        <p:nvSpPr>
          <p:cNvPr id="20" name="Rectangle 19"/>
          <p:cNvSpPr/>
          <p:nvPr/>
        </p:nvSpPr>
        <p:spPr>
          <a:xfrm>
            <a:off x="1664208" y="3465575"/>
            <a:ext cx="1885950" cy="237744"/>
          </a:xfrm>
          <a:prstGeom prst="rect">
            <a:avLst/>
          </a:prstGeom>
          <a:solidFill>
            <a:srgbClr val="0B5A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800600" y="3378707"/>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62.5%</a:t>
            </a:r>
          </a:p>
          <a:p>
            <a:pPr algn="l">
              <a:lnSpc>
                <a:spcPct val="109000"/>
              </a:lnSpc>
              <a:spcBef>
                <a:spcPts val="0"/>
              </a:spcBef>
              <a:spcAft>
                <a:spcPts val="0"/>
              </a:spcAft>
            </a:pPr>
            <a:r>
              <a:rPr sz="1250" b="0">
                <a:solidFill>
                  <a:srgbClr val="00407A"/>
                </a:solidFill>
                <a:latin typeface="Arial"/>
              </a:rPr>
              <a:t>10 of 16</a:t>
            </a:r>
          </a:p>
        </p:txBody>
      </p:sp>
      <p:sp>
        <p:nvSpPr>
          <p:cNvPr id="22" name="TextBox 21"/>
          <p:cNvSpPr txBox="1"/>
          <p:nvPr/>
        </p:nvSpPr>
        <p:spPr>
          <a:xfrm>
            <a:off x="996696" y="3936491"/>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9B</a:t>
            </a:r>
          </a:p>
        </p:txBody>
      </p:sp>
      <p:sp>
        <p:nvSpPr>
          <p:cNvPr id="23" name="Rectangle 22"/>
          <p:cNvSpPr/>
          <p:nvPr/>
        </p:nvSpPr>
        <p:spPr>
          <a:xfrm>
            <a:off x="1664208" y="3968495"/>
            <a:ext cx="2074545" cy="237744"/>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00600" y="3881627"/>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68.8%</a:t>
            </a:r>
          </a:p>
          <a:p>
            <a:pPr algn="l">
              <a:lnSpc>
                <a:spcPct val="109000"/>
              </a:lnSpc>
              <a:spcBef>
                <a:spcPts val="0"/>
              </a:spcBef>
              <a:spcAft>
                <a:spcPts val="0"/>
              </a:spcAft>
            </a:pPr>
            <a:r>
              <a:rPr sz="1250" b="0">
                <a:solidFill>
                  <a:srgbClr val="00407A"/>
                </a:solidFill>
                <a:latin typeface="Arial"/>
              </a:rPr>
              <a:t>11 of 16</a:t>
            </a:r>
          </a:p>
        </p:txBody>
      </p:sp>
      <p:sp>
        <p:nvSpPr>
          <p:cNvPr id="25" name="TextBox 24"/>
          <p:cNvSpPr txBox="1"/>
          <p:nvPr/>
        </p:nvSpPr>
        <p:spPr>
          <a:xfrm>
            <a:off x="996696" y="4439412"/>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27B</a:t>
            </a:r>
          </a:p>
        </p:txBody>
      </p:sp>
      <p:sp>
        <p:nvSpPr>
          <p:cNvPr id="26" name="Rectangle 25"/>
          <p:cNvSpPr/>
          <p:nvPr/>
        </p:nvSpPr>
        <p:spPr>
          <a:xfrm>
            <a:off x="1664208" y="4471416"/>
            <a:ext cx="2640330" cy="237744"/>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800600" y="4384548"/>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87.5%</a:t>
            </a:r>
          </a:p>
          <a:p>
            <a:pPr algn="l">
              <a:lnSpc>
                <a:spcPct val="109000"/>
              </a:lnSpc>
              <a:spcBef>
                <a:spcPts val="0"/>
              </a:spcBef>
              <a:spcAft>
                <a:spcPts val="0"/>
              </a:spcAft>
            </a:pPr>
            <a:r>
              <a:rPr sz="1250" b="0">
                <a:solidFill>
                  <a:srgbClr val="00407A"/>
                </a:solidFill>
                <a:latin typeface="Arial"/>
              </a:rPr>
              <a:t>14 of 16</a:t>
            </a:r>
          </a:p>
        </p:txBody>
      </p:sp>
      <p:cxnSp>
        <p:nvCxnSpPr>
          <p:cNvPr id="28" name="Connector 27"/>
          <p:cNvCxnSpPr/>
          <p:nvPr/>
        </p:nvCxnSpPr>
        <p:spPr>
          <a:xfrm>
            <a:off x="2607183" y="2916935"/>
            <a:ext cx="0" cy="329185"/>
          </a:xfrm>
          <a:prstGeom prst="line">
            <a:avLst/>
          </a:prstGeom>
          <a:ln w="34925">
            <a:solidFill>
              <a:srgbClr val="E97132"/>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3361563" y="3419855"/>
            <a:ext cx="0" cy="329184"/>
          </a:xfrm>
          <a:prstGeom prst="line">
            <a:avLst/>
          </a:prstGeom>
          <a:ln w="34925">
            <a:solidFill>
              <a:srgbClr val="E97132"/>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3738753" y="3922775"/>
            <a:ext cx="0" cy="329184"/>
          </a:xfrm>
          <a:prstGeom prst="line">
            <a:avLst/>
          </a:prstGeom>
          <a:ln w="34925">
            <a:solidFill>
              <a:srgbClr val="E97132"/>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4493133" y="4425696"/>
            <a:ext cx="0" cy="329184"/>
          </a:xfrm>
          <a:prstGeom prst="line">
            <a:avLst/>
          </a:prstGeom>
          <a:ln w="34925">
            <a:solidFill>
              <a:srgbClr val="E97132"/>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996696" y="5038344"/>
            <a:ext cx="4800600" cy="219456"/>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4A5A66"/>
                </a:solidFill>
                <a:latin typeface="Arial"/>
              </a:rPr>
              <a:t>Correct answers (%) — higher is better</a:t>
            </a:r>
          </a:p>
        </p:txBody>
      </p:sp>
      <p:sp>
        <p:nvSpPr>
          <p:cNvPr id="33" name="Rounded Rectangle 32"/>
          <p:cNvSpPr/>
          <p:nvPr/>
        </p:nvSpPr>
        <p:spPr>
          <a:xfrm>
            <a:off x="6208776" y="1828800"/>
            <a:ext cx="5166360" cy="1874519"/>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208776" y="1828800"/>
            <a:ext cx="516636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37376" y="2057400"/>
            <a:ext cx="4709160" cy="658368"/>
          </a:xfrm>
          <a:prstGeom prst="rect">
            <a:avLst/>
          </a:prstGeom>
          <a:noFill/>
        </p:spPr>
        <p:txBody>
          <a:bodyPr wrap="square" lIns="0" rIns="0" tIns="0" bIns="0" anchor="t">
            <a:noAutofit/>
          </a:bodyPr>
          <a:lstStyle/>
          <a:p>
            <a:pPr algn="l">
              <a:lnSpc>
                <a:spcPct val="109000"/>
              </a:lnSpc>
              <a:spcBef>
                <a:spcPts val="0"/>
              </a:spcBef>
              <a:spcAft>
                <a:spcPts val="0"/>
              </a:spcAft>
            </a:pPr>
            <a:r>
              <a:rPr sz="2100" b="1">
                <a:solidFill>
                  <a:srgbClr val="00407A"/>
                </a:solidFill>
                <a:latin typeface="Arial"/>
              </a:rPr>
              <a:t>The three examples</a:t>
            </a:r>
          </a:p>
        </p:txBody>
      </p:sp>
      <p:sp>
        <p:nvSpPr>
          <p:cNvPr id="36" name="TextBox 35"/>
          <p:cNvSpPr txBox="1"/>
          <p:nvPr/>
        </p:nvSpPr>
        <p:spPr>
          <a:xfrm>
            <a:off x="6437376" y="2834640"/>
            <a:ext cx="4709160" cy="685799"/>
          </a:xfrm>
          <a:prstGeom prst="rect">
            <a:avLst/>
          </a:prstGeom>
          <a:noFill/>
        </p:spPr>
        <p:txBody>
          <a:bodyPr wrap="square" lIns="0" rIns="0" tIns="0" bIns="0" anchor="t">
            <a:noAutofit/>
          </a:bodyPr>
          <a:lstStyle/>
          <a:p>
            <a:pPr algn="l">
              <a:lnSpc>
                <a:spcPct val="109000"/>
              </a:lnSpc>
              <a:spcBef>
                <a:spcPts val="0"/>
              </a:spcBef>
              <a:spcAft>
                <a:spcPts val="0"/>
              </a:spcAft>
            </a:pPr>
            <a:r>
              <a:rPr sz="1800" b="0">
                <a:solidFill>
                  <a:srgbClr val="00407A"/>
                </a:solidFill>
                <a:latin typeface="Arial"/>
              </a:rPr>
              <a:t>Classes multiple_drivers, illegal_code,</a:t>
            </a:r>
          </a:p>
          <a:p>
            <a:pPr algn="l">
              <a:lnSpc>
                <a:spcPct val="109000"/>
              </a:lnSpc>
              <a:spcBef>
                <a:spcPts val="0"/>
              </a:spcBef>
              <a:spcAft>
                <a:spcPts val="0"/>
              </a:spcAft>
            </a:pPr>
            <a:r>
              <a:rPr sz="1800" b="0">
                <a:solidFill>
                  <a:srgbClr val="00407A"/>
                </a:solidFill>
                <a:latin typeface="Arial"/>
              </a:rPr>
              <a:t>event_list, each with its first DC error.</a:t>
            </a:r>
          </a:p>
        </p:txBody>
      </p:sp>
      <p:sp>
        <p:nvSpPr>
          <p:cNvPr id="37" name="Rounded Rectangle 36"/>
          <p:cNvSpPr/>
          <p:nvPr/>
        </p:nvSpPr>
        <p:spPr>
          <a:xfrm>
            <a:off x="6208776" y="3886200"/>
            <a:ext cx="5166360" cy="1664208"/>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6208776" y="3886200"/>
            <a:ext cx="516636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437376" y="4032504"/>
            <a:ext cx="4709160" cy="384048"/>
          </a:xfrm>
          <a:prstGeom prst="rect">
            <a:avLst/>
          </a:prstGeom>
          <a:noFill/>
        </p:spPr>
        <p:txBody>
          <a:bodyPr wrap="square" lIns="0" rIns="0" tIns="0" bIns="0" anchor="t">
            <a:noAutofit/>
          </a:bodyPr>
          <a:lstStyle/>
          <a:p>
            <a:pPr algn="l">
              <a:lnSpc>
                <a:spcPct val="109000"/>
              </a:lnSpc>
              <a:spcBef>
                <a:spcPts val="0"/>
              </a:spcBef>
              <a:spcAft>
                <a:spcPts val="0"/>
              </a:spcAft>
            </a:pPr>
            <a:r>
              <a:rPr sz="2000" b="1">
                <a:solidFill>
                  <a:srgbClr val="00407A"/>
                </a:solidFill>
                <a:latin typeface="Arial"/>
              </a:rPr>
              <a:t>What the 27B errors were</a:t>
            </a:r>
          </a:p>
        </p:txBody>
      </p:sp>
      <p:sp>
        <p:nvSpPr>
          <p:cNvPr id="40" name="TextBox 39"/>
          <p:cNvSpPr txBox="1"/>
          <p:nvPr/>
        </p:nvSpPr>
        <p:spPr>
          <a:xfrm>
            <a:off x="6437376" y="4544568"/>
            <a:ext cx="4709160" cy="914400"/>
          </a:xfrm>
          <a:prstGeom prst="rect">
            <a:avLst/>
          </a:prstGeom>
          <a:noFill/>
        </p:spPr>
        <p:txBody>
          <a:bodyPr wrap="square" lIns="0" rIns="0" tIns="0" bIns="0" anchor="t">
            <a:noAutofit/>
          </a:bodyPr>
          <a:lstStyle/>
          <a:p>
            <a:pPr algn="l">
              <a:lnSpc>
                <a:spcPct val="109000"/>
              </a:lnSpc>
              <a:spcBef>
                <a:spcPts val="0"/>
              </a:spcBef>
              <a:spcAft>
                <a:spcPts val="0"/>
              </a:spcAft>
            </a:pPr>
            <a:r>
              <a:rPr sz="1900" b="0">
                <a:solidFill>
                  <a:srgbClr val="00407A"/>
                </a:solidFill>
                <a:latin typeface="Arial"/>
              </a:rPr>
              <a:t>A multiple-driver error and an</a:t>
            </a:r>
          </a:p>
          <a:p>
            <a:pPr algn="l">
              <a:lnSpc>
                <a:spcPct val="109000"/>
              </a:lnSpc>
              <a:spcBef>
                <a:spcPts val="0"/>
              </a:spcBef>
              <a:spcAft>
                <a:spcPts val="0"/>
              </a:spcAft>
            </a:pPr>
            <a:r>
              <a:rPr sz="1900" b="0">
                <a:solidFill>
                  <a:srgbClr val="00407A"/>
                </a:solidFill>
                <a:latin typeface="Arial"/>
              </a:rPr>
              <a:t>asynchronous-reset error were</a:t>
            </a:r>
          </a:p>
          <a:p>
            <a:pPr algn="l">
              <a:lnSpc>
                <a:spcPct val="109000"/>
              </a:lnSpc>
              <a:spcBef>
                <a:spcPts val="0"/>
              </a:spcBef>
              <a:spcAft>
                <a:spcPts val="0"/>
              </a:spcAft>
            </a:pPr>
            <a:r>
              <a:rPr sz="1900" b="0">
                <a:solidFill>
                  <a:srgbClr val="00407A"/>
                </a:solidFill>
                <a:latin typeface="Arial"/>
              </a:rPr>
              <a:t>both labelled event_list.</a:t>
            </a:r>
          </a:p>
        </p:txBody>
      </p:sp>
      <p:sp>
        <p:nvSpPr>
          <p:cNvPr id="41" name="Rounded Rectangle 40"/>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No test design has the class event_list; the models chose it 16 times (6 without examples).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265176"/>
            <a:ext cx="10561320" cy="237744"/>
          </a:xfrm>
          <a:prstGeom prst="rect">
            <a:avLst/>
          </a:prstGeom>
          <a:noFill/>
        </p:spPr>
        <p:txBody>
          <a:bodyPr wrap="square" lIns="0" rIns="0" tIns="0" bIns="0" anchor="t">
            <a:noAutofit/>
          </a:bodyPr>
          <a:lstStyle/>
          <a:p>
            <a:pPr algn="l">
              <a:lnSpc>
                <a:spcPct val="109000"/>
              </a:lnSpc>
              <a:spcBef>
                <a:spcPts val="0"/>
              </a:spcBef>
              <a:spcAft>
                <a:spcPts val="0"/>
              </a:spcAft>
            </a:pPr>
            <a:r>
              <a:rPr sz="1250" b="1">
                <a:solidFill>
                  <a:srgbClr val="0B5A93"/>
                </a:solidFill>
                <a:latin typeface="Arial"/>
              </a:rPr>
              <a:t>EXPERIMENT 2  •  THREE SOLVED EXAMPLES PER QUESTION</a:t>
            </a:r>
          </a:p>
        </p:txBody>
      </p:sp>
      <p:sp>
        <p:nvSpPr>
          <p:cNvPr id="3" name="TextBox 2"/>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27B flags 5 of the 16 known failures</a:t>
            </a:r>
          </a:p>
        </p:txBody>
      </p:sp>
      <p:sp>
        <p:nvSpPr>
          <p:cNvPr id="4" name="TextBox 3"/>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Match the two saved answers with examples for the same 16 reason-test designs.</a:t>
            </a:r>
          </a:p>
        </p:txBody>
      </p:sp>
      <p:sp>
        <p:nvSpPr>
          <p:cNvPr id="5" name="TextBox 4"/>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three examples per question  •  16 October 2026  |  RESULTS</a:t>
            </a:r>
          </a:p>
        </p:txBody>
      </p:sp>
      <p:sp>
        <p:nvSpPr>
          <p:cNvPr id="6" name="TextBox 5"/>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19</a:t>
            </a:r>
          </a:p>
        </p:txBody>
      </p:sp>
      <p:graphicFrame>
        <p:nvGraphicFramePr>
          <p:cNvPr id="7" name="Table 6"/>
          <p:cNvGraphicFramePr>
            <a:graphicFrameLocks noGrp="1"/>
          </p:cNvGraphicFramePr>
          <p:nvPr/>
        </p:nvGraphicFramePr>
        <p:xfrm>
          <a:off x="813816" y="1920240"/>
          <a:ext cx="10561320" cy="2514600"/>
        </p:xfrm>
        <a:graphic>
          <a:graphicData uri="http://schemas.openxmlformats.org/drawingml/2006/table">
            <a:tbl>
              <a:tblPr firstRow="1" bandRow="1">
                <a:tableStyleId>{5C22544A-7EE6-4342-B048-85BDC9FD1C3A}</a:tableStyleId>
              </a:tblPr>
              <a:tblGrid>
                <a:gridCol w="1371600"/>
                <a:gridCol w="2743200"/>
                <a:gridCol w="3703320"/>
                <a:gridCol w="2743200"/>
              </a:tblGrid>
              <a:tr h="566928">
                <a:tc>
                  <a:txBody>
                    <a:bodyPr/>
                    <a:lstStyle/>
                    <a:p>
                      <a:pPr algn="l">
                        <a:lnSpc>
                          <a:spcPct val="103000"/>
                        </a:lnSpc>
                        <a:spcBef>
                          <a:spcPts val="0"/>
                        </a:spcBef>
                        <a:spcAft>
                          <a:spcPts val="0"/>
                        </a:spcAft>
                      </a:pPr>
                      <a:r>
                        <a:rPr sz="1600" b="1">
                          <a:solidFill>
                            <a:srgbClr val="FFFFFF"/>
                          </a:solidFill>
                          <a:latin typeface="Arial"/>
                        </a:rPr>
                        <a:t>Model</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Says synthesis failed</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Correct reason when told it failed</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Both answers correct</a:t>
                      </a:r>
                    </a:p>
                  </a:txBody>
                  <a:tcPr marL="109728" marR="91440" marT="54864" marB="36576" anchor="ctr">
                    <a:solidFill>
                      <a:srgbClr val="00407A"/>
                    </a:solidFill>
                    <a:lnL>
                      <a:noFill/>
                    </a:lnL>
                    <a:lnR>
                      <a:noFill/>
                    </a:lnR>
                    <a:lnT>
                      <a:noFill/>
                    </a:lnT>
                    <a:lnB>
                      <a:noFill/>
                    </a:lnB>
                  </a:tcPr>
                </a:tc>
              </a:tr>
              <a:tr h="486918">
                <a:tc>
                  <a:txBody>
                    <a:bodyPr/>
                    <a:lstStyle/>
                    <a:p>
                      <a:pPr algn="l">
                        <a:lnSpc>
                          <a:spcPct val="103000"/>
                        </a:lnSpc>
                        <a:spcBef>
                          <a:spcPts val="0"/>
                        </a:spcBef>
                        <a:spcAft>
                          <a:spcPts val="0"/>
                        </a:spcAft>
                      </a:pPr>
                      <a:r>
                        <a:rPr sz="2100" b="0">
                          <a:solidFill>
                            <a:srgbClr val="00407A"/>
                          </a:solidFill>
                          <a:latin typeface="Arial"/>
                        </a:rPr>
                        <a:t>KEV-0.8B</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16 of 16</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1 of 16</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1 of 16</a:t>
                      </a:r>
                    </a:p>
                  </a:txBody>
                  <a:tcPr marL="109728" marR="91440" marT="54864" marB="36576" anchor="ctr">
                    <a:solidFill>
                      <a:srgbClr val="E3EFF5"/>
                    </a:solidFill>
                    <a:lnL>
                      <a:noFill/>
                    </a:lnL>
                    <a:lnR>
                      <a:noFill/>
                    </a:lnR>
                    <a:lnT>
                      <a:noFill/>
                    </a:lnT>
                    <a:lnB>
                      <a:noFill/>
                    </a:lnB>
                  </a:tcPr>
                </a:tc>
              </a:tr>
              <a:tr h="486918">
                <a:tc>
                  <a:txBody>
                    <a:bodyPr/>
                    <a:lstStyle/>
                    <a:p>
                      <a:pPr algn="l">
                        <a:lnSpc>
                          <a:spcPct val="103000"/>
                        </a:lnSpc>
                        <a:spcBef>
                          <a:spcPts val="0"/>
                        </a:spcBef>
                        <a:spcAft>
                          <a:spcPts val="0"/>
                        </a:spcAft>
                      </a:pPr>
                      <a:r>
                        <a:rPr sz="2100" b="0">
                          <a:solidFill>
                            <a:srgbClr val="00407A"/>
                          </a:solidFill>
                          <a:latin typeface="Arial"/>
                        </a:rPr>
                        <a:t>KEV-4B</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1 of 16</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10 of 16</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1 of 16</a:t>
                      </a:r>
                    </a:p>
                  </a:txBody>
                  <a:tcPr marL="109728" marR="91440" marT="54864" marB="36576" anchor="ctr">
                    <a:solidFill>
                      <a:srgbClr val="FFFFFF"/>
                    </a:solidFill>
                    <a:lnL>
                      <a:noFill/>
                    </a:lnL>
                    <a:lnR>
                      <a:noFill/>
                    </a:lnR>
                    <a:lnT>
                      <a:noFill/>
                    </a:lnT>
                    <a:lnB>
                      <a:noFill/>
                    </a:lnB>
                  </a:tcPr>
                </a:tc>
              </a:tr>
              <a:tr h="486918">
                <a:tc>
                  <a:txBody>
                    <a:bodyPr/>
                    <a:lstStyle/>
                    <a:p>
                      <a:pPr algn="l">
                        <a:lnSpc>
                          <a:spcPct val="103000"/>
                        </a:lnSpc>
                        <a:spcBef>
                          <a:spcPts val="0"/>
                        </a:spcBef>
                        <a:spcAft>
                          <a:spcPts val="0"/>
                        </a:spcAft>
                      </a:pPr>
                      <a:r>
                        <a:rPr sz="2100" b="0">
                          <a:solidFill>
                            <a:srgbClr val="00407A"/>
                          </a:solidFill>
                          <a:latin typeface="Arial"/>
                        </a:rPr>
                        <a:t>KEV-9B</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2 of 16</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11 of 16</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2 of 16</a:t>
                      </a:r>
                    </a:p>
                  </a:txBody>
                  <a:tcPr marL="109728" marR="91440" marT="54864" marB="36576" anchor="ctr">
                    <a:solidFill>
                      <a:srgbClr val="E3EFF5"/>
                    </a:solidFill>
                    <a:lnL>
                      <a:noFill/>
                    </a:lnL>
                    <a:lnR>
                      <a:noFill/>
                    </a:lnR>
                    <a:lnT>
                      <a:noFill/>
                    </a:lnT>
                    <a:lnB>
                      <a:noFill/>
                    </a:lnB>
                  </a:tcPr>
                </a:tc>
              </a:tr>
              <a:tr h="486918">
                <a:tc>
                  <a:txBody>
                    <a:bodyPr/>
                    <a:lstStyle/>
                    <a:p>
                      <a:pPr algn="l">
                        <a:lnSpc>
                          <a:spcPct val="103000"/>
                        </a:lnSpc>
                        <a:spcBef>
                          <a:spcPts val="0"/>
                        </a:spcBef>
                        <a:spcAft>
                          <a:spcPts val="0"/>
                        </a:spcAft>
                      </a:pPr>
                      <a:r>
                        <a:rPr sz="2100" b="0">
                          <a:solidFill>
                            <a:srgbClr val="00407A"/>
                          </a:solidFill>
                          <a:latin typeface="Arial"/>
                        </a:rPr>
                        <a:t>KEV-27B</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5 of 16</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14 of 16</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5 of 16</a:t>
                      </a:r>
                    </a:p>
                  </a:txBody>
                  <a:tcPr marL="109728" marR="91440" marT="54864" marB="36576" anchor="ctr">
                    <a:solidFill>
                      <a:srgbClr val="FFFFFF"/>
                    </a:solidFill>
                    <a:lnL>
                      <a:noFill/>
                    </a:lnL>
                    <a:lnR>
                      <a:noFill/>
                    </a:lnR>
                    <a:lnT>
                      <a:noFill/>
                    </a:lnT>
                    <a:lnB>
                      <a:noFill/>
                    </a:lnB>
                  </a:tcPr>
                </a:tc>
              </a:tr>
            </a:tbl>
          </a:graphicData>
        </a:graphic>
      </p:graphicFrame>
      <p:sp>
        <p:nvSpPr>
          <p:cNvPr id="8" name="Rounded Rectangle 7"/>
          <p:cNvSpPr/>
          <p:nvPr/>
        </p:nvSpPr>
        <p:spPr>
          <a:xfrm>
            <a:off x="813816" y="4709160"/>
            <a:ext cx="10561320" cy="841248"/>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4910328"/>
            <a:ext cx="10058400" cy="502920"/>
          </a:xfrm>
          <a:prstGeom prst="rect">
            <a:avLst/>
          </a:prstGeom>
          <a:noFill/>
        </p:spPr>
        <p:txBody>
          <a:bodyPr wrap="square" lIns="0" rIns="0" tIns="0" bIns="0" anchor="t">
            <a:noAutofit/>
          </a:bodyPr>
          <a:lstStyle/>
          <a:p>
            <a:pPr algn="l">
              <a:lnSpc>
                <a:spcPct val="109000"/>
              </a:lnSpc>
              <a:spcBef>
                <a:spcPts val="0"/>
              </a:spcBef>
              <a:spcAft>
                <a:spcPts val="0"/>
              </a:spcAft>
            </a:pPr>
            <a:r>
              <a:rPr sz="2300" b="1">
                <a:solidFill>
                  <a:srgbClr val="00407A"/>
                </a:solidFill>
                <a:latin typeface="Arial"/>
              </a:rPr>
              <a:t>27B: 14 correct diagnoses and 5 failure flags on these same designs.</a:t>
            </a:r>
          </a:p>
        </p:txBody>
      </p:sp>
      <p:sp>
        <p:nvSpPr>
          <p:cNvPr id="10" name="Rounded Rectangle 9"/>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KEV-0.8B flags all 16 because it answers “no” for every design.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Area and power: choose one of five ranges</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The model estimates a level from source code and flow information, not an exact physical value.</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TESTS</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20</a:t>
            </a:r>
          </a:p>
        </p:txBody>
      </p:sp>
      <p:graphicFrame>
        <p:nvGraphicFramePr>
          <p:cNvPr id="6" name="Table 5"/>
          <p:cNvGraphicFramePr>
            <a:graphicFrameLocks noGrp="1"/>
          </p:cNvGraphicFramePr>
          <p:nvPr/>
        </p:nvGraphicFramePr>
        <p:xfrm>
          <a:off x="813816" y="1920240"/>
          <a:ext cx="10561320" cy="2103118"/>
        </p:xfrm>
        <a:graphic>
          <a:graphicData uri="http://schemas.openxmlformats.org/drawingml/2006/table">
            <a:tbl>
              <a:tblPr firstRow="1" bandRow="1">
                <a:tableStyleId>{5C22544A-7EE6-4342-B048-85BDC9FD1C3A}</a:tableStyleId>
              </a:tblPr>
              <a:tblGrid>
                <a:gridCol w="2148840"/>
                <a:gridCol w="1682496"/>
                <a:gridCol w="1682496"/>
                <a:gridCol w="1682496"/>
                <a:gridCol w="1682496"/>
                <a:gridCol w="1682496"/>
              </a:tblGrid>
              <a:tr h="566928">
                <a:tc>
                  <a:txBody>
                    <a:bodyPr/>
                    <a:lstStyle/>
                    <a:p>
                      <a:pPr algn="l">
                        <a:lnSpc>
                          <a:spcPct val="103000"/>
                        </a:lnSpc>
                        <a:spcBef>
                          <a:spcPts val="0"/>
                        </a:spcBef>
                        <a:spcAft>
                          <a:spcPts val="0"/>
                        </a:spcAft>
                      </a:pPr>
                      <a:r>
                        <a:rPr sz="1600" b="1">
                          <a:solidFill>
                            <a:srgbClr val="FFFFFF"/>
                          </a:solidFill>
                          <a:latin typeface="Arial"/>
                        </a:rPr>
                        <a:t>Metric</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Level 1</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Level 2</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Level 3</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Level 4</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Level 5</a:t>
                      </a:r>
                    </a:p>
                  </a:txBody>
                  <a:tcPr marL="109728" marR="91440" marT="54864" marB="36576" anchor="ctr">
                    <a:solidFill>
                      <a:srgbClr val="00407A"/>
                    </a:solidFill>
                    <a:lnL>
                      <a:noFill/>
                    </a:lnL>
                    <a:lnR>
                      <a:noFill/>
                    </a:lnR>
                    <a:lnT>
                      <a:noFill/>
                    </a:lnT>
                    <a:lnB>
                      <a:noFill/>
                    </a:lnB>
                  </a:tcPr>
                </a:tc>
              </a:tr>
              <a:tr h="768095">
                <a:tc>
                  <a:txBody>
                    <a:bodyPr/>
                    <a:lstStyle/>
                    <a:p>
                      <a:pPr algn="l">
                        <a:lnSpc>
                          <a:spcPct val="103000"/>
                        </a:lnSpc>
                        <a:spcBef>
                          <a:spcPts val="0"/>
                        </a:spcBef>
                        <a:spcAft>
                          <a:spcPts val="0"/>
                        </a:spcAft>
                      </a:pPr>
                      <a:r>
                        <a:rPr sz="1800" b="0">
                          <a:solidFill>
                            <a:srgbClr val="00407A"/>
                          </a:solidFill>
                          <a:latin typeface="Arial"/>
                        </a:rPr>
                        <a:t>Cell area</a:t>
                      </a:r>
                    </a:p>
                    <a:p>
                      <a:pPr algn="l">
                        <a:lnSpc>
                          <a:spcPct val="103000"/>
                        </a:lnSpc>
                        <a:spcBef>
                          <a:spcPts val="0"/>
                        </a:spcBef>
                        <a:spcAft>
                          <a:spcPts val="0"/>
                        </a:spcAft>
                      </a:pPr>
                      <a:r>
                        <a:rPr sz="1800" b="0">
                          <a:solidFill>
                            <a:srgbClr val="00407A"/>
                          </a:solidFill>
                          <a:latin typeface="Arial"/>
                        </a:rPr>
                        <a:t>(gate equivalents)</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800" b="0">
                          <a:solidFill>
                            <a:srgbClr val="00407A"/>
                          </a:solidFill>
                          <a:latin typeface="Arial"/>
                        </a:rPr>
                        <a:t>&lt;100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800" b="0">
                          <a:solidFill>
                            <a:srgbClr val="00407A"/>
                          </a:solidFill>
                          <a:latin typeface="Arial"/>
                        </a:rPr>
                        <a:t>100 to</a:t>
                      </a:r>
                    </a:p>
                    <a:p>
                      <a:pPr algn="ctr">
                        <a:lnSpc>
                          <a:spcPct val="103000"/>
                        </a:lnSpc>
                        <a:spcBef>
                          <a:spcPts val="0"/>
                        </a:spcBef>
                        <a:spcAft>
                          <a:spcPts val="0"/>
                        </a:spcAft>
                      </a:pPr>
                      <a:r>
                        <a:rPr sz="1800" b="0">
                          <a:solidFill>
                            <a:srgbClr val="00407A"/>
                          </a:solidFill>
                          <a:latin typeface="Arial"/>
                        </a:rPr>
                        <a:t>&lt;1,000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800" b="0">
                          <a:solidFill>
                            <a:srgbClr val="00407A"/>
                          </a:solidFill>
                          <a:latin typeface="Arial"/>
                        </a:rPr>
                        <a:t>1,000 to</a:t>
                      </a:r>
                    </a:p>
                    <a:p>
                      <a:pPr algn="ctr">
                        <a:lnSpc>
                          <a:spcPct val="103000"/>
                        </a:lnSpc>
                        <a:spcBef>
                          <a:spcPts val="0"/>
                        </a:spcBef>
                        <a:spcAft>
                          <a:spcPts val="0"/>
                        </a:spcAft>
                      </a:pPr>
                      <a:r>
                        <a:rPr sz="1800" b="0">
                          <a:solidFill>
                            <a:srgbClr val="00407A"/>
                          </a:solidFill>
                          <a:latin typeface="Arial"/>
                        </a:rPr>
                        <a:t>&lt;10,000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800" b="0">
                          <a:solidFill>
                            <a:srgbClr val="00407A"/>
                          </a:solidFill>
                          <a:latin typeface="Arial"/>
                        </a:rPr>
                        <a:t>10,000 to</a:t>
                      </a:r>
                    </a:p>
                    <a:p>
                      <a:pPr algn="ctr">
                        <a:lnSpc>
                          <a:spcPct val="103000"/>
                        </a:lnSpc>
                        <a:spcBef>
                          <a:spcPts val="0"/>
                        </a:spcBef>
                        <a:spcAft>
                          <a:spcPts val="0"/>
                        </a:spcAft>
                      </a:pPr>
                      <a:r>
                        <a:rPr sz="1800" b="0">
                          <a:solidFill>
                            <a:srgbClr val="00407A"/>
                          </a:solidFill>
                          <a:latin typeface="Arial"/>
                        </a:rPr>
                        <a:t>&lt;100,000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800" b="0">
                          <a:solidFill>
                            <a:srgbClr val="00407A"/>
                          </a:solidFill>
                          <a:latin typeface="Arial"/>
                        </a:rPr>
                        <a:t>≥100,000</a:t>
                      </a:r>
                    </a:p>
                  </a:txBody>
                  <a:tcPr marL="109728" marR="91440" marT="54864" marB="36576" anchor="ctr">
                    <a:solidFill>
                      <a:srgbClr val="E3EFF5"/>
                    </a:solidFill>
                    <a:lnL>
                      <a:noFill/>
                    </a:lnL>
                    <a:lnR>
                      <a:noFill/>
                    </a:lnR>
                    <a:lnT>
                      <a:noFill/>
                    </a:lnT>
                    <a:lnB>
                      <a:noFill/>
                    </a:lnB>
                  </a:tcPr>
                </a:tc>
              </a:tr>
              <a:tr h="768095">
                <a:tc>
                  <a:txBody>
                    <a:bodyPr/>
                    <a:lstStyle/>
                    <a:p>
                      <a:pPr algn="l">
                        <a:lnSpc>
                          <a:spcPct val="103000"/>
                        </a:lnSpc>
                        <a:spcBef>
                          <a:spcPts val="0"/>
                        </a:spcBef>
                        <a:spcAft>
                          <a:spcPts val="0"/>
                        </a:spcAft>
                      </a:pPr>
                      <a:r>
                        <a:rPr sz="1800" b="0">
                          <a:solidFill>
                            <a:srgbClr val="00407A"/>
                          </a:solidFill>
                          <a:latin typeface="Arial"/>
                        </a:rPr>
                        <a:t>Total power</a:t>
                      </a:r>
                    </a:p>
                    <a:p>
                      <a:pPr algn="l">
                        <a:lnSpc>
                          <a:spcPct val="103000"/>
                        </a:lnSpc>
                        <a:spcBef>
                          <a:spcPts val="0"/>
                        </a:spcBef>
                        <a:spcAft>
                          <a:spcPts val="0"/>
                        </a:spcAft>
                      </a:pPr>
                      <a:r>
                        <a:rPr sz="1800" b="0">
                          <a:solidFill>
                            <a:srgbClr val="00407A"/>
                          </a:solidFill>
                          <a:latin typeface="Arial"/>
                        </a:rPr>
                        <a:t>(microwatts)</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800" b="0">
                          <a:solidFill>
                            <a:srgbClr val="00407A"/>
                          </a:solidFill>
                          <a:latin typeface="Arial"/>
                        </a:rPr>
                        <a:t>&lt;10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800" b="0">
                          <a:solidFill>
                            <a:srgbClr val="00407A"/>
                          </a:solidFill>
                          <a:latin typeface="Arial"/>
                        </a:rPr>
                        <a:t>10 to</a:t>
                      </a:r>
                    </a:p>
                    <a:p>
                      <a:pPr algn="ctr">
                        <a:lnSpc>
                          <a:spcPct val="103000"/>
                        </a:lnSpc>
                        <a:spcBef>
                          <a:spcPts val="0"/>
                        </a:spcBef>
                        <a:spcAft>
                          <a:spcPts val="0"/>
                        </a:spcAft>
                      </a:pPr>
                      <a:r>
                        <a:rPr sz="1800" b="0">
                          <a:solidFill>
                            <a:srgbClr val="00407A"/>
                          </a:solidFill>
                          <a:latin typeface="Arial"/>
                        </a:rPr>
                        <a:t>&lt;100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800" b="0">
                          <a:solidFill>
                            <a:srgbClr val="00407A"/>
                          </a:solidFill>
                          <a:latin typeface="Arial"/>
                        </a:rPr>
                        <a:t>100 to</a:t>
                      </a:r>
                    </a:p>
                    <a:p>
                      <a:pPr algn="ctr">
                        <a:lnSpc>
                          <a:spcPct val="103000"/>
                        </a:lnSpc>
                        <a:spcBef>
                          <a:spcPts val="0"/>
                        </a:spcBef>
                        <a:spcAft>
                          <a:spcPts val="0"/>
                        </a:spcAft>
                      </a:pPr>
                      <a:r>
                        <a:rPr sz="1800" b="0">
                          <a:solidFill>
                            <a:srgbClr val="00407A"/>
                          </a:solidFill>
                          <a:latin typeface="Arial"/>
                        </a:rPr>
                        <a:t>&lt;1,000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800" b="0">
                          <a:solidFill>
                            <a:srgbClr val="00407A"/>
                          </a:solidFill>
                          <a:latin typeface="Arial"/>
                        </a:rPr>
                        <a:t>1,000 to</a:t>
                      </a:r>
                    </a:p>
                    <a:p>
                      <a:pPr algn="ctr">
                        <a:lnSpc>
                          <a:spcPct val="103000"/>
                        </a:lnSpc>
                        <a:spcBef>
                          <a:spcPts val="0"/>
                        </a:spcBef>
                        <a:spcAft>
                          <a:spcPts val="0"/>
                        </a:spcAft>
                      </a:pPr>
                      <a:r>
                        <a:rPr sz="1800" b="0">
                          <a:solidFill>
                            <a:srgbClr val="00407A"/>
                          </a:solidFill>
                          <a:latin typeface="Arial"/>
                        </a:rPr>
                        <a:t>&lt;10,000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800" b="0">
                          <a:solidFill>
                            <a:srgbClr val="00407A"/>
                          </a:solidFill>
                          <a:latin typeface="Arial"/>
                        </a:rPr>
                        <a:t>≥10,000</a:t>
                      </a:r>
                    </a:p>
                  </a:txBody>
                  <a:tcPr marL="109728" marR="91440" marT="54864" marB="36576" anchor="ctr">
                    <a:solidFill>
                      <a:srgbClr val="FFFFFF"/>
                    </a:solidFill>
                    <a:lnL>
                      <a:noFill/>
                    </a:lnL>
                    <a:lnR>
                      <a:noFill/>
                    </a:lnR>
                    <a:lnT>
                      <a:noFill/>
                    </a:lnT>
                    <a:lnB>
                      <a:noFill/>
                    </a:lnB>
                  </a:tcPr>
                </a:tc>
              </a:tr>
            </a:tbl>
          </a:graphicData>
        </a:graphic>
      </p:graphicFrame>
      <p:sp>
        <p:nvSpPr>
          <p:cNvPr id="7" name="Rounded Rectangle 6"/>
          <p:cNvSpPr/>
          <p:nvPr/>
        </p:nvSpPr>
        <p:spPr>
          <a:xfrm>
            <a:off x="813816" y="4297680"/>
            <a:ext cx="5166360" cy="123444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13816" y="4297680"/>
            <a:ext cx="516636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42416" y="4443984"/>
            <a:ext cx="4709160" cy="384048"/>
          </a:xfrm>
          <a:prstGeom prst="rect">
            <a:avLst/>
          </a:prstGeom>
          <a:noFill/>
        </p:spPr>
        <p:txBody>
          <a:bodyPr wrap="square" lIns="0" rIns="0" tIns="0" bIns="0" anchor="t">
            <a:noAutofit/>
          </a:bodyPr>
          <a:lstStyle/>
          <a:p>
            <a:pPr algn="l">
              <a:lnSpc>
                <a:spcPct val="109000"/>
              </a:lnSpc>
              <a:spcBef>
                <a:spcPts val="0"/>
              </a:spcBef>
              <a:spcAft>
                <a:spcPts val="0"/>
              </a:spcAft>
            </a:pPr>
            <a:r>
              <a:rPr sz="2000" b="1">
                <a:solidFill>
                  <a:srgbClr val="00407A"/>
                </a:solidFill>
                <a:latin typeface="Arial"/>
              </a:rPr>
              <a:t>Area reference</a:t>
            </a:r>
          </a:p>
        </p:txBody>
      </p:sp>
      <p:sp>
        <p:nvSpPr>
          <p:cNvPr id="10" name="TextBox 9"/>
          <p:cNvSpPr txBox="1"/>
          <p:nvPr/>
        </p:nvSpPr>
        <p:spPr>
          <a:xfrm>
            <a:off x="1042416" y="4956048"/>
            <a:ext cx="4709160" cy="484632"/>
          </a:xfrm>
          <a:prstGeom prst="rect">
            <a:avLst/>
          </a:prstGeom>
          <a:noFill/>
        </p:spPr>
        <p:txBody>
          <a:bodyPr wrap="square" lIns="0" rIns="0" tIns="0" bIns="0" anchor="t">
            <a:noAutofit/>
          </a:bodyPr>
          <a:lstStyle/>
          <a:p>
            <a:pPr algn="l">
              <a:lnSpc>
                <a:spcPct val="109000"/>
              </a:lnSpc>
              <a:spcBef>
                <a:spcPts val="0"/>
              </a:spcBef>
              <a:spcAft>
                <a:spcPts val="0"/>
              </a:spcAft>
            </a:pPr>
            <a:r>
              <a:rPr sz="1700" b="0">
                <a:solidFill>
                  <a:srgbClr val="00407A"/>
                </a:solidFill>
                <a:latin typeface="Arial"/>
              </a:rPr>
              <a:t>1 gate equivalent = one two-input NAND gate</a:t>
            </a:r>
          </a:p>
          <a:p>
            <a:pPr algn="l">
              <a:lnSpc>
                <a:spcPct val="109000"/>
              </a:lnSpc>
              <a:spcBef>
                <a:spcPts val="0"/>
              </a:spcBef>
              <a:spcAft>
                <a:spcPts val="0"/>
              </a:spcAft>
            </a:pPr>
            <a:r>
              <a:rPr sz="1700" b="0">
                <a:solidFill>
                  <a:srgbClr val="00407A"/>
                </a:solidFill>
                <a:latin typeface="Arial"/>
              </a:rPr>
              <a:t>= 0.196608 square micrometres in this library.</a:t>
            </a:r>
          </a:p>
        </p:txBody>
      </p:sp>
      <p:sp>
        <p:nvSpPr>
          <p:cNvPr id="11" name="Rounded Rectangle 10"/>
          <p:cNvSpPr/>
          <p:nvPr/>
        </p:nvSpPr>
        <p:spPr>
          <a:xfrm>
            <a:off x="6208776" y="4297680"/>
            <a:ext cx="5166360" cy="123444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08776" y="4297680"/>
            <a:ext cx="516636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37376" y="4443984"/>
            <a:ext cx="4709160" cy="384048"/>
          </a:xfrm>
          <a:prstGeom prst="rect">
            <a:avLst/>
          </a:prstGeom>
          <a:noFill/>
        </p:spPr>
        <p:txBody>
          <a:bodyPr wrap="square" lIns="0" rIns="0" tIns="0" bIns="0" anchor="t">
            <a:noAutofit/>
          </a:bodyPr>
          <a:lstStyle/>
          <a:p>
            <a:pPr algn="l">
              <a:lnSpc>
                <a:spcPct val="109000"/>
              </a:lnSpc>
              <a:spcBef>
                <a:spcPts val="0"/>
              </a:spcBef>
              <a:spcAft>
                <a:spcPts val="0"/>
              </a:spcAft>
            </a:pPr>
            <a:r>
              <a:rPr sz="2000" b="1">
                <a:solidFill>
                  <a:srgbClr val="00407A"/>
                </a:solidFill>
                <a:latin typeface="Arial"/>
              </a:rPr>
              <a:t>Power reference</a:t>
            </a:r>
          </a:p>
        </p:txBody>
      </p:sp>
      <p:sp>
        <p:nvSpPr>
          <p:cNvPr id="14" name="TextBox 13"/>
          <p:cNvSpPr txBox="1"/>
          <p:nvPr/>
        </p:nvSpPr>
        <p:spPr>
          <a:xfrm>
            <a:off x="6437376" y="4956048"/>
            <a:ext cx="4709160" cy="484632"/>
          </a:xfrm>
          <a:prstGeom prst="rect">
            <a:avLst/>
          </a:prstGeom>
          <a:noFill/>
        </p:spPr>
        <p:txBody>
          <a:bodyPr wrap="square" lIns="0" rIns="0" tIns="0" bIns="0" anchor="t">
            <a:noAutofit/>
          </a:bodyPr>
          <a:lstStyle/>
          <a:p>
            <a:pPr algn="l">
              <a:lnSpc>
                <a:spcPct val="109000"/>
              </a:lnSpc>
              <a:spcBef>
                <a:spcPts val="0"/>
              </a:spcBef>
              <a:spcAft>
                <a:spcPts val="0"/>
              </a:spcAft>
            </a:pPr>
            <a:r>
              <a:rPr sz="1700" b="0">
                <a:solidFill>
                  <a:srgbClr val="00407A"/>
                </a:solidFill>
                <a:latin typeface="Arial"/>
              </a:rPr>
              <a:t>Dynamic + leakage, for the supplied stimulus.</a:t>
            </a:r>
          </a:p>
          <a:p>
            <a:pPr algn="l">
              <a:lnSpc>
                <a:spcPct val="109000"/>
              </a:lnSpc>
              <a:spcBef>
                <a:spcPts val="0"/>
              </a:spcBef>
              <a:spcAft>
                <a:spcPts val="0"/>
              </a:spcAft>
            </a:pPr>
            <a:r>
              <a:rPr sz="1700" b="0">
                <a:solidFill>
                  <a:srgbClr val="00407A"/>
                </a:solidFill>
                <a:latin typeface="Arial"/>
              </a:rPr>
              <a:t>1,000 microwatts = 1 milliwatt.</a:t>
            </a:r>
          </a:p>
        </p:txBody>
      </p:sp>
      <p:sp>
        <p:nvSpPr>
          <p:cNvPr id="15" name="Rounded Rectangle 14"/>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Exact level is strict; “within one level” can span a large physical range because these bins are logarithmic.</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Timing: margin at 500 MHz, plus a derived frequency</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The clock target is 500 MHz: one cycle lasts 2 nanoseconds (ns).</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TESTS</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21</a:t>
            </a:r>
          </a:p>
        </p:txBody>
      </p:sp>
      <p:graphicFrame>
        <p:nvGraphicFramePr>
          <p:cNvPr id="6" name="Table 5"/>
          <p:cNvGraphicFramePr>
            <a:graphicFrameLocks noGrp="1"/>
          </p:cNvGraphicFramePr>
          <p:nvPr/>
        </p:nvGraphicFramePr>
        <p:xfrm>
          <a:off x="813816" y="1874519"/>
          <a:ext cx="10561320" cy="2057400"/>
        </p:xfrm>
        <a:graphic>
          <a:graphicData uri="http://schemas.openxmlformats.org/drawingml/2006/table">
            <a:tbl>
              <a:tblPr firstRow="1" bandRow="1">
                <a:tableStyleId>{5C22544A-7EE6-4342-B048-85BDC9FD1C3A}</a:tableStyleId>
              </a:tblPr>
              <a:tblGrid>
                <a:gridCol w="2148840"/>
                <a:gridCol w="1682496"/>
                <a:gridCol w="1682496"/>
                <a:gridCol w="1682496"/>
                <a:gridCol w="1682496"/>
                <a:gridCol w="1682496"/>
              </a:tblGrid>
              <a:tr h="566928">
                <a:tc>
                  <a:txBody>
                    <a:bodyPr/>
                    <a:lstStyle/>
                    <a:p>
                      <a:pPr algn="l">
                        <a:lnSpc>
                          <a:spcPct val="103000"/>
                        </a:lnSpc>
                        <a:spcBef>
                          <a:spcPts val="0"/>
                        </a:spcBef>
                        <a:spcAft>
                          <a:spcPts val="0"/>
                        </a:spcAft>
                      </a:pPr>
                      <a:r>
                        <a:rPr sz="1600" b="1">
                          <a:solidFill>
                            <a:srgbClr val="FFFFFF"/>
                          </a:solidFill>
                          <a:latin typeface="Arial"/>
                        </a:rPr>
                        <a:t>Metric</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Level 1</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Level 2</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Level 3</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Level 4</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Level 5</a:t>
                      </a:r>
                    </a:p>
                  </a:txBody>
                  <a:tcPr marL="109728" marR="91440" marT="54864" marB="36576" anchor="ctr">
                    <a:solidFill>
                      <a:srgbClr val="00407A"/>
                    </a:solidFill>
                    <a:lnL>
                      <a:noFill/>
                    </a:lnL>
                    <a:lnR>
                      <a:noFill/>
                    </a:lnR>
                    <a:lnT>
                      <a:noFill/>
                    </a:lnT>
                    <a:lnB>
                      <a:noFill/>
                    </a:lnB>
                  </a:tcPr>
                </a:tc>
              </a:tr>
              <a:tr h="745236">
                <a:tc>
                  <a:txBody>
                    <a:bodyPr/>
                    <a:lstStyle/>
                    <a:p>
                      <a:pPr algn="l">
                        <a:lnSpc>
                          <a:spcPct val="103000"/>
                        </a:lnSpc>
                        <a:spcBef>
                          <a:spcPts val="0"/>
                        </a:spcBef>
                        <a:spcAft>
                          <a:spcPts val="0"/>
                        </a:spcAft>
                      </a:pPr>
                      <a:r>
                        <a:rPr sz="1800" b="0">
                          <a:solidFill>
                            <a:srgbClr val="00407A"/>
                          </a:solidFill>
                          <a:latin typeface="Arial"/>
                        </a:rPr>
                        <a:t>Worst slack</a:t>
                      </a:r>
                    </a:p>
                    <a:p>
                      <a:pPr algn="l">
                        <a:lnSpc>
                          <a:spcPct val="103000"/>
                        </a:lnSpc>
                        <a:spcBef>
                          <a:spcPts val="0"/>
                        </a:spcBef>
                        <a:spcAft>
                          <a:spcPts val="0"/>
                        </a:spcAft>
                      </a:pPr>
                      <a:r>
                        <a:rPr sz="1800" b="0">
                          <a:solidFill>
                            <a:srgbClr val="00407A"/>
                          </a:solidFill>
                          <a:latin typeface="Arial"/>
                        </a:rPr>
                        <a:t>(timing margin)</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800" b="0">
                          <a:solidFill>
                            <a:srgbClr val="00407A"/>
                          </a:solidFill>
                          <a:latin typeface="Arial"/>
                        </a:rPr>
                        <a:t>Negative:</a:t>
                      </a:r>
                    </a:p>
                    <a:p>
                      <a:pPr algn="ctr">
                        <a:lnSpc>
                          <a:spcPct val="103000"/>
                        </a:lnSpc>
                        <a:spcBef>
                          <a:spcPts val="0"/>
                        </a:spcBef>
                        <a:spcAft>
                          <a:spcPts val="0"/>
                        </a:spcAft>
                      </a:pPr>
                      <a:r>
                        <a:rPr sz="1800" b="0">
                          <a:solidFill>
                            <a:srgbClr val="00407A"/>
                          </a:solidFill>
                          <a:latin typeface="Arial"/>
                        </a:rPr>
                        <a:t>misses target</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800" b="0">
                          <a:solidFill>
                            <a:srgbClr val="00407A"/>
                          </a:solidFill>
                          <a:latin typeface="Arial"/>
                        </a:rPr>
                        <a:t>0 to</a:t>
                      </a:r>
                    </a:p>
                    <a:p>
                      <a:pPr algn="ctr">
                        <a:lnSpc>
                          <a:spcPct val="103000"/>
                        </a:lnSpc>
                        <a:spcBef>
                          <a:spcPts val="0"/>
                        </a:spcBef>
                        <a:spcAft>
                          <a:spcPts val="0"/>
                        </a:spcAft>
                      </a:pPr>
                      <a:r>
                        <a:rPr sz="1800" b="0">
                          <a:solidFill>
                            <a:srgbClr val="00407A"/>
                          </a:solidFill>
                          <a:latin typeface="Arial"/>
                        </a:rPr>
                        <a:t>&lt;0.5 ns</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800" b="0">
                          <a:solidFill>
                            <a:srgbClr val="00407A"/>
                          </a:solidFill>
                          <a:latin typeface="Arial"/>
                        </a:rPr>
                        <a:t>0.5 to</a:t>
                      </a:r>
                    </a:p>
                    <a:p>
                      <a:pPr algn="ctr">
                        <a:lnSpc>
                          <a:spcPct val="103000"/>
                        </a:lnSpc>
                        <a:spcBef>
                          <a:spcPts val="0"/>
                        </a:spcBef>
                        <a:spcAft>
                          <a:spcPts val="0"/>
                        </a:spcAft>
                      </a:pPr>
                      <a:r>
                        <a:rPr sz="1800" b="0">
                          <a:solidFill>
                            <a:srgbClr val="00407A"/>
                          </a:solidFill>
                          <a:latin typeface="Arial"/>
                        </a:rPr>
                        <a:t>&lt;1.0 ns</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800" b="0">
                          <a:solidFill>
                            <a:srgbClr val="00407A"/>
                          </a:solidFill>
                          <a:latin typeface="Arial"/>
                        </a:rPr>
                        <a:t>1.0 to</a:t>
                      </a:r>
                    </a:p>
                    <a:p>
                      <a:pPr algn="ctr">
                        <a:lnSpc>
                          <a:spcPct val="103000"/>
                        </a:lnSpc>
                        <a:spcBef>
                          <a:spcPts val="0"/>
                        </a:spcBef>
                        <a:spcAft>
                          <a:spcPts val="0"/>
                        </a:spcAft>
                      </a:pPr>
                      <a:r>
                        <a:rPr sz="1800" b="0">
                          <a:solidFill>
                            <a:srgbClr val="00407A"/>
                          </a:solidFill>
                          <a:latin typeface="Arial"/>
                        </a:rPr>
                        <a:t>&lt;1.5 ns</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800" b="0">
                          <a:solidFill>
                            <a:srgbClr val="00407A"/>
                          </a:solidFill>
                          <a:latin typeface="Arial"/>
                        </a:rPr>
                        <a:t>≥1.5 ns</a:t>
                      </a:r>
                    </a:p>
                  </a:txBody>
                  <a:tcPr marL="109728" marR="91440" marT="54864" marB="36576" anchor="ctr">
                    <a:solidFill>
                      <a:srgbClr val="E3EFF5"/>
                    </a:solidFill>
                    <a:lnL>
                      <a:noFill/>
                    </a:lnL>
                    <a:lnR>
                      <a:noFill/>
                    </a:lnR>
                    <a:lnT>
                      <a:noFill/>
                    </a:lnT>
                    <a:lnB>
                      <a:noFill/>
                    </a:lnB>
                  </a:tcPr>
                </a:tc>
              </a:tr>
              <a:tr h="745236">
                <a:tc>
                  <a:txBody>
                    <a:bodyPr/>
                    <a:lstStyle/>
                    <a:p>
                      <a:pPr algn="l">
                        <a:lnSpc>
                          <a:spcPct val="103000"/>
                        </a:lnSpc>
                        <a:spcBef>
                          <a:spcPts val="0"/>
                        </a:spcBef>
                        <a:spcAft>
                          <a:spcPts val="0"/>
                        </a:spcAft>
                      </a:pPr>
                      <a:r>
                        <a:rPr sz="1800" b="0">
                          <a:solidFill>
                            <a:srgbClr val="00407A"/>
                          </a:solidFill>
                          <a:latin typeface="Arial"/>
                        </a:rPr>
                        <a:t>Reachable clock</a:t>
                      </a:r>
                    </a:p>
                    <a:p>
                      <a:pPr algn="l">
                        <a:lnSpc>
                          <a:spcPct val="103000"/>
                        </a:lnSpc>
                        <a:spcBef>
                          <a:spcPts val="0"/>
                        </a:spcBef>
                        <a:spcAft>
                          <a:spcPts val="0"/>
                        </a:spcAft>
                      </a:pPr>
                      <a:r>
                        <a:rPr sz="1800" b="0">
                          <a:solidFill>
                            <a:srgbClr val="00407A"/>
                          </a:solidFill>
                          <a:latin typeface="Arial"/>
                        </a:rPr>
                        <a:t>frequency</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800" b="0">
                          <a:solidFill>
                            <a:srgbClr val="00407A"/>
                          </a:solidFill>
                          <a:latin typeface="Arial"/>
                        </a:rPr>
                        <a:t>&lt;1 GHz</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800" b="0">
                          <a:solidFill>
                            <a:srgbClr val="00407A"/>
                          </a:solidFill>
                          <a:latin typeface="Arial"/>
                        </a:rPr>
                        <a:t>1 to</a:t>
                      </a:r>
                    </a:p>
                    <a:p>
                      <a:pPr algn="ctr">
                        <a:lnSpc>
                          <a:spcPct val="103000"/>
                        </a:lnSpc>
                        <a:spcBef>
                          <a:spcPts val="0"/>
                        </a:spcBef>
                        <a:spcAft>
                          <a:spcPts val="0"/>
                        </a:spcAft>
                      </a:pPr>
                      <a:r>
                        <a:rPr sz="1800" b="0">
                          <a:solidFill>
                            <a:srgbClr val="00407A"/>
                          </a:solidFill>
                          <a:latin typeface="Arial"/>
                        </a:rPr>
                        <a:t>&lt;2 GHz</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800" b="0">
                          <a:solidFill>
                            <a:srgbClr val="00407A"/>
                          </a:solidFill>
                          <a:latin typeface="Arial"/>
                        </a:rPr>
                        <a:t>2 to</a:t>
                      </a:r>
                    </a:p>
                    <a:p>
                      <a:pPr algn="ctr">
                        <a:lnSpc>
                          <a:spcPct val="103000"/>
                        </a:lnSpc>
                        <a:spcBef>
                          <a:spcPts val="0"/>
                        </a:spcBef>
                        <a:spcAft>
                          <a:spcPts val="0"/>
                        </a:spcAft>
                      </a:pPr>
                      <a:r>
                        <a:rPr sz="1800" b="0">
                          <a:solidFill>
                            <a:srgbClr val="00407A"/>
                          </a:solidFill>
                          <a:latin typeface="Arial"/>
                        </a:rPr>
                        <a:t>&lt;3 GHz</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800" b="0">
                          <a:solidFill>
                            <a:srgbClr val="00407A"/>
                          </a:solidFill>
                          <a:latin typeface="Arial"/>
                        </a:rPr>
                        <a:t>3 to</a:t>
                      </a:r>
                    </a:p>
                    <a:p>
                      <a:pPr algn="ctr">
                        <a:lnSpc>
                          <a:spcPct val="103000"/>
                        </a:lnSpc>
                        <a:spcBef>
                          <a:spcPts val="0"/>
                        </a:spcBef>
                        <a:spcAft>
                          <a:spcPts val="0"/>
                        </a:spcAft>
                      </a:pPr>
                      <a:r>
                        <a:rPr sz="1800" b="0">
                          <a:solidFill>
                            <a:srgbClr val="00407A"/>
                          </a:solidFill>
                          <a:latin typeface="Arial"/>
                        </a:rPr>
                        <a:t>&lt;4 GHz</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800" b="0">
                          <a:solidFill>
                            <a:srgbClr val="00407A"/>
                          </a:solidFill>
                          <a:latin typeface="Arial"/>
                        </a:rPr>
                        <a:t>≥4 GHz</a:t>
                      </a:r>
                    </a:p>
                  </a:txBody>
                  <a:tcPr marL="109728" marR="91440" marT="54864" marB="36576" anchor="ctr">
                    <a:solidFill>
                      <a:srgbClr val="FFFFFF"/>
                    </a:solidFill>
                    <a:lnL>
                      <a:noFill/>
                    </a:lnL>
                    <a:lnR>
                      <a:noFill/>
                    </a:lnR>
                    <a:lnT>
                      <a:noFill/>
                    </a:lnT>
                    <a:lnB>
                      <a:noFill/>
                    </a:lnB>
                  </a:tcPr>
                </a:tc>
              </a:tr>
            </a:tbl>
          </a:graphicData>
        </a:graphic>
      </p:graphicFrame>
      <p:sp>
        <p:nvSpPr>
          <p:cNvPr id="7" name="TextBox 6"/>
          <p:cNvSpPr txBox="1"/>
          <p:nvPr/>
        </p:nvSpPr>
        <p:spPr>
          <a:xfrm>
            <a:off x="960120" y="4261104"/>
            <a:ext cx="10149840" cy="502920"/>
          </a:xfrm>
          <a:prstGeom prst="rect">
            <a:avLst/>
          </a:prstGeom>
          <a:noFill/>
        </p:spPr>
        <p:txBody>
          <a:bodyPr wrap="square" lIns="0" rIns="0" tIns="0" bIns="0" anchor="t">
            <a:noAutofit/>
          </a:bodyPr>
          <a:lstStyle/>
          <a:p>
            <a:pPr algn="l">
              <a:lnSpc>
                <a:spcPct val="109000"/>
              </a:lnSpc>
              <a:spcBef>
                <a:spcPts val="0"/>
              </a:spcBef>
              <a:spcAft>
                <a:spcPts val="0"/>
              </a:spcAft>
            </a:pPr>
            <a:r>
              <a:rPr sz="2500" b="1">
                <a:solidFill>
                  <a:srgbClr val="00407A"/>
                </a:solidFill>
                <a:latin typeface="Arial"/>
              </a:rPr>
              <a:t>Reachable frequency (GHz) = 1 ÷ [2 ns − worst slack (ns)]</a:t>
            </a:r>
          </a:p>
        </p:txBody>
      </p:sp>
      <p:sp>
        <p:nvSpPr>
          <p:cNvPr id="8" name="TextBox 7"/>
          <p:cNvSpPr txBox="1"/>
          <p:nvPr/>
        </p:nvSpPr>
        <p:spPr>
          <a:xfrm>
            <a:off x="960120" y="4919472"/>
            <a:ext cx="10149840" cy="685800"/>
          </a:xfrm>
          <a:prstGeom prst="rect">
            <a:avLst/>
          </a:prstGeom>
          <a:noFill/>
        </p:spPr>
        <p:txBody>
          <a:bodyPr wrap="square" lIns="0" rIns="0" tIns="0" bIns="0" anchor="t">
            <a:noAutofit/>
          </a:bodyPr>
          <a:lstStyle/>
          <a:p>
            <a:pPr algn="l">
              <a:lnSpc>
                <a:spcPct val="109000"/>
              </a:lnSpc>
              <a:spcBef>
                <a:spcPts val="0"/>
              </a:spcBef>
              <a:spcAft>
                <a:spcPts val="0"/>
              </a:spcAft>
            </a:pPr>
            <a:r>
              <a:rPr sz="1800" b="0">
                <a:solidFill>
                  <a:srgbClr val="00407A"/>
                </a:solidFill>
                <a:latin typeface="Arial"/>
              </a:rPr>
              <a:t>Example: 1.438 ns of slack gives a 0.562 ns limiting delay, or about 1.78 GHz.</a:t>
            </a:r>
          </a:p>
          <a:p>
            <a:pPr algn="l">
              <a:lnSpc>
                <a:spcPct val="109000"/>
              </a:lnSpc>
              <a:spcBef>
                <a:spcPts val="0"/>
              </a:spcBef>
              <a:spcAft>
                <a:spcPts val="0"/>
              </a:spcAft>
            </a:pPr>
            <a:r>
              <a:rPr sz="1800" b="0">
                <a:solidFill>
                  <a:srgbClr val="00407A"/>
                </a:solidFill>
                <a:latin typeface="Arial"/>
              </a:rPr>
              <a:t>This is derived from the netlist synthesized at 500 MHz; it is not a new optimized run.</a:t>
            </a:r>
          </a:p>
        </p:txBody>
      </p:sp>
      <p:sp>
        <p:nvSpPr>
          <p:cNvPr id="9" name="Rounded Rectangle 8"/>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No negative-slack designs occur in this test split. Timing-violation detection is therefore not evaluated.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265176"/>
            <a:ext cx="10561320" cy="237744"/>
          </a:xfrm>
          <a:prstGeom prst="rect">
            <a:avLst/>
          </a:prstGeom>
          <a:noFill/>
        </p:spPr>
        <p:txBody>
          <a:bodyPr wrap="square" lIns="0" rIns="0" tIns="0" bIns="0" anchor="t">
            <a:noAutofit/>
          </a:bodyPr>
          <a:lstStyle/>
          <a:p>
            <a:pPr algn="l">
              <a:lnSpc>
                <a:spcPct val="109000"/>
              </a:lnSpc>
              <a:spcBef>
                <a:spcPts val="0"/>
              </a:spcBef>
              <a:spcAft>
                <a:spcPts val="0"/>
              </a:spcAft>
            </a:pPr>
            <a:r>
              <a:rPr sz="1250" b="1">
                <a:solidFill>
                  <a:srgbClr val="4A5A66"/>
                </a:solidFill>
                <a:latin typeface="Arial"/>
              </a:rPr>
              <a:t>EXPERIMENT 1  •  NO EXAMPLES</a:t>
            </a:r>
          </a:p>
        </p:txBody>
      </p:sp>
      <p:sp>
        <p:nvSpPr>
          <p:cNvPr id="3" name="TextBox 2"/>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Area levels improve substantially with 9B and 27B</a:t>
            </a:r>
          </a:p>
        </p:txBody>
      </p:sp>
      <p:sp>
        <p:nvSpPr>
          <p:cNvPr id="4" name="TextBox 3"/>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92 held-out designs • same flow and target • exact and within-one scores shown separately.</a:t>
            </a:r>
          </a:p>
        </p:txBody>
      </p:sp>
      <p:sp>
        <p:nvSpPr>
          <p:cNvPr id="5" name="TextBox 4"/>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RESULTS</a:t>
            </a:r>
          </a:p>
        </p:txBody>
      </p:sp>
      <p:sp>
        <p:nvSpPr>
          <p:cNvPr id="6" name="TextBox 5"/>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22</a:t>
            </a:r>
          </a:p>
        </p:txBody>
      </p:sp>
      <p:sp>
        <p:nvSpPr>
          <p:cNvPr id="7" name="Rounded Rectangle 6"/>
          <p:cNvSpPr/>
          <p:nvPr/>
        </p:nvSpPr>
        <p:spPr>
          <a:xfrm>
            <a:off x="813816" y="1819656"/>
            <a:ext cx="5166360" cy="3730752"/>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14984" y="1984248"/>
            <a:ext cx="4764024" cy="502920"/>
          </a:xfrm>
          <a:prstGeom prst="rect">
            <a:avLst/>
          </a:prstGeom>
          <a:noFill/>
        </p:spPr>
        <p:txBody>
          <a:bodyPr wrap="square" lIns="0" rIns="0" tIns="0" bIns="0" anchor="t">
            <a:noAutofit/>
          </a:bodyPr>
          <a:lstStyle/>
          <a:p>
            <a:pPr algn="l">
              <a:lnSpc>
                <a:spcPct val="109000"/>
              </a:lnSpc>
              <a:spcBef>
                <a:spcPts val="0"/>
              </a:spcBef>
              <a:spcAft>
                <a:spcPts val="0"/>
              </a:spcAft>
            </a:pPr>
            <a:r>
              <a:rPr sz="1800" b="1">
                <a:solidFill>
                  <a:srgbClr val="00407A"/>
                </a:solidFill>
                <a:latin typeface="Arial"/>
              </a:rPr>
              <a:t>Exact area level</a:t>
            </a:r>
          </a:p>
        </p:txBody>
      </p:sp>
      <p:sp>
        <p:nvSpPr>
          <p:cNvPr id="9" name="TextBox 8"/>
          <p:cNvSpPr txBox="1"/>
          <p:nvPr/>
        </p:nvSpPr>
        <p:spPr>
          <a:xfrm>
            <a:off x="1014984" y="2432304"/>
            <a:ext cx="4764024" cy="347472"/>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4A5A66"/>
                </a:solidFill>
                <a:latin typeface="Arial"/>
              </a:rPr>
              <a:t>All five true area levels occur</a:t>
            </a:r>
          </a:p>
        </p:txBody>
      </p:sp>
      <p:cxnSp>
        <p:nvCxnSpPr>
          <p:cNvPr id="10" name="Connector 9"/>
          <p:cNvCxnSpPr/>
          <p:nvPr/>
        </p:nvCxnSpPr>
        <p:spPr>
          <a:xfrm>
            <a:off x="166420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146304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a:t>
            </a:r>
          </a:p>
        </p:txBody>
      </p:sp>
      <p:cxnSp>
        <p:nvCxnSpPr>
          <p:cNvPr id="12" name="Connector 11"/>
          <p:cNvCxnSpPr/>
          <p:nvPr/>
        </p:nvCxnSpPr>
        <p:spPr>
          <a:xfrm>
            <a:off x="317296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2971799"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50</a:t>
            </a:r>
          </a:p>
        </p:txBody>
      </p:sp>
      <p:cxnSp>
        <p:nvCxnSpPr>
          <p:cNvPr id="14" name="Connector 13"/>
          <p:cNvCxnSpPr/>
          <p:nvPr/>
        </p:nvCxnSpPr>
        <p:spPr>
          <a:xfrm>
            <a:off x="468172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448056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100</a:t>
            </a:r>
          </a:p>
        </p:txBody>
      </p:sp>
      <p:cxnSp>
        <p:nvCxnSpPr>
          <p:cNvPr id="16" name="Connector 15"/>
          <p:cNvCxnSpPr/>
          <p:nvPr/>
        </p:nvCxnSpPr>
        <p:spPr>
          <a:xfrm>
            <a:off x="2746579" y="2825496"/>
            <a:ext cx="0" cy="1856232"/>
          </a:xfrm>
          <a:prstGeom prst="line">
            <a:avLst/>
          </a:prstGeom>
          <a:ln w="15240">
            <a:solidFill>
              <a:srgbClr val="4A5A66"/>
            </a:solidFill>
            <a:prstDash val="dash"/>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996696" y="292150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0.8B</a:t>
            </a:r>
          </a:p>
        </p:txBody>
      </p:sp>
      <p:sp>
        <p:nvSpPr>
          <p:cNvPr id="18" name="Rectangle 17"/>
          <p:cNvSpPr/>
          <p:nvPr/>
        </p:nvSpPr>
        <p:spPr>
          <a:xfrm>
            <a:off x="1664208" y="2953512"/>
            <a:ext cx="1082371" cy="237744"/>
          </a:xfrm>
          <a:prstGeom prst="rect">
            <a:avLst/>
          </a:prstGeom>
          <a:solidFill>
            <a:srgbClr val="4A5A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800600" y="286664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35.9%</a:t>
            </a:r>
          </a:p>
          <a:p>
            <a:pPr algn="l">
              <a:lnSpc>
                <a:spcPct val="109000"/>
              </a:lnSpc>
              <a:spcBef>
                <a:spcPts val="0"/>
              </a:spcBef>
              <a:spcAft>
                <a:spcPts val="0"/>
              </a:spcAft>
            </a:pPr>
            <a:r>
              <a:rPr sz="1250" b="0">
                <a:solidFill>
                  <a:srgbClr val="00407A"/>
                </a:solidFill>
                <a:latin typeface="Arial"/>
              </a:rPr>
              <a:t>33 of 92</a:t>
            </a:r>
          </a:p>
        </p:txBody>
      </p:sp>
      <p:sp>
        <p:nvSpPr>
          <p:cNvPr id="20" name="TextBox 19"/>
          <p:cNvSpPr txBox="1"/>
          <p:nvPr/>
        </p:nvSpPr>
        <p:spPr>
          <a:xfrm>
            <a:off x="996696" y="3424427"/>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4B</a:t>
            </a:r>
          </a:p>
        </p:txBody>
      </p:sp>
      <p:sp>
        <p:nvSpPr>
          <p:cNvPr id="21" name="Rectangle 20"/>
          <p:cNvSpPr/>
          <p:nvPr/>
        </p:nvSpPr>
        <p:spPr>
          <a:xfrm>
            <a:off x="1664208" y="3456432"/>
            <a:ext cx="1082371" cy="237744"/>
          </a:xfrm>
          <a:prstGeom prst="rect">
            <a:avLst/>
          </a:prstGeom>
          <a:solidFill>
            <a:srgbClr val="0B5A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800600" y="336956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35.9%</a:t>
            </a:r>
          </a:p>
          <a:p>
            <a:pPr algn="l">
              <a:lnSpc>
                <a:spcPct val="109000"/>
              </a:lnSpc>
              <a:spcBef>
                <a:spcPts val="0"/>
              </a:spcBef>
              <a:spcAft>
                <a:spcPts val="0"/>
              </a:spcAft>
            </a:pPr>
            <a:r>
              <a:rPr sz="1250" b="0">
                <a:solidFill>
                  <a:srgbClr val="00407A"/>
                </a:solidFill>
                <a:latin typeface="Arial"/>
              </a:rPr>
              <a:t>33 of 92</a:t>
            </a:r>
          </a:p>
        </p:txBody>
      </p:sp>
      <p:sp>
        <p:nvSpPr>
          <p:cNvPr id="23" name="TextBox 22"/>
          <p:cNvSpPr txBox="1"/>
          <p:nvPr/>
        </p:nvSpPr>
        <p:spPr>
          <a:xfrm>
            <a:off x="996696" y="392734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9B</a:t>
            </a:r>
          </a:p>
        </p:txBody>
      </p:sp>
      <p:sp>
        <p:nvSpPr>
          <p:cNvPr id="24" name="Rectangle 23"/>
          <p:cNvSpPr/>
          <p:nvPr/>
        </p:nvSpPr>
        <p:spPr>
          <a:xfrm>
            <a:off x="1664208" y="3959351"/>
            <a:ext cx="1738353" cy="237744"/>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800600" y="387248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57.6%</a:t>
            </a:r>
          </a:p>
          <a:p>
            <a:pPr algn="l">
              <a:lnSpc>
                <a:spcPct val="109000"/>
              </a:lnSpc>
              <a:spcBef>
                <a:spcPts val="0"/>
              </a:spcBef>
              <a:spcAft>
                <a:spcPts val="0"/>
              </a:spcAft>
            </a:pPr>
            <a:r>
              <a:rPr sz="1250" b="0">
                <a:solidFill>
                  <a:srgbClr val="00407A"/>
                </a:solidFill>
                <a:latin typeface="Arial"/>
              </a:rPr>
              <a:t>53 of 92</a:t>
            </a:r>
          </a:p>
        </p:txBody>
      </p:sp>
      <p:sp>
        <p:nvSpPr>
          <p:cNvPr id="26" name="TextBox 25"/>
          <p:cNvSpPr txBox="1"/>
          <p:nvPr/>
        </p:nvSpPr>
        <p:spPr>
          <a:xfrm>
            <a:off x="996696" y="443026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27B</a:t>
            </a:r>
          </a:p>
        </p:txBody>
      </p:sp>
      <p:sp>
        <p:nvSpPr>
          <p:cNvPr id="27" name="Rectangle 26"/>
          <p:cNvSpPr/>
          <p:nvPr/>
        </p:nvSpPr>
        <p:spPr>
          <a:xfrm>
            <a:off x="1664208" y="4462272"/>
            <a:ext cx="2000746" cy="237744"/>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00600" y="437540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66.3%</a:t>
            </a:r>
          </a:p>
          <a:p>
            <a:pPr algn="l">
              <a:lnSpc>
                <a:spcPct val="109000"/>
              </a:lnSpc>
              <a:spcBef>
                <a:spcPts val="0"/>
              </a:spcBef>
              <a:spcAft>
                <a:spcPts val="0"/>
              </a:spcAft>
            </a:pPr>
            <a:r>
              <a:rPr sz="1250" b="0">
                <a:solidFill>
                  <a:srgbClr val="00407A"/>
                </a:solidFill>
                <a:latin typeface="Arial"/>
              </a:rPr>
              <a:t>61 of 92</a:t>
            </a:r>
          </a:p>
        </p:txBody>
      </p:sp>
      <p:sp>
        <p:nvSpPr>
          <p:cNvPr id="29" name="TextBox 28"/>
          <p:cNvSpPr txBox="1"/>
          <p:nvPr/>
        </p:nvSpPr>
        <p:spPr>
          <a:xfrm>
            <a:off x="996696" y="5029200"/>
            <a:ext cx="4800600" cy="219456"/>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4A5A66"/>
                </a:solidFill>
                <a:latin typeface="Arial"/>
              </a:rPr>
              <a:t>Correct answers (%) — higher is better</a:t>
            </a:r>
          </a:p>
        </p:txBody>
      </p:sp>
      <p:sp>
        <p:nvSpPr>
          <p:cNvPr id="30" name="TextBox 29"/>
          <p:cNvSpPr txBox="1"/>
          <p:nvPr/>
        </p:nvSpPr>
        <p:spPr>
          <a:xfrm>
            <a:off x="996696" y="5285232"/>
            <a:ext cx="4800600" cy="210312"/>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Dashed line: always level 1 = 35.9%</a:t>
            </a:r>
          </a:p>
        </p:txBody>
      </p:sp>
      <p:sp>
        <p:nvSpPr>
          <p:cNvPr id="31" name="Rounded Rectangle 30"/>
          <p:cNvSpPr/>
          <p:nvPr/>
        </p:nvSpPr>
        <p:spPr>
          <a:xfrm>
            <a:off x="6208776" y="1819656"/>
            <a:ext cx="5166360" cy="3730752"/>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09944" y="1984248"/>
            <a:ext cx="4764024" cy="502920"/>
          </a:xfrm>
          <a:prstGeom prst="rect">
            <a:avLst/>
          </a:prstGeom>
          <a:noFill/>
        </p:spPr>
        <p:txBody>
          <a:bodyPr wrap="square" lIns="0" rIns="0" tIns="0" bIns="0" anchor="t">
            <a:noAutofit/>
          </a:bodyPr>
          <a:lstStyle/>
          <a:p>
            <a:pPr algn="l">
              <a:lnSpc>
                <a:spcPct val="109000"/>
              </a:lnSpc>
              <a:spcBef>
                <a:spcPts val="0"/>
              </a:spcBef>
              <a:spcAft>
                <a:spcPts val="0"/>
              </a:spcAft>
            </a:pPr>
            <a:r>
              <a:rPr sz="1800" b="1">
                <a:solidFill>
                  <a:srgbClr val="00407A"/>
                </a:solidFill>
                <a:latin typeface="Arial"/>
              </a:rPr>
              <a:t>Within one area level</a:t>
            </a:r>
          </a:p>
        </p:txBody>
      </p:sp>
      <p:sp>
        <p:nvSpPr>
          <p:cNvPr id="33" name="TextBox 32"/>
          <p:cNvSpPr txBox="1"/>
          <p:nvPr/>
        </p:nvSpPr>
        <p:spPr>
          <a:xfrm>
            <a:off x="6409944" y="2432304"/>
            <a:ext cx="4764024" cy="347472"/>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4A5A66"/>
                </a:solidFill>
                <a:latin typeface="Arial"/>
              </a:rPr>
              <a:t>Chosen level differs by at most one</a:t>
            </a:r>
          </a:p>
        </p:txBody>
      </p:sp>
      <p:cxnSp>
        <p:nvCxnSpPr>
          <p:cNvPr id="34" name="Connector 33"/>
          <p:cNvCxnSpPr/>
          <p:nvPr/>
        </p:nvCxnSpPr>
        <p:spPr>
          <a:xfrm>
            <a:off x="705916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685800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a:t>
            </a:r>
          </a:p>
        </p:txBody>
      </p:sp>
      <p:cxnSp>
        <p:nvCxnSpPr>
          <p:cNvPr id="36" name="Connector 35"/>
          <p:cNvCxnSpPr/>
          <p:nvPr/>
        </p:nvCxnSpPr>
        <p:spPr>
          <a:xfrm>
            <a:off x="856792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8366759"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50</a:t>
            </a:r>
          </a:p>
        </p:txBody>
      </p:sp>
      <p:cxnSp>
        <p:nvCxnSpPr>
          <p:cNvPr id="38" name="Connector 37"/>
          <p:cNvCxnSpPr/>
          <p:nvPr/>
        </p:nvCxnSpPr>
        <p:spPr>
          <a:xfrm>
            <a:off x="1007668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9875519"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100</a:t>
            </a:r>
          </a:p>
        </p:txBody>
      </p:sp>
      <p:sp>
        <p:nvSpPr>
          <p:cNvPr id="40" name="TextBox 39"/>
          <p:cNvSpPr txBox="1"/>
          <p:nvPr/>
        </p:nvSpPr>
        <p:spPr>
          <a:xfrm>
            <a:off x="6391656" y="292150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0.8B</a:t>
            </a:r>
          </a:p>
        </p:txBody>
      </p:sp>
      <p:sp>
        <p:nvSpPr>
          <p:cNvPr id="41" name="Rectangle 40"/>
          <p:cNvSpPr/>
          <p:nvPr/>
        </p:nvSpPr>
        <p:spPr>
          <a:xfrm>
            <a:off x="7059168" y="2953512"/>
            <a:ext cx="2000746" cy="237744"/>
          </a:xfrm>
          <a:prstGeom prst="rect">
            <a:avLst/>
          </a:prstGeom>
          <a:solidFill>
            <a:srgbClr val="4A5A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195560" y="286664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66.3%</a:t>
            </a:r>
          </a:p>
          <a:p>
            <a:pPr algn="l">
              <a:lnSpc>
                <a:spcPct val="109000"/>
              </a:lnSpc>
              <a:spcBef>
                <a:spcPts val="0"/>
              </a:spcBef>
              <a:spcAft>
                <a:spcPts val="0"/>
              </a:spcAft>
            </a:pPr>
            <a:r>
              <a:rPr sz="1250" b="0">
                <a:solidFill>
                  <a:srgbClr val="00407A"/>
                </a:solidFill>
                <a:latin typeface="Arial"/>
              </a:rPr>
              <a:t>61 of 92</a:t>
            </a:r>
          </a:p>
        </p:txBody>
      </p:sp>
      <p:sp>
        <p:nvSpPr>
          <p:cNvPr id="43" name="TextBox 42"/>
          <p:cNvSpPr txBox="1"/>
          <p:nvPr/>
        </p:nvSpPr>
        <p:spPr>
          <a:xfrm>
            <a:off x="6391656" y="3424427"/>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4B</a:t>
            </a:r>
          </a:p>
        </p:txBody>
      </p:sp>
      <p:sp>
        <p:nvSpPr>
          <p:cNvPr id="44" name="Rectangle 43"/>
          <p:cNvSpPr/>
          <p:nvPr/>
        </p:nvSpPr>
        <p:spPr>
          <a:xfrm>
            <a:off x="7059168" y="3456432"/>
            <a:ext cx="2131943" cy="237744"/>
          </a:xfrm>
          <a:prstGeom prst="rect">
            <a:avLst/>
          </a:prstGeom>
          <a:solidFill>
            <a:srgbClr val="0B5A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195560" y="336956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70.7%</a:t>
            </a:r>
          </a:p>
          <a:p>
            <a:pPr algn="l">
              <a:lnSpc>
                <a:spcPct val="109000"/>
              </a:lnSpc>
              <a:spcBef>
                <a:spcPts val="0"/>
              </a:spcBef>
              <a:spcAft>
                <a:spcPts val="0"/>
              </a:spcAft>
            </a:pPr>
            <a:r>
              <a:rPr sz="1250" b="0">
                <a:solidFill>
                  <a:srgbClr val="00407A"/>
                </a:solidFill>
                <a:latin typeface="Arial"/>
              </a:rPr>
              <a:t>65 of 92</a:t>
            </a:r>
          </a:p>
        </p:txBody>
      </p:sp>
      <p:sp>
        <p:nvSpPr>
          <p:cNvPr id="46" name="TextBox 45"/>
          <p:cNvSpPr txBox="1"/>
          <p:nvPr/>
        </p:nvSpPr>
        <p:spPr>
          <a:xfrm>
            <a:off x="6391656" y="392734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9B</a:t>
            </a:r>
          </a:p>
        </p:txBody>
      </p:sp>
      <p:sp>
        <p:nvSpPr>
          <p:cNvPr id="47" name="Rectangle 46"/>
          <p:cNvSpPr/>
          <p:nvPr/>
        </p:nvSpPr>
        <p:spPr>
          <a:xfrm>
            <a:off x="7059168" y="3959351"/>
            <a:ext cx="2722327" cy="237744"/>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0195560" y="387248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90.2%</a:t>
            </a:r>
          </a:p>
          <a:p>
            <a:pPr algn="l">
              <a:lnSpc>
                <a:spcPct val="109000"/>
              </a:lnSpc>
              <a:spcBef>
                <a:spcPts val="0"/>
              </a:spcBef>
              <a:spcAft>
                <a:spcPts val="0"/>
              </a:spcAft>
            </a:pPr>
            <a:r>
              <a:rPr sz="1250" b="0">
                <a:solidFill>
                  <a:srgbClr val="00407A"/>
                </a:solidFill>
                <a:latin typeface="Arial"/>
              </a:rPr>
              <a:t>83 of 92</a:t>
            </a:r>
          </a:p>
        </p:txBody>
      </p:sp>
      <p:sp>
        <p:nvSpPr>
          <p:cNvPr id="49" name="TextBox 48"/>
          <p:cNvSpPr txBox="1"/>
          <p:nvPr/>
        </p:nvSpPr>
        <p:spPr>
          <a:xfrm>
            <a:off x="6391656" y="443026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27B</a:t>
            </a:r>
          </a:p>
        </p:txBody>
      </p:sp>
      <p:sp>
        <p:nvSpPr>
          <p:cNvPr id="50" name="Rectangle 49"/>
          <p:cNvSpPr/>
          <p:nvPr/>
        </p:nvSpPr>
        <p:spPr>
          <a:xfrm>
            <a:off x="7059168" y="4462272"/>
            <a:ext cx="3017520" cy="237744"/>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195560" y="437540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100.0%</a:t>
            </a:r>
          </a:p>
          <a:p>
            <a:pPr algn="l">
              <a:lnSpc>
                <a:spcPct val="109000"/>
              </a:lnSpc>
              <a:spcBef>
                <a:spcPts val="0"/>
              </a:spcBef>
              <a:spcAft>
                <a:spcPts val="0"/>
              </a:spcAft>
            </a:pPr>
            <a:r>
              <a:rPr sz="1250" b="0">
                <a:solidFill>
                  <a:srgbClr val="00407A"/>
                </a:solidFill>
                <a:latin typeface="Arial"/>
              </a:rPr>
              <a:t>92 of 92</a:t>
            </a:r>
          </a:p>
        </p:txBody>
      </p:sp>
      <p:sp>
        <p:nvSpPr>
          <p:cNvPr id="52" name="TextBox 51"/>
          <p:cNvSpPr txBox="1"/>
          <p:nvPr/>
        </p:nvSpPr>
        <p:spPr>
          <a:xfrm>
            <a:off x="6391656" y="5029200"/>
            <a:ext cx="4800600" cy="219456"/>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4A5A66"/>
                </a:solidFill>
                <a:latin typeface="Arial"/>
              </a:rPr>
              <a:t>Correct answers (%) — higher is better</a:t>
            </a:r>
          </a:p>
        </p:txBody>
      </p:sp>
      <p:sp>
        <p:nvSpPr>
          <p:cNvPr id="53" name="Rounded Rectangle 52"/>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27B: 61 of 92 exact levels; all 92 estimates are within one level.</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265176"/>
            <a:ext cx="10561320" cy="237744"/>
          </a:xfrm>
          <a:prstGeom prst="rect">
            <a:avLst/>
          </a:prstGeom>
          <a:noFill/>
        </p:spPr>
        <p:txBody>
          <a:bodyPr wrap="square" lIns="0" rIns="0" tIns="0" bIns="0" anchor="t">
            <a:noAutofit/>
          </a:bodyPr>
          <a:lstStyle/>
          <a:p>
            <a:pPr algn="l">
              <a:lnSpc>
                <a:spcPct val="109000"/>
              </a:lnSpc>
              <a:spcBef>
                <a:spcPts val="0"/>
              </a:spcBef>
              <a:spcAft>
                <a:spcPts val="0"/>
              </a:spcAft>
            </a:pPr>
            <a:r>
              <a:rPr sz="1250" b="1">
                <a:solidFill>
                  <a:srgbClr val="0B5A93"/>
                </a:solidFill>
                <a:latin typeface="Arial"/>
              </a:rPr>
              <a:t>EXPERIMENT 2  •  THREE SOLVED EXAMPLES PER QUESTION</a:t>
            </a:r>
          </a:p>
        </p:txBody>
      </p:sp>
      <p:sp>
        <p:nvSpPr>
          <p:cNvPr id="3" name="TextBox 2"/>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27B’s exact area levels drop from 61 to 48</a:t>
            </a:r>
          </a:p>
        </p:txBody>
      </p:sp>
      <p:sp>
        <p:nvSpPr>
          <p:cNvPr id="4" name="TextBox 3"/>
          <p:cNvSpPr txBox="1"/>
          <p:nvPr/>
        </p:nvSpPr>
        <p:spPr>
          <a:xfrm>
            <a:off x="813816" y="1261872"/>
            <a:ext cx="10561320" cy="438912"/>
          </a:xfrm>
          <a:prstGeom prst="rect">
            <a:avLst/>
          </a:prstGeom>
          <a:noFill/>
        </p:spPr>
        <p:txBody>
          <a:bodyPr wrap="square" lIns="0" rIns="0" tIns="0" bIns="0">
            <a:noAutofit/>
          </a:bodyPr>
          <a:lstStyle/>
          <a:p>
            <a:pPr>
              <a:lnSpc>
                <a:spcPct val="109000"/>
              </a:lnSpc>
              <a:spcBef>
                <a:spcPts val="0"/>
              </a:spcBef>
              <a:spcAft>
                <a:spcPts val="0"/>
              </a:spcAft>
            </a:pPr>
            <a:r>
              <a:rPr sz="1600" b="0">
                <a:solidFill>
                  <a:srgbClr val="4A5A66"/>
                </a:solidFill>
                <a:latin typeface="Arial"/>
              </a:rPr>
              <a:t>92 held-out designs; three solved examples per question.    </a:t>
            </a:r>
            <a:r>
              <a:rPr sz="1600" b="1">
                <a:solidFill>
                  <a:srgbClr val="E97132"/>
                </a:solidFill>
                <a:latin typeface="Arial"/>
              </a:rPr>
              <a:t>|</a:t>
            </a:r>
            <a:r>
              <a:rPr sz="1600" b="0">
                <a:solidFill>
                  <a:srgbClr val="4A5A66"/>
                </a:solidFill>
                <a:latin typeface="Arial"/>
              </a:rPr>
              <a:t> = the score without examples</a:t>
            </a:r>
          </a:p>
        </p:txBody>
      </p:sp>
      <p:sp>
        <p:nvSpPr>
          <p:cNvPr id="5" name="TextBox 4"/>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three examples per question  •  16 October 2026  |  RESULTS</a:t>
            </a:r>
          </a:p>
        </p:txBody>
      </p:sp>
      <p:sp>
        <p:nvSpPr>
          <p:cNvPr id="6" name="TextBox 5"/>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23</a:t>
            </a:r>
          </a:p>
        </p:txBody>
      </p:sp>
      <p:sp>
        <p:nvSpPr>
          <p:cNvPr id="7" name="Rounded Rectangle 6"/>
          <p:cNvSpPr/>
          <p:nvPr/>
        </p:nvSpPr>
        <p:spPr>
          <a:xfrm>
            <a:off x="813816" y="1819656"/>
            <a:ext cx="5166360" cy="3730752"/>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14984" y="1984248"/>
            <a:ext cx="4764024" cy="502920"/>
          </a:xfrm>
          <a:prstGeom prst="rect">
            <a:avLst/>
          </a:prstGeom>
          <a:noFill/>
        </p:spPr>
        <p:txBody>
          <a:bodyPr wrap="square" lIns="0" rIns="0" tIns="0" bIns="0" anchor="t">
            <a:noAutofit/>
          </a:bodyPr>
          <a:lstStyle/>
          <a:p>
            <a:pPr algn="l">
              <a:lnSpc>
                <a:spcPct val="109000"/>
              </a:lnSpc>
              <a:spcBef>
                <a:spcPts val="0"/>
              </a:spcBef>
              <a:spcAft>
                <a:spcPts val="0"/>
              </a:spcAft>
            </a:pPr>
            <a:r>
              <a:rPr sz="1800" b="1">
                <a:solidFill>
                  <a:srgbClr val="00407A"/>
                </a:solidFill>
                <a:latin typeface="Arial"/>
              </a:rPr>
              <a:t>Exact area level</a:t>
            </a:r>
          </a:p>
        </p:txBody>
      </p:sp>
      <p:sp>
        <p:nvSpPr>
          <p:cNvPr id="9" name="TextBox 8"/>
          <p:cNvSpPr txBox="1"/>
          <p:nvPr/>
        </p:nvSpPr>
        <p:spPr>
          <a:xfrm>
            <a:off x="1014984" y="2432304"/>
            <a:ext cx="4764024" cy="347472"/>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4A5A66"/>
                </a:solidFill>
                <a:latin typeface="Arial"/>
              </a:rPr>
              <a:t>All five true area levels occur</a:t>
            </a:r>
          </a:p>
        </p:txBody>
      </p:sp>
      <p:cxnSp>
        <p:nvCxnSpPr>
          <p:cNvPr id="10" name="Connector 9"/>
          <p:cNvCxnSpPr/>
          <p:nvPr/>
        </p:nvCxnSpPr>
        <p:spPr>
          <a:xfrm>
            <a:off x="166420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146304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a:t>
            </a:r>
          </a:p>
        </p:txBody>
      </p:sp>
      <p:cxnSp>
        <p:nvCxnSpPr>
          <p:cNvPr id="12" name="Connector 11"/>
          <p:cNvCxnSpPr/>
          <p:nvPr/>
        </p:nvCxnSpPr>
        <p:spPr>
          <a:xfrm>
            <a:off x="317296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2971799"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50</a:t>
            </a:r>
          </a:p>
        </p:txBody>
      </p:sp>
      <p:cxnSp>
        <p:nvCxnSpPr>
          <p:cNvPr id="14" name="Connector 13"/>
          <p:cNvCxnSpPr/>
          <p:nvPr/>
        </p:nvCxnSpPr>
        <p:spPr>
          <a:xfrm>
            <a:off x="468172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448056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100</a:t>
            </a:r>
          </a:p>
        </p:txBody>
      </p:sp>
      <p:cxnSp>
        <p:nvCxnSpPr>
          <p:cNvPr id="16" name="Connector 15"/>
          <p:cNvCxnSpPr/>
          <p:nvPr/>
        </p:nvCxnSpPr>
        <p:spPr>
          <a:xfrm>
            <a:off x="2746579" y="2825496"/>
            <a:ext cx="0" cy="1856232"/>
          </a:xfrm>
          <a:prstGeom prst="line">
            <a:avLst/>
          </a:prstGeom>
          <a:ln w="15240">
            <a:solidFill>
              <a:srgbClr val="4A5A66"/>
            </a:solidFill>
            <a:prstDash val="dash"/>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996696" y="292150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0.8B</a:t>
            </a:r>
          </a:p>
        </p:txBody>
      </p:sp>
      <p:sp>
        <p:nvSpPr>
          <p:cNvPr id="18" name="Rectangle 17"/>
          <p:cNvSpPr/>
          <p:nvPr/>
        </p:nvSpPr>
        <p:spPr>
          <a:xfrm>
            <a:off x="1664208" y="2953512"/>
            <a:ext cx="65598" cy="237744"/>
          </a:xfrm>
          <a:prstGeom prst="rect">
            <a:avLst/>
          </a:prstGeom>
          <a:solidFill>
            <a:srgbClr val="4A5A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800600" y="286664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2.2%</a:t>
            </a:r>
          </a:p>
          <a:p>
            <a:pPr algn="l">
              <a:lnSpc>
                <a:spcPct val="109000"/>
              </a:lnSpc>
              <a:spcBef>
                <a:spcPts val="0"/>
              </a:spcBef>
              <a:spcAft>
                <a:spcPts val="0"/>
              </a:spcAft>
            </a:pPr>
            <a:r>
              <a:rPr sz="1250" b="0">
                <a:solidFill>
                  <a:srgbClr val="00407A"/>
                </a:solidFill>
                <a:latin typeface="Arial"/>
              </a:rPr>
              <a:t>2 of 92</a:t>
            </a:r>
          </a:p>
        </p:txBody>
      </p:sp>
      <p:sp>
        <p:nvSpPr>
          <p:cNvPr id="20" name="TextBox 19"/>
          <p:cNvSpPr txBox="1"/>
          <p:nvPr/>
        </p:nvSpPr>
        <p:spPr>
          <a:xfrm>
            <a:off x="996696" y="3424427"/>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4B</a:t>
            </a:r>
          </a:p>
        </p:txBody>
      </p:sp>
      <p:sp>
        <p:nvSpPr>
          <p:cNvPr id="21" name="Rectangle 20"/>
          <p:cNvSpPr/>
          <p:nvPr/>
        </p:nvSpPr>
        <p:spPr>
          <a:xfrm>
            <a:off x="1664208" y="3456432"/>
            <a:ext cx="1508760" cy="237744"/>
          </a:xfrm>
          <a:prstGeom prst="rect">
            <a:avLst/>
          </a:prstGeom>
          <a:solidFill>
            <a:srgbClr val="0B5A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800600" y="336956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50.0%</a:t>
            </a:r>
          </a:p>
          <a:p>
            <a:pPr algn="l">
              <a:lnSpc>
                <a:spcPct val="109000"/>
              </a:lnSpc>
              <a:spcBef>
                <a:spcPts val="0"/>
              </a:spcBef>
              <a:spcAft>
                <a:spcPts val="0"/>
              </a:spcAft>
            </a:pPr>
            <a:r>
              <a:rPr sz="1250" b="0">
                <a:solidFill>
                  <a:srgbClr val="00407A"/>
                </a:solidFill>
                <a:latin typeface="Arial"/>
              </a:rPr>
              <a:t>46 of 92</a:t>
            </a:r>
          </a:p>
        </p:txBody>
      </p:sp>
      <p:sp>
        <p:nvSpPr>
          <p:cNvPr id="23" name="TextBox 22"/>
          <p:cNvSpPr txBox="1"/>
          <p:nvPr/>
        </p:nvSpPr>
        <p:spPr>
          <a:xfrm>
            <a:off x="996696" y="392734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9B</a:t>
            </a:r>
          </a:p>
        </p:txBody>
      </p:sp>
      <p:sp>
        <p:nvSpPr>
          <p:cNvPr id="24" name="Rectangle 23"/>
          <p:cNvSpPr/>
          <p:nvPr/>
        </p:nvSpPr>
        <p:spPr>
          <a:xfrm>
            <a:off x="1664208" y="3959351"/>
            <a:ext cx="1639956" cy="237744"/>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800600" y="387248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54.3%</a:t>
            </a:r>
          </a:p>
          <a:p>
            <a:pPr algn="l">
              <a:lnSpc>
                <a:spcPct val="109000"/>
              </a:lnSpc>
              <a:spcBef>
                <a:spcPts val="0"/>
              </a:spcBef>
              <a:spcAft>
                <a:spcPts val="0"/>
              </a:spcAft>
            </a:pPr>
            <a:r>
              <a:rPr sz="1250" b="0">
                <a:solidFill>
                  <a:srgbClr val="00407A"/>
                </a:solidFill>
                <a:latin typeface="Arial"/>
              </a:rPr>
              <a:t>50 of 92</a:t>
            </a:r>
          </a:p>
        </p:txBody>
      </p:sp>
      <p:sp>
        <p:nvSpPr>
          <p:cNvPr id="26" name="TextBox 25"/>
          <p:cNvSpPr txBox="1"/>
          <p:nvPr/>
        </p:nvSpPr>
        <p:spPr>
          <a:xfrm>
            <a:off x="996696" y="443026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27B</a:t>
            </a:r>
          </a:p>
        </p:txBody>
      </p:sp>
      <p:sp>
        <p:nvSpPr>
          <p:cNvPr id="27" name="Rectangle 26"/>
          <p:cNvSpPr/>
          <p:nvPr/>
        </p:nvSpPr>
        <p:spPr>
          <a:xfrm>
            <a:off x="1664208" y="4462272"/>
            <a:ext cx="1574358" cy="237744"/>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00600" y="437540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52.2%</a:t>
            </a:r>
          </a:p>
          <a:p>
            <a:pPr algn="l">
              <a:lnSpc>
                <a:spcPct val="109000"/>
              </a:lnSpc>
              <a:spcBef>
                <a:spcPts val="0"/>
              </a:spcBef>
              <a:spcAft>
                <a:spcPts val="0"/>
              </a:spcAft>
            </a:pPr>
            <a:r>
              <a:rPr sz="1250" b="0">
                <a:solidFill>
                  <a:srgbClr val="00407A"/>
                </a:solidFill>
                <a:latin typeface="Arial"/>
              </a:rPr>
              <a:t>48 of 92</a:t>
            </a:r>
          </a:p>
        </p:txBody>
      </p:sp>
      <p:cxnSp>
        <p:nvCxnSpPr>
          <p:cNvPr id="29" name="Connector 28"/>
          <p:cNvCxnSpPr/>
          <p:nvPr/>
        </p:nvCxnSpPr>
        <p:spPr>
          <a:xfrm>
            <a:off x="2746579" y="2907791"/>
            <a:ext cx="0" cy="329185"/>
          </a:xfrm>
          <a:prstGeom prst="line">
            <a:avLst/>
          </a:prstGeom>
          <a:ln w="34925">
            <a:solidFill>
              <a:srgbClr val="E97132"/>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2746579" y="3410711"/>
            <a:ext cx="0" cy="329185"/>
          </a:xfrm>
          <a:prstGeom prst="line">
            <a:avLst/>
          </a:prstGeom>
          <a:ln w="34925">
            <a:solidFill>
              <a:srgbClr val="E97132"/>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3402561" y="3913631"/>
            <a:ext cx="0" cy="329185"/>
          </a:xfrm>
          <a:prstGeom prst="line">
            <a:avLst/>
          </a:prstGeom>
          <a:ln w="34925">
            <a:solidFill>
              <a:srgbClr val="E97132"/>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3664954" y="4416552"/>
            <a:ext cx="0" cy="329184"/>
          </a:xfrm>
          <a:prstGeom prst="line">
            <a:avLst/>
          </a:prstGeom>
          <a:ln w="34925">
            <a:solidFill>
              <a:srgbClr val="E9713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996696" y="5029200"/>
            <a:ext cx="4800600" cy="219456"/>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4A5A66"/>
                </a:solidFill>
                <a:latin typeface="Arial"/>
              </a:rPr>
              <a:t>Correct answers (%) — higher is better</a:t>
            </a:r>
          </a:p>
        </p:txBody>
      </p:sp>
      <p:sp>
        <p:nvSpPr>
          <p:cNvPr id="34" name="TextBox 33"/>
          <p:cNvSpPr txBox="1"/>
          <p:nvPr/>
        </p:nvSpPr>
        <p:spPr>
          <a:xfrm>
            <a:off x="996696" y="5285232"/>
            <a:ext cx="4800600" cy="210312"/>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Dashed line: always level 1 = 35.9%</a:t>
            </a:r>
          </a:p>
        </p:txBody>
      </p:sp>
      <p:sp>
        <p:nvSpPr>
          <p:cNvPr id="35" name="Rounded Rectangle 34"/>
          <p:cNvSpPr/>
          <p:nvPr/>
        </p:nvSpPr>
        <p:spPr>
          <a:xfrm>
            <a:off x="6208776" y="1819656"/>
            <a:ext cx="5166360" cy="3730752"/>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409944" y="1984248"/>
            <a:ext cx="4764024" cy="502920"/>
          </a:xfrm>
          <a:prstGeom prst="rect">
            <a:avLst/>
          </a:prstGeom>
          <a:noFill/>
        </p:spPr>
        <p:txBody>
          <a:bodyPr wrap="square" lIns="0" rIns="0" tIns="0" bIns="0" anchor="t">
            <a:noAutofit/>
          </a:bodyPr>
          <a:lstStyle/>
          <a:p>
            <a:pPr algn="l">
              <a:lnSpc>
                <a:spcPct val="109000"/>
              </a:lnSpc>
              <a:spcBef>
                <a:spcPts val="0"/>
              </a:spcBef>
              <a:spcAft>
                <a:spcPts val="0"/>
              </a:spcAft>
            </a:pPr>
            <a:r>
              <a:rPr sz="1800" b="1">
                <a:solidFill>
                  <a:srgbClr val="00407A"/>
                </a:solidFill>
                <a:latin typeface="Arial"/>
              </a:rPr>
              <a:t>Within one area level</a:t>
            </a:r>
          </a:p>
        </p:txBody>
      </p:sp>
      <p:sp>
        <p:nvSpPr>
          <p:cNvPr id="37" name="TextBox 36"/>
          <p:cNvSpPr txBox="1"/>
          <p:nvPr/>
        </p:nvSpPr>
        <p:spPr>
          <a:xfrm>
            <a:off x="6409944" y="2432304"/>
            <a:ext cx="4764024" cy="347472"/>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4A5A66"/>
                </a:solidFill>
                <a:latin typeface="Arial"/>
              </a:rPr>
              <a:t>Chosen level differs by at most one</a:t>
            </a:r>
          </a:p>
        </p:txBody>
      </p:sp>
      <p:cxnSp>
        <p:nvCxnSpPr>
          <p:cNvPr id="38" name="Connector 37"/>
          <p:cNvCxnSpPr/>
          <p:nvPr/>
        </p:nvCxnSpPr>
        <p:spPr>
          <a:xfrm>
            <a:off x="705916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685800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a:t>
            </a:r>
          </a:p>
        </p:txBody>
      </p:sp>
      <p:cxnSp>
        <p:nvCxnSpPr>
          <p:cNvPr id="40" name="Connector 39"/>
          <p:cNvCxnSpPr/>
          <p:nvPr/>
        </p:nvCxnSpPr>
        <p:spPr>
          <a:xfrm>
            <a:off x="856792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8366759"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50</a:t>
            </a:r>
          </a:p>
        </p:txBody>
      </p:sp>
      <p:cxnSp>
        <p:nvCxnSpPr>
          <p:cNvPr id="42" name="Connector 41"/>
          <p:cNvCxnSpPr/>
          <p:nvPr/>
        </p:nvCxnSpPr>
        <p:spPr>
          <a:xfrm>
            <a:off x="1007668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9875519"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100</a:t>
            </a:r>
          </a:p>
        </p:txBody>
      </p:sp>
      <p:sp>
        <p:nvSpPr>
          <p:cNvPr id="44" name="TextBox 43"/>
          <p:cNvSpPr txBox="1"/>
          <p:nvPr/>
        </p:nvSpPr>
        <p:spPr>
          <a:xfrm>
            <a:off x="6391656" y="292150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0.8B</a:t>
            </a:r>
          </a:p>
        </p:txBody>
      </p:sp>
      <p:sp>
        <p:nvSpPr>
          <p:cNvPr id="45" name="Rectangle 44"/>
          <p:cNvSpPr/>
          <p:nvPr/>
        </p:nvSpPr>
        <p:spPr>
          <a:xfrm>
            <a:off x="7059168" y="2953512"/>
            <a:ext cx="360790" cy="237744"/>
          </a:xfrm>
          <a:prstGeom prst="rect">
            <a:avLst/>
          </a:prstGeom>
          <a:solidFill>
            <a:srgbClr val="4A5A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0195560" y="286664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12.0%</a:t>
            </a:r>
          </a:p>
          <a:p>
            <a:pPr algn="l">
              <a:lnSpc>
                <a:spcPct val="109000"/>
              </a:lnSpc>
              <a:spcBef>
                <a:spcPts val="0"/>
              </a:spcBef>
              <a:spcAft>
                <a:spcPts val="0"/>
              </a:spcAft>
            </a:pPr>
            <a:r>
              <a:rPr sz="1250" b="0">
                <a:solidFill>
                  <a:srgbClr val="00407A"/>
                </a:solidFill>
                <a:latin typeface="Arial"/>
              </a:rPr>
              <a:t>11 of 92</a:t>
            </a:r>
          </a:p>
        </p:txBody>
      </p:sp>
      <p:sp>
        <p:nvSpPr>
          <p:cNvPr id="47" name="TextBox 46"/>
          <p:cNvSpPr txBox="1"/>
          <p:nvPr/>
        </p:nvSpPr>
        <p:spPr>
          <a:xfrm>
            <a:off x="6391656" y="3424427"/>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4B</a:t>
            </a:r>
          </a:p>
        </p:txBody>
      </p:sp>
      <p:sp>
        <p:nvSpPr>
          <p:cNvPr id="48" name="Rectangle 47"/>
          <p:cNvSpPr/>
          <p:nvPr/>
        </p:nvSpPr>
        <p:spPr>
          <a:xfrm>
            <a:off x="7059168" y="3456432"/>
            <a:ext cx="2820725" cy="237744"/>
          </a:xfrm>
          <a:prstGeom prst="rect">
            <a:avLst/>
          </a:prstGeom>
          <a:solidFill>
            <a:srgbClr val="0B5A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0195560" y="336956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93.5%</a:t>
            </a:r>
          </a:p>
          <a:p>
            <a:pPr algn="l">
              <a:lnSpc>
                <a:spcPct val="109000"/>
              </a:lnSpc>
              <a:spcBef>
                <a:spcPts val="0"/>
              </a:spcBef>
              <a:spcAft>
                <a:spcPts val="0"/>
              </a:spcAft>
            </a:pPr>
            <a:r>
              <a:rPr sz="1250" b="0">
                <a:solidFill>
                  <a:srgbClr val="00407A"/>
                </a:solidFill>
                <a:latin typeface="Arial"/>
              </a:rPr>
              <a:t>86 of 92</a:t>
            </a:r>
          </a:p>
        </p:txBody>
      </p:sp>
      <p:sp>
        <p:nvSpPr>
          <p:cNvPr id="50" name="TextBox 49"/>
          <p:cNvSpPr txBox="1"/>
          <p:nvPr/>
        </p:nvSpPr>
        <p:spPr>
          <a:xfrm>
            <a:off x="6391656" y="392734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9B</a:t>
            </a:r>
          </a:p>
        </p:txBody>
      </p:sp>
      <p:sp>
        <p:nvSpPr>
          <p:cNvPr id="51" name="Rectangle 50"/>
          <p:cNvSpPr/>
          <p:nvPr/>
        </p:nvSpPr>
        <p:spPr>
          <a:xfrm>
            <a:off x="7059168" y="3959351"/>
            <a:ext cx="2787926" cy="237744"/>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10195560" y="387248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92.4%</a:t>
            </a:r>
          </a:p>
          <a:p>
            <a:pPr algn="l">
              <a:lnSpc>
                <a:spcPct val="109000"/>
              </a:lnSpc>
              <a:spcBef>
                <a:spcPts val="0"/>
              </a:spcBef>
              <a:spcAft>
                <a:spcPts val="0"/>
              </a:spcAft>
            </a:pPr>
            <a:r>
              <a:rPr sz="1250" b="0">
                <a:solidFill>
                  <a:srgbClr val="00407A"/>
                </a:solidFill>
                <a:latin typeface="Arial"/>
              </a:rPr>
              <a:t>85 of 92</a:t>
            </a:r>
          </a:p>
        </p:txBody>
      </p:sp>
      <p:sp>
        <p:nvSpPr>
          <p:cNvPr id="53" name="TextBox 52"/>
          <p:cNvSpPr txBox="1"/>
          <p:nvPr/>
        </p:nvSpPr>
        <p:spPr>
          <a:xfrm>
            <a:off x="6391656" y="443026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27B</a:t>
            </a:r>
          </a:p>
        </p:txBody>
      </p:sp>
      <p:sp>
        <p:nvSpPr>
          <p:cNvPr id="54" name="Rectangle 53"/>
          <p:cNvSpPr/>
          <p:nvPr/>
        </p:nvSpPr>
        <p:spPr>
          <a:xfrm>
            <a:off x="7059168" y="4462272"/>
            <a:ext cx="3017520" cy="237744"/>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0195560" y="437540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100.0%</a:t>
            </a:r>
          </a:p>
          <a:p>
            <a:pPr algn="l">
              <a:lnSpc>
                <a:spcPct val="109000"/>
              </a:lnSpc>
              <a:spcBef>
                <a:spcPts val="0"/>
              </a:spcBef>
              <a:spcAft>
                <a:spcPts val="0"/>
              </a:spcAft>
            </a:pPr>
            <a:r>
              <a:rPr sz="1250" b="0">
                <a:solidFill>
                  <a:srgbClr val="00407A"/>
                </a:solidFill>
                <a:latin typeface="Arial"/>
              </a:rPr>
              <a:t>92 of 92</a:t>
            </a:r>
          </a:p>
        </p:txBody>
      </p:sp>
      <p:cxnSp>
        <p:nvCxnSpPr>
          <p:cNvPr id="56" name="Connector 55"/>
          <p:cNvCxnSpPr/>
          <p:nvPr/>
        </p:nvCxnSpPr>
        <p:spPr>
          <a:xfrm>
            <a:off x="9059914" y="2907791"/>
            <a:ext cx="0" cy="329185"/>
          </a:xfrm>
          <a:prstGeom prst="line">
            <a:avLst/>
          </a:prstGeom>
          <a:ln w="34925">
            <a:solidFill>
              <a:srgbClr val="E97132"/>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9191111" y="3410711"/>
            <a:ext cx="0" cy="329185"/>
          </a:xfrm>
          <a:prstGeom prst="line">
            <a:avLst/>
          </a:prstGeom>
          <a:ln w="34925">
            <a:solidFill>
              <a:srgbClr val="E97132"/>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9781495" y="3913631"/>
            <a:ext cx="0" cy="329185"/>
          </a:xfrm>
          <a:prstGeom prst="line">
            <a:avLst/>
          </a:prstGeom>
          <a:ln w="34925">
            <a:solidFill>
              <a:srgbClr val="E97132"/>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10076688" y="4416552"/>
            <a:ext cx="0" cy="329184"/>
          </a:xfrm>
          <a:prstGeom prst="line">
            <a:avLst/>
          </a:prstGeom>
          <a:ln w="34925">
            <a:solidFill>
              <a:srgbClr val="E97132"/>
            </a:solidFill>
          </a:ln>
        </p:spPr>
        <p:style>
          <a:lnRef idx="2">
            <a:schemeClr val="accent1"/>
          </a:lnRef>
          <a:fillRef idx="0">
            <a:schemeClr val="accent1"/>
          </a:fillRef>
          <a:effectRef idx="1">
            <a:schemeClr val="accent1"/>
          </a:effectRef>
          <a:fontRef idx="minor">
            <a:schemeClr val="tx1"/>
          </a:fontRef>
        </p:style>
      </p:cxnSp>
      <p:sp>
        <p:nvSpPr>
          <p:cNvPr id="60" name="TextBox 59"/>
          <p:cNvSpPr txBox="1"/>
          <p:nvPr/>
        </p:nvSpPr>
        <p:spPr>
          <a:xfrm>
            <a:off x="6391656" y="5029200"/>
            <a:ext cx="4800600" cy="219456"/>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4A5A66"/>
                </a:solidFill>
                <a:latin typeface="Arial"/>
              </a:rPr>
              <a:t>Correct answers (%) — higher is better</a:t>
            </a:r>
          </a:p>
        </p:txBody>
      </p:sp>
      <p:sp>
        <p:nvSpPr>
          <p:cNvPr id="61" name="Rounded Rectangle 60"/>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KEV-0.8B chooses level 5 for all 92 designs. 27B is still within one level for all 92.</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265176"/>
            <a:ext cx="10561320" cy="237744"/>
          </a:xfrm>
          <a:prstGeom prst="rect">
            <a:avLst/>
          </a:prstGeom>
          <a:noFill/>
        </p:spPr>
        <p:txBody>
          <a:bodyPr wrap="square" lIns="0" rIns="0" tIns="0" bIns="0" anchor="t">
            <a:noAutofit/>
          </a:bodyPr>
          <a:lstStyle/>
          <a:p>
            <a:pPr algn="l">
              <a:lnSpc>
                <a:spcPct val="109000"/>
              </a:lnSpc>
              <a:spcBef>
                <a:spcPts val="0"/>
              </a:spcBef>
              <a:spcAft>
                <a:spcPts val="0"/>
              </a:spcAft>
            </a:pPr>
            <a:r>
              <a:rPr sz="1250" b="1">
                <a:solidFill>
                  <a:srgbClr val="4A5A66"/>
                </a:solidFill>
                <a:latin typeface="Arial"/>
              </a:rPr>
              <a:t>EXPERIMENT 1  •  NO EXAMPLES</a:t>
            </a:r>
          </a:p>
        </p:txBody>
      </p:sp>
      <p:sp>
        <p:nvSpPr>
          <p:cNvPr id="3" name="TextBox 2"/>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Power levels: the largest model performs worst</a:t>
            </a:r>
          </a:p>
        </p:txBody>
      </p:sp>
      <p:sp>
        <p:nvSpPr>
          <p:cNvPr id="4" name="TextBox 3"/>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85 held-out designs with usable power measurements and a supplied stimulus testbench.</a:t>
            </a:r>
          </a:p>
        </p:txBody>
      </p:sp>
      <p:sp>
        <p:nvSpPr>
          <p:cNvPr id="5" name="TextBox 4"/>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RESULTS</a:t>
            </a:r>
          </a:p>
        </p:txBody>
      </p:sp>
      <p:sp>
        <p:nvSpPr>
          <p:cNvPr id="6" name="TextBox 5"/>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24</a:t>
            </a:r>
          </a:p>
        </p:txBody>
      </p:sp>
      <p:sp>
        <p:nvSpPr>
          <p:cNvPr id="7" name="Rounded Rectangle 6"/>
          <p:cNvSpPr/>
          <p:nvPr/>
        </p:nvSpPr>
        <p:spPr>
          <a:xfrm>
            <a:off x="813816" y="1819656"/>
            <a:ext cx="5166360" cy="3730752"/>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14984" y="1984248"/>
            <a:ext cx="4764024" cy="502920"/>
          </a:xfrm>
          <a:prstGeom prst="rect">
            <a:avLst/>
          </a:prstGeom>
          <a:noFill/>
        </p:spPr>
        <p:txBody>
          <a:bodyPr wrap="square" lIns="0" rIns="0" tIns="0" bIns="0" anchor="t">
            <a:noAutofit/>
          </a:bodyPr>
          <a:lstStyle/>
          <a:p>
            <a:pPr algn="l">
              <a:lnSpc>
                <a:spcPct val="109000"/>
              </a:lnSpc>
              <a:spcBef>
                <a:spcPts val="0"/>
              </a:spcBef>
              <a:spcAft>
                <a:spcPts val="0"/>
              </a:spcAft>
            </a:pPr>
            <a:r>
              <a:rPr sz="1800" b="1">
                <a:solidFill>
                  <a:srgbClr val="00407A"/>
                </a:solidFill>
                <a:latin typeface="Arial"/>
              </a:rPr>
              <a:t>Exact power level</a:t>
            </a:r>
          </a:p>
        </p:txBody>
      </p:sp>
      <p:sp>
        <p:nvSpPr>
          <p:cNvPr id="9" name="TextBox 8"/>
          <p:cNvSpPr txBox="1"/>
          <p:nvPr/>
        </p:nvSpPr>
        <p:spPr>
          <a:xfrm>
            <a:off x="1014984" y="2432304"/>
            <a:ext cx="4764024" cy="347472"/>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4A5A66"/>
                </a:solidFill>
                <a:latin typeface="Arial"/>
              </a:rPr>
              <a:t>Levels 1 to 4 occur; level 5 is absent</a:t>
            </a:r>
          </a:p>
        </p:txBody>
      </p:sp>
      <p:cxnSp>
        <p:nvCxnSpPr>
          <p:cNvPr id="10" name="Connector 9"/>
          <p:cNvCxnSpPr/>
          <p:nvPr/>
        </p:nvCxnSpPr>
        <p:spPr>
          <a:xfrm>
            <a:off x="166420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146304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a:t>
            </a:r>
          </a:p>
        </p:txBody>
      </p:sp>
      <p:cxnSp>
        <p:nvCxnSpPr>
          <p:cNvPr id="12" name="Connector 11"/>
          <p:cNvCxnSpPr/>
          <p:nvPr/>
        </p:nvCxnSpPr>
        <p:spPr>
          <a:xfrm>
            <a:off x="317296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2971799"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50</a:t>
            </a:r>
          </a:p>
        </p:txBody>
      </p:sp>
      <p:cxnSp>
        <p:nvCxnSpPr>
          <p:cNvPr id="14" name="Connector 13"/>
          <p:cNvCxnSpPr/>
          <p:nvPr/>
        </p:nvCxnSpPr>
        <p:spPr>
          <a:xfrm>
            <a:off x="468172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448056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100</a:t>
            </a:r>
          </a:p>
        </p:txBody>
      </p:sp>
      <p:cxnSp>
        <p:nvCxnSpPr>
          <p:cNvPr id="16" name="Connector 15"/>
          <p:cNvCxnSpPr/>
          <p:nvPr/>
        </p:nvCxnSpPr>
        <p:spPr>
          <a:xfrm>
            <a:off x="2977716" y="2825496"/>
            <a:ext cx="0" cy="1856232"/>
          </a:xfrm>
          <a:prstGeom prst="line">
            <a:avLst/>
          </a:prstGeom>
          <a:ln w="15240">
            <a:solidFill>
              <a:srgbClr val="4A5A66"/>
            </a:solidFill>
            <a:prstDash val="dash"/>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996696" y="292150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0.8B</a:t>
            </a:r>
          </a:p>
        </p:txBody>
      </p:sp>
      <p:sp>
        <p:nvSpPr>
          <p:cNvPr id="18" name="Rectangle 17"/>
          <p:cNvSpPr/>
          <p:nvPr/>
        </p:nvSpPr>
        <p:spPr>
          <a:xfrm>
            <a:off x="1664208" y="2953512"/>
            <a:ext cx="816505" cy="237744"/>
          </a:xfrm>
          <a:prstGeom prst="rect">
            <a:avLst/>
          </a:prstGeom>
          <a:solidFill>
            <a:srgbClr val="4A5A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800600" y="286664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27.1%</a:t>
            </a:r>
          </a:p>
          <a:p>
            <a:pPr algn="l">
              <a:lnSpc>
                <a:spcPct val="109000"/>
              </a:lnSpc>
              <a:spcBef>
                <a:spcPts val="0"/>
              </a:spcBef>
              <a:spcAft>
                <a:spcPts val="0"/>
              </a:spcAft>
            </a:pPr>
            <a:r>
              <a:rPr sz="1250" b="0">
                <a:solidFill>
                  <a:srgbClr val="00407A"/>
                </a:solidFill>
                <a:latin typeface="Arial"/>
              </a:rPr>
              <a:t>23 of 85</a:t>
            </a:r>
          </a:p>
        </p:txBody>
      </p:sp>
      <p:sp>
        <p:nvSpPr>
          <p:cNvPr id="20" name="TextBox 19"/>
          <p:cNvSpPr txBox="1"/>
          <p:nvPr/>
        </p:nvSpPr>
        <p:spPr>
          <a:xfrm>
            <a:off x="996696" y="3424427"/>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4B</a:t>
            </a:r>
          </a:p>
        </p:txBody>
      </p:sp>
      <p:sp>
        <p:nvSpPr>
          <p:cNvPr id="21" name="Rectangle 20"/>
          <p:cNvSpPr/>
          <p:nvPr/>
        </p:nvSpPr>
        <p:spPr>
          <a:xfrm>
            <a:off x="1664208" y="3456432"/>
            <a:ext cx="1384509" cy="237744"/>
          </a:xfrm>
          <a:prstGeom prst="rect">
            <a:avLst/>
          </a:prstGeom>
          <a:solidFill>
            <a:srgbClr val="0B5A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800600" y="336956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45.9%</a:t>
            </a:r>
          </a:p>
          <a:p>
            <a:pPr algn="l">
              <a:lnSpc>
                <a:spcPct val="109000"/>
              </a:lnSpc>
              <a:spcBef>
                <a:spcPts val="0"/>
              </a:spcBef>
              <a:spcAft>
                <a:spcPts val="0"/>
              </a:spcAft>
            </a:pPr>
            <a:r>
              <a:rPr sz="1250" b="0">
                <a:solidFill>
                  <a:srgbClr val="00407A"/>
                </a:solidFill>
                <a:latin typeface="Arial"/>
              </a:rPr>
              <a:t>39 of 85</a:t>
            </a:r>
          </a:p>
        </p:txBody>
      </p:sp>
      <p:sp>
        <p:nvSpPr>
          <p:cNvPr id="23" name="TextBox 22"/>
          <p:cNvSpPr txBox="1"/>
          <p:nvPr/>
        </p:nvSpPr>
        <p:spPr>
          <a:xfrm>
            <a:off x="996696" y="392734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9B</a:t>
            </a:r>
          </a:p>
        </p:txBody>
      </p:sp>
      <p:sp>
        <p:nvSpPr>
          <p:cNvPr id="24" name="Rectangle 23"/>
          <p:cNvSpPr/>
          <p:nvPr/>
        </p:nvSpPr>
        <p:spPr>
          <a:xfrm>
            <a:off x="1664208" y="3959351"/>
            <a:ext cx="1207008" cy="237744"/>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800600" y="387248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40.0%</a:t>
            </a:r>
          </a:p>
          <a:p>
            <a:pPr algn="l">
              <a:lnSpc>
                <a:spcPct val="109000"/>
              </a:lnSpc>
              <a:spcBef>
                <a:spcPts val="0"/>
              </a:spcBef>
              <a:spcAft>
                <a:spcPts val="0"/>
              </a:spcAft>
            </a:pPr>
            <a:r>
              <a:rPr sz="1250" b="0">
                <a:solidFill>
                  <a:srgbClr val="00407A"/>
                </a:solidFill>
                <a:latin typeface="Arial"/>
              </a:rPr>
              <a:t>34 of 85</a:t>
            </a:r>
          </a:p>
        </p:txBody>
      </p:sp>
      <p:sp>
        <p:nvSpPr>
          <p:cNvPr id="26" name="TextBox 25"/>
          <p:cNvSpPr txBox="1"/>
          <p:nvPr/>
        </p:nvSpPr>
        <p:spPr>
          <a:xfrm>
            <a:off x="996696" y="443026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27B</a:t>
            </a:r>
          </a:p>
        </p:txBody>
      </p:sp>
      <p:sp>
        <p:nvSpPr>
          <p:cNvPr id="27" name="Rectangle 26"/>
          <p:cNvSpPr/>
          <p:nvPr/>
        </p:nvSpPr>
        <p:spPr>
          <a:xfrm>
            <a:off x="1664208" y="4462272"/>
            <a:ext cx="319502" cy="237744"/>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00600" y="437540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10.6%</a:t>
            </a:r>
          </a:p>
          <a:p>
            <a:pPr algn="l">
              <a:lnSpc>
                <a:spcPct val="109000"/>
              </a:lnSpc>
              <a:spcBef>
                <a:spcPts val="0"/>
              </a:spcBef>
              <a:spcAft>
                <a:spcPts val="0"/>
              </a:spcAft>
            </a:pPr>
            <a:r>
              <a:rPr sz="1250" b="0">
                <a:solidFill>
                  <a:srgbClr val="00407A"/>
                </a:solidFill>
                <a:latin typeface="Arial"/>
              </a:rPr>
              <a:t>9 of 85</a:t>
            </a:r>
          </a:p>
        </p:txBody>
      </p:sp>
      <p:sp>
        <p:nvSpPr>
          <p:cNvPr id="29" name="TextBox 28"/>
          <p:cNvSpPr txBox="1"/>
          <p:nvPr/>
        </p:nvSpPr>
        <p:spPr>
          <a:xfrm>
            <a:off x="996696" y="5029200"/>
            <a:ext cx="4800600" cy="219456"/>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4A5A66"/>
                </a:solidFill>
                <a:latin typeface="Arial"/>
              </a:rPr>
              <a:t>Correct answers (%) — higher is better</a:t>
            </a:r>
          </a:p>
        </p:txBody>
      </p:sp>
      <p:sp>
        <p:nvSpPr>
          <p:cNvPr id="30" name="TextBox 29"/>
          <p:cNvSpPr txBox="1"/>
          <p:nvPr/>
        </p:nvSpPr>
        <p:spPr>
          <a:xfrm>
            <a:off x="996696" y="5285232"/>
            <a:ext cx="4800600" cy="210312"/>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Dashed line: always level 2 = 43.5%</a:t>
            </a:r>
          </a:p>
        </p:txBody>
      </p:sp>
      <p:sp>
        <p:nvSpPr>
          <p:cNvPr id="31" name="Rounded Rectangle 30"/>
          <p:cNvSpPr/>
          <p:nvPr/>
        </p:nvSpPr>
        <p:spPr>
          <a:xfrm>
            <a:off x="6208776" y="1819656"/>
            <a:ext cx="5166360" cy="3730752"/>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09944" y="1984248"/>
            <a:ext cx="4764024" cy="502920"/>
          </a:xfrm>
          <a:prstGeom prst="rect">
            <a:avLst/>
          </a:prstGeom>
          <a:noFill/>
        </p:spPr>
        <p:txBody>
          <a:bodyPr wrap="square" lIns="0" rIns="0" tIns="0" bIns="0" anchor="t">
            <a:noAutofit/>
          </a:bodyPr>
          <a:lstStyle/>
          <a:p>
            <a:pPr algn="l">
              <a:lnSpc>
                <a:spcPct val="109000"/>
              </a:lnSpc>
              <a:spcBef>
                <a:spcPts val="0"/>
              </a:spcBef>
              <a:spcAft>
                <a:spcPts val="0"/>
              </a:spcAft>
            </a:pPr>
            <a:r>
              <a:rPr sz="1800" b="1">
                <a:solidFill>
                  <a:srgbClr val="00407A"/>
                </a:solidFill>
                <a:latin typeface="Arial"/>
              </a:rPr>
              <a:t>Within one power level</a:t>
            </a:r>
          </a:p>
        </p:txBody>
      </p:sp>
      <p:sp>
        <p:nvSpPr>
          <p:cNvPr id="33" name="TextBox 32"/>
          <p:cNvSpPr txBox="1"/>
          <p:nvPr/>
        </p:nvSpPr>
        <p:spPr>
          <a:xfrm>
            <a:off x="6409944" y="2432304"/>
            <a:ext cx="4764024" cy="347472"/>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4A5A66"/>
                </a:solidFill>
                <a:latin typeface="Arial"/>
              </a:rPr>
              <a:t>Chosen level differs by at most one</a:t>
            </a:r>
          </a:p>
        </p:txBody>
      </p:sp>
      <p:cxnSp>
        <p:nvCxnSpPr>
          <p:cNvPr id="34" name="Connector 33"/>
          <p:cNvCxnSpPr/>
          <p:nvPr/>
        </p:nvCxnSpPr>
        <p:spPr>
          <a:xfrm>
            <a:off x="705916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685800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a:t>
            </a:r>
          </a:p>
        </p:txBody>
      </p:sp>
      <p:cxnSp>
        <p:nvCxnSpPr>
          <p:cNvPr id="36" name="Connector 35"/>
          <p:cNvCxnSpPr/>
          <p:nvPr/>
        </p:nvCxnSpPr>
        <p:spPr>
          <a:xfrm>
            <a:off x="856792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8366759"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50</a:t>
            </a:r>
          </a:p>
        </p:txBody>
      </p:sp>
      <p:cxnSp>
        <p:nvCxnSpPr>
          <p:cNvPr id="38" name="Connector 37"/>
          <p:cNvCxnSpPr/>
          <p:nvPr/>
        </p:nvCxnSpPr>
        <p:spPr>
          <a:xfrm>
            <a:off x="1007668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9875519"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100</a:t>
            </a:r>
          </a:p>
        </p:txBody>
      </p:sp>
      <p:sp>
        <p:nvSpPr>
          <p:cNvPr id="40" name="TextBox 39"/>
          <p:cNvSpPr txBox="1"/>
          <p:nvPr/>
        </p:nvSpPr>
        <p:spPr>
          <a:xfrm>
            <a:off x="6391656" y="292150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0.8B</a:t>
            </a:r>
          </a:p>
        </p:txBody>
      </p:sp>
      <p:sp>
        <p:nvSpPr>
          <p:cNvPr id="41" name="Rectangle 40"/>
          <p:cNvSpPr/>
          <p:nvPr/>
        </p:nvSpPr>
        <p:spPr>
          <a:xfrm>
            <a:off x="7059168" y="2953512"/>
            <a:ext cx="2485016" cy="237744"/>
          </a:xfrm>
          <a:prstGeom prst="rect">
            <a:avLst/>
          </a:prstGeom>
          <a:solidFill>
            <a:srgbClr val="4A5A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195560" y="286664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82.4%</a:t>
            </a:r>
          </a:p>
          <a:p>
            <a:pPr algn="l">
              <a:lnSpc>
                <a:spcPct val="109000"/>
              </a:lnSpc>
              <a:spcBef>
                <a:spcPts val="0"/>
              </a:spcBef>
              <a:spcAft>
                <a:spcPts val="0"/>
              </a:spcAft>
            </a:pPr>
            <a:r>
              <a:rPr sz="1250" b="0">
                <a:solidFill>
                  <a:srgbClr val="00407A"/>
                </a:solidFill>
                <a:latin typeface="Arial"/>
              </a:rPr>
              <a:t>70 of 85</a:t>
            </a:r>
          </a:p>
        </p:txBody>
      </p:sp>
      <p:sp>
        <p:nvSpPr>
          <p:cNvPr id="43" name="TextBox 42"/>
          <p:cNvSpPr txBox="1"/>
          <p:nvPr/>
        </p:nvSpPr>
        <p:spPr>
          <a:xfrm>
            <a:off x="6391656" y="3424427"/>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4B</a:t>
            </a:r>
          </a:p>
        </p:txBody>
      </p:sp>
      <p:sp>
        <p:nvSpPr>
          <p:cNvPr id="44" name="Rectangle 43"/>
          <p:cNvSpPr/>
          <p:nvPr/>
        </p:nvSpPr>
        <p:spPr>
          <a:xfrm>
            <a:off x="7059168" y="3456432"/>
            <a:ext cx="2769018" cy="237744"/>
          </a:xfrm>
          <a:prstGeom prst="rect">
            <a:avLst/>
          </a:prstGeom>
          <a:solidFill>
            <a:srgbClr val="0B5A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195560" y="336956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91.8%</a:t>
            </a:r>
          </a:p>
          <a:p>
            <a:pPr algn="l">
              <a:lnSpc>
                <a:spcPct val="109000"/>
              </a:lnSpc>
              <a:spcBef>
                <a:spcPts val="0"/>
              </a:spcBef>
              <a:spcAft>
                <a:spcPts val="0"/>
              </a:spcAft>
            </a:pPr>
            <a:r>
              <a:rPr sz="1250" b="0">
                <a:solidFill>
                  <a:srgbClr val="00407A"/>
                </a:solidFill>
                <a:latin typeface="Arial"/>
              </a:rPr>
              <a:t>78 of 85</a:t>
            </a:r>
          </a:p>
        </p:txBody>
      </p:sp>
      <p:sp>
        <p:nvSpPr>
          <p:cNvPr id="46" name="TextBox 45"/>
          <p:cNvSpPr txBox="1"/>
          <p:nvPr/>
        </p:nvSpPr>
        <p:spPr>
          <a:xfrm>
            <a:off x="6391656" y="392734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9B</a:t>
            </a:r>
          </a:p>
        </p:txBody>
      </p:sp>
      <p:sp>
        <p:nvSpPr>
          <p:cNvPr id="47" name="Rectangle 46"/>
          <p:cNvSpPr/>
          <p:nvPr/>
        </p:nvSpPr>
        <p:spPr>
          <a:xfrm>
            <a:off x="7059168" y="3959351"/>
            <a:ext cx="2804518" cy="237744"/>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0195560" y="387248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92.9%</a:t>
            </a:r>
          </a:p>
          <a:p>
            <a:pPr algn="l">
              <a:lnSpc>
                <a:spcPct val="109000"/>
              </a:lnSpc>
              <a:spcBef>
                <a:spcPts val="0"/>
              </a:spcBef>
              <a:spcAft>
                <a:spcPts val="0"/>
              </a:spcAft>
            </a:pPr>
            <a:r>
              <a:rPr sz="1250" b="0">
                <a:solidFill>
                  <a:srgbClr val="00407A"/>
                </a:solidFill>
                <a:latin typeface="Arial"/>
              </a:rPr>
              <a:t>79 of 85</a:t>
            </a:r>
          </a:p>
        </p:txBody>
      </p:sp>
      <p:sp>
        <p:nvSpPr>
          <p:cNvPr id="49" name="TextBox 48"/>
          <p:cNvSpPr txBox="1"/>
          <p:nvPr/>
        </p:nvSpPr>
        <p:spPr>
          <a:xfrm>
            <a:off x="6391656" y="443026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27B</a:t>
            </a:r>
          </a:p>
        </p:txBody>
      </p:sp>
      <p:sp>
        <p:nvSpPr>
          <p:cNvPr id="50" name="Rectangle 49"/>
          <p:cNvSpPr/>
          <p:nvPr/>
        </p:nvSpPr>
        <p:spPr>
          <a:xfrm>
            <a:off x="7059168" y="4462272"/>
            <a:ext cx="1952512" cy="237744"/>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195560" y="437540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64.7%</a:t>
            </a:r>
          </a:p>
          <a:p>
            <a:pPr algn="l">
              <a:lnSpc>
                <a:spcPct val="109000"/>
              </a:lnSpc>
              <a:spcBef>
                <a:spcPts val="0"/>
              </a:spcBef>
              <a:spcAft>
                <a:spcPts val="0"/>
              </a:spcAft>
            </a:pPr>
            <a:r>
              <a:rPr sz="1250" b="0">
                <a:solidFill>
                  <a:srgbClr val="00407A"/>
                </a:solidFill>
                <a:latin typeface="Arial"/>
              </a:rPr>
              <a:t>55 of 85</a:t>
            </a:r>
          </a:p>
        </p:txBody>
      </p:sp>
      <p:sp>
        <p:nvSpPr>
          <p:cNvPr id="52" name="TextBox 51"/>
          <p:cNvSpPr txBox="1"/>
          <p:nvPr/>
        </p:nvSpPr>
        <p:spPr>
          <a:xfrm>
            <a:off x="6391656" y="5029200"/>
            <a:ext cx="4800600" cy="219456"/>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4A5A66"/>
                </a:solidFill>
                <a:latin typeface="Arial"/>
              </a:rPr>
              <a:t>Correct answers (%) — higher is better</a:t>
            </a:r>
          </a:p>
        </p:txBody>
      </p:sp>
      <p:sp>
        <p:nvSpPr>
          <p:cNvPr id="53" name="Rounded Rectangle 52"/>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27B predicts only levels 3–5, although 60 of the 85 true labels are levels 1–2.</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265176"/>
            <a:ext cx="10561320" cy="237744"/>
          </a:xfrm>
          <a:prstGeom prst="rect">
            <a:avLst/>
          </a:prstGeom>
          <a:noFill/>
        </p:spPr>
        <p:txBody>
          <a:bodyPr wrap="square" lIns="0" rIns="0" tIns="0" bIns="0" anchor="t">
            <a:noAutofit/>
          </a:bodyPr>
          <a:lstStyle/>
          <a:p>
            <a:pPr algn="l">
              <a:lnSpc>
                <a:spcPct val="109000"/>
              </a:lnSpc>
              <a:spcBef>
                <a:spcPts val="0"/>
              </a:spcBef>
              <a:spcAft>
                <a:spcPts val="0"/>
              </a:spcAft>
            </a:pPr>
            <a:r>
              <a:rPr sz="1250" b="1">
                <a:solidFill>
                  <a:srgbClr val="0B5A93"/>
                </a:solidFill>
                <a:latin typeface="Arial"/>
              </a:rPr>
              <a:t>EXPERIMENT 2  •  THREE SOLVED EXAMPLES PER QUESTION</a:t>
            </a:r>
          </a:p>
        </p:txBody>
      </p:sp>
      <p:sp>
        <p:nvSpPr>
          <p:cNvPr id="3" name="TextBox 2"/>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27B’s exact power levels rise from 9 to 36</a:t>
            </a:r>
          </a:p>
        </p:txBody>
      </p:sp>
      <p:sp>
        <p:nvSpPr>
          <p:cNvPr id="4" name="TextBox 3"/>
          <p:cNvSpPr txBox="1"/>
          <p:nvPr/>
        </p:nvSpPr>
        <p:spPr>
          <a:xfrm>
            <a:off x="813816" y="1261872"/>
            <a:ext cx="10561320" cy="438912"/>
          </a:xfrm>
          <a:prstGeom prst="rect">
            <a:avLst/>
          </a:prstGeom>
          <a:noFill/>
        </p:spPr>
        <p:txBody>
          <a:bodyPr wrap="square" lIns="0" rIns="0" tIns="0" bIns="0">
            <a:noAutofit/>
          </a:bodyPr>
          <a:lstStyle/>
          <a:p>
            <a:pPr>
              <a:lnSpc>
                <a:spcPct val="109000"/>
              </a:lnSpc>
              <a:spcBef>
                <a:spcPts val="0"/>
              </a:spcBef>
              <a:spcAft>
                <a:spcPts val="0"/>
              </a:spcAft>
            </a:pPr>
            <a:r>
              <a:rPr sz="1600" b="0">
                <a:solidFill>
                  <a:srgbClr val="4A5A66"/>
                </a:solidFill>
                <a:latin typeface="Arial"/>
              </a:rPr>
              <a:t>85 held-out designs with a power label; three solved examples per question.    </a:t>
            </a:r>
            <a:r>
              <a:rPr sz="1600" b="1">
                <a:solidFill>
                  <a:srgbClr val="E97132"/>
                </a:solidFill>
                <a:latin typeface="Arial"/>
              </a:rPr>
              <a:t>|</a:t>
            </a:r>
            <a:r>
              <a:rPr sz="1600" b="0">
                <a:solidFill>
                  <a:srgbClr val="4A5A66"/>
                </a:solidFill>
                <a:latin typeface="Arial"/>
              </a:rPr>
              <a:t> = the score without examples</a:t>
            </a:r>
          </a:p>
        </p:txBody>
      </p:sp>
      <p:sp>
        <p:nvSpPr>
          <p:cNvPr id="5" name="TextBox 4"/>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three examples per question  •  16 October 2026  |  RESULTS</a:t>
            </a:r>
          </a:p>
        </p:txBody>
      </p:sp>
      <p:sp>
        <p:nvSpPr>
          <p:cNvPr id="6" name="TextBox 5"/>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25</a:t>
            </a:r>
          </a:p>
        </p:txBody>
      </p:sp>
      <p:sp>
        <p:nvSpPr>
          <p:cNvPr id="7" name="Rounded Rectangle 6"/>
          <p:cNvSpPr/>
          <p:nvPr/>
        </p:nvSpPr>
        <p:spPr>
          <a:xfrm>
            <a:off x="813816" y="1819656"/>
            <a:ext cx="5166360" cy="3730752"/>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14984" y="1984248"/>
            <a:ext cx="4764024" cy="502920"/>
          </a:xfrm>
          <a:prstGeom prst="rect">
            <a:avLst/>
          </a:prstGeom>
          <a:noFill/>
        </p:spPr>
        <p:txBody>
          <a:bodyPr wrap="square" lIns="0" rIns="0" tIns="0" bIns="0" anchor="t">
            <a:noAutofit/>
          </a:bodyPr>
          <a:lstStyle/>
          <a:p>
            <a:pPr algn="l">
              <a:lnSpc>
                <a:spcPct val="109000"/>
              </a:lnSpc>
              <a:spcBef>
                <a:spcPts val="0"/>
              </a:spcBef>
              <a:spcAft>
                <a:spcPts val="0"/>
              </a:spcAft>
            </a:pPr>
            <a:r>
              <a:rPr sz="1800" b="1">
                <a:solidFill>
                  <a:srgbClr val="00407A"/>
                </a:solidFill>
                <a:latin typeface="Arial"/>
              </a:rPr>
              <a:t>Exact power level</a:t>
            </a:r>
          </a:p>
        </p:txBody>
      </p:sp>
      <p:sp>
        <p:nvSpPr>
          <p:cNvPr id="9" name="TextBox 8"/>
          <p:cNvSpPr txBox="1"/>
          <p:nvPr/>
        </p:nvSpPr>
        <p:spPr>
          <a:xfrm>
            <a:off x="1014984" y="2432304"/>
            <a:ext cx="4764024" cy="347472"/>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4A5A66"/>
                </a:solidFill>
                <a:latin typeface="Arial"/>
              </a:rPr>
              <a:t>Levels 1 to 4 occur; level 5 is absent</a:t>
            </a:r>
          </a:p>
        </p:txBody>
      </p:sp>
      <p:cxnSp>
        <p:nvCxnSpPr>
          <p:cNvPr id="10" name="Connector 9"/>
          <p:cNvCxnSpPr/>
          <p:nvPr/>
        </p:nvCxnSpPr>
        <p:spPr>
          <a:xfrm>
            <a:off x="166420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146304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a:t>
            </a:r>
          </a:p>
        </p:txBody>
      </p:sp>
      <p:cxnSp>
        <p:nvCxnSpPr>
          <p:cNvPr id="12" name="Connector 11"/>
          <p:cNvCxnSpPr/>
          <p:nvPr/>
        </p:nvCxnSpPr>
        <p:spPr>
          <a:xfrm>
            <a:off x="317296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2971799"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50</a:t>
            </a:r>
          </a:p>
        </p:txBody>
      </p:sp>
      <p:cxnSp>
        <p:nvCxnSpPr>
          <p:cNvPr id="14" name="Connector 13"/>
          <p:cNvCxnSpPr/>
          <p:nvPr/>
        </p:nvCxnSpPr>
        <p:spPr>
          <a:xfrm>
            <a:off x="468172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448056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100</a:t>
            </a:r>
          </a:p>
        </p:txBody>
      </p:sp>
      <p:cxnSp>
        <p:nvCxnSpPr>
          <p:cNvPr id="16" name="Connector 15"/>
          <p:cNvCxnSpPr/>
          <p:nvPr/>
        </p:nvCxnSpPr>
        <p:spPr>
          <a:xfrm>
            <a:off x="2977716" y="2825496"/>
            <a:ext cx="0" cy="1856232"/>
          </a:xfrm>
          <a:prstGeom prst="line">
            <a:avLst/>
          </a:prstGeom>
          <a:ln w="15240">
            <a:solidFill>
              <a:srgbClr val="4A5A66"/>
            </a:solidFill>
            <a:prstDash val="dash"/>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996696" y="292150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0.8B</a:t>
            </a:r>
          </a:p>
        </p:txBody>
      </p:sp>
      <p:sp>
        <p:nvSpPr>
          <p:cNvPr id="18" name="TextBox 17"/>
          <p:cNvSpPr txBox="1"/>
          <p:nvPr/>
        </p:nvSpPr>
        <p:spPr>
          <a:xfrm>
            <a:off x="4800600" y="286664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0.0%</a:t>
            </a:r>
          </a:p>
          <a:p>
            <a:pPr algn="l">
              <a:lnSpc>
                <a:spcPct val="109000"/>
              </a:lnSpc>
              <a:spcBef>
                <a:spcPts val="0"/>
              </a:spcBef>
              <a:spcAft>
                <a:spcPts val="0"/>
              </a:spcAft>
            </a:pPr>
            <a:r>
              <a:rPr sz="1250" b="0">
                <a:solidFill>
                  <a:srgbClr val="00407A"/>
                </a:solidFill>
                <a:latin typeface="Arial"/>
              </a:rPr>
              <a:t>0 of 85</a:t>
            </a:r>
          </a:p>
        </p:txBody>
      </p:sp>
      <p:sp>
        <p:nvSpPr>
          <p:cNvPr id="19" name="TextBox 18"/>
          <p:cNvSpPr txBox="1"/>
          <p:nvPr/>
        </p:nvSpPr>
        <p:spPr>
          <a:xfrm>
            <a:off x="996696" y="3424427"/>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4B</a:t>
            </a:r>
          </a:p>
        </p:txBody>
      </p:sp>
      <p:sp>
        <p:nvSpPr>
          <p:cNvPr id="20" name="Rectangle 19"/>
          <p:cNvSpPr/>
          <p:nvPr/>
        </p:nvSpPr>
        <p:spPr>
          <a:xfrm>
            <a:off x="1664208" y="3456432"/>
            <a:ext cx="1207008" cy="237744"/>
          </a:xfrm>
          <a:prstGeom prst="rect">
            <a:avLst/>
          </a:prstGeom>
          <a:solidFill>
            <a:srgbClr val="0B5A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800600" y="336956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40.0%</a:t>
            </a:r>
          </a:p>
          <a:p>
            <a:pPr algn="l">
              <a:lnSpc>
                <a:spcPct val="109000"/>
              </a:lnSpc>
              <a:spcBef>
                <a:spcPts val="0"/>
              </a:spcBef>
              <a:spcAft>
                <a:spcPts val="0"/>
              </a:spcAft>
            </a:pPr>
            <a:r>
              <a:rPr sz="1250" b="0">
                <a:solidFill>
                  <a:srgbClr val="00407A"/>
                </a:solidFill>
                <a:latin typeface="Arial"/>
              </a:rPr>
              <a:t>34 of 85</a:t>
            </a:r>
          </a:p>
        </p:txBody>
      </p:sp>
      <p:sp>
        <p:nvSpPr>
          <p:cNvPr id="22" name="TextBox 21"/>
          <p:cNvSpPr txBox="1"/>
          <p:nvPr/>
        </p:nvSpPr>
        <p:spPr>
          <a:xfrm>
            <a:off x="996696" y="392734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9B</a:t>
            </a:r>
          </a:p>
        </p:txBody>
      </p:sp>
      <p:sp>
        <p:nvSpPr>
          <p:cNvPr id="23" name="Rectangle 22"/>
          <p:cNvSpPr/>
          <p:nvPr/>
        </p:nvSpPr>
        <p:spPr>
          <a:xfrm>
            <a:off x="1664208" y="3959351"/>
            <a:ext cx="852005" cy="237744"/>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00600" y="387248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28.2%</a:t>
            </a:r>
          </a:p>
          <a:p>
            <a:pPr algn="l">
              <a:lnSpc>
                <a:spcPct val="109000"/>
              </a:lnSpc>
              <a:spcBef>
                <a:spcPts val="0"/>
              </a:spcBef>
              <a:spcAft>
                <a:spcPts val="0"/>
              </a:spcAft>
            </a:pPr>
            <a:r>
              <a:rPr sz="1250" b="0">
                <a:solidFill>
                  <a:srgbClr val="00407A"/>
                </a:solidFill>
                <a:latin typeface="Arial"/>
              </a:rPr>
              <a:t>24 of 85</a:t>
            </a:r>
          </a:p>
        </p:txBody>
      </p:sp>
      <p:sp>
        <p:nvSpPr>
          <p:cNvPr id="25" name="TextBox 24"/>
          <p:cNvSpPr txBox="1"/>
          <p:nvPr/>
        </p:nvSpPr>
        <p:spPr>
          <a:xfrm>
            <a:off x="996696" y="443026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27B</a:t>
            </a:r>
          </a:p>
        </p:txBody>
      </p:sp>
      <p:sp>
        <p:nvSpPr>
          <p:cNvPr id="26" name="Rectangle 25"/>
          <p:cNvSpPr/>
          <p:nvPr/>
        </p:nvSpPr>
        <p:spPr>
          <a:xfrm>
            <a:off x="1664208" y="4462272"/>
            <a:ext cx="1278008" cy="237744"/>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800600" y="437540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42.4%</a:t>
            </a:r>
          </a:p>
          <a:p>
            <a:pPr algn="l">
              <a:lnSpc>
                <a:spcPct val="109000"/>
              </a:lnSpc>
              <a:spcBef>
                <a:spcPts val="0"/>
              </a:spcBef>
              <a:spcAft>
                <a:spcPts val="0"/>
              </a:spcAft>
            </a:pPr>
            <a:r>
              <a:rPr sz="1250" b="0">
                <a:solidFill>
                  <a:srgbClr val="00407A"/>
                </a:solidFill>
                <a:latin typeface="Arial"/>
              </a:rPr>
              <a:t>36 of 85</a:t>
            </a:r>
          </a:p>
        </p:txBody>
      </p:sp>
      <p:cxnSp>
        <p:nvCxnSpPr>
          <p:cNvPr id="28" name="Connector 27"/>
          <p:cNvCxnSpPr/>
          <p:nvPr/>
        </p:nvCxnSpPr>
        <p:spPr>
          <a:xfrm>
            <a:off x="2480713" y="2907791"/>
            <a:ext cx="0" cy="329185"/>
          </a:xfrm>
          <a:prstGeom prst="line">
            <a:avLst/>
          </a:prstGeom>
          <a:ln w="34925">
            <a:solidFill>
              <a:srgbClr val="E97132"/>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3048717" y="3410711"/>
            <a:ext cx="0" cy="329185"/>
          </a:xfrm>
          <a:prstGeom prst="line">
            <a:avLst/>
          </a:prstGeom>
          <a:ln w="34925">
            <a:solidFill>
              <a:srgbClr val="E97132"/>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2871216" y="3913631"/>
            <a:ext cx="0" cy="329185"/>
          </a:xfrm>
          <a:prstGeom prst="line">
            <a:avLst/>
          </a:prstGeom>
          <a:ln w="34925">
            <a:solidFill>
              <a:srgbClr val="E97132"/>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1983710" y="4416552"/>
            <a:ext cx="0" cy="329184"/>
          </a:xfrm>
          <a:prstGeom prst="line">
            <a:avLst/>
          </a:prstGeom>
          <a:ln w="34925">
            <a:solidFill>
              <a:srgbClr val="E97132"/>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996696" y="5029200"/>
            <a:ext cx="4800600" cy="219456"/>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4A5A66"/>
                </a:solidFill>
                <a:latin typeface="Arial"/>
              </a:rPr>
              <a:t>Correct answers (%) — higher is better</a:t>
            </a:r>
          </a:p>
        </p:txBody>
      </p:sp>
      <p:sp>
        <p:nvSpPr>
          <p:cNvPr id="33" name="TextBox 32"/>
          <p:cNvSpPr txBox="1"/>
          <p:nvPr/>
        </p:nvSpPr>
        <p:spPr>
          <a:xfrm>
            <a:off x="996696" y="5285232"/>
            <a:ext cx="4800600" cy="210312"/>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Dashed line: always level 2 = 43.5%</a:t>
            </a:r>
          </a:p>
        </p:txBody>
      </p:sp>
      <p:sp>
        <p:nvSpPr>
          <p:cNvPr id="34" name="Rounded Rectangle 33"/>
          <p:cNvSpPr/>
          <p:nvPr/>
        </p:nvSpPr>
        <p:spPr>
          <a:xfrm>
            <a:off x="6208776" y="1819656"/>
            <a:ext cx="5166360" cy="3730752"/>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09944" y="1984248"/>
            <a:ext cx="4764024" cy="502920"/>
          </a:xfrm>
          <a:prstGeom prst="rect">
            <a:avLst/>
          </a:prstGeom>
          <a:noFill/>
        </p:spPr>
        <p:txBody>
          <a:bodyPr wrap="square" lIns="0" rIns="0" tIns="0" bIns="0" anchor="t">
            <a:noAutofit/>
          </a:bodyPr>
          <a:lstStyle/>
          <a:p>
            <a:pPr algn="l">
              <a:lnSpc>
                <a:spcPct val="109000"/>
              </a:lnSpc>
              <a:spcBef>
                <a:spcPts val="0"/>
              </a:spcBef>
              <a:spcAft>
                <a:spcPts val="0"/>
              </a:spcAft>
            </a:pPr>
            <a:r>
              <a:rPr sz="1800" b="1">
                <a:solidFill>
                  <a:srgbClr val="00407A"/>
                </a:solidFill>
                <a:latin typeface="Arial"/>
              </a:rPr>
              <a:t>Within one power level</a:t>
            </a:r>
          </a:p>
        </p:txBody>
      </p:sp>
      <p:sp>
        <p:nvSpPr>
          <p:cNvPr id="36" name="TextBox 35"/>
          <p:cNvSpPr txBox="1"/>
          <p:nvPr/>
        </p:nvSpPr>
        <p:spPr>
          <a:xfrm>
            <a:off x="6409944" y="2432304"/>
            <a:ext cx="4764024" cy="347472"/>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4A5A66"/>
                </a:solidFill>
                <a:latin typeface="Arial"/>
              </a:rPr>
              <a:t>Chosen level differs by at most one</a:t>
            </a:r>
          </a:p>
        </p:txBody>
      </p:sp>
      <p:cxnSp>
        <p:nvCxnSpPr>
          <p:cNvPr id="37" name="Connector 36"/>
          <p:cNvCxnSpPr/>
          <p:nvPr/>
        </p:nvCxnSpPr>
        <p:spPr>
          <a:xfrm>
            <a:off x="705916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685800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a:t>
            </a:r>
          </a:p>
        </p:txBody>
      </p:sp>
      <p:cxnSp>
        <p:nvCxnSpPr>
          <p:cNvPr id="39" name="Connector 38"/>
          <p:cNvCxnSpPr/>
          <p:nvPr/>
        </p:nvCxnSpPr>
        <p:spPr>
          <a:xfrm>
            <a:off x="856792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8366759"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50</a:t>
            </a:r>
          </a:p>
        </p:txBody>
      </p:sp>
      <p:cxnSp>
        <p:nvCxnSpPr>
          <p:cNvPr id="41" name="Connector 40"/>
          <p:cNvCxnSpPr/>
          <p:nvPr/>
        </p:nvCxnSpPr>
        <p:spPr>
          <a:xfrm>
            <a:off x="1007668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9875519"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100</a:t>
            </a:r>
          </a:p>
        </p:txBody>
      </p:sp>
      <p:sp>
        <p:nvSpPr>
          <p:cNvPr id="43" name="TextBox 42"/>
          <p:cNvSpPr txBox="1"/>
          <p:nvPr/>
        </p:nvSpPr>
        <p:spPr>
          <a:xfrm>
            <a:off x="6391656" y="292150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0.8B</a:t>
            </a:r>
          </a:p>
        </p:txBody>
      </p:sp>
      <p:sp>
        <p:nvSpPr>
          <p:cNvPr id="44" name="Rectangle 43"/>
          <p:cNvSpPr/>
          <p:nvPr/>
        </p:nvSpPr>
        <p:spPr>
          <a:xfrm>
            <a:off x="7059168" y="2953512"/>
            <a:ext cx="248501" cy="237744"/>
          </a:xfrm>
          <a:prstGeom prst="rect">
            <a:avLst/>
          </a:prstGeom>
          <a:solidFill>
            <a:srgbClr val="4A5A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195560" y="286664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8.2%</a:t>
            </a:r>
          </a:p>
          <a:p>
            <a:pPr algn="l">
              <a:lnSpc>
                <a:spcPct val="109000"/>
              </a:lnSpc>
              <a:spcBef>
                <a:spcPts val="0"/>
              </a:spcBef>
              <a:spcAft>
                <a:spcPts val="0"/>
              </a:spcAft>
            </a:pPr>
            <a:r>
              <a:rPr sz="1250" b="0">
                <a:solidFill>
                  <a:srgbClr val="00407A"/>
                </a:solidFill>
                <a:latin typeface="Arial"/>
              </a:rPr>
              <a:t>7 of 85</a:t>
            </a:r>
          </a:p>
        </p:txBody>
      </p:sp>
      <p:sp>
        <p:nvSpPr>
          <p:cNvPr id="46" name="TextBox 45"/>
          <p:cNvSpPr txBox="1"/>
          <p:nvPr/>
        </p:nvSpPr>
        <p:spPr>
          <a:xfrm>
            <a:off x="6391656" y="3424427"/>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4B</a:t>
            </a:r>
          </a:p>
        </p:txBody>
      </p:sp>
      <p:sp>
        <p:nvSpPr>
          <p:cNvPr id="47" name="Rectangle 46"/>
          <p:cNvSpPr/>
          <p:nvPr/>
        </p:nvSpPr>
        <p:spPr>
          <a:xfrm>
            <a:off x="7059168" y="3456432"/>
            <a:ext cx="2662517" cy="237744"/>
          </a:xfrm>
          <a:prstGeom prst="rect">
            <a:avLst/>
          </a:prstGeom>
          <a:solidFill>
            <a:srgbClr val="0B5A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0195560" y="336956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88.2%</a:t>
            </a:r>
          </a:p>
          <a:p>
            <a:pPr algn="l">
              <a:lnSpc>
                <a:spcPct val="109000"/>
              </a:lnSpc>
              <a:spcBef>
                <a:spcPts val="0"/>
              </a:spcBef>
              <a:spcAft>
                <a:spcPts val="0"/>
              </a:spcAft>
            </a:pPr>
            <a:r>
              <a:rPr sz="1250" b="0">
                <a:solidFill>
                  <a:srgbClr val="00407A"/>
                </a:solidFill>
                <a:latin typeface="Arial"/>
              </a:rPr>
              <a:t>75 of 85</a:t>
            </a:r>
          </a:p>
        </p:txBody>
      </p:sp>
      <p:sp>
        <p:nvSpPr>
          <p:cNvPr id="49" name="TextBox 48"/>
          <p:cNvSpPr txBox="1"/>
          <p:nvPr/>
        </p:nvSpPr>
        <p:spPr>
          <a:xfrm>
            <a:off x="6391656" y="392734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9B</a:t>
            </a:r>
          </a:p>
        </p:txBody>
      </p:sp>
      <p:sp>
        <p:nvSpPr>
          <p:cNvPr id="50" name="Rectangle 49"/>
          <p:cNvSpPr/>
          <p:nvPr/>
        </p:nvSpPr>
        <p:spPr>
          <a:xfrm>
            <a:off x="7059168" y="3959351"/>
            <a:ext cx="2094513" cy="237744"/>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195560" y="387248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69.4%</a:t>
            </a:r>
          </a:p>
          <a:p>
            <a:pPr algn="l">
              <a:lnSpc>
                <a:spcPct val="109000"/>
              </a:lnSpc>
              <a:spcBef>
                <a:spcPts val="0"/>
              </a:spcBef>
              <a:spcAft>
                <a:spcPts val="0"/>
              </a:spcAft>
            </a:pPr>
            <a:r>
              <a:rPr sz="1250" b="0">
                <a:solidFill>
                  <a:srgbClr val="00407A"/>
                </a:solidFill>
                <a:latin typeface="Arial"/>
              </a:rPr>
              <a:t>59 of 85</a:t>
            </a:r>
          </a:p>
        </p:txBody>
      </p:sp>
      <p:sp>
        <p:nvSpPr>
          <p:cNvPr id="52" name="TextBox 51"/>
          <p:cNvSpPr txBox="1"/>
          <p:nvPr/>
        </p:nvSpPr>
        <p:spPr>
          <a:xfrm>
            <a:off x="6391656" y="443026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27B</a:t>
            </a:r>
          </a:p>
        </p:txBody>
      </p:sp>
      <p:sp>
        <p:nvSpPr>
          <p:cNvPr id="53" name="Rectangle 52"/>
          <p:cNvSpPr/>
          <p:nvPr/>
        </p:nvSpPr>
        <p:spPr>
          <a:xfrm>
            <a:off x="7059168" y="4462272"/>
            <a:ext cx="2627017" cy="237744"/>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0195560" y="437540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87.1%</a:t>
            </a:r>
          </a:p>
          <a:p>
            <a:pPr algn="l">
              <a:lnSpc>
                <a:spcPct val="109000"/>
              </a:lnSpc>
              <a:spcBef>
                <a:spcPts val="0"/>
              </a:spcBef>
              <a:spcAft>
                <a:spcPts val="0"/>
              </a:spcAft>
            </a:pPr>
            <a:r>
              <a:rPr sz="1250" b="0">
                <a:solidFill>
                  <a:srgbClr val="00407A"/>
                </a:solidFill>
                <a:latin typeface="Arial"/>
              </a:rPr>
              <a:t>74 of 85</a:t>
            </a:r>
          </a:p>
        </p:txBody>
      </p:sp>
      <p:cxnSp>
        <p:nvCxnSpPr>
          <p:cNvPr id="55" name="Connector 54"/>
          <p:cNvCxnSpPr/>
          <p:nvPr/>
        </p:nvCxnSpPr>
        <p:spPr>
          <a:xfrm>
            <a:off x="9544184" y="2907791"/>
            <a:ext cx="0" cy="329185"/>
          </a:xfrm>
          <a:prstGeom prst="line">
            <a:avLst/>
          </a:prstGeom>
          <a:ln w="34925">
            <a:solidFill>
              <a:srgbClr val="E97132"/>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9828186" y="3410711"/>
            <a:ext cx="0" cy="329185"/>
          </a:xfrm>
          <a:prstGeom prst="line">
            <a:avLst/>
          </a:prstGeom>
          <a:ln w="34925">
            <a:solidFill>
              <a:srgbClr val="E97132"/>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9863686" y="3913631"/>
            <a:ext cx="0" cy="329185"/>
          </a:xfrm>
          <a:prstGeom prst="line">
            <a:avLst/>
          </a:prstGeom>
          <a:ln w="34925">
            <a:solidFill>
              <a:srgbClr val="E97132"/>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9011680" y="4416552"/>
            <a:ext cx="0" cy="329184"/>
          </a:xfrm>
          <a:prstGeom prst="line">
            <a:avLst/>
          </a:prstGeom>
          <a:ln w="34925">
            <a:solidFill>
              <a:srgbClr val="E97132"/>
            </a:solidFill>
          </a:ln>
        </p:spPr>
        <p:style>
          <a:lnRef idx="2">
            <a:schemeClr val="accent1"/>
          </a:lnRef>
          <a:fillRef idx="0">
            <a:schemeClr val="accent1"/>
          </a:fillRef>
          <a:effectRef idx="1">
            <a:schemeClr val="accent1"/>
          </a:effectRef>
          <a:fontRef idx="minor">
            <a:schemeClr val="tx1"/>
          </a:fontRef>
        </p:style>
      </p:cxnSp>
      <p:sp>
        <p:nvSpPr>
          <p:cNvPr id="59" name="TextBox 58"/>
          <p:cNvSpPr txBox="1"/>
          <p:nvPr/>
        </p:nvSpPr>
        <p:spPr>
          <a:xfrm>
            <a:off x="6391656" y="5029200"/>
            <a:ext cx="4800600" cy="219456"/>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4A5A66"/>
                </a:solidFill>
                <a:latin typeface="Arial"/>
              </a:rPr>
              <a:t>Correct answers (%) — higher is better</a:t>
            </a:r>
          </a:p>
        </p:txBody>
      </p:sp>
      <p:sp>
        <p:nvSpPr>
          <p:cNvPr id="60" name="Rounded Rectangle 59"/>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No model reaches “always level 2” (37 of 85). KEV-0.8B chooses level 5 for all 85.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265176"/>
            <a:ext cx="10561320" cy="237744"/>
          </a:xfrm>
          <a:prstGeom prst="rect">
            <a:avLst/>
          </a:prstGeom>
          <a:noFill/>
        </p:spPr>
        <p:txBody>
          <a:bodyPr wrap="square" lIns="0" rIns="0" tIns="0" bIns="0" anchor="t">
            <a:noAutofit/>
          </a:bodyPr>
          <a:lstStyle/>
          <a:p>
            <a:pPr algn="l">
              <a:lnSpc>
                <a:spcPct val="109000"/>
              </a:lnSpc>
              <a:spcBef>
                <a:spcPts val="0"/>
              </a:spcBef>
              <a:spcAft>
                <a:spcPts val="0"/>
              </a:spcAft>
            </a:pPr>
            <a:r>
              <a:rPr sz="1250" b="1">
                <a:solidFill>
                  <a:srgbClr val="4A5A66"/>
                </a:solidFill>
                <a:latin typeface="Arial"/>
              </a:rPr>
              <a:t>EXPERIMENT 1  •  NO EXAMPLES</a:t>
            </a:r>
          </a:p>
        </p:txBody>
      </p:sp>
      <p:sp>
        <p:nvSpPr>
          <p:cNvPr id="3" name="TextBox 2"/>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Timing levels remain unreliable for every model</a:t>
            </a:r>
          </a:p>
        </p:txBody>
      </p:sp>
      <p:sp>
        <p:nvSpPr>
          <p:cNvPr id="4" name="TextBox 3"/>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92 held-out designs • these are level estimates from RTL, not timing-tool replacements.</a:t>
            </a:r>
          </a:p>
        </p:txBody>
      </p:sp>
      <p:sp>
        <p:nvSpPr>
          <p:cNvPr id="5" name="TextBox 4"/>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RESULTS</a:t>
            </a:r>
          </a:p>
        </p:txBody>
      </p:sp>
      <p:sp>
        <p:nvSpPr>
          <p:cNvPr id="6" name="TextBox 5"/>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26</a:t>
            </a:r>
          </a:p>
        </p:txBody>
      </p:sp>
      <p:sp>
        <p:nvSpPr>
          <p:cNvPr id="7" name="Rounded Rectangle 6"/>
          <p:cNvSpPr/>
          <p:nvPr/>
        </p:nvSpPr>
        <p:spPr>
          <a:xfrm>
            <a:off x="813816" y="1819656"/>
            <a:ext cx="5166360" cy="3730752"/>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14984" y="1984248"/>
            <a:ext cx="4764024" cy="502920"/>
          </a:xfrm>
          <a:prstGeom prst="rect">
            <a:avLst/>
          </a:prstGeom>
          <a:noFill/>
        </p:spPr>
        <p:txBody>
          <a:bodyPr wrap="square" lIns="0" rIns="0" tIns="0" bIns="0" anchor="t">
            <a:noAutofit/>
          </a:bodyPr>
          <a:lstStyle/>
          <a:p>
            <a:pPr algn="l">
              <a:lnSpc>
                <a:spcPct val="109000"/>
              </a:lnSpc>
              <a:spcBef>
                <a:spcPts val="0"/>
              </a:spcBef>
              <a:spcAft>
                <a:spcPts val="0"/>
              </a:spcAft>
            </a:pPr>
            <a:r>
              <a:rPr sz="1800" b="1">
                <a:solidFill>
                  <a:srgbClr val="00407A"/>
                </a:solidFill>
                <a:latin typeface="Arial"/>
              </a:rPr>
              <a:t>Exact clock-frequency level</a:t>
            </a:r>
          </a:p>
        </p:txBody>
      </p:sp>
      <p:sp>
        <p:nvSpPr>
          <p:cNvPr id="9" name="TextBox 8"/>
          <p:cNvSpPr txBox="1"/>
          <p:nvPr/>
        </p:nvSpPr>
        <p:spPr>
          <a:xfrm>
            <a:off x="1014984" y="2432304"/>
            <a:ext cx="4764024" cy="347472"/>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4A5A66"/>
                </a:solidFill>
                <a:latin typeface="Arial"/>
              </a:rPr>
              <a:t>Frequency derived from the 500 MHz netlist</a:t>
            </a:r>
          </a:p>
        </p:txBody>
      </p:sp>
      <p:cxnSp>
        <p:nvCxnSpPr>
          <p:cNvPr id="10" name="Connector 9"/>
          <p:cNvCxnSpPr/>
          <p:nvPr/>
        </p:nvCxnSpPr>
        <p:spPr>
          <a:xfrm>
            <a:off x="166420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146304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a:t>
            </a:r>
          </a:p>
        </p:txBody>
      </p:sp>
      <p:cxnSp>
        <p:nvCxnSpPr>
          <p:cNvPr id="12" name="Connector 11"/>
          <p:cNvCxnSpPr/>
          <p:nvPr/>
        </p:nvCxnSpPr>
        <p:spPr>
          <a:xfrm>
            <a:off x="317296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2971799"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50</a:t>
            </a:r>
          </a:p>
        </p:txBody>
      </p:sp>
      <p:cxnSp>
        <p:nvCxnSpPr>
          <p:cNvPr id="14" name="Connector 13"/>
          <p:cNvCxnSpPr/>
          <p:nvPr/>
        </p:nvCxnSpPr>
        <p:spPr>
          <a:xfrm>
            <a:off x="468172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448056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100</a:t>
            </a:r>
          </a:p>
        </p:txBody>
      </p:sp>
      <p:cxnSp>
        <p:nvCxnSpPr>
          <p:cNvPr id="16" name="Connector 15"/>
          <p:cNvCxnSpPr/>
          <p:nvPr/>
        </p:nvCxnSpPr>
        <p:spPr>
          <a:xfrm>
            <a:off x="3140168" y="2825496"/>
            <a:ext cx="0" cy="1856232"/>
          </a:xfrm>
          <a:prstGeom prst="line">
            <a:avLst/>
          </a:prstGeom>
          <a:ln w="15240">
            <a:solidFill>
              <a:srgbClr val="4A5A66"/>
            </a:solidFill>
            <a:prstDash val="dash"/>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996696" y="292150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0.8B</a:t>
            </a:r>
          </a:p>
        </p:txBody>
      </p:sp>
      <p:sp>
        <p:nvSpPr>
          <p:cNvPr id="18" name="Rectangle 17"/>
          <p:cNvSpPr/>
          <p:nvPr/>
        </p:nvSpPr>
        <p:spPr>
          <a:xfrm>
            <a:off x="1664208" y="2953512"/>
            <a:ext cx="426388" cy="237744"/>
          </a:xfrm>
          <a:prstGeom prst="rect">
            <a:avLst/>
          </a:prstGeom>
          <a:solidFill>
            <a:srgbClr val="4A5A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800600" y="286664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14.1%</a:t>
            </a:r>
          </a:p>
          <a:p>
            <a:pPr algn="l">
              <a:lnSpc>
                <a:spcPct val="109000"/>
              </a:lnSpc>
              <a:spcBef>
                <a:spcPts val="0"/>
              </a:spcBef>
              <a:spcAft>
                <a:spcPts val="0"/>
              </a:spcAft>
            </a:pPr>
            <a:r>
              <a:rPr sz="1250" b="0">
                <a:solidFill>
                  <a:srgbClr val="00407A"/>
                </a:solidFill>
                <a:latin typeface="Arial"/>
              </a:rPr>
              <a:t>13 of 92</a:t>
            </a:r>
          </a:p>
        </p:txBody>
      </p:sp>
      <p:sp>
        <p:nvSpPr>
          <p:cNvPr id="20" name="TextBox 19"/>
          <p:cNvSpPr txBox="1"/>
          <p:nvPr/>
        </p:nvSpPr>
        <p:spPr>
          <a:xfrm>
            <a:off x="996696" y="3424427"/>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4B</a:t>
            </a:r>
          </a:p>
        </p:txBody>
      </p:sp>
      <p:sp>
        <p:nvSpPr>
          <p:cNvPr id="21" name="Rectangle 20"/>
          <p:cNvSpPr/>
          <p:nvPr/>
        </p:nvSpPr>
        <p:spPr>
          <a:xfrm>
            <a:off x="1664208" y="3456432"/>
            <a:ext cx="360790" cy="237744"/>
          </a:xfrm>
          <a:prstGeom prst="rect">
            <a:avLst/>
          </a:prstGeom>
          <a:solidFill>
            <a:srgbClr val="0B5A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800600" y="336956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12.0%</a:t>
            </a:r>
          </a:p>
          <a:p>
            <a:pPr algn="l">
              <a:lnSpc>
                <a:spcPct val="109000"/>
              </a:lnSpc>
              <a:spcBef>
                <a:spcPts val="0"/>
              </a:spcBef>
              <a:spcAft>
                <a:spcPts val="0"/>
              </a:spcAft>
            </a:pPr>
            <a:r>
              <a:rPr sz="1250" b="0">
                <a:solidFill>
                  <a:srgbClr val="00407A"/>
                </a:solidFill>
                <a:latin typeface="Arial"/>
              </a:rPr>
              <a:t>11 of 92</a:t>
            </a:r>
          </a:p>
        </p:txBody>
      </p:sp>
      <p:sp>
        <p:nvSpPr>
          <p:cNvPr id="23" name="TextBox 22"/>
          <p:cNvSpPr txBox="1"/>
          <p:nvPr/>
        </p:nvSpPr>
        <p:spPr>
          <a:xfrm>
            <a:off x="996696" y="392734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9B</a:t>
            </a:r>
          </a:p>
        </p:txBody>
      </p:sp>
      <p:sp>
        <p:nvSpPr>
          <p:cNvPr id="24" name="Rectangle 23"/>
          <p:cNvSpPr/>
          <p:nvPr/>
        </p:nvSpPr>
        <p:spPr>
          <a:xfrm>
            <a:off x="1664208" y="3959351"/>
            <a:ext cx="426388" cy="237744"/>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800600" y="387248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14.1%</a:t>
            </a:r>
          </a:p>
          <a:p>
            <a:pPr algn="l">
              <a:lnSpc>
                <a:spcPct val="109000"/>
              </a:lnSpc>
              <a:spcBef>
                <a:spcPts val="0"/>
              </a:spcBef>
              <a:spcAft>
                <a:spcPts val="0"/>
              </a:spcAft>
            </a:pPr>
            <a:r>
              <a:rPr sz="1250" b="0">
                <a:solidFill>
                  <a:srgbClr val="00407A"/>
                </a:solidFill>
                <a:latin typeface="Arial"/>
              </a:rPr>
              <a:t>13 of 92</a:t>
            </a:r>
          </a:p>
        </p:txBody>
      </p:sp>
      <p:sp>
        <p:nvSpPr>
          <p:cNvPr id="26" name="TextBox 25"/>
          <p:cNvSpPr txBox="1"/>
          <p:nvPr/>
        </p:nvSpPr>
        <p:spPr>
          <a:xfrm>
            <a:off x="996696" y="443026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27B</a:t>
            </a:r>
          </a:p>
        </p:txBody>
      </p:sp>
      <p:sp>
        <p:nvSpPr>
          <p:cNvPr id="27" name="Rectangle 26"/>
          <p:cNvSpPr/>
          <p:nvPr/>
        </p:nvSpPr>
        <p:spPr>
          <a:xfrm>
            <a:off x="1664208" y="4462272"/>
            <a:ext cx="426388" cy="237744"/>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00600" y="437540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14.1%</a:t>
            </a:r>
          </a:p>
          <a:p>
            <a:pPr algn="l">
              <a:lnSpc>
                <a:spcPct val="109000"/>
              </a:lnSpc>
              <a:spcBef>
                <a:spcPts val="0"/>
              </a:spcBef>
              <a:spcAft>
                <a:spcPts val="0"/>
              </a:spcAft>
            </a:pPr>
            <a:r>
              <a:rPr sz="1250" b="0">
                <a:solidFill>
                  <a:srgbClr val="00407A"/>
                </a:solidFill>
                <a:latin typeface="Arial"/>
              </a:rPr>
              <a:t>13 of 92</a:t>
            </a:r>
          </a:p>
        </p:txBody>
      </p:sp>
      <p:sp>
        <p:nvSpPr>
          <p:cNvPr id="29" name="TextBox 28"/>
          <p:cNvSpPr txBox="1"/>
          <p:nvPr/>
        </p:nvSpPr>
        <p:spPr>
          <a:xfrm>
            <a:off x="996696" y="5029200"/>
            <a:ext cx="4800600" cy="219456"/>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4A5A66"/>
                </a:solidFill>
                <a:latin typeface="Arial"/>
              </a:rPr>
              <a:t>Correct answers (%) — higher is better</a:t>
            </a:r>
          </a:p>
        </p:txBody>
      </p:sp>
      <p:sp>
        <p:nvSpPr>
          <p:cNvPr id="30" name="TextBox 29"/>
          <p:cNvSpPr txBox="1"/>
          <p:nvPr/>
        </p:nvSpPr>
        <p:spPr>
          <a:xfrm>
            <a:off x="996696" y="5285232"/>
            <a:ext cx="4800600" cy="210312"/>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Dashed line: always level 4 = 48.9%</a:t>
            </a:r>
          </a:p>
        </p:txBody>
      </p:sp>
      <p:sp>
        <p:nvSpPr>
          <p:cNvPr id="31" name="Rounded Rectangle 30"/>
          <p:cNvSpPr/>
          <p:nvPr/>
        </p:nvSpPr>
        <p:spPr>
          <a:xfrm>
            <a:off x="6208776" y="1819656"/>
            <a:ext cx="5166360" cy="3730752"/>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09944" y="1984248"/>
            <a:ext cx="4764024" cy="502920"/>
          </a:xfrm>
          <a:prstGeom prst="rect">
            <a:avLst/>
          </a:prstGeom>
          <a:noFill/>
        </p:spPr>
        <p:txBody>
          <a:bodyPr wrap="square" lIns="0" rIns="0" tIns="0" bIns="0" anchor="t">
            <a:noAutofit/>
          </a:bodyPr>
          <a:lstStyle/>
          <a:p>
            <a:pPr algn="l">
              <a:lnSpc>
                <a:spcPct val="109000"/>
              </a:lnSpc>
              <a:spcBef>
                <a:spcPts val="0"/>
              </a:spcBef>
              <a:spcAft>
                <a:spcPts val="0"/>
              </a:spcAft>
            </a:pPr>
            <a:r>
              <a:rPr sz="1800" b="1">
                <a:solidFill>
                  <a:srgbClr val="00407A"/>
                </a:solidFill>
                <a:latin typeface="Arial"/>
              </a:rPr>
              <a:t>Exact timing-margin level</a:t>
            </a:r>
          </a:p>
        </p:txBody>
      </p:sp>
      <p:sp>
        <p:nvSpPr>
          <p:cNvPr id="33" name="TextBox 32"/>
          <p:cNvSpPr txBox="1"/>
          <p:nvPr/>
        </p:nvSpPr>
        <p:spPr>
          <a:xfrm>
            <a:off x="6409944" y="2432304"/>
            <a:ext cx="4764024" cy="347472"/>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4A5A66"/>
                </a:solidFill>
                <a:latin typeface="Arial"/>
              </a:rPr>
              <a:t>Worst slack at the 500 MHz target</a:t>
            </a:r>
          </a:p>
        </p:txBody>
      </p:sp>
      <p:cxnSp>
        <p:nvCxnSpPr>
          <p:cNvPr id="34" name="Connector 33"/>
          <p:cNvCxnSpPr/>
          <p:nvPr/>
        </p:nvCxnSpPr>
        <p:spPr>
          <a:xfrm>
            <a:off x="705916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685800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a:t>
            </a:r>
          </a:p>
        </p:txBody>
      </p:sp>
      <p:cxnSp>
        <p:nvCxnSpPr>
          <p:cNvPr id="36" name="Connector 35"/>
          <p:cNvCxnSpPr/>
          <p:nvPr/>
        </p:nvCxnSpPr>
        <p:spPr>
          <a:xfrm>
            <a:off x="856792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8366759"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50</a:t>
            </a:r>
          </a:p>
        </p:txBody>
      </p:sp>
      <p:cxnSp>
        <p:nvCxnSpPr>
          <p:cNvPr id="38" name="Connector 37"/>
          <p:cNvCxnSpPr/>
          <p:nvPr/>
        </p:nvCxnSpPr>
        <p:spPr>
          <a:xfrm>
            <a:off x="1007668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9875519"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100</a:t>
            </a:r>
          </a:p>
        </p:txBody>
      </p:sp>
      <p:cxnSp>
        <p:nvCxnSpPr>
          <p:cNvPr id="40" name="Connector 39"/>
          <p:cNvCxnSpPr/>
          <p:nvPr/>
        </p:nvCxnSpPr>
        <p:spPr>
          <a:xfrm>
            <a:off x="9125513" y="2825496"/>
            <a:ext cx="0" cy="1856232"/>
          </a:xfrm>
          <a:prstGeom prst="line">
            <a:avLst/>
          </a:prstGeom>
          <a:ln w="15240">
            <a:solidFill>
              <a:srgbClr val="4A5A66"/>
            </a:solidFill>
            <a:prstDash val="dash"/>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6391656" y="292150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0.8B</a:t>
            </a:r>
          </a:p>
        </p:txBody>
      </p:sp>
      <p:sp>
        <p:nvSpPr>
          <p:cNvPr id="42" name="Rectangle 41"/>
          <p:cNvSpPr/>
          <p:nvPr/>
        </p:nvSpPr>
        <p:spPr>
          <a:xfrm>
            <a:off x="7059168" y="2953512"/>
            <a:ext cx="262393" cy="237744"/>
          </a:xfrm>
          <a:prstGeom prst="rect">
            <a:avLst/>
          </a:prstGeom>
          <a:solidFill>
            <a:srgbClr val="4A5A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195560" y="286664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8.7%</a:t>
            </a:r>
          </a:p>
          <a:p>
            <a:pPr algn="l">
              <a:lnSpc>
                <a:spcPct val="109000"/>
              </a:lnSpc>
              <a:spcBef>
                <a:spcPts val="0"/>
              </a:spcBef>
              <a:spcAft>
                <a:spcPts val="0"/>
              </a:spcAft>
            </a:pPr>
            <a:r>
              <a:rPr sz="1250" b="0">
                <a:solidFill>
                  <a:srgbClr val="00407A"/>
                </a:solidFill>
                <a:latin typeface="Arial"/>
              </a:rPr>
              <a:t>8 of 92</a:t>
            </a:r>
          </a:p>
        </p:txBody>
      </p:sp>
      <p:sp>
        <p:nvSpPr>
          <p:cNvPr id="44" name="TextBox 43"/>
          <p:cNvSpPr txBox="1"/>
          <p:nvPr/>
        </p:nvSpPr>
        <p:spPr>
          <a:xfrm>
            <a:off x="6391656" y="3424427"/>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4B</a:t>
            </a:r>
          </a:p>
        </p:txBody>
      </p:sp>
      <p:sp>
        <p:nvSpPr>
          <p:cNvPr id="45" name="Rectangle 44"/>
          <p:cNvSpPr/>
          <p:nvPr/>
        </p:nvSpPr>
        <p:spPr>
          <a:xfrm>
            <a:off x="7059168" y="3456432"/>
            <a:ext cx="131196" cy="237744"/>
          </a:xfrm>
          <a:prstGeom prst="rect">
            <a:avLst/>
          </a:prstGeom>
          <a:solidFill>
            <a:srgbClr val="0B5A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0195560" y="336956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4.3%</a:t>
            </a:r>
          </a:p>
          <a:p>
            <a:pPr algn="l">
              <a:lnSpc>
                <a:spcPct val="109000"/>
              </a:lnSpc>
              <a:spcBef>
                <a:spcPts val="0"/>
              </a:spcBef>
              <a:spcAft>
                <a:spcPts val="0"/>
              </a:spcAft>
            </a:pPr>
            <a:r>
              <a:rPr sz="1250" b="0">
                <a:solidFill>
                  <a:srgbClr val="00407A"/>
                </a:solidFill>
                <a:latin typeface="Arial"/>
              </a:rPr>
              <a:t>4 of 92</a:t>
            </a:r>
          </a:p>
        </p:txBody>
      </p:sp>
      <p:sp>
        <p:nvSpPr>
          <p:cNvPr id="47" name="TextBox 46"/>
          <p:cNvSpPr txBox="1"/>
          <p:nvPr/>
        </p:nvSpPr>
        <p:spPr>
          <a:xfrm>
            <a:off x="6391656" y="392734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9B</a:t>
            </a:r>
          </a:p>
        </p:txBody>
      </p:sp>
      <p:sp>
        <p:nvSpPr>
          <p:cNvPr id="48" name="Rectangle 47"/>
          <p:cNvSpPr/>
          <p:nvPr/>
        </p:nvSpPr>
        <p:spPr>
          <a:xfrm>
            <a:off x="7059168" y="3959351"/>
            <a:ext cx="98397" cy="237744"/>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0195560" y="387248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3.3%</a:t>
            </a:r>
          </a:p>
          <a:p>
            <a:pPr algn="l">
              <a:lnSpc>
                <a:spcPct val="109000"/>
              </a:lnSpc>
              <a:spcBef>
                <a:spcPts val="0"/>
              </a:spcBef>
              <a:spcAft>
                <a:spcPts val="0"/>
              </a:spcAft>
            </a:pPr>
            <a:r>
              <a:rPr sz="1250" b="0">
                <a:solidFill>
                  <a:srgbClr val="00407A"/>
                </a:solidFill>
                <a:latin typeface="Arial"/>
              </a:rPr>
              <a:t>3 of 92</a:t>
            </a:r>
          </a:p>
        </p:txBody>
      </p:sp>
      <p:sp>
        <p:nvSpPr>
          <p:cNvPr id="50" name="TextBox 49"/>
          <p:cNvSpPr txBox="1"/>
          <p:nvPr/>
        </p:nvSpPr>
        <p:spPr>
          <a:xfrm>
            <a:off x="6391656" y="443026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27B</a:t>
            </a:r>
          </a:p>
        </p:txBody>
      </p:sp>
      <p:sp>
        <p:nvSpPr>
          <p:cNvPr id="51" name="Rectangle 50"/>
          <p:cNvSpPr/>
          <p:nvPr/>
        </p:nvSpPr>
        <p:spPr>
          <a:xfrm>
            <a:off x="7059168" y="4462272"/>
            <a:ext cx="983973" cy="237744"/>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10195560" y="437540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32.6%</a:t>
            </a:r>
          </a:p>
          <a:p>
            <a:pPr algn="l">
              <a:lnSpc>
                <a:spcPct val="109000"/>
              </a:lnSpc>
              <a:spcBef>
                <a:spcPts val="0"/>
              </a:spcBef>
              <a:spcAft>
                <a:spcPts val="0"/>
              </a:spcAft>
            </a:pPr>
            <a:r>
              <a:rPr sz="1250" b="0">
                <a:solidFill>
                  <a:srgbClr val="00407A"/>
                </a:solidFill>
                <a:latin typeface="Arial"/>
              </a:rPr>
              <a:t>30 of 92</a:t>
            </a:r>
          </a:p>
        </p:txBody>
      </p:sp>
      <p:sp>
        <p:nvSpPr>
          <p:cNvPr id="53" name="TextBox 52"/>
          <p:cNvSpPr txBox="1"/>
          <p:nvPr/>
        </p:nvSpPr>
        <p:spPr>
          <a:xfrm>
            <a:off x="6391656" y="5029200"/>
            <a:ext cx="4800600" cy="219456"/>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4A5A66"/>
                </a:solidFill>
                <a:latin typeface="Arial"/>
              </a:rPr>
              <a:t>Correct answers (%) — higher is better</a:t>
            </a:r>
          </a:p>
        </p:txBody>
      </p:sp>
      <p:sp>
        <p:nvSpPr>
          <p:cNvPr id="54" name="TextBox 53"/>
          <p:cNvSpPr txBox="1"/>
          <p:nvPr/>
        </p:nvSpPr>
        <p:spPr>
          <a:xfrm>
            <a:off x="6391656" y="5285232"/>
            <a:ext cx="4800600" cy="210312"/>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Dashed line: always level 5 = 68.5%</a:t>
            </a:r>
          </a:p>
        </p:txBody>
      </p:sp>
      <p:sp>
        <p:nvSpPr>
          <p:cNvPr id="55" name="Rounded Rectangle 54"/>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27B’s better slack result still falls below the stated constant-answer reference.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265176"/>
            <a:ext cx="10561320" cy="237744"/>
          </a:xfrm>
          <a:prstGeom prst="rect">
            <a:avLst/>
          </a:prstGeom>
          <a:noFill/>
        </p:spPr>
        <p:txBody>
          <a:bodyPr wrap="square" lIns="0" rIns="0" tIns="0" bIns="0" anchor="t">
            <a:noAutofit/>
          </a:bodyPr>
          <a:lstStyle/>
          <a:p>
            <a:pPr algn="l">
              <a:lnSpc>
                <a:spcPct val="109000"/>
              </a:lnSpc>
              <a:spcBef>
                <a:spcPts val="0"/>
              </a:spcBef>
              <a:spcAft>
                <a:spcPts val="0"/>
              </a:spcAft>
            </a:pPr>
            <a:r>
              <a:rPr sz="1250" b="1">
                <a:solidFill>
                  <a:srgbClr val="0B5A93"/>
                </a:solidFill>
                <a:latin typeface="Arial"/>
              </a:rPr>
              <a:t>EXPERIMENT 2  •  THREE SOLVED EXAMPLES PER QUESTION</a:t>
            </a:r>
          </a:p>
        </p:txBody>
      </p:sp>
      <p:sp>
        <p:nvSpPr>
          <p:cNvPr id="3" name="TextBox 2"/>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No timing score beats a constant answer</a:t>
            </a:r>
          </a:p>
        </p:txBody>
      </p:sp>
      <p:sp>
        <p:nvSpPr>
          <p:cNvPr id="4" name="TextBox 3"/>
          <p:cNvSpPr txBox="1"/>
          <p:nvPr/>
        </p:nvSpPr>
        <p:spPr>
          <a:xfrm>
            <a:off x="813816" y="1261872"/>
            <a:ext cx="10561320" cy="438912"/>
          </a:xfrm>
          <a:prstGeom prst="rect">
            <a:avLst/>
          </a:prstGeom>
          <a:noFill/>
        </p:spPr>
        <p:txBody>
          <a:bodyPr wrap="square" lIns="0" rIns="0" tIns="0" bIns="0">
            <a:noAutofit/>
          </a:bodyPr>
          <a:lstStyle/>
          <a:p>
            <a:pPr>
              <a:lnSpc>
                <a:spcPct val="109000"/>
              </a:lnSpc>
              <a:spcBef>
                <a:spcPts val="0"/>
              </a:spcBef>
              <a:spcAft>
                <a:spcPts val="0"/>
              </a:spcAft>
            </a:pPr>
            <a:r>
              <a:rPr sz="1600" b="0">
                <a:solidFill>
                  <a:srgbClr val="4A5A66"/>
                </a:solidFill>
                <a:latin typeface="Arial"/>
              </a:rPr>
              <a:t>92 held-out designs; three solved examples per question.    </a:t>
            </a:r>
            <a:r>
              <a:rPr sz="1600" b="1">
                <a:solidFill>
                  <a:srgbClr val="E97132"/>
                </a:solidFill>
                <a:latin typeface="Arial"/>
              </a:rPr>
              <a:t>|</a:t>
            </a:r>
            <a:r>
              <a:rPr sz="1600" b="0">
                <a:solidFill>
                  <a:srgbClr val="4A5A66"/>
                </a:solidFill>
                <a:latin typeface="Arial"/>
              </a:rPr>
              <a:t> = the score without examples</a:t>
            </a:r>
          </a:p>
        </p:txBody>
      </p:sp>
      <p:sp>
        <p:nvSpPr>
          <p:cNvPr id="5" name="TextBox 4"/>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three examples per question  •  16 October 2026  |  RESULTS</a:t>
            </a:r>
          </a:p>
        </p:txBody>
      </p:sp>
      <p:sp>
        <p:nvSpPr>
          <p:cNvPr id="6" name="TextBox 5"/>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27</a:t>
            </a:r>
          </a:p>
        </p:txBody>
      </p:sp>
      <p:sp>
        <p:nvSpPr>
          <p:cNvPr id="7" name="Rounded Rectangle 6"/>
          <p:cNvSpPr/>
          <p:nvPr/>
        </p:nvSpPr>
        <p:spPr>
          <a:xfrm>
            <a:off x="813816" y="1819656"/>
            <a:ext cx="5166360" cy="3730752"/>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14984" y="1984248"/>
            <a:ext cx="4764024" cy="502920"/>
          </a:xfrm>
          <a:prstGeom prst="rect">
            <a:avLst/>
          </a:prstGeom>
          <a:noFill/>
        </p:spPr>
        <p:txBody>
          <a:bodyPr wrap="square" lIns="0" rIns="0" tIns="0" bIns="0" anchor="t">
            <a:noAutofit/>
          </a:bodyPr>
          <a:lstStyle/>
          <a:p>
            <a:pPr algn="l">
              <a:lnSpc>
                <a:spcPct val="109000"/>
              </a:lnSpc>
              <a:spcBef>
                <a:spcPts val="0"/>
              </a:spcBef>
              <a:spcAft>
                <a:spcPts val="0"/>
              </a:spcAft>
            </a:pPr>
            <a:r>
              <a:rPr sz="1800" b="1">
                <a:solidFill>
                  <a:srgbClr val="00407A"/>
                </a:solidFill>
                <a:latin typeface="Arial"/>
              </a:rPr>
              <a:t>Exact clock-frequency level</a:t>
            </a:r>
          </a:p>
        </p:txBody>
      </p:sp>
      <p:sp>
        <p:nvSpPr>
          <p:cNvPr id="9" name="TextBox 8"/>
          <p:cNvSpPr txBox="1"/>
          <p:nvPr/>
        </p:nvSpPr>
        <p:spPr>
          <a:xfrm>
            <a:off x="1014984" y="2432304"/>
            <a:ext cx="4764024" cy="347472"/>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4A5A66"/>
                </a:solidFill>
                <a:latin typeface="Arial"/>
              </a:rPr>
              <a:t>Frequency derived from the 500 MHz netlist</a:t>
            </a:r>
          </a:p>
        </p:txBody>
      </p:sp>
      <p:cxnSp>
        <p:nvCxnSpPr>
          <p:cNvPr id="10" name="Connector 9"/>
          <p:cNvCxnSpPr/>
          <p:nvPr/>
        </p:nvCxnSpPr>
        <p:spPr>
          <a:xfrm>
            <a:off x="166420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146304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a:t>
            </a:r>
          </a:p>
        </p:txBody>
      </p:sp>
      <p:cxnSp>
        <p:nvCxnSpPr>
          <p:cNvPr id="12" name="Connector 11"/>
          <p:cNvCxnSpPr/>
          <p:nvPr/>
        </p:nvCxnSpPr>
        <p:spPr>
          <a:xfrm>
            <a:off x="317296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2971799"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50</a:t>
            </a:r>
          </a:p>
        </p:txBody>
      </p:sp>
      <p:cxnSp>
        <p:nvCxnSpPr>
          <p:cNvPr id="14" name="Connector 13"/>
          <p:cNvCxnSpPr/>
          <p:nvPr/>
        </p:nvCxnSpPr>
        <p:spPr>
          <a:xfrm>
            <a:off x="468172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448056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100</a:t>
            </a:r>
          </a:p>
        </p:txBody>
      </p:sp>
      <p:cxnSp>
        <p:nvCxnSpPr>
          <p:cNvPr id="16" name="Connector 15"/>
          <p:cNvCxnSpPr/>
          <p:nvPr/>
        </p:nvCxnSpPr>
        <p:spPr>
          <a:xfrm>
            <a:off x="3140168" y="2825496"/>
            <a:ext cx="0" cy="1856232"/>
          </a:xfrm>
          <a:prstGeom prst="line">
            <a:avLst/>
          </a:prstGeom>
          <a:ln w="15240">
            <a:solidFill>
              <a:srgbClr val="4A5A66"/>
            </a:solidFill>
            <a:prstDash val="dash"/>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996696" y="292150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0.8B</a:t>
            </a:r>
          </a:p>
        </p:txBody>
      </p:sp>
      <p:sp>
        <p:nvSpPr>
          <p:cNvPr id="18" name="Rectangle 17"/>
          <p:cNvSpPr/>
          <p:nvPr/>
        </p:nvSpPr>
        <p:spPr>
          <a:xfrm>
            <a:off x="1664208" y="2953512"/>
            <a:ext cx="721580" cy="237744"/>
          </a:xfrm>
          <a:prstGeom prst="rect">
            <a:avLst/>
          </a:prstGeom>
          <a:solidFill>
            <a:srgbClr val="4A5A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800600" y="286664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23.9%</a:t>
            </a:r>
          </a:p>
          <a:p>
            <a:pPr algn="l">
              <a:lnSpc>
                <a:spcPct val="109000"/>
              </a:lnSpc>
              <a:spcBef>
                <a:spcPts val="0"/>
              </a:spcBef>
              <a:spcAft>
                <a:spcPts val="0"/>
              </a:spcAft>
            </a:pPr>
            <a:r>
              <a:rPr sz="1250" b="0">
                <a:solidFill>
                  <a:srgbClr val="00407A"/>
                </a:solidFill>
                <a:latin typeface="Arial"/>
              </a:rPr>
              <a:t>22 of 92</a:t>
            </a:r>
          </a:p>
        </p:txBody>
      </p:sp>
      <p:sp>
        <p:nvSpPr>
          <p:cNvPr id="20" name="TextBox 19"/>
          <p:cNvSpPr txBox="1"/>
          <p:nvPr/>
        </p:nvSpPr>
        <p:spPr>
          <a:xfrm>
            <a:off x="996696" y="3424427"/>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4B</a:t>
            </a:r>
          </a:p>
        </p:txBody>
      </p:sp>
      <p:sp>
        <p:nvSpPr>
          <p:cNvPr id="21" name="Rectangle 20"/>
          <p:cNvSpPr/>
          <p:nvPr/>
        </p:nvSpPr>
        <p:spPr>
          <a:xfrm>
            <a:off x="1664208" y="3456432"/>
            <a:ext cx="688781" cy="237744"/>
          </a:xfrm>
          <a:prstGeom prst="rect">
            <a:avLst/>
          </a:prstGeom>
          <a:solidFill>
            <a:srgbClr val="0B5A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800600" y="336956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22.8%</a:t>
            </a:r>
          </a:p>
          <a:p>
            <a:pPr algn="l">
              <a:lnSpc>
                <a:spcPct val="109000"/>
              </a:lnSpc>
              <a:spcBef>
                <a:spcPts val="0"/>
              </a:spcBef>
              <a:spcAft>
                <a:spcPts val="0"/>
              </a:spcAft>
            </a:pPr>
            <a:r>
              <a:rPr sz="1250" b="0">
                <a:solidFill>
                  <a:srgbClr val="00407A"/>
                </a:solidFill>
                <a:latin typeface="Arial"/>
              </a:rPr>
              <a:t>21 of 92</a:t>
            </a:r>
          </a:p>
        </p:txBody>
      </p:sp>
      <p:sp>
        <p:nvSpPr>
          <p:cNvPr id="23" name="TextBox 22"/>
          <p:cNvSpPr txBox="1"/>
          <p:nvPr/>
        </p:nvSpPr>
        <p:spPr>
          <a:xfrm>
            <a:off x="996696" y="392734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9B</a:t>
            </a:r>
          </a:p>
        </p:txBody>
      </p:sp>
      <p:sp>
        <p:nvSpPr>
          <p:cNvPr id="24" name="Rectangle 23"/>
          <p:cNvSpPr/>
          <p:nvPr/>
        </p:nvSpPr>
        <p:spPr>
          <a:xfrm>
            <a:off x="1664208" y="3959351"/>
            <a:ext cx="491986" cy="237744"/>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800600" y="387248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16.3%</a:t>
            </a:r>
          </a:p>
          <a:p>
            <a:pPr algn="l">
              <a:lnSpc>
                <a:spcPct val="109000"/>
              </a:lnSpc>
              <a:spcBef>
                <a:spcPts val="0"/>
              </a:spcBef>
              <a:spcAft>
                <a:spcPts val="0"/>
              </a:spcAft>
            </a:pPr>
            <a:r>
              <a:rPr sz="1250" b="0">
                <a:solidFill>
                  <a:srgbClr val="00407A"/>
                </a:solidFill>
                <a:latin typeface="Arial"/>
              </a:rPr>
              <a:t>15 of 92</a:t>
            </a:r>
          </a:p>
        </p:txBody>
      </p:sp>
      <p:sp>
        <p:nvSpPr>
          <p:cNvPr id="26" name="TextBox 25"/>
          <p:cNvSpPr txBox="1"/>
          <p:nvPr/>
        </p:nvSpPr>
        <p:spPr>
          <a:xfrm>
            <a:off x="996696" y="443026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27B</a:t>
            </a:r>
          </a:p>
        </p:txBody>
      </p:sp>
      <p:sp>
        <p:nvSpPr>
          <p:cNvPr id="27" name="Rectangle 26"/>
          <p:cNvSpPr/>
          <p:nvPr/>
        </p:nvSpPr>
        <p:spPr>
          <a:xfrm>
            <a:off x="1664208" y="4462272"/>
            <a:ext cx="1180768" cy="237744"/>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00600" y="437540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39.1%</a:t>
            </a:r>
          </a:p>
          <a:p>
            <a:pPr algn="l">
              <a:lnSpc>
                <a:spcPct val="109000"/>
              </a:lnSpc>
              <a:spcBef>
                <a:spcPts val="0"/>
              </a:spcBef>
              <a:spcAft>
                <a:spcPts val="0"/>
              </a:spcAft>
            </a:pPr>
            <a:r>
              <a:rPr sz="1250" b="0">
                <a:solidFill>
                  <a:srgbClr val="00407A"/>
                </a:solidFill>
                <a:latin typeface="Arial"/>
              </a:rPr>
              <a:t>36 of 92</a:t>
            </a:r>
          </a:p>
        </p:txBody>
      </p:sp>
      <p:cxnSp>
        <p:nvCxnSpPr>
          <p:cNvPr id="29" name="Connector 28"/>
          <p:cNvCxnSpPr/>
          <p:nvPr/>
        </p:nvCxnSpPr>
        <p:spPr>
          <a:xfrm>
            <a:off x="2090596" y="2907791"/>
            <a:ext cx="0" cy="329185"/>
          </a:xfrm>
          <a:prstGeom prst="line">
            <a:avLst/>
          </a:prstGeom>
          <a:ln w="34925">
            <a:solidFill>
              <a:srgbClr val="E97132"/>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2024998" y="3410711"/>
            <a:ext cx="0" cy="329185"/>
          </a:xfrm>
          <a:prstGeom prst="line">
            <a:avLst/>
          </a:prstGeom>
          <a:ln w="34925">
            <a:solidFill>
              <a:srgbClr val="E97132"/>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2090596" y="3913631"/>
            <a:ext cx="0" cy="329185"/>
          </a:xfrm>
          <a:prstGeom prst="line">
            <a:avLst/>
          </a:prstGeom>
          <a:ln w="34925">
            <a:solidFill>
              <a:srgbClr val="E97132"/>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2090596" y="4416552"/>
            <a:ext cx="0" cy="329184"/>
          </a:xfrm>
          <a:prstGeom prst="line">
            <a:avLst/>
          </a:prstGeom>
          <a:ln w="34925">
            <a:solidFill>
              <a:srgbClr val="E9713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996696" y="5029200"/>
            <a:ext cx="4800600" cy="219456"/>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4A5A66"/>
                </a:solidFill>
                <a:latin typeface="Arial"/>
              </a:rPr>
              <a:t>Correct answers (%) — higher is better</a:t>
            </a:r>
          </a:p>
        </p:txBody>
      </p:sp>
      <p:sp>
        <p:nvSpPr>
          <p:cNvPr id="34" name="TextBox 33"/>
          <p:cNvSpPr txBox="1"/>
          <p:nvPr/>
        </p:nvSpPr>
        <p:spPr>
          <a:xfrm>
            <a:off x="996696" y="5285232"/>
            <a:ext cx="4800600" cy="210312"/>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Dashed line: always level 4 = 48.9%</a:t>
            </a:r>
          </a:p>
        </p:txBody>
      </p:sp>
      <p:sp>
        <p:nvSpPr>
          <p:cNvPr id="35" name="Rounded Rectangle 34"/>
          <p:cNvSpPr/>
          <p:nvPr/>
        </p:nvSpPr>
        <p:spPr>
          <a:xfrm>
            <a:off x="6208776" y="1819656"/>
            <a:ext cx="5166360" cy="3730752"/>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409944" y="1984248"/>
            <a:ext cx="4764024" cy="502920"/>
          </a:xfrm>
          <a:prstGeom prst="rect">
            <a:avLst/>
          </a:prstGeom>
          <a:noFill/>
        </p:spPr>
        <p:txBody>
          <a:bodyPr wrap="square" lIns="0" rIns="0" tIns="0" bIns="0" anchor="t">
            <a:noAutofit/>
          </a:bodyPr>
          <a:lstStyle/>
          <a:p>
            <a:pPr algn="l">
              <a:lnSpc>
                <a:spcPct val="109000"/>
              </a:lnSpc>
              <a:spcBef>
                <a:spcPts val="0"/>
              </a:spcBef>
              <a:spcAft>
                <a:spcPts val="0"/>
              </a:spcAft>
            </a:pPr>
            <a:r>
              <a:rPr sz="1800" b="1">
                <a:solidFill>
                  <a:srgbClr val="00407A"/>
                </a:solidFill>
                <a:latin typeface="Arial"/>
              </a:rPr>
              <a:t>Exact timing-margin level</a:t>
            </a:r>
          </a:p>
        </p:txBody>
      </p:sp>
      <p:sp>
        <p:nvSpPr>
          <p:cNvPr id="37" name="TextBox 36"/>
          <p:cNvSpPr txBox="1"/>
          <p:nvPr/>
        </p:nvSpPr>
        <p:spPr>
          <a:xfrm>
            <a:off x="6409944" y="2432304"/>
            <a:ext cx="4764024" cy="347472"/>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4A5A66"/>
                </a:solidFill>
                <a:latin typeface="Arial"/>
              </a:rPr>
              <a:t>Worst slack at the 500 MHz target</a:t>
            </a:r>
          </a:p>
        </p:txBody>
      </p:sp>
      <p:cxnSp>
        <p:nvCxnSpPr>
          <p:cNvPr id="38" name="Connector 37"/>
          <p:cNvCxnSpPr/>
          <p:nvPr/>
        </p:nvCxnSpPr>
        <p:spPr>
          <a:xfrm>
            <a:off x="705916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685800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a:t>
            </a:r>
          </a:p>
        </p:txBody>
      </p:sp>
      <p:cxnSp>
        <p:nvCxnSpPr>
          <p:cNvPr id="40" name="Connector 39"/>
          <p:cNvCxnSpPr/>
          <p:nvPr/>
        </p:nvCxnSpPr>
        <p:spPr>
          <a:xfrm>
            <a:off x="856792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8366759"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50</a:t>
            </a:r>
          </a:p>
        </p:txBody>
      </p:sp>
      <p:cxnSp>
        <p:nvCxnSpPr>
          <p:cNvPr id="42" name="Connector 41"/>
          <p:cNvCxnSpPr/>
          <p:nvPr/>
        </p:nvCxnSpPr>
        <p:spPr>
          <a:xfrm>
            <a:off x="1007668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9875519"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100</a:t>
            </a:r>
          </a:p>
        </p:txBody>
      </p:sp>
      <p:cxnSp>
        <p:nvCxnSpPr>
          <p:cNvPr id="44" name="Connector 43"/>
          <p:cNvCxnSpPr/>
          <p:nvPr/>
        </p:nvCxnSpPr>
        <p:spPr>
          <a:xfrm>
            <a:off x="9125513" y="2825496"/>
            <a:ext cx="0" cy="1856232"/>
          </a:xfrm>
          <a:prstGeom prst="line">
            <a:avLst/>
          </a:prstGeom>
          <a:ln w="15240">
            <a:solidFill>
              <a:srgbClr val="4A5A66"/>
            </a:solidFill>
            <a:prstDash val="dash"/>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6391656" y="292150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0.8B</a:t>
            </a:r>
          </a:p>
        </p:txBody>
      </p:sp>
      <p:sp>
        <p:nvSpPr>
          <p:cNvPr id="46" name="Rectangle 45"/>
          <p:cNvSpPr/>
          <p:nvPr/>
        </p:nvSpPr>
        <p:spPr>
          <a:xfrm>
            <a:off x="7059168" y="2953512"/>
            <a:ext cx="2066345" cy="237744"/>
          </a:xfrm>
          <a:prstGeom prst="rect">
            <a:avLst/>
          </a:prstGeom>
          <a:solidFill>
            <a:srgbClr val="4A5A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195560" y="286664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68.5%</a:t>
            </a:r>
          </a:p>
          <a:p>
            <a:pPr algn="l">
              <a:lnSpc>
                <a:spcPct val="109000"/>
              </a:lnSpc>
              <a:spcBef>
                <a:spcPts val="0"/>
              </a:spcBef>
              <a:spcAft>
                <a:spcPts val="0"/>
              </a:spcAft>
            </a:pPr>
            <a:r>
              <a:rPr sz="1250" b="0">
                <a:solidFill>
                  <a:srgbClr val="00407A"/>
                </a:solidFill>
                <a:latin typeface="Arial"/>
              </a:rPr>
              <a:t>63 of 92</a:t>
            </a:r>
          </a:p>
        </p:txBody>
      </p:sp>
      <p:sp>
        <p:nvSpPr>
          <p:cNvPr id="48" name="TextBox 47"/>
          <p:cNvSpPr txBox="1"/>
          <p:nvPr/>
        </p:nvSpPr>
        <p:spPr>
          <a:xfrm>
            <a:off x="6391656" y="3424427"/>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4B</a:t>
            </a:r>
          </a:p>
        </p:txBody>
      </p:sp>
      <p:sp>
        <p:nvSpPr>
          <p:cNvPr id="49" name="Rectangle 48"/>
          <p:cNvSpPr/>
          <p:nvPr/>
        </p:nvSpPr>
        <p:spPr>
          <a:xfrm>
            <a:off x="7059168" y="3456432"/>
            <a:ext cx="327991" cy="237744"/>
          </a:xfrm>
          <a:prstGeom prst="rect">
            <a:avLst/>
          </a:prstGeom>
          <a:solidFill>
            <a:srgbClr val="0B5A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195560" y="336956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10.9%</a:t>
            </a:r>
          </a:p>
          <a:p>
            <a:pPr algn="l">
              <a:lnSpc>
                <a:spcPct val="109000"/>
              </a:lnSpc>
              <a:spcBef>
                <a:spcPts val="0"/>
              </a:spcBef>
              <a:spcAft>
                <a:spcPts val="0"/>
              </a:spcAft>
            </a:pPr>
            <a:r>
              <a:rPr sz="1250" b="0">
                <a:solidFill>
                  <a:srgbClr val="00407A"/>
                </a:solidFill>
                <a:latin typeface="Arial"/>
              </a:rPr>
              <a:t>10 of 92</a:t>
            </a:r>
          </a:p>
        </p:txBody>
      </p:sp>
      <p:sp>
        <p:nvSpPr>
          <p:cNvPr id="51" name="TextBox 50"/>
          <p:cNvSpPr txBox="1"/>
          <p:nvPr/>
        </p:nvSpPr>
        <p:spPr>
          <a:xfrm>
            <a:off x="6391656" y="392734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9B</a:t>
            </a:r>
          </a:p>
        </p:txBody>
      </p:sp>
      <p:sp>
        <p:nvSpPr>
          <p:cNvPr id="52" name="Rectangle 51"/>
          <p:cNvSpPr/>
          <p:nvPr/>
        </p:nvSpPr>
        <p:spPr>
          <a:xfrm>
            <a:off x="7059168" y="3959351"/>
            <a:ext cx="491986" cy="237744"/>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10195560" y="387248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16.3%</a:t>
            </a:r>
          </a:p>
          <a:p>
            <a:pPr algn="l">
              <a:lnSpc>
                <a:spcPct val="109000"/>
              </a:lnSpc>
              <a:spcBef>
                <a:spcPts val="0"/>
              </a:spcBef>
              <a:spcAft>
                <a:spcPts val="0"/>
              </a:spcAft>
            </a:pPr>
            <a:r>
              <a:rPr sz="1250" b="0">
                <a:solidFill>
                  <a:srgbClr val="00407A"/>
                </a:solidFill>
                <a:latin typeface="Arial"/>
              </a:rPr>
              <a:t>15 of 92</a:t>
            </a:r>
          </a:p>
        </p:txBody>
      </p:sp>
      <p:sp>
        <p:nvSpPr>
          <p:cNvPr id="54" name="TextBox 53"/>
          <p:cNvSpPr txBox="1"/>
          <p:nvPr/>
        </p:nvSpPr>
        <p:spPr>
          <a:xfrm>
            <a:off x="6391656" y="443026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27B</a:t>
            </a:r>
          </a:p>
        </p:txBody>
      </p:sp>
      <p:sp>
        <p:nvSpPr>
          <p:cNvPr id="55" name="Rectangle 54"/>
          <p:cNvSpPr/>
          <p:nvPr/>
        </p:nvSpPr>
        <p:spPr>
          <a:xfrm>
            <a:off x="7059168" y="4462272"/>
            <a:ext cx="1967947" cy="237744"/>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10195560" y="437540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65.2%</a:t>
            </a:r>
          </a:p>
          <a:p>
            <a:pPr algn="l">
              <a:lnSpc>
                <a:spcPct val="109000"/>
              </a:lnSpc>
              <a:spcBef>
                <a:spcPts val="0"/>
              </a:spcBef>
              <a:spcAft>
                <a:spcPts val="0"/>
              </a:spcAft>
            </a:pPr>
            <a:r>
              <a:rPr sz="1250" b="0">
                <a:solidFill>
                  <a:srgbClr val="00407A"/>
                </a:solidFill>
                <a:latin typeface="Arial"/>
              </a:rPr>
              <a:t>60 of 92</a:t>
            </a:r>
          </a:p>
        </p:txBody>
      </p:sp>
      <p:cxnSp>
        <p:nvCxnSpPr>
          <p:cNvPr id="57" name="Connector 56"/>
          <p:cNvCxnSpPr/>
          <p:nvPr/>
        </p:nvCxnSpPr>
        <p:spPr>
          <a:xfrm>
            <a:off x="7321561" y="2907791"/>
            <a:ext cx="0" cy="329185"/>
          </a:xfrm>
          <a:prstGeom prst="line">
            <a:avLst/>
          </a:prstGeom>
          <a:ln w="34925">
            <a:solidFill>
              <a:srgbClr val="E97132"/>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7190364" y="3410711"/>
            <a:ext cx="0" cy="329185"/>
          </a:xfrm>
          <a:prstGeom prst="line">
            <a:avLst/>
          </a:prstGeom>
          <a:ln w="34925">
            <a:solidFill>
              <a:srgbClr val="E97132"/>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7157565" y="3913631"/>
            <a:ext cx="0" cy="329185"/>
          </a:xfrm>
          <a:prstGeom prst="line">
            <a:avLst/>
          </a:prstGeom>
          <a:ln w="34925">
            <a:solidFill>
              <a:srgbClr val="E97132"/>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8043141" y="4416552"/>
            <a:ext cx="0" cy="329184"/>
          </a:xfrm>
          <a:prstGeom prst="line">
            <a:avLst/>
          </a:prstGeom>
          <a:ln w="34925">
            <a:solidFill>
              <a:srgbClr val="E97132"/>
            </a:solidFill>
          </a:ln>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6391656" y="5029200"/>
            <a:ext cx="4800600" cy="219456"/>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4A5A66"/>
                </a:solidFill>
                <a:latin typeface="Arial"/>
              </a:rPr>
              <a:t>Correct answers (%) — higher is better</a:t>
            </a:r>
          </a:p>
        </p:txBody>
      </p:sp>
      <p:sp>
        <p:nvSpPr>
          <p:cNvPr id="62" name="TextBox 61"/>
          <p:cNvSpPr txBox="1"/>
          <p:nvPr/>
        </p:nvSpPr>
        <p:spPr>
          <a:xfrm>
            <a:off x="6391656" y="5285232"/>
            <a:ext cx="4800600" cy="210312"/>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Dashed line: always level 5 = 68.5%</a:t>
            </a:r>
          </a:p>
        </p:txBody>
      </p:sp>
      <p:sp>
        <p:nvSpPr>
          <p:cNvPr id="63" name="Rounded Rectangle 62"/>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KEV-0.8B’s 63 of 92 slack levels come from choosing level 5 for all 92 designs.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265176"/>
            <a:ext cx="10561320" cy="237744"/>
          </a:xfrm>
          <a:prstGeom prst="rect">
            <a:avLst/>
          </a:prstGeom>
          <a:noFill/>
        </p:spPr>
        <p:txBody>
          <a:bodyPr wrap="square" lIns="0" rIns="0" tIns="0" bIns="0" anchor="t">
            <a:noAutofit/>
          </a:bodyPr>
          <a:lstStyle/>
          <a:p>
            <a:pPr algn="l">
              <a:lnSpc>
                <a:spcPct val="109000"/>
              </a:lnSpc>
              <a:spcBef>
                <a:spcPts val="0"/>
              </a:spcBef>
              <a:spcAft>
                <a:spcPts val="0"/>
              </a:spcAft>
            </a:pPr>
            <a:r>
              <a:rPr sz="1250" b="1">
                <a:solidFill>
                  <a:srgbClr val="4A5A66"/>
                </a:solidFill>
                <a:latin typeface="Arial"/>
              </a:rPr>
              <a:t>EXPERIMENT 1  •  NO EXAMPLES</a:t>
            </a:r>
          </a:p>
        </p:txBody>
      </p:sp>
      <p:sp>
        <p:nvSpPr>
          <p:cNvPr id="3" name="TextBox 2"/>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27B’s predicted levels reveal the mismatch</a:t>
            </a:r>
          </a:p>
        </p:txBody>
      </p:sp>
      <p:sp>
        <p:nvSpPr>
          <p:cNvPr id="4" name="TextBox 3"/>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The chart heights are design counts, not accuracy. Every level is shown, including zero counts.</a:t>
            </a:r>
          </a:p>
        </p:txBody>
      </p:sp>
      <p:sp>
        <p:nvSpPr>
          <p:cNvPr id="5" name="TextBox 4"/>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RESULTS</a:t>
            </a:r>
          </a:p>
        </p:txBody>
      </p:sp>
      <p:sp>
        <p:nvSpPr>
          <p:cNvPr id="6" name="TextBox 5"/>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28</a:t>
            </a:r>
          </a:p>
        </p:txBody>
      </p:sp>
      <p:sp>
        <p:nvSpPr>
          <p:cNvPr id="7" name="Rounded Rectangle 6"/>
          <p:cNvSpPr/>
          <p:nvPr/>
        </p:nvSpPr>
        <p:spPr>
          <a:xfrm>
            <a:off x="813816" y="1828800"/>
            <a:ext cx="5166360" cy="3703320"/>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14984" y="1993392"/>
            <a:ext cx="4764024" cy="347472"/>
          </a:xfrm>
          <a:prstGeom prst="rect">
            <a:avLst/>
          </a:prstGeom>
          <a:noFill/>
        </p:spPr>
        <p:txBody>
          <a:bodyPr wrap="square" lIns="0" rIns="0" tIns="0" bIns="0" anchor="t">
            <a:noAutofit/>
          </a:bodyPr>
          <a:lstStyle/>
          <a:p>
            <a:pPr algn="l">
              <a:lnSpc>
                <a:spcPct val="109000"/>
              </a:lnSpc>
              <a:spcBef>
                <a:spcPts val="0"/>
              </a:spcBef>
              <a:spcAft>
                <a:spcPts val="0"/>
              </a:spcAft>
            </a:pPr>
            <a:r>
              <a:rPr sz="1900" b="1">
                <a:solidFill>
                  <a:srgbClr val="00407A"/>
                </a:solidFill>
                <a:latin typeface="Arial"/>
              </a:rPr>
              <a:t>Clock-frequency levels</a:t>
            </a:r>
          </a:p>
        </p:txBody>
      </p:sp>
      <p:sp>
        <p:nvSpPr>
          <p:cNvPr id="9" name="TextBox 8"/>
          <p:cNvSpPr txBox="1"/>
          <p:nvPr/>
        </p:nvSpPr>
        <p:spPr>
          <a:xfrm>
            <a:off x="1014984" y="2441448"/>
            <a:ext cx="4764024" cy="274320"/>
          </a:xfrm>
          <a:prstGeom prst="rect">
            <a:avLst/>
          </a:prstGeom>
          <a:noFill/>
        </p:spPr>
        <p:txBody>
          <a:bodyPr wrap="square" lIns="0" rIns="0" tIns="0" bIns="0" anchor="t">
            <a:noAutofit/>
          </a:bodyPr>
          <a:lstStyle/>
          <a:p>
            <a:pPr algn="l">
              <a:lnSpc>
                <a:spcPct val="109000"/>
              </a:lnSpc>
              <a:spcBef>
                <a:spcPts val="0"/>
              </a:spcBef>
              <a:spcAft>
                <a:spcPts val="0"/>
              </a:spcAft>
            </a:pPr>
            <a:r>
              <a:rPr sz="1300" b="0">
                <a:solidFill>
                  <a:srgbClr val="4A5A66"/>
                </a:solidFill>
                <a:latin typeface="Arial"/>
              </a:rPr>
              <a:t>92 designs • counts at each level</a:t>
            </a:r>
          </a:p>
        </p:txBody>
      </p:sp>
      <p:cxnSp>
        <p:nvCxnSpPr>
          <p:cNvPr id="10" name="Connector 9"/>
          <p:cNvCxnSpPr/>
          <p:nvPr/>
        </p:nvCxnSpPr>
        <p:spPr>
          <a:xfrm>
            <a:off x="1389888" y="4791456"/>
            <a:ext cx="4270248" cy="0"/>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877824" y="4690872"/>
            <a:ext cx="411480" cy="210312"/>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0</a:t>
            </a:r>
          </a:p>
        </p:txBody>
      </p:sp>
      <p:cxnSp>
        <p:nvCxnSpPr>
          <p:cNvPr id="12" name="Connector 11"/>
          <p:cNvCxnSpPr/>
          <p:nvPr/>
        </p:nvCxnSpPr>
        <p:spPr>
          <a:xfrm>
            <a:off x="1389888" y="4315968"/>
            <a:ext cx="4270248" cy="0"/>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877824" y="4215384"/>
            <a:ext cx="411480" cy="210312"/>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25</a:t>
            </a:r>
          </a:p>
        </p:txBody>
      </p:sp>
      <p:cxnSp>
        <p:nvCxnSpPr>
          <p:cNvPr id="14" name="Connector 13"/>
          <p:cNvCxnSpPr/>
          <p:nvPr/>
        </p:nvCxnSpPr>
        <p:spPr>
          <a:xfrm>
            <a:off x="1389888" y="3840480"/>
            <a:ext cx="4270248" cy="0"/>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877824" y="3739896"/>
            <a:ext cx="411480" cy="210312"/>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50</a:t>
            </a:r>
          </a:p>
        </p:txBody>
      </p:sp>
      <p:cxnSp>
        <p:nvCxnSpPr>
          <p:cNvPr id="16" name="Connector 15"/>
          <p:cNvCxnSpPr/>
          <p:nvPr/>
        </p:nvCxnSpPr>
        <p:spPr>
          <a:xfrm>
            <a:off x="1389888" y="3364992"/>
            <a:ext cx="4270248" cy="0"/>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877824" y="3264408"/>
            <a:ext cx="411480" cy="210312"/>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75</a:t>
            </a:r>
          </a:p>
        </p:txBody>
      </p:sp>
      <p:cxnSp>
        <p:nvCxnSpPr>
          <p:cNvPr id="18" name="Connector 17"/>
          <p:cNvCxnSpPr/>
          <p:nvPr/>
        </p:nvCxnSpPr>
        <p:spPr>
          <a:xfrm>
            <a:off x="1389888" y="2889504"/>
            <a:ext cx="4270248" cy="0"/>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877824" y="2788920"/>
            <a:ext cx="411480" cy="210312"/>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100</a:t>
            </a:r>
          </a:p>
        </p:txBody>
      </p:sp>
      <p:sp>
        <p:nvSpPr>
          <p:cNvPr id="20" name="Rectangle 19"/>
          <p:cNvSpPr/>
          <p:nvPr/>
        </p:nvSpPr>
        <p:spPr>
          <a:xfrm>
            <a:off x="1463040" y="4544202"/>
            <a:ext cx="201168" cy="247253"/>
          </a:xfrm>
          <a:prstGeom prst="rect">
            <a:avLst/>
          </a:prstGeom>
          <a:solidFill>
            <a:srgbClr val="52BD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435608" y="4297314"/>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13</a:t>
            </a:r>
          </a:p>
        </p:txBody>
      </p:sp>
      <p:sp>
        <p:nvSpPr>
          <p:cNvPr id="22" name="Rectangle 21"/>
          <p:cNvSpPr/>
          <p:nvPr/>
        </p:nvSpPr>
        <p:spPr>
          <a:xfrm>
            <a:off x="1728216" y="3079699"/>
            <a:ext cx="201168" cy="1711756"/>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700784" y="2832811"/>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90</a:t>
            </a:r>
          </a:p>
        </p:txBody>
      </p:sp>
      <p:sp>
        <p:nvSpPr>
          <p:cNvPr id="24" name="TextBox 23"/>
          <p:cNvSpPr txBox="1"/>
          <p:nvPr/>
        </p:nvSpPr>
        <p:spPr>
          <a:xfrm>
            <a:off x="1508760" y="4882896"/>
            <a:ext cx="365760" cy="228600"/>
          </a:xfrm>
          <a:prstGeom prst="rect">
            <a:avLst/>
          </a:prstGeom>
          <a:noFill/>
        </p:spPr>
        <p:txBody>
          <a:bodyPr wrap="square" lIns="0" rIns="0" tIns="0" bIns="0" anchor="t">
            <a:noAutofit/>
          </a:bodyPr>
          <a:lstStyle/>
          <a:p>
            <a:pPr algn="ctr">
              <a:lnSpc>
                <a:spcPct val="109000"/>
              </a:lnSpc>
              <a:spcBef>
                <a:spcPts val="0"/>
              </a:spcBef>
              <a:spcAft>
                <a:spcPts val="0"/>
              </a:spcAft>
            </a:pPr>
            <a:r>
              <a:rPr sz="1300" b="0">
                <a:solidFill>
                  <a:srgbClr val="00407A"/>
                </a:solidFill>
                <a:latin typeface="Arial"/>
              </a:rPr>
              <a:t>1</a:t>
            </a:r>
          </a:p>
        </p:txBody>
      </p:sp>
      <p:sp>
        <p:nvSpPr>
          <p:cNvPr id="25" name="Rectangle 24"/>
          <p:cNvSpPr/>
          <p:nvPr/>
        </p:nvSpPr>
        <p:spPr>
          <a:xfrm>
            <a:off x="2317089" y="4487143"/>
            <a:ext cx="201168" cy="304312"/>
          </a:xfrm>
          <a:prstGeom prst="rect">
            <a:avLst/>
          </a:prstGeom>
          <a:solidFill>
            <a:srgbClr val="52BD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289657" y="4240255"/>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16</a:t>
            </a:r>
          </a:p>
        </p:txBody>
      </p:sp>
      <p:sp>
        <p:nvSpPr>
          <p:cNvPr id="27" name="TextBox 26"/>
          <p:cNvSpPr txBox="1"/>
          <p:nvPr/>
        </p:nvSpPr>
        <p:spPr>
          <a:xfrm>
            <a:off x="2554833" y="4544568"/>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0</a:t>
            </a:r>
          </a:p>
        </p:txBody>
      </p:sp>
      <p:sp>
        <p:nvSpPr>
          <p:cNvPr id="28" name="TextBox 27"/>
          <p:cNvSpPr txBox="1"/>
          <p:nvPr/>
        </p:nvSpPr>
        <p:spPr>
          <a:xfrm>
            <a:off x="2362809" y="4882896"/>
            <a:ext cx="365760" cy="228600"/>
          </a:xfrm>
          <a:prstGeom prst="rect">
            <a:avLst/>
          </a:prstGeom>
          <a:noFill/>
        </p:spPr>
        <p:txBody>
          <a:bodyPr wrap="square" lIns="0" rIns="0" tIns="0" bIns="0" anchor="t">
            <a:noAutofit/>
          </a:bodyPr>
          <a:lstStyle/>
          <a:p>
            <a:pPr algn="ctr">
              <a:lnSpc>
                <a:spcPct val="109000"/>
              </a:lnSpc>
              <a:spcBef>
                <a:spcPts val="0"/>
              </a:spcBef>
              <a:spcAft>
                <a:spcPts val="0"/>
              </a:spcAft>
            </a:pPr>
            <a:r>
              <a:rPr sz="1300" b="0">
                <a:solidFill>
                  <a:srgbClr val="00407A"/>
                </a:solidFill>
                <a:latin typeface="Arial"/>
              </a:rPr>
              <a:t>2</a:t>
            </a:r>
          </a:p>
        </p:txBody>
      </p:sp>
      <p:sp>
        <p:nvSpPr>
          <p:cNvPr id="29" name="Rectangle 28"/>
          <p:cNvSpPr/>
          <p:nvPr/>
        </p:nvSpPr>
        <p:spPr>
          <a:xfrm>
            <a:off x="3171139" y="4449104"/>
            <a:ext cx="201168" cy="342351"/>
          </a:xfrm>
          <a:prstGeom prst="rect">
            <a:avLst/>
          </a:prstGeom>
          <a:solidFill>
            <a:srgbClr val="52BD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143707" y="4202216"/>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18</a:t>
            </a:r>
          </a:p>
        </p:txBody>
      </p:sp>
      <p:sp>
        <p:nvSpPr>
          <p:cNvPr id="31" name="TextBox 30"/>
          <p:cNvSpPr txBox="1"/>
          <p:nvPr/>
        </p:nvSpPr>
        <p:spPr>
          <a:xfrm>
            <a:off x="3408883" y="4544568"/>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0</a:t>
            </a:r>
          </a:p>
        </p:txBody>
      </p:sp>
      <p:sp>
        <p:nvSpPr>
          <p:cNvPr id="32" name="TextBox 31"/>
          <p:cNvSpPr txBox="1"/>
          <p:nvPr/>
        </p:nvSpPr>
        <p:spPr>
          <a:xfrm>
            <a:off x="3216859" y="4882896"/>
            <a:ext cx="365760" cy="228600"/>
          </a:xfrm>
          <a:prstGeom prst="rect">
            <a:avLst/>
          </a:prstGeom>
          <a:noFill/>
        </p:spPr>
        <p:txBody>
          <a:bodyPr wrap="square" lIns="0" rIns="0" tIns="0" bIns="0" anchor="t">
            <a:noAutofit/>
          </a:bodyPr>
          <a:lstStyle/>
          <a:p>
            <a:pPr algn="ctr">
              <a:lnSpc>
                <a:spcPct val="109000"/>
              </a:lnSpc>
              <a:spcBef>
                <a:spcPts val="0"/>
              </a:spcBef>
              <a:spcAft>
                <a:spcPts val="0"/>
              </a:spcAft>
            </a:pPr>
            <a:r>
              <a:rPr sz="1300" b="0">
                <a:solidFill>
                  <a:srgbClr val="00407A"/>
                </a:solidFill>
                <a:latin typeface="Arial"/>
              </a:rPr>
              <a:t>3</a:t>
            </a:r>
          </a:p>
        </p:txBody>
      </p:sp>
      <p:sp>
        <p:nvSpPr>
          <p:cNvPr id="33" name="Rectangle 32"/>
          <p:cNvSpPr/>
          <p:nvPr/>
        </p:nvSpPr>
        <p:spPr>
          <a:xfrm>
            <a:off x="4025188" y="3935577"/>
            <a:ext cx="201168" cy="855878"/>
          </a:xfrm>
          <a:prstGeom prst="rect">
            <a:avLst/>
          </a:prstGeom>
          <a:solidFill>
            <a:srgbClr val="52BD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997756" y="3688689"/>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45</a:t>
            </a:r>
          </a:p>
        </p:txBody>
      </p:sp>
      <p:sp>
        <p:nvSpPr>
          <p:cNvPr id="35" name="TextBox 34"/>
          <p:cNvSpPr txBox="1"/>
          <p:nvPr/>
        </p:nvSpPr>
        <p:spPr>
          <a:xfrm>
            <a:off x="4262932" y="4544568"/>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0</a:t>
            </a:r>
          </a:p>
        </p:txBody>
      </p:sp>
      <p:sp>
        <p:nvSpPr>
          <p:cNvPr id="36" name="TextBox 35"/>
          <p:cNvSpPr txBox="1"/>
          <p:nvPr/>
        </p:nvSpPr>
        <p:spPr>
          <a:xfrm>
            <a:off x="4070908" y="4882896"/>
            <a:ext cx="365760" cy="228600"/>
          </a:xfrm>
          <a:prstGeom prst="rect">
            <a:avLst/>
          </a:prstGeom>
          <a:noFill/>
        </p:spPr>
        <p:txBody>
          <a:bodyPr wrap="square" lIns="0" rIns="0" tIns="0" bIns="0" anchor="t">
            <a:noAutofit/>
          </a:bodyPr>
          <a:lstStyle/>
          <a:p>
            <a:pPr algn="ctr">
              <a:lnSpc>
                <a:spcPct val="109000"/>
              </a:lnSpc>
              <a:spcBef>
                <a:spcPts val="0"/>
              </a:spcBef>
              <a:spcAft>
                <a:spcPts val="0"/>
              </a:spcAft>
            </a:pPr>
            <a:r>
              <a:rPr sz="1300" b="0">
                <a:solidFill>
                  <a:srgbClr val="00407A"/>
                </a:solidFill>
                <a:latin typeface="Arial"/>
              </a:rPr>
              <a:t>4</a:t>
            </a:r>
          </a:p>
        </p:txBody>
      </p:sp>
      <p:sp>
        <p:nvSpPr>
          <p:cNvPr id="37" name="TextBox 36"/>
          <p:cNvSpPr txBox="1"/>
          <p:nvPr/>
        </p:nvSpPr>
        <p:spPr>
          <a:xfrm>
            <a:off x="4851806" y="4544568"/>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0</a:t>
            </a:r>
          </a:p>
        </p:txBody>
      </p:sp>
      <p:sp>
        <p:nvSpPr>
          <p:cNvPr id="38" name="Rectangle 37"/>
          <p:cNvSpPr/>
          <p:nvPr/>
        </p:nvSpPr>
        <p:spPr>
          <a:xfrm>
            <a:off x="5144414" y="4753416"/>
            <a:ext cx="201168" cy="38039"/>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116982" y="4506528"/>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2</a:t>
            </a:r>
          </a:p>
        </p:txBody>
      </p:sp>
      <p:sp>
        <p:nvSpPr>
          <p:cNvPr id="40" name="TextBox 39"/>
          <p:cNvSpPr txBox="1"/>
          <p:nvPr/>
        </p:nvSpPr>
        <p:spPr>
          <a:xfrm>
            <a:off x="4924958" y="4882896"/>
            <a:ext cx="365760" cy="228600"/>
          </a:xfrm>
          <a:prstGeom prst="rect">
            <a:avLst/>
          </a:prstGeom>
          <a:noFill/>
        </p:spPr>
        <p:txBody>
          <a:bodyPr wrap="square" lIns="0" rIns="0" tIns="0" bIns="0" anchor="t">
            <a:noAutofit/>
          </a:bodyPr>
          <a:lstStyle/>
          <a:p>
            <a:pPr algn="ctr">
              <a:lnSpc>
                <a:spcPct val="109000"/>
              </a:lnSpc>
              <a:spcBef>
                <a:spcPts val="0"/>
              </a:spcBef>
              <a:spcAft>
                <a:spcPts val="0"/>
              </a:spcAft>
            </a:pPr>
            <a:r>
              <a:rPr sz="1300" b="0">
                <a:solidFill>
                  <a:srgbClr val="00407A"/>
                </a:solidFill>
                <a:latin typeface="Arial"/>
              </a:rPr>
              <a:t>5</a:t>
            </a:r>
          </a:p>
        </p:txBody>
      </p:sp>
      <p:sp>
        <p:nvSpPr>
          <p:cNvPr id="41" name="TextBox 40"/>
          <p:cNvSpPr txBox="1"/>
          <p:nvPr/>
        </p:nvSpPr>
        <p:spPr>
          <a:xfrm>
            <a:off x="1014984" y="5120640"/>
            <a:ext cx="1508760" cy="256032"/>
          </a:xfrm>
          <a:prstGeom prst="rect">
            <a:avLst/>
          </a:prstGeom>
          <a:noFill/>
        </p:spPr>
        <p:txBody>
          <a:bodyPr wrap="square" lIns="0" rIns="0" tIns="0" bIns="0" anchor="t">
            <a:noAutofit/>
          </a:bodyPr>
          <a:lstStyle/>
          <a:p>
            <a:pPr algn="l">
              <a:lnSpc>
                <a:spcPct val="109000"/>
              </a:lnSpc>
              <a:spcBef>
                <a:spcPts val="0"/>
              </a:spcBef>
              <a:spcAft>
                <a:spcPts val="0"/>
              </a:spcAft>
            </a:pPr>
            <a:r>
              <a:rPr sz="1200" b="0">
                <a:solidFill>
                  <a:srgbClr val="4A5A66"/>
                </a:solidFill>
                <a:latin typeface="Arial"/>
              </a:rPr>
              <a:t>Level (1–5)</a:t>
            </a:r>
          </a:p>
        </p:txBody>
      </p:sp>
      <p:sp>
        <p:nvSpPr>
          <p:cNvPr id="42" name="Rectangle 41"/>
          <p:cNvSpPr/>
          <p:nvPr/>
        </p:nvSpPr>
        <p:spPr>
          <a:xfrm>
            <a:off x="2779776" y="5120640"/>
            <a:ext cx="146304" cy="146304"/>
          </a:xfrm>
          <a:prstGeom prst="rect">
            <a:avLst/>
          </a:prstGeom>
          <a:solidFill>
            <a:srgbClr val="52BD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2990088" y="5074920"/>
            <a:ext cx="548640" cy="246888"/>
          </a:xfrm>
          <a:prstGeom prst="rect">
            <a:avLst/>
          </a:prstGeom>
          <a:noFill/>
        </p:spPr>
        <p:txBody>
          <a:bodyPr wrap="square" lIns="0" rIns="0" tIns="0" bIns="0" anchor="t">
            <a:noAutofit/>
          </a:bodyPr>
          <a:lstStyle/>
          <a:p>
            <a:pPr algn="l">
              <a:lnSpc>
                <a:spcPct val="109000"/>
              </a:lnSpc>
              <a:spcBef>
                <a:spcPts val="0"/>
              </a:spcBef>
              <a:spcAft>
                <a:spcPts val="0"/>
              </a:spcAft>
            </a:pPr>
            <a:r>
              <a:rPr sz="1200" b="0">
                <a:solidFill>
                  <a:srgbClr val="00407A"/>
                </a:solidFill>
                <a:latin typeface="Arial"/>
              </a:rPr>
              <a:t>Tool</a:t>
            </a:r>
          </a:p>
        </p:txBody>
      </p:sp>
      <p:sp>
        <p:nvSpPr>
          <p:cNvPr id="44" name="Rectangle 43"/>
          <p:cNvSpPr/>
          <p:nvPr/>
        </p:nvSpPr>
        <p:spPr>
          <a:xfrm>
            <a:off x="3694176" y="5120640"/>
            <a:ext cx="146304" cy="146304"/>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904487" y="5074920"/>
            <a:ext cx="594360" cy="246888"/>
          </a:xfrm>
          <a:prstGeom prst="rect">
            <a:avLst/>
          </a:prstGeom>
          <a:noFill/>
        </p:spPr>
        <p:txBody>
          <a:bodyPr wrap="square" lIns="0" rIns="0" tIns="0" bIns="0" anchor="t">
            <a:noAutofit/>
          </a:bodyPr>
          <a:lstStyle/>
          <a:p>
            <a:pPr algn="l">
              <a:lnSpc>
                <a:spcPct val="109000"/>
              </a:lnSpc>
              <a:spcBef>
                <a:spcPts val="0"/>
              </a:spcBef>
              <a:spcAft>
                <a:spcPts val="0"/>
              </a:spcAft>
            </a:pPr>
            <a:r>
              <a:rPr sz="1200" b="0">
                <a:solidFill>
                  <a:srgbClr val="00407A"/>
                </a:solidFill>
                <a:latin typeface="Arial"/>
              </a:rPr>
              <a:t>27B</a:t>
            </a:r>
          </a:p>
        </p:txBody>
      </p:sp>
      <p:sp>
        <p:nvSpPr>
          <p:cNvPr id="46" name="Rounded Rectangle 45"/>
          <p:cNvSpPr/>
          <p:nvPr/>
        </p:nvSpPr>
        <p:spPr>
          <a:xfrm>
            <a:off x="6208776" y="1828800"/>
            <a:ext cx="5166360" cy="3703320"/>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409944" y="1993392"/>
            <a:ext cx="4764024" cy="347472"/>
          </a:xfrm>
          <a:prstGeom prst="rect">
            <a:avLst/>
          </a:prstGeom>
          <a:noFill/>
        </p:spPr>
        <p:txBody>
          <a:bodyPr wrap="square" lIns="0" rIns="0" tIns="0" bIns="0" anchor="t">
            <a:noAutofit/>
          </a:bodyPr>
          <a:lstStyle/>
          <a:p>
            <a:pPr algn="l">
              <a:lnSpc>
                <a:spcPct val="109000"/>
              </a:lnSpc>
              <a:spcBef>
                <a:spcPts val="0"/>
              </a:spcBef>
              <a:spcAft>
                <a:spcPts val="0"/>
              </a:spcAft>
            </a:pPr>
            <a:r>
              <a:rPr sz="1900" b="1">
                <a:solidFill>
                  <a:srgbClr val="00407A"/>
                </a:solidFill>
                <a:latin typeface="Arial"/>
              </a:rPr>
              <a:t>Power levels</a:t>
            </a:r>
          </a:p>
        </p:txBody>
      </p:sp>
      <p:sp>
        <p:nvSpPr>
          <p:cNvPr id="48" name="TextBox 47"/>
          <p:cNvSpPr txBox="1"/>
          <p:nvPr/>
        </p:nvSpPr>
        <p:spPr>
          <a:xfrm>
            <a:off x="6409944" y="2441448"/>
            <a:ext cx="4764024" cy="274320"/>
          </a:xfrm>
          <a:prstGeom prst="rect">
            <a:avLst/>
          </a:prstGeom>
          <a:noFill/>
        </p:spPr>
        <p:txBody>
          <a:bodyPr wrap="square" lIns="0" rIns="0" tIns="0" bIns="0" anchor="t">
            <a:noAutofit/>
          </a:bodyPr>
          <a:lstStyle/>
          <a:p>
            <a:pPr algn="l">
              <a:lnSpc>
                <a:spcPct val="109000"/>
              </a:lnSpc>
              <a:spcBef>
                <a:spcPts val="0"/>
              </a:spcBef>
              <a:spcAft>
                <a:spcPts val="0"/>
              </a:spcAft>
            </a:pPr>
            <a:r>
              <a:rPr sz="1300" b="0">
                <a:solidFill>
                  <a:srgbClr val="4A5A66"/>
                </a:solidFill>
                <a:latin typeface="Arial"/>
              </a:rPr>
              <a:t>85 designs • counts at each level</a:t>
            </a:r>
          </a:p>
        </p:txBody>
      </p:sp>
      <p:cxnSp>
        <p:nvCxnSpPr>
          <p:cNvPr id="49" name="Connector 48"/>
          <p:cNvCxnSpPr/>
          <p:nvPr/>
        </p:nvCxnSpPr>
        <p:spPr>
          <a:xfrm>
            <a:off x="6784848" y="4791456"/>
            <a:ext cx="4270248" cy="0"/>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6272784" y="4690872"/>
            <a:ext cx="411480" cy="210312"/>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0</a:t>
            </a:r>
          </a:p>
        </p:txBody>
      </p:sp>
      <p:cxnSp>
        <p:nvCxnSpPr>
          <p:cNvPr id="51" name="Connector 50"/>
          <p:cNvCxnSpPr/>
          <p:nvPr/>
        </p:nvCxnSpPr>
        <p:spPr>
          <a:xfrm>
            <a:off x="6784848" y="4315968"/>
            <a:ext cx="4270248" cy="0"/>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52" name="TextBox 51"/>
          <p:cNvSpPr txBox="1"/>
          <p:nvPr/>
        </p:nvSpPr>
        <p:spPr>
          <a:xfrm>
            <a:off x="6272784" y="4215384"/>
            <a:ext cx="411480" cy="210312"/>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25</a:t>
            </a:r>
          </a:p>
        </p:txBody>
      </p:sp>
      <p:cxnSp>
        <p:nvCxnSpPr>
          <p:cNvPr id="53" name="Connector 52"/>
          <p:cNvCxnSpPr/>
          <p:nvPr/>
        </p:nvCxnSpPr>
        <p:spPr>
          <a:xfrm>
            <a:off x="6784848" y="3840480"/>
            <a:ext cx="4270248" cy="0"/>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6272784" y="3739896"/>
            <a:ext cx="411480" cy="210312"/>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50</a:t>
            </a:r>
          </a:p>
        </p:txBody>
      </p:sp>
      <p:cxnSp>
        <p:nvCxnSpPr>
          <p:cNvPr id="55" name="Connector 54"/>
          <p:cNvCxnSpPr/>
          <p:nvPr/>
        </p:nvCxnSpPr>
        <p:spPr>
          <a:xfrm>
            <a:off x="6784848" y="3364992"/>
            <a:ext cx="4270248" cy="0"/>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6272784" y="3264408"/>
            <a:ext cx="411480" cy="210312"/>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75</a:t>
            </a:r>
          </a:p>
        </p:txBody>
      </p:sp>
      <p:cxnSp>
        <p:nvCxnSpPr>
          <p:cNvPr id="57" name="Connector 56"/>
          <p:cNvCxnSpPr/>
          <p:nvPr/>
        </p:nvCxnSpPr>
        <p:spPr>
          <a:xfrm>
            <a:off x="6784848" y="2889504"/>
            <a:ext cx="4270248" cy="0"/>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6272784" y="2788920"/>
            <a:ext cx="411480" cy="210312"/>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100</a:t>
            </a:r>
          </a:p>
        </p:txBody>
      </p:sp>
      <p:sp>
        <p:nvSpPr>
          <p:cNvPr id="59" name="Rectangle 58"/>
          <p:cNvSpPr/>
          <p:nvPr/>
        </p:nvSpPr>
        <p:spPr>
          <a:xfrm>
            <a:off x="6858000" y="4354007"/>
            <a:ext cx="201168" cy="437448"/>
          </a:xfrm>
          <a:prstGeom prst="rect">
            <a:avLst/>
          </a:prstGeom>
          <a:solidFill>
            <a:srgbClr val="52BD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830568" y="4107119"/>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23</a:t>
            </a:r>
          </a:p>
        </p:txBody>
      </p:sp>
      <p:sp>
        <p:nvSpPr>
          <p:cNvPr id="61" name="TextBox 60"/>
          <p:cNvSpPr txBox="1"/>
          <p:nvPr/>
        </p:nvSpPr>
        <p:spPr>
          <a:xfrm>
            <a:off x="7095744" y="4544568"/>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0</a:t>
            </a:r>
          </a:p>
        </p:txBody>
      </p:sp>
      <p:sp>
        <p:nvSpPr>
          <p:cNvPr id="62" name="TextBox 61"/>
          <p:cNvSpPr txBox="1"/>
          <p:nvPr/>
        </p:nvSpPr>
        <p:spPr>
          <a:xfrm>
            <a:off x="6903720" y="4882896"/>
            <a:ext cx="365760" cy="228600"/>
          </a:xfrm>
          <a:prstGeom prst="rect">
            <a:avLst/>
          </a:prstGeom>
          <a:noFill/>
        </p:spPr>
        <p:txBody>
          <a:bodyPr wrap="square" lIns="0" rIns="0" tIns="0" bIns="0" anchor="t">
            <a:noAutofit/>
          </a:bodyPr>
          <a:lstStyle/>
          <a:p>
            <a:pPr algn="ctr">
              <a:lnSpc>
                <a:spcPct val="109000"/>
              </a:lnSpc>
              <a:spcBef>
                <a:spcPts val="0"/>
              </a:spcBef>
              <a:spcAft>
                <a:spcPts val="0"/>
              </a:spcAft>
            </a:pPr>
            <a:r>
              <a:rPr sz="1300" b="0">
                <a:solidFill>
                  <a:srgbClr val="00407A"/>
                </a:solidFill>
                <a:latin typeface="Arial"/>
              </a:rPr>
              <a:t>1</a:t>
            </a:r>
          </a:p>
        </p:txBody>
      </p:sp>
      <p:sp>
        <p:nvSpPr>
          <p:cNvPr id="63" name="Rectangle 62"/>
          <p:cNvSpPr/>
          <p:nvPr/>
        </p:nvSpPr>
        <p:spPr>
          <a:xfrm>
            <a:off x="7712049" y="4087733"/>
            <a:ext cx="201168" cy="703722"/>
          </a:xfrm>
          <a:prstGeom prst="rect">
            <a:avLst/>
          </a:prstGeom>
          <a:solidFill>
            <a:srgbClr val="52BD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7684617" y="3840845"/>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37</a:t>
            </a:r>
          </a:p>
        </p:txBody>
      </p:sp>
      <p:sp>
        <p:nvSpPr>
          <p:cNvPr id="65" name="TextBox 64"/>
          <p:cNvSpPr txBox="1"/>
          <p:nvPr/>
        </p:nvSpPr>
        <p:spPr>
          <a:xfrm>
            <a:off x="7949793" y="4544568"/>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0</a:t>
            </a:r>
          </a:p>
        </p:txBody>
      </p:sp>
      <p:sp>
        <p:nvSpPr>
          <p:cNvPr id="66" name="TextBox 65"/>
          <p:cNvSpPr txBox="1"/>
          <p:nvPr/>
        </p:nvSpPr>
        <p:spPr>
          <a:xfrm>
            <a:off x="7757769" y="4882896"/>
            <a:ext cx="365760" cy="228600"/>
          </a:xfrm>
          <a:prstGeom prst="rect">
            <a:avLst/>
          </a:prstGeom>
          <a:noFill/>
        </p:spPr>
        <p:txBody>
          <a:bodyPr wrap="square" lIns="0" rIns="0" tIns="0" bIns="0" anchor="t">
            <a:noAutofit/>
          </a:bodyPr>
          <a:lstStyle/>
          <a:p>
            <a:pPr algn="ctr">
              <a:lnSpc>
                <a:spcPct val="109000"/>
              </a:lnSpc>
              <a:spcBef>
                <a:spcPts val="0"/>
              </a:spcBef>
              <a:spcAft>
                <a:spcPts val="0"/>
              </a:spcAft>
            </a:pPr>
            <a:r>
              <a:rPr sz="1300" b="0">
                <a:solidFill>
                  <a:srgbClr val="00407A"/>
                </a:solidFill>
                <a:latin typeface="Arial"/>
              </a:rPr>
              <a:t>2</a:t>
            </a:r>
          </a:p>
        </p:txBody>
      </p:sp>
      <p:sp>
        <p:nvSpPr>
          <p:cNvPr id="67" name="Rectangle 66"/>
          <p:cNvSpPr/>
          <p:nvPr/>
        </p:nvSpPr>
        <p:spPr>
          <a:xfrm>
            <a:off x="8566099" y="4449104"/>
            <a:ext cx="201168" cy="342351"/>
          </a:xfrm>
          <a:prstGeom prst="rect">
            <a:avLst/>
          </a:prstGeom>
          <a:solidFill>
            <a:srgbClr val="52BD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8538667" y="4202216"/>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18</a:t>
            </a:r>
          </a:p>
        </p:txBody>
      </p:sp>
      <p:sp>
        <p:nvSpPr>
          <p:cNvPr id="69" name="Rectangle 68"/>
          <p:cNvSpPr/>
          <p:nvPr/>
        </p:nvSpPr>
        <p:spPr>
          <a:xfrm>
            <a:off x="8831275" y="3764401"/>
            <a:ext cx="201168" cy="1027054"/>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8803843" y="3517513"/>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54</a:t>
            </a:r>
          </a:p>
        </p:txBody>
      </p:sp>
      <p:sp>
        <p:nvSpPr>
          <p:cNvPr id="71" name="TextBox 70"/>
          <p:cNvSpPr txBox="1"/>
          <p:nvPr/>
        </p:nvSpPr>
        <p:spPr>
          <a:xfrm>
            <a:off x="8611819" y="4882896"/>
            <a:ext cx="365760" cy="228600"/>
          </a:xfrm>
          <a:prstGeom prst="rect">
            <a:avLst/>
          </a:prstGeom>
          <a:noFill/>
        </p:spPr>
        <p:txBody>
          <a:bodyPr wrap="square" lIns="0" rIns="0" tIns="0" bIns="0" anchor="t">
            <a:noAutofit/>
          </a:bodyPr>
          <a:lstStyle/>
          <a:p>
            <a:pPr algn="ctr">
              <a:lnSpc>
                <a:spcPct val="109000"/>
              </a:lnSpc>
              <a:spcBef>
                <a:spcPts val="0"/>
              </a:spcBef>
              <a:spcAft>
                <a:spcPts val="0"/>
              </a:spcAft>
            </a:pPr>
            <a:r>
              <a:rPr sz="1300" b="0">
                <a:solidFill>
                  <a:srgbClr val="00407A"/>
                </a:solidFill>
                <a:latin typeface="Arial"/>
              </a:rPr>
              <a:t>3</a:t>
            </a:r>
          </a:p>
        </p:txBody>
      </p:sp>
      <p:sp>
        <p:nvSpPr>
          <p:cNvPr id="72" name="Rectangle 71"/>
          <p:cNvSpPr/>
          <p:nvPr/>
        </p:nvSpPr>
        <p:spPr>
          <a:xfrm>
            <a:off x="9420148" y="4658319"/>
            <a:ext cx="201168" cy="133136"/>
          </a:xfrm>
          <a:prstGeom prst="rect">
            <a:avLst/>
          </a:prstGeom>
          <a:solidFill>
            <a:srgbClr val="52BD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9392716" y="4411431"/>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7</a:t>
            </a:r>
          </a:p>
        </p:txBody>
      </p:sp>
      <p:sp>
        <p:nvSpPr>
          <p:cNvPr id="74" name="Rectangle 73"/>
          <p:cNvSpPr/>
          <p:nvPr/>
        </p:nvSpPr>
        <p:spPr>
          <a:xfrm>
            <a:off x="9685324" y="4220870"/>
            <a:ext cx="201168" cy="570585"/>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9657892" y="3973982"/>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30</a:t>
            </a:r>
          </a:p>
        </p:txBody>
      </p:sp>
      <p:sp>
        <p:nvSpPr>
          <p:cNvPr id="76" name="TextBox 75"/>
          <p:cNvSpPr txBox="1"/>
          <p:nvPr/>
        </p:nvSpPr>
        <p:spPr>
          <a:xfrm>
            <a:off x="9465868" y="4882896"/>
            <a:ext cx="365760" cy="228600"/>
          </a:xfrm>
          <a:prstGeom prst="rect">
            <a:avLst/>
          </a:prstGeom>
          <a:noFill/>
        </p:spPr>
        <p:txBody>
          <a:bodyPr wrap="square" lIns="0" rIns="0" tIns="0" bIns="0" anchor="t">
            <a:noAutofit/>
          </a:bodyPr>
          <a:lstStyle/>
          <a:p>
            <a:pPr algn="ctr">
              <a:lnSpc>
                <a:spcPct val="109000"/>
              </a:lnSpc>
              <a:spcBef>
                <a:spcPts val="0"/>
              </a:spcBef>
              <a:spcAft>
                <a:spcPts val="0"/>
              </a:spcAft>
            </a:pPr>
            <a:r>
              <a:rPr sz="1300" b="0">
                <a:solidFill>
                  <a:srgbClr val="00407A"/>
                </a:solidFill>
                <a:latin typeface="Arial"/>
              </a:rPr>
              <a:t>4</a:t>
            </a:r>
          </a:p>
        </p:txBody>
      </p:sp>
      <p:sp>
        <p:nvSpPr>
          <p:cNvPr id="77" name="TextBox 76"/>
          <p:cNvSpPr txBox="1"/>
          <p:nvPr/>
        </p:nvSpPr>
        <p:spPr>
          <a:xfrm>
            <a:off x="10246766" y="4544568"/>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0</a:t>
            </a:r>
          </a:p>
        </p:txBody>
      </p:sp>
      <p:sp>
        <p:nvSpPr>
          <p:cNvPr id="78" name="Rectangle 77"/>
          <p:cNvSpPr/>
          <p:nvPr/>
        </p:nvSpPr>
        <p:spPr>
          <a:xfrm>
            <a:off x="10539374" y="4772436"/>
            <a:ext cx="201168" cy="19019"/>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10511942" y="4525548"/>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1</a:t>
            </a:r>
          </a:p>
        </p:txBody>
      </p:sp>
      <p:sp>
        <p:nvSpPr>
          <p:cNvPr id="80" name="TextBox 79"/>
          <p:cNvSpPr txBox="1"/>
          <p:nvPr/>
        </p:nvSpPr>
        <p:spPr>
          <a:xfrm>
            <a:off x="10319918" y="4882896"/>
            <a:ext cx="365760" cy="228600"/>
          </a:xfrm>
          <a:prstGeom prst="rect">
            <a:avLst/>
          </a:prstGeom>
          <a:noFill/>
        </p:spPr>
        <p:txBody>
          <a:bodyPr wrap="square" lIns="0" rIns="0" tIns="0" bIns="0" anchor="t">
            <a:noAutofit/>
          </a:bodyPr>
          <a:lstStyle/>
          <a:p>
            <a:pPr algn="ctr">
              <a:lnSpc>
                <a:spcPct val="109000"/>
              </a:lnSpc>
              <a:spcBef>
                <a:spcPts val="0"/>
              </a:spcBef>
              <a:spcAft>
                <a:spcPts val="0"/>
              </a:spcAft>
            </a:pPr>
            <a:r>
              <a:rPr sz="1300" b="0">
                <a:solidFill>
                  <a:srgbClr val="00407A"/>
                </a:solidFill>
                <a:latin typeface="Arial"/>
              </a:rPr>
              <a:t>5</a:t>
            </a:r>
          </a:p>
        </p:txBody>
      </p:sp>
      <p:sp>
        <p:nvSpPr>
          <p:cNvPr id="81" name="TextBox 80"/>
          <p:cNvSpPr txBox="1"/>
          <p:nvPr/>
        </p:nvSpPr>
        <p:spPr>
          <a:xfrm>
            <a:off x="6409944" y="5120640"/>
            <a:ext cx="1508760" cy="256032"/>
          </a:xfrm>
          <a:prstGeom prst="rect">
            <a:avLst/>
          </a:prstGeom>
          <a:noFill/>
        </p:spPr>
        <p:txBody>
          <a:bodyPr wrap="square" lIns="0" rIns="0" tIns="0" bIns="0" anchor="t">
            <a:noAutofit/>
          </a:bodyPr>
          <a:lstStyle/>
          <a:p>
            <a:pPr algn="l">
              <a:lnSpc>
                <a:spcPct val="109000"/>
              </a:lnSpc>
              <a:spcBef>
                <a:spcPts val="0"/>
              </a:spcBef>
              <a:spcAft>
                <a:spcPts val="0"/>
              </a:spcAft>
            </a:pPr>
            <a:r>
              <a:rPr sz="1200" b="0">
                <a:solidFill>
                  <a:srgbClr val="4A5A66"/>
                </a:solidFill>
                <a:latin typeface="Arial"/>
              </a:rPr>
              <a:t>Level (1–5)</a:t>
            </a:r>
          </a:p>
        </p:txBody>
      </p:sp>
      <p:sp>
        <p:nvSpPr>
          <p:cNvPr id="82" name="Rectangle 81"/>
          <p:cNvSpPr/>
          <p:nvPr/>
        </p:nvSpPr>
        <p:spPr>
          <a:xfrm>
            <a:off x="8174736" y="5120640"/>
            <a:ext cx="146304" cy="146304"/>
          </a:xfrm>
          <a:prstGeom prst="rect">
            <a:avLst/>
          </a:prstGeom>
          <a:solidFill>
            <a:srgbClr val="52BD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8385048" y="5074920"/>
            <a:ext cx="548640" cy="246888"/>
          </a:xfrm>
          <a:prstGeom prst="rect">
            <a:avLst/>
          </a:prstGeom>
          <a:noFill/>
        </p:spPr>
        <p:txBody>
          <a:bodyPr wrap="square" lIns="0" rIns="0" tIns="0" bIns="0" anchor="t">
            <a:noAutofit/>
          </a:bodyPr>
          <a:lstStyle/>
          <a:p>
            <a:pPr algn="l">
              <a:lnSpc>
                <a:spcPct val="109000"/>
              </a:lnSpc>
              <a:spcBef>
                <a:spcPts val="0"/>
              </a:spcBef>
              <a:spcAft>
                <a:spcPts val="0"/>
              </a:spcAft>
            </a:pPr>
            <a:r>
              <a:rPr sz="1200" b="0">
                <a:solidFill>
                  <a:srgbClr val="00407A"/>
                </a:solidFill>
                <a:latin typeface="Arial"/>
              </a:rPr>
              <a:t>Tool</a:t>
            </a:r>
          </a:p>
        </p:txBody>
      </p:sp>
      <p:sp>
        <p:nvSpPr>
          <p:cNvPr id="84" name="Rectangle 83"/>
          <p:cNvSpPr/>
          <p:nvPr/>
        </p:nvSpPr>
        <p:spPr>
          <a:xfrm>
            <a:off x="9089136" y="5120640"/>
            <a:ext cx="146304" cy="146304"/>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9299448" y="5074920"/>
            <a:ext cx="594360" cy="246888"/>
          </a:xfrm>
          <a:prstGeom prst="rect">
            <a:avLst/>
          </a:prstGeom>
          <a:noFill/>
        </p:spPr>
        <p:txBody>
          <a:bodyPr wrap="square" lIns="0" rIns="0" tIns="0" bIns="0" anchor="t">
            <a:noAutofit/>
          </a:bodyPr>
          <a:lstStyle/>
          <a:p>
            <a:pPr algn="l">
              <a:lnSpc>
                <a:spcPct val="109000"/>
              </a:lnSpc>
              <a:spcBef>
                <a:spcPts val="0"/>
              </a:spcBef>
              <a:spcAft>
                <a:spcPts val="0"/>
              </a:spcAft>
            </a:pPr>
            <a:r>
              <a:rPr sz="1200" b="0">
                <a:solidFill>
                  <a:srgbClr val="00407A"/>
                </a:solidFill>
                <a:latin typeface="Arial"/>
              </a:rPr>
              <a:t>27B</a:t>
            </a:r>
          </a:p>
        </p:txBody>
      </p:sp>
      <p:sp>
        <p:nvSpPr>
          <p:cNvPr id="86" name="Rounded Rectangle 85"/>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27B usually chooses the lowest frequency level and high power levels; the tool labels have a different distribution.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265176"/>
            <a:ext cx="10561320" cy="237744"/>
          </a:xfrm>
          <a:prstGeom prst="rect">
            <a:avLst/>
          </a:prstGeom>
          <a:noFill/>
        </p:spPr>
        <p:txBody>
          <a:bodyPr wrap="square" lIns="0" rIns="0" tIns="0" bIns="0" anchor="t">
            <a:noAutofit/>
          </a:bodyPr>
          <a:lstStyle/>
          <a:p>
            <a:pPr algn="l">
              <a:lnSpc>
                <a:spcPct val="109000"/>
              </a:lnSpc>
              <a:spcBef>
                <a:spcPts val="0"/>
              </a:spcBef>
              <a:spcAft>
                <a:spcPts val="0"/>
              </a:spcAft>
            </a:pPr>
            <a:r>
              <a:rPr sz="1250" b="1">
                <a:solidFill>
                  <a:srgbClr val="0B5A93"/>
                </a:solidFill>
                <a:latin typeface="Arial"/>
              </a:rPr>
              <a:t>EXPERIMENT 2  •  THREE SOLVED EXAMPLES PER QUESTION</a:t>
            </a:r>
          </a:p>
        </p:txBody>
      </p:sp>
      <p:sp>
        <p:nvSpPr>
          <p:cNvPr id="3" name="TextBox 2"/>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27B’s level counts are closer to the tool’s</a:t>
            </a:r>
          </a:p>
        </p:txBody>
      </p:sp>
      <p:sp>
        <p:nvSpPr>
          <p:cNvPr id="4" name="TextBox 3"/>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Design counts at each level, with three solved examples per question. Every level is shown.</a:t>
            </a:r>
          </a:p>
        </p:txBody>
      </p:sp>
      <p:sp>
        <p:nvSpPr>
          <p:cNvPr id="5" name="TextBox 4"/>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three examples per question  •  16 October 2026  |  RESULTS</a:t>
            </a:r>
          </a:p>
        </p:txBody>
      </p:sp>
      <p:sp>
        <p:nvSpPr>
          <p:cNvPr id="6" name="TextBox 5"/>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29</a:t>
            </a:r>
          </a:p>
        </p:txBody>
      </p:sp>
      <p:sp>
        <p:nvSpPr>
          <p:cNvPr id="7" name="Rounded Rectangle 6"/>
          <p:cNvSpPr/>
          <p:nvPr/>
        </p:nvSpPr>
        <p:spPr>
          <a:xfrm>
            <a:off x="813816" y="1828800"/>
            <a:ext cx="5166360" cy="3703320"/>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14984" y="1993392"/>
            <a:ext cx="4764024" cy="347472"/>
          </a:xfrm>
          <a:prstGeom prst="rect">
            <a:avLst/>
          </a:prstGeom>
          <a:noFill/>
        </p:spPr>
        <p:txBody>
          <a:bodyPr wrap="square" lIns="0" rIns="0" tIns="0" bIns="0" anchor="t">
            <a:noAutofit/>
          </a:bodyPr>
          <a:lstStyle/>
          <a:p>
            <a:pPr algn="l">
              <a:lnSpc>
                <a:spcPct val="109000"/>
              </a:lnSpc>
              <a:spcBef>
                <a:spcPts val="0"/>
              </a:spcBef>
              <a:spcAft>
                <a:spcPts val="0"/>
              </a:spcAft>
            </a:pPr>
            <a:r>
              <a:rPr sz="1900" b="1">
                <a:solidFill>
                  <a:srgbClr val="00407A"/>
                </a:solidFill>
                <a:latin typeface="Arial"/>
              </a:rPr>
              <a:t>Clock-frequency levels</a:t>
            </a:r>
          </a:p>
        </p:txBody>
      </p:sp>
      <p:sp>
        <p:nvSpPr>
          <p:cNvPr id="9" name="TextBox 8"/>
          <p:cNvSpPr txBox="1"/>
          <p:nvPr/>
        </p:nvSpPr>
        <p:spPr>
          <a:xfrm>
            <a:off x="1014984" y="2441448"/>
            <a:ext cx="4764024" cy="274320"/>
          </a:xfrm>
          <a:prstGeom prst="rect">
            <a:avLst/>
          </a:prstGeom>
          <a:noFill/>
        </p:spPr>
        <p:txBody>
          <a:bodyPr wrap="square" lIns="0" rIns="0" tIns="0" bIns="0" anchor="t">
            <a:noAutofit/>
          </a:bodyPr>
          <a:lstStyle/>
          <a:p>
            <a:pPr algn="l">
              <a:lnSpc>
                <a:spcPct val="109000"/>
              </a:lnSpc>
              <a:spcBef>
                <a:spcPts val="0"/>
              </a:spcBef>
              <a:spcAft>
                <a:spcPts val="0"/>
              </a:spcAft>
            </a:pPr>
            <a:r>
              <a:rPr sz="1300" b="0">
                <a:solidFill>
                  <a:srgbClr val="4A5A66"/>
                </a:solidFill>
                <a:latin typeface="Arial"/>
              </a:rPr>
              <a:t>92 designs • counts at each level</a:t>
            </a:r>
          </a:p>
        </p:txBody>
      </p:sp>
      <p:cxnSp>
        <p:nvCxnSpPr>
          <p:cNvPr id="10" name="Connector 9"/>
          <p:cNvCxnSpPr/>
          <p:nvPr/>
        </p:nvCxnSpPr>
        <p:spPr>
          <a:xfrm>
            <a:off x="1389888" y="4791456"/>
            <a:ext cx="4270248" cy="0"/>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877824" y="4690872"/>
            <a:ext cx="411480" cy="210312"/>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0</a:t>
            </a:r>
          </a:p>
        </p:txBody>
      </p:sp>
      <p:cxnSp>
        <p:nvCxnSpPr>
          <p:cNvPr id="12" name="Connector 11"/>
          <p:cNvCxnSpPr/>
          <p:nvPr/>
        </p:nvCxnSpPr>
        <p:spPr>
          <a:xfrm>
            <a:off x="1389888" y="4315968"/>
            <a:ext cx="4270248" cy="0"/>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877824" y="4215384"/>
            <a:ext cx="411480" cy="210312"/>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25</a:t>
            </a:r>
          </a:p>
        </p:txBody>
      </p:sp>
      <p:cxnSp>
        <p:nvCxnSpPr>
          <p:cNvPr id="14" name="Connector 13"/>
          <p:cNvCxnSpPr/>
          <p:nvPr/>
        </p:nvCxnSpPr>
        <p:spPr>
          <a:xfrm>
            <a:off x="1389888" y="3840480"/>
            <a:ext cx="4270248" cy="0"/>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877824" y="3739896"/>
            <a:ext cx="411480" cy="210312"/>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50</a:t>
            </a:r>
          </a:p>
        </p:txBody>
      </p:sp>
      <p:cxnSp>
        <p:nvCxnSpPr>
          <p:cNvPr id="16" name="Connector 15"/>
          <p:cNvCxnSpPr/>
          <p:nvPr/>
        </p:nvCxnSpPr>
        <p:spPr>
          <a:xfrm>
            <a:off x="1389888" y="3364992"/>
            <a:ext cx="4270248" cy="0"/>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877824" y="3264408"/>
            <a:ext cx="411480" cy="210312"/>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75</a:t>
            </a:r>
          </a:p>
        </p:txBody>
      </p:sp>
      <p:cxnSp>
        <p:nvCxnSpPr>
          <p:cNvPr id="18" name="Connector 17"/>
          <p:cNvCxnSpPr/>
          <p:nvPr/>
        </p:nvCxnSpPr>
        <p:spPr>
          <a:xfrm>
            <a:off x="1389888" y="2889504"/>
            <a:ext cx="4270248" cy="0"/>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877824" y="2788920"/>
            <a:ext cx="411480" cy="210312"/>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100</a:t>
            </a:r>
          </a:p>
        </p:txBody>
      </p:sp>
      <p:sp>
        <p:nvSpPr>
          <p:cNvPr id="20" name="Rectangle 19"/>
          <p:cNvSpPr/>
          <p:nvPr/>
        </p:nvSpPr>
        <p:spPr>
          <a:xfrm>
            <a:off x="1463040" y="4544202"/>
            <a:ext cx="201168" cy="247253"/>
          </a:xfrm>
          <a:prstGeom prst="rect">
            <a:avLst/>
          </a:prstGeom>
          <a:solidFill>
            <a:srgbClr val="52BD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435608" y="4297314"/>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13</a:t>
            </a:r>
          </a:p>
        </p:txBody>
      </p:sp>
      <p:sp>
        <p:nvSpPr>
          <p:cNvPr id="22" name="Rectangle 21"/>
          <p:cNvSpPr/>
          <p:nvPr/>
        </p:nvSpPr>
        <p:spPr>
          <a:xfrm>
            <a:off x="1728216" y="4239889"/>
            <a:ext cx="201168" cy="551566"/>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700784" y="3993001"/>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29</a:t>
            </a:r>
          </a:p>
        </p:txBody>
      </p:sp>
      <p:sp>
        <p:nvSpPr>
          <p:cNvPr id="24" name="TextBox 23"/>
          <p:cNvSpPr txBox="1"/>
          <p:nvPr/>
        </p:nvSpPr>
        <p:spPr>
          <a:xfrm>
            <a:off x="1508760" y="4882896"/>
            <a:ext cx="365760" cy="228600"/>
          </a:xfrm>
          <a:prstGeom prst="rect">
            <a:avLst/>
          </a:prstGeom>
          <a:noFill/>
        </p:spPr>
        <p:txBody>
          <a:bodyPr wrap="square" lIns="0" rIns="0" tIns="0" bIns="0" anchor="t">
            <a:noAutofit/>
          </a:bodyPr>
          <a:lstStyle/>
          <a:p>
            <a:pPr algn="ctr">
              <a:lnSpc>
                <a:spcPct val="109000"/>
              </a:lnSpc>
              <a:spcBef>
                <a:spcPts val="0"/>
              </a:spcBef>
              <a:spcAft>
                <a:spcPts val="0"/>
              </a:spcAft>
            </a:pPr>
            <a:r>
              <a:rPr sz="1300" b="0">
                <a:solidFill>
                  <a:srgbClr val="00407A"/>
                </a:solidFill>
                <a:latin typeface="Arial"/>
              </a:rPr>
              <a:t>1</a:t>
            </a:r>
          </a:p>
        </p:txBody>
      </p:sp>
      <p:sp>
        <p:nvSpPr>
          <p:cNvPr id="25" name="Rectangle 24"/>
          <p:cNvSpPr/>
          <p:nvPr/>
        </p:nvSpPr>
        <p:spPr>
          <a:xfrm>
            <a:off x="2317089" y="4487143"/>
            <a:ext cx="201168" cy="304312"/>
          </a:xfrm>
          <a:prstGeom prst="rect">
            <a:avLst/>
          </a:prstGeom>
          <a:solidFill>
            <a:srgbClr val="52BD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289657" y="4240255"/>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16</a:t>
            </a:r>
          </a:p>
        </p:txBody>
      </p:sp>
      <p:sp>
        <p:nvSpPr>
          <p:cNvPr id="27" name="Rectangle 26"/>
          <p:cNvSpPr/>
          <p:nvPr/>
        </p:nvSpPr>
        <p:spPr>
          <a:xfrm>
            <a:off x="2582265" y="4772436"/>
            <a:ext cx="201168" cy="19019"/>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554833" y="4525548"/>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1</a:t>
            </a:r>
          </a:p>
        </p:txBody>
      </p:sp>
      <p:sp>
        <p:nvSpPr>
          <p:cNvPr id="29" name="TextBox 28"/>
          <p:cNvSpPr txBox="1"/>
          <p:nvPr/>
        </p:nvSpPr>
        <p:spPr>
          <a:xfrm>
            <a:off x="2362809" y="4882896"/>
            <a:ext cx="365760" cy="228600"/>
          </a:xfrm>
          <a:prstGeom prst="rect">
            <a:avLst/>
          </a:prstGeom>
          <a:noFill/>
        </p:spPr>
        <p:txBody>
          <a:bodyPr wrap="square" lIns="0" rIns="0" tIns="0" bIns="0" anchor="t">
            <a:noAutofit/>
          </a:bodyPr>
          <a:lstStyle/>
          <a:p>
            <a:pPr algn="ctr">
              <a:lnSpc>
                <a:spcPct val="109000"/>
              </a:lnSpc>
              <a:spcBef>
                <a:spcPts val="0"/>
              </a:spcBef>
              <a:spcAft>
                <a:spcPts val="0"/>
              </a:spcAft>
            </a:pPr>
            <a:r>
              <a:rPr sz="1300" b="0">
                <a:solidFill>
                  <a:srgbClr val="00407A"/>
                </a:solidFill>
                <a:latin typeface="Arial"/>
              </a:rPr>
              <a:t>2</a:t>
            </a:r>
          </a:p>
        </p:txBody>
      </p:sp>
      <p:sp>
        <p:nvSpPr>
          <p:cNvPr id="30" name="Rectangle 29"/>
          <p:cNvSpPr/>
          <p:nvPr/>
        </p:nvSpPr>
        <p:spPr>
          <a:xfrm>
            <a:off x="3171139" y="4449104"/>
            <a:ext cx="201168" cy="342351"/>
          </a:xfrm>
          <a:prstGeom prst="rect">
            <a:avLst/>
          </a:prstGeom>
          <a:solidFill>
            <a:srgbClr val="52BD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143707" y="4202216"/>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18</a:t>
            </a:r>
          </a:p>
        </p:txBody>
      </p:sp>
      <p:sp>
        <p:nvSpPr>
          <p:cNvPr id="32" name="Rectangle 31"/>
          <p:cNvSpPr/>
          <p:nvPr/>
        </p:nvSpPr>
        <p:spPr>
          <a:xfrm>
            <a:off x="3436315" y="4220870"/>
            <a:ext cx="201168" cy="570585"/>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408883" y="3973982"/>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30</a:t>
            </a:r>
          </a:p>
        </p:txBody>
      </p:sp>
      <p:sp>
        <p:nvSpPr>
          <p:cNvPr id="34" name="TextBox 33"/>
          <p:cNvSpPr txBox="1"/>
          <p:nvPr/>
        </p:nvSpPr>
        <p:spPr>
          <a:xfrm>
            <a:off x="3216859" y="4882896"/>
            <a:ext cx="365760" cy="228600"/>
          </a:xfrm>
          <a:prstGeom prst="rect">
            <a:avLst/>
          </a:prstGeom>
          <a:noFill/>
        </p:spPr>
        <p:txBody>
          <a:bodyPr wrap="square" lIns="0" rIns="0" tIns="0" bIns="0" anchor="t">
            <a:noAutofit/>
          </a:bodyPr>
          <a:lstStyle/>
          <a:p>
            <a:pPr algn="ctr">
              <a:lnSpc>
                <a:spcPct val="109000"/>
              </a:lnSpc>
              <a:spcBef>
                <a:spcPts val="0"/>
              </a:spcBef>
              <a:spcAft>
                <a:spcPts val="0"/>
              </a:spcAft>
            </a:pPr>
            <a:r>
              <a:rPr sz="1300" b="0">
                <a:solidFill>
                  <a:srgbClr val="00407A"/>
                </a:solidFill>
                <a:latin typeface="Arial"/>
              </a:rPr>
              <a:t>3</a:t>
            </a:r>
          </a:p>
        </p:txBody>
      </p:sp>
      <p:sp>
        <p:nvSpPr>
          <p:cNvPr id="35" name="Rectangle 34"/>
          <p:cNvSpPr/>
          <p:nvPr/>
        </p:nvSpPr>
        <p:spPr>
          <a:xfrm>
            <a:off x="4025188" y="3935577"/>
            <a:ext cx="201168" cy="855878"/>
          </a:xfrm>
          <a:prstGeom prst="rect">
            <a:avLst/>
          </a:prstGeom>
          <a:solidFill>
            <a:srgbClr val="52BD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997756" y="3688689"/>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45</a:t>
            </a:r>
          </a:p>
        </p:txBody>
      </p:sp>
      <p:sp>
        <p:nvSpPr>
          <p:cNvPr id="37" name="Rectangle 36"/>
          <p:cNvSpPr/>
          <p:nvPr/>
        </p:nvSpPr>
        <p:spPr>
          <a:xfrm>
            <a:off x="4290364" y="4182831"/>
            <a:ext cx="201168" cy="608624"/>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262932" y="3935943"/>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32</a:t>
            </a:r>
          </a:p>
        </p:txBody>
      </p:sp>
      <p:sp>
        <p:nvSpPr>
          <p:cNvPr id="39" name="TextBox 38"/>
          <p:cNvSpPr txBox="1"/>
          <p:nvPr/>
        </p:nvSpPr>
        <p:spPr>
          <a:xfrm>
            <a:off x="4070908" y="4882896"/>
            <a:ext cx="365760" cy="228600"/>
          </a:xfrm>
          <a:prstGeom prst="rect">
            <a:avLst/>
          </a:prstGeom>
          <a:noFill/>
        </p:spPr>
        <p:txBody>
          <a:bodyPr wrap="square" lIns="0" rIns="0" tIns="0" bIns="0" anchor="t">
            <a:noAutofit/>
          </a:bodyPr>
          <a:lstStyle/>
          <a:p>
            <a:pPr algn="ctr">
              <a:lnSpc>
                <a:spcPct val="109000"/>
              </a:lnSpc>
              <a:spcBef>
                <a:spcPts val="0"/>
              </a:spcBef>
              <a:spcAft>
                <a:spcPts val="0"/>
              </a:spcAft>
            </a:pPr>
            <a:r>
              <a:rPr sz="1300" b="0">
                <a:solidFill>
                  <a:srgbClr val="00407A"/>
                </a:solidFill>
                <a:latin typeface="Arial"/>
              </a:rPr>
              <a:t>4</a:t>
            </a:r>
          </a:p>
        </p:txBody>
      </p:sp>
      <p:sp>
        <p:nvSpPr>
          <p:cNvPr id="40" name="TextBox 39"/>
          <p:cNvSpPr txBox="1"/>
          <p:nvPr/>
        </p:nvSpPr>
        <p:spPr>
          <a:xfrm>
            <a:off x="4851806" y="4544568"/>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0</a:t>
            </a:r>
          </a:p>
        </p:txBody>
      </p:sp>
      <p:sp>
        <p:nvSpPr>
          <p:cNvPr id="41" name="TextBox 40"/>
          <p:cNvSpPr txBox="1"/>
          <p:nvPr/>
        </p:nvSpPr>
        <p:spPr>
          <a:xfrm>
            <a:off x="5116982" y="4544568"/>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0</a:t>
            </a:r>
          </a:p>
        </p:txBody>
      </p:sp>
      <p:sp>
        <p:nvSpPr>
          <p:cNvPr id="42" name="TextBox 41"/>
          <p:cNvSpPr txBox="1"/>
          <p:nvPr/>
        </p:nvSpPr>
        <p:spPr>
          <a:xfrm>
            <a:off x="4924958" y="4882896"/>
            <a:ext cx="365760" cy="228600"/>
          </a:xfrm>
          <a:prstGeom prst="rect">
            <a:avLst/>
          </a:prstGeom>
          <a:noFill/>
        </p:spPr>
        <p:txBody>
          <a:bodyPr wrap="square" lIns="0" rIns="0" tIns="0" bIns="0" anchor="t">
            <a:noAutofit/>
          </a:bodyPr>
          <a:lstStyle/>
          <a:p>
            <a:pPr algn="ctr">
              <a:lnSpc>
                <a:spcPct val="109000"/>
              </a:lnSpc>
              <a:spcBef>
                <a:spcPts val="0"/>
              </a:spcBef>
              <a:spcAft>
                <a:spcPts val="0"/>
              </a:spcAft>
            </a:pPr>
            <a:r>
              <a:rPr sz="1300" b="0">
                <a:solidFill>
                  <a:srgbClr val="00407A"/>
                </a:solidFill>
                <a:latin typeface="Arial"/>
              </a:rPr>
              <a:t>5</a:t>
            </a:r>
          </a:p>
        </p:txBody>
      </p:sp>
      <p:sp>
        <p:nvSpPr>
          <p:cNvPr id="43" name="TextBox 42"/>
          <p:cNvSpPr txBox="1"/>
          <p:nvPr/>
        </p:nvSpPr>
        <p:spPr>
          <a:xfrm>
            <a:off x="1014984" y="5120640"/>
            <a:ext cx="1508760" cy="256032"/>
          </a:xfrm>
          <a:prstGeom prst="rect">
            <a:avLst/>
          </a:prstGeom>
          <a:noFill/>
        </p:spPr>
        <p:txBody>
          <a:bodyPr wrap="square" lIns="0" rIns="0" tIns="0" bIns="0" anchor="t">
            <a:noAutofit/>
          </a:bodyPr>
          <a:lstStyle/>
          <a:p>
            <a:pPr algn="l">
              <a:lnSpc>
                <a:spcPct val="109000"/>
              </a:lnSpc>
              <a:spcBef>
                <a:spcPts val="0"/>
              </a:spcBef>
              <a:spcAft>
                <a:spcPts val="0"/>
              </a:spcAft>
            </a:pPr>
            <a:r>
              <a:rPr sz="1200" b="0">
                <a:solidFill>
                  <a:srgbClr val="4A5A66"/>
                </a:solidFill>
                <a:latin typeface="Arial"/>
              </a:rPr>
              <a:t>Level (1–5)</a:t>
            </a:r>
          </a:p>
        </p:txBody>
      </p:sp>
      <p:sp>
        <p:nvSpPr>
          <p:cNvPr id="44" name="Rectangle 43"/>
          <p:cNvSpPr/>
          <p:nvPr/>
        </p:nvSpPr>
        <p:spPr>
          <a:xfrm>
            <a:off x="2779776" y="5120640"/>
            <a:ext cx="146304" cy="146304"/>
          </a:xfrm>
          <a:prstGeom prst="rect">
            <a:avLst/>
          </a:prstGeom>
          <a:solidFill>
            <a:srgbClr val="52BD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2990088" y="5074920"/>
            <a:ext cx="548640" cy="246888"/>
          </a:xfrm>
          <a:prstGeom prst="rect">
            <a:avLst/>
          </a:prstGeom>
          <a:noFill/>
        </p:spPr>
        <p:txBody>
          <a:bodyPr wrap="square" lIns="0" rIns="0" tIns="0" bIns="0" anchor="t">
            <a:noAutofit/>
          </a:bodyPr>
          <a:lstStyle/>
          <a:p>
            <a:pPr algn="l">
              <a:lnSpc>
                <a:spcPct val="109000"/>
              </a:lnSpc>
              <a:spcBef>
                <a:spcPts val="0"/>
              </a:spcBef>
              <a:spcAft>
                <a:spcPts val="0"/>
              </a:spcAft>
            </a:pPr>
            <a:r>
              <a:rPr sz="1200" b="0">
                <a:solidFill>
                  <a:srgbClr val="00407A"/>
                </a:solidFill>
                <a:latin typeface="Arial"/>
              </a:rPr>
              <a:t>Tool</a:t>
            </a:r>
          </a:p>
        </p:txBody>
      </p:sp>
      <p:sp>
        <p:nvSpPr>
          <p:cNvPr id="46" name="Rectangle 45"/>
          <p:cNvSpPr/>
          <p:nvPr/>
        </p:nvSpPr>
        <p:spPr>
          <a:xfrm>
            <a:off x="3694176" y="5120640"/>
            <a:ext cx="146304" cy="146304"/>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904487" y="5074920"/>
            <a:ext cx="594360" cy="246888"/>
          </a:xfrm>
          <a:prstGeom prst="rect">
            <a:avLst/>
          </a:prstGeom>
          <a:noFill/>
        </p:spPr>
        <p:txBody>
          <a:bodyPr wrap="square" lIns="0" rIns="0" tIns="0" bIns="0" anchor="t">
            <a:noAutofit/>
          </a:bodyPr>
          <a:lstStyle/>
          <a:p>
            <a:pPr algn="l">
              <a:lnSpc>
                <a:spcPct val="109000"/>
              </a:lnSpc>
              <a:spcBef>
                <a:spcPts val="0"/>
              </a:spcBef>
              <a:spcAft>
                <a:spcPts val="0"/>
              </a:spcAft>
            </a:pPr>
            <a:r>
              <a:rPr sz="1200" b="0">
                <a:solidFill>
                  <a:srgbClr val="00407A"/>
                </a:solidFill>
                <a:latin typeface="Arial"/>
              </a:rPr>
              <a:t>27B</a:t>
            </a:r>
          </a:p>
        </p:txBody>
      </p:sp>
      <p:sp>
        <p:nvSpPr>
          <p:cNvPr id="48" name="Rounded Rectangle 47"/>
          <p:cNvSpPr/>
          <p:nvPr/>
        </p:nvSpPr>
        <p:spPr>
          <a:xfrm>
            <a:off x="6208776" y="1828800"/>
            <a:ext cx="5166360" cy="3703320"/>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409944" y="1993392"/>
            <a:ext cx="4764024" cy="347472"/>
          </a:xfrm>
          <a:prstGeom prst="rect">
            <a:avLst/>
          </a:prstGeom>
          <a:noFill/>
        </p:spPr>
        <p:txBody>
          <a:bodyPr wrap="square" lIns="0" rIns="0" tIns="0" bIns="0" anchor="t">
            <a:noAutofit/>
          </a:bodyPr>
          <a:lstStyle/>
          <a:p>
            <a:pPr algn="l">
              <a:lnSpc>
                <a:spcPct val="109000"/>
              </a:lnSpc>
              <a:spcBef>
                <a:spcPts val="0"/>
              </a:spcBef>
              <a:spcAft>
                <a:spcPts val="0"/>
              </a:spcAft>
            </a:pPr>
            <a:r>
              <a:rPr sz="1900" b="1">
                <a:solidFill>
                  <a:srgbClr val="00407A"/>
                </a:solidFill>
                <a:latin typeface="Arial"/>
              </a:rPr>
              <a:t>Power levels</a:t>
            </a:r>
          </a:p>
        </p:txBody>
      </p:sp>
      <p:sp>
        <p:nvSpPr>
          <p:cNvPr id="50" name="TextBox 49"/>
          <p:cNvSpPr txBox="1"/>
          <p:nvPr/>
        </p:nvSpPr>
        <p:spPr>
          <a:xfrm>
            <a:off x="6409944" y="2441448"/>
            <a:ext cx="4764024" cy="274320"/>
          </a:xfrm>
          <a:prstGeom prst="rect">
            <a:avLst/>
          </a:prstGeom>
          <a:noFill/>
        </p:spPr>
        <p:txBody>
          <a:bodyPr wrap="square" lIns="0" rIns="0" tIns="0" bIns="0" anchor="t">
            <a:noAutofit/>
          </a:bodyPr>
          <a:lstStyle/>
          <a:p>
            <a:pPr algn="l">
              <a:lnSpc>
                <a:spcPct val="109000"/>
              </a:lnSpc>
              <a:spcBef>
                <a:spcPts val="0"/>
              </a:spcBef>
              <a:spcAft>
                <a:spcPts val="0"/>
              </a:spcAft>
            </a:pPr>
            <a:r>
              <a:rPr sz="1300" b="0">
                <a:solidFill>
                  <a:srgbClr val="4A5A66"/>
                </a:solidFill>
                <a:latin typeface="Arial"/>
              </a:rPr>
              <a:t>85 designs • counts at each level</a:t>
            </a:r>
          </a:p>
        </p:txBody>
      </p:sp>
      <p:cxnSp>
        <p:nvCxnSpPr>
          <p:cNvPr id="51" name="Connector 50"/>
          <p:cNvCxnSpPr/>
          <p:nvPr/>
        </p:nvCxnSpPr>
        <p:spPr>
          <a:xfrm>
            <a:off x="6784848" y="4791456"/>
            <a:ext cx="4270248" cy="0"/>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52" name="TextBox 51"/>
          <p:cNvSpPr txBox="1"/>
          <p:nvPr/>
        </p:nvSpPr>
        <p:spPr>
          <a:xfrm>
            <a:off x="6272784" y="4690872"/>
            <a:ext cx="411480" cy="210312"/>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0</a:t>
            </a:r>
          </a:p>
        </p:txBody>
      </p:sp>
      <p:cxnSp>
        <p:nvCxnSpPr>
          <p:cNvPr id="53" name="Connector 52"/>
          <p:cNvCxnSpPr/>
          <p:nvPr/>
        </p:nvCxnSpPr>
        <p:spPr>
          <a:xfrm>
            <a:off x="6784848" y="4315968"/>
            <a:ext cx="4270248" cy="0"/>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6272784" y="4215384"/>
            <a:ext cx="411480" cy="210312"/>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25</a:t>
            </a:r>
          </a:p>
        </p:txBody>
      </p:sp>
      <p:cxnSp>
        <p:nvCxnSpPr>
          <p:cNvPr id="55" name="Connector 54"/>
          <p:cNvCxnSpPr/>
          <p:nvPr/>
        </p:nvCxnSpPr>
        <p:spPr>
          <a:xfrm>
            <a:off x="6784848" y="3840480"/>
            <a:ext cx="4270248" cy="0"/>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6272784" y="3739896"/>
            <a:ext cx="411480" cy="210312"/>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50</a:t>
            </a:r>
          </a:p>
        </p:txBody>
      </p:sp>
      <p:cxnSp>
        <p:nvCxnSpPr>
          <p:cNvPr id="57" name="Connector 56"/>
          <p:cNvCxnSpPr/>
          <p:nvPr/>
        </p:nvCxnSpPr>
        <p:spPr>
          <a:xfrm>
            <a:off x="6784848" y="3364992"/>
            <a:ext cx="4270248" cy="0"/>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6272784" y="3264408"/>
            <a:ext cx="411480" cy="210312"/>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75</a:t>
            </a:r>
          </a:p>
        </p:txBody>
      </p:sp>
      <p:cxnSp>
        <p:nvCxnSpPr>
          <p:cNvPr id="59" name="Connector 58"/>
          <p:cNvCxnSpPr/>
          <p:nvPr/>
        </p:nvCxnSpPr>
        <p:spPr>
          <a:xfrm>
            <a:off x="6784848" y="2889504"/>
            <a:ext cx="4270248" cy="0"/>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60" name="TextBox 59"/>
          <p:cNvSpPr txBox="1"/>
          <p:nvPr/>
        </p:nvSpPr>
        <p:spPr>
          <a:xfrm>
            <a:off x="6272784" y="2788920"/>
            <a:ext cx="411480" cy="210312"/>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100</a:t>
            </a:r>
          </a:p>
        </p:txBody>
      </p:sp>
      <p:sp>
        <p:nvSpPr>
          <p:cNvPr id="61" name="Rectangle 60"/>
          <p:cNvSpPr/>
          <p:nvPr/>
        </p:nvSpPr>
        <p:spPr>
          <a:xfrm>
            <a:off x="6858000" y="4354007"/>
            <a:ext cx="201168" cy="437448"/>
          </a:xfrm>
          <a:prstGeom prst="rect">
            <a:avLst/>
          </a:prstGeom>
          <a:solidFill>
            <a:srgbClr val="52BD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6830568" y="4107119"/>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23</a:t>
            </a:r>
          </a:p>
        </p:txBody>
      </p:sp>
      <p:sp>
        <p:nvSpPr>
          <p:cNvPr id="63" name="TextBox 62"/>
          <p:cNvSpPr txBox="1"/>
          <p:nvPr/>
        </p:nvSpPr>
        <p:spPr>
          <a:xfrm>
            <a:off x="7095744" y="4544568"/>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0</a:t>
            </a:r>
          </a:p>
        </p:txBody>
      </p:sp>
      <p:sp>
        <p:nvSpPr>
          <p:cNvPr id="64" name="TextBox 63"/>
          <p:cNvSpPr txBox="1"/>
          <p:nvPr/>
        </p:nvSpPr>
        <p:spPr>
          <a:xfrm>
            <a:off x="6903720" y="4882896"/>
            <a:ext cx="365760" cy="228600"/>
          </a:xfrm>
          <a:prstGeom prst="rect">
            <a:avLst/>
          </a:prstGeom>
          <a:noFill/>
        </p:spPr>
        <p:txBody>
          <a:bodyPr wrap="square" lIns="0" rIns="0" tIns="0" bIns="0" anchor="t">
            <a:noAutofit/>
          </a:bodyPr>
          <a:lstStyle/>
          <a:p>
            <a:pPr algn="ctr">
              <a:lnSpc>
                <a:spcPct val="109000"/>
              </a:lnSpc>
              <a:spcBef>
                <a:spcPts val="0"/>
              </a:spcBef>
              <a:spcAft>
                <a:spcPts val="0"/>
              </a:spcAft>
            </a:pPr>
            <a:r>
              <a:rPr sz="1300" b="0">
                <a:solidFill>
                  <a:srgbClr val="00407A"/>
                </a:solidFill>
                <a:latin typeface="Arial"/>
              </a:rPr>
              <a:t>1</a:t>
            </a:r>
          </a:p>
        </p:txBody>
      </p:sp>
      <p:sp>
        <p:nvSpPr>
          <p:cNvPr id="65" name="Rectangle 64"/>
          <p:cNvSpPr/>
          <p:nvPr/>
        </p:nvSpPr>
        <p:spPr>
          <a:xfrm>
            <a:off x="7712049" y="4087733"/>
            <a:ext cx="201168" cy="703722"/>
          </a:xfrm>
          <a:prstGeom prst="rect">
            <a:avLst/>
          </a:prstGeom>
          <a:solidFill>
            <a:srgbClr val="52BD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7684617" y="3840845"/>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37</a:t>
            </a:r>
          </a:p>
        </p:txBody>
      </p:sp>
      <p:sp>
        <p:nvSpPr>
          <p:cNvPr id="67" name="Rectangle 66"/>
          <p:cNvSpPr/>
          <p:nvPr/>
        </p:nvSpPr>
        <p:spPr>
          <a:xfrm>
            <a:off x="7977225" y="4011655"/>
            <a:ext cx="201168" cy="779800"/>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7949793" y="3764767"/>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41</a:t>
            </a:r>
          </a:p>
        </p:txBody>
      </p:sp>
      <p:sp>
        <p:nvSpPr>
          <p:cNvPr id="69" name="TextBox 68"/>
          <p:cNvSpPr txBox="1"/>
          <p:nvPr/>
        </p:nvSpPr>
        <p:spPr>
          <a:xfrm>
            <a:off x="7757769" y="4882896"/>
            <a:ext cx="365760" cy="228600"/>
          </a:xfrm>
          <a:prstGeom prst="rect">
            <a:avLst/>
          </a:prstGeom>
          <a:noFill/>
        </p:spPr>
        <p:txBody>
          <a:bodyPr wrap="square" lIns="0" rIns="0" tIns="0" bIns="0" anchor="t">
            <a:noAutofit/>
          </a:bodyPr>
          <a:lstStyle/>
          <a:p>
            <a:pPr algn="ctr">
              <a:lnSpc>
                <a:spcPct val="109000"/>
              </a:lnSpc>
              <a:spcBef>
                <a:spcPts val="0"/>
              </a:spcBef>
              <a:spcAft>
                <a:spcPts val="0"/>
              </a:spcAft>
            </a:pPr>
            <a:r>
              <a:rPr sz="1300" b="0">
                <a:solidFill>
                  <a:srgbClr val="00407A"/>
                </a:solidFill>
                <a:latin typeface="Arial"/>
              </a:rPr>
              <a:t>2</a:t>
            </a:r>
          </a:p>
        </p:txBody>
      </p:sp>
      <p:sp>
        <p:nvSpPr>
          <p:cNvPr id="70" name="Rectangle 69"/>
          <p:cNvSpPr/>
          <p:nvPr/>
        </p:nvSpPr>
        <p:spPr>
          <a:xfrm>
            <a:off x="8566099" y="4449104"/>
            <a:ext cx="201168" cy="342351"/>
          </a:xfrm>
          <a:prstGeom prst="rect">
            <a:avLst/>
          </a:prstGeom>
          <a:solidFill>
            <a:srgbClr val="52BD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8538667" y="4202216"/>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18</a:t>
            </a:r>
          </a:p>
        </p:txBody>
      </p:sp>
      <p:sp>
        <p:nvSpPr>
          <p:cNvPr id="72" name="Rectangle 71"/>
          <p:cNvSpPr/>
          <p:nvPr/>
        </p:nvSpPr>
        <p:spPr>
          <a:xfrm>
            <a:off x="8831275" y="4315968"/>
            <a:ext cx="201168" cy="475488"/>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8803843" y="4069080"/>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25</a:t>
            </a:r>
          </a:p>
        </p:txBody>
      </p:sp>
      <p:sp>
        <p:nvSpPr>
          <p:cNvPr id="74" name="TextBox 73"/>
          <p:cNvSpPr txBox="1"/>
          <p:nvPr/>
        </p:nvSpPr>
        <p:spPr>
          <a:xfrm>
            <a:off x="8611819" y="4882896"/>
            <a:ext cx="365760" cy="228600"/>
          </a:xfrm>
          <a:prstGeom prst="rect">
            <a:avLst/>
          </a:prstGeom>
          <a:noFill/>
        </p:spPr>
        <p:txBody>
          <a:bodyPr wrap="square" lIns="0" rIns="0" tIns="0" bIns="0" anchor="t">
            <a:noAutofit/>
          </a:bodyPr>
          <a:lstStyle/>
          <a:p>
            <a:pPr algn="ctr">
              <a:lnSpc>
                <a:spcPct val="109000"/>
              </a:lnSpc>
              <a:spcBef>
                <a:spcPts val="0"/>
              </a:spcBef>
              <a:spcAft>
                <a:spcPts val="0"/>
              </a:spcAft>
            </a:pPr>
            <a:r>
              <a:rPr sz="1300" b="0">
                <a:solidFill>
                  <a:srgbClr val="00407A"/>
                </a:solidFill>
                <a:latin typeface="Arial"/>
              </a:rPr>
              <a:t>3</a:t>
            </a:r>
          </a:p>
        </p:txBody>
      </p:sp>
      <p:sp>
        <p:nvSpPr>
          <p:cNvPr id="75" name="Rectangle 74"/>
          <p:cNvSpPr/>
          <p:nvPr/>
        </p:nvSpPr>
        <p:spPr>
          <a:xfrm>
            <a:off x="9420148" y="4658319"/>
            <a:ext cx="201168" cy="133136"/>
          </a:xfrm>
          <a:prstGeom prst="rect">
            <a:avLst/>
          </a:prstGeom>
          <a:solidFill>
            <a:srgbClr val="52BD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9392716" y="4411431"/>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7</a:t>
            </a:r>
          </a:p>
        </p:txBody>
      </p:sp>
      <p:sp>
        <p:nvSpPr>
          <p:cNvPr id="77" name="Rectangle 76"/>
          <p:cNvSpPr/>
          <p:nvPr/>
        </p:nvSpPr>
        <p:spPr>
          <a:xfrm>
            <a:off x="9685324" y="4544202"/>
            <a:ext cx="201168" cy="247253"/>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9657892" y="4297314"/>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13</a:t>
            </a:r>
          </a:p>
        </p:txBody>
      </p:sp>
      <p:sp>
        <p:nvSpPr>
          <p:cNvPr id="79" name="TextBox 78"/>
          <p:cNvSpPr txBox="1"/>
          <p:nvPr/>
        </p:nvSpPr>
        <p:spPr>
          <a:xfrm>
            <a:off x="9465868" y="4882896"/>
            <a:ext cx="365760" cy="228600"/>
          </a:xfrm>
          <a:prstGeom prst="rect">
            <a:avLst/>
          </a:prstGeom>
          <a:noFill/>
        </p:spPr>
        <p:txBody>
          <a:bodyPr wrap="square" lIns="0" rIns="0" tIns="0" bIns="0" anchor="t">
            <a:noAutofit/>
          </a:bodyPr>
          <a:lstStyle/>
          <a:p>
            <a:pPr algn="ctr">
              <a:lnSpc>
                <a:spcPct val="109000"/>
              </a:lnSpc>
              <a:spcBef>
                <a:spcPts val="0"/>
              </a:spcBef>
              <a:spcAft>
                <a:spcPts val="0"/>
              </a:spcAft>
            </a:pPr>
            <a:r>
              <a:rPr sz="1300" b="0">
                <a:solidFill>
                  <a:srgbClr val="00407A"/>
                </a:solidFill>
                <a:latin typeface="Arial"/>
              </a:rPr>
              <a:t>4</a:t>
            </a:r>
          </a:p>
        </p:txBody>
      </p:sp>
      <p:sp>
        <p:nvSpPr>
          <p:cNvPr id="80" name="TextBox 79"/>
          <p:cNvSpPr txBox="1"/>
          <p:nvPr/>
        </p:nvSpPr>
        <p:spPr>
          <a:xfrm>
            <a:off x="10246766" y="4544568"/>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0</a:t>
            </a:r>
          </a:p>
        </p:txBody>
      </p:sp>
      <p:sp>
        <p:nvSpPr>
          <p:cNvPr id="81" name="Rectangle 80"/>
          <p:cNvSpPr/>
          <p:nvPr/>
        </p:nvSpPr>
        <p:spPr>
          <a:xfrm>
            <a:off x="10539374" y="4677338"/>
            <a:ext cx="201168" cy="114117"/>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10511942" y="4430450"/>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6</a:t>
            </a:r>
          </a:p>
        </p:txBody>
      </p:sp>
      <p:sp>
        <p:nvSpPr>
          <p:cNvPr id="83" name="TextBox 82"/>
          <p:cNvSpPr txBox="1"/>
          <p:nvPr/>
        </p:nvSpPr>
        <p:spPr>
          <a:xfrm>
            <a:off x="10319918" y="4882896"/>
            <a:ext cx="365760" cy="228600"/>
          </a:xfrm>
          <a:prstGeom prst="rect">
            <a:avLst/>
          </a:prstGeom>
          <a:noFill/>
        </p:spPr>
        <p:txBody>
          <a:bodyPr wrap="square" lIns="0" rIns="0" tIns="0" bIns="0" anchor="t">
            <a:noAutofit/>
          </a:bodyPr>
          <a:lstStyle/>
          <a:p>
            <a:pPr algn="ctr">
              <a:lnSpc>
                <a:spcPct val="109000"/>
              </a:lnSpc>
              <a:spcBef>
                <a:spcPts val="0"/>
              </a:spcBef>
              <a:spcAft>
                <a:spcPts val="0"/>
              </a:spcAft>
            </a:pPr>
            <a:r>
              <a:rPr sz="1300" b="0">
                <a:solidFill>
                  <a:srgbClr val="00407A"/>
                </a:solidFill>
                <a:latin typeface="Arial"/>
              </a:rPr>
              <a:t>5</a:t>
            </a:r>
          </a:p>
        </p:txBody>
      </p:sp>
      <p:sp>
        <p:nvSpPr>
          <p:cNvPr id="84" name="TextBox 83"/>
          <p:cNvSpPr txBox="1"/>
          <p:nvPr/>
        </p:nvSpPr>
        <p:spPr>
          <a:xfrm>
            <a:off x="6409944" y="5120640"/>
            <a:ext cx="1508760" cy="256032"/>
          </a:xfrm>
          <a:prstGeom prst="rect">
            <a:avLst/>
          </a:prstGeom>
          <a:noFill/>
        </p:spPr>
        <p:txBody>
          <a:bodyPr wrap="square" lIns="0" rIns="0" tIns="0" bIns="0" anchor="t">
            <a:noAutofit/>
          </a:bodyPr>
          <a:lstStyle/>
          <a:p>
            <a:pPr algn="l">
              <a:lnSpc>
                <a:spcPct val="109000"/>
              </a:lnSpc>
              <a:spcBef>
                <a:spcPts val="0"/>
              </a:spcBef>
              <a:spcAft>
                <a:spcPts val="0"/>
              </a:spcAft>
            </a:pPr>
            <a:r>
              <a:rPr sz="1200" b="0">
                <a:solidFill>
                  <a:srgbClr val="4A5A66"/>
                </a:solidFill>
                <a:latin typeface="Arial"/>
              </a:rPr>
              <a:t>Level (1–5)</a:t>
            </a:r>
          </a:p>
        </p:txBody>
      </p:sp>
      <p:sp>
        <p:nvSpPr>
          <p:cNvPr id="85" name="Rectangle 84"/>
          <p:cNvSpPr/>
          <p:nvPr/>
        </p:nvSpPr>
        <p:spPr>
          <a:xfrm>
            <a:off x="8174736" y="5120640"/>
            <a:ext cx="146304" cy="146304"/>
          </a:xfrm>
          <a:prstGeom prst="rect">
            <a:avLst/>
          </a:prstGeom>
          <a:solidFill>
            <a:srgbClr val="52BD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8385048" y="5074920"/>
            <a:ext cx="548640" cy="246888"/>
          </a:xfrm>
          <a:prstGeom prst="rect">
            <a:avLst/>
          </a:prstGeom>
          <a:noFill/>
        </p:spPr>
        <p:txBody>
          <a:bodyPr wrap="square" lIns="0" rIns="0" tIns="0" bIns="0" anchor="t">
            <a:noAutofit/>
          </a:bodyPr>
          <a:lstStyle/>
          <a:p>
            <a:pPr algn="l">
              <a:lnSpc>
                <a:spcPct val="109000"/>
              </a:lnSpc>
              <a:spcBef>
                <a:spcPts val="0"/>
              </a:spcBef>
              <a:spcAft>
                <a:spcPts val="0"/>
              </a:spcAft>
            </a:pPr>
            <a:r>
              <a:rPr sz="1200" b="0">
                <a:solidFill>
                  <a:srgbClr val="00407A"/>
                </a:solidFill>
                <a:latin typeface="Arial"/>
              </a:rPr>
              <a:t>Tool</a:t>
            </a:r>
          </a:p>
        </p:txBody>
      </p:sp>
      <p:sp>
        <p:nvSpPr>
          <p:cNvPr id="87" name="Rectangle 86"/>
          <p:cNvSpPr/>
          <p:nvPr/>
        </p:nvSpPr>
        <p:spPr>
          <a:xfrm>
            <a:off x="9089136" y="5120640"/>
            <a:ext cx="146304" cy="146304"/>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9299448" y="5074920"/>
            <a:ext cx="594360" cy="246888"/>
          </a:xfrm>
          <a:prstGeom prst="rect">
            <a:avLst/>
          </a:prstGeom>
          <a:noFill/>
        </p:spPr>
        <p:txBody>
          <a:bodyPr wrap="square" lIns="0" rIns="0" tIns="0" bIns="0" anchor="t">
            <a:noAutofit/>
          </a:bodyPr>
          <a:lstStyle/>
          <a:p>
            <a:pPr algn="l">
              <a:lnSpc>
                <a:spcPct val="109000"/>
              </a:lnSpc>
              <a:spcBef>
                <a:spcPts val="0"/>
              </a:spcBef>
              <a:spcAft>
                <a:spcPts val="0"/>
              </a:spcAft>
            </a:pPr>
            <a:r>
              <a:rPr sz="1200" b="0">
                <a:solidFill>
                  <a:srgbClr val="00407A"/>
                </a:solidFill>
                <a:latin typeface="Arial"/>
              </a:rPr>
              <a:t>27B</a:t>
            </a:r>
          </a:p>
        </p:txBody>
      </p:sp>
      <p:sp>
        <p:nvSpPr>
          <p:cNvPr id="89" name="Rounded Rectangle 88"/>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27B never chooses power level 1 (tool: 23 of 85) and chooses frequency level 2 once (tool: 16 of 92).</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Pair tests ask which variant is better</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Two candidates for the same problem, with the same flow and power stimulus.</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TESTS</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30</a:t>
            </a:r>
          </a:p>
        </p:txBody>
      </p:sp>
      <p:sp>
        <p:nvSpPr>
          <p:cNvPr id="6" name="Rounded Rectangle 5"/>
          <p:cNvSpPr/>
          <p:nvPr/>
        </p:nvSpPr>
        <p:spPr>
          <a:xfrm>
            <a:off x="813816" y="1828800"/>
            <a:ext cx="5166360" cy="242316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13816" y="1828800"/>
            <a:ext cx="516636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42416" y="2057400"/>
            <a:ext cx="4709160" cy="658368"/>
          </a:xfrm>
          <a:prstGeom prst="rect">
            <a:avLst/>
          </a:prstGeom>
          <a:noFill/>
        </p:spPr>
        <p:txBody>
          <a:bodyPr wrap="square" lIns="0" rIns="0" tIns="0" bIns="0" anchor="t">
            <a:noAutofit/>
          </a:bodyPr>
          <a:lstStyle/>
          <a:p>
            <a:pPr algn="l">
              <a:lnSpc>
                <a:spcPct val="109000"/>
              </a:lnSpc>
              <a:spcBef>
                <a:spcPts val="0"/>
              </a:spcBef>
              <a:spcAft>
                <a:spcPts val="0"/>
              </a:spcAft>
            </a:pPr>
            <a:r>
              <a:rPr sz="2100" b="1">
                <a:solidFill>
                  <a:srgbClr val="00407A"/>
                </a:solidFill>
                <a:latin typeface="Arial"/>
              </a:rPr>
              <a:t>Three comparisons</a:t>
            </a:r>
          </a:p>
        </p:txBody>
      </p:sp>
      <p:sp>
        <p:nvSpPr>
          <p:cNvPr id="9" name="TextBox 8"/>
          <p:cNvSpPr txBox="1"/>
          <p:nvPr/>
        </p:nvSpPr>
        <p:spPr>
          <a:xfrm>
            <a:off x="1042416" y="2834640"/>
            <a:ext cx="4709160" cy="1234439"/>
          </a:xfrm>
          <a:prstGeom prst="rect">
            <a:avLst/>
          </a:prstGeom>
          <a:noFill/>
        </p:spPr>
        <p:txBody>
          <a:bodyPr wrap="square" lIns="0" rIns="0" tIns="0" bIns="0" anchor="t">
            <a:noAutofit/>
          </a:bodyPr>
          <a:lstStyle/>
          <a:p>
            <a:pPr algn="l">
              <a:lnSpc>
                <a:spcPct val="109000"/>
              </a:lnSpc>
              <a:spcBef>
                <a:spcPts val="0"/>
              </a:spcBef>
              <a:spcAft>
                <a:spcPts val="0"/>
              </a:spcAft>
            </a:pPr>
            <a:r>
              <a:rPr sz="2300" b="0">
                <a:solidFill>
                  <a:srgbClr val="00407A"/>
                </a:solidFill>
                <a:latin typeface="Arial"/>
              </a:rPr>
              <a:t>Smaller cell area</a:t>
            </a:r>
          </a:p>
          <a:p>
            <a:pPr algn="l">
              <a:lnSpc>
                <a:spcPct val="109000"/>
              </a:lnSpc>
              <a:spcBef>
                <a:spcPts val="0"/>
              </a:spcBef>
              <a:spcAft>
                <a:spcPts val="0"/>
              </a:spcAft>
            </a:pPr>
            <a:r>
              <a:rPr sz="2300" b="0">
                <a:solidFill>
                  <a:srgbClr val="00407A"/>
                </a:solidFill>
                <a:latin typeface="Arial"/>
              </a:rPr>
              <a:t>Lower total power</a:t>
            </a:r>
          </a:p>
          <a:p>
            <a:pPr algn="l">
              <a:lnSpc>
                <a:spcPct val="109000"/>
              </a:lnSpc>
              <a:spcBef>
                <a:spcPts val="0"/>
              </a:spcBef>
              <a:spcAft>
                <a:spcPts val="0"/>
              </a:spcAft>
            </a:pPr>
            <a:r>
              <a:rPr sz="2300" b="0">
                <a:solidFill>
                  <a:srgbClr val="00407A"/>
                </a:solidFill>
                <a:latin typeface="Arial"/>
              </a:rPr>
              <a:t>Higher derived clock frequency</a:t>
            </a:r>
          </a:p>
        </p:txBody>
      </p:sp>
      <p:sp>
        <p:nvSpPr>
          <p:cNvPr id="10" name="Rounded Rectangle 9"/>
          <p:cNvSpPr/>
          <p:nvPr/>
        </p:nvSpPr>
        <p:spPr>
          <a:xfrm>
            <a:off x="6208776" y="1828800"/>
            <a:ext cx="5166360" cy="242316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08776" y="1828800"/>
            <a:ext cx="516636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37376" y="2057400"/>
            <a:ext cx="4709160" cy="658368"/>
          </a:xfrm>
          <a:prstGeom prst="rect">
            <a:avLst/>
          </a:prstGeom>
          <a:noFill/>
        </p:spPr>
        <p:txBody>
          <a:bodyPr wrap="square" lIns="0" rIns="0" tIns="0" bIns="0" anchor="t">
            <a:noAutofit/>
          </a:bodyPr>
          <a:lstStyle/>
          <a:p>
            <a:pPr algn="l">
              <a:lnSpc>
                <a:spcPct val="109000"/>
              </a:lnSpc>
              <a:spcBef>
                <a:spcPts val="0"/>
              </a:spcBef>
              <a:spcAft>
                <a:spcPts val="0"/>
              </a:spcAft>
            </a:pPr>
            <a:r>
              <a:rPr sz="2100" b="1">
                <a:solidFill>
                  <a:srgbClr val="00407A"/>
                </a:solidFill>
                <a:latin typeface="Arial"/>
              </a:rPr>
              <a:t>Eligibility and coverage</a:t>
            </a:r>
          </a:p>
        </p:txBody>
      </p:sp>
      <p:sp>
        <p:nvSpPr>
          <p:cNvPr id="13" name="TextBox 12"/>
          <p:cNvSpPr txBox="1"/>
          <p:nvPr/>
        </p:nvSpPr>
        <p:spPr>
          <a:xfrm>
            <a:off x="6437376" y="2834640"/>
            <a:ext cx="4709160" cy="1234439"/>
          </a:xfrm>
          <a:prstGeom prst="rect">
            <a:avLst/>
          </a:prstGeom>
          <a:noFill/>
        </p:spPr>
        <p:txBody>
          <a:bodyPr wrap="square" lIns="0" rIns="0" tIns="0" bIns="0" anchor="t">
            <a:noAutofit/>
          </a:bodyPr>
          <a:lstStyle/>
          <a:p>
            <a:pPr algn="l">
              <a:lnSpc>
                <a:spcPct val="109000"/>
              </a:lnSpc>
              <a:spcBef>
                <a:spcPts val="0"/>
              </a:spcBef>
              <a:spcAft>
                <a:spcPts val="0"/>
              </a:spcAft>
            </a:pPr>
            <a:r>
              <a:rPr sz="1900" b="0">
                <a:solidFill>
                  <a:srgbClr val="00407A"/>
                </a:solidFill>
                <a:latin typeface="Arial"/>
              </a:rPr>
              <a:t>Metric differs by at least 10%.</a:t>
            </a:r>
          </a:p>
          <a:p>
            <a:pPr algn="l">
              <a:lnSpc>
                <a:spcPct val="109000"/>
              </a:lnSpc>
              <a:spcBef>
                <a:spcPts val="0"/>
              </a:spcBef>
              <a:spcAft>
                <a:spcPts val="0"/>
              </a:spcAft>
            </a:pPr>
            <a:r>
              <a:rPr sz="1900" b="0">
                <a:solidFill>
                  <a:srgbClr val="00407A"/>
                </a:solidFill>
                <a:latin typeface="Arial"/>
              </a:rPr>
              <a:t>Area: 23 distinct pairs, 46 views.</a:t>
            </a:r>
          </a:p>
          <a:p>
            <a:pPr algn="l">
              <a:lnSpc>
                <a:spcPct val="109000"/>
              </a:lnSpc>
              <a:spcBef>
                <a:spcPts val="0"/>
              </a:spcBef>
              <a:spcAft>
                <a:spcPts val="0"/>
              </a:spcAft>
            </a:pPr>
            <a:r>
              <a:rPr sz="1900" b="0">
                <a:solidFill>
                  <a:srgbClr val="00407A"/>
                </a:solidFill>
                <a:latin typeface="Arial"/>
              </a:rPr>
              <a:t>Power: 22 pairs, 44 views.</a:t>
            </a:r>
          </a:p>
          <a:p>
            <a:pPr algn="l">
              <a:lnSpc>
                <a:spcPct val="109000"/>
              </a:lnSpc>
              <a:spcBef>
                <a:spcPts val="0"/>
              </a:spcBef>
              <a:spcAft>
                <a:spcPts val="0"/>
              </a:spcAft>
            </a:pPr>
            <a:r>
              <a:rPr sz="1900" b="0">
                <a:solidFill>
                  <a:srgbClr val="00407A"/>
                </a:solidFill>
                <a:latin typeface="Arial"/>
              </a:rPr>
              <a:t>Frequency: 6 pairs, 12 views.</a:t>
            </a:r>
          </a:p>
        </p:txBody>
      </p:sp>
      <p:sp>
        <p:nvSpPr>
          <p:cNvPr id="14" name="TextBox 13"/>
          <p:cNvSpPr txBox="1"/>
          <p:nvPr/>
        </p:nvSpPr>
        <p:spPr>
          <a:xfrm>
            <a:off x="1005840" y="4590288"/>
            <a:ext cx="10012680" cy="365760"/>
          </a:xfrm>
          <a:prstGeom prst="rect">
            <a:avLst/>
          </a:prstGeom>
          <a:noFill/>
        </p:spPr>
        <p:txBody>
          <a:bodyPr wrap="square" lIns="0" rIns="0" tIns="0" bIns="0" anchor="t">
            <a:noAutofit/>
          </a:bodyPr>
          <a:lstStyle/>
          <a:p>
            <a:pPr algn="l">
              <a:lnSpc>
                <a:spcPct val="109000"/>
              </a:lnSpc>
              <a:spcBef>
                <a:spcPts val="0"/>
              </a:spcBef>
              <a:spcAft>
                <a:spcPts val="0"/>
              </a:spcAft>
            </a:pPr>
            <a:r>
              <a:rPr sz="2100" b="1">
                <a:solidFill>
                  <a:srgbClr val="00407A"/>
                </a:solidFill>
                <a:latin typeface="Arial"/>
              </a:rPr>
              <a:t>First request:  [design X = A]  [design Y = B]</a:t>
            </a:r>
          </a:p>
        </p:txBody>
      </p:sp>
      <p:sp>
        <p:nvSpPr>
          <p:cNvPr id="15" name="TextBox 14"/>
          <p:cNvSpPr txBox="1"/>
          <p:nvPr/>
        </p:nvSpPr>
        <p:spPr>
          <a:xfrm>
            <a:off x="1005840" y="5166360"/>
            <a:ext cx="10012680" cy="365760"/>
          </a:xfrm>
          <a:prstGeom prst="rect">
            <a:avLst/>
          </a:prstGeom>
          <a:noFill/>
        </p:spPr>
        <p:txBody>
          <a:bodyPr wrap="square" lIns="0" rIns="0" tIns="0" bIns="0" anchor="t">
            <a:noAutofit/>
          </a:bodyPr>
          <a:lstStyle/>
          <a:p>
            <a:pPr algn="l">
              <a:lnSpc>
                <a:spcPct val="109000"/>
              </a:lnSpc>
              <a:spcBef>
                <a:spcPts val="0"/>
              </a:spcBef>
              <a:spcAft>
                <a:spcPts val="0"/>
              </a:spcAft>
            </a:pPr>
            <a:r>
              <a:rPr sz="2100" b="1">
                <a:solidFill>
                  <a:srgbClr val="00407A"/>
                </a:solidFill>
                <a:latin typeface="Arial"/>
              </a:rPr>
              <a:t>Swap request:  [design Y = A]  [design X = B]</a:t>
            </a:r>
          </a:p>
        </p:txBody>
      </p:sp>
      <p:sp>
        <p:nvSpPr>
          <p:cNvPr id="16" name="Rounded Rectangle 15"/>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A model tracking the better design should switch letters when the design order is swapped.</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265176"/>
            <a:ext cx="10561320" cy="237744"/>
          </a:xfrm>
          <a:prstGeom prst="rect">
            <a:avLst/>
          </a:prstGeom>
          <a:noFill/>
        </p:spPr>
        <p:txBody>
          <a:bodyPr wrap="square" lIns="0" rIns="0" tIns="0" bIns="0" anchor="t">
            <a:noAutofit/>
          </a:bodyPr>
          <a:lstStyle/>
          <a:p>
            <a:pPr algn="l">
              <a:lnSpc>
                <a:spcPct val="109000"/>
              </a:lnSpc>
              <a:spcBef>
                <a:spcPts val="0"/>
              </a:spcBef>
              <a:spcAft>
                <a:spcPts val="0"/>
              </a:spcAft>
            </a:pPr>
            <a:r>
              <a:rPr sz="1250" b="1">
                <a:solidFill>
                  <a:srgbClr val="4A5A66"/>
                </a:solidFill>
                <a:latin typeface="Arial"/>
              </a:rPr>
              <a:t>EXPERIMENT 1  •  NO EXAMPLES</a:t>
            </a:r>
          </a:p>
        </p:txBody>
      </p:sp>
      <p:sp>
        <p:nvSpPr>
          <p:cNvPr id="3" name="TextBox 2"/>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Pair rankings improve, but the strongest model varies</a:t>
            </a:r>
          </a:p>
        </p:txBody>
      </p:sp>
      <p:sp>
        <p:nvSpPr>
          <p:cNvPr id="4" name="TextBox 3"/>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Per-view accuracy: each distinct pair contributes its two presentation orders.</a:t>
            </a:r>
          </a:p>
        </p:txBody>
      </p:sp>
      <p:sp>
        <p:nvSpPr>
          <p:cNvPr id="5" name="TextBox 4"/>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RESULTS</a:t>
            </a:r>
          </a:p>
        </p:txBody>
      </p:sp>
      <p:sp>
        <p:nvSpPr>
          <p:cNvPr id="6" name="TextBox 5"/>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31</a:t>
            </a:r>
          </a:p>
        </p:txBody>
      </p:sp>
      <p:sp>
        <p:nvSpPr>
          <p:cNvPr id="7" name="Rounded Rectangle 6"/>
          <p:cNvSpPr/>
          <p:nvPr/>
        </p:nvSpPr>
        <p:spPr>
          <a:xfrm>
            <a:off x="813816" y="1828800"/>
            <a:ext cx="3383280" cy="3730752"/>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14984" y="1993392"/>
            <a:ext cx="2980944" cy="502920"/>
          </a:xfrm>
          <a:prstGeom prst="rect">
            <a:avLst/>
          </a:prstGeom>
          <a:noFill/>
        </p:spPr>
        <p:txBody>
          <a:bodyPr wrap="square" lIns="0" rIns="0" tIns="0" bIns="0" anchor="t">
            <a:noAutofit/>
          </a:bodyPr>
          <a:lstStyle/>
          <a:p>
            <a:pPr algn="l">
              <a:lnSpc>
                <a:spcPct val="109000"/>
              </a:lnSpc>
              <a:spcBef>
                <a:spcPts val="0"/>
              </a:spcBef>
              <a:spcAft>
                <a:spcPts val="0"/>
              </a:spcAft>
            </a:pPr>
            <a:r>
              <a:rPr sz="1800" b="1">
                <a:solidFill>
                  <a:srgbClr val="00407A"/>
                </a:solidFill>
                <a:latin typeface="Arial"/>
              </a:rPr>
              <a:t>Choose the smaller area</a:t>
            </a:r>
          </a:p>
        </p:txBody>
      </p:sp>
      <p:sp>
        <p:nvSpPr>
          <p:cNvPr id="9" name="TextBox 8"/>
          <p:cNvSpPr txBox="1"/>
          <p:nvPr/>
        </p:nvSpPr>
        <p:spPr>
          <a:xfrm>
            <a:off x="1014984" y="2441448"/>
            <a:ext cx="2980944" cy="347472"/>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4A5A66"/>
                </a:solidFill>
                <a:latin typeface="Arial"/>
              </a:rPr>
              <a:t>23 distinct pairs • 46 views</a:t>
            </a:r>
          </a:p>
        </p:txBody>
      </p:sp>
      <p:cxnSp>
        <p:nvCxnSpPr>
          <p:cNvPr id="10" name="Connector 9"/>
          <p:cNvCxnSpPr/>
          <p:nvPr/>
        </p:nvCxnSpPr>
        <p:spPr>
          <a:xfrm>
            <a:off x="1664208" y="2834639"/>
            <a:ext cx="0" cy="1856233"/>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1463040" y="4773168"/>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a:t>
            </a:r>
          </a:p>
        </p:txBody>
      </p:sp>
      <p:cxnSp>
        <p:nvCxnSpPr>
          <p:cNvPr id="12" name="Connector 11"/>
          <p:cNvCxnSpPr/>
          <p:nvPr/>
        </p:nvCxnSpPr>
        <p:spPr>
          <a:xfrm>
            <a:off x="2281428" y="2834639"/>
            <a:ext cx="0" cy="1856233"/>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2080260" y="4773168"/>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50</a:t>
            </a:r>
          </a:p>
        </p:txBody>
      </p:sp>
      <p:cxnSp>
        <p:nvCxnSpPr>
          <p:cNvPr id="14" name="Connector 13"/>
          <p:cNvCxnSpPr/>
          <p:nvPr/>
        </p:nvCxnSpPr>
        <p:spPr>
          <a:xfrm>
            <a:off x="2898648" y="2834639"/>
            <a:ext cx="0" cy="1856233"/>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2697479" y="4773168"/>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100</a:t>
            </a:r>
          </a:p>
        </p:txBody>
      </p:sp>
      <p:cxnSp>
        <p:nvCxnSpPr>
          <p:cNvPr id="16" name="Connector 15"/>
          <p:cNvCxnSpPr/>
          <p:nvPr/>
        </p:nvCxnSpPr>
        <p:spPr>
          <a:xfrm>
            <a:off x="2281428" y="2834639"/>
            <a:ext cx="0" cy="1856233"/>
          </a:xfrm>
          <a:prstGeom prst="line">
            <a:avLst/>
          </a:prstGeom>
          <a:ln w="15240">
            <a:solidFill>
              <a:srgbClr val="4A5A66"/>
            </a:solidFill>
            <a:prstDash val="dash"/>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996696" y="2930651"/>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0.8B</a:t>
            </a:r>
          </a:p>
        </p:txBody>
      </p:sp>
      <p:sp>
        <p:nvSpPr>
          <p:cNvPr id="18" name="Rectangle 17"/>
          <p:cNvSpPr/>
          <p:nvPr/>
        </p:nvSpPr>
        <p:spPr>
          <a:xfrm>
            <a:off x="1664208" y="2962656"/>
            <a:ext cx="590384" cy="237744"/>
          </a:xfrm>
          <a:prstGeom prst="rect">
            <a:avLst/>
          </a:prstGeom>
          <a:solidFill>
            <a:srgbClr val="4A5A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017520" y="2875787"/>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47.8%</a:t>
            </a:r>
          </a:p>
          <a:p>
            <a:pPr algn="l">
              <a:lnSpc>
                <a:spcPct val="109000"/>
              </a:lnSpc>
              <a:spcBef>
                <a:spcPts val="0"/>
              </a:spcBef>
              <a:spcAft>
                <a:spcPts val="0"/>
              </a:spcAft>
            </a:pPr>
            <a:r>
              <a:rPr sz="1250" b="0">
                <a:solidFill>
                  <a:srgbClr val="00407A"/>
                </a:solidFill>
                <a:latin typeface="Arial"/>
              </a:rPr>
              <a:t>22 of 46</a:t>
            </a:r>
          </a:p>
        </p:txBody>
      </p:sp>
      <p:sp>
        <p:nvSpPr>
          <p:cNvPr id="20" name="TextBox 19"/>
          <p:cNvSpPr txBox="1"/>
          <p:nvPr/>
        </p:nvSpPr>
        <p:spPr>
          <a:xfrm>
            <a:off x="996696" y="3433571"/>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4B</a:t>
            </a:r>
          </a:p>
        </p:txBody>
      </p:sp>
      <p:sp>
        <p:nvSpPr>
          <p:cNvPr id="21" name="Rectangle 20"/>
          <p:cNvSpPr/>
          <p:nvPr/>
        </p:nvSpPr>
        <p:spPr>
          <a:xfrm>
            <a:off x="1664208" y="3465575"/>
            <a:ext cx="939247" cy="237744"/>
          </a:xfrm>
          <a:prstGeom prst="rect">
            <a:avLst/>
          </a:prstGeom>
          <a:solidFill>
            <a:srgbClr val="0B5A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017520" y="3378707"/>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76.1%</a:t>
            </a:r>
          </a:p>
          <a:p>
            <a:pPr algn="l">
              <a:lnSpc>
                <a:spcPct val="109000"/>
              </a:lnSpc>
              <a:spcBef>
                <a:spcPts val="0"/>
              </a:spcBef>
              <a:spcAft>
                <a:spcPts val="0"/>
              </a:spcAft>
            </a:pPr>
            <a:r>
              <a:rPr sz="1250" b="0">
                <a:solidFill>
                  <a:srgbClr val="00407A"/>
                </a:solidFill>
                <a:latin typeface="Arial"/>
              </a:rPr>
              <a:t>35 of 46</a:t>
            </a:r>
          </a:p>
        </p:txBody>
      </p:sp>
      <p:sp>
        <p:nvSpPr>
          <p:cNvPr id="23" name="TextBox 22"/>
          <p:cNvSpPr txBox="1"/>
          <p:nvPr/>
        </p:nvSpPr>
        <p:spPr>
          <a:xfrm>
            <a:off x="996696" y="3936491"/>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9B</a:t>
            </a:r>
          </a:p>
        </p:txBody>
      </p:sp>
      <p:sp>
        <p:nvSpPr>
          <p:cNvPr id="24" name="Rectangle 23"/>
          <p:cNvSpPr/>
          <p:nvPr/>
        </p:nvSpPr>
        <p:spPr>
          <a:xfrm>
            <a:off x="1664208" y="3968495"/>
            <a:ext cx="1073426" cy="237744"/>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017520" y="3881627"/>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87.0%</a:t>
            </a:r>
          </a:p>
          <a:p>
            <a:pPr algn="l">
              <a:lnSpc>
                <a:spcPct val="109000"/>
              </a:lnSpc>
              <a:spcBef>
                <a:spcPts val="0"/>
              </a:spcBef>
              <a:spcAft>
                <a:spcPts val="0"/>
              </a:spcAft>
            </a:pPr>
            <a:r>
              <a:rPr sz="1250" b="0">
                <a:solidFill>
                  <a:srgbClr val="00407A"/>
                </a:solidFill>
                <a:latin typeface="Arial"/>
              </a:rPr>
              <a:t>40 of 46</a:t>
            </a:r>
          </a:p>
        </p:txBody>
      </p:sp>
      <p:sp>
        <p:nvSpPr>
          <p:cNvPr id="26" name="TextBox 25"/>
          <p:cNvSpPr txBox="1"/>
          <p:nvPr/>
        </p:nvSpPr>
        <p:spPr>
          <a:xfrm>
            <a:off x="996696" y="4439412"/>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27B</a:t>
            </a:r>
          </a:p>
        </p:txBody>
      </p:sp>
      <p:sp>
        <p:nvSpPr>
          <p:cNvPr id="27" name="Rectangle 26"/>
          <p:cNvSpPr/>
          <p:nvPr/>
        </p:nvSpPr>
        <p:spPr>
          <a:xfrm>
            <a:off x="1664208" y="4471416"/>
            <a:ext cx="966083" cy="237744"/>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017520" y="4384548"/>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78.3%</a:t>
            </a:r>
          </a:p>
          <a:p>
            <a:pPr algn="l">
              <a:lnSpc>
                <a:spcPct val="109000"/>
              </a:lnSpc>
              <a:spcBef>
                <a:spcPts val="0"/>
              </a:spcBef>
              <a:spcAft>
                <a:spcPts val="0"/>
              </a:spcAft>
            </a:pPr>
            <a:r>
              <a:rPr sz="1250" b="0">
                <a:solidFill>
                  <a:srgbClr val="00407A"/>
                </a:solidFill>
                <a:latin typeface="Arial"/>
              </a:rPr>
              <a:t>36 of 46</a:t>
            </a:r>
          </a:p>
        </p:txBody>
      </p:sp>
      <p:sp>
        <p:nvSpPr>
          <p:cNvPr id="29" name="TextBox 28"/>
          <p:cNvSpPr txBox="1"/>
          <p:nvPr/>
        </p:nvSpPr>
        <p:spPr>
          <a:xfrm>
            <a:off x="996696" y="5038344"/>
            <a:ext cx="3017520" cy="219456"/>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4A5A66"/>
                </a:solidFill>
                <a:latin typeface="Arial"/>
              </a:rPr>
              <a:t>Correct answers (%) — higher is better</a:t>
            </a:r>
          </a:p>
        </p:txBody>
      </p:sp>
      <p:sp>
        <p:nvSpPr>
          <p:cNvPr id="30" name="TextBox 29"/>
          <p:cNvSpPr txBox="1"/>
          <p:nvPr/>
        </p:nvSpPr>
        <p:spPr>
          <a:xfrm>
            <a:off x="996696" y="5294376"/>
            <a:ext cx="3017520" cy="210312"/>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Dashed line: always A or B = 50%</a:t>
            </a:r>
          </a:p>
        </p:txBody>
      </p:sp>
      <p:sp>
        <p:nvSpPr>
          <p:cNvPr id="31" name="Rounded Rectangle 30"/>
          <p:cNvSpPr/>
          <p:nvPr/>
        </p:nvSpPr>
        <p:spPr>
          <a:xfrm>
            <a:off x="4398264" y="1828800"/>
            <a:ext cx="3383280" cy="3730752"/>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99431" y="1993392"/>
            <a:ext cx="2980944" cy="502920"/>
          </a:xfrm>
          <a:prstGeom prst="rect">
            <a:avLst/>
          </a:prstGeom>
          <a:noFill/>
        </p:spPr>
        <p:txBody>
          <a:bodyPr wrap="square" lIns="0" rIns="0" tIns="0" bIns="0" anchor="t">
            <a:noAutofit/>
          </a:bodyPr>
          <a:lstStyle/>
          <a:p>
            <a:pPr algn="l">
              <a:lnSpc>
                <a:spcPct val="109000"/>
              </a:lnSpc>
              <a:spcBef>
                <a:spcPts val="0"/>
              </a:spcBef>
              <a:spcAft>
                <a:spcPts val="0"/>
              </a:spcAft>
            </a:pPr>
            <a:r>
              <a:rPr sz="1800" b="1">
                <a:solidFill>
                  <a:srgbClr val="00407A"/>
                </a:solidFill>
                <a:latin typeface="Arial"/>
              </a:rPr>
              <a:t>Choose lower power</a:t>
            </a:r>
          </a:p>
        </p:txBody>
      </p:sp>
      <p:sp>
        <p:nvSpPr>
          <p:cNvPr id="33" name="TextBox 32"/>
          <p:cNvSpPr txBox="1"/>
          <p:nvPr/>
        </p:nvSpPr>
        <p:spPr>
          <a:xfrm>
            <a:off x="4599431" y="2441448"/>
            <a:ext cx="2980944" cy="347472"/>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4A5A66"/>
                </a:solidFill>
                <a:latin typeface="Arial"/>
              </a:rPr>
              <a:t>22 distinct pairs • 44 views</a:t>
            </a:r>
          </a:p>
        </p:txBody>
      </p:sp>
      <p:cxnSp>
        <p:nvCxnSpPr>
          <p:cNvPr id="34" name="Connector 33"/>
          <p:cNvCxnSpPr/>
          <p:nvPr/>
        </p:nvCxnSpPr>
        <p:spPr>
          <a:xfrm>
            <a:off x="5248655" y="2834639"/>
            <a:ext cx="0" cy="1856233"/>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5047488" y="4773168"/>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a:t>
            </a:r>
          </a:p>
        </p:txBody>
      </p:sp>
      <p:cxnSp>
        <p:nvCxnSpPr>
          <p:cNvPr id="36" name="Connector 35"/>
          <p:cNvCxnSpPr/>
          <p:nvPr/>
        </p:nvCxnSpPr>
        <p:spPr>
          <a:xfrm>
            <a:off x="5865875" y="2834639"/>
            <a:ext cx="0" cy="1856233"/>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5664707" y="4773168"/>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50</a:t>
            </a:r>
          </a:p>
        </p:txBody>
      </p:sp>
      <p:cxnSp>
        <p:nvCxnSpPr>
          <p:cNvPr id="38" name="Connector 37"/>
          <p:cNvCxnSpPr/>
          <p:nvPr/>
        </p:nvCxnSpPr>
        <p:spPr>
          <a:xfrm>
            <a:off x="6483096" y="2834639"/>
            <a:ext cx="0" cy="1856233"/>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6281928" y="4773168"/>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100</a:t>
            </a:r>
          </a:p>
        </p:txBody>
      </p:sp>
      <p:cxnSp>
        <p:nvCxnSpPr>
          <p:cNvPr id="40" name="Connector 39"/>
          <p:cNvCxnSpPr/>
          <p:nvPr/>
        </p:nvCxnSpPr>
        <p:spPr>
          <a:xfrm>
            <a:off x="5865875" y="2834639"/>
            <a:ext cx="0" cy="1856233"/>
          </a:xfrm>
          <a:prstGeom prst="line">
            <a:avLst/>
          </a:prstGeom>
          <a:ln w="15240">
            <a:solidFill>
              <a:srgbClr val="4A5A66"/>
            </a:solidFill>
            <a:prstDash val="dash"/>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4581144" y="2930651"/>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0.8B</a:t>
            </a:r>
          </a:p>
        </p:txBody>
      </p:sp>
      <p:sp>
        <p:nvSpPr>
          <p:cNvPr id="42" name="Rectangle 41"/>
          <p:cNvSpPr/>
          <p:nvPr/>
        </p:nvSpPr>
        <p:spPr>
          <a:xfrm>
            <a:off x="5248655" y="2962656"/>
            <a:ext cx="785552" cy="237744"/>
          </a:xfrm>
          <a:prstGeom prst="rect">
            <a:avLst/>
          </a:prstGeom>
          <a:solidFill>
            <a:srgbClr val="4A5A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601968" y="2875787"/>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63.6%</a:t>
            </a:r>
          </a:p>
          <a:p>
            <a:pPr algn="l">
              <a:lnSpc>
                <a:spcPct val="109000"/>
              </a:lnSpc>
              <a:spcBef>
                <a:spcPts val="0"/>
              </a:spcBef>
              <a:spcAft>
                <a:spcPts val="0"/>
              </a:spcAft>
            </a:pPr>
            <a:r>
              <a:rPr sz="1250" b="0">
                <a:solidFill>
                  <a:srgbClr val="00407A"/>
                </a:solidFill>
                <a:latin typeface="Arial"/>
              </a:rPr>
              <a:t>28 of 44</a:t>
            </a:r>
          </a:p>
        </p:txBody>
      </p:sp>
      <p:sp>
        <p:nvSpPr>
          <p:cNvPr id="44" name="TextBox 43"/>
          <p:cNvSpPr txBox="1"/>
          <p:nvPr/>
        </p:nvSpPr>
        <p:spPr>
          <a:xfrm>
            <a:off x="4581144" y="3433571"/>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4B</a:t>
            </a:r>
          </a:p>
        </p:txBody>
      </p:sp>
      <p:sp>
        <p:nvSpPr>
          <p:cNvPr id="45" name="Rectangle 44"/>
          <p:cNvSpPr/>
          <p:nvPr/>
        </p:nvSpPr>
        <p:spPr>
          <a:xfrm>
            <a:off x="5248655" y="3465575"/>
            <a:ext cx="701386" cy="237744"/>
          </a:xfrm>
          <a:prstGeom prst="rect">
            <a:avLst/>
          </a:prstGeom>
          <a:solidFill>
            <a:srgbClr val="0B5A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601968" y="3378707"/>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56.8%</a:t>
            </a:r>
          </a:p>
          <a:p>
            <a:pPr algn="l">
              <a:lnSpc>
                <a:spcPct val="109000"/>
              </a:lnSpc>
              <a:spcBef>
                <a:spcPts val="0"/>
              </a:spcBef>
              <a:spcAft>
                <a:spcPts val="0"/>
              </a:spcAft>
            </a:pPr>
            <a:r>
              <a:rPr sz="1250" b="0">
                <a:solidFill>
                  <a:srgbClr val="00407A"/>
                </a:solidFill>
                <a:latin typeface="Arial"/>
              </a:rPr>
              <a:t>25 of 44</a:t>
            </a:r>
          </a:p>
        </p:txBody>
      </p:sp>
      <p:sp>
        <p:nvSpPr>
          <p:cNvPr id="47" name="TextBox 46"/>
          <p:cNvSpPr txBox="1"/>
          <p:nvPr/>
        </p:nvSpPr>
        <p:spPr>
          <a:xfrm>
            <a:off x="4581144" y="3936491"/>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9B</a:t>
            </a:r>
          </a:p>
        </p:txBody>
      </p:sp>
      <p:sp>
        <p:nvSpPr>
          <p:cNvPr id="48" name="Rectangle 47"/>
          <p:cNvSpPr/>
          <p:nvPr/>
        </p:nvSpPr>
        <p:spPr>
          <a:xfrm>
            <a:off x="5248655" y="3968495"/>
            <a:ext cx="813608" cy="237744"/>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601968" y="3881627"/>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65.9%</a:t>
            </a:r>
          </a:p>
          <a:p>
            <a:pPr algn="l">
              <a:lnSpc>
                <a:spcPct val="109000"/>
              </a:lnSpc>
              <a:spcBef>
                <a:spcPts val="0"/>
              </a:spcBef>
              <a:spcAft>
                <a:spcPts val="0"/>
              </a:spcAft>
            </a:pPr>
            <a:r>
              <a:rPr sz="1250" b="0">
                <a:solidFill>
                  <a:srgbClr val="00407A"/>
                </a:solidFill>
                <a:latin typeface="Arial"/>
              </a:rPr>
              <a:t>29 of 44</a:t>
            </a:r>
          </a:p>
        </p:txBody>
      </p:sp>
      <p:sp>
        <p:nvSpPr>
          <p:cNvPr id="50" name="TextBox 49"/>
          <p:cNvSpPr txBox="1"/>
          <p:nvPr/>
        </p:nvSpPr>
        <p:spPr>
          <a:xfrm>
            <a:off x="4581144" y="4439412"/>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27B</a:t>
            </a:r>
          </a:p>
        </p:txBody>
      </p:sp>
      <p:sp>
        <p:nvSpPr>
          <p:cNvPr id="51" name="Rectangle 50"/>
          <p:cNvSpPr/>
          <p:nvPr/>
        </p:nvSpPr>
        <p:spPr>
          <a:xfrm>
            <a:off x="5248655" y="4471416"/>
            <a:ext cx="869719" cy="237744"/>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601968" y="4384548"/>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70.5%</a:t>
            </a:r>
          </a:p>
          <a:p>
            <a:pPr algn="l">
              <a:lnSpc>
                <a:spcPct val="109000"/>
              </a:lnSpc>
              <a:spcBef>
                <a:spcPts val="0"/>
              </a:spcBef>
              <a:spcAft>
                <a:spcPts val="0"/>
              </a:spcAft>
            </a:pPr>
            <a:r>
              <a:rPr sz="1250" b="0">
                <a:solidFill>
                  <a:srgbClr val="00407A"/>
                </a:solidFill>
                <a:latin typeface="Arial"/>
              </a:rPr>
              <a:t>31 of 44</a:t>
            </a:r>
          </a:p>
        </p:txBody>
      </p:sp>
      <p:sp>
        <p:nvSpPr>
          <p:cNvPr id="53" name="TextBox 52"/>
          <p:cNvSpPr txBox="1"/>
          <p:nvPr/>
        </p:nvSpPr>
        <p:spPr>
          <a:xfrm>
            <a:off x="4581144" y="5038344"/>
            <a:ext cx="3017520" cy="219456"/>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4A5A66"/>
                </a:solidFill>
                <a:latin typeface="Arial"/>
              </a:rPr>
              <a:t>Correct answers (%) — higher is better</a:t>
            </a:r>
          </a:p>
        </p:txBody>
      </p:sp>
      <p:sp>
        <p:nvSpPr>
          <p:cNvPr id="54" name="TextBox 53"/>
          <p:cNvSpPr txBox="1"/>
          <p:nvPr/>
        </p:nvSpPr>
        <p:spPr>
          <a:xfrm>
            <a:off x="4581144" y="5294376"/>
            <a:ext cx="3017520" cy="210312"/>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Dashed line: always A or B = 50%</a:t>
            </a:r>
          </a:p>
        </p:txBody>
      </p:sp>
      <p:sp>
        <p:nvSpPr>
          <p:cNvPr id="55" name="Rounded Rectangle 54"/>
          <p:cNvSpPr/>
          <p:nvPr/>
        </p:nvSpPr>
        <p:spPr>
          <a:xfrm>
            <a:off x="7991856" y="1828800"/>
            <a:ext cx="3383280" cy="3730752"/>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193024" y="1993392"/>
            <a:ext cx="2980944" cy="502920"/>
          </a:xfrm>
          <a:prstGeom prst="rect">
            <a:avLst/>
          </a:prstGeom>
          <a:noFill/>
        </p:spPr>
        <p:txBody>
          <a:bodyPr wrap="square" lIns="0" rIns="0" tIns="0" bIns="0" anchor="t">
            <a:noAutofit/>
          </a:bodyPr>
          <a:lstStyle/>
          <a:p>
            <a:pPr algn="l">
              <a:lnSpc>
                <a:spcPct val="109000"/>
              </a:lnSpc>
              <a:spcBef>
                <a:spcPts val="0"/>
              </a:spcBef>
              <a:spcAft>
                <a:spcPts val="0"/>
              </a:spcAft>
            </a:pPr>
            <a:r>
              <a:rPr sz="1800" b="1">
                <a:solidFill>
                  <a:srgbClr val="00407A"/>
                </a:solidFill>
                <a:latin typeface="Arial"/>
              </a:rPr>
              <a:t>Choose higher frequency</a:t>
            </a:r>
          </a:p>
        </p:txBody>
      </p:sp>
      <p:sp>
        <p:nvSpPr>
          <p:cNvPr id="57" name="TextBox 56"/>
          <p:cNvSpPr txBox="1"/>
          <p:nvPr/>
        </p:nvSpPr>
        <p:spPr>
          <a:xfrm>
            <a:off x="8193024" y="2441448"/>
            <a:ext cx="2980944" cy="347472"/>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4A5A66"/>
                </a:solidFill>
                <a:latin typeface="Arial"/>
              </a:rPr>
              <a:t>6 distinct pairs • 12 views</a:t>
            </a:r>
          </a:p>
        </p:txBody>
      </p:sp>
      <p:cxnSp>
        <p:nvCxnSpPr>
          <p:cNvPr id="58" name="Connector 57"/>
          <p:cNvCxnSpPr/>
          <p:nvPr/>
        </p:nvCxnSpPr>
        <p:spPr>
          <a:xfrm>
            <a:off x="8842248" y="2834639"/>
            <a:ext cx="0" cy="1856233"/>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59" name="TextBox 58"/>
          <p:cNvSpPr txBox="1"/>
          <p:nvPr/>
        </p:nvSpPr>
        <p:spPr>
          <a:xfrm>
            <a:off x="8641080" y="4773168"/>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a:t>
            </a:r>
          </a:p>
        </p:txBody>
      </p:sp>
      <p:cxnSp>
        <p:nvCxnSpPr>
          <p:cNvPr id="60" name="Connector 59"/>
          <p:cNvCxnSpPr/>
          <p:nvPr/>
        </p:nvCxnSpPr>
        <p:spPr>
          <a:xfrm>
            <a:off x="9459468" y="2834639"/>
            <a:ext cx="0" cy="1856233"/>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9258300" y="4773168"/>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50</a:t>
            </a:r>
          </a:p>
        </p:txBody>
      </p:sp>
      <p:cxnSp>
        <p:nvCxnSpPr>
          <p:cNvPr id="62" name="Connector 61"/>
          <p:cNvCxnSpPr/>
          <p:nvPr/>
        </p:nvCxnSpPr>
        <p:spPr>
          <a:xfrm>
            <a:off x="10076688" y="2834639"/>
            <a:ext cx="0" cy="1856233"/>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63" name="TextBox 62"/>
          <p:cNvSpPr txBox="1"/>
          <p:nvPr/>
        </p:nvSpPr>
        <p:spPr>
          <a:xfrm>
            <a:off x="9875519" y="4773168"/>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100</a:t>
            </a:r>
          </a:p>
        </p:txBody>
      </p:sp>
      <p:cxnSp>
        <p:nvCxnSpPr>
          <p:cNvPr id="64" name="Connector 63"/>
          <p:cNvCxnSpPr/>
          <p:nvPr/>
        </p:nvCxnSpPr>
        <p:spPr>
          <a:xfrm>
            <a:off x="9459468" y="2834639"/>
            <a:ext cx="0" cy="1856233"/>
          </a:xfrm>
          <a:prstGeom prst="line">
            <a:avLst/>
          </a:prstGeom>
          <a:ln w="15240">
            <a:solidFill>
              <a:srgbClr val="4A5A66"/>
            </a:solidFill>
            <a:prstDash val="dash"/>
          </a:ln>
        </p:spPr>
        <p:style>
          <a:lnRef idx="2">
            <a:schemeClr val="accent1"/>
          </a:lnRef>
          <a:fillRef idx="0">
            <a:schemeClr val="accent1"/>
          </a:fillRef>
          <a:effectRef idx="1">
            <a:schemeClr val="accent1"/>
          </a:effectRef>
          <a:fontRef idx="minor">
            <a:schemeClr val="tx1"/>
          </a:fontRef>
        </p:style>
      </p:cxnSp>
      <p:sp>
        <p:nvSpPr>
          <p:cNvPr id="65" name="TextBox 64"/>
          <p:cNvSpPr txBox="1"/>
          <p:nvPr/>
        </p:nvSpPr>
        <p:spPr>
          <a:xfrm>
            <a:off x="8174736" y="2930651"/>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0.8B</a:t>
            </a:r>
          </a:p>
        </p:txBody>
      </p:sp>
      <p:sp>
        <p:nvSpPr>
          <p:cNvPr id="66" name="Rectangle 65"/>
          <p:cNvSpPr/>
          <p:nvPr/>
        </p:nvSpPr>
        <p:spPr>
          <a:xfrm>
            <a:off x="8842248" y="2962656"/>
            <a:ext cx="822960" cy="237744"/>
          </a:xfrm>
          <a:prstGeom prst="rect">
            <a:avLst/>
          </a:prstGeom>
          <a:solidFill>
            <a:srgbClr val="4A5A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10195560" y="2875787"/>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66.7%</a:t>
            </a:r>
          </a:p>
          <a:p>
            <a:pPr algn="l">
              <a:lnSpc>
                <a:spcPct val="109000"/>
              </a:lnSpc>
              <a:spcBef>
                <a:spcPts val="0"/>
              </a:spcBef>
              <a:spcAft>
                <a:spcPts val="0"/>
              </a:spcAft>
            </a:pPr>
            <a:r>
              <a:rPr sz="1250" b="0">
                <a:solidFill>
                  <a:srgbClr val="00407A"/>
                </a:solidFill>
                <a:latin typeface="Arial"/>
              </a:rPr>
              <a:t>8 of 12</a:t>
            </a:r>
          </a:p>
        </p:txBody>
      </p:sp>
      <p:sp>
        <p:nvSpPr>
          <p:cNvPr id="68" name="TextBox 67"/>
          <p:cNvSpPr txBox="1"/>
          <p:nvPr/>
        </p:nvSpPr>
        <p:spPr>
          <a:xfrm>
            <a:off x="8174736" y="3433571"/>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4B</a:t>
            </a:r>
          </a:p>
        </p:txBody>
      </p:sp>
      <p:sp>
        <p:nvSpPr>
          <p:cNvPr id="69" name="Rectangle 68"/>
          <p:cNvSpPr/>
          <p:nvPr/>
        </p:nvSpPr>
        <p:spPr>
          <a:xfrm>
            <a:off x="8842248" y="3465575"/>
            <a:ext cx="1028700" cy="237744"/>
          </a:xfrm>
          <a:prstGeom prst="rect">
            <a:avLst/>
          </a:prstGeom>
          <a:solidFill>
            <a:srgbClr val="0B5A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10195560" y="3378707"/>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83.3%</a:t>
            </a:r>
          </a:p>
          <a:p>
            <a:pPr algn="l">
              <a:lnSpc>
                <a:spcPct val="109000"/>
              </a:lnSpc>
              <a:spcBef>
                <a:spcPts val="0"/>
              </a:spcBef>
              <a:spcAft>
                <a:spcPts val="0"/>
              </a:spcAft>
            </a:pPr>
            <a:r>
              <a:rPr sz="1250" b="0">
                <a:solidFill>
                  <a:srgbClr val="00407A"/>
                </a:solidFill>
                <a:latin typeface="Arial"/>
              </a:rPr>
              <a:t>10 of 12</a:t>
            </a:r>
          </a:p>
        </p:txBody>
      </p:sp>
      <p:sp>
        <p:nvSpPr>
          <p:cNvPr id="71" name="TextBox 70"/>
          <p:cNvSpPr txBox="1"/>
          <p:nvPr/>
        </p:nvSpPr>
        <p:spPr>
          <a:xfrm>
            <a:off x="8174736" y="3936491"/>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9B</a:t>
            </a:r>
          </a:p>
        </p:txBody>
      </p:sp>
      <p:sp>
        <p:nvSpPr>
          <p:cNvPr id="72" name="Rectangle 71"/>
          <p:cNvSpPr/>
          <p:nvPr/>
        </p:nvSpPr>
        <p:spPr>
          <a:xfrm>
            <a:off x="8842248" y="3968495"/>
            <a:ext cx="925830" cy="237744"/>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10195560" y="3881627"/>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75.0%</a:t>
            </a:r>
          </a:p>
          <a:p>
            <a:pPr algn="l">
              <a:lnSpc>
                <a:spcPct val="109000"/>
              </a:lnSpc>
              <a:spcBef>
                <a:spcPts val="0"/>
              </a:spcBef>
              <a:spcAft>
                <a:spcPts val="0"/>
              </a:spcAft>
            </a:pPr>
            <a:r>
              <a:rPr sz="1250" b="0">
                <a:solidFill>
                  <a:srgbClr val="00407A"/>
                </a:solidFill>
                <a:latin typeface="Arial"/>
              </a:rPr>
              <a:t>9 of 12</a:t>
            </a:r>
          </a:p>
        </p:txBody>
      </p:sp>
      <p:sp>
        <p:nvSpPr>
          <p:cNvPr id="74" name="TextBox 73"/>
          <p:cNvSpPr txBox="1"/>
          <p:nvPr/>
        </p:nvSpPr>
        <p:spPr>
          <a:xfrm>
            <a:off x="8174736" y="4439412"/>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27B</a:t>
            </a:r>
          </a:p>
        </p:txBody>
      </p:sp>
      <p:sp>
        <p:nvSpPr>
          <p:cNvPr id="75" name="Rectangle 74"/>
          <p:cNvSpPr/>
          <p:nvPr/>
        </p:nvSpPr>
        <p:spPr>
          <a:xfrm>
            <a:off x="8842248" y="4471416"/>
            <a:ext cx="1028700" cy="237744"/>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10195560" y="4384548"/>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83.3%</a:t>
            </a:r>
          </a:p>
          <a:p>
            <a:pPr algn="l">
              <a:lnSpc>
                <a:spcPct val="109000"/>
              </a:lnSpc>
              <a:spcBef>
                <a:spcPts val="0"/>
              </a:spcBef>
              <a:spcAft>
                <a:spcPts val="0"/>
              </a:spcAft>
            </a:pPr>
            <a:r>
              <a:rPr sz="1250" b="0">
                <a:solidFill>
                  <a:srgbClr val="00407A"/>
                </a:solidFill>
                <a:latin typeface="Arial"/>
              </a:rPr>
              <a:t>10 of 12</a:t>
            </a:r>
          </a:p>
        </p:txBody>
      </p:sp>
      <p:sp>
        <p:nvSpPr>
          <p:cNvPr id="77" name="TextBox 76"/>
          <p:cNvSpPr txBox="1"/>
          <p:nvPr/>
        </p:nvSpPr>
        <p:spPr>
          <a:xfrm>
            <a:off x="8174736" y="5038344"/>
            <a:ext cx="3017520" cy="219456"/>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4A5A66"/>
                </a:solidFill>
                <a:latin typeface="Arial"/>
              </a:rPr>
              <a:t>Correct answers (%) — higher is better</a:t>
            </a:r>
          </a:p>
        </p:txBody>
      </p:sp>
      <p:sp>
        <p:nvSpPr>
          <p:cNvPr id="78" name="TextBox 77"/>
          <p:cNvSpPr txBox="1"/>
          <p:nvPr/>
        </p:nvSpPr>
        <p:spPr>
          <a:xfrm>
            <a:off x="8174736" y="5294376"/>
            <a:ext cx="3017520" cy="210312"/>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Dashed line: always A or B = 50%</a:t>
            </a:r>
          </a:p>
        </p:txBody>
      </p:sp>
      <p:sp>
        <p:nvSpPr>
          <p:cNvPr id="79" name="Rounded Rectangle 78"/>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9B leads area ranking (40 of 46 views); 27B leads power ranking (31 of 44). Frequency has only six pairs.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265176"/>
            <a:ext cx="10561320" cy="237744"/>
          </a:xfrm>
          <a:prstGeom prst="rect">
            <a:avLst/>
          </a:prstGeom>
          <a:noFill/>
        </p:spPr>
        <p:txBody>
          <a:bodyPr wrap="square" lIns="0" rIns="0" tIns="0" bIns="0" anchor="t">
            <a:noAutofit/>
          </a:bodyPr>
          <a:lstStyle/>
          <a:p>
            <a:pPr algn="l">
              <a:lnSpc>
                <a:spcPct val="109000"/>
              </a:lnSpc>
              <a:spcBef>
                <a:spcPts val="0"/>
              </a:spcBef>
              <a:spcAft>
                <a:spcPts val="0"/>
              </a:spcAft>
            </a:pPr>
            <a:r>
              <a:rPr sz="1250" b="1">
                <a:solidFill>
                  <a:srgbClr val="4A5A66"/>
                </a:solidFill>
                <a:latin typeface="Arial"/>
              </a:rPr>
              <a:t>EXPERIMENT 1  •  NO EXAMPLES</a:t>
            </a:r>
          </a:p>
        </p:txBody>
      </p:sp>
      <p:sp>
        <p:nvSpPr>
          <p:cNvPr id="3" name="TextBox 2"/>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Check the design ranking in both orders</a:t>
            </a:r>
          </a:p>
        </p:txBody>
      </p:sp>
      <p:sp>
        <p:nvSpPr>
          <p:cNvPr id="4" name="TextBox 3"/>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A stronger test counts a pair correct only when both presentation orders are correct.</a:t>
            </a:r>
          </a:p>
        </p:txBody>
      </p:sp>
      <p:sp>
        <p:nvSpPr>
          <p:cNvPr id="5" name="TextBox 4"/>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RESULTS</a:t>
            </a:r>
          </a:p>
        </p:txBody>
      </p:sp>
      <p:sp>
        <p:nvSpPr>
          <p:cNvPr id="6" name="TextBox 5"/>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32</a:t>
            </a:r>
          </a:p>
        </p:txBody>
      </p:sp>
      <p:graphicFrame>
        <p:nvGraphicFramePr>
          <p:cNvPr id="7" name="Table 6"/>
          <p:cNvGraphicFramePr>
            <a:graphicFrameLocks noGrp="1"/>
          </p:cNvGraphicFramePr>
          <p:nvPr/>
        </p:nvGraphicFramePr>
        <p:xfrm>
          <a:off x="813816" y="1874519"/>
          <a:ext cx="10561320" cy="2240280"/>
        </p:xfrm>
        <a:graphic>
          <a:graphicData uri="http://schemas.openxmlformats.org/drawingml/2006/table">
            <a:tbl>
              <a:tblPr firstRow="1" bandRow="1">
                <a:tableStyleId>{5C22544A-7EE6-4342-B048-85BDC9FD1C3A}</a:tableStyleId>
              </a:tblPr>
              <a:tblGrid>
                <a:gridCol w="1371600"/>
                <a:gridCol w="3063240"/>
                <a:gridCol w="3063240"/>
                <a:gridCol w="3063240"/>
              </a:tblGrid>
              <a:tr h="566928">
                <a:tc>
                  <a:txBody>
                    <a:bodyPr/>
                    <a:lstStyle/>
                    <a:p>
                      <a:pPr algn="l">
                        <a:lnSpc>
                          <a:spcPct val="103000"/>
                        </a:lnSpc>
                        <a:spcBef>
                          <a:spcPts val="0"/>
                        </a:spcBef>
                        <a:spcAft>
                          <a:spcPts val="0"/>
                        </a:spcAft>
                      </a:pPr>
                      <a:r>
                        <a:rPr sz="1600" b="1">
                          <a:solidFill>
                            <a:srgbClr val="FFFFFF"/>
                          </a:solidFill>
                          <a:latin typeface="Arial"/>
                        </a:rPr>
                        <a:t>Model</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Area: both correct</a:t>
                      </a:r>
                    </a:p>
                    <a:p>
                      <a:pPr algn="ctr">
                        <a:lnSpc>
                          <a:spcPct val="103000"/>
                        </a:lnSpc>
                        <a:spcBef>
                          <a:spcPts val="0"/>
                        </a:spcBef>
                        <a:spcAft>
                          <a:spcPts val="0"/>
                        </a:spcAft>
                      </a:pPr>
                      <a:r>
                        <a:rPr sz="1600" b="1">
                          <a:solidFill>
                            <a:srgbClr val="FFFFFF"/>
                          </a:solidFill>
                          <a:latin typeface="Arial"/>
                        </a:rPr>
                        <a:t>23 pairs</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Power: both correct</a:t>
                      </a:r>
                    </a:p>
                    <a:p>
                      <a:pPr algn="ctr">
                        <a:lnSpc>
                          <a:spcPct val="103000"/>
                        </a:lnSpc>
                        <a:spcBef>
                          <a:spcPts val="0"/>
                        </a:spcBef>
                        <a:spcAft>
                          <a:spcPts val="0"/>
                        </a:spcAft>
                      </a:pPr>
                      <a:r>
                        <a:rPr sz="1600" b="1">
                          <a:solidFill>
                            <a:srgbClr val="FFFFFF"/>
                          </a:solidFill>
                          <a:latin typeface="Arial"/>
                        </a:rPr>
                        <a:t>22 pairs</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Frequency: both correct</a:t>
                      </a:r>
                    </a:p>
                    <a:p>
                      <a:pPr algn="ctr">
                        <a:lnSpc>
                          <a:spcPct val="103000"/>
                        </a:lnSpc>
                        <a:spcBef>
                          <a:spcPts val="0"/>
                        </a:spcBef>
                        <a:spcAft>
                          <a:spcPts val="0"/>
                        </a:spcAft>
                      </a:pPr>
                      <a:r>
                        <a:rPr sz="1600" b="1">
                          <a:solidFill>
                            <a:srgbClr val="FFFFFF"/>
                          </a:solidFill>
                          <a:latin typeface="Arial"/>
                        </a:rPr>
                        <a:t>6 pairs</a:t>
                      </a:r>
                    </a:p>
                  </a:txBody>
                  <a:tcPr marL="109728" marR="91440" marT="54864" marB="36576" anchor="ctr">
                    <a:solidFill>
                      <a:srgbClr val="00407A"/>
                    </a:solidFill>
                    <a:lnL>
                      <a:noFill/>
                    </a:lnL>
                    <a:lnR>
                      <a:noFill/>
                    </a:lnR>
                    <a:lnT>
                      <a:noFill/>
                    </a:lnT>
                    <a:lnB>
                      <a:noFill/>
                    </a:lnB>
                  </a:tcPr>
                </a:tc>
              </a:tr>
              <a:tr h="418338">
                <a:tc>
                  <a:txBody>
                    <a:bodyPr/>
                    <a:lstStyle/>
                    <a:p>
                      <a:pPr algn="l">
                        <a:lnSpc>
                          <a:spcPct val="103000"/>
                        </a:lnSpc>
                        <a:spcBef>
                          <a:spcPts val="0"/>
                        </a:spcBef>
                        <a:spcAft>
                          <a:spcPts val="0"/>
                        </a:spcAft>
                      </a:pPr>
                      <a:r>
                        <a:rPr sz="2100" b="0">
                          <a:solidFill>
                            <a:srgbClr val="00407A"/>
                          </a:solidFill>
                          <a:latin typeface="Arial"/>
                        </a:rPr>
                        <a:t>KEV-0.8B</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5 of 23</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6 of 22</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3 of 6</a:t>
                      </a:r>
                    </a:p>
                  </a:txBody>
                  <a:tcPr marL="109728" marR="91440" marT="54864" marB="36576" anchor="ctr">
                    <a:solidFill>
                      <a:srgbClr val="E3EFF5"/>
                    </a:solidFill>
                    <a:lnL>
                      <a:noFill/>
                    </a:lnL>
                    <a:lnR>
                      <a:noFill/>
                    </a:lnR>
                    <a:lnT>
                      <a:noFill/>
                    </a:lnT>
                    <a:lnB>
                      <a:noFill/>
                    </a:lnB>
                  </a:tcPr>
                </a:tc>
              </a:tr>
              <a:tr h="418338">
                <a:tc>
                  <a:txBody>
                    <a:bodyPr/>
                    <a:lstStyle/>
                    <a:p>
                      <a:pPr algn="l">
                        <a:lnSpc>
                          <a:spcPct val="103000"/>
                        </a:lnSpc>
                        <a:spcBef>
                          <a:spcPts val="0"/>
                        </a:spcBef>
                        <a:spcAft>
                          <a:spcPts val="0"/>
                        </a:spcAft>
                      </a:pPr>
                      <a:r>
                        <a:rPr sz="2100" b="0">
                          <a:solidFill>
                            <a:srgbClr val="00407A"/>
                          </a:solidFill>
                          <a:latin typeface="Arial"/>
                        </a:rPr>
                        <a:t>KEV-4B</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13 of 23</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3 of 22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4 of 6</a:t>
                      </a:r>
                    </a:p>
                  </a:txBody>
                  <a:tcPr marL="109728" marR="91440" marT="54864" marB="36576" anchor="ctr">
                    <a:solidFill>
                      <a:srgbClr val="FFFFFF"/>
                    </a:solidFill>
                    <a:lnL>
                      <a:noFill/>
                    </a:lnL>
                    <a:lnR>
                      <a:noFill/>
                    </a:lnR>
                    <a:lnT>
                      <a:noFill/>
                    </a:lnT>
                    <a:lnB>
                      <a:noFill/>
                    </a:lnB>
                  </a:tcPr>
                </a:tc>
              </a:tr>
              <a:tr h="418338">
                <a:tc>
                  <a:txBody>
                    <a:bodyPr/>
                    <a:lstStyle/>
                    <a:p>
                      <a:pPr algn="l">
                        <a:lnSpc>
                          <a:spcPct val="103000"/>
                        </a:lnSpc>
                        <a:spcBef>
                          <a:spcPts val="0"/>
                        </a:spcBef>
                        <a:spcAft>
                          <a:spcPts val="0"/>
                        </a:spcAft>
                      </a:pPr>
                      <a:r>
                        <a:rPr sz="2100" b="0">
                          <a:solidFill>
                            <a:srgbClr val="00407A"/>
                          </a:solidFill>
                          <a:latin typeface="Arial"/>
                        </a:rPr>
                        <a:t>KEV-9B</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19 of 23</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9 of 22</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4 of 6</a:t>
                      </a:r>
                    </a:p>
                  </a:txBody>
                  <a:tcPr marL="109728" marR="91440" marT="54864" marB="36576" anchor="ctr">
                    <a:solidFill>
                      <a:srgbClr val="E3EFF5"/>
                    </a:solidFill>
                    <a:lnL>
                      <a:noFill/>
                    </a:lnL>
                    <a:lnR>
                      <a:noFill/>
                    </a:lnR>
                    <a:lnT>
                      <a:noFill/>
                    </a:lnT>
                    <a:lnB>
                      <a:noFill/>
                    </a:lnB>
                  </a:tcPr>
                </a:tc>
              </a:tr>
              <a:tr h="418338">
                <a:tc>
                  <a:txBody>
                    <a:bodyPr/>
                    <a:lstStyle/>
                    <a:p>
                      <a:pPr algn="l">
                        <a:lnSpc>
                          <a:spcPct val="103000"/>
                        </a:lnSpc>
                        <a:spcBef>
                          <a:spcPts val="0"/>
                        </a:spcBef>
                        <a:spcAft>
                          <a:spcPts val="0"/>
                        </a:spcAft>
                      </a:pPr>
                      <a:r>
                        <a:rPr sz="2100" b="0">
                          <a:solidFill>
                            <a:srgbClr val="00407A"/>
                          </a:solidFill>
                          <a:latin typeface="Arial"/>
                        </a:rPr>
                        <a:t>KEV-27B</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17 of 23</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14 of 22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5 of 6</a:t>
                      </a:r>
                    </a:p>
                  </a:txBody>
                  <a:tcPr marL="109728" marR="91440" marT="54864" marB="36576" anchor="ctr">
                    <a:solidFill>
                      <a:srgbClr val="FFFFFF"/>
                    </a:solidFill>
                    <a:lnL>
                      <a:noFill/>
                    </a:lnL>
                    <a:lnR>
                      <a:noFill/>
                    </a:lnR>
                    <a:lnT>
                      <a:noFill/>
                    </a:lnT>
                    <a:lnB>
                      <a:noFill/>
                    </a:lnB>
                  </a:tcPr>
                </a:tc>
              </a:tr>
            </a:tbl>
          </a:graphicData>
        </a:graphic>
      </p:graphicFrame>
      <p:sp>
        <p:nvSpPr>
          <p:cNvPr id="8" name="TextBox 7"/>
          <p:cNvSpPr txBox="1"/>
          <p:nvPr/>
        </p:nvSpPr>
        <p:spPr>
          <a:xfrm>
            <a:off x="987552" y="4462272"/>
            <a:ext cx="10149840" cy="384048"/>
          </a:xfrm>
          <a:prstGeom prst="rect">
            <a:avLst/>
          </a:prstGeom>
          <a:noFill/>
        </p:spPr>
        <p:txBody>
          <a:bodyPr wrap="square" lIns="0" rIns="0" tIns="0" bIns="0" anchor="t">
            <a:noAutofit/>
          </a:bodyPr>
          <a:lstStyle/>
          <a:p>
            <a:pPr algn="l">
              <a:lnSpc>
                <a:spcPct val="109000"/>
              </a:lnSpc>
              <a:spcBef>
                <a:spcPts val="0"/>
              </a:spcBef>
              <a:spcAft>
                <a:spcPts val="0"/>
              </a:spcAft>
            </a:pPr>
            <a:r>
              <a:rPr sz="2200" b="1">
                <a:solidFill>
                  <a:srgbClr val="00407A"/>
                </a:solidFill>
                <a:latin typeface="Arial"/>
              </a:rPr>
              <a:t>Same letter after swapping the power pair:</a:t>
            </a:r>
          </a:p>
        </p:txBody>
      </p:sp>
      <p:sp>
        <p:nvSpPr>
          <p:cNvPr id="9" name="TextBox 8"/>
          <p:cNvSpPr txBox="1"/>
          <p:nvPr/>
        </p:nvSpPr>
        <p:spPr>
          <a:xfrm>
            <a:off x="987552" y="5010912"/>
            <a:ext cx="10149840" cy="365760"/>
          </a:xfrm>
          <a:prstGeom prst="rect">
            <a:avLst/>
          </a:prstGeom>
          <a:noFill/>
        </p:spPr>
        <p:txBody>
          <a:bodyPr wrap="square" lIns="0" rIns="0" tIns="0" bIns="0" anchor="t">
            <a:noAutofit/>
          </a:bodyPr>
          <a:lstStyle/>
          <a:p>
            <a:pPr algn="l">
              <a:lnSpc>
                <a:spcPct val="109000"/>
              </a:lnSpc>
              <a:spcBef>
                <a:spcPts val="0"/>
              </a:spcBef>
              <a:spcAft>
                <a:spcPts val="0"/>
              </a:spcAft>
            </a:pPr>
            <a:r>
              <a:rPr sz="1900" b="0">
                <a:solidFill>
                  <a:srgbClr val="00407A"/>
                </a:solidFill>
                <a:latin typeface="Arial"/>
              </a:rPr>
              <a:t>0.8B: 16 of 22 pairs   •   4B: 19 of 22   •   9B: 11 of 22   •   27B: 3 of 22</a:t>
            </a:r>
          </a:p>
        </p:txBody>
      </p:sp>
      <p:sp>
        <p:nvSpPr>
          <p:cNvPr id="10" name="Rounded Rectangle 9"/>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Keeping the same letter after a swap guarantees at least one wrong view. Lower is better for that error count.</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265176"/>
            <a:ext cx="10561320" cy="237744"/>
          </a:xfrm>
          <a:prstGeom prst="rect">
            <a:avLst/>
          </a:prstGeom>
          <a:noFill/>
        </p:spPr>
        <p:txBody>
          <a:bodyPr wrap="square" lIns="0" rIns="0" tIns="0" bIns="0" anchor="t">
            <a:noAutofit/>
          </a:bodyPr>
          <a:lstStyle/>
          <a:p>
            <a:pPr algn="l">
              <a:lnSpc>
                <a:spcPct val="109000"/>
              </a:lnSpc>
              <a:spcBef>
                <a:spcPts val="0"/>
              </a:spcBef>
              <a:spcAft>
                <a:spcPts val="0"/>
              </a:spcAft>
            </a:pPr>
            <a:r>
              <a:rPr sz="1250" b="1">
                <a:solidFill>
                  <a:srgbClr val="0B5A93"/>
                </a:solidFill>
                <a:latin typeface="Arial"/>
              </a:rPr>
              <a:t>EXPERIMENT 2  •  THREE SOLVED EXAMPLES PER QUESTION</a:t>
            </a:r>
          </a:p>
        </p:txBody>
      </p:sp>
      <p:sp>
        <p:nvSpPr>
          <p:cNvPr id="3" name="TextBox 2"/>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27B leads all three pair rankings</a:t>
            </a:r>
          </a:p>
        </p:txBody>
      </p:sp>
      <p:sp>
        <p:nvSpPr>
          <p:cNvPr id="4" name="TextBox 3"/>
          <p:cNvSpPr txBox="1"/>
          <p:nvPr/>
        </p:nvSpPr>
        <p:spPr>
          <a:xfrm>
            <a:off x="813816" y="1261872"/>
            <a:ext cx="10561320" cy="438912"/>
          </a:xfrm>
          <a:prstGeom prst="rect">
            <a:avLst/>
          </a:prstGeom>
          <a:noFill/>
        </p:spPr>
        <p:txBody>
          <a:bodyPr wrap="square" lIns="0" rIns="0" tIns="0" bIns="0">
            <a:noAutofit/>
          </a:bodyPr>
          <a:lstStyle/>
          <a:p>
            <a:pPr>
              <a:lnSpc>
                <a:spcPct val="109000"/>
              </a:lnSpc>
              <a:spcBef>
                <a:spcPts val="0"/>
              </a:spcBef>
              <a:spcAft>
                <a:spcPts val="0"/>
              </a:spcAft>
            </a:pPr>
            <a:r>
              <a:rPr sz="1600" b="0">
                <a:solidFill>
                  <a:srgbClr val="4A5A66"/>
                </a:solidFill>
                <a:latin typeface="Arial"/>
              </a:rPr>
              <a:t>Per-view accuracy with three solved examples per question.    </a:t>
            </a:r>
            <a:r>
              <a:rPr sz="1600" b="1">
                <a:solidFill>
                  <a:srgbClr val="E97132"/>
                </a:solidFill>
                <a:latin typeface="Arial"/>
              </a:rPr>
              <a:t>|</a:t>
            </a:r>
            <a:r>
              <a:rPr sz="1600" b="0">
                <a:solidFill>
                  <a:srgbClr val="4A5A66"/>
                </a:solidFill>
                <a:latin typeface="Arial"/>
              </a:rPr>
              <a:t> = the score without examples</a:t>
            </a:r>
          </a:p>
        </p:txBody>
      </p:sp>
      <p:sp>
        <p:nvSpPr>
          <p:cNvPr id="5" name="TextBox 4"/>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three examples per question  •  16 October 2026  |  RESULTS</a:t>
            </a:r>
          </a:p>
        </p:txBody>
      </p:sp>
      <p:sp>
        <p:nvSpPr>
          <p:cNvPr id="6" name="TextBox 5"/>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33</a:t>
            </a:r>
          </a:p>
        </p:txBody>
      </p:sp>
      <p:sp>
        <p:nvSpPr>
          <p:cNvPr id="7" name="Rounded Rectangle 6"/>
          <p:cNvSpPr/>
          <p:nvPr/>
        </p:nvSpPr>
        <p:spPr>
          <a:xfrm>
            <a:off x="813816" y="1828800"/>
            <a:ext cx="3383280" cy="3730752"/>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14984" y="1993392"/>
            <a:ext cx="2980944" cy="502920"/>
          </a:xfrm>
          <a:prstGeom prst="rect">
            <a:avLst/>
          </a:prstGeom>
          <a:noFill/>
        </p:spPr>
        <p:txBody>
          <a:bodyPr wrap="square" lIns="0" rIns="0" tIns="0" bIns="0" anchor="t">
            <a:noAutofit/>
          </a:bodyPr>
          <a:lstStyle/>
          <a:p>
            <a:pPr algn="l">
              <a:lnSpc>
                <a:spcPct val="109000"/>
              </a:lnSpc>
              <a:spcBef>
                <a:spcPts val="0"/>
              </a:spcBef>
              <a:spcAft>
                <a:spcPts val="0"/>
              </a:spcAft>
            </a:pPr>
            <a:r>
              <a:rPr sz="1800" b="1">
                <a:solidFill>
                  <a:srgbClr val="00407A"/>
                </a:solidFill>
                <a:latin typeface="Arial"/>
              </a:rPr>
              <a:t>Choose the smaller area</a:t>
            </a:r>
          </a:p>
        </p:txBody>
      </p:sp>
      <p:sp>
        <p:nvSpPr>
          <p:cNvPr id="9" name="TextBox 8"/>
          <p:cNvSpPr txBox="1"/>
          <p:nvPr/>
        </p:nvSpPr>
        <p:spPr>
          <a:xfrm>
            <a:off x="1014984" y="2441448"/>
            <a:ext cx="2980944" cy="347472"/>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4A5A66"/>
                </a:solidFill>
                <a:latin typeface="Arial"/>
              </a:rPr>
              <a:t>23 distinct pairs • 46 views</a:t>
            </a:r>
          </a:p>
        </p:txBody>
      </p:sp>
      <p:cxnSp>
        <p:nvCxnSpPr>
          <p:cNvPr id="10" name="Connector 9"/>
          <p:cNvCxnSpPr/>
          <p:nvPr/>
        </p:nvCxnSpPr>
        <p:spPr>
          <a:xfrm>
            <a:off x="1664208" y="2834639"/>
            <a:ext cx="0" cy="1856233"/>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1463040" y="4773168"/>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a:t>
            </a:r>
          </a:p>
        </p:txBody>
      </p:sp>
      <p:cxnSp>
        <p:nvCxnSpPr>
          <p:cNvPr id="12" name="Connector 11"/>
          <p:cNvCxnSpPr/>
          <p:nvPr/>
        </p:nvCxnSpPr>
        <p:spPr>
          <a:xfrm>
            <a:off x="2281428" y="2834639"/>
            <a:ext cx="0" cy="1856233"/>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2080260" y="4773168"/>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50</a:t>
            </a:r>
          </a:p>
        </p:txBody>
      </p:sp>
      <p:cxnSp>
        <p:nvCxnSpPr>
          <p:cNvPr id="14" name="Connector 13"/>
          <p:cNvCxnSpPr/>
          <p:nvPr/>
        </p:nvCxnSpPr>
        <p:spPr>
          <a:xfrm>
            <a:off x="2898648" y="2834639"/>
            <a:ext cx="0" cy="1856233"/>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2697479" y="4773168"/>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100</a:t>
            </a:r>
          </a:p>
        </p:txBody>
      </p:sp>
      <p:cxnSp>
        <p:nvCxnSpPr>
          <p:cNvPr id="16" name="Connector 15"/>
          <p:cNvCxnSpPr/>
          <p:nvPr/>
        </p:nvCxnSpPr>
        <p:spPr>
          <a:xfrm>
            <a:off x="2281428" y="2834639"/>
            <a:ext cx="0" cy="1856233"/>
          </a:xfrm>
          <a:prstGeom prst="line">
            <a:avLst/>
          </a:prstGeom>
          <a:ln w="15240">
            <a:solidFill>
              <a:srgbClr val="4A5A66"/>
            </a:solidFill>
            <a:prstDash val="dash"/>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996696" y="2930651"/>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0.8B</a:t>
            </a:r>
          </a:p>
        </p:txBody>
      </p:sp>
      <p:sp>
        <p:nvSpPr>
          <p:cNvPr id="18" name="Rectangle 17"/>
          <p:cNvSpPr/>
          <p:nvPr/>
        </p:nvSpPr>
        <p:spPr>
          <a:xfrm>
            <a:off x="1664208" y="2962656"/>
            <a:ext cx="617220" cy="237744"/>
          </a:xfrm>
          <a:prstGeom prst="rect">
            <a:avLst/>
          </a:prstGeom>
          <a:solidFill>
            <a:srgbClr val="4A5A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017520" y="2875787"/>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50.0%</a:t>
            </a:r>
          </a:p>
          <a:p>
            <a:pPr algn="l">
              <a:lnSpc>
                <a:spcPct val="109000"/>
              </a:lnSpc>
              <a:spcBef>
                <a:spcPts val="0"/>
              </a:spcBef>
              <a:spcAft>
                <a:spcPts val="0"/>
              </a:spcAft>
            </a:pPr>
            <a:r>
              <a:rPr sz="1250" b="0">
                <a:solidFill>
                  <a:srgbClr val="00407A"/>
                </a:solidFill>
                <a:latin typeface="Arial"/>
              </a:rPr>
              <a:t>23 of 46</a:t>
            </a:r>
          </a:p>
        </p:txBody>
      </p:sp>
      <p:sp>
        <p:nvSpPr>
          <p:cNvPr id="20" name="TextBox 19"/>
          <p:cNvSpPr txBox="1"/>
          <p:nvPr/>
        </p:nvSpPr>
        <p:spPr>
          <a:xfrm>
            <a:off x="996696" y="3433571"/>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4B</a:t>
            </a:r>
          </a:p>
        </p:txBody>
      </p:sp>
      <p:sp>
        <p:nvSpPr>
          <p:cNvPr id="21" name="Rectangle 20"/>
          <p:cNvSpPr/>
          <p:nvPr/>
        </p:nvSpPr>
        <p:spPr>
          <a:xfrm>
            <a:off x="1664208" y="3465575"/>
            <a:ext cx="831905" cy="237744"/>
          </a:xfrm>
          <a:prstGeom prst="rect">
            <a:avLst/>
          </a:prstGeom>
          <a:solidFill>
            <a:srgbClr val="0B5A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017520" y="3378707"/>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67.4%</a:t>
            </a:r>
          </a:p>
          <a:p>
            <a:pPr algn="l">
              <a:lnSpc>
                <a:spcPct val="109000"/>
              </a:lnSpc>
              <a:spcBef>
                <a:spcPts val="0"/>
              </a:spcBef>
              <a:spcAft>
                <a:spcPts val="0"/>
              </a:spcAft>
            </a:pPr>
            <a:r>
              <a:rPr sz="1250" b="0">
                <a:solidFill>
                  <a:srgbClr val="00407A"/>
                </a:solidFill>
                <a:latin typeface="Arial"/>
              </a:rPr>
              <a:t>31 of 46</a:t>
            </a:r>
          </a:p>
        </p:txBody>
      </p:sp>
      <p:sp>
        <p:nvSpPr>
          <p:cNvPr id="23" name="TextBox 22"/>
          <p:cNvSpPr txBox="1"/>
          <p:nvPr/>
        </p:nvSpPr>
        <p:spPr>
          <a:xfrm>
            <a:off x="996696" y="3936491"/>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9B</a:t>
            </a:r>
          </a:p>
        </p:txBody>
      </p:sp>
      <p:sp>
        <p:nvSpPr>
          <p:cNvPr id="24" name="Rectangle 23"/>
          <p:cNvSpPr/>
          <p:nvPr/>
        </p:nvSpPr>
        <p:spPr>
          <a:xfrm>
            <a:off x="1664208" y="3968495"/>
            <a:ext cx="939247" cy="237744"/>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017520" y="3881627"/>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76.1%</a:t>
            </a:r>
          </a:p>
          <a:p>
            <a:pPr algn="l">
              <a:lnSpc>
                <a:spcPct val="109000"/>
              </a:lnSpc>
              <a:spcBef>
                <a:spcPts val="0"/>
              </a:spcBef>
              <a:spcAft>
                <a:spcPts val="0"/>
              </a:spcAft>
            </a:pPr>
            <a:r>
              <a:rPr sz="1250" b="0">
                <a:solidFill>
                  <a:srgbClr val="00407A"/>
                </a:solidFill>
                <a:latin typeface="Arial"/>
              </a:rPr>
              <a:t>35 of 46</a:t>
            </a:r>
          </a:p>
        </p:txBody>
      </p:sp>
      <p:sp>
        <p:nvSpPr>
          <p:cNvPr id="26" name="TextBox 25"/>
          <p:cNvSpPr txBox="1"/>
          <p:nvPr/>
        </p:nvSpPr>
        <p:spPr>
          <a:xfrm>
            <a:off x="996696" y="4439412"/>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27B</a:t>
            </a:r>
          </a:p>
        </p:txBody>
      </p:sp>
      <p:sp>
        <p:nvSpPr>
          <p:cNvPr id="27" name="Rectangle 26"/>
          <p:cNvSpPr/>
          <p:nvPr/>
        </p:nvSpPr>
        <p:spPr>
          <a:xfrm>
            <a:off x="1664208" y="4471416"/>
            <a:ext cx="1100261" cy="237744"/>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017520" y="4384548"/>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89.1%</a:t>
            </a:r>
          </a:p>
          <a:p>
            <a:pPr algn="l">
              <a:lnSpc>
                <a:spcPct val="109000"/>
              </a:lnSpc>
              <a:spcBef>
                <a:spcPts val="0"/>
              </a:spcBef>
              <a:spcAft>
                <a:spcPts val="0"/>
              </a:spcAft>
            </a:pPr>
            <a:r>
              <a:rPr sz="1250" b="0">
                <a:solidFill>
                  <a:srgbClr val="00407A"/>
                </a:solidFill>
                <a:latin typeface="Arial"/>
              </a:rPr>
              <a:t>41 of 46</a:t>
            </a:r>
          </a:p>
        </p:txBody>
      </p:sp>
      <p:cxnSp>
        <p:nvCxnSpPr>
          <p:cNvPr id="29" name="Connector 28"/>
          <p:cNvCxnSpPr/>
          <p:nvPr/>
        </p:nvCxnSpPr>
        <p:spPr>
          <a:xfrm>
            <a:off x="2254592" y="2916935"/>
            <a:ext cx="0" cy="329185"/>
          </a:xfrm>
          <a:prstGeom prst="line">
            <a:avLst/>
          </a:prstGeom>
          <a:ln w="34925">
            <a:solidFill>
              <a:srgbClr val="E97132"/>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2603455" y="3419855"/>
            <a:ext cx="0" cy="329184"/>
          </a:xfrm>
          <a:prstGeom prst="line">
            <a:avLst/>
          </a:prstGeom>
          <a:ln w="34925">
            <a:solidFill>
              <a:srgbClr val="E97132"/>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2737634" y="3922775"/>
            <a:ext cx="0" cy="329184"/>
          </a:xfrm>
          <a:prstGeom prst="line">
            <a:avLst/>
          </a:prstGeom>
          <a:ln w="34925">
            <a:solidFill>
              <a:srgbClr val="E97132"/>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2630291" y="4425696"/>
            <a:ext cx="0" cy="329184"/>
          </a:xfrm>
          <a:prstGeom prst="line">
            <a:avLst/>
          </a:prstGeom>
          <a:ln w="34925">
            <a:solidFill>
              <a:srgbClr val="E9713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996696" y="5038344"/>
            <a:ext cx="3017520" cy="219456"/>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4A5A66"/>
                </a:solidFill>
                <a:latin typeface="Arial"/>
              </a:rPr>
              <a:t>Correct answers (%) — higher is better</a:t>
            </a:r>
          </a:p>
        </p:txBody>
      </p:sp>
      <p:sp>
        <p:nvSpPr>
          <p:cNvPr id="34" name="TextBox 33"/>
          <p:cNvSpPr txBox="1"/>
          <p:nvPr/>
        </p:nvSpPr>
        <p:spPr>
          <a:xfrm>
            <a:off x="996696" y="5294376"/>
            <a:ext cx="3017520" cy="210312"/>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Dashed line: always A or B = 50%</a:t>
            </a:r>
          </a:p>
        </p:txBody>
      </p:sp>
      <p:sp>
        <p:nvSpPr>
          <p:cNvPr id="35" name="Rounded Rectangle 34"/>
          <p:cNvSpPr/>
          <p:nvPr/>
        </p:nvSpPr>
        <p:spPr>
          <a:xfrm>
            <a:off x="4398264" y="1828800"/>
            <a:ext cx="3383280" cy="3730752"/>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599431" y="1993392"/>
            <a:ext cx="2980944" cy="502920"/>
          </a:xfrm>
          <a:prstGeom prst="rect">
            <a:avLst/>
          </a:prstGeom>
          <a:noFill/>
        </p:spPr>
        <p:txBody>
          <a:bodyPr wrap="square" lIns="0" rIns="0" tIns="0" bIns="0" anchor="t">
            <a:noAutofit/>
          </a:bodyPr>
          <a:lstStyle/>
          <a:p>
            <a:pPr algn="l">
              <a:lnSpc>
                <a:spcPct val="109000"/>
              </a:lnSpc>
              <a:spcBef>
                <a:spcPts val="0"/>
              </a:spcBef>
              <a:spcAft>
                <a:spcPts val="0"/>
              </a:spcAft>
            </a:pPr>
            <a:r>
              <a:rPr sz="1800" b="1">
                <a:solidFill>
                  <a:srgbClr val="00407A"/>
                </a:solidFill>
                <a:latin typeface="Arial"/>
              </a:rPr>
              <a:t>Choose lower power</a:t>
            </a:r>
          </a:p>
        </p:txBody>
      </p:sp>
      <p:sp>
        <p:nvSpPr>
          <p:cNvPr id="37" name="TextBox 36"/>
          <p:cNvSpPr txBox="1"/>
          <p:nvPr/>
        </p:nvSpPr>
        <p:spPr>
          <a:xfrm>
            <a:off x="4599431" y="2441448"/>
            <a:ext cx="2980944" cy="347472"/>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4A5A66"/>
                </a:solidFill>
                <a:latin typeface="Arial"/>
              </a:rPr>
              <a:t>22 distinct pairs • 44 views</a:t>
            </a:r>
          </a:p>
        </p:txBody>
      </p:sp>
      <p:cxnSp>
        <p:nvCxnSpPr>
          <p:cNvPr id="38" name="Connector 37"/>
          <p:cNvCxnSpPr/>
          <p:nvPr/>
        </p:nvCxnSpPr>
        <p:spPr>
          <a:xfrm>
            <a:off x="5248655" y="2834639"/>
            <a:ext cx="0" cy="1856233"/>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5047488" y="4773168"/>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a:t>
            </a:r>
          </a:p>
        </p:txBody>
      </p:sp>
      <p:cxnSp>
        <p:nvCxnSpPr>
          <p:cNvPr id="40" name="Connector 39"/>
          <p:cNvCxnSpPr/>
          <p:nvPr/>
        </p:nvCxnSpPr>
        <p:spPr>
          <a:xfrm>
            <a:off x="5865875" y="2834639"/>
            <a:ext cx="0" cy="1856233"/>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5664707" y="4773168"/>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50</a:t>
            </a:r>
          </a:p>
        </p:txBody>
      </p:sp>
      <p:cxnSp>
        <p:nvCxnSpPr>
          <p:cNvPr id="42" name="Connector 41"/>
          <p:cNvCxnSpPr/>
          <p:nvPr/>
        </p:nvCxnSpPr>
        <p:spPr>
          <a:xfrm>
            <a:off x="6483096" y="2834639"/>
            <a:ext cx="0" cy="1856233"/>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6281928" y="4773168"/>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100</a:t>
            </a:r>
          </a:p>
        </p:txBody>
      </p:sp>
      <p:cxnSp>
        <p:nvCxnSpPr>
          <p:cNvPr id="44" name="Connector 43"/>
          <p:cNvCxnSpPr/>
          <p:nvPr/>
        </p:nvCxnSpPr>
        <p:spPr>
          <a:xfrm>
            <a:off x="5865875" y="2834639"/>
            <a:ext cx="0" cy="1856233"/>
          </a:xfrm>
          <a:prstGeom prst="line">
            <a:avLst/>
          </a:prstGeom>
          <a:ln w="15240">
            <a:solidFill>
              <a:srgbClr val="4A5A66"/>
            </a:solidFill>
            <a:prstDash val="dash"/>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4581144" y="2930651"/>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0.8B</a:t>
            </a:r>
          </a:p>
        </p:txBody>
      </p:sp>
      <p:sp>
        <p:nvSpPr>
          <p:cNvPr id="46" name="Rectangle 45"/>
          <p:cNvSpPr/>
          <p:nvPr/>
        </p:nvSpPr>
        <p:spPr>
          <a:xfrm>
            <a:off x="5248655" y="2962656"/>
            <a:ext cx="673330" cy="237744"/>
          </a:xfrm>
          <a:prstGeom prst="rect">
            <a:avLst/>
          </a:prstGeom>
          <a:solidFill>
            <a:srgbClr val="4A5A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601968" y="2875787"/>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54.5%</a:t>
            </a:r>
          </a:p>
          <a:p>
            <a:pPr algn="l">
              <a:lnSpc>
                <a:spcPct val="109000"/>
              </a:lnSpc>
              <a:spcBef>
                <a:spcPts val="0"/>
              </a:spcBef>
              <a:spcAft>
                <a:spcPts val="0"/>
              </a:spcAft>
            </a:pPr>
            <a:r>
              <a:rPr sz="1250" b="0">
                <a:solidFill>
                  <a:srgbClr val="00407A"/>
                </a:solidFill>
                <a:latin typeface="Arial"/>
              </a:rPr>
              <a:t>24 of 44</a:t>
            </a:r>
          </a:p>
        </p:txBody>
      </p:sp>
      <p:sp>
        <p:nvSpPr>
          <p:cNvPr id="48" name="TextBox 47"/>
          <p:cNvSpPr txBox="1"/>
          <p:nvPr/>
        </p:nvSpPr>
        <p:spPr>
          <a:xfrm>
            <a:off x="4581144" y="3433571"/>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4B</a:t>
            </a:r>
          </a:p>
        </p:txBody>
      </p:sp>
      <p:sp>
        <p:nvSpPr>
          <p:cNvPr id="49" name="Rectangle 48"/>
          <p:cNvSpPr/>
          <p:nvPr/>
        </p:nvSpPr>
        <p:spPr>
          <a:xfrm>
            <a:off x="5248655" y="3465575"/>
            <a:ext cx="785552" cy="237744"/>
          </a:xfrm>
          <a:prstGeom prst="rect">
            <a:avLst/>
          </a:prstGeom>
          <a:solidFill>
            <a:srgbClr val="0B5A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601968" y="3378707"/>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63.6%</a:t>
            </a:r>
          </a:p>
          <a:p>
            <a:pPr algn="l">
              <a:lnSpc>
                <a:spcPct val="109000"/>
              </a:lnSpc>
              <a:spcBef>
                <a:spcPts val="0"/>
              </a:spcBef>
              <a:spcAft>
                <a:spcPts val="0"/>
              </a:spcAft>
            </a:pPr>
            <a:r>
              <a:rPr sz="1250" b="0">
                <a:solidFill>
                  <a:srgbClr val="00407A"/>
                </a:solidFill>
                <a:latin typeface="Arial"/>
              </a:rPr>
              <a:t>28 of 44</a:t>
            </a:r>
          </a:p>
        </p:txBody>
      </p:sp>
      <p:sp>
        <p:nvSpPr>
          <p:cNvPr id="51" name="TextBox 50"/>
          <p:cNvSpPr txBox="1"/>
          <p:nvPr/>
        </p:nvSpPr>
        <p:spPr>
          <a:xfrm>
            <a:off x="4581144" y="3936491"/>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9B</a:t>
            </a:r>
          </a:p>
        </p:txBody>
      </p:sp>
      <p:sp>
        <p:nvSpPr>
          <p:cNvPr id="52" name="Rectangle 51"/>
          <p:cNvSpPr/>
          <p:nvPr/>
        </p:nvSpPr>
        <p:spPr>
          <a:xfrm>
            <a:off x="5248655" y="3968495"/>
            <a:ext cx="869719" cy="237744"/>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601968" y="3881627"/>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70.5%</a:t>
            </a:r>
          </a:p>
          <a:p>
            <a:pPr algn="l">
              <a:lnSpc>
                <a:spcPct val="109000"/>
              </a:lnSpc>
              <a:spcBef>
                <a:spcPts val="0"/>
              </a:spcBef>
              <a:spcAft>
                <a:spcPts val="0"/>
              </a:spcAft>
            </a:pPr>
            <a:r>
              <a:rPr sz="1250" b="0">
                <a:solidFill>
                  <a:srgbClr val="00407A"/>
                </a:solidFill>
                <a:latin typeface="Arial"/>
              </a:rPr>
              <a:t>31 of 44</a:t>
            </a:r>
          </a:p>
        </p:txBody>
      </p:sp>
      <p:sp>
        <p:nvSpPr>
          <p:cNvPr id="54" name="TextBox 53"/>
          <p:cNvSpPr txBox="1"/>
          <p:nvPr/>
        </p:nvSpPr>
        <p:spPr>
          <a:xfrm>
            <a:off x="4581144" y="4439412"/>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27B</a:t>
            </a:r>
          </a:p>
        </p:txBody>
      </p:sp>
      <p:sp>
        <p:nvSpPr>
          <p:cNvPr id="55" name="Rectangle 54"/>
          <p:cNvSpPr/>
          <p:nvPr/>
        </p:nvSpPr>
        <p:spPr>
          <a:xfrm>
            <a:off x="5248655" y="4471416"/>
            <a:ext cx="981940" cy="237744"/>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6601968" y="4384548"/>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79.5%</a:t>
            </a:r>
          </a:p>
          <a:p>
            <a:pPr algn="l">
              <a:lnSpc>
                <a:spcPct val="109000"/>
              </a:lnSpc>
              <a:spcBef>
                <a:spcPts val="0"/>
              </a:spcBef>
              <a:spcAft>
                <a:spcPts val="0"/>
              </a:spcAft>
            </a:pPr>
            <a:r>
              <a:rPr sz="1250" b="0">
                <a:solidFill>
                  <a:srgbClr val="00407A"/>
                </a:solidFill>
                <a:latin typeface="Arial"/>
              </a:rPr>
              <a:t>35 of 44</a:t>
            </a:r>
          </a:p>
        </p:txBody>
      </p:sp>
      <p:cxnSp>
        <p:nvCxnSpPr>
          <p:cNvPr id="57" name="Connector 56"/>
          <p:cNvCxnSpPr/>
          <p:nvPr/>
        </p:nvCxnSpPr>
        <p:spPr>
          <a:xfrm>
            <a:off x="6034208" y="2916935"/>
            <a:ext cx="0" cy="329185"/>
          </a:xfrm>
          <a:prstGeom prst="line">
            <a:avLst/>
          </a:prstGeom>
          <a:ln w="34925">
            <a:solidFill>
              <a:srgbClr val="E97132"/>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5950042" y="3419855"/>
            <a:ext cx="0" cy="329184"/>
          </a:xfrm>
          <a:prstGeom prst="line">
            <a:avLst/>
          </a:prstGeom>
          <a:ln w="34925">
            <a:solidFill>
              <a:srgbClr val="E97132"/>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6062264" y="3922775"/>
            <a:ext cx="0" cy="329184"/>
          </a:xfrm>
          <a:prstGeom prst="line">
            <a:avLst/>
          </a:prstGeom>
          <a:ln w="34925">
            <a:solidFill>
              <a:srgbClr val="E97132"/>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6118375" y="4425696"/>
            <a:ext cx="0" cy="329184"/>
          </a:xfrm>
          <a:prstGeom prst="line">
            <a:avLst/>
          </a:prstGeom>
          <a:ln w="34925">
            <a:solidFill>
              <a:srgbClr val="E97132"/>
            </a:solidFill>
          </a:ln>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4581144" y="5038344"/>
            <a:ext cx="3017520" cy="219456"/>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4A5A66"/>
                </a:solidFill>
                <a:latin typeface="Arial"/>
              </a:rPr>
              <a:t>Correct answers (%) — higher is better</a:t>
            </a:r>
          </a:p>
        </p:txBody>
      </p:sp>
      <p:sp>
        <p:nvSpPr>
          <p:cNvPr id="62" name="TextBox 61"/>
          <p:cNvSpPr txBox="1"/>
          <p:nvPr/>
        </p:nvSpPr>
        <p:spPr>
          <a:xfrm>
            <a:off x="4581144" y="5294376"/>
            <a:ext cx="3017520" cy="210312"/>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Dashed line: always A or B = 50%</a:t>
            </a:r>
          </a:p>
        </p:txBody>
      </p:sp>
      <p:sp>
        <p:nvSpPr>
          <p:cNvPr id="63" name="Rounded Rectangle 62"/>
          <p:cNvSpPr/>
          <p:nvPr/>
        </p:nvSpPr>
        <p:spPr>
          <a:xfrm>
            <a:off x="7991856" y="1828800"/>
            <a:ext cx="3383280" cy="3730752"/>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8193024" y="1993392"/>
            <a:ext cx="2980944" cy="502920"/>
          </a:xfrm>
          <a:prstGeom prst="rect">
            <a:avLst/>
          </a:prstGeom>
          <a:noFill/>
        </p:spPr>
        <p:txBody>
          <a:bodyPr wrap="square" lIns="0" rIns="0" tIns="0" bIns="0" anchor="t">
            <a:noAutofit/>
          </a:bodyPr>
          <a:lstStyle/>
          <a:p>
            <a:pPr algn="l">
              <a:lnSpc>
                <a:spcPct val="109000"/>
              </a:lnSpc>
              <a:spcBef>
                <a:spcPts val="0"/>
              </a:spcBef>
              <a:spcAft>
                <a:spcPts val="0"/>
              </a:spcAft>
            </a:pPr>
            <a:r>
              <a:rPr sz="1800" b="1">
                <a:solidFill>
                  <a:srgbClr val="00407A"/>
                </a:solidFill>
                <a:latin typeface="Arial"/>
              </a:rPr>
              <a:t>Choose higher frequency</a:t>
            </a:r>
          </a:p>
        </p:txBody>
      </p:sp>
      <p:sp>
        <p:nvSpPr>
          <p:cNvPr id="65" name="TextBox 64"/>
          <p:cNvSpPr txBox="1"/>
          <p:nvPr/>
        </p:nvSpPr>
        <p:spPr>
          <a:xfrm>
            <a:off x="8193024" y="2441448"/>
            <a:ext cx="2980944" cy="347472"/>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4A5A66"/>
                </a:solidFill>
                <a:latin typeface="Arial"/>
              </a:rPr>
              <a:t>6 distinct pairs • 12 views</a:t>
            </a:r>
          </a:p>
        </p:txBody>
      </p:sp>
      <p:cxnSp>
        <p:nvCxnSpPr>
          <p:cNvPr id="66" name="Connector 65"/>
          <p:cNvCxnSpPr/>
          <p:nvPr/>
        </p:nvCxnSpPr>
        <p:spPr>
          <a:xfrm>
            <a:off x="8842248" y="2834639"/>
            <a:ext cx="0" cy="1856233"/>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67" name="TextBox 66"/>
          <p:cNvSpPr txBox="1"/>
          <p:nvPr/>
        </p:nvSpPr>
        <p:spPr>
          <a:xfrm>
            <a:off x="8641080" y="4773168"/>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a:t>
            </a:r>
          </a:p>
        </p:txBody>
      </p:sp>
      <p:cxnSp>
        <p:nvCxnSpPr>
          <p:cNvPr id="68" name="Connector 67"/>
          <p:cNvCxnSpPr/>
          <p:nvPr/>
        </p:nvCxnSpPr>
        <p:spPr>
          <a:xfrm>
            <a:off x="9459468" y="2834639"/>
            <a:ext cx="0" cy="1856233"/>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69" name="TextBox 68"/>
          <p:cNvSpPr txBox="1"/>
          <p:nvPr/>
        </p:nvSpPr>
        <p:spPr>
          <a:xfrm>
            <a:off x="9258300" y="4773168"/>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50</a:t>
            </a:r>
          </a:p>
        </p:txBody>
      </p:sp>
      <p:cxnSp>
        <p:nvCxnSpPr>
          <p:cNvPr id="70" name="Connector 69"/>
          <p:cNvCxnSpPr/>
          <p:nvPr/>
        </p:nvCxnSpPr>
        <p:spPr>
          <a:xfrm>
            <a:off x="10076688" y="2834639"/>
            <a:ext cx="0" cy="1856233"/>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71" name="TextBox 70"/>
          <p:cNvSpPr txBox="1"/>
          <p:nvPr/>
        </p:nvSpPr>
        <p:spPr>
          <a:xfrm>
            <a:off x="9875519" y="4773168"/>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100</a:t>
            </a:r>
          </a:p>
        </p:txBody>
      </p:sp>
      <p:cxnSp>
        <p:nvCxnSpPr>
          <p:cNvPr id="72" name="Connector 71"/>
          <p:cNvCxnSpPr/>
          <p:nvPr/>
        </p:nvCxnSpPr>
        <p:spPr>
          <a:xfrm>
            <a:off x="9459468" y="2834639"/>
            <a:ext cx="0" cy="1856233"/>
          </a:xfrm>
          <a:prstGeom prst="line">
            <a:avLst/>
          </a:prstGeom>
          <a:ln w="15240">
            <a:solidFill>
              <a:srgbClr val="4A5A66"/>
            </a:solidFill>
            <a:prstDash val="dash"/>
          </a:ln>
        </p:spPr>
        <p:style>
          <a:lnRef idx="2">
            <a:schemeClr val="accent1"/>
          </a:lnRef>
          <a:fillRef idx="0">
            <a:schemeClr val="accent1"/>
          </a:fillRef>
          <a:effectRef idx="1">
            <a:schemeClr val="accent1"/>
          </a:effectRef>
          <a:fontRef idx="minor">
            <a:schemeClr val="tx1"/>
          </a:fontRef>
        </p:style>
      </p:cxnSp>
      <p:sp>
        <p:nvSpPr>
          <p:cNvPr id="73" name="TextBox 72"/>
          <p:cNvSpPr txBox="1"/>
          <p:nvPr/>
        </p:nvSpPr>
        <p:spPr>
          <a:xfrm>
            <a:off x="8174736" y="2930651"/>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0.8B</a:t>
            </a:r>
          </a:p>
        </p:txBody>
      </p:sp>
      <p:sp>
        <p:nvSpPr>
          <p:cNvPr id="74" name="Rectangle 73"/>
          <p:cNvSpPr/>
          <p:nvPr/>
        </p:nvSpPr>
        <p:spPr>
          <a:xfrm>
            <a:off x="8842248" y="2962656"/>
            <a:ext cx="617220" cy="237744"/>
          </a:xfrm>
          <a:prstGeom prst="rect">
            <a:avLst/>
          </a:prstGeom>
          <a:solidFill>
            <a:srgbClr val="4A5A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10195560" y="2875787"/>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50.0%</a:t>
            </a:r>
          </a:p>
          <a:p>
            <a:pPr algn="l">
              <a:lnSpc>
                <a:spcPct val="109000"/>
              </a:lnSpc>
              <a:spcBef>
                <a:spcPts val="0"/>
              </a:spcBef>
              <a:spcAft>
                <a:spcPts val="0"/>
              </a:spcAft>
            </a:pPr>
            <a:r>
              <a:rPr sz="1250" b="0">
                <a:solidFill>
                  <a:srgbClr val="00407A"/>
                </a:solidFill>
                <a:latin typeface="Arial"/>
              </a:rPr>
              <a:t>6 of 12</a:t>
            </a:r>
          </a:p>
        </p:txBody>
      </p:sp>
      <p:sp>
        <p:nvSpPr>
          <p:cNvPr id="76" name="TextBox 75"/>
          <p:cNvSpPr txBox="1"/>
          <p:nvPr/>
        </p:nvSpPr>
        <p:spPr>
          <a:xfrm>
            <a:off x="8174736" y="3433571"/>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4B</a:t>
            </a:r>
          </a:p>
        </p:txBody>
      </p:sp>
      <p:sp>
        <p:nvSpPr>
          <p:cNvPr id="77" name="Rectangle 76"/>
          <p:cNvSpPr/>
          <p:nvPr/>
        </p:nvSpPr>
        <p:spPr>
          <a:xfrm>
            <a:off x="8842248" y="3465575"/>
            <a:ext cx="617220" cy="237744"/>
          </a:xfrm>
          <a:prstGeom prst="rect">
            <a:avLst/>
          </a:prstGeom>
          <a:solidFill>
            <a:srgbClr val="0B5A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10195560" y="3378707"/>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50.0%</a:t>
            </a:r>
          </a:p>
          <a:p>
            <a:pPr algn="l">
              <a:lnSpc>
                <a:spcPct val="109000"/>
              </a:lnSpc>
              <a:spcBef>
                <a:spcPts val="0"/>
              </a:spcBef>
              <a:spcAft>
                <a:spcPts val="0"/>
              </a:spcAft>
            </a:pPr>
            <a:r>
              <a:rPr sz="1250" b="0">
                <a:solidFill>
                  <a:srgbClr val="00407A"/>
                </a:solidFill>
                <a:latin typeface="Arial"/>
              </a:rPr>
              <a:t>6 of 12</a:t>
            </a:r>
          </a:p>
        </p:txBody>
      </p:sp>
      <p:sp>
        <p:nvSpPr>
          <p:cNvPr id="79" name="TextBox 78"/>
          <p:cNvSpPr txBox="1"/>
          <p:nvPr/>
        </p:nvSpPr>
        <p:spPr>
          <a:xfrm>
            <a:off x="8174736" y="3936491"/>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9B</a:t>
            </a:r>
          </a:p>
        </p:txBody>
      </p:sp>
      <p:sp>
        <p:nvSpPr>
          <p:cNvPr id="80" name="Rectangle 79"/>
          <p:cNvSpPr/>
          <p:nvPr/>
        </p:nvSpPr>
        <p:spPr>
          <a:xfrm>
            <a:off x="8842248" y="3968495"/>
            <a:ext cx="925830" cy="237744"/>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10195560" y="3881627"/>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75.0%</a:t>
            </a:r>
          </a:p>
          <a:p>
            <a:pPr algn="l">
              <a:lnSpc>
                <a:spcPct val="109000"/>
              </a:lnSpc>
              <a:spcBef>
                <a:spcPts val="0"/>
              </a:spcBef>
              <a:spcAft>
                <a:spcPts val="0"/>
              </a:spcAft>
            </a:pPr>
            <a:r>
              <a:rPr sz="1250" b="0">
                <a:solidFill>
                  <a:srgbClr val="00407A"/>
                </a:solidFill>
                <a:latin typeface="Arial"/>
              </a:rPr>
              <a:t>9 of 12</a:t>
            </a:r>
          </a:p>
        </p:txBody>
      </p:sp>
      <p:sp>
        <p:nvSpPr>
          <p:cNvPr id="82" name="TextBox 81"/>
          <p:cNvSpPr txBox="1"/>
          <p:nvPr/>
        </p:nvSpPr>
        <p:spPr>
          <a:xfrm>
            <a:off x="8174736" y="4439412"/>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27B</a:t>
            </a:r>
          </a:p>
        </p:txBody>
      </p:sp>
      <p:sp>
        <p:nvSpPr>
          <p:cNvPr id="83" name="Rectangle 82"/>
          <p:cNvSpPr/>
          <p:nvPr/>
        </p:nvSpPr>
        <p:spPr>
          <a:xfrm>
            <a:off x="8842248" y="4471416"/>
            <a:ext cx="1131570" cy="237744"/>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10195560" y="4384548"/>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91.7%</a:t>
            </a:r>
          </a:p>
          <a:p>
            <a:pPr algn="l">
              <a:lnSpc>
                <a:spcPct val="109000"/>
              </a:lnSpc>
              <a:spcBef>
                <a:spcPts val="0"/>
              </a:spcBef>
              <a:spcAft>
                <a:spcPts val="0"/>
              </a:spcAft>
            </a:pPr>
            <a:r>
              <a:rPr sz="1250" b="0">
                <a:solidFill>
                  <a:srgbClr val="00407A"/>
                </a:solidFill>
                <a:latin typeface="Arial"/>
              </a:rPr>
              <a:t>11 of 12</a:t>
            </a:r>
          </a:p>
        </p:txBody>
      </p:sp>
      <p:cxnSp>
        <p:nvCxnSpPr>
          <p:cNvPr id="85" name="Connector 84"/>
          <p:cNvCxnSpPr/>
          <p:nvPr/>
        </p:nvCxnSpPr>
        <p:spPr>
          <a:xfrm>
            <a:off x="9665208" y="2916935"/>
            <a:ext cx="0" cy="329185"/>
          </a:xfrm>
          <a:prstGeom prst="line">
            <a:avLst/>
          </a:prstGeom>
          <a:ln w="34925">
            <a:solidFill>
              <a:srgbClr val="E97132"/>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a:off x="9870948" y="3419855"/>
            <a:ext cx="0" cy="329184"/>
          </a:xfrm>
          <a:prstGeom prst="line">
            <a:avLst/>
          </a:prstGeom>
          <a:ln w="34925">
            <a:solidFill>
              <a:srgbClr val="E97132"/>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a:off x="9768078" y="3922775"/>
            <a:ext cx="0" cy="329184"/>
          </a:xfrm>
          <a:prstGeom prst="line">
            <a:avLst/>
          </a:prstGeom>
          <a:ln w="34925">
            <a:solidFill>
              <a:srgbClr val="E97132"/>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a:off x="9870948" y="4425696"/>
            <a:ext cx="0" cy="329184"/>
          </a:xfrm>
          <a:prstGeom prst="line">
            <a:avLst/>
          </a:prstGeom>
          <a:ln w="34925">
            <a:solidFill>
              <a:srgbClr val="E97132"/>
            </a:solidFill>
          </a:ln>
        </p:spPr>
        <p:style>
          <a:lnRef idx="2">
            <a:schemeClr val="accent1"/>
          </a:lnRef>
          <a:fillRef idx="0">
            <a:schemeClr val="accent1"/>
          </a:fillRef>
          <a:effectRef idx="1">
            <a:schemeClr val="accent1"/>
          </a:effectRef>
          <a:fontRef idx="minor">
            <a:schemeClr val="tx1"/>
          </a:fontRef>
        </p:style>
      </p:cxnSp>
      <p:sp>
        <p:nvSpPr>
          <p:cNvPr id="89" name="TextBox 88"/>
          <p:cNvSpPr txBox="1"/>
          <p:nvPr/>
        </p:nvSpPr>
        <p:spPr>
          <a:xfrm>
            <a:off x="8174736" y="5038344"/>
            <a:ext cx="3017520" cy="219456"/>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4A5A66"/>
                </a:solidFill>
                <a:latin typeface="Arial"/>
              </a:rPr>
              <a:t>Correct answers (%) — higher is better</a:t>
            </a:r>
          </a:p>
        </p:txBody>
      </p:sp>
      <p:sp>
        <p:nvSpPr>
          <p:cNvPr id="90" name="TextBox 89"/>
          <p:cNvSpPr txBox="1"/>
          <p:nvPr/>
        </p:nvSpPr>
        <p:spPr>
          <a:xfrm>
            <a:off x="8174736" y="5294376"/>
            <a:ext cx="3017520" cy="210312"/>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Dashed line: always A or B = 50%</a:t>
            </a:r>
          </a:p>
        </p:txBody>
      </p:sp>
      <p:sp>
        <p:nvSpPr>
          <p:cNvPr id="91" name="Rounded Rectangle 90"/>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KEV-0.8B always answers A for area and B for frequency; KEV-4B always answers B for frequency.</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265176"/>
            <a:ext cx="10561320" cy="237744"/>
          </a:xfrm>
          <a:prstGeom prst="rect">
            <a:avLst/>
          </a:prstGeom>
          <a:noFill/>
        </p:spPr>
        <p:txBody>
          <a:bodyPr wrap="square" lIns="0" rIns="0" tIns="0" bIns="0" anchor="t">
            <a:noAutofit/>
          </a:bodyPr>
          <a:lstStyle/>
          <a:p>
            <a:pPr algn="l">
              <a:lnSpc>
                <a:spcPct val="109000"/>
              </a:lnSpc>
              <a:spcBef>
                <a:spcPts val="0"/>
              </a:spcBef>
              <a:spcAft>
                <a:spcPts val="0"/>
              </a:spcAft>
            </a:pPr>
            <a:r>
              <a:rPr sz="1250" b="1">
                <a:solidFill>
                  <a:srgbClr val="0B5A93"/>
                </a:solidFill>
                <a:latin typeface="Arial"/>
              </a:rPr>
              <a:t>EXPERIMENT 2  •  THREE SOLVED EXAMPLES PER QUESTION</a:t>
            </a:r>
          </a:p>
        </p:txBody>
      </p:sp>
      <p:sp>
        <p:nvSpPr>
          <p:cNvPr id="3" name="TextBox 2"/>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27B gets 20 of 23 area pairs right in both orders</a:t>
            </a:r>
          </a:p>
        </p:txBody>
      </p:sp>
      <p:sp>
        <p:nvSpPr>
          <p:cNvPr id="4" name="TextBox 3"/>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A pair counts as correct only when both presentation orders are correct.</a:t>
            </a:r>
          </a:p>
        </p:txBody>
      </p:sp>
      <p:sp>
        <p:nvSpPr>
          <p:cNvPr id="5" name="TextBox 4"/>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three examples per question  •  16 October 2026  |  RESULTS</a:t>
            </a:r>
          </a:p>
        </p:txBody>
      </p:sp>
      <p:sp>
        <p:nvSpPr>
          <p:cNvPr id="6" name="TextBox 5"/>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34</a:t>
            </a:r>
          </a:p>
        </p:txBody>
      </p:sp>
      <p:graphicFrame>
        <p:nvGraphicFramePr>
          <p:cNvPr id="7" name="Table 6"/>
          <p:cNvGraphicFramePr>
            <a:graphicFrameLocks noGrp="1"/>
          </p:cNvGraphicFramePr>
          <p:nvPr/>
        </p:nvGraphicFramePr>
        <p:xfrm>
          <a:off x="813816" y="1874519"/>
          <a:ext cx="10561320" cy="2240280"/>
        </p:xfrm>
        <a:graphic>
          <a:graphicData uri="http://schemas.openxmlformats.org/drawingml/2006/table">
            <a:tbl>
              <a:tblPr firstRow="1" bandRow="1">
                <a:tableStyleId>{5C22544A-7EE6-4342-B048-85BDC9FD1C3A}</a:tableStyleId>
              </a:tblPr>
              <a:tblGrid>
                <a:gridCol w="1371600"/>
                <a:gridCol w="3063240"/>
                <a:gridCol w="3063240"/>
                <a:gridCol w="3063240"/>
              </a:tblGrid>
              <a:tr h="566928">
                <a:tc>
                  <a:txBody>
                    <a:bodyPr/>
                    <a:lstStyle/>
                    <a:p>
                      <a:pPr algn="l">
                        <a:lnSpc>
                          <a:spcPct val="103000"/>
                        </a:lnSpc>
                        <a:spcBef>
                          <a:spcPts val="0"/>
                        </a:spcBef>
                        <a:spcAft>
                          <a:spcPts val="0"/>
                        </a:spcAft>
                      </a:pPr>
                      <a:r>
                        <a:rPr sz="1600" b="1">
                          <a:solidFill>
                            <a:srgbClr val="FFFFFF"/>
                          </a:solidFill>
                          <a:latin typeface="Arial"/>
                        </a:rPr>
                        <a:t>Model</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Area: both correct</a:t>
                      </a:r>
                    </a:p>
                    <a:p>
                      <a:pPr algn="ctr">
                        <a:lnSpc>
                          <a:spcPct val="103000"/>
                        </a:lnSpc>
                        <a:spcBef>
                          <a:spcPts val="0"/>
                        </a:spcBef>
                        <a:spcAft>
                          <a:spcPts val="0"/>
                        </a:spcAft>
                      </a:pPr>
                      <a:r>
                        <a:rPr sz="1600" b="1">
                          <a:solidFill>
                            <a:srgbClr val="FFFFFF"/>
                          </a:solidFill>
                          <a:latin typeface="Arial"/>
                        </a:rPr>
                        <a:t>23 pairs</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Power: both correct</a:t>
                      </a:r>
                    </a:p>
                    <a:p>
                      <a:pPr algn="ctr">
                        <a:lnSpc>
                          <a:spcPct val="103000"/>
                        </a:lnSpc>
                        <a:spcBef>
                          <a:spcPts val="0"/>
                        </a:spcBef>
                        <a:spcAft>
                          <a:spcPts val="0"/>
                        </a:spcAft>
                      </a:pPr>
                      <a:r>
                        <a:rPr sz="1600" b="1">
                          <a:solidFill>
                            <a:srgbClr val="FFFFFF"/>
                          </a:solidFill>
                          <a:latin typeface="Arial"/>
                        </a:rPr>
                        <a:t>22 pairs</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Frequency: both correct</a:t>
                      </a:r>
                    </a:p>
                    <a:p>
                      <a:pPr algn="ctr">
                        <a:lnSpc>
                          <a:spcPct val="103000"/>
                        </a:lnSpc>
                        <a:spcBef>
                          <a:spcPts val="0"/>
                        </a:spcBef>
                        <a:spcAft>
                          <a:spcPts val="0"/>
                        </a:spcAft>
                      </a:pPr>
                      <a:r>
                        <a:rPr sz="1600" b="1">
                          <a:solidFill>
                            <a:srgbClr val="FFFFFF"/>
                          </a:solidFill>
                          <a:latin typeface="Arial"/>
                        </a:rPr>
                        <a:t>6 pairs</a:t>
                      </a:r>
                    </a:p>
                  </a:txBody>
                  <a:tcPr marL="109728" marR="91440" marT="54864" marB="36576" anchor="ctr">
                    <a:solidFill>
                      <a:srgbClr val="00407A"/>
                    </a:solidFill>
                    <a:lnL>
                      <a:noFill/>
                    </a:lnL>
                    <a:lnR>
                      <a:noFill/>
                    </a:lnR>
                    <a:lnT>
                      <a:noFill/>
                    </a:lnT>
                    <a:lnB>
                      <a:noFill/>
                    </a:lnB>
                  </a:tcPr>
                </a:tc>
              </a:tr>
              <a:tr h="418338">
                <a:tc>
                  <a:txBody>
                    <a:bodyPr/>
                    <a:lstStyle/>
                    <a:p>
                      <a:pPr algn="l">
                        <a:lnSpc>
                          <a:spcPct val="103000"/>
                        </a:lnSpc>
                        <a:spcBef>
                          <a:spcPts val="0"/>
                        </a:spcBef>
                        <a:spcAft>
                          <a:spcPts val="0"/>
                        </a:spcAft>
                      </a:pPr>
                      <a:r>
                        <a:rPr sz="2100" b="0">
                          <a:solidFill>
                            <a:srgbClr val="00407A"/>
                          </a:solidFill>
                          <a:latin typeface="Arial"/>
                        </a:rPr>
                        <a:t>KEV-0.8B</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0 of 23</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3 of 22</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0 of 6</a:t>
                      </a:r>
                    </a:p>
                  </a:txBody>
                  <a:tcPr marL="109728" marR="91440" marT="54864" marB="36576" anchor="ctr">
                    <a:solidFill>
                      <a:srgbClr val="E3EFF5"/>
                    </a:solidFill>
                    <a:lnL>
                      <a:noFill/>
                    </a:lnL>
                    <a:lnR>
                      <a:noFill/>
                    </a:lnR>
                    <a:lnT>
                      <a:noFill/>
                    </a:lnT>
                    <a:lnB>
                      <a:noFill/>
                    </a:lnB>
                  </a:tcPr>
                </a:tc>
              </a:tr>
              <a:tr h="418338">
                <a:tc>
                  <a:txBody>
                    <a:bodyPr/>
                    <a:lstStyle/>
                    <a:p>
                      <a:pPr algn="l">
                        <a:lnSpc>
                          <a:spcPct val="103000"/>
                        </a:lnSpc>
                        <a:spcBef>
                          <a:spcPts val="0"/>
                        </a:spcBef>
                        <a:spcAft>
                          <a:spcPts val="0"/>
                        </a:spcAft>
                      </a:pPr>
                      <a:r>
                        <a:rPr sz="2100" b="0">
                          <a:solidFill>
                            <a:srgbClr val="00407A"/>
                          </a:solidFill>
                          <a:latin typeface="Arial"/>
                        </a:rPr>
                        <a:t>KEV-4B</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10 of 23</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8 of 22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0 of 6</a:t>
                      </a:r>
                    </a:p>
                  </a:txBody>
                  <a:tcPr marL="109728" marR="91440" marT="54864" marB="36576" anchor="ctr">
                    <a:solidFill>
                      <a:srgbClr val="FFFFFF"/>
                    </a:solidFill>
                    <a:lnL>
                      <a:noFill/>
                    </a:lnL>
                    <a:lnR>
                      <a:noFill/>
                    </a:lnR>
                    <a:lnT>
                      <a:noFill/>
                    </a:lnT>
                    <a:lnB>
                      <a:noFill/>
                    </a:lnB>
                  </a:tcPr>
                </a:tc>
              </a:tr>
              <a:tr h="418338">
                <a:tc>
                  <a:txBody>
                    <a:bodyPr/>
                    <a:lstStyle/>
                    <a:p>
                      <a:pPr algn="l">
                        <a:lnSpc>
                          <a:spcPct val="103000"/>
                        </a:lnSpc>
                        <a:spcBef>
                          <a:spcPts val="0"/>
                        </a:spcBef>
                        <a:spcAft>
                          <a:spcPts val="0"/>
                        </a:spcAft>
                      </a:pPr>
                      <a:r>
                        <a:rPr sz="2100" b="0">
                          <a:solidFill>
                            <a:srgbClr val="00407A"/>
                          </a:solidFill>
                          <a:latin typeface="Arial"/>
                        </a:rPr>
                        <a:t>KEV-9B</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12 of 23</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11 of 22</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4 of 6</a:t>
                      </a:r>
                    </a:p>
                  </a:txBody>
                  <a:tcPr marL="109728" marR="91440" marT="54864" marB="36576" anchor="ctr">
                    <a:solidFill>
                      <a:srgbClr val="E3EFF5"/>
                    </a:solidFill>
                    <a:lnL>
                      <a:noFill/>
                    </a:lnL>
                    <a:lnR>
                      <a:noFill/>
                    </a:lnR>
                    <a:lnT>
                      <a:noFill/>
                    </a:lnT>
                    <a:lnB>
                      <a:noFill/>
                    </a:lnB>
                  </a:tcPr>
                </a:tc>
              </a:tr>
              <a:tr h="418338">
                <a:tc>
                  <a:txBody>
                    <a:bodyPr/>
                    <a:lstStyle/>
                    <a:p>
                      <a:pPr algn="l">
                        <a:lnSpc>
                          <a:spcPct val="103000"/>
                        </a:lnSpc>
                        <a:spcBef>
                          <a:spcPts val="0"/>
                        </a:spcBef>
                        <a:spcAft>
                          <a:spcPts val="0"/>
                        </a:spcAft>
                      </a:pPr>
                      <a:r>
                        <a:rPr sz="2100" b="0">
                          <a:solidFill>
                            <a:srgbClr val="00407A"/>
                          </a:solidFill>
                          <a:latin typeface="Arial"/>
                        </a:rPr>
                        <a:t>KEV-27B</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20 of 23</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17 of 22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5 of 6</a:t>
                      </a:r>
                    </a:p>
                  </a:txBody>
                  <a:tcPr marL="109728" marR="91440" marT="54864" marB="36576" anchor="ctr">
                    <a:solidFill>
                      <a:srgbClr val="FFFFFF"/>
                    </a:solidFill>
                    <a:lnL>
                      <a:noFill/>
                    </a:lnL>
                    <a:lnR>
                      <a:noFill/>
                    </a:lnR>
                    <a:lnT>
                      <a:noFill/>
                    </a:lnT>
                    <a:lnB>
                      <a:noFill/>
                    </a:lnB>
                  </a:tcPr>
                </a:tc>
              </a:tr>
            </a:tbl>
          </a:graphicData>
        </a:graphic>
      </p:graphicFrame>
      <p:sp>
        <p:nvSpPr>
          <p:cNvPr id="8" name="TextBox 7"/>
          <p:cNvSpPr txBox="1"/>
          <p:nvPr/>
        </p:nvSpPr>
        <p:spPr>
          <a:xfrm>
            <a:off x="987552" y="4462272"/>
            <a:ext cx="10149840" cy="384048"/>
          </a:xfrm>
          <a:prstGeom prst="rect">
            <a:avLst/>
          </a:prstGeom>
          <a:noFill/>
        </p:spPr>
        <p:txBody>
          <a:bodyPr wrap="square" lIns="0" rIns="0" tIns="0" bIns="0" anchor="t">
            <a:noAutofit/>
          </a:bodyPr>
          <a:lstStyle/>
          <a:p>
            <a:pPr algn="l">
              <a:lnSpc>
                <a:spcPct val="109000"/>
              </a:lnSpc>
              <a:spcBef>
                <a:spcPts val="0"/>
              </a:spcBef>
              <a:spcAft>
                <a:spcPts val="0"/>
              </a:spcAft>
            </a:pPr>
            <a:r>
              <a:rPr sz="2200" b="1">
                <a:solidFill>
                  <a:srgbClr val="00407A"/>
                </a:solidFill>
                <a:latin typeface="Arial"/>
              </a:rPr>
              <a:t>Same letter after swapping the power pair:</a:t>
            </a:r>
          </a:p>
        </p:txBody>
      </p:sp>
      <p:sp>
        <p:nvSpPr>
          <p:cNvPr id="9" name="TextBox 8"/>
          <p:cNvSpPr txBox="1"/>
          <p:nvPr/>
        </p:nvSpPr>
        <p:spPr>
          <a:xfrm>
            <a:off x="987552" y="5010912"/>
            <a:ext cx="10149840" cy="365760"/>
          </a:xfrm>
          <a:prstGeom prst="rect">
            <a:avLst/>
          </a:prstGeom>
          <a:noFill/>
        </p:spPr>
        <p:txBody>
          <a:bodyPr wrap="square" lIns="0" rIns="0" tIns="0" bIns="0" anchor="t">
            <a:noAutofit/>
          </a:bodyPr>
          <a:lstStyle/>
          <a:p>
            <a:pPr algn="l">
              <a:lnSpc>
                <a:spcPct val="109000"/>
              </a:lnSpc>
              <a:spcBef>
                <a:spcPts val="0"/>
              </a:spcBef>
              <a:spcAft>
                <a:spcPts val="0"/>
              </a:spcAft>
            </a:pPr>
            <a:r>
              <a:rPr sz="1900" b="0">
                <a:solidFill>
                  <a:srgbClr val="00407A"/>
                </a:solidFill>
                <a:latin typeface="Arial"/>
              </a:rPr>
              <a:t>0.8B: 18 of 22 pairs   •   4B: 12 of 22   •   9B: 9 of 22   •   27B: 1 of 22</a:t>
            </a:r>
          </a:p>
        </p:txBody>
      </p:sp>
      <p:sp>
        <p:nvSpPr>
          <p:cNvPr id="10" name="Rounded Rectangle 9"/>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27B keeps the same letter for 1 of 22 power pairs (3 without examples).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265176"/>
            <a:ext cx="10561320" cy="237744"/>
          </a:xfrm>
          <a:prstGeom prst="rect">
            <a:avLst/>
          </a:prstGeom>
          <a:noFill/>
        </p:spPr>
        <p:txBody>
          <a:bodyPr wrap="square" lIns="0" rIns="0" tIns="0" bIns="0" anchor="t">
            <a:noAutofit/>
          </a:bodyPr>
          <a:lstStyle/>
          <a:p>
            <a:pPr algn="l">
              <a:lnSpc>
                <a:spcPct val="109000"/>
              </a:lnSpc>
              <a:spcBef>
                <a:spcPts val="0"/>
              </a:spcBef>
              <a:spcAft>
                <a:spcPts val="0"/>
              </a:spcAft>
            </a:pPr>
            <a:r>
              <a:rPr sz="1250" b="1">
                <a:solidFill>
                  <a:srgbClr val="4A5A66"/>
                </a:solidFill>
                <a:latin typeface="Arial"/>
              </a:rPr>
              <a:t>EXPERIMENT 1  •  NO EXAMPLES</a:t>
            </a:r>
          </a:p>
        </p:txBody>
      </p:sp>
      <p:sp>
        <p:nvSpPr>
          <p:cNvPr id="3" name="TextBox 2"/>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All four Condor evaluations completed</a:t>
            </a:r>
          </a:p>
        </p:txBody>
      </p:sp>
      <p:sp>
        <p:nvSpPr>
          <p:cNvPr id="4" name="TextBox 3"/>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Observed run times include different hardware and setup costs; they are not a controlled speed ranking.</a:t>
            </a:r>
          </a:p>
        </p:txBody>
      </p:sp>
      <p:sp>
        <p:nvSpPr>
          <p:cNvPr id="5" name="TextBox 4"/>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EXECUTION</a:t>
            </a:r>
          </a:p>
        </p:txBody>
      </p:sp>
      <p:sp>
        <p:nvSpPr>
          <p:cNvPr id="6" name="TextBox 5"/>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35</a:t>
            </a:r>
          </a:p>
        </p:txBody>
      </p:sp>
      <p:graphicFrame>
        <p:nvGraphicFramePr>
          <p:cNvPr id="7" name="Table 6"/>
          <p:cNvGraphicFramePr>
            <a:graphicFrameLocks noGrp="1"/>
          </p:cNvGraphicFramePr>
          <p:nvPr/>
        </p:nvGraphicFramePr>
        <p:xfrm>
          <a:off x="813816" y="1901952"/>
          <a:ext cx="10561320" cy="2423156"/>
        </p:xfrm>
        <a:graphic>
          <a:graphicData uri="http://schemas.openxmlformats.org/drawingml/2006/table">
            <a:tbl>
              <a:tblPr firstRow="1" bandRow="1">
                <a:tableStyleId>{5C22544A-7EE6-4342-B048-85BDC9FD1C3A}</a:tableStyleId>
              </a:tblPr>
              <a:tblGrid>
                <a:gridCol w="1371600"/>
                <a:gridCol w="731520"/>
                <a:gridCol w="2880360"/>
                <a:gridCol w="2697480"/>
                <a:gridCol w="2880360"/>
              </a:tblGrid>
              <a:tr h="566928">
                <a:tc>
                  <a:txBody>
                    <a:bodyPr/>
                    <a:lstStyle/>
                    <a:p>
                      <a:pPr algn="l">
                        <a:lnSpc>
                          <a:spcPct val="103000"/>
                        </a:lnSpc>
                        <a:spcBef>
                          <a:spcPts val="0"/>
                        </a:spcBef>
                        <a:spcAft>
                          <a:spcPts val="0"/>
                        </a:spcAft>
                      </a:pPr>
                      <a:r>
                        <a:rPr sz="1600" b="1">
                          <a:solidFill>
                            <a:srgbClr val="FFFFFF"/>
                          </a:solidFill>
                          <a:latin typeface="Arial"/>
                        </a:rPr>
                        <a:t>Model</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Job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GPU used</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Job time</a:t>
                      </a:r>
                    </a:p>
                    <a:p>
                      <a:pPr algn="ctr">
                        <a:lnSpc>
                          <a:spcPct val="103000"/>
                        </a:lnSpc>
                        <a:spcBef>
                          <a:spcPts val="0"/>
                        </a:spcBef>
                        <a:spcAft>
                          <a:spcPts val="0"/>
                        </a:spcAft>
                      </a:pPr>
                      <a:r>
                        <a:rPr sz="1600" b="1">
                          <a:solidFill>
                            <a:srgbClr val="FFFFFF"/>
                          </a:solidFill>
                          <a:latin typeface="Arial"/>
                        </a:rPr>
                        <a:t>including setup</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Median model</a:t>
                      </a:r>
                    </a:p>
                    <a:p>
                      <a:pPr algn="ctr">
                        <a:lnSpc>
                          <a:spcPct val="103000"/>
                        </a:lnSpc>
                        <a:spcBef>
                          <a:spcPts val="0"/>
                        </a:spcBef>
                        <a:spcAft>
                          <a:spcPts val="0"/>
                        </a:spcAft>
                      </a:pPr>
                      <a:r>
                        <a:rPr sz="1600" b="1">
                          <a:solidFill>
                            <a:srgbClr val="FFFFFF"/>
                          </a:solidFill>
                          <a:latin typeface="Arial"/>
                        </a:rPr>
                        <a:t>time per request</a:t>
                      </a:r>
                    </a:p>
                  </a:txBody>
                  <a:tcPr marL="109728" marR="91440" marT="54864" marB="36576" anchor="ctr">
                    <a:solidFill>
                      <a:srgbClr val="00407A"/>
                    </a:solidFill>
                    <a:lnL>
                      <a:noFill/>
                    </a:lnL>
                    <a:lnR>
                      <a:noFill/>
                    </a:lnR>
                    <a:lnT>
                      <a:noFill/>
                    </a:lnT>
                    <a:lnB>
                      <a:noFill/>
                    </a:lnB>
                  </a:tcPr>
                </a:tc>
              </a:tr>
              <a:tr h="464057">
                <a:tc>
                  <a:txBody>
                    <a:bodyPr/>
                    <a:lstStyle/>
                    <a:p>
                      <a:pPr algn="l">
                        <a:lnSpc>
                          <a:spcPct val="103000"/>
                        </a:lnSpc>
                        <a:spcBef>
                          <a:spcPts val="0"/>
                        </a:spcBef>
                        <a:spcAft>
                          <a:spcPts val="0"/>
                        </a:spcAft>
                      </a:pPr>
                      <a:r>
                        <a:rPr sz="2100" b="0">
                          <a:solidFill>
                            <a:srgbClr val="00407A"/>
                          </a:solidFill>
                          <a:latin typeface="Arial"/>
                        </a:rPr>
                        <a:t>KEV-0.8B</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4.0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RTX 3080 Ti</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125 s</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109 ms</a:t>
                      </a:r>
                    </a:p>
                  </a:txBody>
                  <a:tcPr marL="109728" marR="91440" marT="54864" marB="36576" anchor="ctr">
                    <a:solidFill>
                      <a:srgbClr val="E3EFF5"/>
                    </a:solidFill>
                    <a:lnL>
                      <a:noFill/>
                    </a:lnL>
                    <a:lnR>
                      <a:noFill/>
                    </a:lnR>
                    <a:lnT>
                      <a:noFill/>
                    </a:lnT>
                    <a:lnB>
                      <a:noFill/>
                    </a:lnB>
                  </a:tcPr>
                </a:tc>
              </a:tr>
              <a:tr h="464057">
                <a:tc>
                  <a:txBody>
                    <a:bodyPr/>
                    <a:lstStyle/>
                    <a:p>
                      <a:pPr algn="l">
                        <a:lnSpc>
                          <a:spcPct val="103000"/>
                        </a:lnSpc>
                        <a:spcBef>
                          <a:spcPts val="0"/>
                        </a:spcBef>
                        <a:spcAft>
                          <a:spcPts val="0"/>
                        </a:spcAft>
                      </a:pPr>
                      <a:r>
                        <a:rPr sz="2100" b="0">
                          <a:solidFill>
                            <a:srgbClr val="00407A"/>
                          </a:solidFill>
                          <a:latin typeface="Arial"/>
                        </a:rPr>
                        <a:t>KEV-4B</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5.0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A100 80 GB</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187 s</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201 ms</a:t>
                      </a:r>
                    </a:p>
                  </a:txBody>
                  <a:tcPr marL="109728" marR="91440" marT="54864" marB="36576" anchor="ctr">
                    <a:solidFill>
                      <a:srgbClr val="FFFFFF"/>
                    </a:solidFill>
                    <a:lnL>
                      <a:noFill/>
                    </a:lnL>
                    <a:lnR>
                      <a:noFill/>
                    </a:lnR>
                    <a:lnT>
                      <a:noFill/>
                    </a:lnT>
                    <a:lnB>
                      <a:noFill/>
                    </a:lnB>
                  </a:tcPr>
                </a:tc>
              </a:tr>
              <a:tr h="464057">
                <a:tc>
                  <a:txBody>
                    <a:bodyPr/>
                    <a:lstStyle/>
                    <a:p>
                      <a:pPr algn="l">
                        <a:lnSpc>
                          <a:spcPct val="103000"/>
                        </a:lnSpc>
                        <a:spcBef>
                          <a:spcPts val="0"/>
                        </a:spcBef>
                        <a:spcAft>
                          <a:spcPts val="0"/>
                        </a:spcAft>
                      </a:pPr>
                      <a:r>
                        <a:rPr sz="2100" b="0">
                          <a:solidFill>
                            <a:srgbClr val="00407A"/>
                          </a:solidFill>
                          <a:latin typeface="Arial"/>
                        </a:rPr>
                        <a:t>KEV-9B</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6.0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A100 80 GB</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204 s</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244 ms</a:t>
                      </a:r>
                    </a:p>
                  </a:txBody>
                  <a:tcPr marL="109728" marR="91440" marT="54864" marB="36576" anchor="ctr">
                    <a:solidFill>
                      <a:srgbClr val="E3EFF5"/>
                    </a:solidFill>
                    <a:lnL>
                      <a:noFill/>
                    </a:lnL>
                    <a:lnR>
                      <a:noFill/>
                    </a:lnR>
                    <a:lnT>
                      <a:noFill/>
                    </a:lnT>
                    <a:lnB>
                      <a:noFill/>
                    </a:lnB>
                  </a:tcPr>
                </a:tc>
              </a:tr>
              <a:tr h="464057">
                <a:tc>
                  <a:txBody>
                    <a:bodyPr/>
                    <a:lstStyle/>
                    <a:p>
                      <a:pPr algn="l">
                        <a:lnSpc>
                          <a:spcPct val="103000"/>
                        </a:lnSpc>
                        <a:spcBef>
                          <a:spcPts val="0"/>
                        </a:spcBef>
                        <a:spcAft>
                          <a:spcPts val="0"/>
                        </a:spcAft>
                      </a:pPr>
                      <a:r>
                        <a:rPr sz="2100" b="0">
                          <a:solidFill>
                            <a:srgbClr val="00407A"/>
                          </a:solidFill>
                          <a:latin typeface="Arial"/>
                        </a:rPr>
                        <a:t>KEV-27B</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7.0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A100 80 GB</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400 s</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668 ms</a:t>
                      </a:r>
                    </a:p>
                  </a:txBody>
                  <a:tcPr marL="109728" marR="91440" marT="54864" marB="36576" anchor="ctr">
                    <a:solidFill>
                      <a:srgbClr val="FFFFFF"/>
                    </a:solidFill>
                    <a:lnL>
                      <a:noFill/>
                    </a:lnL>
                    <a:lnR>
                      <a:noFill/>
                    </a:lnR>
                    <a:lnT>
                      <a:noFill/>
                    </a:lnT>
                    <a:lnB>
                      <a:noFill/>
                    </a:lnB>
                  </a:tcPr>
                </a:tc>
              </a:tr>
            </a:tbl>
          </a:graphicData>
        </a:graphic>
      </p:graphicFrame>
      <p:sp>
        <p:nvSpPr>
          <p:cNvPr id="8" name="TextBox 7"/>
          <p:cNvSpPr txBox="1"/>
          <p:nvPr/>
        </p:nvSpPr>
        <p:spPr>
          <a:xfrm>
            <a:off x="987552" y="4645152"/>
            <a:ext cx="10149840" cy="822960"/>
          </a:xfrm>
          <a:prstGeom prst="rect">
            <a:avLst/>
          </a:prstGeom>
          <a:noFill/>
        </p:spPr>
        <p:txBody>
          <a:bodyPr wrap="square" lIns="0" rIns="0" tIns="0" bIns="0" anchor="t">
            <a:noAutofit/>
          </a:bodyPr>
          <a:lstStyle/>
          <a:p>
            <a:pPr algn="l">
              <a:lnSpc>
                <a:spcPct val="109000"/>
              </a:lnSpc>
              <a:spcBef>
                <a:spcPts val="0"/>
              </a:spcBef>
              <a:spcAft>
                <a:spcPts val="0"/>
              </a:spcAft>
            </a:pPr>
            <a:r>
              <a:rPr sz="2300" b="1">
                <a:solidFill>
                  <a:srgbClr val="00407A"/>
                </a:solidFill>
                <a:latin typeface="Arial"/>
              </a:rPr>
              <a:t>Every model: 348 dataset requests answered, 5 smoke requests passed,</a:t>
            </a:r>
          </a:p>
          <a:p>
            <a:pPr algn="l">
              <a:lnSpc>
                <a:spcPct val="109000"/>
              </a:lnSpc>
              <a:spcBef>
                <a:spcPts val="0"/>
              </a:spcBef>
              <a:spcAft>
                <a:spcPts val="0"/>
              </a:spcAft>
            </a:pPr>
            <a:r>
              <a:rPr sz="2300" b="1">
                <a:solidFill>
                  <a:srgbClr val="00407A"/>
                </a:solidFill>
                <a:latin typeface="Arial"/>
              </a:rPr>
              <a:t>725 test questions scored, zero HTTP errors and zero missing answers.</a:t>
            </a:r>
          </a:p>
        </p:txBody>
      </p:sp>
      <p:sp>
        <p:nvSpPr>
          <p:cNvPr id="9" name="Rounded Rectangle 8"/>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All runs used the same dataset fingerprint and v1.0 checkpoints. Maximum reported input length: 7,706 tokens.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265176"/>
            <a:ext cx="10561320" cy="237744"/>
          </a:xfrm>
          <a:prstGeom prst="rect">
            <a:avLst/>
          </a:prstGeom>
          <a:noFill/>
        </p:spPr>
        <p:txBody>
          <a:bodyPr wrap="square" lIns="0" rIns="0" tIns="0" bIns="0" anchor="t">
            <a:noAutofit/>
          </a:bodyPr>
          <a:lstStyle/>
          <a:p>
            <a:pPr algn="l">
              <a:lnSpc>
                <a:spcPct val="109000"/>
              </a:lnSpc>
              <a:spcBef>
                <a:spcPts val="0"/>
              </a:spcBef>
              <a:spcAft>
                <a:spcPts val="0"/>
              </a:spcAft>
            </a:pPr>
            <a:r>
              <a:rPr sz="1250" b="1">
                <a:solidFill>
                  <a:srgbClr val="0B5A93"/>
                </a:solidFill>
                <a:latin typeface="Arial"/>
              </a:rPr>
              <a:t>EXPERIMENT 2  •  THREE SOLVED EXAMPLES PER QUESTION</a:t>
            </a:r>
          </a:p>
        </p:txBody>
      </p:sp>
      <p:sp>
        <p:nvSpPr>
          <p:cNvPr id="3" name="TextBox 2"/>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All four Condor runs with examples completed</a:t>
            </a:r>
          </a:p>
        </p:txBody>
      </p:sp>
      <p:sp>
        <p:nvSpPr>
          <p:cNvPr id="4" name="TextBox 3"/>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Observed run times include different hardware and setup costs; they are not a controlled speed ranking.</a:t>
            </a:r>
          </a:p>
        </p:txBody>
      </p:sp>
      <p:sp>
        <p:nvSpPr>
          <p:cNvPr id="5" name="TextBox 4"/>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three examples per question  •  16 October 2026  |  EXECUTION</a:t>
            </a:r>
          </a:p>
        </p:txBody>
      </p:sp>
      <p:sp>
        <p:nvSpPr>
          <p:cNvPr id="6" name="TextBox 5"/>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36</a:t>
            </a:r>
          </a:p>
        </p:txBody>
      </p:sp>
      <p:graphicFrame>
        <p:nvGraphicFramePr>
          <p:cNvPr id="7" name="Table 6"/>
          <p:cNvGraphicFramePr>
            <a:graphicFrameLocks noGrp="1"/>
          </p:cNvGraphicFramePr>
          <p:nvPr/>
        </p:nvGraphicFramePr>
        <p:xfrm>
          <a:off x="813816" y="1901952"/>
          <a:ext cx="10561320" cy="2423156"/>
        </p:xfrm>
        <a:graphic>
          <a:graphicData uri="http://schemas.openxmlformats.org/drawingml/2006/table">
            <a:tbl>
              <a:tblPr firstRow="1" bandRow="1">
                <a:tableStyleId>{5C22544A-7EE6-4342-B048-85BDC9FD1C3A}</a:tableStyleId>
              </a:tblPr>
              <a:tblGrid>
                <a:gridCol w="1371600"/>
                <a:gridCol w="731520"/>
                <a:gridCol w="2880360"/>
                <a:gridCol w="2697480"/>
                <a:gridCol w="2880360"/>
              </a:tblGrid>
              <a:tr h="566928">
                <a:tc>
                  <a:txBody>
                    <a:bodyPr/>
                    <a:lstStyle/>
                    <a:p>
                      <a:pPr algn="l">
                        <a:lnSpc>
                          <a:spcPct val="103000"/>
                        </a:lnSpc>
                        <a:spcBef>
                          <a:spcPts val="0"/>
                        </a:spcBef>
                        <a:spcAft>
                          <a:spcPts val="0"/>
                        </a:spcAft>
                      </a:pPr>
                      <a:r>
                        <a:rPr sz="1600" b="1">
                          <a:solidFill>
                            <a:srgbClr val="FFFFFF"/>
                          </a:solidFill>
                          <a:latin typeface="Arial"/>
                        </a:rPr>
                        <a:t>Model</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Job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GPU used</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Job time</a:t>
                      </a:r>
                    </a:p>
                    <a:p>
                      <a:pPr algn="ctr">
                        <a:lnSpc>
                          <a:spcPct val="103000"/>
                        </a:lnSpc>
                        <a:spcBef>
                          <a:spcPts val="0"/>
                        </a:spcBef>
                        <a:spcAft>
                          <a:spcPts val="0"/>
                        </a:spcAft>
                      </a:pPr>
                      <a:r>
                        <a:rPr sz="1600" b="1">
                          <a:solidFill>
                            <a:srgbClr val="FFFFFF"/>
                          </a:solidFill>
                          <a:latin typeface="Arial"/>
                        </a:rPr>
                        <a:t>including setup</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Median model</a:t>
                      </a:r>
                    </a:p>
                    <a:p>
                      <a:pPr algn="ctr">
                        <a:lnSpc>
                          <a:spcPct val="103000"/>
                        </a:lnSpc>
                        <a:spcBef>
                          <a:spcPts val="0"/>
                        </a:spcBef>
                        <a:spcAft>
                          <a:spcPts val="0"/>
                        </a:spcAft>
                      </a:pPr>
                      <a:r>
                        <a:rPr sz="1600" b="1">
                          <a:solidFill>
                            <a:srgbClr val="FFFFFF"/>
                          </a:solidFill>
                          <a:latin typeface="Arial"/>
                        </a:rPr>
                        <a:t>time per request</a:t>
                      </a:r>
                    </a:p>
                  </a:txBody>
                  <a:tcPr marL="109728" marR="91440" marT="54864" marB="36576" anchor="ctr">
                    <a:solidFill>
                      <a:srgbClr val="00407A"/>
                    </a:solidFill>
                    <a:lnL>
                      <a:noFill/>
                    </a:lnL>
                    <a:lnR>
                      <a:noFill/>
                    </a:lnR>
                    <a:lnT>
                      <a:noFill/>
                    </a:lnT>
                    <a:lnB>
                      <a:noFill/>
                    </a:lnB>
                  </a:tcPr>
                </a:tc>
              </a:tr>
              <a:tr h="464057">
                <a:tc>
                  <a:txBody>
                    <a:bodyPr/>
                    <a:lstStyle/>
                    <a:p>
                      <a:pPr algn="l">
                        <a:lnSpc>
                          <a:spcPct val="103000"/>
                        </a:lnSpc>
                        <a:spcBef>
                          <a:spcPts val="0"/>
                        </a:spcBef>
                        <a:spcAft>
                          <a:spcPts val="0"/>
                        </a:spcAft>
                      </a:pPr>
                      <a:r>
                        <a:rPr sz="2100" b="0">
                          <a:solidFill>
                            <a:srgbClr val="00407A"/>
                          </a:solidFill>
                          <a:latin typeface="Arial"/>
                        </a:rPr>
                        <a:t>KEV-0.8B</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8.0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RTX 5060 Ti</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276 s</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179 ms</a:t>
                      </a:r>
                    </a:p>
                  </a:txBody>
                  <a:tcPr marL="109728" marR="91440" marT="54864" marB="36576" anchor="ctr">
                    <a:solidFill>
                      <a:srgbClr val="E3EFF5"/>
                    </a:solidFill>
                    <a:lnL>
                      <a:noFill/>
                    </a:lnL>
                    <a:lnR>
                      <a:noFill/>
                    </a:lnR>
                    <a:lnT>
                      <a:noFill/>
                    </a:lnT>
                    <a:lnB>
                      <a:noFill/>
                    </a:lnB>
                  </a:tcPr>
                </a:tc>
              </a:tr>
              <a:tr h="464057">
                <a:tc>
                  <a:txBody>
                    <a:bodyPr/>
                    <a:lstStyle/>
                    <a:p>
                      <a:pPr algn="l">
                        <a:lnSpc>
                          <a:spcPct val="103000"/>
                        </a:lnSpc>
                        <a:spcBef>
                          <a:spcPts val="0"/>
                        </a:spcBef>
                        <a:spcAft>
                          <a:spcPts val="0"/>
                        </a:spcAft>
                      </a:pPr>
                      <a:r>
                        <a:rPr sz="2100" b="0">
                          <a:solidFill>
                            <a:srgbClr val="00407A"/>
                          </a:solidFill>
                          <a:latin typeface="Arial"/>
                        </a:rPr>
                        <a:t>KEV-4B</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9.0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RTX 3090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599 s</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555 ms</a:t>
                      </a:r>
                    </a:p>
                  </a:txBody>
                  <a:tcPr marL="109728" marR="91440" marT="54864" marB="36576" anchor="ctr">
                    <a:solidFill>
                      <a:srgbClr val="FFFFFF"/>
                    </a:solidFill>
                    <a:lnL>
                      <a:noFill/>
                    </a:lnL>
                    <a:lnR>
                      <a:noFill/>
                    </a:lnR>
                    <a:lnT>
                      <a:noFill/>
                    </a:lnT>
                    <a:lnB>
                      <a:noFill/>
                    </a:lnB>
                  </a:tcPr>
                </a:tc>
              </a:tr>
              <a:tr h="464057">
                <a:tc>
                  <a:txBody>
                    <a:bodyPr/>
                    <a:lstStyle/>
                    <a:p>
                      <a:pPr algn="l">
                        <a:lnSpc>
                          <a:spcPct val="103000"/>
                        </a:lnSpc>
                        <a:spcBef>
                          <a:spcPts val="0"/>
                        </a:spcBef>
                        <a:spcAft>
                          <a:spcPts val="0"/>
                        </a:spcAft>
                      </a:pPr>
                      <a:r>
                        <a:rPr sz="2100" b="0">
                          <a:solidFill>
                            <a:srgbClr val="00407A"/>
                          </a:solidFill>
                          <a:latin typeface="Arial"/>
                        </a:rPr>
                        <a:t>KEV-9B</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10.0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RTX PRO 5000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418 s</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301 ms</a:t>
                      </a:r>
                    </a:p>
                  </a:txBody>
                  <a:tcPr marL="109728" marR="91440" marT="54864" marB="36576" anchor="ctr">
                    <a:solidFill>
                      <a:srgbClr val="E3EFF5"/>
                    </a:solidFill>
                    <a:lnL>
                      <a:noFill/>
                    </a:lnL>
                    <a:lnR>
                      <a:noFill/>
                    </a:lnR>
                    <a:lnT>
                      <a:noFill/>
                    </a:lnT>
                    <a:lnB>
                      <a:noFill/>
                    </a:lnB>
                  </a:tcPr>
                </a:tc>
              </a:tr>
              <a:tr h="464057">
                <a:tc>
                  <a:txBody>
                    <a:bodyPr/>
                    <a:lstStyle/>
                    <a:p>
                      <a:pPr algn="l">
                        <a:lnSpc>
                          <a:spcPct val="103000"/>
                        </a:lnSpc>
                        <a:spcBef>
                          <a:spcPts val="0"/>
                        </a:spcBef>
                        <a:spcAft>
                          <a:spcPts val="0"/>
                        </a:spcAft>
                      </a:pPr>
                      <a:r>
                        <a:rPr sz="2100" b="0">
                          <a:solidFill>
                            <a:srgbClr val="00407A"/>
                          </a:solidFill>
                          <a:latin typeface="Arial"/>
                        </a:rPr>
                        <a:t>KEV-27B</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11.0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A100 80 GB</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1074 s</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1062 ms</a:t>
                      </a:r>
                    </a:p>
                  </a:txBody>
                  <a:tcPr marL="109728" marR="91440" marT="54864" marB="36576" anchor="ctr">
                    <a:solidFill>
                      <a:srgbClr val="FFFFFF"/>
                    </a:solidFill>
                    <a:lnL>
                      <a:noFill/>
                    </a:lnL>
                    <a:lnR>
                      <a:noFill/>
                    </a:lnR>
                    <a:lnT>
                      <a:noFill/>
                    </a:lnT>
                    <a:lnB>
                      <a:noFill/>
                    </a:lnB>
                  </a:tcPr>
                </a:tc>
              </a:tr>
            </a:tbl>
          </a:graphicData>
        </a:graphic>
      </p:graphicFrame>
      <p:sp>
        <p:nvSpPr>
          <p:cNvPr id="8" name="TextBox 7"/>
          <p:cNvSpPr txBox="1"/>
          <p:nvPr/>
        </p:nvSpPr>
        <p:spPr>
          <a:xfrm>
            <a:off x="987552" y="4645152"/>
            <a:ext cx="10149840" cy="822960"/>
          </a:xfrm>
          <a:prstGeom prst="rect">
            <a:avLst/>
          </a:prstGeom>
          <a:noFill/>
        </p:spPr>
        <p:txBody>
          <a:bodyPr wrap="square" lIns="0" rIns="0" tIns="0" bIns="0" anchor="t">
            <a:noAutofit/>
          </a:bodyPr>
          <a:lstStyle/>
          <a:p>
            <a:pPr algn="l">
              <a:lnSpc>
                <a:spcPct val="109000"/>
              </a:lnSpc>
              <a:spcBef>
                <a:spcPts val="0"/>
              </a:spcBef>
              <a:spcAft>
                <a:spcPts val="0"/>
              </a:spcAft>
            </a:pPr>
            <a:r>
              <a:rPr sz="2300" b="1">
                <a:solidFill>
                  <a:srgbClr val="00407A"/>
                </a:solidFill>
                <a:latin typeface="Arial"/>
              </a:rPr>
              <a:t>Every model: 725 requests answered, 11 smoke requests passed,</a:t>
            </a:r>
          </a:p>
          <a:p>
            <a:pPr algn="l">
              <a:lnSpc>
                <a:spcPct val="109000"/>
              </a:lnSpc>
              <a:spcBef>
                <a:spcPts val="0"/>
              </a:spcBef>
              <a:spcAft>
                <a:spcPts val="0"/>
              </a:spcAft>
            </a:pPr>
            <a:r>
              <a:rPr sz="2300" b="1">
                <a:solidFill>
                  <a:srgbClr val="00407A"/>
                </a:solidFill>
                <a:latin typeface="Arial"/>
              </a:rPr>
              <a:t>725 test questions scored, zero HTTP errors and zero missing answers.</a:t>
            </a:r>
          </a:p>
        </p:txBody>
      </p:sp>
      <p:sp>
        <p:nvSpPr>
          <p:cNvPr id="9" name="Rounded Rectangle 8"/>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Maximum input: 8,607 tokens. 3 requests exceed 8,192, the validated context of 0.8B, 4B and 9B.</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265176"/>
            <a:ext cx="10561320" cy="237744"/>
          </a:xfrm>
          <a:prstGeom prst="rect">
            <a:avLst/>
          </a:prstGeom>
          <a:noFill/>
        </p:spPr>
        <p:txBody>
          <a:bodyPr wrap="square" lIns="0" rIns="0" tIns="0" bIns="0" anchor="t">
            <a:noAutofit/>
          </a:bodyPr>
          <a:lstStyle/>
          <a:p>
            <a:pPr algn="l">
              <a:lnSpc>
                <a:spcPct val="109000"/>
              </a:lnSpc>
              <a:spcBef>
                <a:spcPts val="0"/>
              </a:spcBef>
              <a:spcAft>
                <a:spcPts val="0"/>
              </a:spcAft>
            </a:pPr>
            <a:r>
              <a:rPr sz="1250" b="1">
                <a:solidFill>
                  <a:srgbClr val="4A5A66"/>
                </a:solidFill>
                <a:latin typeface="Arial"/>
              </a:rPr>
              <a:t>EXPERIMENT 1  •  NO EXAMPLES</a:t>
            </a:r>
          </a:p>
        </p:txBody>
      </p:sp>
      <p:sp>
        <p:nvSpPr>
          <p:cNvPr id="3" name="TextBox 2"/>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What the evidence supports—and what needs work</a:t>
            </a:r>
          </a:p>
        </p:txBody>
      </p:sp>
      <p:sp>
        <p:nvSpPr>
          <p:cNvPr id="4" name="TextBox 3"/>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These are observations on dataset v1, not a guarantee for unseen design families.</a:t>
            </a:r>
          </a:p>
        </p:txBody>
      </p:sp>
      <p:sp>
        <p:nvSpPr>
          <p:cNvPr id="5" name="TextBox 4"/>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INTERPRETATION</a:t>
            </a:r>
          </a:p>
        </p:txBody>
      </p:sp>
      <p:sp>
        <p:nvSpPr>
          <p:cNvPr id="6" name="TextBox 5"/>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37</a:t>
            </a:r>
          </a:p>
        </p:txBody>
      </p:sp>
      <p:sp>
        <p:nvSpPr>
          <p:cNvPr id="7" name="Rounded Rectangle 6"/>
          <p:cNvSpPr/>
          <p:nvPr/>
        </p:nvSpPr>
        <p:spPr>
          <a:xfrm>
            <a:off x="813816" y="1828800"/>
            <a:ext cx="5166360" cy="361188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13816" y="1828800"/>
            <a:ext cx="5166360" cy="41148"/>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42416" y="2057400"/>
            <a:ext cx="4709160" cy="658368"/>
          </a:xfrm>
          <a:prstGeom prst="rect">
            <a:avLst/>
          </a:prstGeom>
          <a:noFill/>
        </p:spPr>
        <p:txBody>
          <a:bodyPr wrap="square" lIns="0" rIns="0" tIns="0" bIns="0" anchor="t">
            <a:noAutofit/>
          </a:bodyPr>
          <a:lstStyle/>
          <a:p>
            <a:pPr algn="l">
              <a:lnSpc>
                <a:spcPct val="109000"/>
              </a:lnSpc>
              <a:spcBef>
                <a:spcPts val="0"/>
              </a:spcBef>
              <a:spcAft>
                <a:spcPts val="0"/>
              </a:spcAft>
            </a:pPr>
            <a:r>
              <a:rPr sz="2100" b="1">
                <a:solidFill>
                  <a:srgbClr val="00407A"/>
                </a:solidFill>
                <a:latin typeface="Arial"/>
              </a:rPr>
              <a:t>Promising in this test</a:t>
            </a:r>
          </a:p>
        </p:txBody>
      </p:sp>
      <p:sp>
        <p:nvSpPr>
          <p:cNvPr id="10" name="TextBox 9"/>
          <p:cNvSpPr txBox="1"/>
          <p:nvPr/>
        </p:nvSpPr>
        <p:spPr>
          <a:xfrm>
            <a:off x="1042416" y="2834640"/>
            <a:ext cx="4709160" cy="2423160"/>
          </a:xfrm>
          <a:prstGeom prst="rect">
            <a:avLst/>
          </a:prstGeom>
          <a:noFill/>
        </p:spPr>
        <p:txBody>
          <a:bodyPr wrap="square" lIns="0" rIns="0" tIns="0" bIns="0" anchor="t">
            <a:noAutofit/>
          </a:bodyPr>
          <a:lstStyle/>
          <a:p>
            <a:pPr algn="l">
              <a:lnSpc>
                <a:spcPct val="109000"/>
              </a:lnSpc>
              <a:spcBef>
                <a:spcPts val="0"/>
              </a:spcBef>
              <a:spcAft>
                <a:spcPts val="0"/>
              </a:spcAft>
            </a:pPr>
            <a:r>
              <a:rPr sz="2000" b="0">
                <a:solidFill>
                  <a:srgbClr val="00407A"/>
                </a:solidFill>
                <a:latin typeface="Arial"/>
              </a:rPr>
              <a:t>27B: source-compilation screening.</a:t>
            </a:r>
          </a:p>
          <a:p>
            <a:pPr algn="l">
              <a:lnSpc>
                <a:spcPct val="109000"/>
              </a:lnSpc>
              <a:spcBef>
                <a:spcPts val="0"/>
              </a:spcBef>
              <a:spcAft>
                <a:spcPts val="0"/>
              </a:spcAft>
            </a:pPr>
            <a:r>
              <a:rPr sz="2000" b="0">
                <a:solidFill>
                  <a:srgbClr val="00407A"/>
                </a:solidFill>
                <a:latin typeface="Arial"/>
              </a:rPr>
              <a:t>27B: failure reasons when failure is known.</a:t>
            </a:r>
          </a:p>
          <a:p>
            <a:pPr algn="l">
              <a:lnSpc>
                <a:spcPct val="109000"/>
              </a:lnSpc>
              <a:spcBef>
                <a:spcPts val="0"/>
              </a:spcBef>
              <a:spcAft>
                <a:spcPts val="0"/>
              </a:spcAft>
            </a:pPr>
            <a:r>
              <a:rPr sz="2000" b="0">
                <a:solidFill>
                  <a:srgbClr val="00407A"/>
                </a:solidFill>
                <a:latin typeface="Arial"/>
              </a:rPr>
              <a:t>27B: coarse area levels.</a:t>
            </a:r>
          </a:p>
          <a:p>
            <a:pPr algn="l">
              <a:lnSpc>
                <a:spcPct val="109000"/>
              </a:lnSpc>
              <a:spcBef>
                <a:spcPts val="0"/>
              </a:spcBef>
              <a:spcAft>
                <a:spcPts val="0"/>
              </a:spcAft>
            </a:pPr>
            <a:r>
              <a:rPr sz="2000" b="0">
                <a:solidFill>
                  <a:srgbClr val="00407A"/>
                </a:solidFill>
                <a:latin typeface="Arial"/>
              </a:rPr>
              <a:t>9B: pairwise area ranking.</a:t>
            </a:r>
          </a:p>
          <a:p>
            <a:pPr algn="l">
              <a:lnSpc>
                <a:spcPct val="109000"/>
              </a:lnSpc>
              <a:spcBef>
                <a:spcPts val="0"/>
              </a:spcBef>
              <a:spcAft>
                <a:spcPts val="0"/>
              </a:spcAft>
            </a:pPr>
            <a:r>
              <a:rPr sz="2000" b="0">
                <a:solidFill>
                  <a:srgbClr val="00407A"/>
                </a:solidFill>
                <a:latin typeface="Arial"/>
              </a:rPr>
              <a:t>27B: pairwise power ranking.</a:t>
            </a:r>
          </a:p>
        </p:txBody>
      </p:sp>
      <p:sp>
        <p:nvSpPr>
          <p:cNvPr id="11" name="Rounded Rectangle 10"/>
          <p:cNvSpPr/>
          <p:nvPr/>
        </p:nvSpPr>
        <p:spPr>
          <a:xfrm>
            <a:off x="6208776" y="1828800"/>
            <a:ext cx="5166360" cy="361188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08776" y="1828800"/>
            <a:ext cx="516636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37376" y="2057400"/>
            <a:ext cx="4709160" cy="658368"/>
          </a:xfrm>
          <a:prstGeom prst="rect">
            <a:avLst/>
          </a:prstGeom>
          <a:noFill/>
        </p:spPr>
        <p:txBody>
          <a:bodyPr wrap="square" lIns="0" rIns="0" tIns="0" bIns="0" anchor="t">
            <a:noAutofit/>
          </a:bodyPr>
          <a:lstStyle/>
          <a:p>
            <a:pPr algn="l">
              <a:lnSpc>
                <a:spcPct val="109000"/>
              </a:lnSpc>
              <a:spcBef>
                <a:spcPts val="0"/>
              </a:spcBef>
              <a:spcAft>
                <a:spcPts val="0"/>
              </a:spcAft>
            </a:pPr>
            <a:r>
              <a:rPr sz="2100" b="1">
                <a:solidFill>
                  <a:srgbClr val="00407A"/>
                </a:solidFill>
                <a:latin typeface="Arial"/>
              </a:rPr>
              <a:t>Next experiments</a:t>
            </a:r>
          </a:p>
        </p:txBody>
      </p:sp>
      <p:sp>
        <p:nvSpPr>
          <p:cNvPr id="14" name="TextBox 13"/>
          <p:cNvSpPr txBox="1"/>
          <p:nvPr/>
        </p:nvSpPr>
        <p:spPr>
          <a:xfrm>
            <a:off x="6437376" y="2834640"/>
            <a:ext cx="4709160" cy="2423160"/>
          </a:xfrm>
          <a:prstGeom prst="rect">
            <a:avLst/>
          </a:prstGeom>
          <a:noFill/>
        </p:spPr>
        <p:txBody>
          <a:bodyPr wrap="square" lIns="0" rIns="0" tIns="0" bIns="0" anchor="t">
            <a:noAutofit/>
          </a:bodyPr>
          <a:lstStyle/>
          <a:p>
            <a:pPr algn="l">
              <a:lnSpc>
                <a:spcPct val="109000"/>
              </a:lnSpc>
              <a:spcBef>
                <a:spcPts val="0"/>
              </a:spcBef>
              <a:spcAft>
                <a:spcPts val="0"/>
              </a:spcAft>
            </a:pPr>
            <a:r>
              <a:rPr sz="1800" b="0">
                <a:solidFill>
                  <a:srgbClr val="00407A"/>
                </a:solidFill>
                <a:latin typeface="Arial"/>
              </a:rPr>
              <a:t>Choose binary thresholds on development data.</a:t>
            </a:r>
          </a:p>
          <a:p>
            <a:pPr algn="l">
              <a:lnSpc>
                <a:spcPct val="109000"/>
              </a:lnSpc>
              <a:spcBef>
                <a:spcPts val="0"/>
              </a:spcBef>
              <a:spcAft>
                <a:spcPts val="0"/>
              </a:spcAft>
            </a:pPr>
            <a:r>
              <a:rPr sz="1800" b="0">
                <a:solidFill>
                  <a:srgbClr val="00407A"/>
                </a:solidFill>
                <a:latin typeface="Arial"/>
              </a:rPr>
              <a:t>Expand synthesis failures and rare classes.</a:t>
            </a:r>
          </a:p>
          <a:p>
            <a:pPr algn="l">
              <a:lnSpc>
                <a:spcPct val="109000"/>
              </a:lnSpc>
              <a:spcBef>
                <a:spcPts val="0"/>
              </a:spcBef>
              <a:spcAft>
                <a:spcPts val="0"/>
              </a:spcAft>
            </a:pPr>
            <a:r>
              <a:rPr sz="1800" b="0">
                <a:solidFill>
                  <a:srgbClr val="00407A"/>
                </a:solidFill>
                <a:latin typeface="Arial"/>
              </a:rPr>
              <a:t>Add designs that miss the timing target.</a:t>
            </a:r>
          </a:p>
          <a:p>
            <a:pPr algn="l">
              <a:lnSpc>
                <a:spcPct val="109000"/>
              </a:lnSpc>
              <a:spcBef>
                <a:spcPts val="0"/>
              </a:spcBef>
              <a:spcAft>
                <a:spcPts val="0"/>
              </a:spcAft>
            </a:pPr>
            <a:r>
              <a:rPr sz="1800" b="0">
                <a:solidFill>
                  <a:srgbClr val="00407A"/>
                </a:solidFill>
                <a:latin typeface="Arial"/>
              </a:rPr>
              <a:t>Check power and timing across design groups.</a:t>
            </a:r>
          </a:p>
          <a:p>
            <a:pPr algn="l">
              <a:lnSpc>
                <a:spcPct val="109000"/>
              </a:lnSpc>
              <a:spcBef>
                <a:spcPts val="0"/>
              </a:spcBef>
              <a:spcAft>
                <a:spcPts val="0"/>
              </a:spcAft>
            </a:pPr>
            <a:r>
              <a:rPr sz="1800" b="0">
                <a:solidFill>
                  <a:srgbClr val="00407A"/>
                </a:solidFill>
                <a:latin typeface="Arial"/>
              </a:rPr>
              <a:t>Compare other models under the same protocol.</a:t>
            </a:r>
          </a:p>
        </p:txBody>
      </p:sp>
      <p:sp>
        <p:nvSpPr>
          <p:cNvPr id="15" name="Rounded Rectangle 14"/>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Keep tool verification in the loop. Reliable synthesis-failure screening is not established by these scores.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265176"/>
            <a:ext cx="10561320" cy="237744"/>
          </a:xfrm>
          <a:prstGeom prst="rect">
            <a:avLst/>
          </a:prstGeom>
          <a:noFill/>
        </p:spPr>
        <p:txBody>
          <a:bodyPr wrap="square" lIns="0" rIns="0" tIns="0" bIns="0" anchor="t">
            <a:noAutofit/>
          </a:bodyPr>
          <a:lstStyle/>
          <a:p>
            <a:pPr algn="l">
              <a:lnSpc>
                <a:spcPct val="109000"/>
              </a:lnSpc>
              <a:spcBef>
                <a:spcPts val="0"/>
              </a:spcBef>
              <a:spcAft>
                <a:spcPts val="0"/>
              </a:spcAft>
            </a:pPr>
            <a:r>
              <a:rPr sz="1250" b="1">
                <a:solidFill>
                  <a:srgbClr val="0B5A93"/>
                </a:solidFill>
                <a:latin typeface="Arial"/>
              </a:rPr>
              <a:t>EXPERIMENT 2  •  THREE SOLVED EXAMPLES PER QUESTION</a:t>
            </a:r>
          </a:p>
        </p:txBody>
      </p:sp>
      <p:sp>
        <p:nvSpPr>
          <p:cNvPr id="3" name="TextBox 2"/>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What the examples support, and what needs work</a:t>
            </a:r>
          </a:p>
        </p:txBody>
      </p:sp>
      <p:sp>
        <p:nvSpPr>
          <p:cNvPr id="4" name="TextBox 3"/>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Observations on one fixed example set; other example sets can give other results.</a:t>
            </a:r>
          </a:p>
        </p:txBody>
      </p:sp>
      <p:sp>
        <p:nvSpPr>
          <p:cNvPr id="5" name="TextBox 4"/>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three examples per question  •  16 October 2026  |  INTERPRETATION</a:t>
            </a:r>
          </a:p>
        </p:txBody>
      </p:sp>
      <p:sp>
        <p:nvSpPr>
          <p:cNvPr id="6" name="TextBox 5"/>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38</a:t>
            </a:r>
          </a:p>
        </p:txBody>
      </p:sp>
      <p:sp>
        <p:nvSpPr>
          <p:cNvPr id="7" name="Rounded Rectangle 6"/>
          <p:cNvSpPr/>
          <p:nvPr/>
        </p:nvSpPr>
        <p:spPr>
          <a:xfrm>
            <a:off x="813816" y="1828800"/>
            <a:ext cx="5166360" cy="361188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13816" y="1828800"/>
            <a:ext cx="5166360" cy="41148"/>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42416" y="2057400"/>
            <a:ext cx="4709160" cy="658368"/>
          </a:xfrm>
          <a:prstGeom prst="rect">
            <a:avLst/>
          </a:prstGeom>
          <a:noFill/>
        </p:spPr>
        <p:txBody>
          <a:bodyPr wrap="square" lIns="0" rIns="0" tIns="0" bIns="0" anchor="t">
            <a:noAutofit/>
          </a:bodyPr>
          <a:lstStyle/>
          <a:p>
            <a:pPr algn="l">
              <a:lnSpc>
                <a:spcPct val="109000"/>
              </a:lnSpc>
              <a:spcBef>
                <a:spcPts val="0"/>
              </a:spcBef>
              <a:spcAft>
                <a:spcPts val="0"/>
              </a:spcAft>
            </a:pPr>
            <a:r>
              <a:rPr sz="2100" b="1">
                <a:solidFill>
                  <a:srgbClr val="00407A"/>
                </a:solidFill>
                <a:latin typeface="Arial"/>
              </a:rPr>
              <a:t>Promising with examples</a:t>
            </a:r>
          </a:p>
        </p:txBody>
      </p:sp>
      <p:sp>
        <p:nvSpPr>
          <p:cNvPr id="10" name="TextBox 9"/>
          <p:cNvSpPr txBox="1"/>
          <p:nvPr/>
        </p:nvSpPr>
        <p:spPr>
          <a:xfrm>
            <a:off x="1042416" y="2834640"/>
            <a:ext cx="4709160" cy="2423160"/>
          </a:xfrm>
          <a:prstGeom prst="rect">
            <a:avLst/>
          </a:prstGeom>
          <a:noFill/>
        </p:spPr>
        <p:txBody>
          <a:bodyPr wrap="square" lIns="0" rIns="0" tIns="0" bIns="0" anchor="t">
            <a:noAutofit/>
          </a:bodyPr>
          <a:lstStyle/>
          <a:p>
            <a:pPr algn="l">
              <a:lnSpc>
                <a:spcPct val="109000"/>
              </a:lnSpc>
              <a:spcBef>
                <a:spcPts val="0"/>
              </a:spcBef>
              <a:spcAft>
                <a:spcPts val="0"/>
              </a:spcAft>
            </a:pPr>
            <a:r>
              <a:rPr sz="1900" b="0">
                <a:solidFill>
                  <a:srgbClr val="00407A"/>
                </a:solidFill>
                <a:latin typeface="Arial"/>
              </a:rPr>
              <a:t>27B: synthesis failures, 12 of 24 (4).</a:t>
            </a:r>
          </a:p>
          <a:p>
            <a:pPr algn="l">
              <a:lnSpc>
                <a:spcPct val="109000"/>
              </a:lnSpc>
              <a:spcBef>
                <a:spcPts val="0"/>
              </a:spcBef>
              <a:spcAft>
                <a:spcPts val="0"/>
              </a:spcAft>
            </a:pPr>
            <a:r>
              <a:rPr sz="1900" b="0">
                <a:solidFill>
                  <a:srgbClr val="00407A"/>
                </a:solidFill>
                <a:latin typeface="Arial"/>
              </a:rPr>
              <a:t>27B: power levels, 36 of 85 (9).</a:t>
            </a:r>
          </a:p>
          <a:p>
            <a:pPr algn="l">
              <a:lnSpc>
                <a:spcPct val="109000"/>
              </a:lnSpc>
              <a:spcBef>
                <a:spcPts val="0"/>
              </a:spcBef>
              <a:spcAft>
                <a:spcPts val="0"/>
              </a:spcAft>
            </a:pPr>
            <a:r>
              <a:rPr sz="1900" b="0">
                <a:solidFill>
                  <a:srgbClr val="00407A"/>
                </a:solidFill>
                <a:latin typeface="Arial"/>
              </a:rPr>
              <a:t>27B: area pairs right in both orders,</a:t>
            </a:r>
          </a:p>
          <a:p>
            <a:pPr algn="l">
              <a:lnSpc>
                <a:spcPct val="109000"/>
              </a:lnSpc>
              <a:spcBef>
                <a:spcPts val="0"/>
              </a:spcBef>
              <a:spcAft>
                <a:spcPts val="0"/>
              </a:spcAft>
            </a:pPr>
            <a:r>
              <a:rPr sz="1900" b="0">
                <a:solidFill>
                  <a:srgbClr val="00407A"/>
                </a:solidFill>
                <a:latin typeface="Arial"/>
              </a:rPr>
              <a:t>20 of 23 (17).</a:t>
            </a:r>
          </a:p>
          <a:p>
            <a:pPr algn="l">
              <a:lnSpc>
                <a:spcPct val="109000"/>
              </a:lnSpc>
              <a:spcBef>
                <a:spcPts val="0"/>
              </a:spcBef>
              <a:spcAft>
                <a:spcPts val="0"/>
              </a:spcAft>
            </a:pPr>
            <a:r>
              <a:rPr sz="1900" b="0">
                <a:solidFill>
                  <a:srgbClr val="00407A"/>
                </a:solidFill>
                <a:latin typeface="Arial"/>
              </a:rPr>
              <a:t/>
            </a:r>
          </a:p>
          <a:p>
            <a:pPr algn="l">
              <a:lnSpc>
                <a:spcPct val="109000"/>
              </a:lnSpc>
              <a:spcBef>
                <a:spcPts val="0"/>
              </a:spcBef>
              <a:spcAft>
                <a:spcPts val="0"/>
              </a:spcAft>
            </a:pPr>
            <a:r>
              <a:rPr sz="1900" b="0">
                <a:solidFill>
                  <a:srgbClr val="00407A"/>
                </a:solidFill>
                <a:latin typeface="Arial"/>
              </a:rPr>
              <a:t>(…) = without examples</a:t>
            </a:r>
          </a:p>
        </p:txBody>
      </p:sp>
      <p:sp>
        <p:nvSpPr>
          <p:cNvPr id="11" name="Rounded Rectangle 10"/>
          <p:cNvSpPr/>
          <p:nvPr/>
        </p:nvSpPr>
        <p:spPr>
          <a:xfrm>
            <a:off x="6208776" y="1828800"/>
            <a:ext cx="5166360" cy="361188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08776" y="1828800"/>
            <a:ext cx="516636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37376" y="2057400"/>
            <a:ext cx="4709160" cy="658368"/>
          </a:xfrm>
          <a:prstGeom prst="rect">
            <a:avLst/>
          </a:prstGeom>
          <a:noFill/>
        </p:spPr>
        <p:txBody>
          <a:bodyPr wrap="square" lIns="0" rIns="0" tIns="0" bIns="0" anchor="t">
            <a:noAutofit/>
          </a:bodyPr>
          <a:lstStyle/>
          <a:p>
            <a:pPr algn="l">
              <a:lnSpc>
                <a:spcPct val="109000"/>
              </a:lnSpc>
              <a:spcBef>
                <a:spcPts val="0"/>
              </a:spcBef>
              <a:spcAft>
                <a:spcPts val="0"/>
              </a:spcAft>
            </a:pPr>
            <a:r>
              <a:rPr sz="2100" b="1">
                <a:solidFill>
                  <a:srgbClr val="00407A"/>
                </a:solidFill>
                <a:latin typeface="Arial"/>
              </a:rPr>
              <a:t>Next experiments</a:t>
            </a:r>
          </a:p>
        </p:txBody>
      </p:sp>
      <p:sp>
        <p:nvSpPr>
          <p:cNvPr id="14" name="TextBox 13"/>
          <p:cNvSpPr txBox="1"/>
          <p:nvPr/>
        </p:nvSpPr>
        <p:spPr>
          <a:xfrm>
            <a:off x="6437376" y="2834640"/>
            <a:ext cx="4709160" cy="2423160"/>
          </a:xfrm>
          <a:prstGeom prst="rect">
            <a:avLst/>
          </a:prstGeom>
          <a:noFill/>
        </p:spPr>
        <p:txBody>
          <a:bodyPr wrap="square" lIns="0" rIns="0" tIns="0" bIns="0" anchor="t">
            <a:noAutofit/>
          </a:bodyPr>
          <a:lstStyle/>
          <a:p>
            <a:pPr algn="l">
              <a:lnSpc>
                <a:spcPct val="109000"/>
              </a:lnSpc>
              <a:spcBef>
                <a:spcPts val="0"/>
              </a:spcBef>
              <a:spcAft>
                <a:spcPts val="0"/>
              </a:spcAft>
            </a:pPr>
            <a:r>
              <a:rPr sz="1800" b="0">
                <a:solidFill>
                  <a:srgbClr val="00407A"/>
                </a:solidFill>
                <a:latin typeface="Arial"/>
              </a:rPr>
              <a:t>Try other example sets.</a:t>
            </a:r>
          </a:p>
          <a:p>
            <a:pPr algn="l">
              <a:lnSpc>
                <a:spcPct val="109000"/>
              </a:lnSpc>
              <a:spcBef>
                <a:spcPts val="0"/>
              </a:spcBef>
              <a:spcAft>
                <a:spcPts val="0"/>
              </a:spcAft>
            </a:pPr>
            <a:r>
              <a:rPr sz="1800" b="0">
                <a:solidFill>
                  <a:srgbClr val="00407A"/>
                </a:solidFill>
                <a:latin typeface="Arial"/>
              </a:rPr>
              <a:t>Vary the yes/no mix (now 1 yes, 2 no).</a:t>
            </a:r>
          </a:p>
          <a:p>
            <a:pPr algn="l">
              <a:lnSpc>
                <a:spcPct val="109000"/>
              </a:lnSpc>
              <a:spcBef>
                <a:spcPts val="0"/>
              </a:spcBef>
              <a:spcAft>
                <a:spcPts val="0"/>
              </a:spcAft>
            </a:pPr>
            <a:r>
              <a:rPr sz="1800" b="0">
                <a:solidFill>
                  <a:srgbClr val="00407A"/>
                </a:solidFill>
                <a:latin typeface="Arial"/>
              </a:rPr>
              <a:t>Test if an example class causes wrong</a:t>
            </a:r>
          </a:p>
          <a:p>
            <a:pPr algn="l">
              <a:lnSpc>
                <a:spcPct val="109000"/>
              </a:lnSpc>
              <a:spcBef>
                <a:spcPts val="0"/>
              </a:spcBef>
              <a:spcAft>
                <a:spcPts val="0"/>
              </a:spcAft>
            </a:pPr>
            <a:r>
              <a:rPr sz="1800" b="0">
                <a:solidFill>
                  <a:srgbClr val="00407A"/>
                </a:solidFill>
                <a:latin typeface="Arial"/>
              </a:rPr>
              <a:t>answers (event_list: 16 answers, 0 cases).</a:t>
            </a:r>
          </a:p>
          <a:p>
            <a:pPr algn="l">
              <a:lnSpc>
                <a:spcPct val="109000"/>
              </a:lnSpc>
              <a:spcBef>
                <a:spcPts val="0"/>
              </a:spcBef>
              <a:spcAft>
                <a:spcPts val="0"/>
              </a:spcAft>
            </a:pPr>
            <a:r>
              <a:rPr sz="1800" b="0">
                <a:solidFill>
                  <a:srgbClr val="00407A"/>
                </a:solidFill>
                <a:latin typeface="Arial"/>
              </a:rPr>
              <a:t>Try more than three examples.</a:t>
            </a:r>
          </a:p>
        </p:txBody>
      </p:sp>
      <p:sp>
        <p:nvSpPr>
          <p:cNvPr id="15" name="Rounded Rectangle 14"/>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Keep tool verification in the loop: 27B still misses 12 of 24 synthesis failures.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00407A"/>
        </a:solidFill>
        <a:effectLst/>
      </p:bgPr>
    </p:bg>
    <p:spTree>
      <p:nvGrpSpPr>
        <p:cNvPr id="1" name=""/>
        <p:cNvGrpSpPr/>
        <p:nvPr/>
      </p:nvGrpSpPr>
      <p:grpSpPr/>
      <p:sp>
        <p:nvSpPr>
          <p:cNvPr id="2" name="TextBox 1"/>
          <p:cNvSpPr txBox="1"/>
          <p:nvPr/>
        </p:nvSpPr>
        <p:spPr>
          <a:xfrm>
            <a:off x="813816" y="1828800"/>
            <a:ext cx="10241280" cy="365760"/>
          </a:xfrm>
          <a:prstGeom prst="rect">
            <a:avLst/>
          </a:prstGeom>
          <a:noFill/>
        </p:spPr>
        <p:txBody>
          <a:bodyPr wrap="square" lIns="0" rIns="0" tIns="0" bIns="0" anchor="t">
            <a:noAutofit/>
          </a:bodyPr>
          <a:lstStyle/>
          <a:p>
            <a:pPr algn="l">
              <a:lnSpc>
                <a:spcPct val="109000"/>
              </a:lnSpc>
              <a:spcBef>
                <a:spcPts val="0"/>
              </a:spcBef>
              <a:spcAft>
                <a:spcPts val="0"/>
              </a:spcAft>
            </a:pPr>
            <a:r>
              <a:rPr sz="1600" b="1">
                <a:solidFill>
                  <a:srgbClr val="52BDEC"/>
                </a:solidFill>
                <a:latin typeface="Arial"/>
              </a:rPr>
              <a:t>THE DETAIL BEHIND THE NUMBERS</a:t>
            </a:r>
          </a:p>
        </p:txBody>
      </p:sp>
      <p:sp>
        <p:nvSpPr>
          <p:cNvPr id="3" name="TextBox 2"/>
          <p:cNvSpPr txBox="1"/>
          <p:nvPr/>
        </p:nvSpPr>
        <p:spPr>
          <a:xfrm>
            <a:off x="813816" y="2468880"/>
            <a:ext cx="9966960" cy="1508760"/>
          </a:xfrm>
          <a:prstGeom prst="rect">
            <a:avLst/>
          </a:prstGeom>
          <a:noFill/>
        </p:spPr>
        <p:txBody>
          <a:bodyPr wrap="square" lIns="0" rIns="0" tIns="0" bIns="0" anchor="t">
            <a:noAutofit/>
          </a:bodyPr>
          <a:lstStyle/>
          <a:p>
            <a:pPr algn="l">
              <a:lnSpc>
                <a:spcPct val="109000"/>
              </a:lnSpc>
              <a:spcBef>
                <a:spcPts val="0"/>
              </a:spcBef>
              <a:spcAft>
                <a:spcPts val="0"/>
              </a:spcAft>
            </a:pPr>
            <a:r>
              <a:rPr sz="4300" b="1">
                <a:solidFill>
                  <a:srgbClr val="FFFFFF"/>
                </a:solidFill>
                <a:latin typeface="Arial"/>
              </a:rPr>
              <a:t>Full results and</a:t>
            </a:r>
          </a:p>
          <a:p>
            <a:pPr algn="l">
              <a:lnSpc>
                <a:spcPct val="109000"/>
              </a:lnSpc>
              <a:spcBef>
                <a:spcPts val="0"/>
              </a:spcBef>
              <a:spcAft>
                <a:spcPts val="0"/>
              </a:spcAft>
            </a:pPr>
            <a:r>
              <a:rPr sz="4300" b="1">
                <a:solidFill>
                  <a:srgbClr val="FFFFFF"/>
                </a:solidFill>
                <a:latin typeface="Arial"/>
              </a:rPr>
              <a:t>coverage limits</a:t>
            </a:r>
          </a:p>
        </p:txBody>
      </p:sp>
      <p:sp>
        <p:nvSpPr>
          <p:cNvPr id="4" name="TextBox 3"/>
          <p:cNvSpPr txBox="1"/>
          <p:nvPr/>
        </p:nvSpPr>
        <p:spPr>
          <a:xfrm>
            <a:off x="813816" y="4617720"/>
            <a:ext cx="10241280" cy="685800"/>
          </a:xfrm>
          <a:prstGeom prst="rect">
            <a:avLst/>
          </a:prstGeom>
          <a:noFill/>
        </p:spPr>
        <p:txBody>
          <a:bodyPr wrap="square" lIns="0" rIns="0" tIns="0" bIns="0" anchor="t">
            <a:noAutofit/>
          </a:bodyPr>
          <a:lstStyle/>
          <a:p>
            <a:pPr algn="l">
              <a:lnSpc>
                <a:spcPct val="109000"/>
              </a:lnSpc>
              <a:spcBef>
                <a:spcPts val="0"/>
              </a:spcBef>
              <a:spcAft>
                <a:spcPts val="0"/>
              </a:spcAft>
            </a:pPr>
            <a:r>
              <a:rPr sz="2300" b="0">
                <a:solidFill>
                  <a:srgbClr val="BFDDEC"/>
                </a:solidFill>
                <a:latin typeface="Arial"/>
              </a:rPr>
              <a:t>Exact counts, probability metrics, level errors and reproducible evidence</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265176"/>
            <a:ext cx="10561320" cy="237744"/>
          </a:xfrm>
          <a:prstGeom prst="rect">
            <a:avLst/>
          </a:prstGeom>
          <a:noFill/>
        </p:spPr>
        <p:txBody>
          <a:bodyPr wrap="square" lIns="0" rIns="0" tIns="0" bIns="0" anchor="t">
            <a:noAutofit/>
          </a:bodyPr>
          <a:lstStyle/>
          <a:p>
            <a:pPr algn="l">
              <a:lnSpc>
                <a:spcPct val="109000"/>
              </a:lnSpc>
              <a:spcBef>
                <a:spcPts val="0"/>
              </a:spcBef>
              <a:spcAft>
                <a:spcPts val="0"/>
              </a:spcAft>
            </a:pPr>
            <a:r>
              <a:rPr sz="1250" b="1">
                <a:solidFill>
                  <a:srgbClr val="4A5A66"/>
                </a:solidFill>
                <a:latin typeface="Arial"/>
              </a:rPr>
              <a:t>EXPERIMENT 1  •  NO EXAMPLES</a:t>
            </a:r>
          </a:p>
        </p:txBody>
      </p:sp>
      <p:sp>
        <p:nvSpPr>
          <p:cNvPr id="3" name="TextBox 2"/>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Every primary test score</a:t>
            </a:r>
          </a:p>
        </p:txBody>
      </p:sp>
      <p:sp>
        <p:nvSpPr>
          <p:cNvPr id="4" name="TextBox 3"/>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Correct answers (%) • each question has equal weight within its row • higher is better.</a:t>
            </a:r>
          </a:p>
        </p:txBody>
      </p:sp>
      <p:sp>
        <p:nvSpPr>
          <p:cNvPr id="5" name="TextBox 4"/>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APPENDIX</a:t>
            </a:r>
          </a:p>
        </p:txBody>
      </p:sp>
      <p:sp>
        <p:nvSpPr>
          <p:cNvPr id="6" name="TextBox 5"/>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40</a:t>
            </a:r>
          </a:p>
        </p:txBody>
      </p:sp>
      <p:graphicFrame>
        <p:nvGraphicFramePr>
          <p:cNvPr id="7" name="Table 6"/>
          <p:cNvGraphicFramePr>
            <a:graphicFrameLocks noGrp="1"/>
          </p:cNvGraphicFramePr>
          <p:nvPr/>
        </p:nvGraphicFramePr>
        <p:xfrm>
          <a:off x="813816" y="1865376"/>
          <a:ext cx="10561319" cy="4114798"/>
        </p:xfrm>
        <a:graphic>
          <a:graphicData uri="http://schemas.openxmlformats.org/drawingml/2006/table">
            <a:tbl>
              <a:tblPr firstRow="1" bandRow="1">
                <a:tableStyleId>{5C22544A-7EE6-4342-B048-85BDC9FD1C3A}</a:tableStyleId>
              </a:tblPr>
              <a:tblGrid>
                <a:gridCol w="3749039"/>
                <a:gridCol w="1143000"/>
                <a:gridCol w="1417320"/>
                <a:gridCol w="1417320"/>
                <a:gridCol w="1417320"/>
                <a:gridCol w="1417320"/>
              </a:tblGrid>
              <a:tr h="566928">
                <a:tc>
                  <a:txBody>
                    <a:bodyPr/>
                    <a:lstStyle/>
                    <a:p>
                      <a:pPr algn="l">
                        <a:lnSpc>
                          <a:spcPct val="103000"/>
                        </a:lnSpc>
                        <a:spcBef>
                          <a:spcPts val="0"/>
                        </a:spcBef>
                        <a:spcAft>
                          <a:spcPts val="0"/>
                        </a:spcAft>
                      </a:pPr>
                      <a:r>
                        <a:rPr sz="1500" b="1">
                          <a:solidFill>
                            <a:srgbClr val="FFFFFF"/>
                          </a:solidFill>
                          <a:latin typeface="Arial"/>
                        </a:rPr>
                        <a:t>Task</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Questions</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0.8B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4B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9B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27B</a:t>
                      </a:r>
                    </a:p>
                  </a:txBody>
                  <a:tcPr marL="109728" marR="91440" marT="54864" marB="36576" anchor="ctr">
                    <a:solidFill>
                      <a:srgbClr val="00407A"/>
                    </a:solidFill>
                    <a:lnL>
                      <a:noFill/>
                    </a:lnL>
                    <a:lnR>
                      <a:noFill/>
                    </a:lnR>
                    <a:lnT>
                      <a:noFill/>
                    </a:lnT>
                    <a:lnB>
                      <a:noFill/>
                    </a:lnB>
                  </a:tcPr>
                </a:tc>
              </a:tr>
              <a:tr h="354787">
                <a:tc>
                  <a:txBody>
                    <a:bodyPr/>
                    <a:lstStyle/>
                    <a:p>
                      <a:pPr algn="l">
                        <a:lnSpc>
                          <a:spcPct val="103000"/>
                        </a:lnSpc>
                        <a:spcBef>
                          <a:spcPts val="0"/>
                        </a:spcBef>
                        <a:spcAft>
                          <a:spcPts val="0"/>
                        </a:spcAft>
                      </a:pPr>
                      <a:r>
                        <a:rPr sz="1600" b="0">
                          <a:solidFill>
                            <a:srgbClr val="00407A"/>
                          </a:solidFill>
                          <a:latin typeface="Arial"/>
                        </a:rPr>
                        <a:t>Compiles — pooled</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123</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10.6%</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92.7%</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94.3%</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99.2%</a:t>
                      </a:r>
                    </a:p>
                  </a:txBody>
                  <a:tcPr marL="109728" marR="91440" marT="54864" marB="36576" anchor="ctr">
                    <a:solidFill>
                      <a:srgbClr val="E3EFF5"/>
                    </a:solidFill>
                    <a:lnL>
                      <a:noFill/>
                    </a:lnL>
                    <a:lnR>
                      <a:noFill/>
                    </a:lnR>
                    <a:lnT>
                      <a:noFill/>
                    </a:lnT>
                    <a:lnB>
                      <a:noFill/>
                    </a:lnB>
                  </a:tcPr>
                </a:tc>
              </a:tr>
              <a:tr h="354787">
                <a:tc>
                  <a:txBody>
                    <a:bodyPr/>
                    <a:lstStyle/>
                    <a:p>
                      <a:pPr algn="l">
                        <a:lnSpc>
                          <a:spcPct val="103000"/>
                        </a:lnSpc>
                        <a:spcBef>
                          <a:spcPts val="0"/>
                        </a:spcBef>
                        <a:spcAft>
                          <a:spcPts val="0"/>
                        </a:spcAft>
                      </a:pPr>
                      <a:r>
                        <a:rPr sz="1600" b="0">
                          <a:solidFill>
                            <a:srgbClr val="00407A"/>
                          </a:solidFill>
                          <a:latin typeface="Arial"/>
                        </a:rPr>
                        <a:t>Synthesizes — pooled</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123</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80.5%</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79.7%</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80.5%</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82.9%</a:t>
                      </a:r>
                    </a:p>
                  </a:txBody>
                  <a:tcPr marL="109728" marR="91440" marT="54864" marB="36576" anchor="ctr">
                    <a:solidFill>
                      <a:srgbClr val="FFFFFF"/>
                    </a:solidFill>
                    <a:lnL>
                      <a:noFill/>
                    </a:lnL>
                    <a:lnR>
                      <a:noFill/>
                    </a:lnR>
                    <a:lnT>
                      <a:noFill/>
                    </a:lnT>
                    <a:lnB>
                      <a:noFill/>
                    </a:lnB>
                  </a:tcPr>
                </a:tc>
              </a:tr>
              <a:tr h="354787">
                <a:tc>
                  <a:txBody>
                    <a:bodyPr/>
                    <a:lstStyle/>
                    <a:p>
                      <a:pPr algn="l">
                        <a:lnSpc>
                          <a:spcPct val="103000"/>
                        </a:lnSpc>
                        <a:spcBef>
                          <a:spcPts val="0"/>
                        </a:spcBef>
                        <a:spcAft>
                          <a:spcPts val="0"/>
                        </a:spcAft>
                      </a:pPr>
                      <a:r>
                        <a:rPr sz="1600" b="0">
                          <a:solidFill>
                            <a:srgbClr val="00407A"/>
                          </a:solidFill>
                          <a:latin typeface="Arial"/>
                        </a:rPr>
                        <a:t>Failure reason — known failure</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16</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31.3%</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56.3%</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68.8%</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93.8%</a:t>
                      </a:r>
                    </a:p>
                  </a:txBody>
                  <a:tcPr marL="109728" marR="91440" marT="54864" marB="36576" anchor="ctr">
                    <a:solidFill>
                      <a:srgbClr val="E3EFF5"/>
                    </a:solidFill>
                    <a:lnL>
                      <a:noFill/>
                    </a:lnL>
                    <a:lnR>
                      <a:noFill/>
                    </a:lnR>
                    <a:lnT>
                      <a:noFill/>
                    </a:lnT>
                    <a:lnB>
                      <a:noFill/>
                    </a:lnB>
                  </a:tcPr>
                </a:tc>
              </a:tr>
              <a:tr h="354787">
                <a:tc>
                  <a:txBody>
                    <a:bodyPr/>
                    <a:lstStyle/>
                    <a:p>
                      <a:pPr algn="l">
                        <a:lnSpc>
                          <a:spcPct val="103000"/>
                        </a:lnSpc>
                        <a:spcBef>
                          <a:spcPts val="0"/>
                        </a:spcBef>
                        <a:spcAft>
                          <a:spcPts val="0"/>
                        </a:spcAft>
                      </a:pPr>
                      <a:r>
                        <a:rPr sz="1600" b="0">
                          <a:solidFill>
                            <a:srgbClr val="00407A"/>
                          </a:solidFill>
                          <a:latin typeface="Arial"/>
                        </a:rPr>
                        <a:t>Area — exact level</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92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35.9%</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35.9%</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57.6%</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66.3%</a:t>
                      </a:r>
                    </a:p>
                  </a:txBody>
                  <a:tcPr marL="109728" marR="91440" marT="54864" marB="36576" anchor="ctr">
                    <a:solidFill>
                      <a:srgbClr val="FFFFFF"/>
                    </a:solidFill>
                    <a:lnL>
                      <a:noFill/>
                    </a:lnL>
                    <a:lnR>
                      <a:noFill/>
                    </a:lnR>
                    <a:lnT>
                      <a:noFill/>
                    </a:lnT>
                    <a:lnB>
                      <a:noFill/>
                    </a:lnB>
                  </a:tcPr>
                </a:tc>
              </a:tr>
              <a:tr h="354787">
                <a:tc>
                  <a:txBody>
                    <a:bodyPr/>
                    <a:lstStyle/>
                    <a:p>
                      <a:pPr algn="l">
                        <a:lnSpc>
                          <a:spcPct val="103000"/>
                        </a:lnSpc>
                        <a:spcBef>
                          <a:spcPts val="0"/>
                        </a:spcBef>
                        <a:spcAft>
                          <a:spcPts val="0"/>
                        </a:spcAft>
                      </a:pPr>
                      <a:r>
                        <a:rPr sz="1600" b="0">
                          <a:solidFill>
                            <a:srgbClr val="00407A"/>
                          </a:solidFill>
                          <a:latin typeface="Arial"/>
                        </a:rPr>
                        <a:t>Power — exact level</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85</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27.1%</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45.9%</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40.0%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10.6%</a:t>
                      </a:r>
                    </a:p>
                  </a:txBody>
                  <a:tcPr marL="109728" marR="91440" marT="54864" marB="36576" anchor="ctr">
                    <a:solidFill>
                      <a:srgbClr val="E3EFF5"/>
                    </a:solidFill>
                    <a:lnL>
                      <a:noFill/>
                    </a:lnL>
                    <a:lnR>
                      <a:noFill/>
                    </a:lnR>
                    <a:lnT>
                      <a:noFill/>
                    </a:lnT>
                    <a:lnB>
                      <a:noFill/>
                    </a:lnB>
                  </a:tcPr>
                </a:tc>
              </a:tr>
              <a:tr h="354787">
                <a:tc>
                  <a:txBody>
                    <a:bodyPr/>
                    <a:lstStyle/>
                    <a:p>
                      <a:pPr algn="l">
                        <a:lnSpc>
                          <a:spcPct val="103000"/>
                        </a:lnSpc>
                        <a:spcBef>
                          <a:spcPts val="0"/>
                        </a:spcBef>
                        <a:spcAft>
                          <a:spcPts val="0"/>
                        </a:spcAft>
                      </a:pPr>
                      <a:r>
                        <a:rPr sz="1600" b="0">
                          <a:solidFill>
                            <a:srgbClr val="00407A"/>
                          </a:solidFill>
                          <a:latin typeface="Arial"/>
                        </a:rPr>
                        <a:t>Clock frequency — exact level</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92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14.1%</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12.0%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14.1%</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14.1%</a:t>
                      </a:r>
                    </a:p>
                  </a:txBody>
                  <a:tcPr marL="109728" marR="91440" marT="54864" marB="36576" anchor="ctr">
                    <a:solidFill>
                      <a:srgbClr val="FFFFFF"/>
                    </a:solidFill>
                    <a:lnL>
                      <a:noFill/>
                    </a:lnL>
                    <a:lnR>
                      <a:noFill/>
                    </a:lnR>
                    <a:lnT>
                      <a:noFill/>
                    </a:lnT>
                    <a:lnB>
                      <a:noFill/>
                    </a:lnB>
                  </a:tcPr>
                </a:tc>
              </a:tr>
              <a:tr h="354787">
                <a:tc>
                  <a:txBody>
                    <a:bodyPr/>
                    <a:lstStyle/>
                    <a:p>
                      <a:pPr algn="l">
                        <a:lnSpc>
                          <a:spcPct val="103000"/>
                        </a:lnSpc>
                        <a:spcBef>
                          <a:spcPts val="0"/>
                        </a:spcBef>
                        <a:spcAft>
                          <a:spcPts val="0"/>
                        </a:spcAft>
                      </a:pPr>
                      <a:r>
                        <a:rPr sz="1600" b="0">
                          <a:solidFill>
                            <a:srgbClr val="00407A"/>
                          </a:solidFill>
                          <a:latin typeface="Arial"/>
                        </a:rPr>
                        <a:t>Timing margin — exact level</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92</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8.7%</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4.3%</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3.3%</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32.6%</a:t>
                      </a:r>
                    </a:p>
                  </a:txBody>
                  <a:tcPr marL="109728" marR="91440" marT="54864" marB="36576" anchor="ctr">
                    <a:solidFill>
                      <a:srgbClr val="E3EFF5"/>
                    </a:solidFill>
                    <a:lnL>
                      <a:noFill/>
                    </a:lnL>
                    <a:lnR>
                      <a:noFill/>
                    </a:lnR>
                    <a:lnT>
                      <a:noFill/>
                    </a:lnT>
                    <a:lnB>
                      <a:noFill/>
                    </a:lnB>
                  </a:tcPr>
                </a:tc>
              </a:tr>
              <a:tr h="354787">
                <a:tc>
                  <a:txBody>
                    <a:bodyPr/>
                    <a:lstStyle/>
                    <a:p>
                      <a:pPr algn="l">
                        <a:lnSpc>
                          <a:spcPct val="103000"/>
                        </a:lnSpc>
                        <a:spcBef>
                          <a:spcPts val="0"/>
                        </a:spcBef>
                        <a:spcAft>
                          <a:spcPts val="0"/>
                        </a:spcAft>
                      </a:pPr>
                      <a:r>
                        <a:rPr sz="1600" b="0">
                          <a:solidFill>
                            <a:srgbClr val="00407A"/>
                          </a:solidFill>
                          <a:latin typeface="Arial"/>
                        </a:rPr>
                        <a:t>Pair: smaller area</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46</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47.8%</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76.1%</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87.0%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78.3%</a:t>
                      </a:r>
                    </a:p>
                  </a:txBody>
                  <a:tcPr marL="109728" marR="91440" marT="54864" marB="36576" anchor="ctr">
                    <a:solidFill>
                      <a:srgbClr val="FFFFFF"/>
                    </a:solidFill>
                    <a:lnL>
                      <a:noFill/>
                    </a:lnL>
                    <a:lnR>
                      <a:noFill/>
                    </a:lnR>
                    <a:lnT>
                      <a:noFill/>
                    </a:lnT>
                    <a:lnB>
                      <a:noFill/>
                    </a:lnB>
                  </a:tcPr>
                </a:tc>
              </a:tr>
              <a:tr h="354787">
                <a:tc>
                  <a:txBody>
                    <a:bodyPr/>
                    <a:lstStyle/>
                    <a:p>
                      <a:pPr algn="l">
                        <a:lnSpc>
                          <a:spcPct val="103000"/>
                        </a:lnSpc>
                        <a:spcBef>
                          <a:spcPts val="0"/>
                        </a:spcBef>
                        <a:spcAft>
                          <a:spcPts val="0"/>
                        </a:spcAft>
                      </a:pPr>
                      <a:r>
                        <a:rPr sz="1600" b="0">
                          <a:solidFill>
                            <a:srgbClr val="00407A"/>
                          </a:solidFill>
                          <a:latin typeface="Arial"/>
                        </a:rPr>
                        <a:t>Pair: lower power</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44</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63.6%</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56.8%</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65.9%</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70.5%</a:t>
                      </a:r>
                    </a:p>
                  </a:txBody>
                  <a:tcPr marL="109728" marR="91440" marT="54864" marB="36576" anchor="ctr">
                    <a:solidFill>
                      <a:srgbClr val="E3EFF5"/>
                    </a:solidFill>
                    <a:lnL>
                      <a:noFill/>
                    </a:lnL>
                    <a:lnR>
                      <a:noFill/>
                    </a:lnR>
                    <a:lnT>
                      <a:noFill/>
                    </a:lnT>
                    <a:lnB>
                      <a:noFill/>
                    </a:lnB>
                  </a:tcPr>
                </a:tc>
              </a:tr>
              <a:tr h="354787">
                <a:tc>
                  <a:txBody>
                    <a:bodyPr/>
                    <a:lstStyle/>
                    <a:p>
                      <a:pPr algn="l">
                        <a:lnSpc>
                          <a:spcPct val="103000"/>
                        </a:lnSpc>
                        <a:spcBef>
                          <a:spcPts val="0"/>
                        </a:spcBef>
                        <a:spcAft>
                          <a:spcPts val="0"/>
                        </a:spcAft>
                      </a:pPr>
                      <a:r>
                        <a:rPr sz="1600" b="0">
                          <a:solidFill>
                            <a:srgbClr val="00407A"/>
                          </a:solidFill>
                          <a:latin typeface="Arial"/>
                        </a:rPr>
                        <a:t>Pair: higher frequency</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66.7%</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83.3%</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75.0%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83.3%</a:t>
                      </a:r>
                    </a:p>
                  </a:txBody>
                  <a:tcPr marL="109728" marR="91440" marT="54864" marB="36576" anchor="ctr">
                    <a:solidFill>
                      <a:srgbClr val="FFFFFF"/>
                    </a:solidFill>
                    <a:lnL>
                      <a:noFill/>
                    </a:lnL>
                    <a:lnR>
                      <a:noFill/>
                    </a:lnR>
                    <a:lnT>
                      <a:noFill/>
                    </a:lnT>
                    <a:lnB>
                      <a:noFill/>
                    </a:lnB>
                  </a:tcPr>
                </a:tc>
              </a:tr>
            </a:tbl>
          </a:graphicData>
        </a:graphic>
      </p:graphicFrame>
      <p:sp>
        <p:nvSpPr>
          <p:cNvPr id="8" name="TextBox 7"/>
          <p:cNvSpPr txBox="1"/>
          <p:nvPr/>
        </p:nvSpPr>
        <p:spPr>
          <a:xfrm>
            <a:off x="868680" y="6099048"/>
            <a:ext cx="10424160" cy="228600"/>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4A5A66"/>
                </a:solidFill>
                <a:latin typeface="Arial"/>
              </a:rPr>
              <a:t>Always “yes” scores 92.7% for compilation and 80.5% for synthesis. The class split is on “Yes/no checks: every class and count”.</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265176"/>
            <a:ext cx="10561320" cy="237744"/>
          </a:xfrm>
          <a:prstGeom prst="rect">
            <a:avLst/>
          </a:prstGeom>
          <a:noFill/>
        </p:spPr>
        <p:txBody>
          <a:bodyPr wrap="square" lIns="0" rIns="0" tIns="0" bIns="0" anchor="t">
            <a:noAutofit/>
          </a:bodyPr>
          <a:lstStyle/>
          <a:p>
            <a:pPr algn="l">
              <a:lnSpc>
                <a:spcPct val="109000"/>
              </a:lnSpc>
              <a:spcBef>
                <a:spcPts val="0"/>
              </a:spcBef>
              <a:spcAft>
                <a:spcPts val="0"/>
              </a:spcAft>
            </a:pPr>
            <a:r>
              <a:rPr sz="1250" b="1">
                <a:solidFill>
                  <a:srgbClr val="0B5A93"/>
                </a:solidFill>
                <a:latin typeface="Arial"/>
              </a:rPr>
              <a:t>EXPERIMENT 2  •  THREE SOLVED EXAMPLES PER QUESTION</a:t>
            </a:r>
          </a:p>
        </p:txBody>
      </p:sp>
      <p:sp>
        <p:nvSpPr>
          <p:cNvPr id="3" name="TextBox 2"/>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Every primary test score, with examples</a:t>
            </a:r>
          </a:p>
        </p:txBody>
      </p:sp>
      <p:sp>
        <p:nvSpPr>
          <p:cNvPr id="4" name="TextBox 3"/>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Correct answers (%) • each question has equal weight within its row • higher is better.</a:t>
            </a:r>
          </a:p>
        </p:txBody>
      </p:sp>
      <p:sp>
        <p:nvSpPr>
          <p:cNvPr id="5" name="TextBox 4"/>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three examples per question  •  16 October 2026  |  APPENDIX</a:t>
            </a:r>
          </a:p>
        </p:txBody>
      </p:sp>
      <p:sp>
        <p:nvSpPr>
          <p:cNvPr id="6" name="TextBox 5"/>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41</a:t>
            </a:r>
          </a:p>
        </p:txBody>
      </p:sp>
      <p:graphicFrame>
        <p:nvGraphicFramePr>
          <p:cNvPr id="7" name="Table 6"/>
          <p:cNvGraphicFramePr>
            <a:graphicFrameLocks noGrp="1"/>
          </p:cNvGraphicFramePr>
          <p:nvPr/>
        </p:nvGraphicFramePr>
        <p:xfrm>
          <a:off x="813816" y="1865376"/>
          <a:ext cx="10561319" cy="4114798"/>
        </p:xfrm>
        <a:graphic>
          <a:graphicData uri="http://schemas.openxmlformats.org/drawingml/2006/table">
            <a:tbl>
              <a:tblPr firstRow="1" bandRow="1">
                <a:tableStyleId>{5C22544A-7EE6-4342-B048-85BDC9FD1C3A}</a:tableStyleId>
              </a:tblPr>
              <a:tblGrid>
                <a:gridCol w="3749039"/>
                <a:gridCol w="1143000"/>
                <a:gridCol w="1417320"/>
                <a:gridCol w="1417320"/>
                <a:gridCol w="1417320"/>
                <a:gridCol w="1417320"/>
              </a:tblGrid>
              <a:tr h="566928">
                <a:tc>
                  <a:txBody>
                    <a:bodyPr/>
                    <a:lstStyle/>
                    <a:p>
                      <a:pPr algn="l">
                        <a:lnSpc>
                          <a:spcPct val="103000"/>
                        </a:lnSpc>
                        <a:spcBef>
                          <a:spcPts val="0"/>
                        </a:spcBef>
                        <a:spcAft>
                          <a:spcPts val="0"/>
                        </a:spcAft>
                      </a:pPr>
                      <a:r>
                        <a:rPr sz="1500" b="1">
                          <a:solidFill>
                            <a:srgbClr val="FFFFFF"/>
                          </a:solidFill>
                          <a:latin typeface="Arial"/>
                        </a:rPr>
                        <a:t>Task</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Questions</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0.8B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4B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9B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27B</a:t>
                      </a:r>
                    </a:p>
                  </a:txBody>
                  <a:tcPr marL="109728" marR="91440" marT="54864" marB="36576" anchor="ctr">
                    <a:solidFill>
                      <a:srgbClr val="00407A"/>
                    </a:solidFill>
                    <a:lnL>
                      <a:noFill/>
                    </a:lnL>
                    <a:lnR>
                      <a:noFill/>
                    </a:lnR>
                    <a:lnT>
                      <a:noFill/>
                    </a:lnT>
                    <a:lnB>
                      <a:noFill/>
                    </a:lnB>
                  </a:tcPr>
                </a:tc>
              </a:tr>
              <a:tr h="354787">
                <a:tc>
                  <a:txBody>
                    <a:bodyPr/>
                    <a:lstStyle/>
                    <a:p>
                      <a:pPr algn="l">
                        <a:lnSpc>
                          <a:spcPct val="103000"/>
                        </a:lnSpc>
                        <a:spcBef>
                          <a:spcPts val="0"/>
                        </a:spcBef>
                        <a:spcAft>
                          <a:spcPts val="0"/>
                        </a:spcAft>
                      </a:pPr>
                      <a:r>
                        <a:rPr sz="1600" b="0">
                          <a:solidFill>
                            <a:srgbClr val="00407A"/>
                          </a:solidFill>
                          <a:latin typeface="Arial"/>
                        </a:rPr>
                        <a:t>Compiles — pooled</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123</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8.1%</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94.3%</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94.3%</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95.1%</a:t>
                      </a:r>
                    </a:p>
                  </a:txBody>
                  <a:tcPr marL="109728" marR="91440" marT="54864" marB="36576" anchor="ctr">
                    <a:solidFill>
                      <a:srgbClr val="E3EFF5"/>
                    </a:solidFill>
                    <a:lnL>
                      <a:noFill/>
                    </a:lnL>
                    <a:lnR>
                      <a:noFill/>
                    </a:lnR>
                    <a:lnT>
                      <a:noFill/>
                    </a:lnT>
                    <a:lnB>
                      <a:noFill/>
                    </a:lnB>
                  </a:tcPr>
                </a:tc>
              </a:tr>
              <a:tr h="354787">
                <a:tc>
                  <a:txBody>
                    <a:bodyPr/>
                    <a:lstStyle/>
                    <a:p>
                      <a:pPr algn="l">
                        <a:lnSpc>
                          <a:spcPct val="103000"/>
                        </a:lnSpc>
                        <a:spcBef>
                          <a:spcPts val="0"/>
                        </a:spcBef>
                        <a:spcAft>
                          <a:spcPts val="0"/>
                        </a:spcAft>
                      </a:pPr>
                      <a:r>
                        <a:rPr sz="1600" b="0">
                          <a:solidFill>
                            <a:srgbClr val="00407A"/>
                          </a:solidFill>
                          <a:latin typeface="Arial"/>
                        </a:rPr>
                        <a:t>Synthesizes — pooled</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123</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19.5%</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81.3%</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82.9%</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87.8%</a:t>
                      </a:r>
                    </a:p>
                  </a:txBody>
                  <a:tcPr marL="109728" marR="91440" marT="54864" marB="36576" anchor="ctr">
                    <a:solidFill>
                      <a:srgbClr val="FFFFFF"/>
                    </a:solidFill>
                    <a:lnL>
                      <a:noFill/>
                    </a:lnL>
                    <a:lnR>
                      <a:noFill/>
                    </a:lnR>
                    <a:lnT>
                      <a:noFill/>
                    </a:lnT>
                    <a:lnB>
                      <a:noFill/>
                    </a:lnB>
                  </a:tcPr>
                </a:tc>
              </a:tr>
              <a:tr h="354787">
                <a:tc>
                  <a:txBody>
                    <a:bodyPr/>
                    <a:lstStyle/>
                    <a:p>
                      <a:pPr algn="l">
                        <a:lnSpc>
                          <a:spcPct val="103000"/>
                        </a:lnSpc>
                        <a:spcBef>
                          <a:spcPts val="0"/>
                        </a:spcBef>
                        <a:spcAft>
                          <a:spcPts val="0"/>
                        </a:spcAft>
                      </a:pPr>
                      <a:r>
                        <a:rPr sz="1600" b="0">
                          <a:solidFill>
                            <a:srgbClr val="00407A"/>
                          </a:solidFill>
                          <a:latin typeface="Arial"/>
                        </a:rPr>
                        <a:t>Failure reason — known failure</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16</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6.3%</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62.5%</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68.8%</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87.5%</a:t>
                      </a:r>
                    </a:p>
                  </a:txBody>
                  <a:tcPr marL="109728" marR="91440" marT="54864" marB="36576" anchor="ctr">
                    <a:solidFill>
                      <a:srgbClr val="E3EFF5"/>
                    </a:solidFill>
                    <a:lnL>
                      <a:noFill/>
                    </a:lnL>
                    <a:lnR>
                      <a:noFill/>
                    </a:lnR>
                    <a:lnT>
                      <a:noFill/>
                    </a:lnT>
                    <a:lnB>
                      <a:noFill/>
                    </a:lnB>
                  </a:tcPr>
                </a:tc>
              </a:tr>
              <a:tr h="354787">
                <a:tc>
                  <a:txBody>
                    <a:bodyPr/>
                    <a:lstStyle/>
                    <a:p>
                      <a:pPr algn="l">
                        <a:lnSpc>
                          <a:spcPct val="103000"/>
                        </a:lnSpc>
                        <a:spcBef>
                          <a:spcPts val="0"/>
                        </a:spcBef>
                        <a:spcAft>
                          <a:spcPts val="0"/>
                        </a:spcAft>
                      </a:pPr>
                      <a:r>
                        <a:rPr sz="1600" b="0">
                          <a:solidFill>
                            <a:srgbClr val="00407A"/>
                          </a:solidFill>
                          <a:latin typeface="Arial"/>
                        </a:rPr>
                        <a:t>Area — exact level</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92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50.0%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54.3%</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52.2%</a:t>
                      </a:r>
                    </a:p>
                  </a:txBody>
                  <a:tcPr marL="109728" marR="91440" marT="54864" marB="36576" anchor="ctr">
                    <a:solidFill>
                      <a:srgbClr val="FFFFFF"/>
                    </a:solidFill>
                    <a:lnL>
                      <a:noFill/>
                    </a:lnL>
                    <a:lnR>
                      <a:noFill/>
                    </a:lnR>
                    <a:lnT>
                      <a:noFill/>
                    </a:lnT>
                    <a:lnB>
                      <a:noFill/>
                    </a:lnB>
                  </a:tcPr>
                </a:tc>
              </a:tr>
              <a:tr h="354787">
                <a:tc>
                  <a:txBody>
                    <a:bodyPr/>
                    <a:lstStyle/>
                    <a:p>
                      <a:pPr algn="l">
                        <a:lnSpc>
                          <a:spcPct val="103000"/>
                        </a:lnSpc>
                        <a:spcBef>
                          <a:spcPts val="0"/>
                        </a:spcBef>
                        <a:spcAft>
                          <a:spcPts val="0"/>
                        </a:spcAft>
                      </a:pPr>
                      <a:r>
                        <a:rPr sz="1600" b="0">
                          <a:solidFill>
                            <a:srgbClr val="00407A"/>
                          </a:solidFill>
                          <a:latin typeface="Arial"/>
                        </a:rPr>
                        <a:t>Power — exact level</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85</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40.0%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28.2%</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42.4%</a:t>
                      </a:r>
                    </a:p>
                  </a:txBody>
                  <a:tcPr marL="109728" marR="91440" marT="54864" marB="36576" anchor="ctr">
                    <a:solidFill>
                      <a:srgbClr val="E3EFF5"/>
                    </a:solidFill>
                    <a:lnL>
                      <a:noFill/>
                    </a:lnL>
                    <a:lnR>
                      <a:noFill/>
                    </a:lnR>
                    <a:lnT>
                      <a:noFill/>
                    </a:lnT>
                    <a:lnB>
                      <a:noFill/>
                    </a:lnB>
                  </a:tcPr>
                </a:tc>
              </a:tr>
              <a:tr h="354787">
                <a:tc>
                  <a:txBody>
                    <a:bodyPr/>
                    <a:lstStyle/>
                    <a:p>
                      <a:pPr algn="l">
                        <a:lnSpc>
                          <a:spcPct val="103000"/>
                        </a:lnSpc>
                        <a:spcBef>
                          <a:spcPts val="0"/>
                        </a:spcBef>
                        <a:spcAft>
                          <a:spcPts val="0"/>
                        </a:spcAft>
                      </a:pPr>
                      <a:r>
                        <a:rPr sz="1600" b="0">
                          <a:solidFill>
                            <a:srgbClr val="00407A"/>
                          </a:solidFill>
                          <a:latin typeface="Arial"/>
                        </a:rPr>
                        <a:t>Clock frequency — exact level</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92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23.9%</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22.8%</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16.3%</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39.1%</a:t>
                      </a:r>
                    </a:p>
                  </a:txBody>
                  <a:tcPr marL="109728" marR="91440" marT="54864" marB="36576" anchor="ctr">
                    <a:solidFill>
                      <a:srgbClr val="FFFFFF"/>
                    </a:solidFill>
                    <a:lnL>
                      <a:noFill/>
                    </a:lnL>
                    <a:lnR>
                      <a:noFill/>
                    </a:lnR>
                    <a:lnT>
                      <a:noFill/>
                    </a:lnT>
                    <a:lnB>
                      <a:noFill/>
                    </a:lnB>
                  </a:tcPr>
                </a:tc>
              </a:tr>
              <a:tr h="354787">
                <a:tc>
                  <a:txBody>
                    <a:bodyPr/>
                    <a:lstStyle/>
                    <a:p>
                      <a:pPr algn="l">
                        <a:lnSpc>
                          <a:spcPct val="103000"/>
                        </a:lnSpc>
                        <a:spcBef>
                          <a:spcPts val="0"/>
                        </a:spcBef>
                        <a:spcAft>
                          <a:spcPts val="0"/>
                        </a:spcAft>
                      </a:pPr>
                      <a:r>
                        <a:rPr sz="1600" b="0">
                          <a:solidFill>
                            <a:srgbClr val="00407A"/>
                          </a:solidFill>
                          <a:latin typeface="Arial"/>
                        </a:rPr>
                        <a:t>Timing margin — exact level</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92</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68.5%</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10.9%</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16.3%</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65.2%</a:t>
                      </a:r>
                    </a:p>
                  </a:txBody>
                  <a:tcPr marL="109728" marR="91440" marT="54864" marB="36576" anchor="ctr">
                    <a:solidFill>
                      <a:srgbClr val="E3EFF5"/>
                    </a:solidFill>
                    <a:lnL>
                      <a:noFill/>
                    </a:lnL>
                    <a:lnR>
                      <a:noFill/>
                    </a:lnR>
                    <a:lnT>
                      <a:noFill/>
                    </a:lnT>
                    <a:lnB>
                      <a:noFill/>
                    </a:lnB>
                  </a:tcPr>
                </a:tc>
              </a:tr>
              <a:tr h="354787">
                <a:tc>
                  <a:txBody>
                    <a:bodyPr/>
                    <a:lstStyle/>
                    <a:p>
                      <a:pPr algn="l">
                        <a:lnSpc>
                          <a:spcPct val="103000"/>
                        </a:lnSpc>
                        <a:spcBef>
                          <a:spcPts val="0"/>
                        </a:spcBef>
                        <a:spcAft>
                          <a:spcPts val="0"/>
                        </a:spcAft>
                      </a:pPr>
                      <a:r>
                        <a:rPr sz="1600" b="0">
                          <a:solidFill>
                            <a:srgbClr val="00407A"/>
                          </a:solidFill>
                          <a:latin typeface="Arial"/>
                        </a:rPr>
                        <a:t>Pair: smaller area</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46</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50.0%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67.4%</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76.1%</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89.1%</a:t>
                      </a:r>
                    </a:p>
                  </a:txBody>
                  <a:tcPr marL="109728" marR="91440" marT="54864" marB="36576" anchor="ctr">
                    <a:solidFill>
                      <a:srgbClr val="FFFFFF"/>
                    </a:solidFill>
                    <a:lnL>
                      <a:noFill/>
                    </a:lnL>
                    <a:lnR>
                      <a:noFill/>
                    </a:lnR>
                    <a:lnT>
                      <a:noFill/>
                    </a:lnT>
                    <a:lnB>
                      <a:noFill/>
                    </a:lnB>
                  </a:tcPr>
                </a:tc>
              </a:tr>
              <a:tr h="354787">
                <a:tc>
                  <a:txBody>
                    <a:bodyPr/>
                    <a:lstStyle/>
                    <a:p>
                      <a:pPr algn="l">
                        <a:lnSpc>
                          <a:spcPct val="103000"/>
                        </a:lnSpc>
                        <a:spcBef>
                          <a:spcPts val="0"/>
                        </a:spcBef>
                        <a:spcAft>
                          <a:spcPts val="0"/>
                        </a:spcAft>
                      </a:pPr>
                      <a:r>
                        <a:rPr sz="1600" b="0">
                          <a:solidFill>
                            <a:srgbClr val="00407A"/>
                          </a:solidFill>
                          <a:latin typeface="Arial"/>
                        </a:rPr>
                        <a:t>Pair: lower power</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44</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54.5%</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63.6%</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70.5%</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79.5%</a:t>
                      </a:r>
                    </a:p>
                  </a:txBody>
                  <a:tcPr marL="109728" marR="91440" marT="54864" marB="36576" anchor="ctr">
                    <a:solidFill>
                      <a:srgbClr val="E3EFF5"/>
                    </a:solidFill>
                    <a:lnL>
                      <a:noFill/>
                    </a:lnL>
                    <a:lnR>
                      <a:noFill/>
                    </a:lnR>
                    <a:lnT>
                      <a:noFill/>
                    </a:lnT>
                    <a:lnB>
                      <a:noFill/>
                    </a:lnB>
                  </a:tcPr>
                </a:tc>
              </a:tr>
              <a:tr h="354787">
                <a:tc>
                  <a:txBody>
                    <a:bodyPr/>
                    <a:lstStyle/>
                    <a:p>
                      <a:pPr algn="l">
                        <a:lnSpc>
                          <a:spcPct val="103000"/>
                        </a:lnSpc>
                        <a:spcBef>
                          <a:spcPts val="0"/>
                        </a:spcBef>
                        <a:spcAft>
                          <a:spcPts val="0"/>
                        </a:spcAft>
                      </a:pPr>
                      <a:r>
                        <a:rPr sz="1600" b="0">
                          <a:solidFill>
                            <a:srgbClr val="00407A"/>
                          </a:solidFill>
                          <a:latin typeface="Arial"/>
                        </a:rPr>
                        <a:t>Pair: higher frequency</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50.0%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50.0%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75.0%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91.7%</a:t>
                      </a:r>
                    </a:p>
                  </a:txBody>
                  <a:tcPr marL="109728" marR="91440" marT="54864" marB="36576" anchor="ctr">
                    <a:solidFill>
                      <a:srgbClr val="FFFFFF"/>
                    </a:solidFill>
                    <a:lnL>
                      <a:noFill/>
                    </a:lnL>
                    <a:lnR>
                      <a:noFill/>
                    </a:lnR>
                    <a:lnT>
                      <a:noFill/>
                    </a:lnT>
                    <a:lnB>
                      <a:noFill/>
                    </a:lnB>
                  </a:tcPr>
                </a:tc>
              </a:tr>
            </a:tbl>
          </a:graphicData>
        </a:graphic>
      </p:graphicFrame>
      <p:sp>
        <p:nvSpPr>
          <p:cNvPr id="8" name="TextBox 7"/>
          <p:cNvSpPr txBox="1"/>
          <p:nvPr/>
        </p:nvSpPr>
        <p:spPr>
          <a:xfrm>
            <a:off x="868680" y="6099048"/>
            <a:ext cx="10424160" cy="228600"/>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4A5A66"/>
                </a:solidFill>
                <a:latin typeface="Arial"/>
              </a:rPr>
              <a:t>Always “yes” scores 92.7% for compilation and 80.5% for synthesis. The class split is on “Yes/no checks with examples: every class”.</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265176"/>
            <a:ext cx="10561320" cy="237744"/>
          </a:xfrm>
          <a:prstGeom prst="rect">
            <a:avLst/>
          </a:prstGeom>
          <a:noFill/>
        </p:spPr>
        <p:txBody>
          <a:bodyPr wrap="square" lIns="0" rIns="0" tIns="0" bIns="0" anchor="t">
            <a:noAutofit/>
          </a:bodyPr>
          <a:lstStyle/>
          <a:p>
            <a:pPr algn="l">
              <a:lnSpc>
                <a:spcPct val="109000"/>
              </a:lnSpc>
              <a:spcBef>
                <a:spcPts val="0"/>
              </a:spcBef>
              <a:spcAft>
                <a:spcPts val="0"/>
              </a:spcAft>
            </a:pPr>
            <a:r>
              <a:rPr sz="1250" b="1">
                <a:solidFill>
                  <a:srgbClr val="0B5A93"/>
                </a:solidFill>
                <a:latin typeface="Arial"/>
              </a:rPr>
              <a:t>EXPERIMENT 2  •  THREE SOLVED EXAMPLES PER QUESTION</a:t>
            </a:r>
          </a:p>
        </p:txBody>
      </p:sp>
      <p:sp>
        <p:nvSpPr>
          <p:cNvPr id="3" name="TextBox 2"/>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Paired test: 9 of 40 changes have p &lt; 0.05</a:t>
            </a:r>
          </a:p>
        </p:txBody>
      </p:sp>
      <p:sp>
        <p:nvSpPr>
          <p:cNvPr id="4" name="TextBox 3"/>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Correct answers without → with examples, on the same questions • exact two-sided McNemar test.</a:t>
            </a:r>
          </a:p>
        </p:txBody>
      </p:sp>
      <p:sp>
        <p:nvSpPr>
          <p:cNvPr id="5" name="TextBox 4"/>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three examples per question  •  16 October 2026  |  APPENDIX</a:t>
            </a:r>
          </a:p>
        </p:txBody>
      </p:sp>
      <p:sp>
        <p:nvSpPr>
          <p:cNvPr id="6" name="TextBox 5"/>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42</a:t>
            </a:r>
          </a:p>
        </p:txBody>
      </p:sp>
      <p:graphicFrame>
        <p:nvGraphicFramePr>
          <p:cNvPr id="7" name="Table 6"/>
          <p:cNvGraphicFramePr>
            <a:graphicFrameLocks noGrp="1"/>
          </p:cNvGraphicFramePr>
          <p:nvPr/>
        </p:nvGraphicFramePr>
        <p:xfrm>
          <a:off x="813816" y="1810512"/>
          <a:ext cx="10561320" cy="3931918"/>
        </p:xfrm>
        <a:graphic>
          <a:graphicData uri="http://schemas.openxmlformats.org/drawingml/2006/table">
            <a:tbl>
              <a:tblPr firstRow="1" bandRow="1">
                <a:tableStyleId>{5C22544A-7EE6-4342-B048-85BDC9FD1C3A}</a:tableStyleId>
              </a:tblPr>
              <a:tblGrid>
                <a:gridCol w="2514600"/>
                <a:gridCol w="1143000"/>
                <a:gridCol w="1725930"/>
                <a:gridCol w="1725930"/>
                <a:gridCol w="1725930"/>
                <a:gridCol w="1725930"/>
              </a:tblGrid>
              <a:tr h="566928">
                <a:tc>
                  <a:txBody>
                    <a:bodyPr/>
                    <a:lstStyle/>
                    <a:p>
                      <a:pPr algn="l">
                        <a:lnSpc>
                          <a:spcPct val="103000"/>
                        </a:lnSpc>
                        <a:spcBef>
                          <a:spcPts val="0"/>
                        </a:spcBef>
                        <a:spcAft>
                          <a:spcPts val="0"/>
                        </a:spcAft>
                      </a:pPr>
                      <a:r>
                        <a:rPr sz="1500" b="1">
                          <a:solidFill>
                            <a:srgbClr val="FFFFFF"/>
                          </a:solidFill>
                          <a:latin typeface="Arial"/>
                        </a:rPr>
                        <a:t>Task</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Questions</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0.8B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4B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9B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27B</a:t>
                      </a:r>
                    </a:p>
                  </a:txBody>
                  <a:tcPr marL="109728" marR="91440" marT="54864" marB="36576" anchor="ctr">
                    <a:solidFill>
                      <a:srgbClr val="00407A"/>
                    </a:solidFill>
                    <a:lnL>
                      <a:noFill/>
                    </a:lnL>
                    <a:lnR>
                      <a:noFill/>
                    </a:lnR>
                    <a:lnT>
                      <a:noFill/>
                    </a:lnT>
                    <a:lnB>
                      <a:noFill/>
                    </a:lnB>
                  </a:tcPr>
                </a:tc>
              </a:tr>
              <a:tr h="336499">
                <a:tc>
                  <a:txBody>
                    <a:bodyPr/>
                    <a:lstStyle/>
                    <a:p>
                      <a:pPr algn="l">
                        <a:lnSpc>
                          <a:spcPct val="103000"/>
                        </a:lnSpc>
                        <a:spcBef>
                          <a:spcPts val="0"/>
                        </a:spcBef>
                        <a:spcAft>
                          <a:spcPts val="0"/>
                        </a:spcAft>
                      </a:pPr>
                      <a:r>
                        <a:rPr sz="1350" b="0">
                          <a:solidFill>
                            <a:srgbClr val="00407A"/>
                          </a:solidFill>
                          <a:latin typeface="Arial"/>
                        </a:rPr>
                        <a:t>Compiles</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350" b="0">
                          <a:solidFill>
                            <a:srgbClr val="00407A"/>
                          </a:solidFill>
                          <a:latin typeface="Arial"/>
                        </a:rPr>
                        <a:t>123</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350" b="0">
                          <a:solidFill>
                            <a:srgbClr val="00407A"/>
                          </a:solidFill>
                          <a:latin typeface="Arial"/>
                        </a:rPr>
                        <a:t>13 → 10  (0.38)</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350" b="0">
                          <a:solidFill>
                            <a:srgbClr val="00407A"/>
                          </a:solidFill>
                          <a:latin typeface="Arial"/>
                        </a:rPr>
                        <a:t>114 → 116  (0.62)</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350" b="0">
                          <a:solidFill>
                            <a:srgbClr val="00407A"/>
                          </a:solidFill>
                          <a:latin typeface="Arial"/>
                        </a:rPr>
                        <a:t>116 → 116  (1)</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350" b="0">
                          <a:solidFill>
                            <a:srgbClr val="00407A"/>
                          </a:solidFill>
                          <a:latin typeface="Arial"/>
                        </a:rPr>
                        <a:t>122 → 117  (0.12)</a:t>
                      </a:r>
                    </a:p>
                  </a:txBody>
                  <a:tcPr marL="109728" marR="91440" marT="54864" marB="36576" anchor="ctr">
                    <a:solidFill>
                      <a:srgbClr val="E3EFF5"/>
                    </a:solidFill>
                    <a:lnL>
                      <a:noFill/>
                    </a:lnL>
                    <a:lnR>
                      <a:noFill/>
                    </a:lnR>
                    <a:lnT>
                      <a:noFill/>
                    </a:lnT>
                    <a:lnB>
                      <a:noFill/>
                    </a:lnB>
                  </a:tcPr>
                </a:tc>
              </a:tr>
              <a:tr h="336499">
                <a:tc>
                  <a:txBody>
                    <a:bodyPr/>
                    <a:lstStyle/>
                    <a:p>
                      <a:pPr algn="l">
                        <a:lnSpc>
                          <a:spcPct val="103000"/>
                        </a:lnSpc>
                        <a:spcBef>
                          <a:spcPts val="0"/>
                        </a:spcBef>
                        <a:spcAft>
                          <a:spcPts val="0"/>
                        </a:spcAft>
                      </a:pPr>
                      <a:r>
                        <a:rPr sz="1350" b="0">
                          <a:solidFill>
                            <a:srgbClr val="00407A"/>
                          </a:solidFill>
                          <a:latin typeface="Arial"/>
                        </a:rPr>
                        <a:t>Synthesizes</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350" b="0">
                          <a:solidFill>
                            <a:srgbClr val="00407A"/>
                          </a:solidFill>
                          <a:latin typeface="Arial"/>
                        </a:rPr>
                        <a:t>123</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350" b="1">
                          <a:solidFill>
                            <a:srgbClr val="00407A"/>
                          </a:solidFill>
                          <a:latin typeface="Arial"/>
                        </a:rPr>
                        <a:t>99 → 24  (&lt;0.001)</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350" b="0">
                          <a:solidFill>
                            <a:srgbClr val="00407A"/>
                          </a:solidFill>
                          <a:latin typeface="Arial"/>
                        </a:rPr>
                        <a:t>98 → 100  (0.5)</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350" b="0">
                          <a:solidFill>
                            <a:srgbClr val="00407A"/>
                          </a:solidFill>
                          <a:latin typeface="Arial"/>
                        </a:rPr>
                        <a:t>99 → 102  (0.25)</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350" b="0">
                          <a:solidFill>
                            <a:srgbClr val="00407A"/>
                          </a:solidFill>
                          <a:latin typeface="Arial"/>
                        </a:rPr>
                        <a:t>102 → 108  (0.11)</a:t>
                      </a:r>
                    </a:p>
                  </a:txBody>
                  <a:tcPr marL="109728" marR="91440" marT="54864" marB="36576" anchor="ctr">
                    <a:solidFill>
                      <a:srgbClr val="FFFFFF"/>
                    </a:solidFill>
                    <a:lnL>
                      <a:noFill/>
                    </a:lnL>
                    <a:lnR>
                      <a:noFill/>
                    </a:lnR>
                    <a:lnT>
                      <a:noFill/>
                    </a:lnT>
                    <a:lnB>
                      <a:noFill/>
                    </a:lnB>
                  </a:tcPr>
                </a:tc>
              </a:tr>
              <a:tr h="336499">
                <a:tc>
                  <a:txBody>
                    <a:bodyPr/>
                    <a:lstStyle/>
                    <a:p>
                      <a:pPr algn="l">
                        <a:lnSpc>
                          <a:spcPct val="103000"/>
                        </a:lnSpc>
                        <a:spcBef>
                          <a:spcPts val="0"/>
                        </a:spcBef>
                        <a:spcAft>
                          <a:spcPts val="0"/>
                        </a:spcAft>
                      </a:pPr>
                      <a:r>
                        <a:rPr sz="1350" b="0">
                          <a:solidFill>
                            <a:srgbClr val="00407A"/>
                          </a:solidFill>
                          <a:latin typeface="Arial"/>
                        </a:rPr>
                        <a:t>Failure reason</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350" b="0">
                          <a:solidFill>
                            <a:srgbClr val="00407A"/>
                          </a:solidFill>
                          <a:latin typeface="Arial"/>
                        </a:rPr>
                        <a:t>16</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350" b="0">
                          <a:solidFill>
                            <a:srgbClr val="00407A"/>
                          </a:solidFill>
                          <a:latin typeface="Arial"/>
                        </a:rPr>
                        <a:t>5 → 1  (0.22)</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350" b="0">
                          <a:solidFill>
                            <a:srgbClr val="00407A"/>
                          </a:solidFill>
                          <a:latin typeface="Arial"/>
                        </a:rPr>
                        <a:t>9 → 10  (1)</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350" b="0">
                          <a:solidFill>
                            <a:srgbClr val="00407A"/>
                          </a:solidFill>
                          <a:latin typeface="Arial"/>
                        </a:rPr>
                        <a:t>11 → 11  (1)</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350" b="0">
                          <a:solidFill>
                            <a:srgbClr val="00407A"/>
                          </a:solidFill>
                          <a:latin typeface="Arial"/>
                        </a:rPr>
                        <a:t>15 → 14  (1)</a:t>
                      </a:r>
                    </a:p>
                  </a:txBody>
                  <a:tcPr marL="109728" marR="91440" marT="54864" marB="36576" anchor="ctr">
                    <a:solidFill>
                      <a:srgbClr val="E3EFF5"/>
                    </a:solidFill>
                    <a:lnL>
                      <a:noFill/>
                    </a:lnL>
                    <a:lnR>
                      <a:noFill/>
                    </a:lnR>
                    <a:lnT>
                      <a:noFill/>
                    </a:lnT>
                    <a:lnB>
                      <a:noFill/>
                    </a:lnB>
                  </a:tcPr>
                </a:tc>
              </a:tr>
              <a:tr h="336499">
                <a:tc>
                  <a:txBody>
                    <a:bodyPr/>
                    <a:lstStyle/>
                    <a:p>
                      <a:pPr algn="l">
                        <a:lnSpc>
                          <a:spcPct val="103000"/>
                        </a:lnSpc>
                        <a:spcBef>
                          <a:spcPts val="0"/>
                        </a:spcBef>
                        <a:spcAft>
                          <a:spcPts val="0"/>
                        </a:spcAft>
                      </a:pPr>
                      <a:r>
                        <a:rPr sz="1350" b="0">
                          <a:solidFill>
                            <a:srgbClr val="00407A"/>
                          </a:solidFill>
                          <a:latin typeface="Arial"/>
                        </a:rPr>
                        <a:t>Area level</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350" b="0">
                          <a:solidFill>
                            <a:srgbClr val="00407A"/>
                          </a:solidFill>
                          <a:latin typeface="Arial"/>
                        </a:rPr>
                        <a:t>92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350" b="1">
                          <a:solidFill>
                            <a:srgbClr val="00407A"/>
                          </a:solidFill>
                          <a:latin typeface="Arial"/>
                        </a:rPr>
                        <a:t>33 → 2  (&lt;0.001)</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350" b="0">
                          <a:solidFill>
                            <a:srgbClr val="00407A"/>
                          </a:solidFill>
                          <a:latin typeface="Arial"/>
                        </a:rPr>
                        <a:t>33 → 46  (0.098)</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350" b="0">
                          <a:solidFill>
                            <a:srgbClr val="00407A"/>
                          </a:solidFill>
                          <a:latin typeface="Arial"/>
                        </a:rPr>
                        <a:t>53 → 50  (0.76)</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350" b="1">
                          <a:solidFill>
                            <a:srgbClr val="00407A"/>
                          </a:solidFill>
                          <a:latin typeface="Arial"/>
                        </a:rPr>
                        <a:t>61 → 48  (0.029)</a:t>
                      </a:r>
                    </a:p>
                  </a:txBody>
                  <a:tcPr marL="109728" marR="91440" marT="54864" marB="36576" anchor="ctr">
                    <a:solidFill>
                      <a:srgbClr val="FFFFFF"/>
                    </a:solidFill>
                    <a:lnL>
                      <a:noFill/>
                    </a:lnL>
                    <a:lnR>
                      <a:noFill/>
                    </a:lnR>
                    <a:lnT>
                      <a:noFill/>
                    </a:lnT>
                    <a:lnB>
                      <a:noFill/>
                    </a:lnB>
                  </a:tcPr>
                </a:tc>
              </a:tr>
              <a:tr h="336499">
                <a:tc>
                  <a:txBody>
                    <a:bodyPr/>
                    <a:lstStyle/>
                    <a:p>
                      <a:pPr algn="l">
                        <a:lnSpc>
                          <a:spcPct val="103000"/>
                        </a:lnSpc>
                        <a:spcBef>
                          <a:spcPts val="0"/>
                        </a:spcBef>
                        <a:spcAft>
                          <a:spcPts val="0"/>
                        </a:spcAft>
                      </a:pPr>
                      <a:r>
                        <a:rPr sz="1350" b="0">
                          <a:solidFill>
                            <a:srgbClr val="00407A"/>
                          </a:solidFill>
                          <a:latin typeface="Arial"/>
                        </a:rPr>
                        <a:t>Power level</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350" b="0">
                          <a:solidFill>
                            <a:srgbClr val="00407A"/>
                          </a:solidFill>
                          <a:latin typeface="Arial"/>
                        </a:rPr>
                        <a:t>85</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350" b="1">
                          <a:solidFill>
                            <a:srgbClr val="00407A"/>
                          </a:solidFill>
                          <a:latin typeface="Arial"/>
                        </a:rPr>
                        <a:t>23 → 0  (&lt;0.001)</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350" b="0">
                          <a:solidFill>
                            <a:srgbClr val="00407A"/>
                          </a:solidFill>
                          <a:latin typeface="Arial"/>
                        </a:rPr>
                        <a:t>39 → 34  (0.38)</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350" b="0">
                          <a:solidFill>
                            <a:srgbClr val="00407A"/>
                          </a:solidFill>
                          <a:latin typeface="Arial"/>
                        </a:rPr>
                        <a:t>34 → 24  (0.12)</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350" b="1">
                          <a:solidFill>
                            <a:srgbClr val="00407A"/>
                          </a:solidFill>
                          <a:latin typeface="Arial"/>
                        </a:rPr>
                        <a:t>9 → 36  (&lt;0.001)</a:t>
                      </a:r>
                    </a:p>
                  </a:txBody>
                  <a:tcPr marL="109728" marR="91440" marT="54864" marB="36576" anchor="ctr">
                    <a:solidFill>
                      <a:srgbClr val="E3EFF5"/>
                    </a:solidFill>
                    <a:lnL>
                      <a:noFill/>
                    </a:lnL>
                    <a:lnR>
                      <a:noFill/>
                    </a:lnR>
                    <a:lnT>
                      <a:noFill/>
                    </a:lnT>
                    <a:lnB>
                      <a:noFill/>
                    </a:lnB>
                  </a:tcPr>
                </a:tc>
              </a:tr>
              <a:tr h="336499">
                <a:tc>
                  <a:txBody>
                    <a:bodyPr/>
                    <a:lstStyle/>
                    <a:p>
                      <a:pPr algn="l">
                        <a:lnSpc>
                          <a:spcPct val="103000"/>
                        </a:lnSpc>
                        <a:spcBef>
                          <a:spcPts val="0"/>
                        </a:spcBef>
                        <a:spcAft>
                          <a:spcPts val="0"/>
                        </a:spcAft>
                      </a:pPr>
                      <a:r>
                        <a:rPr sz="1350" b="0">
                          <a:solidFill>
                            <a:srgbClr val="00407A"/>
                          </a:solidFill>
                          <a:latin typeface="Arial"/>
                        </a:rPr>
                        <a:t>Frequency level</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350" b="0">
                          <a:solidFill>
                            <a:srgbClr val="00407A"/>
                          </a:solidFill>
                          <a:latin typeface="Arial"/>
                        </a:rPr>
                        <a:t>92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350" b="0">
                          <a:solidFill>
                            <a:srgbClr val="00407A"/>
                          </a:solidFill>
                          <a:latin typeface="Arial"/>
                        </a:rPr>
                        <a:t>13 → 22  (0.11)</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350" b="0">
                          <a:solidFill>
                            <a:srgbClr val="00407A"/>
                          </a:solidFill>
                          <a:latin typeface="Arial"/>
                        </a:rPr>
                        <a:t>11 → 21  (0.064)</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350" b="0">
                          <a:solidFill>
                            <a:srgbClr val="00407A"/>
                          </a:solidFill>
                          <a:latin typeface="Arial"/>
                        </a:rPr>
                        <a:t>13 → 15  (0.85)</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350" b="1">
                          <a:solidFill>
                            <a:srgbClr val="00407A"/>
                          </a:solidFill>
                          <a:latin typeface="Arial"/>
                        </a:rPr>
                        <a:t>13 → 36  (&lt;0.001)</a:t>
                      </a:r>
                    </a:p>
                  </a:txBody>
                  <a:tcPr marL="109728" marR="91440" marT="54864" marB="36576" anchor="ctr">
                    <a:solidFill>
                      <a:srgbClr val="FFFFFF"/>
                    </a:solidFill>
                    <a:lnL>
                      <a:noFill/>
                    </a:lnL>
                    <a:lnR>
                      <a:noFill/>
                    </a:lnR>
                    <a:lnT>
                      <a:noFill/>
                    </a:lnT>
                    <a:lnB>
                      <a:noFill/>
                    </a:lnB>
                  </a:tcPr>
                </a:tc>
              </a:tr>
              <a:tr h="336499">
                <a:tc>
                  <a:txBody>
                    <a:bodyPr/>
                    <a:lstStyle/>
                    <a:p>
                      <a:pPr algn="l">
                        <a:lnSpc>
                          <a:spcPct val="103000"/>
                        </a:lnSpc>
                        <a:spcBef>
                          <a:spcPts val="0"/>
                        </a:spcBef>
                        <a:spcAft>
                          <a:spcPts val="0"/>
                        </a:spcAft>
                      </a:pPr>
                      <a:r>
                        <a:rPr sz="1350" b="0">
                          <a:solidFill>
                            <a:srgbClr val="00407A"/>
                          </a:solidFill>
                          <a:latin typeface="Arial"/>
                        </a:rPr>
                        <a:t>Slack level</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350" b="0">
                          <a:solidFill>
                            <a:srgbClr val="00407A"/>
                          </a:solidFill>
                          <a:latin typeface="Arial"/>
                        </a:rPr>
                        <a:t>92</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350" b="1">
                          <a:solidFill>
                            <a:srgbClr val="00407A"/>
                          </a:solidFill>
                          <a:latin typeface="Arial"/>
                        </a:rPr>
                        <a:t>8 → 63  (&lt;0.001)</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350" b="0">
                          <a:solidFill>
                            <a:srgbClr val="00407A"/>
                          </a:solidFill>
                          <a:latin typeface="Arial"/>
                        </a:rPr>
                        <a:t>4 → 10  (0.11)</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350" b="1">
                          <a:solidFill>
                            <a:srgbClr val="00407A"/>
                          </a:solidFill>
                          <a:latin typeface="Arial"/>
                        </a:rPr>
                        <a:t>3 → 15  (0.0042)</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350" b="1">
                          <a:solidFill>
                            <a:srgbClr val="00407A"/>
                          </a:solidFill>
                          <a:latin typeface="Arial"/>
                        </a:rPr>
                        <a:t>30 → 60  (&lt;0.001)</a:t>
                      </a:r>
                    </a:p>
                  </a:txBody>
                  <a:tcPr marL="109728" marR="91440" marT="54864" marB="36576" anchor="ctr">
                    <a:solidFill>
                      <a:srgbClr val="E3EFF5"/>
                    </a:solidFill>
                    <a:lnL>
                      <a:noFill/>
                    </a:lnL>
                    <a:lnR>
                      <a:noFill/>
                    </a:lnR>
                    <a:lnT>
                      <a:noFill/>
                    </a:lnT>
                    <a:lnB>
                      <a:noFill/>
                    </a:lnB>
                  </a:tcPr>
                </a:tc>
              </a:tr>
              <a:tr h="336499">
                <a:tc>
                  <a:txBody>
                    <a:bodyPr/>
                    <a:lstStyle/>
                    <a:p>
                      <a:pPr algn="l">
                        <a:lnSpc>
                          <a:spcPct val="103000"/>
                        </a:lnSpc>
                        <a:spcBef>
                          <a:spcPts val="0"/>
                        </a:spcBef>
                        <a:spcAft>
                          <a:spcPts val="0"/>
                        </a:spcAft>
                      </a:pPr>
                      <a:r>
                        <a:rPr sz="1350" b="0">
                          <a:solidFill>
                            <a:srgbClr val="00407A"/>
                          </a:solidFill>
                          <a:latin typeface="Arial"/>
                        </a:rPr>
                        <a:t>Pair: area</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350" b="0">
                          <a:solidFill>
                            <a:srgbClr val="00407A"/>
                          </a:solidFill>
                          <a:latin typeface="Arial"/>
                        </a:rPr>
                        <a:t>46</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350" b="0">
                          <a:solidFill>
                            <a:srgbClr val="00407A"/>
                          </a:solidFill>
                          <a:latin typeface="Arial"/>
                        </a:rPr>
                        <a:t>22 → 23  (1)</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350" b="0">
                          <a:solidFill>
                            <a:srgbClr val="00407A"/>
                          </a:solidFill>
                          <a:latin typeface="Arial"/>
                        </a:rPr>
                        <a:t>35 → 31  (0.39)</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350" b="0">
                          <a:solidFill>
                            <a:srgbClr val="00407A"/>
                          </a:solidFill>
                          <a:latin typeface="Arial"/>
                        </a:rPr>
                        <a:t>40 → 35  (0.27)</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350" b="0">
                          <a:solidFill>
                            <a:srgbClr val="00407A"/>
                          </a:solidFill>
                          <a:latin typeface="Arial"/>
                        </a:rPr>
                        <a:t>36 → 41  (0.062)</a:t>
                      </a:r>
                    </a:p>
                  </a:txBody>
                  <a:tcPr marL="109728" marR="91440" marT="54864" marB="36576" anchor="ctr">
                    <a:solidFill>
                      <a:srgbClr val="FFFFFF"/>
                    </a:solidFill>
                    <a:lnL>
                      <a:noFill/>
                    </a:lnL>
                    <a:lnR>
                      <a:noFill/>
                    </a:lnR>
                    <a:lnT>
                      <a:noFill/>
                    </a:lnT>
                    <a:lnB>
                      <a:noFill/>
                    </a:lnB>
                  </a:tcPr>
                </a:tc>
              </a:tr>
              <a:tr h="336499">
                <a:tc>
                  <a:txBody>
                    <a:bodyPr/>
                    <a:lstStyle/>
                    <a:p>
                      <a:pPr algn="l">
                        <a:lnSpc>
                          <a:spcPct val="103000"/>
                        </a:lnSpc>
                        <a:spcBef>
                          <a:spcPts val="0"/>
                        </a:spcBef>
                        <a:spcAft>
                          <a:spcPts val="0"/>
                        </a:spcAft>
                      </a:pPr>
                      <a:r>
                        <a:rPr sz="1350" b="0">
                          <a:solidFill>
                            <a:srgbClr val="00407A"/>
                          </a:solidFill>
                          <a:latin typeface="Arial"/>
                        </a:rPr>
                        <a:t>Pair: power</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350" b="0">
                          <a:solidFill>
                            <a:srgbClr val="00407A"/>
                          </a:solidFill>
                          <a:latin typeface="Arial"/>
                        </a:rPr>
                        <a:t>44</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350" b="0">
                          <a:solidFill>
                            <a:srgbClr val="00407A"/>
                          </a:solidFill>
                          <a:latin typeface="Arial"/>
                        </a:rPr>
                        <a:t>28 → 24  (0.29)</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350" b="0">
                          <a:solidFill>
                            <a:srgbClr val="00407A"/>
                          </a:solidFill>
                          <a:latin typeface="Arial"/>
                        </a:rPr>
                        <a:t>25 → 28  (0.45)</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350" b="0">
                          <a:solidFill>
                            <a:srgbClr val="00407A"/>
                          </a:solidFill>
                          <a:latin typeface="Arial"/>
                        </a:rPr>
                        <a:t>29 → 31  (0.82)</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350" b="0">
                          <a:solidFill>
                            <a:srgbClr val="00407A"/>
                          </a:solidFill>
                          <a:latin typeface="Arial"/>
                        </a:rPr>
                        <a:t>31 → 35  (0.12)</a:t>
                      </a:r>
                    </a:p>
                  </a:txBody>
                  <a:tcPr marL="109728" marR="91440" marT="54864" marB="36576" anchor="ctr">
                    <a:solidFill>
                      <a:srgbClr val="E3EFF5"/>
                    </a:solidFill>
                    <a:lnL>
                      <a:noFill/>
                    </a:lnL>
                    <a:lnR>
                      <a:noFill/>
                    </a:lnR>
                    <a:lnT>
                      <a:noFill/>
                    </a:lnT>
                    <a:lnB>
                      <a:noFill/>
                    </a:lnB>
                  </a:tcPr>
                </a:tc>
              </a:tr>
              <a:tr h="336499">
                <a:tc>
                  <a:txBody>
                    <a:bodyPr/>
                    <a:lstStyle/>
                    <a:p>
                      <a:pPr algn="l">
                        <a:lnSpc>
                          <a:spcPct val="103000"/>
                        </a:lnSpc>
                        <a:spcBef>
                          <a:spcPts val="0"/>
                        </a:spcBef>
                        <a:spcAft>
                          <a:spcPts val="0"/>
                        </a:spcAft>
                      </a:pPr>
                      <a:r>
                        <a:rPr sz="1350" b="0">
                          <a:solidFill>
                            <a:srgbClr val="00407A"/>
                          </a:solidFill>
                          <a:latin typeface="Arial"/>
                        </a:rPr>
                        <a:t>Pair: frequency</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350" b="0">
                          <a:solidFill>
                            <a:srgbClr val="00407A"/>
                          </a:solidFill>
                          <a:latin typeface="Arial"/>
                        </a:rPr>
                        <a:t>12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350" b="0">
                          <a:solidFill>
                            <a:srgbClr val="00407A"/>
                          </a:solidFill>
                          <a:latin typeface="Arial"/>
                        </a:rPr>
                        <a:t>8 → 6  (0.62)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350" b="0">
                          <a:solidFill>
                            <a:srgbClr val="00407A"/>
                          </a:solidFill>
                          <a:latin typeface="Arial"/>
                        </a:rPr>
                        <a:t>10 → 6  (0.12)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350" b="0">
                          <a:solidFill>
                            <a:srgbClr val="00407A"/>
                          </a:solidFill>
                          <a:latin typeface="Arial"/>
                        </a:rPr>
                        <a:t>9 → 9  (1)</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350" b="0">
                          <a:solidFill>
                            <a:srgbClr val="00407A"/>
                          </a:solidFill>
                          <a:latin typeface="Arial"/>
                        </a:rPr>
                        <a:t>10 → 11  (1)</a:t>
                      </a:r>
                    </a:p>
                  </a:txBody>
                  <a:tcPr marL="109728" marR="91440" marT="54864" marB="36576" anchor="ctr">
                    <a:solidFill>
                      <a:srgbClr val="FFFFFF"/>
                    </a:solidFill>
                    <a:lnL>
                      <a:noFill/>
                    </a:lnL>
                    <a:lnR>
                      <a:noFill/>
                    </a:lnR>
                    <a:lnT>
                      <a:noFill/>
                    </a:lnT>
                    <a:lnB>
                      <a:noFill/>
                    </a:lnB>
                  </a:tcPr>
                </a:tc>
              </a:tr>
            </a:tbl>
          </a:graphicData>
        </a:graphic>
      </p:graphicFrame>
      <p:sp>
        <p:nvSpPr>
          <p:cNvPr id="8" name="TextBox 7"/>
          <p:cNvSpPr txBox="1"/>
          <p:nvPr/>
        </p:nvSpPr>
        <p:spPr>
          <a:xfrm>
            <a:off x="960120" y="5870448"/>
            <a:ext cx="10149840" cy="502920"/>
          </a:xfrm>
          <a:prstGeom prst="rect">
            <a:avLst/>
          </a:prstGeom>
          <a:noFill/>
        </p:spPr>
        <p:txBody>
          <a:bodyPr wrap="square" lIns="0" rIns="0" tIns="0" bIns="0" anchor="t">
            <a:noAutofit/>
          </a:bodyPr>
          <a:lstStyle/>
          <a:p>
            <a:pPr algn="l">
              <a:lnSpc>
                <a:spcPct val="109000"/>
              </a:lnSpc>
              <a:spcBef>
                <a:spcPts val="0"/>
              </a:spcBef>
              <a:spcAft>
                <a:spcPts val="0"/>
              </a:spcAft>
            </a:pPr>
            <a:r>
              <a:rPr sz="1350" b="0">
                <a:solidFill>
                  <a:srgbClr val="00407A"/>
                </a:solidFill>
                <a:latin typeface="Arial"/>
              </a:rPr>
              <a:t>Each cell: correct answers without → with examples (p value). Bold: p &lt; 0.05.</a:t>
            </a:r>
          </a:p>
          <a:p>
            <a:pPr algn="l">
              <a:lnSpc>
                <a:spcPct val="109000"/>
              </a:lnSpc>
              <a:spcBef>
                <a:spcPts val="0"/>
              </a:spcBef>
              <a:spcAft>
                <a:spcPts val="0"/>
              </a:spcAft>
            </a:pPr>
            <a:r>
              <a:rPr sz="1350" b="0">
                <a:solidFill>
                  <a:srgbClr val="00407A"/>
                </a:solidFill>
                <a:latin typeface="Arial"/>
              </a:rPr>
              <a:t>With 40 tests, about 2 fall below 0.05 by chance alone.</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265176"/>
            <a:ext cx="10561320" cy="237744"/>
          </a:xfrm>
          <a:prstGeom prst="rect">
            <a:avLst/>
          </a:prstGeom>
          <a:noFill/>
        </p:spPr>
        <p:txBody>
          <a:bodyPr wrap="square" lIns="0" rIns="0" tIns="0" bIns="0" anchor="t">
            <a:noAutofit/>
          </a:bodyPr>
          <a:lstStyle/>
          <a:p>
            <a:pPr algn="l">
              <a:lnSpc>
                <a:spcPct val="109000"/>
              </a:lnSpc>
              <a:spcBef>
                <a:spcPts val="0"/>
              </a:spcBef>
              <a:spcAft>
                <a:spcPts val="0"/>
              </a:spcAft>
            </a:pPr>
            <a:r>
              <a:rPr sz="1250" b="1">
                <a:solidFill>
                  <a:srgbClr val="4A5A66"/>
                </a:solidFill>
                <a:latin typeface="Arial"/>
              </a:rPr>
              <a:t>EXPERIMENT 1  •  NO EXAMPLES</a:t>
            </a:r>
          </a:p>
        </p:txBody>
      </p:sp>
      <p:sp>
        <p:nvSpPr>
          <p:cNvPr id="3" name="TextBox 2"/>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Yes/no checks: every class and count</a:t>
            </a:r>
          </a:p>
        </p:txBody>
      </p:sp>
      <p:sp>
        <p:nvSpPr>
          <p:cNvPr id="4" name="TextBox 3"/>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“Correct” below is measured within the actual tool-outcome group.</a:t>
            </a:r>
          </a:p>
        </p:txBody>
      </p:sp>
      <p:sp>
        <p:nvSpPr>
          <p:cNvPr id="5" name="TextBox 4"/>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APPENDIX</a:t>
            </a:r>
          </a:p>
        </p:txBody>
      </p:sp>
      <p:sp>
        <p:nvSpPr>
          <p:cNvPr id="6" name="TextBox 5"/>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43</a:t>
            </a:r>
          </a:p>
        </p:txBody>
      </p:sp>
      <p:graphicFrame>
        <p:nvGraphicFramePr>
          <p:cNvPr id="7" name="Table 6"/>
          <p:cNvGraphicFramePr>
            <a:graphicFrameLocks noGrp="1"/>
          </p:cNvGraphicFramePr>
          <p:nvPr/>
        </p:nvGraphicFramePr>
        <p:xfrm>
          <a:off x="813816" y="1874519"/>
          <a:ext cx="10515600" cy="3657600"/>
        </p:xfrm>
        <a:graphic>
          <a:graphicData uri="http://schemas.openxmlformats.org/drawingml/2006/table">
            <a:tbl>
              <a:tblPr firstRow="1" bandRow="1">
                <a:tableStyleId>{5C22544A-7EE6-4342-B048-85BDC9FD1C3A}</a:tableStyleId>
              </a:tblPr>
              <a:tblGrid>
                <a:gridCol w="2926080"/>
                <a:gridCol w="1005840"/>
                <a:gridCol w="1645920"/>
                <a:gridCol w="1645920"/>
                <a:gridCol w="1645920"/>
                <a:gridCol w="1645920"/>
              </a:tblGrid>
              <a:tr h="566928">
                <a:tc>
                  <a:txBody>
                    <a:bodyPr/>
                    <a:lstStyle/>
                    <a:p>
                      <a:pPr algn="l">
                        <a:lnSpc>
                          <a:spcPct val="103000"/>
                        </a:lnSpc>
                        <a:spcBef>
                          <a:spcPts val="0"/>
                        </a:spcBef>
                        <a:spcAft>
                          <a:spcPts val="0"/>
                        </a:spcAft>
                      </a:pPr>
                      <a:r>
                        <a:rPr sz="1500" b="1">
                          <a:solidFill>
                            <a:srgbClr val="FFFFFF"/>
                          </a:solidFill>
                          <a:latin typeface="Arial"/>
                        </a:rPr>
                        <a:t>Actual tool group</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Designs</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0.8B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4B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9B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27B</a:t>
                      </a:r>
                    </a:p>
                  </a:txBody>
                  <a:tcPr marL="109728" marR="91440" marT="54864" marB="36576" anchor="ctr">
                    <a:solidFill>
                      <a:srgbClr val="00407A"/>
                    </a:solidFill>
                    <a:lnL>
                      <a:noFill/>
                    </a:lnL>
                    <a:lnR>
                      <a:noFill/>
                    </a:lnR>
                    <a:lnT>
                      <a:noFill/>
                    </a:lnT>
                    <a:lnB>
                      <a:noFill/>
                    </a:lnB>
                  </a:tcPr>
                </a:tc>
              </a:tr>
              <a:tr h="386334">
                <a:tc>
                  <a:txBody>
                    <a:bodyPr/>
                    <a:lstStyle/>
                    <a:p>
                      <a:pPr algn="l">
                        <a:lnSpc>
                          <a:spcPct val="103000"/>
                        </a:lnSpc>
                        <a:spcBef>
                          <a:spcPts val="0"/>
                        </a:spcBef>
                        <a:spcAft>
                          <a:spcPts val="0"/>
                        </a:spcAft>
                      </a:pPr>
                      <a:r>
                        <a:rPr sz="1700" b="0">
                          <a:solidFill>
                            <a:srgbClr val="00407A"/>
                          </a:solidFill>
                          <a:latin typeface="Arial"/>
                        </a:rPr>
                        <a:t>Compilation: successes</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114</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4 (3.5%)</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114 (100.0%)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114 (100.0%)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114 (100.0%)</a:t>
                      </a:r>
                    </a:p>
                  </a:txBody>
                  <a:tcPr marL="109728" marR="91440" marT="54864" marB="36576" anchor="ctr">
                    <a:solidFill>
                      <a:srgbClr val="E3EFF5"/>
                    </a:solidFill>
                    <a:lnL>
                      <a:noFill/>
                    </a:lnL>
                    <a:lnR>
                      <a:noFill/>
                    </a:lnR>
                    <a:lnT>
                      <a:noFill/>
                    </a:lnT>
                    <a:lnB>
                      <a:noFill/>
                    </a:lnB>
                  </a:tcPr>
                </a:tc>
              </a:tr>
              <a:tr h="386334">
                <a:tc>
                  <a:txBody>
                    <a:bodyPr/>
                    <a:lstStyle/>
                    <a:p>
                      <a:pPr algn="l">
                        <a:lnSpc>
                          <a:spcPct val="103000"/>
                        </a:lnSpc>
                        <a:spcBef>
                          <a:spcPts val="0"/>
                        </a:spcBef>
                        <a:spcAft>
                          <a:spcPts val="0"/>
                        </a:spcAft>
                      </a:pPr>
                      <a:r>
                        <a:rPr sz="1700" b="0">
                          <a:solidFill>
                            <a:srgbClr val="00407A"/>
                          </a:solidFill>
                          <a:latin typeface="Arial"/>
                        </a:rPr>
                        <a:t>Compilation: failures</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9</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9 (100.0%)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0 (0.0%)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2 (22.2%)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8 (88.9%)</a:t>
                      </a:r>
                    </a:p>
                  </a:txBody>
                  <a:tcPr marL="109728" marR="91440" marT="54864" marB="36576" anchor="ctr">
                    <a:solidFill>
                      <a:srgbClr val="FFFFFF"/>
                    </a:solidFill>
                    <a:lnL>
                      <a:noFill/>
                    </a:lnL>
                    <a:lnR>
                      <a:noFill/>
                    </a:lnR>
                    <a:lnT>
                      <a:noFill/>
                    </a:lnT>
                    <a:lnB>
                      <a:noFill/>
                    </a:lnB>
                  </a:tcPr>
                </a:tc>
              </a:tr>
              <a:tr h="386334">
                <a:tc>
                  <a:txBody>
                    <a:bodyPr/>
                    <a:lstStyle/>
                    <a:p>
                      <a:pPr algn="l">
                        <a:lnSpc>
                          <a:spcPct val="103000"/>
                        </a:lnSpc>
                        <a:spcBef>
                          <a:spcPts val="0"/>
                        </a:spcBef>
                        <a:spcAft>
                          <a:spcPts val="0"/>
                        </a:spcAft>
                      </a:pPr>
                      <a:r>
                        <a:rPr sz="1700" b="0">
                          <a:solidFill>
                            <a:srgbClr val="00407A"/>
                          </a:solidFill>
                          <a:latin typeface="Arial"/>
                        </a:rPr>
                        <a:t>Compilation: all designs</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123</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13 (10.6%)</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114 (92.7%)</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116 (94.3%)</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122 (99.2%)</a:t>
                      </a:r>
                    </a:p>
                  </a:txBody>
                  <a:tcPr marL="109728" marR="91440" marT="54864" marB="36576" anchor="ctr">
                    <a:solidFill>
                      <a:srgbClr val="E3EFF5"/>
                    </a:solidFill>
                    <a:lnL>
                      <a:noFill/>
                    </a:lnL>
                    <a:lnR>
                      <a:noFill/>
                    </a:lnR>
                    <a:lnT>
                      <a:noFill/>
                    </a:lnT>
                    <a:lnB>
                      <a:noFill/>
                    </a:lnB>
                  </a:tcPr>
                </a:tc>
              </a:tr>
              <a:tr h="386334">
                <a:tc>
                  <a:txBody>
                    <a:bodyPr/>
                    <a:lstStyle/>
                    <a:p>
                      <a:pPr algn="l">
                        <a:lnSpc>
                          <a:spcPct val="103000"/>
                        </a:lnSpc>
                        <a:spcBef>
                          <a:spcPts val="0"/>
                        </a:spcBef>
                        <a:spcAft>
                          <a:spcPts val="0"/>
                        </a:spcAft>
                      </a:pPr>
                      <a:r>
                        <a:rPr sz="1700" b="0">
                          <a:solidFill>
                            <a:srgbClr val="00407A"/>
                          </a:solidFill>
                          <a:latin typeface="Arial"/>
                        </a:rPr>
                        <a:t>Compilation: “yes” answers</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123</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4</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123</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121</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115</a:t>
                      </a:r>
                    </a:p>
                  </a:txBody>
                  <a:tcPr marL="109728" marR="91440" marT="54864" marB="36576" anchor="ctr">
                    <a:solidFill>
                      <a:srgbClr val="FFFFFF"/>
                    </a:solidFill>
                    <a:lnL>
                      <a:noFill/>
                    </a:lnL>
                    <a:lnR>
                      <a:noFill/>
                    </a:lnR>
                    <a:lnT>
                      <a:noFill/>
                    </a:lnT>
                    <a:lnB>
                      <a:noFill/>
                    </a:lnB>
                  </a:tcPr>
                </a:tc>
              </a:tr>
              <a:tr h="386334">
                <a:tc>
                  <a:txBody>
                    <a:bodyPr/>
                    <a:lstStyle/>
                    <a:p>
                      <a:pPr algn="l">
                        <a:lnSpc>
                          <a:spcPct val="103000"/>
                        </a:lnSpc>
                        <a:spcBef>
                          <a:spcPts val="0"/>
                        </a:spcBef>
                        <a:spcAft>
                          <a:spcPts val="0"/>
                        </a:spcAft>
                      </a:pPr>
                      <a:r>
                        <a:rPr sz="1700" b="0">
                          <a:solidFill>
                            <a:srgbClr val="00407A"/>
                          </a:solidFill>
                          <a:latin typeface="Arial"/>
                        </a:rPr>
                        <a:t>Synthesis: successes</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99</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99 (100.0%)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98 (99.0%)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97 (98.0%)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98 (99.0%)</a:t>
                      </a:r>
                    </a:p>
                  </a:txBody>
                  <a:tcPr marL="109728" marR="91440" marT="54864" marB="36576" anchor="ctr">
                    <a:solidFill>
                      <a:srgbClr val="E3EFF5"/>
                    </a:solidFill>
                    <a:lnL>
                      <a:noFill/>
                    </a:lnL>
                    <a:lnR>
                      <a:noFill/>
                    </a:lnR>
                    <a:lnT>
                      <a:noFill/>
                    </a:lnT>
                    <a:lnB>
                      <a:noFill/>
                    </a:lnB>
                  </a:tcPr>
                </a:tc>
              </a:tr>
              <a:tr h="386334">
                <a:tc>
                  <a:txBody>
                    <a:bodyPr/>
                    <a:lstStyle/>
                    <a:p>
                      <a:pPr algn="l">
                        <a:lnSpc>
                          <a:spcPct val="103000"/>
                        </a:lnSpc>
                        <a:spcBef>
                          <a:spcPts val="0"/>
                        </a:spcBef>
                        <a:spcAft>
                          <a:spcPts val="0"/>
                        </a:spcAft>
                      </a:pPr>
                      <a:r>
                        <a:rPr sz="1700" b="0">
                          <a:solidFill>
                            <a:srgbClr val="00407A"/>
                          </a:solidFill>
                          <a:latin typeface="Arial"/>
                        </a:rPr>
                        <a:t>Synthesis: failures</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24</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0 (0.0%)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0 (0.0%)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2 (8.3%)</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4 (16.7%)</a:t>
                      </a:r>
                    </a:p>
                  </a:txBody>
                  <a:tcPr marL="109728" marR="91440" marT="54864" marB="36576" anchor="ctr">
                    <a:solidFill>
                      <a:srgbClr val="FFFFFF"/>
                    </a:solidFill>
                    <a:lnL>
                      <a:noFill/>
                    </a:lnL>
                    <a:lnR>
                      <a:noFill/>
                    </a:lnR>
                    <a:lnT>
                      <a:noFill/>
                    </a:lnT>
                    <a:lnB>
                      <a:noFill/>
                    </a:lnB>
                  </a:tcPr>
                </a:tc>
              </a:tr>
              <a:tr h="386334">
                <a:tc>
                  <a:txBody>
                    <a:bodyPr/>
                    <a:lstStyle/>
                    <a:p>
                      <a:pPr algn="l">
                        <a:lnSpc>
                          <a:spcPct val="103000"/>
                        </a:lnSpc>
                        <a:spcBef>
                          <a:spcPts val="0"/>
                        </a:spcBef>
                        <a:spcAft>
                          <a:spcPts val="0"/>
                        </a:spcAft>
                      </a:pPr>
                      <a:r>
                        <a:rPr sz="1700" b="0">
                          <a:solidFill>
                            <a:srgbClr val="00407A"/>
                          </a:solidFill>
                          <a:latin typeface="Arial"/>
                        </a:rPr>
                        <a:t>Synthesis: all designs</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123</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99 (80.5%)</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98 (79.7%)</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99 (80.5%)</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102 (82.9%)</a:t>
                      </a:r>
                    </a:p>
                  </a:txBody>
                  <a:tcPr marL="109728" marR="91440" marT="54864" marB="36576" anchor="ctr">
                    <a:solidFill>
                      <a:srgbClr val="E3EFF5"/>
                    </a:solidFill>
                    <a:lnL>
                      <a:noFill/>
                    </a:lnL>
                    <a:lnR>
                      <a:noFill/>
                    </a:lnR>
                    <a:lnT>
                      <a:noFill/>
                    </a:lnT>
                    <a:lnB>
                      <a:noFill/>
                    </a:lnB>
                  </a:tcPr>
                </a:tc>
              </a:tr>
              <a:tr h="386334">
                <a:tc>
                  <a:txBody>
                    <a:bodyPr/>
                    <a:lstStyle/>
                    <a:p>
                      <a:pPr algn="l">
                        <a:lnSpc>
                          <a:spcPct val="103000"/>
                        </a:lnSpc>
                        <a:spcBef>
                          <a:spcPts val="0"/>
                        </a:spcBef>
                        <a:spcAft>
                          <a:spcPts val="0"/>
                        </a:spcAft>
                      </a:pPr>
                      <a:r>
                        <a:rPr sz="1700" b="0">
                          <a:solidFill>
                            <a:srgbClr val="00407A"/>
                          </a:solidFill>
                          <a:latin typeface="Arial"/>
                        </a:rPr>
                        <a:t>Synthesis: “yes” answers</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123</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123</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122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119</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118</a:t>
                      </a:r>
                    </a:p>
                  </a:txBody>
                  <a:tcPr marL="109728" marR="91440" marT="54864" marB="36576" anchor="ctr">
                    <a:solidFill>
                      <a:srgbClr val="FFFFFF"/>
                    </a:solidFill>
                    <a:lnL>
                      <a:noFill/>
                    </a:lnL>
                    <a:lnR>
                      <a:noFill/>
                    </a:lnR>
                    <a:lnT>
                      <a:noFill/>
                    </a:lnT>
                    <a:lnB>
                      <a:noFill/>
                    </a:lnB>
                  </a:tcPr>
                </a:tc>
              </a:tr>
            </a:tbl>
          </a:graphicData>
        </a:graphic>
      </p:graphicFrame>
      <p:sp>
        <p:nvSpPr>
          <p:cNvPr id="8" name="TextBox 7"/>
          <p:cNvSpPr txBox="1"/>
          <p:nvPr/>
        </p:nvSpPr>
        <p:spPr>
          <a:xfrm>
            <a:off x="960120" y="5641848"/>
            <a:ext cx="10149840" cy="640080"/>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00407A"/>
                </a:solidFill>
                <a:latin typeface="Arial"/>
              </a:rPr>
              <a:t>Each cell: number correct, then the percentage of the group.</a:t>
            </a:r>
          </a:p>
          <a:p>
            <a:pPr algn="l">
              <a:lnSpc>
                <a:spcPct val="109000"/>
              </a:lnSpc>
              <a:spcBef>
                <a:spcPts val="0"/>
              </a:spcBef>
              <a:spcAft>
                <a:spcPts val="0"/>
              </a:spcAft>
            </a:pPr>
            <a:r>
              <a:rPr sz="1600" b="0">
                <a:solidFill>
                  <a:srgbClr val="00407A"/>
                </a:solidFill>
                <a:latin typeface="Arial"/>
              </a:rPr>
              <a:t>“All designs” is the score on the result slides. “Yes” answers count all 123 designs.</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265176"/>
            <a:ext cx="10561320" cy="237744"/>
          </a:xfrm>
          <a:prstGeom prst="rect">
            <a:avLst/>
          </a:prstGeom>
          <a:noFill/>
        </p:spPr>
        <p:txBody>
          <a:bodyPr wrap="square" lIns="0" rIns="0" tIns="0" bIns="0" anchor="t">
            <a:noAutofit/>
          </a:bodyPr>
          <a:lstStyle/>
          <a:p>
            <a:pPr algn="l">
              <a:lnSpc>
                <a:spcPct val="109000"/>
              </a:lnSpc>
              <a:spcBef>
                <a:spcPts val="0"/>
              </a:spcBef>
              <a:spcAft>
                <a:spcPts val="0"/>
              </a:spcAft>
            </a:pPr>
            <a:r>
              <a:rPr sz="1250" b="1">
                <a:solidFill>
                  <a:srgbClr val="0B5A93"/>
                </a:solidFill>
                <a:latin typeface="Arial"/>
              </a:rPr>
              <a:t>EXPERIMENT 2  •  THREE SOLVED EXAMPLES PER QUESTION</a:t>
            </a:r>
          </a:p>
        </p:txBody>
      </p:sp>
      <p:sp>
        <p:nvSpPr>
          <p:cNvPr id="3" name="TextBox 2"/>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Yes/no checks with examples: every class</a:t>
            </a:r>
          </a:p>
        </p:txBody>
      </p:sp>
      <p:sp>
        <p:nvSpPr>
          <p:cNvPr id="4" name="TextBox 3"/>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“Correct” below is measured within the actual tool-outcome group.</a:t>
            </a:r>
          </a:p>
        </p:txBody>
      </p:sp>
      <p:sp>
        <p:nvSpPr>
          <p:cNvPr id="5" name="TextBox 4"/>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three examples per question  •  16 October 2026  |  APPENDIX</a:t>
            </a:r>
          </a:p>
        </p:txBody>
      </p:sp>
      <p:sp>
        <p:nvSpPr>
          <p:cNvPr id="6" name="TextBox 5"/>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44</a:t>
            </a:r>
          </a:p>
        </p:txBody>
      </p:sp>
      <p:graphicFrame>
        <p:nvGraphicFramePr>
          <p:cNvPr id="7" name="Table 6"/>
          <p:cNvGraphicFramePr>
            <a:graphicFrameLocks noGrp="1"/>
          </p:cNvGraphicFramePr>
          <p:nvPr/>
        </p:nvGraphicFramePr>
        <p:xfrm>
          <a:off x="813816" y="1874519"/>
          <a:ext cx="10515600" cy="3657600"/>
        </p:xfrm>
        <a:graphic>
          <a:graphicData uri="http://schemas.openxmlformats.org/drawingml/2006/table">
            <a:tbl>
              <a:tblPr firstRow="1" bandRow="1">
                <a:tableStyleId>{5C22544A-7EE6-4342-B048-85BDC9FD1C3A}</a:tableStyleId>
              </a:tblPr>
              <a:tblGrid>
                <a:gridCol w="2926080"/>
                <a:gridCol w="1005840"/>
                <a:gridCol w="1645920"/>
                <a:gridCol w="1645920"/>
                <a:gridCol w="1645920"/>
                <a:gridCol w="1645920"/>
              </a:tblGrid>
              <a:tr h="566928">
                <a:tc>
                  <a:txBody>
                    <a:bodyPr/>
                    <a:lstStyle/>
                    <a:p>
                      <a:pPr algn="l">
                        <a:lnSpc>
                          <a:spcPct val="103000"/>
                        </a:lnSpc>
                        <a:spcBef>
                          <a:spcPts val="0"/>
                        </a:spcBef>
                        <a:spcAft>
                          <a:spcPts val="0"/>
                        </a:spcAft>
                      </a:pPr>
                      <a:r>
                        <a:rPr sz="1500" b="1">
                          <a:solidFill>
                            <a:srgbClr val="FFFFFF"/>
                          </a:solidFill>
                          <a:latin typeface="Arial"/>
                        </a:rPr>
                        <a:t>Actual tool group</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Designs</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0.8B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4B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9B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27B</a:t>
                      </a:r>
                    </a:p>
                  </a:txBody>
                  <a:tcPr marL="109728" marR="91440" marT="54864" marB="36576" anchor="ctr">
                    <a:solidFill>
                      <a:srgbClr val="00407A"/>
                    </a:solidFill>
                    <a:lnL>
                      <a:noFill/>
                    </a:lnL>
                    <a:lnR>
                      <a:noFill/>
                    </a:lnR>
                    <a:lnT>
                      <a:noFill/>
                    </a:lnT>
                    <a:lnB>
                      <a:noFill/>
                    </a:lnB>
                  </a:tcPr>
                </a:tc>
              </a:tr>
              <a:tr h="386334">
                <a:tc>
                  <a:txBody>
                    <a:bodyPr/>
                    <a:lstStyle/>
                    <a:p>
                      <a:pPr algn="l">
                        <a:lnSpc>
                          <a:spcPct val="103000"/>
                        </a:lnSpc>
                        <a:spcBef>
                          <a:spcPts val="0"/>
                        </a:spcBef>
                        <a:spcAft>
                          <a:spcPts val="0"/>
                        </a:spcAft>
                      </a:pPr>
                      <a:r>
                        <a:rPr sz="1700" b="0">
                          <a:solidFill>
                            <a:srgbClr val="00407A"/>
                          </a:solidFill>
                          <a:latin typeface="Arial"/>
                        </a:rPr>
                        <a:t>Compilation: successes</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114</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1 (0.9%)</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113 (99.1%)</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112 (98.2%)</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108 (94.7%)</a:t>
                      </a:r>
                    </a:p>
                  </a:txBody>
                  <a:tcPr marL="109728" marR="91440" marT="54864" marB="36576" anchor="ctr">
                    <a:solidFill>
                      <a:srgbClr val="E3EFF5"/>
                    </a:solidFill>
                    <a:lnL>
                      <a:noFill/>
                    </a:lnL>
                    <a:lnR>
                      <a:noFill/>
                    </a:lnR>
                    <a:lnT>
                      <a:noFill/>
                    </a:lnT>
                    <a:lnB>
                      <a:noFill/>
                    </a:lnB>
                  </a:tcPr>
                </a:tc>
              </a:tr>
              <a:tr h="386334">
                <a:tc>
                  <a:txBody>
                    <a:bodyPr/>
                    <a:lstStyle/>
                    <a:p>
                      <a:pPr algn="l">
                        <a:lnSpc>
                          <a:spcPct val="103000"/>
                        </a:lnSpc>
                        <a:spcBef>
                          <a:spcPts val="0"/>
                        </a:spcBef>
                        <a:spcAft>
                          <a:spcPts val="0"/>
                        </a:spcAft>
                      </a:pPr>
                      <a:r>
                        <a:rPr sz="1700" b="0">
                          <a:solidFill>
                            <a:srgbClr val="00407A"/>
                          </a:solidFill>
                          <a:latin typeface="Arial"/>
                        </a:rPr>
                        <a:t>Compilation: failures</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9</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9 (100.0%)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3 (33.3%)</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4 (44.4%)</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9 (100.0%)</a:t>
                      </a:r>
                    </a:p>
                  </a:txBody>
                  <a:tcPr marL="109728" marR="91440" marT="54864" marB="36576" anchor="ctr">
                    <a:solidFill>
                      <a:srgbClr val="FFFFFF"/>
                    </a:solidFill>
                    <a:lnL>
                      <a:noFill/>
                    </a:lnL>
                    <a:lnR>
                      <a:noFill/>
                    </a:lnR>
                    <a:lnT>
                      <a:noFill/>
                    </a:lnT>
                    <a:lnB>
                      <a:noFill/>
                    </a:lnB>
                  </a:tcPr>
                </a:tc>
              </a:tr>
              <a:tr h="386334">
                <a:tc>
                  <a:txBody>
                    <a:bodyPr/>
                    <a:lstStyle/>
                    <a:p>
                      <a:pPr algn="l">
                        <a:lnSpc>
                          <a:spcPct val="103000"/>
                        </a:lnSpc>
                        <a:spcBef>
                          <a:spcPts val="0"/>
                        </a:spcBef>
                        <a:spcAft>
                          <a:spcPts val="0"/>
                        </a:spcAft>
                      </a:pPr>
                      <a:r>
                        <a:rPr sz="1700" b="0">
                          <a:solidFill>
                            <a:srgbClr val="00407A"/>
                          </a:solidFill>
                          <a:latin typeface="Arial"/>
                        </a:rPr>
                        <a:t>Compilation: all designs</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123</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10 (8.1%)</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116 (94.3%)</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116 (94.3%)</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117 (95.1%)</a:t>
                      </a:r>
                    </a:p>
                  </a:txBody>
                  <a:tcPr marL="109728" marR="91440" marT="54864" marB="36576" anchor="ctr">
                    <a:solidFill>
                      <a:srgbClr val="E3EFF5"/>
                    </a:solidFill>
                    <a:lnL>
                      <a:noFill/>
                    </a:lnL>
                    <a:lnR>
                      <a:noFill/>
                    </a:lnR>
                    <a:lnT>
                      <a:noFill/>
                    </a:lnT>
                    <a:lnB>
                      <a:noFill/>
                    </a:lnB>
                  </a:tcPr>
                </a:tc>
              </a:tr>
              <a:tr h="386334">
                <a:tc>
                  <a:txBody>
                    <a:bodyPr/>
                    <a:lstStyle/>
                    <a:p>
                      <a:pPr algn="l">
                        <a:lnSpc>
                          <a:spcPct val="103000"/>
                        </a:lnSpc>
                        <a:spcBef>
                          <a:spcPts val="0"/>
                        </a:spcBef>
                        <a:spcAft>
                          <a:spcPts val="0"/>
                        </a:spcAft>
                      </a:pPr>
                      <a:r>
                        <a:rPr sz="1700" b="0">
                          <a:solidFill>
                            <a:srgbClr val="00407A"/>
                          </a:solidFill>
                          <a:latin typeface="Arial"/>
                        </a:rPr>
                        <a:t>Compilation: “yes” answers</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123</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1</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119</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117</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108</a:t>
                      </a:r>
                    </a:p>
                  </a:txBody>
                  <a:tcPr marL="109728" marR="91440" marT="54864" marB="36576" anchor="ctr">
                    <a:solidFill>
                      <a:srgbClr val="FFFFFF"/>
                    </a:solidFill>
                    <a:lnL>
                      <a:noFill/>
                    </a:lnL>
                    <a:lnR>
                      <a:noFill/>
                    </a:lnR>
                    <a:lnT>
                      <a:noFill/>
                    </a:lnT>
                    <a:lnB>
                      <a:noFill/>
                    </a:lnB>
                  </a:tcPr>
                </a:tc>
              </a:tr>
              <a:tr h="386334">
                <a:tc>
                  <a:txBody>
                    <a:bodyPr/>
                    <a:lstStyle/>
                    <a:p>
                      <a:pPr algn="l">
                        <a:lnSpc>
                          <a:spcPct val="103000"/>
                        </a:lnSpc>
                        <a:spcBef>
                          <a:spcPts val="0"/>
                        </a:spcBef>
                        <a:spcAft>
                          <a:spcPts val="0"/>
                        </a:spcAft>
                      </a:pPr>
                      <a:r>
                        <a:rPr sz="1700" b="0">
                          <a:solidFill>
                            <a:srgbClr val="00407A"/>
                          </a:solidFill>
                          <a:latin typeface="Arial"/>
                        </a:rPr>
                        <a:t>Synthesis: successes</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99</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0 (0.0%)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98 (99.0%)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98 (99.0%)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96 (97.0%)</a:t>
                      </a:r>
                    </a:p>
                  </a:txBody>
                  <a:tcPr marL="109728" marR="91440" marT="54864" marB="36576" anchor="ctr">
                    <a:solidFill>
                      <a:srgbClr val="E3EFF5"/>
                    </a:solidFill>
                    <a:lnL>
                      <a:noFill/>
                    </a:lnL>
                    <a:lnR>
                      <a:noFill/>
                    </a:lnR>
                    <a:lnT>
                      <a:noFill/>
                    </a:lnT>
                    <a:lnB>
                      <a:noFill/>
                    </a:lnB>
                  </a:tcPr>
                </a:tc>
              </a:tr>
              <a:tr h="386334">
                <a:tc>
                  <a:txBody>
                    <a:bodyPr/>
                    <a:lstStyle/>
                    <a:p>
                      <a:pPr algn="l">
                        <a:lnSpc>
                          <a:spcPct val="103000"/>
                        </a:lnSpc>
                        <a:spcBef>
                          <a:spcPts val="0"/>
                        </a:spcBef>
                        <a:spcAft>
                          <a:spcPts val="0"/>
                        </a:spcAft>
                      </a:pPr>
                      <a:r>
                        <a:rPr sz="1700" b="0">
                          <a:solidFill>
                            <a:srgbClr val="00407A"/>
                          </a:solidFill>
                          <a:latin typeface="Arial"/>
                        </a:rPr>
                        <a:t>Synthesis: failures</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24</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24 (100.0%)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2 (8.3%)</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4 (16.7%)</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12 (50.0%)</a:t>
                      </a:r>
                    </a:p>
                  </a:txBody>
                  <a:tcPr marL="109728" marR="91440" marT="54864" marB="36576" anchor="ctr">
                    <a:solidFill>
                      <a:srgbClr val="FFFFFF"/>
                    </a:solidFill>
                    <a:lnL>
                      <a:noFill/>
                    </a:lnL>
                    <a:lnR>
                      <a:noFill/>
                    </a:lnR>
                    <a:lnT>
                      <a:noFill/>
                    </a:lnT>
                    <a:lnB>
                      <a:noFill/>
                    </a:lnB>
                  </a:tcPr>
                </a:tc>
              </a:tr>
              <a:tr h="386334">
                <a:tc>
                  <a:txBody>
                    <a:bodyPr/>
                    <a:lstStyle/>
                    <a:p>
                      <a:pPr algn="l">
                        <a:lnSpc>
                          <a:spcPct val="103000"/>
                        </a:lnSpc>
                        <a:spcBef>
                          <a:spcPts val="0"/>
                        </a:spcBef>
                        <a:spcAft>
                          <a:spcPts val="0"/>
                        </a:spcAft>
                      </a:pPr>
                      <a:r>
                        <a:rPr sz="1700" b="0">
                          <a:solidFill>
                            <a:srgbClr val="00407A"/>
                          </a:solidFill>
                          <a:latin typeface="Arial"/>
                        </a:rPr>
                        <a:t>Synthesis: all designs</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123</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24 (19.5%)</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100 (81.3%)</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102 (82.9%)</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108 (87.8%)</a:t>
                      </a:r>
                    </a:p>
                  </a:txBody>
                  <a:tcPr marL="109728" marR="91440" marT="54864" marB="36576" anchor="ctr">
                    <a:solidFill>
                      <a:srgbClr val="E3EFF5"/>
                    </a:solidFill>
                    <a:lnL>
                      <a:noFill/>
                    </a:lnL>
                    <a:lnR>
                      <a:noFill/>
                    </a:lnR>
                    <a:lnT>
                      <a:noFill/>
                    </a:lnT>
                    <a:lnB>
                      <a:noFill/>
                    </a:lnB>
                  </a:tcPr>
                </a:tc>
              </a:tr>
              <a:tr h="386334">
                <a:tc>
                  <a:txBody>
                    <a:bodyPr/>
                    <a:lstStyle/>
                    <a:p>
                      <a:pPr algn="l">
                        <a:lnSpc>
                          <a:spcPct val="103000"/>
                        </a:lnSpc>
                        <a:spcBef>
                          <a:spcPts val="0"/>
                        </a:spcBef>
                        <a:spcAft>
                          <a:spcPts val="0"/>
                        </a:spcAft>
                      </a:pPr>
                      <a:r>
                        <a:rPr sz="1700" b="0">
                          <a:solidFill>
                            <a:srgbClr val="00407A"/>
                          </a:solidFill>
                          <a:latin typeface="Arial"/>
                        </a:rPr>
                        <a:t>Synthesis: “yes” answers</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123</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120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118</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108</a:t>
                      </a:r>
                    </a:p>
                  </a:txBody>
                  <a:tcPr marL="109728" marR="91440" marT="54864" marB="36576" anchor="ctr">
                    <a:solidFill>
                      <a:srgbClr val="FFFFFF"/>
                    </a:solidFill>
                    <a:lnL>
                      <a:noFill/>
                    </a:lnL>
                    <a:lnR>
                      <a:noFill/>
                    </a:lnR>
                    <a:lnT>
                      <a:noFill/>
                    </a:lnT>
                    <a:lnB>
                      <a:noFill/>
                    </a:lnB>
                  </a:tcPr>
                </a:tc>
              </a:tr>
            </a:tbl>
          </a:graphicData>
        </a:graphic>
      </p:graphicFrame>
      <p:sp>
        <p:nvSpPr>
          <p:cNvPr id="8" name="TextBox 7"/>
          <p:cNvSpPr txBox="1"/>
          <p:nvPr/>
        </p:nvSpPr>
        <p:spPr>
          <a:xfrm>
            <a:off x="960120" y="5641848"/>
            <a:ext cx="10149840" cy="640080"/>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00407A"/>
                </a:solidFill>
                <a:latin typeface="Arial"/>
              </a:rPr>
              <a:t>Each cell: number correct, then the percentage of the group.</a:t>
            </a:r>
          </a:p>
          <a:p>
            <a:pPr algn="l">
              <a:lnSpc>
                <a:spcPct val="109000"/>
              </a:lnSpc>
              <a:spcBef>
                <a:spcPts val="0"/>
              </a:spcBef>
              <a:spcAft>
                <a:spcPts val="0"/>
              </a:spcAft>
            </a:pPr>
            <a:r>
              <a:rPr sz="1600" b="0">
                <a:solidFill>
                  <a:srgbClr val="00407A"/>
                </a:solidFill>
                <a:latin typeface="Arial"/>
              </a:rPr>
              <a:t>“All designs” is the score on the result slides. “Yes” answers count all 123 designs.</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265176"/>
            <a:ext cx="10561320" cy="237744"/>
          </a:xfrm>
          <a:prstGeom prst="rect">
            <a:avLst/>
          </a:prstGeom>
          <a:noFill/>
        </p:spPr>
        <p:txBody>
          <a:bodyPr wrap="square" lIns="0" rIns="0" tIns="0" bIns="0" anchor="t">
            <a:noAutofit/>
          </a:bodyPr>
          <a:lstStyle/>
          <a:p>
            <a:pPr algn="l">
              <a:lnSpc>
                <a:spcPct val="109000"/>
              </a:lnSpc>
              <a:spcBef>
                <a:spcPts val="0"/>
              </a:spcBef>
              <a:spcAft>
                <a:spcPts val="0"/>
              </a:spcAft>
            </a:pPr>
            <a:r>
              <a:rPr sz="1250" b="1">
                <a:solidFill>
                  <a:srgbClr val="4A5A66"/>
                </a:solidFill>
                <a:latin typeface="Arial"/>
              </a:rPr>
              <a:t>EXPERIMENT 1  •  NO EXAMPLES</a:t>
            </a:r>
          </a:p>
        </p:txBody>
      </p:sp>
      <p:sp>
        <p:nvSpPr>
          <p:cNvPr id="3" name="TextBox 2"/>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Most failing designs get the same answer as successes</a:t>
            </a:r>
          </a:p>
        </p:txBody>
      </p:sp>
      <p:sp>
        <p:nvSpPr>
          <p:cNvPr id="4" name="TextBox 3"/>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Each dot is one held-out design. A yes probability of 0.5 or more counts as “yes”.</a:t>
            </a:r>
          </a:p>
        </p:txBody>
      </p:sp>
      <p:sp>
        <p:nvSpPr>
          <p:cNvPr id="5" name="TextBox 4"/>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APPENDIX</a:t>
            </a:r>
          </a:p>
        </p:txBody>
      </p:sp>
      <p:sp>
        <p:nvSpPr>
          <p:cNvPr id="6" name="TextBox 5"/>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45</a:t>
            </a:r>
          </a:p>
        </p:txBody>
      </p:sp>
      <p:sp>
        <p:nvSpPr>
          <p:cNvPr id="7" name="Rounded Rectangle 6"/>
          <p:cNvSpPr/>
          <p:nvPr/>
        </p:nvSpPr>
        <p:spPr>
          <a:xfrm>
            <a:off x="813816" y="1819656"/>
            <a:ext cx="5166360" cy="3730752"/>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14984" y="1984248"/>
            <a:ext cx="4764024" cy="502920"/>
          </a:xfrm>
          <a:prstGeom prst="rect">
            <a:avLst/>
          </a:prstGeom>
          <a:noFill/>
        </p:spPr>
        <p:txBody>
          <a:bodyPr wrap="square" lIns="0" rIns="0" tIns="0" bIns="0" anchor="t">
            <a:noAutofit/>
          </a:bodyPr>
          <a:lstStyle/>
          <a:p>
            <a:pPr algn="l">
              <a:lnSpc>
                <a:spcPct val="109000"/>
              </a:lnSpc>
              <a:spcBef>
                <a:spcPts val="0"/>
              </a:spcBef>
              <a:spcAft>
                <a:spcPts val="0"/>
              </a:spcAft>
            </a:pPr>
            <a:r>
              <a:rPr sz="1800" b="1">
                <a:solidFill>
                  <a:srgbClr val="00407A"/>
                </a:solidFill>
                <a:latin typeface="Arial"/>
              </a:rPr>
              <a:t>Does it synthesize?</a:t>
            </a:r>
          </a:p>
        </p:txBody>
      </p:sp>
      <p:sp>
        <p:nvSpPr>
          <p:cNvPr id="9" name="TextBox 8"/>
          <p:cNvSpPr txBox="1"/>
          <p:nvPr/>
        </p:nvSpPr>
        <p:spPr>
          <a:xfrm>
            <a:off x="1014984" y="2432304"/>
            <a:ext cx="4764024" cy="274320"/>
          </a:xfrm>
          <a:prstGeom prst="rect">
            <a:avLst/>
          </a:prstGeom>
          <a:noFill/>
        </p:spPr>
        <p:txBody>
          <a:bodyPr wrap="square" lIns="0" rIns="0" tIns="0" bIns="0">
            <a:noAutofit/>
          </a:bodyPr>
          <a:lstStyle/>
          <a:p>
            <a:r>
              <a:rPr sz="1250">
                <a:solidFill>
                  <a:srgbClr val="1D8DB0"/>
                </a:solidFill>
                <a:latin typeface="Arial"/>
              </a:rPr>
              <a:t>●</a:t>
            </a:r>
            <a:r>
              <a:rPr sz="1250">
                <a:solidFill>
                  <a:srgbClr val="4A5A66"/>
                </a:solidFill>
                <a:latin typeface="Arial"/>
              </a:rPr>
              <a:t> tool synthesizes: 99</a:t>
            </a:r>
            <a:r>
              <a:rPr sz="1250">
                <a:solidFill>
                  <a:srgbClr val="E97132"/>
                </a:solidFill>
                <a:latin typeface="Arial"/>
              </a:rPr>
              <a:t>      ●</a:t>
            </a:r>
            <a:r>
              <a:rPr sz="1250">
                <a:solidFill>
                  <a:srgbClr val="4A5A66"/>
                </a:solidFill>
                <a:latin typeface="Arial"/>
              </a:rPr>
              <a:t> tool fails: 24</a:t>
            </a:r>
          </a:p>
        </p:txBody>
      </p:sp>
      <p:cxnSp>
        <p:nvCxnSpPr>
          <p:cNvPr id="10" name="Connector 9"/>
          <p:cNvCxnSpPr/>
          <p:nvPr/>
        </p:nvCxnSpPr>
        <p:spPr>
          <a:xfrm>
            <a:off x="1664208" y="2825496"/>
            <a:ext cx="0" cy="194767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146304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a:t>
            </a:r>
          </a:p>
        </p:txBody>
      </p:sp>
      <p:cxnSp>
        <p:nvCxnSpPr>
          <p:cNvPr id="12" name="Connector 11"/>
          <p:cNvCxnSpPr/>
          <p:nvPr/>
        </p:nvCxnSpPr>
        <p:spPr>
          <a:xfrm>
            <a:off x="3172968" y="2825496"/>
            <a:ext cx="0" cy="1947672"/>
          </a:xfrm>
          <a:prstGeom prst="line">
            <a:avLst/>
          </a:prstGeom>
          <a:ln w="15240">
            <a:solidFill>
              <a:srgbClr val="4A5A66"/>
            </a:solidFill>
            <a:prstDash val="dash"/>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297180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0.5</a:t>
            </a:r>
          </a:p>
        </p:txBody>
      </p:sp>
      <p:cxnSp>
        <p:nvCxnSpPr>
          <p:cNvPr id="14" name="Connector 13"/>
          <p:cNvCxnSpPr/>
          <p:nvPr/>
        </p:nvCxnSpPr>
        <p:spPr>
          <a:xfrm>
            <a:off x="4681728" y="2825496"/>
            <a:ext cx="0" cy="194767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448056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1</a:t>
            </a:r>
          </a:p>
        </p:txBody>
      </p:sp>
      <p:sp>
        <p:nvSpPr>
          <p:cNvPr id="16" name="TextBox 15"/>
          <p:cNvSpPr txBox="1"/>
          <p:nvPr/>
        </p:nvSpPr>
        <p:spPr>
          <a:xfrm>
            <a:off x="996696" y="292150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0.8B</a:t>
            </a:r>
          </a:p>
        </p:txBody>
      </p:sp>
      <p:sp>
        <p:nvSpPr>
          <p:cNvPr id="17" name="Oval 16"/>
          <p:cNvSpPr/>
          <p:nvPr/>
        </p:nvSpPr>
        <p:spPr>
          <a:xfrm>
            <a:off x="3483105" y="291800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3584191" y="297577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517504" y="297422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3494873" y="292998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3455042" y="296960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3569104" y="296082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3520522" y="296039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3601693" y="293938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3445687" y="290284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3527764" y="291540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3572423" y="295537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3673208" y="293670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3666268" y="296056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3545567" y="295557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3586002" y="298376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3571216" y="297275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3412193" y="297659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3720583" y="296545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3584493" y="289015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3672001" y="295108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3347316" y="296845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3656612" y="298230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3450214" y="295269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3464698" y="289830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3296018" y="292494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3615574" y="294611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3289983" y="290494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3651482" y="288853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3608030" y="289811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3532592" y="295020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3576044" y="295585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3620100" y="293702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3576949" y="296036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3529273" y="291251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3708212" y="294498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3792702" y="293747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val 52"/>
          <p:cNvSpPr/>
          <p:nvPr/>
        </p:nvSpPr>
        <p:spPr>
          <a:xfrm>
            <a:off x="3767355" y="294606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3631567" y="297609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3707608" y="294987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Oval 55"/>
          <p:cNvSpPr/>
          <p:nvPr/>
        </p:nvSpPr>
        <p:spPr>
          <a:xfrm>
            <a:off x="3354256" y="295156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val 56"/>
          <p:cNvSpPr/>
          <p:nvPr/>
        </p:nvSpPr>
        <p:spPr>
          <a:xfrm>
            <a:off x="3550697" y="295391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Oval 57"/>
          <p:cNvSpPr/>
          <p:nvPr/>
        </p:nvSpPr>
        <p:spPr>
          <a:xfrm>
            <a:off x="3486122" y="293391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val 58"/>
          <p:cNvSpPr/>
          <p:nvPr/>
        </p:nvSpPr>
        <p:spPr>
          <a:xfrm>
            <a:off x="3543757" y="290463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Oval 59"/>
          <p:cNvSpPr/>
          <p:nvPr/>
        </p:nvSpPr>
        <p:spPr>
          <a:xfrm>
            <a:off x="3506038" y="297240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Oval 60"/>
          <p:cNvSpPr/>
          <p:nvPr/>
        </p:nvSpPr>
        <p:spPr>
          <a:xfrm>
            <a:off x="3405856" y="296905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Oval 61"/>
          <p:cNvSpPr/>
          <p:nvPr/>
        </p:nvSpPr>
        <p:spPr>
          <a:xfrm>
            <a:off x="3499399" y="288969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Oval 62"/>
          <p:cNvSpPr/>
          <p:nvPr/>
        </p:nvSpPr>
        <p:spPr>
          <a:xfrm>
            <a:off x="3751664" y="292756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Oval 63"/>
          <p:cNvSpPr/>
          <p:nvPr/>
        </p:nvSpPr>
        <p:spPr>
          <a:xfrm>
            <a:off x="3683770" y="293015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Oval 64"/>
          <p:cNvSpPr/>
          <p:nvPr/>
        </p:nvSpPr>
        <p:spPr>
          <a:xfrm>
            <a:off x="3311408" y="295166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Oval 65"/>
          <p:cNvSpPr/>
          <p:nvPr/>
        </p:nvSpPr>
        <p:spPr>
          <a:xfrm>
            <a:off x="3233254" y="288650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Oval 66"/>
          <p:cNvSpPr/>
          <p:nvPr/>
        </p:nvSpPr>
        <p:spPr>
          <a:xfrm>
            <a:off x="3449007" y="289884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Oval 67"/>
          <p:cNvSpPr/>
          <p:nvPr/>
        </p:nvSpPr>
        <p:spPr>
          <a:xfrm>
            <a:off x="3535006" y="296449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Oval 68"/>
          <p:cNvSpPr/>
          <p:nvPr/>
        </p:nvSpPr>
        <p:spPr>
          <a:xfrm>
            <a:off x="3417624" y="297326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Oval 69"/>
          <p:cNvSpPr/>
          <p:nvPr/>
        </p:nvSpPr>
        <p:spPr>
          <a:xfrm>
            <a:off x="3647258" y="297873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Oval 70"/>
          <p:cNvSpPr/>
          <p:nvPr/>
        </p:nvSpPr>
        <p:spPr>
          <a:xfrm>
            <a:off x="3534101" y="290831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Oval 71"/>
          <p:cNvSpPr/>
          <p:nvPr/>
        </p:nvSpPr>
        <p:spPr>
          <a:xfrm>
            <a:off x="3590528" y="295815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Oval 72"/>
          <p:cNvSpPr/>
          <p:nvPr/>
        </p:nvSpPr>
        <p:spPr>
          <a:xfrm>
            <a:off x="3475259" y="297455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Oval 73"/>
          <p:cNvSpPr/>
          <p:nvPr/>
        </p:nvSpPr>
        <p:spPr>
          <a:xfrm>
            <a:off x="3608935" y="293464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Oval 74"/>
          <p:cNvSpPr/>
          <p:nvPr/>
        </p:nvSpPr>
        <p:spPr>
          <a:xfrm>
            <a:off x="3480389" y="292683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Oval 75"/>
          <p:cNvSpPr/>
          <p:nvPr/>
        </p:nvSpPr>
        <p:spPr>
          <a:xfrm>
            <a:off x="3563069" y="298054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Oval 76"/>
          <p:cNvSpPr/>
          <p:nvPr/>
        </p:nvSpPr>
        <p:spPr>
          <a:xfrm>
            <a:off x="3564578" y="292985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Oval 77"/>
          <p:cNvSpPr/>
          <p:nvPr/>
        </p:nvSpPr>
        <p:spPr>
          <a:xfrm>
            <a:off x="3535308" y="291089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Oval 78"/>
          <p:cNvSpPr/>
          <p:nvPr/>
        </p:nvSpPr>
        <p:spPr>
          <a:xfrm>
            <a:off x="3654198" y="289271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Oval 79"/>
          <p:cNvSpPr/>
          <p:nvPr/>
        </p:nvSpPr>
        <p:spPr>
          <a:xfrm>
            <a:off x="3457757" y="292839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Oval 80"/>
          <p:cNvSpPr/>
          <p:nvPr/>
        </p:nvSpPr>
        <p:spPr>
          <a:xfrm>
            <a:off x="3446894" y="288603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Oval 81"/>
          <p:cNvSpPr/>
          <p:nvPr/>
        </p:nvSpPr>
        <p:spPr>
          <a:xfrm>
            <a:off x="3764337" y="295875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Oval 82"/>
          <p:cNvSpPr/>
          <p:nvPr/>
        </p:nvSpPr>
        <p:spPr>
          <a:xfrm>
            <a:off x="3601090" y="297542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Oval 83"/>
          <p:cNvSpPr/>
          <p:nvPr/>
        </p:nvSpPr>
        <p:spPr>
          <a:xfrm>
            <a:off x="3410081" y="295666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Oval 84"/>
          <p:cNvSpPr/>
          <p:nvPr/>
        </p:nvSpPr>
        <p:spPr>
          <a:xfrm>
            <a:off x="3620402" y="295628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Oval 85"/>
          <p:cNvSpPr/>
          <p:nvPr/>
        </p:nvSpPr>
        <p:spPr>
          <a:xfrm>
            <a:off x="3652086" y="293274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Oval 86"/>
          <p:cNvSpPr/>
          <p:nvPr/>
        </p:nvSpPr>
        <p:spPr>
          <a:xfrm>
            <a:off x="3507848" y="289593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Oval 87"/>
          <p:cNvSpPr/>
          <p:nvPr/>
        </p:nvSpPr>
        <p:spPr>
          <a:xfrm>
            <a:off x="3699159" y="298197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Oval 88"/>
          <p:cNvSpPr/>
          <p:nvPr/>
        </p:nvSpPr>
        <p:spPr>
          <a:xfrm>
            <a:off x="3724808" y="297521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Oval 89"/>
          <p:cNvSpPr/>
          <p:nvPr/>
        </p:nvSpPr>
        <p:spPr>
          <a:xfrm>
            <a:off x="3738688" y="296512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Oval 90"/>
          <p:cNvSpPr/>
          <p:nvPr/>
        </p:nvSpPr>
        <p:spPr>
          <a:xfrm>
            <a:off x="3538325" y="291610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Oval 91"/>
          <p:cNvSpPr/>
          <p:nvPr/>
        </p:nvSpPr>
        <p:spPr>
          <a:xfrm>
            <a:off x="3467112" y="291432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Oval 92"/>
          <p:cNvSpPr/>
          <p:nvPr/>
        </p:nvSpPr>
        <p:spPr>
          <a:xfrm>
            <a:off x="3501511" y="297538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Oval 93"/>
          <p:cNvSpPr/>
          <p:nvPr/>
        </p:nvSpPr>
        <p:spPr>
          <a:xfrm>
            <a:off x="3493062" y="294194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Oval 94"/>
          <p:cNvSpPr/>
          <p:nvPr/>
        </p:nvSpPr>
        <p:spPr>
          <a:xfrm>
            <a:off x="3537420" y="298324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Oval 95"/>
          <p:cNvSpPr/>
          <p:nvPr/>
        </p:nvSpPr>
        <p:spPr>
          <a:xfrm>
            <a:off x="3345506" y="297420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Oval 96"/>
          <p:cNvSpPr/>
          <p:nvPr/>
        </p:nvSpPr>
        <p:spPr>
          <a:xfrm>
            <a:off x="3204889" y="293365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Oval 97"/>
          <p:cNvSpPr/>
          <p:nvPr/>
        </p:nvSpPr>
        <p:spPr>
          <a:xfrm>
            <a:off x="3521125" y="295287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Oval 98"/>
          <p:cNvSpPr/>
          <p:nvPr/>
        </p:nvSpPr>
        <p:spPr>
          <a:xfrm>
            <a:off x="3627946" y="288562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Oval 99"/>
          <p:cNvSpPr/>
          <p:nvPr/>
        </p:nvSpPr>
        <p:spPr>
          <a:xfrm>
            <a:off x="3612556" y="288791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Oval 100"/>
          <p:cNvSpPr/>
          <p:nvPr/>
        </p:nvSpPr>
        <p:spPr>
          <a:xfrm>
            <a:off x="3633075" y="295404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Oval 101"/>
          <p:cNvSpPr/>
          <p:nvPr/>
        </p:nvSpPr>
        <p:spPr>
          <a:xfrm>
            <a:off x="3420340" y="298335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Oval 102"/>
          <p:cNvSpPr/>
          <p:nvPr/>
        </p:nvSpPr>
        <p:spPr>
          <a:xfrm>
            <a:off x="3318951" y="294864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Oval 103"/>
          <p:cNvSpPr/>
          <p:nvPr/>
        </p:nvSpPr>
        <p:spPr>
          <a:xfrm>
            <a:off x="3661138" y="294884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Oval 104"/>
          <p:cNvSpPr/>
          <p:nvPr/>
        </p:nvSpPr>
        <p:spPr>
          <a:xfrm>
            <a:off x="3468319" y="290980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Oval 105"/>
          <p:cNvSpPr/>
          <p:nvPr/>
        </p:nvSpPr>
        <p:spPr>
          <a:xfrm>
            <a:off x="3586002" y="293723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Oval 106"/>
          <p:cNvSpPr/>
          <p:nvPr/>
        </p:nvSpPr>
        <p:spPr>
          <a:xfrm>
            <a:off x="3634886" y="290812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Oval 107"/>
          <p:cNvSpPr/>
          <p:nvPr/>
        </p:nvSpPr>
        <p:spPr>
          <a:xfrm>
            <a:off x="3566992" y="297637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Oval 108"/>
          <p:cNvSpPr/>
          <p:nvPr/>
        </p:nvSpPr>
        <p:spPr>
          <a:xfrm>
            <a:off x="3549490" y="294717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Oval 109"/>
          <p:cNvSpPr/>
          <p:nvPr/>
        </p:nvSpPr>
        <p:spPr>
          <a:xfrm>
            <a:off x="3353955" y="289238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Oval 110"/>
          <p:cNvSpPr/>
          <p:nvPr/>
        </p:nvSpPr>
        <p:spPr>
          <a:xfrm>
            <a:off x="3312011" y="288494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Oval 111"/>
          <p:cNvSpPr/>
          <p:nvPr/>
        </p:nvSpPr>
        <p:spPr>
          <a:xfrm>
            <a:off x="3521125" y="292769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Oval 112"/>
          <p:cNvSpPr/>
          <p:nvPr/>
        </p:nvSpPr>
        <p:spPr>
          <a:xfrm>
            <a:off x="3544662" y="289868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Oval 113"/>
          <p:cNvSpPr/>
          <p:nvPr/>
        </p:nvSpPr>
        <p:spPr>
          <a:xfrm>
            <a:off x="3869649" y="291599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Oval 114"/>
          <p:cNvSpPr/>
          <p:nvPr/>
        </p:nvSpPr>
        <p:spPr>
          <a:xfrm>
            <a:off x="3684675" y="290672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Oval 115"/>
          <p:cNvSpPr/>
          <p:nvPr/>
        </p:nvSpPr>
        <p:spPr>
          <a:xfrm>
            <a:off x="3636696" y="3143122"/>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Oval 116"/>
          <p:cNvSpPr/>
          <p:nvPr/>
        </p:nvSpPr>
        <p:spPr>
          <a:xfrm>
            <a:off x="3442368" y="3120320"/>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Oval 117"/>
          <p:cNvSpPr/>
          <p:nvPr/>
        </p:nvSpPr>
        <p:spPr>
          <a:xfrm>
            <a:off x="3722696" y="3124912"/>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Oval 118"/>
          <p:cNvSpPr/>
          <p:nvPr/>
        </p:nvSpPr>
        <p:spPr>
          <a:xfrm>
            <a:off x="3577553" y="318525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Oval 119"/>
          <p:cNvSpPr/>
          <p:nvPr/>
        </p:nvSpPr>
        <p:spPr>
          <a:xfrm>
            <a:off x="3533799" y="3164713"/>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Oval 120"/>
          <p:cNvSpPr/>
          <p:nvPr/>
        </p:nvSpPr>
        <p:spPr>
          <a:xfrm>
            <a:off x="3535609" y="3169304"/>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Oval 121"/>
          <p:cNvSpPr/>
          <p:nvPr/>
        </p:nvSpPr>
        <p:spPr>
          <a:xfrm>
            <a:off x="3548283" y="3123071"/>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Oval 122"/>
          <p:cNvSpPr/>
          <p:nvPr/>
        </p:nvSpPr>
        <p:spPr>
          <a:xfrm>
            <a:off x="3614367" y="3138160"/>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Oval 123"/>
          <p:cNvSpPr/>
          <p:nvPr/>
        </p:nvSpPr>
        <p:spPr>
          <a:xfrm>
            <a:off x="3658422" y="3097474"/>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Oval 124"/>
          <p:cNvSpPr/>
          <p:nvPr/>
        </p:nvSpPr>
        <p:spPr>
          <a:xfrm>
            <a:off x="3652086" y="3168944"/>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Oval 125"/>
          <p:cNvSpPr/>
          <p:nvPr/>
        </p:nvSpPr>
        <p:spPr>
          <a:xfrm>
            <a:off x="3533799" y="3120767"/>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Oval 126"/>
          <p:cNvSpPr/>
          <p:nvPr/>
        </p:nvSpPr>
        <p:spPr>
          <a:xfrm>
            <a:off x="3274292" y="3095465"/>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Oval 127"/>
          <p:cNvSpPr/>
          <p:nvPr/>
        </p:nvSpPr>
        <p:spPr>
          <a:xfrm>
            <a:off x="3478880" y="3128686"/>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Oval 128"/>
          <p:cNvSpPr/>
          <p:nvPr/>
        </p:nvSpPr>
        <p:spPr>
          <a:xfrm>
            <a:off x="3212433" y="3170301"/>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Oval 129"/>
          <p:cNvSpPr/>
          <p:nvPr/>
        </p:nvSpPr>
        <p:spPr>
          <a:xfrm>
            <a:off x="3517504" y="3115516"/>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Oval 130"/>
          <p:cNvSpPr/>
          <p:nvPr/>
        </p:nvSpPr>
        <p:spPr>
          <a:xfrm>
            <a:off x="3527764" y="3101313"/>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Oval 131"/>
          <p:cNvSpPr/>
          <p:nvPr/>
        </p:nvSpPr>
        <p:spPr>
          <a:xfrm>
            <a:off x="3274896" y="3186136"/>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Oval 132"/>
          <p:cNvSpPr/>
          <p:nvPr/>
        </p:nvSpPr>
        <p:spPr>
          <a:xfrm>
            <a:off x="3663552" y="3108348"/>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Oval 133"/>
          <p:cNvSpPr/>
          <p:nvPr/>
        </p:nvSpPr>
        <p:spPr>
          <a:xfrm>
            <a:off x="3716057" y="313097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Oval 134"/>
          <p:cNvSpPr/>
          <p:nvPr/>
        </p:nvSpPr>
        <p:spPr>
          <a:xfrm>
            <a:off x="3579665" y="316517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Oval 135"/>
          <p:cNvSpPr/>
          <p:nvPr/>
        </p:nvSpPr>
        <p:spPr>
          <a:xfrm>
            <a:off x="3409779" y="3123745"/>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Oval 136"/>
          <p:cNvSpPr/>
          <p:nvPr/>
        </p:nvSpPr>
        <p:spPr>
          <a:xfrm>
            <a:off x="3465603" y="3117265"/>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Oval 137"/>
          <p:cNvSpPr/>
          <p:nvPr/>
        </p:nvSpPr>
        <p:spPr>
          <a:xfrm>
            <a:off x="3671096" y="318044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Oval 138"/>
          <p:cNvSpPr/>
          <p:nvPr/>
        </p:nvSpPr>
        <p:spPr>
          <a:xfrm>
            <a:off x="3793004" y="3174278"/>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TextBox 139"/>
          <p:cNvSpPr txBox="1"/>
          <p:nvPr/>
        </p:nvSpPr>
        <p:spPr>
          <a:xfrm>
            <a:off x="4800600" y="286664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123 of 123</a:t>
            </a:r>
          </a:p>
          <a:p>
            <a:pPr algn="l">
              <a:lnSpc>
                <a:spcPct val="109000"/>
              </a:lnSpc>
              <a:spcBef>
                <a:spcPts val="0"/>
              </a:spcBef>
              <a:spcAft>
                <a:spcPts val="0"/>
              </a:spcAft>
            </a:pPr>
            <a:r>
              <a:rPr sz="1250" b="0">
                <a:solidFill>
                  <a:srgbClr val="00407A"/>
                </a:solidFill>
                <a:latin typeface="Arial"/>
              </a:rPr>
              <a:t>are “yes”</a:t>
            </a:r>
          </a:p>
        </p:txBody>
      </p:sp>
      <p:sp>
        <p:nvSpPr>
          <p:cNvPr id="141" name="TextBox 140"/>
          <p:cNvSpPr txBox="1"/>
          <p:nvPr/>
        </p:nvSpPr>
        <p:spPr>
          <a:xfrm>
            <a:off x="996696" y="3424427"/>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4B</a:t>
            </a:r>
          </a:p>
        </p:txBody>
      </p:sp>
      <p:sp>
        <p:nvSpPr>
          <p:cNvPr id="142" name="Oval 141"/>
          <p:cNvSpPr/>
          <p:nvPr/>
        </p:nvSpPr>
        <p:spPr>
          <a:xfrm>
            <a:off x="4288481" y="342092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Oval 142"/>
          <p:cNvSpPr/>
          <p:nvPr/>
        </p:nvSpPr>
        <p:spPr>
          <a:xfrm>
            <a:off x="4175927" y="347869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Oval 143"/>
          <p:cNvSpPr/>
          <p:nvPr/>
        </p:nvSpPr>
        <p:spPr>
          <a:xfrm>
            <a:off x="4246235" y="347714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Oval 144"/>
          <p:cNvSpPr/>
          <p:nvPr/>
        </p:nvSpPr>
        <p:spPr>
          <a:xfrm>
            <a:off x="2819854" y="343290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Oval 145"/>
          <p:cNvSpPr/>
          <p:nvPr/>
        </p:nvSpPr>
        <p:spPr>
          <a:xfrm>
            <a:off x="4019921" y="347252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Oval 146"/>
          <p:cNvSpPr/>
          <p:nvPr/>
        </p:nvSpPr>
        <p:spPr>
          <a:xfrm>
            <a:off x="4188299" y="346374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Oval 147"/>
          <p:cNvSpPr/>
          <p:nvPr/>
        </p:nvSpPr>
        <p:spPr>
          <a:xfrm>
            <a:off x="4310509" y="346331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Oval 148"/>
          <p:cNvSpPr/>
          <p:nvPr/>
        </p:nvSpPr>
        <p:spPr>
          <a:xfrm>
            <a:off x="3945690" y="344230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Oval 149"/>
          <p:cNvSpPr/>
          <p:nvPr/>
        </p:nvSpPr>
        <p:spPr>
          <a:xfrm>
            <a:off x="4135794" y="340576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Oval 150"/>
          <p:cNvSpPr/>
          <p:nvPr/>
        </p:nvSpPr>
        <p:spPr>
          <a:xfrm>
            <a:off x="4171703" y="341832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Oval 151"/>
          <p:cNvSpPr/>
          <p:nvPr/>
        </p:nvSpPr>
        <p:spPr>
          <a:xfrm>
            <a:off x="4170797" y="345829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Oval 152"/>
          <p:cNvSpPr/>
          <p:nvPr/>
        </p:nvSpPr>
        <p:spPr>
          <a:xfrm>
            <a:off x="4019318" y="343962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Oval 153"/>
          <p:cNvSpPr/>
          <p:nvPr/>
        </p:nvSpPr>
        <p:spPr>
          <a:xfrm>
            <a:off x="3802962" y="346348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Oval 154"/>
          <p:cNvSpPr/>
          <p:nvPr/>
        </p:nvSpPr>
        <p:spPr>
          <a:xfrm>
            <a:off x="4249555" y="345849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Oval 155"/>
          <p:cNvSpPr/>
          <p:nvPr/>
        </p:nvSpPr>
        <p:spPr>
          <a:xfrm>
            <a:off x="4030181" y="348668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Oval 156"/>
          <p:cNvSpPr/>
          <p:nvPr/>
        </p:nvSpPr>
        <p:spPr>
          <a:xfrm>
            <a:off x="4058546" y="347567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Oval 157"/>
          <p:cNvSpPr/>
          <p:nvPr/>
        </p:nvSpPr>
        <p:spPr>
          <a:xfrm>
            <a:off x="3935431" y="347951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Oval 158"/>
          <p:cNvSpPr/>
          <p:nvPr/>
        </p:nvSpPr>
        <p:spPr>
          <a:xfrm>
            <a:off x="4084496" y="346837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Oval 159"/>
          <p:cNvSpPr/>
          <p:nvPr/>
        </p:nvSpPr>
        <p:spPr>
          <a:xfrm>
            <a:off x="4105921" y="339307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Oval 160"/>
          <p:cNvSpPr/>
          <p:nvPr/>
        </p:nvSpPr>
        <p:spPr>
          <a:xfrm>
            <a:off x="4127949" y="345400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Oval 161"/>
          <p:cNvSpPr/>
          <p:nvPr/>
        </p:nvSpPr>
        <p:spPr>
          <a:xfrm>
            <a:off x="3771881" y="347137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Oval 162"/>
          <p:cNvSpPr/>
          <p:nvPr/>
        </p:nvSpPr>
        <p:spPr>
          <a:xfrm>
            <a:off x="3895600" y="348522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Oval 163"/>
          <p:cNvSpPr/>
          <p:nvPr/>
        </p:nvSpPr>
        <p:spPr>
          <a:xfrm>
            <a:off x="4150580" y="345561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Oval 164"/>
          <p:cNvSpPr/>
          <p:nvPr/>
        </p:nvSpPr>
        <p:spPr>
          <a:xfrm>
            <a:off x="3830723" y="340122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Oval 165"/>
          <p:cNvSpPr/>
          <p:nvPr/>
        </p:nvSpPr>
        <p:spPr>
          <a:xfrm>
            <a:off x="3989143" y="342786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Oval 166"/>
          <p:cNvSpPr/>
          <p:nvPr/>
        </p:nvSpPr>
        <p:spPr>
          <a:xfrm>
            <a:off x="4070012" y="344903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Oval 167"/>
          <p:cNvSpPr/>
          <p:nvPr/>
        </p:nvSpPr>
        <p:spPr>
          <a:xfrm>
            <a:off x="4015093" y="340786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Oval 168"/>
          <p:cNvSpPr/>
          <p:nvPr/>
        </p:nvSpPr>
        <p:spPr>
          <a:xfrm>
            <a:off x="3818351" y="339145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Oval 169"/>
          <p:cNvSpPr/>
          <p:nvPr/>
        </p:nvSpPr>
        <p:spPr>
          <a:xfrm>
            <a:off x="4098377" y="340103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 name="Oval 170"/>
          <p:cNvSpPr/>
          <p:nvPr/>
        </p:nvSpPr>
        <p:spPr>
          <a:xfrm>
            <a:off x="4047984" y="345312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 name="Oval 171"/>
          <p:cNvSpPr/>
          <p:nvPr/>
        </p:nvSpPr>
        <p:spPr>
          <a:xfrm>
            <a:off x="4025353" y="345877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Oval 172"/>
          <p:cNvSpPr/>
          <p:nvPr/>
        </p:nvSpPr>
        <p:spPr>
          <a:xfrm>
            <a:off x="4060658" y="343994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 name="Oval 173"/>
          <p:cNvSpPr/>
          <p:nvPr/>
        </p:nvSpPr>
        <p:spPr>
          <a:xfrm>
            <a:off x="3936034" y="346328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 name="Oval 174"/>
          <p:cNvSpPr/>
          <p:nvPr/>
        </p:nvSpPr>
        <p:spPr>
          <a:xfrm>
            <a:off x="3974357" y="341543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 name="Oval 175"/>
          <p:cNvSpPr/>
          <p:nvPr/>
        </p:nvSpPr>
        <p:spPr>
          <a:xfrm>
            <a:off x="3848224" y="344790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 name="Oval 176"/>
          <p:cNvSpPr/>
          <p:nvPr/>
        </p:nvSpPr>
        <p:spPr>
          <a:xfrm>
            <a:off x="3885943" y="344039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 name="Oval 177"/>
          <p:cNvSpPr/>
          <p:nvPr/>
        </p:nvSpPr>
        <p:spPr>
          <a:xfrm>
            <a:off x="3950217" y="344898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 name="Oval 178"/>
          <p:cNvSpPr/>
          <p:nvPr/>
        </p:nvSpPr>
        <p:spPr>
          <a:xfrm>
            <a:off x="3855768" y="347901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 name="Oval 179"/>
          <p:cNvSpPr/>
          <p:nvPr/>
        </p:nvSpPr>
        <p:spPr>
          <a:xfrm>
            <a:off x="4111352" y="345279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 name="Oval 180"/>
          <p:cNvSpPr/>
          <p:nvPr/>
        </p:nvSpPr>
        <p:spPr>
          <a:xfrm>
            <a:off x="4038932" y="345448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Oval 181"/>
          <p:cNvSpPr/>
          <p:nvPr/>
        </p:nvSpPr>
        <p:spPr>
          <a:xfrm>
            <a:off x="4111956" y="345683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 name="Oval 182"/>
          <p:cNvSpPr/>
          <p:nvPr/>
        </p:nvSpPr>
        <p:spPr>
          <a:xfrm>
            <a:off x="4299947" y="343683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 name="Oval 183"/>
          <p:cNvSpPr/>
          <p:nvPr/>
        </p:nvSpPr>
        <p:spPr>
          <a:xfrm>
            <a:off x="4012378" y="340755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 name="Oval 184"/>
          <p:cNvSpPr/>
          <p:nvPr/>
        </p:nvSpPr>
        <p:spPr>
          <a:xfrm>
            <a:off x="4095963" y="347532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 name="Oval 185"/>
          <p:cNvSpPr/>
          <p:nvPr/>
        </p:nvSpPr>
        <p:spPr>
          <a:xfrm>
            <a:off x="4187394" y="347197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 name="Oval 186"/>
          <p:cNvSpPr/>
          <p:nvPr/>
        </p:nvSpPr>
        <p:spPr>
          <a:xfrm>
            <a:off x="4261625" y="339261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 name="Oval 187"/>
          <p:cNvSpPr/>
          <p:nvPr/>
        </p:nvSpPr>
        <p:spPr>
          <a:xfrm>
            <a:off x="4302663" y="343048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 name="Oval 188"/>
          <p:cNvSpPr/>
          <p:nvPr/>
        </p:nvSpPr>
        <p:spPr>
          <a:xfrm>
            <a:off x="3993971" y="343307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 name="Oval 189"/>
          <p:cNvSpPr/>
          <p:nvPr/>
        </p:nvSpPr>
        <p:spPr>
          <a:xfrm>
            <a:off x="4002118" y="345458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 name="Oval 190"/>
          <p:cNvSpPr/>
          <p:nvPr/>
        </p:nvSpPr>
        <p:spPr>
          <a:xfrm>
            <a:off x="4174418" y="338942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 name="Oval 191"/>
          <p:cNvSpPr/>
          <p:nvPr/>
        </p:nvSpPr>
        <p:spPr>
          <a:xfrm>
            <a:off x="3586907" y="340176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 name="Oval 192"/>
          <p:cNvSpPr/>
          <p:nvPr/>
        </p:nvSpPr>
        <p:spPr>
          <a:xfrm>
            <a:off x="4199766" y="346741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 name="Oval 193"/>
          <p:cNvSpPr/>
          <p:nvPr/>
        </p:nvSpPr>
        <p:spPr>
          <a:xfrm>
            <a:off x="4229337" y="347618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 name="Oval 194"/>
          <p:cNvSpPr/>
          <p:nvPr/>
        </p:nvSpPr>
        <p:spPr>
          <a:xfrm>
            <a:off x="4039837" y="348165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 name="Oval 195"/>
          <p:cNvSpPr/>
          <p:nvPr/>
        </p:nvSpPr>
        <p:spPr>
          <a:xfrm>
            <a:off x="4161745" y="341123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 name="Oval 196"/>
          <p:cNvSpPr/>
          <p:nvPr/>
        </p:nvSpPr>
        <p:spPr>
          <a:xfrm>
            <a:off x="4234467" y="346107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 name="Oval 197"/>
          <p:cNvSpPr/>
          <p:nvPr/>
        </p:nvSpPr>
        <p:spPr>
          <a:xfrm>
            <a:off x="4262832" y="347747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 name="Oval 198"/>
          <p:cNvSpPr/>
          <p:nvPr/>
        </p:nvSpPr>
        <p:spPr>
          <a:xfrm>
            <a:off x="4279126" y="343756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 name="Oval 199"/>
          <p:cNvSpPr/>
          <p:nvPr/>
        </p:nvSpPr>
        <p:spPr>
          <a:xfrm>
            <a:off x="4270677" y="342975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 name="Oval 200"/>
          <p:cNvSpPr/>
          <p:nvPr/>
        </p:nvSpPr>
        <p:spPr>
          <a:xfrm>
            <a:off x="4270074" y="348346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 name="Oval 201"/>
          <p:cNvSpPr/>
          <p:nvPr/>
        </p:nvSpPr>
        <p:spPr>
          <a:xfrm>
            <a:off x="4198860" y="343277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 name="Oval 202"/>
          <p:cNvSpPr/>
          <p:nvPr/>
        </p:nvSpPr>
        <p:spPr>
          <a:xfrm>
            <a:off x="4221190" y="341381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 name="Oval 203"/>
          <p:cNvSpPr/>
          <p:nvPr/>
        </p:nvSpPr>
        <p:spPr>
          <a:xfrm>
            <a:off x="4207611" y="339563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 name="Oval 204"/>
          <p:cNvSpPr/>
          <p:nvPr/>
        </p:nvSpPr>
        <p:spPr>
          <a:xfrm>
            <a:off x="4101093" y="343131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 name="Oval 205"/>
          <p:cNvSpPr/>
          <p:nvPr/>
        </p:nvSpPr>
        <p:spPr>
          <a:xfrm>
            <a:off x="3919740" y="338895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 name="Oval 206"/>
          <p:cNvSpPr/>
          <p:nvPr/>
        </p:nvSpPr>
        <p:spPr>
          <a:xfrm>
            <a:off x="4210629" y="346167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 name="Oval 207"/>
          <p:cNvSpPr/>
          <p:nvPr/>
        </p:nvSpPr>
        <p:spPr>
          <a:xfrm>
            <a:off x="4275204" y="347834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 name="Oval 208"/>
          <p:cNvSpPr/>
          <p:nvPr/>
        </p:nvSpPr>
        <p:spPr>
          <a:xfrm>
            <a:off x="4312017" y="345958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 name="Oval 209"/>
          <p:cNvSpPr/>
          <p:nvPr/>
        </p:nvSpPr>
        <p:spPr>
          <a:xfrm>
            <a:off x="4188299" y="345920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 name="Oval 210"/>
          <p:cNvSpPr/>
          <p:nvPr/>
        </p:nvSpPr>
        <p:spPr>
          <a:xfrm>
            <a:off x="4113464" y="343566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 name="Oval 211"/>
          <p:cNvSpPr/>
          <p:nvPr/>
        </p:nvSpPr>
        <p:spPr>
          <a:xfrm>
            <a:off x="4208818" y="339885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 name="Oval 212"/>
          <p:cNvSpPr/>
          <p:nvPr/>
        </p:nvSpPr>
        <p:spPr>
          <a:xfrm>
            <a:off x="4182264" y="348489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 name="Oval 213"/>
          <p:cNvSpPr/>
          <p:nvPr/>
        </p:nvSpPr>
        <p:spPr>
          <a:xfrm>
            <a:off x="4282144" y="347813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 name="Oval 214"/>
          <p:cNvSpPr/>
          <p:nvPr/>
        </p:nvSpPr>
        <p:spPr>
          <a:xfrm>
            <a:off x="4330424" y="346804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 name="Oval 215"/>
          <p:cNvSpPr/>
          <p:nvPr/>
        </p:nvSpPr>
        <p:spPr>
          <a:xfrm>
            <a:off x="4149976" y="341902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 name="Oval 216"/>
          <p:cNvSpPr/>
          <p:nvPr/>
        </p:nvSpPr>
        <p:spPr>
          <a:xfrm>
            <a:off x="3891979" y="341724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 name="Oval 217"/>
          <p:cNvSpPr/>
          <p:nvPr/>
        </p:nvSpPr>
        <p:spPr>
          <a:xfrm>
            <a:off x="4203085" y="347830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 name="Oval 218"/>
          <p:cNvSpPr/>
          <p:nvPr/>
        </p:nvSpPr>
        <p:spPr>
          <a:xfrm>
            <a:off x="3650577" y="344486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 name="Oval 219"/>
          <p:cNvSpPr/>
          <p:nvPr/>
        </p:nvSpPr>
        <p:spPr>
          <a:xfrm>
            <a:off x="3944182" y="348616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 name="Oval 220"/>
          <p:cNvSpPr/>
          <p:nvPr/>
        </p:nvSpPr>
        <p:spPr>
          <a:xfrm>
            <a:off x="4029577" y="347712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 name="Oval 221"/>
          <p:cNvSpPr/>
          <p:nvPr/>
        </p:nvSpPr>
        <p:spPr>
          <a:xfrm>
            <a:off x="3929698" y="343657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 name="Oval 222"/>
          <p:cNvSpPr/>
          <p:nvPr/>
        </p:nvSpPr>
        <p:spPr>
          <a:xfrm>
            <a:off x="4067296" y="345579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 name="Oval 223"/>
          <p:cNvSpPr/>
          <p:nvPr/>
        </p:nvSpPr>
        <p:spPr>
          <a:xfrm>
            <a:off x="4001213" y="338854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 name="Oval 224"/>
          <p:cNvSpPr/>
          <p:nvPr/>
        </p:nvSpPr>
        <p:spPr>
          <a:xfrm>
            <a:off x="4024448" y="339083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 name="Oval 225"/>
          <p:cNvSpPr/>
          <p:nvPr/>
        </p:nvSpPr>
        <p:spPr>
          <a:xfrm>
            <a:off x="3674717" y="345696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 name="Oval 226"/>
          <p:cNvSpPr/>
          <p:nvPr/>
        </p:nvSpPr>
        <p:spPr>
          <a:xfrm>
            <a:off x="4312017" y="348627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 name="Oval 227"/>
          <p:cNvSpPr/>
          <p:nvPr/>
        </p:nvSpPr>
        <p:spPr>
          <a:xfrm>
            <a:off x="4291196" y="345156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 name="Oval 228"/>
          <p:cNvSpPr/>
          <p:nvPr/>
        </p:nvSpPr>
        <p:spPr>
          <a:xfrm>
            <a:off x="4191618" y="345176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 name="Oval 229"/>
          <p:cNvSpPr/>
          <p:nvPr/>
        </p:nvSpPr>
        <p:spPr>
          <a:xfrm>
            <a:off x="4333140" y="341272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 name="Oval 230"/>
          <p:cNvSpPr/>
          <p:nvPr/>
        </p:nvSpPr>
        <p:spPr>
          <a:xfrm>
            <a:off x="4363013" y="344015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 name="Oval 231"/>
          <p:cNvSpPr/>
          <p:nvPr/>
        </p:nvSpPr>
        <p:spPr>
          <a:xfrm>
            <a:off x="4135794" y="341104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 name="Oval 232"/>
          <p:cNvSpPr/>
          <p:nvPr/>
        </p:nvSpPr>
        <p:spPr>
          <a:xfrm>
            <a:off x="3751664" y="347929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 name="Oval 233"/>
          <p:cNvSpPr/>
          <p:nvPr/>
        </p:nvSpPr>
        <p:spPr>
          <a:xfrm>
            <a:off x="4357884" y="345009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 name="Oval 234"/>
          <p:cNvSpPr/>
          <p:nvPr/>
        </p:nvSpPr>
        <p:spPr>
          <a:xfrm>
            <a:off x="4236881" y="339530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 name="Oval 235"/>
          <p:cNvSpPr/>
          <p:nvPr/>
        </p:nvSpPr>
        <p:spPr>
          <a:xfrm>
            <a:off x="4243218" y="338786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 name="Oval 236"/>
          <p:cNvSpPr/>
          <p:nvPr/>
        </p:nvSpPr>
        <p:spPr>
          <a:xfrm>
            <a:off x="4239899" y="343061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 name="Oval 237"/>
          <p:cNvSpPr/>
          <p:nvPr/>
        </p:nvSpPr>
        <p:spPr>
          <a:xfrm>
            <a:off x="4193731" y="340160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 name="Oval 238"/>
          <p:cNvSpPr/>
          <p:nvPr/>
        </p:nvSpPr>
        <p:spPr>
          <a:xfrm>
            <a:off x="4344003" y="341891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 name="Oval 239"/>
          <p:cNvSpPr/>
          <p:nvPr/>
        </p:nvSpPr>
        <p:spPr>
          <a:xfrm>
            <a:off x="4234467" y="340964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 name="Oval 240"/>
          <p:cNvSpPr/>
          <p:nvPr/>
        </p:nvSpPr>
        <p:spPr>
          <a:xfrm>
            <a:off x="4309000" y="3646042"/>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 name="Oval 241"/>
          <p:cNvSpPr/>
          <p:nvPr/>
        </p:nvSpPr>
        <p:spPr>
          <a:xfrm>
            <a:off x="4110749" y="3623240"/>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 name="Oval 242"/>
          <p:cNvSpPr/>
          <p:nvPr/>
        </p:nvSpPr>
        <p:spPr>
          <a:xfrm>
            <a:off x="4094454" y="3627832"/>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 name="Oval 243"/>
          <p:cNvSpPr/>
          <p:nvPr/>
        </p:nvSpPr>
        <p:spPr>
          <a:xfrm>
            <a:off x="4035612" y="368817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 name="Oval 244"/>
          <p:cNvSpPr/>
          <p:nvPr/>
        </p:nvSpPr>
        <p:spPr>
          <a:xfrm>
            <a:off x="3939052" y="3667633"/>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 name="Oval 245"/>
          <p:cNvSpPr/>
          <p:nvPr/>
        </p:nvSpPr>
        <p:spPr>
          <a:xfrm>
            <a:off x="4248348" y="3672224"/>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 name="Oval 246"/>
          <p:cNvSpPr/>
          <p:nvPr/>
        </p:nvSpPr>
        <p:spPr>
          <a:xfrm>
            <a:off x="4115878" y="3625991"/>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 name="Oval 247"/>
          <p:cNvSpPr/>
          <p:nvPr/>
        </p:nvSpPr>
        <p:spPr>
          <a:xfrm>
            <a:off x="3860898" y="3641080"/>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 name="Oval 248"/>
          <p:cNvSpPr/>
          <p:nvPr/>
        </p:nvSpPr>
        <p:spPr>
          <a:xfrm>
            <a:off x="3812919" y="3600394"/>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 name="Oval 249"/>
          <p:cNvSpPr/>
          <p:nvPr/>
        </p:nvSpPr>
        <p:spPr>
          <a:xfrm>
            <a:off x="4082384" y="3671864"/>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 name="Oval 250"/>
          <p:cNvSpPr/>
          <p:nvPr/>
        </p:nvSpPr>
        <p:spPr>
          <a:xfrm>
            <a:off x="3971943" y="3623687"/>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2" name="Oval 251"/>
          <p:cNvSpPr/>
          <p:nvPr/>
        </p:nvSpPr>
        <p:spPr>
          <a:xfrm>
            <a:off x="3830119" y="3598385"/>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3" name="Oval 252"/>
          <p:cNvSpPr/>
          <p:nvPr/>
        </p:nvSpPr>
        <p:spPr>
          <a:xfrm>
            <a:off x="3643335" y="3631606"/>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4" name="Oval 253"/>
          <p:cNvSpPr/>
          <p:nvPr/>
        </p:nvSpPr>
        <p:spPr>
          <a:xfrm>
            <a:off x="4039837" y="3673221"/>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5" name="Oval 254"/>
          <p:cNvSpPr/>
          <p:nvPr/>
        </p:nvSpPr>
        <p:spPr>
          <a:xfrm>
            <a:off x="3702780" y="3618436"/>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6" name="Oval 255"/>
          <p:cNvSpPr/>
          <p:nvPr/>
        </p:nvSpPr>
        <p:spPr>
          <a:xfrm>
            <a:off x="3977374" y="3604233"/>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7" name="Oval 256"/>
          <p:cNvSpPr/>
          <p:nvPr/>
        </p:nvSpPr>
        <p:spPr>
          <a:xfrm>
            <a:off x="3761622" y="3689056"/>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8" name="Oval 257"/>
          <p:cNvSpPr/>
          <p:nvPr/>
        </p:nvSpPr>
        <p:spPr>
          <a:xfrm>
            <a:off x="3922757" y="3611268"/>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9" name="Oval 258"/>
          <p:cNvSpPr/>
          <p:nvPr/>
        </p:nvSpPr>
        <p:spPr>
          <a:xfrm>
            <a:off x="4301456" y="363389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0" name="Oval 259"/>
          <p:cNvSpPr/>
          <p:nvPr/>
        </p:nvSpPr>
        <p:spPr>
          <a:xfrm>
            <a:off x="3772786" y="366809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1" name="Oval 260"/>
          <p:cNvSpPr/>
          <p:nvPr/>
        </p:nvSpPr>
        <p:spPr>
          <a:xfrm>
            <a:off x="3941466" y="3626665"/>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2" name="Oval 261"/>
          <p:cNvSpPr/>
          <p:nvPr/>
        </p:nvSpPr>
        <p:spPr>
          <a:xfrm>
            <a:off x="3512978" y="3620185"/>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3" name="Oval 262"/>
          <p:cNvSpPr/>
          <p:nvPr/>
        </p:nvSpPr>
        <p:spPr>
          <a:xfrm>
            <a:off x="4003627" y="368336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4" name="Oval 263"/>
          <p:cNvSpPr/>
          <p:nvPr/>
        </p:nvSpPr>
        <p:spPr>
          <a:xfrm>
            <a:off x="3827102" y="3677198"/>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5" name="TextBox 264"/>
          <p:cNvSpPr txBox="1"/>
          <p:nvPr/>
        </p:nvSpPr>
        <p:spPr>
          <a:xfrm>
            <a:off x="4800600" y="336956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122 of 123</a:t>
            </a:r>
          </a:p>
          <a:p>
            <a:pPr algn="l">
              <a:lnSpc>
                <a:spcPct val="109000"/>
              </a:lnSpc>
              <a:spcBef>
                <a:spcPts val="0"/>
              </a:spcBef>
              <a:spcAft>
                <a:spcPts val="0"/>
              </a:spcAft>
            </a:pPr>
            <a:r>
              <a:rPr sz="1250" b="0">
                <a:solidFill>
                  <a:srgbClr val="00407A"/>
                </a:solidFill>
                <a:latin typeface="Arial"/>
              </a:rPr>
              <a:t>are “yes”</a:t>
            </a:r>
          </a:p>
        </p:txBody>
      </p:sp>
      <p:sp>
        <p:nvSpPr>
          <p:cNvPr id="266" name="TextBox 265"/>
          <p:cNvSpPr txBox="1"/>
          <p:nvPr/>
        </p:nvSpPr>
        <p:spPr>
          <a:xfrm>
            <a:off x="996696" y="392734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9B</a:t>
            </a:r>
          </a:p>
        </p:txBody>
      </p:sp>
      <p:sp>
        <p:nvSpPr>
          <p:cNvPr id="267" name="Oval 266"/>
          <p:cNvSpPr/>
          <p:nvPr/>
        </p:nvSpPr>
        <p:spPr>
          <a:xfrm>
            <a:off x="4209723" y="392384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8" name="Oval 267"/>
          <p:cNvSpPr/>
          <p:nvPr/>
        </p:nvSpPr>
        <p:spPr>
          <a:xfrm>
            <a:off x="4221793" y="398161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9" name="Oval 268"/>
          <p:cNvSpPr/>
          <p:nvPr/>
        </p:nvSpPr>
        <p:spPr>
          <a:xfrm>
            <a:off x="4332536" y="398006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0" name="Oval 269"/>
          <p:cNvSpPr/>
          <p:nvPr/>
        </p:nvSpPr>
        <p:spPr>
          <a:xfrm>
            <a:off x="2901628" y="393582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1" name="Oval 270"/>
          <p:cNvSpPr/>
          <p:nvPr/>
        </p:nvSpPr>
        <p:spPr>
          <a:xfrm>
            <a:off x="4143338" y="397544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2" name="Oval 271"/>
          <p:cNvSpPr/>
          <p:nvPr/>
        </p:nvSpPr>
        <p:spPr>
          <a:xfrm>
            <a:off x="4352754" y="396666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3" name="Oval 272"/>
          <p:cNvSpPr/>
          <p:nvPr/>
        </p:nvSpPr>
        <p:spPr>
          <a:xfrm>
            <a:off x="4141527" y="396623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4" name="Oval 273"/>
          <p:cNvSpPr/>
          <p:nvPr/>
        </p:nvSpPr>
        <p:spPr>
          <a:xfrm>
            <a:off x="4193429" y="394522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5" name="Oval 274"/>
          <p:cNvSpPr/>
          <p:nvPr/>
        </p:nvSpPr>
        <p:spPr>
          <a:xfrm>
            <a:off x="4253176" y="390868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6" name="Oval 275"/>
          <p:cNvSpPr/>
          <p:nvPr/>
        </p:nvSpPr>
        <p:spPr>
          <a:xfrm>
            <a:off x="4214250" y="392124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7" name="Oval 276"/>
          <p:cNvSpPr/>
          <p:nvPr/>
        </p:nvSpPr>
        <p:spPr>
          <a:xfrm>
            <a:off x="4233260" y="396121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8" name="Oval 277"/>
          <p:cNvSpPr/>
          <p:nvPr/>
        </p:nvSpPr>
        <p:spPr>
          <a:xfrm>
            <a:off x="4218474" y="394254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9" name="Oval 278"/>
          <p:cNvSpPr/>
          <p:nvPr/>
        </p:nvSpPr>
        <p:spPr>
          <a:xfrm>
            <a:off x="4049191" y="396640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0" name="Oval 279"/>
          <p:cNvSpPr/>
          <p:nvPr/>
        </p:nvSpPr>
        <p:spPr>
          <a:xfrm>
            <a:off x="4234165" y="396141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1" name="Oval 280"/>
          <p:cNvSpPr/>
          <p:nvPr/>
        </p:nvSpPr>
        <p:spPr>
          <a:xfrm>
            <a:off x="4205499" y="398960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2" name="Oval 281"/>
          <p:cNvSpPr/>
          <p:nvPr/>
        </p:nvSpPr>
        <p:spPr>
          <a:xfrm>
            <a:off x="4133682" y="397859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3" name="Oval 282"/>
          <p:cNvSpPr/>
          <p:nvPr/>
        </p:nvSpPr>
        <p:spPr>
          <a:xfrm>
            <a:off x="4199766" y="398243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4" name="Oval 283"/>
          <p:cNvSpPr/>
          <p:nvPr/>
        </p:nvSpPr>
        <p:spPr>
          <a:xfrm>
            <a:off x="4178643" y="397129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5" name="Oval 284"/>
          <p:cNvSpPr/>
          <p:nvPr/>
        </p:nvSpPr>
        <p:spPr>
          <a:xfrm>
            <a:off x="4197352" y="389599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6" name="Oval 285"/>
          <p:cNvSpPr/>
          <p:nvPr/>
        </p:nvSpPr>
        <p:spPr>
          <a:xfrm>
            <a:off x="4244727" y="395692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7" name="Oval 286"/>
          <p:cNvSpPr/>
          <p:nvPr/>
        </p:nvSpPr>
        <p:spPr>
          <a:xfrm>
            <a:off x="4077556" y="397429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8" name="Oval 287"/>
          <p:cNvSpPr/>
          <p:nvPr/>
        </p:nvSpPr>
        <p:spPr>
          <a:xfrm>
            <a:off x="4194334" y="398814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9" name="Oval 288"/>
          <p:cNvSpPr/>
          <p:nvPr/>
        </p:nvSpPr>
        <p:spPr>
          <a:xfrm>
            <a:off x="3977978" y="395853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0" name="Oval 289"/>
          <p:cNvSpPr/>
          <p:nvPr/>
        </p:nvSpPr>
        <p:spPr>
          <a:xfrm>
            <a:off x="4143036" y="390414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1" name="Oval 290"/>
          <p:cNvSpPr/>
          <p:nvPr/>
        </p:nvSpPr>
        <p:spPr>
          <a:xfrm>
            <a:off x="4105015" y="393078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2" name="Oval 291"/>
          <p:cNvSpPr/>
          <p:nvPr/>
        </p:nvSpPr>
        <p:spPr>
          <a:xfrm>
            <a:off x="4158124" y="395195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3" name="Oval 292"/>
          <p:cNvSpPr/>
          <p:nvPr/>
        </p:nvSpPr>
        <p:spPr>
          <a:xfrm>
            <a:off x="4207309" y="391078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4" name="Oval 293"/>
          <p:cNvSpPr/>
          <p:nvPr/>
        </p:nvSpPr>
        <p:spPr>
          <a:xfrm>
            <a:off x="4222095" y="389437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5" name="Oval 294"/>
          <p:cNvSpPr/>
          <p:nvPr/>
        </p:nvSpPr>
        <p:spPr>
          <a:xfrm>
            <a:off x="4152692" y="390395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6" name="Oval 295"/>
          <p:cNvSpPr/>
          <p:nvPr/>
        </p:nvSpPr>
        <p:spPr>
          <a:xfrm>
            <a:off x="4182264" y="395604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7" name="Oval 296"/>
          <p:cNvSpPr/>
          <p:nvPr/>
        </p:nvSpPr>
        <p:spPr>
          <a:xfrm>
            <a:off x="4168082" y="396169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8" name="Oval 297"/>
          <p:cNvSpPr/>
          <p:nvPr/>
        </p:nvSpPr>
        <p:spPr>
          <a:xfrm>
            <a:off x="4277618" y="394286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9" name="Oval 298"/>
          <p:cNvSpPr/>
          <p:nvPr/>
        </p:nvSpPr>
        <p:spPr>
          <a:xfrm>
            <a:off x="4114973" y="396620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0" name="Oval 299"/>
          <p:cNvSpPr/>
          <p:nvPr/>
        </p:nvSpPr>
        <p:spPr>
          <a:xfrm>
            <a:off x="3978883" y="391835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1" name="Oval 300"/>
          <p:cNvSpPr/>
          <p:nvPr/>
        </p:nvSpPr>
        <p:spPr>
          <a:xfrm>
            <a:off x="4215155" y="395082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2" name="Oval 301"/>
          <p:cNvSpPr/>
          <p:nvPr/>
        </p:nvSpPr>
        <p:spPr>
          <a:xfrm>
            <a:off x="3955346" y="394331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3" name="Oval 302"/>
          <p:cNvSpPr/>
          <p:nvPr/>
        </p:nvSpPr>
        <p:spPr>
          <a:xfrm>
            <a:off x="4095661" y="395190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4" name="Oval 303"/>
          <p:cNvSpPr/>
          <p:nvPr/>
        </p:nvSpPr>
        <p:spPr>
          <a:xfrm>
            <a:off x="4003929" y="398193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5" name="Oval 304"/>
          <p:cNvSpPr/>
          <p:nvPr/>
        </p:nvSpPr>
        <p:spPr>
          <a:xfrm>
            <a:off x="4171099" y="395571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6" name="Oval 305"/>
          <p:cNvSpPr/>
          <p:nvPr/>
        </p:nvSpPr>
        <p:spPr>
          <a:xfrm>
            <a:off x="4214250" y="395740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7" name="Oval 306"/>
          <p:cNvSpPr/>
          <p:nvPr/>
        </p:nvSpPr>
        <p:spPr>
          <a:xfrm>
            <a:off x="4200067" y="395975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8" name="Oval 307"/>
          <p:cNvSpPr/>
          <p:nvPr/>
        </p:nvSpPr>
        <p:spPr>
          <a:xfrm>
            <a:off x="4273997" y="393975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9" name="Oval 308"/>
          <p:cNvSpPr/>
          <p:nvPr/>
        </p:nvSpPr>
        <p:spPr>
          <a:xfrm>
            <a:off x="4203990" y="391047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0" name="Oval 309"/>
          <p:cNvSpPr/>
          <p:nvPr/>
        </p:nvSpPr>
        <p:spPr>
          <a:xfrm>
            <a:off x="4260116" y="397824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1" name="Oval 310"/>
          <p:cNvSpPr/>
          <p:nvPr/>
        </p:nvSpPr>
        <p:spPr>
          <a:xfrm>
            <a:off x="4324087" y="397489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2" name="Oval 311"/>
          <p:cNvSpPr/>
          <p:nvPr/>
        </p:nvSpPr>
        <p:spPr>
          <a:xfrm>
            <a:off x="4263435" y="389553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3" name="Oval 312"/>
          <p:cNvSpPr/>
          <p:nvPr/>
        </p:nvSpPr>
        <p:spPr>
          <a:xfrm>
            <a:off x="4273393" y="393340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4" name="Oval 313"/>
          <p:cNvSpPr/>
          <p:nvPr/>
        </p:nvSpPr>
        <p:spPr>
          <a:xfrm>
            <a:off x="3387147" y="393599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5" name="Oval 314"/>
          <p:cNvSpPr/>
          <p:nvPr/>
        </p:nvSpPr>
        <p:spPr>
          <a:xfrm>
            <a:off x="4165366" y="395750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6" name="Oval 315"/>
          <p:cNvSpPr/>
          <p:nvPr/>
        </p:nvSpPr>
        <p:spPr>
          <a:xfrm>
            <a:off x="4297835" y="389234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7" name="Oval 316"/>
          <p:cNvSpPr/>
          <p:nvPr/>
        </p:nvSpPr>
        <p:spPr>
          <a:xfrm>
            <a:off x="3962287" y="390468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8" name="Oval 317"/>
          <p:cNvSpPr/>
          <p:nvPr/>
        </p:nvSpPr>
        <p:spPr>
          <a:xfrm>
            <a:off x="4213948" y="397033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9" name="Oval 318"/>
          <p:cNvSpPr/>
          <p:nvPr/>
        </p:nvSpPr>
        <p:spPr>
          <a:xfrm>
            <a:off x="4176531" y="397910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0" name="Oval 319"/>
          <p:cNvSpPr/>
          <p:nvPr/>
        </p:nvSpPr>
        <p:spPr>
          <a:xfrm>
            <a:off x="4073633" y="398457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1" name="Oval 320"/>
          <p:cNvSpPr/>
          <p:nvPr/>
        </p:nvSpPr>
        <p:spPr>
          <a:xfrm>
            <a:off x="4128854" y="391415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2" name="Oval 321"/>
          <p:cNvSpPr/>
          <p:nvPr/>
        </p:nvSpPr>
        <p:spPr>
          <a:xfrm>
            <a:off x="4318958" y="396399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3" name="Oval 322"/>
          <p:cNvSpPr/>
          <p:nvPr/>
        </p:nvSpPr>
        <p:spPr>
          <a:xfrm>
            <a:off x="4266151" y="398039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4" name="Oval 323"/>
          <p:cNvSpPr/>
          <p:nvPr/>
        </p:nvSpPr>
        <p:spPr>
          <a:xfrm>
            <a:off x="4261625" y="394048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5" name="Oval 324"/>
          <p:cNvSpPr/>
          <p:nvPr/>
        </p:nvSpPr>
        <p:spPr>
          <a:xfrm>
            <a:off x="4216060" y="393267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6" name="Oval 325"/>
          <p:cNvSpPr/>
          <p:nvPr/>
        </p:nvSpPr>
        <p:spPr>
          <a:xfrm>
            <a:off x="4216362" y="398638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7" name="Oval 326"/>
          <p:cNvSpPr/>
          <p:nvPr/>
        </p:nvSpPr>
        <p:spPr>
          <a:xfrm>
            <a:off x="4205801" y="393569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8" name="Oval 327"/>
          <p:cNvSpPr/>
          <p:nvPr/>
        </p:nvSpPr>
        <p:spPr>
          <a:xfrm>
            <a:off x="4249253" y="391673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9" name="Oval 328"/>
          <p:cNvSpPr/>
          <p:nvPr/>
        </p:nvSpPr>
        <p:spPr>
          <a:xfrm>
            <a:off x="4275204" y="389855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0" name="Oval 329"/>
          <p:cNvSpPr/>
          <p:nvPr/>
        </p:nvSpPr>
        <p:spPr>
          <a:xfrm>
            <a:off x="4271884" y="393423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1" name="Oval 330"/>
          <p:cNvSpPr/>
          <p:nvPr/>
        </p:nvSpPr>
        <p:spPr>
          <a:xfrm>
            <a:off x="4101696" y="389187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2" name="Oval 331"/>
          <p:cNvSpPr/>
          <p:nvPr/>
        </p:nvSpPr>
        <p:spPr>
          <a:xfrm>
            <a:off x="4167478" y="396459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3" name="Oval 332"/>
          <p:cNvSpPr/>
          <p:nvPr/>
        </p:nvSpPr>
        <p:spPr>
          <a:xfrm>
            <a:off x="4273393" y="398126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4" name="Oval 333"/>
          <p:cNvSpPr/>
          <p:nvPr/>
        </p:nvSpPr>
        <p:spPr>
          <a:xfrm>
            <a:off x="4279428" y="396250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5" name="Oval 334"/>
          <p:cNvSpPr/>
          <p:nvPr/>
        </p:nvSpPr>
        <p:spPr>
          <a:xfrm>
            <a:off x="4277014" y="396212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6" name="Oval 335"/>
          <p:cNvSpPr/>
          <p:nvPr/>
        </p:nvSpPr>
        <p:spPr>
          <a:xfrm>
            <a:off x="4110145" y="393858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7" name="Oval 336"/>
          <p:cNvSpPr/>
          <p:nvPr/>
        </p:nvSpPr>
        <p:spPr>
          <a:xfrm>
            <a:off x="4260719" y="390177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8" name="Oval 337"/>
          <p:cNvSpPr/>
          <p:nvPr/>
        </p:nvSpPr>
        <p:spPr>
          <a:xfrm>
            <a:off x="4281842" y="398781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9" name="Oval 338"/>
          <p:cNvSpPr/>
          <p:nvPr/>
        </p:nvSpPr>
        <p:spPr>
          <a:xfrm>
            <a:off x="4260116" y="398105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0" name="Oval 339"/>
          <p:cNvSpPr/>
          <p:nvPr/>
        </p:nvSpPr>
        <p:spPr>
          <a:xfrm>
            <a:off x="4262832" y="397096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1" name="Oval 340"/>
          <p:cNvSpPr/>
          <p:nvPr/>
        </p:nvSpPr>
        <p:spPr>
          <a:xfrm>
            <a:off x="4253779" y="392194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2" name="Oval 341"/>
          <p:cNvSpPr/>
          <p:nvPr/>
        </p:nvSpPr>
        <p:spPr>
          <a:xfrm>
            <a:off x="3891677" y="392016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3" name="Oval 342"/>
          <p:cNvSpPr/>
          <p:nvPr/>
        </p:nvSpPr>
        <p:spPr>
          <a:xfrm>
            <a:off x="4280032" y="398122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4" name="Oval 343"/>
          <p:cNvSpPr/>
          <p:nvPr/>
        </p:nvSpPr>
        <p:spPr>
          <a:xfrm>
            <a:off x="3528367" y="394778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5" name="Oval 344"/>
          <p:cNvSpPr/>
          <p:nvPr/>
        </p:nvSpPr>
        <p:spPr>
          <a:xfrm>
            <a:off x="3934224" y="398908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6" name="Oval 345"/>
          <p:cNvSpPr/>
          <p:nvPr/>
        </p:nvSpPr>
        <p:spPr>
          <a:xfrm>
            <a:off x="4143338" y="398004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7" name="Oval 346"/>
          <p:cNvSpPr/>
          <p:nvPr/>
        </p:nvSpPr>
        <p:spPr>
          <a:xfrm>
            <a:off x="4270677" y="393949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8" name="Oval 347"/>
          <p:cNvSpPr/>
          <p:nvPr/>
        </p:nvSpPr>
        <p:spPr>
          <a:xfrm>
            <a:off x="4191920" y="395871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9" name="Oval 348"/>
          <p:cNvSpPr/>
          <p:nvPr/>
        </p:nvSpPr>
        <p:spPr>
          <a:xfrm>
            <a:off x="4182867" y="389146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0" name="Oval 349"/>
          <p:cNvSpPr/>
          <p:nvPr/>
        </p:nvSpPr>
        <p:spPr>
          <a:xfrm>
            <a:off x="4095359" y="389375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1" name="Oval 350"/>
          <p:cNvSpPr/>
          <p:nvPr/>
        </p:nvSpPr>
        <p:spPr>
          <a:xfrm>
            <a:off x="3544058" y="395988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2" name="Oval 351"/>
          <p:cNvSpPr/>
          <p:nvPr/>
        </p:nvSpPr>
        <p:spPr>
          <a:xfrm>
            <a:off x="4313224" y="398919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3" name="Oval 352"/>
          <p:cNvSpPr/>
          <p:nvPr/>
        </p:nvSpPr>
        <p:spPr>
          <a:xfrm>
            <a:off x="4246839" y="395448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4" name="Oval 353"/>
          <p:cNvSpPr/>
          <p:nvPr/>
        </p:nvSpPr>
        <p:spPr>
          <a:xfrm>
            <a:off x="4292403" y="395468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5" name="Oval 354"/>
          <p:cNvSpPr/>
          <p:nvPr/>
        </p:nvSpPr>
        <p:spPr>
          <a:xfrm>
            <a:off x="4353961" y="391564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6" name="Oval 355"/>
          <p:cNvSpPr/>
          <p:nvPr/>
        </p:nvSpPr>
        <p:spPr>
          <a:xfrm>
            <a:off x="4272790" y="394307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7" name="Oval 356"/>
          <p:cNvSpPr/>
          <p:nvPr/>
        </p:nvSpPr>
        <p:spPr>
          <a:xfrm>
            <a:off x="4286972" y="391396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8" name="Oval 357"/>
          <p:cNvSpPr/>
          <p:nvPr/>
        </p:nvSpPr>
        <p:spPr>
          <a:xfrm>
            <a:off x="3114665" y="398221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9" name="Oval 358"/>
          <p:cNvSpPr/>
          <p:nvPr/>
        </p:nvSpPr>
        <p:spPr>
          <a:xfrm>
            <a:off x="4292102" y="395301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0" name="Oval 359"/>
          <p:cNvSpPr/>
          <p:nvPr/>
        </p:nvSpPr>
        <p:spPr>
          <a:xfrm>
            <a:off x="4353659" y="389822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1" name="Oval 360"/>
          <p:cNvSpPr/>
          <p:nvPr/>
        </p:nvSpPr>
        <p:spPr>
          <a:xfrm>
            <a:off x="4342192" y="389078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2" name="Oval 361"/>
          <p:cNvSpPr/>
          <p:nvPr/>
        </p:nvSpPr>
        <p:spPr>
          <a:xfrm>
            <a:off x="4170194" y="393353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3" name="Oval 362"/>
          <p:cNvSpPr/>
          <p:nvPr/>
        </p:nvSpPr>
        <p:spPr>
          <a:xfrm>
            <a:off x="4328010" y="390452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4" name="Oval 363"/>
          <p:cNvSpPr/>
          <p:nvPr/>
        </p:nvSpPr>
        <p:spPr>
          <a:xfrm>
            <a:off x="4303568" y="392183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5" name="Oval 364"/>
          <p:cNvSpPr/>
          <p:nvPr/>
        </p:nvSpPr>
        <p:spPr>
          <a:xfrm>
            <a:off x="4228432" y="391256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6" name="Oval 365"/>
          <p:cNvSpPr/>
          <p:nvPr/>
        </p:nvSpPr>
        <p:spPr>
          <a:xfrm>
            <a:off x="4248046" y="4148962"/>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7" name="Oval 366"/>
          <p:cNvSpPr/>
          <p:nvPr/>
        </p:nvSpPr>
        <p:spPr>
          <a:xfrm>
            <a:off x="4213344" y="4126160"/>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8" name="Oval 367"/>
          <p:cNvSpPr/>
          <p:nvPr/>
        </p:nvSpPr>
        <p:spPr>
          <a:xfrm>
            <a:off x="4169892" y="4130752"/>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9" name="Oval 368"/>
          <p:cNvSpPr/>
          <p:nvPr/>
        </p:nvSpPr>
        <p:spPr>
          <a:xfrm>
            <a:off x="4098377" y="419109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0" name="Oval 369"/>
          <p:cNvSpPr/>
          <p:nvPr/>
        </p:nvSpPr>
        <p:spPr>
          <a:xfrm>
            <a:off x="3938750" y="4170553"/>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1" name="Oval 370"/>
          <p:cNvSpPr/>
          <p:nvPr/>
        </p:nvSpPr>
        <p:spPr>
          <a:xfrm>
            <a:off x="4261021" y="4175144"/>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2" name="Oval 371"/>
          <p:cNvSpPr/>
          <p:nvPr/>
        </p:nvSpPr>
        <p:spPr>
          <a:xfrm>
            <a:off x="4214250" y="4128911"/>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3" name="Oval 372"/>
          <p:cNvSpPr/>
          <p:nvPr/>
        </p:nvSpPr>
        <p:spPr>
          <a:xfrm>
            <a:off x="4000006" y="4144000"/>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4" name="Oval 373"/>
          <p:cNvSpPr/>
          <p:nvPr/>
        </p:nvSpPr>
        <p:spPr>
          <a:xfrm>
            <a:off x="4051605" y="4103314"/>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5" name="Oval 374"/>
          <p:cNvSpPr/>
          <p:nvPr/>
        </p:nvSpPr>
        <p:spPr>
          <a:xfrm>
            <a:off x="4196446" y="4174784"/>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6" name="Oval 375"/>
          <p:cNvSpPr/>
          <p:nvPr/>
        </p:nvSpPr>
        <p:spPr>
          <a:xfrm>
            <a:off x="3914006" y="4126607"/>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7" name="Oval 376"/>
          <p:cNvSpPr/>
          <p:nvPr/>
        </p:nvSpPr>
        <p:spPr>
          <a:xfrm>
            <a:off x="3244419" y="4101305"/>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8" name="Oval 377"/>
          <p:cNvSpPr/>
          <p:nvPr/>
        </p:nvSpPr>
        <p:spPr>
          <a:xfrm>
            <a:off x="2690704" y="4134526"/>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9" name="Oval 378"/>
          <p:cNvSpPr/>
          <p:nvPr/>
        </p:nvSpPr>
        <p:spPr>
          <a:xfrm>
            <a:off x="4164461" y="4176141"/>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0" name="Oval 379"/>
          <p:cNvSpPr/>
          <p:nvPr/>
        </p:nvSpPr>
        <p:spPr>
          <a:xfrm>
            <a:off x="4055528" y="4121356"/>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1" name="Oval 380"/>
          <p:cNvSpPr/>
          <p:nvPr/>
        </p:nvSpPr>
        <p:spPr>
          <a:xfrm>
            <a:off x="4120707" y="4107153"/>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2" name="Oval 381"/>
          <p:cNvSpPr/>
          <p:nvPr/>
        </p:nvSpPr>
        <p:spPr>
          <a:xfrm>
            <a:off x="4063675" y="4191976"/>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3" name="Oval 382"/>
          <p:cNvSpPr/>
          <p:nvPr/>
        </p:nvSpPr>
        <p:spPr>
          <a:xfrm>
            <a:off x="2952625" y="4114188"/>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4" name="Oval 383"/>
          <p:cNvSpPr/>
          <p:nvPr/>
        </p:nvSpPr>
        <p:spPr>
          <a:xfrm>
            <a:off x="4278523" y="413681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5" name="Oval 384"/>
          <p:cNvSpPr/>
          <p:nvPr/>
        </p:nvSpPr>
        <p:spPr>
          <a:xfrm>
            <a:off x="3815937" y="417101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6" name="Oval 385"/>
          <p:cNvSpPr/>
          <p:nvPr/>
        </p:nvSpPr>
        <p:spPr>
          <a:xfrm>
            <a:off x="4200671" y="4129585"/>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7" name="Oval 386"/>
          <p:cNvSpPr/>
          <p:nvPr/>
        </p:nvSpPr>
        <p:spPr>
          <a:xfrm>
            <a:off x="3707910" y="4123105"/>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8" name="Oval 387"/>
          <p:cNvSpPr/>
          <p:nvPr/>
        </p:nvSpPr>
        <p:spPr>
          <a:xfrm>
            <a:off x="4190713" y="418628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9" name="Oval 388"/>
          <p:cNvSpPr/>
          <p:nvPr/>
        </p:nvSpPr>
        <p:spPr>
          <a:xfrm>
            <a:off x="3764639" y="4180118"/>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0" name="TextBox 389"/>
          <p:cNvSpPr txBox="1"/>
          <p:nvPr/>
        </p:nvSpPr>
        <p:spPr>
          <a:xfrm>
            <a:off x="4800600" y="387248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119 of 123</a:t>
            </a:r>
          </a:p>
          <a:p>
            <a:pPr algn="l">
              <a:lnSpc>
                <a:spcPct val="109000"/>
              </a:lnSpc>
              <a:spcBef>
                <a:spcPts val="0"/>
              </a:spcBef>
              <a:spcAft>
                <a:spcPts val="0"/>
              </a:spcAft>
            </a:pPr>
            <a:r>
              <a:rPr sz="1250" b="0">
                <a:solidFill>
                  <a:srgbClr val="00407A"/>
                </a:solidFill>
                <a:latin typeface="Arial"/>
              </a:rPr>
              <a:t>are “yes”</a:t>
            </a:r>
          </a:p>
        </p:txBody>
      </p:sp>
      <p:sp>
        <p:nvSpPr>
          <p:cNvPr id="391" name="TextBox 390"/>
          <p:cNvSpPr txBox="1"/>
          <p:nvPr/>
        </p:nvSpPr>
        <p:spPr>
          <a:xfrm>
            <a:off x="996696" y="443026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27B</a:t>
            </a:r>
          </a:p>
        </p:txBody>
      </p:sp>
      <p:sp>
        <p:nvSpPr>
          <p:cNvPr id="392" name="Oval 391"/>
          <p:cNvSpPr/>
          <p:nvPr/>
        </p:nvSpPr>
        <p:spPr>
          <a:xfrm>
            <a:off x="4487939" y="442676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3" name="Oval 392"/>
          <p:cNvSpPr/>
          <p:nvPr/>
        </p:nvSpPr>
        <p:spPr>
          <a:xfrm>
            <a:off x="4195541" y="448453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4" name="Oval 393"/>
          <p:cNvSpPr/>
          <p:nvPr/>
        </p:nvSpPr>
        <p:spPr>
          <a:xfrm>
            <a:off x="4273695" y="448298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5" name="Oval 394"/>
          <p:cNvSpPr/>
          <p:nvPr/>
        </p:nvSpPr>
        <p:spPr>
          <a:xfrm>
            <a:off x="3048280" y="443874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6" name="Oval 395"/>
          <p:cNvSpPr/>
          <p:nvPr/>
        </p:nvSpPr>
        <p:spPr>
          <a:xfrm>
            <a:off x="4414311" y="447836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7" name="Oval 396"/>
          <p:cNvSpPr/>
          <p:nvPr/>
        </p:nvSpPr>
        <p:spPr>
          <a:xfrm>
            <a:off x="3534402" y="446958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8" name="Oval 397"/>
          <p:cNvSpPr/>
          <p:nvPr/>
        </p:nvSpPr>
        <p:spPr>
          <a:xfrm>
            <a:off x="4269169" y="446915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9" name="Oval 398"/>
          <p:cNvSpPr/>
          <p:nvPr/>
        </p:nvSpPr>
        <p:spPr>
          <a:xfrm>
            <a:off x="4446900" y="444814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0" name="Oval 399"/>
          <p:cNvSpPr/>
          <p:nvPr/>
        </p:nvSpPr>
        <p:spPr>
          <a:xfrm>
            <a:off x="4091135" y="441160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1" name="Oval 400"/>
          <p:cNvSpPr/>
          <p:nvPr/>
        </p:nvSpPr>
        <p:spPr>
          <a:xfrm>
            <a:off x="4450521" y="442416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2" name="Oval 401"/>
          <p:cNvSpPr/>
          <p:nvPr/>
        </p:nvSpPr>
        <p:spPr>
          <a:xfrm>
            <a:off x="4334950" y="446413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3" name="Oval 402"/>
          <p:cNvSpPr/>
          <p:nvPr/>
        </p:nvSpPr>
        <p:spPr>
          <a:xfrm>
            <a:off x="4232053" y="444546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4" name="Oval 403"/>
          <p:cNvSpPr/>
          <p:nvPr/>
        </p:nvSpPr>
        <p:spPr>
          <a:xfrm>
            <a:off x="4402241" y="446932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5" name="Oval 404"/>
          <p:cNvSpPr/>
          <p:nvPr/>
        </p:nvSpPr>
        <p:spPr>
          <a:xfrm>
            <a:off x="4335252" y="446433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6" name="Oval 405"/>
          <p:cNvSpPr/>
          <p:nvPr/>
        </p:nvSpPr>
        <p:spPr>
          <a:xfrm>
            <a:off x="4191316" y="449252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7" name="Oval 406"/>
          <p:cNvSpPr/>
          <p:nvPr/>
        </p:nvSpPr>
        <p:spPr>
          <a:xfrm>
            <a:off x="4274600" y="448151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8" name="Oval 407"/>
          <p:cNvSpPr/>
          <p:nvPr/>
        </p:nvSpPr>
        <p:spPr>
          <a:xfrm>
            <a:off x="4302663" y="448535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9" name="Oval 408"/>
          <p:cNvSpPr/>
          <p:nvPr/>
        </p:nvSpPr>
        <p:spPr>
          <a:xfrm>
            <a:off x="4341589" y="447421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0" name="Oval 409"/>
          <p:cNvSpPr/>
          <p:nvPr/>
        </p:nvSpPr>
        <p:spPr>
          <a:xfrm>
            <a:off x="4439055" y="439891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1" name="Oval 410"/>
          <p:cNvSpPr/>
          <p:nvPr/>
        </p:nvSpPr>
        <p:spPr>
          <a:xfrm>
            <a:off x="4372368" y="445984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2" name="Oval 411"/>
          <p:cNvSpPr/>
          <p:nvPr/>
        </p:nvSpPr>
        <p:spPr>
          <a:xfrm>
            <a:off x="4189506" y="447721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3" name="Oval 412"/>
          <p:cNvSpPr/>
          <p:nvPr/>
        </p:nvSpPr>
        <p:spPr>
          <a:xfrm>
            <a:off x="4314431" y="449106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4" name="Oval 413"/>
          <p:cNvSpPr/>
          <p:nvPr/>
        </p:nvSpPr>
        <p:spPr>
          <a:xfrm>
            <a:off x="4182867" y="446145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5" name="Oval 414"/>
          <p:cNvSpPr/>
          <p:nvPr/>
        </p:nvSpPr>
        <p:spPr>
          <a:xfrm>
            <a:off x="4289386" y="440706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6" name="Oval 415"/>
          <p:cNvSpPr/>
          <p:nvPr/>
        </p:nvSpPr>
        <p:spPr>
          <a:xfrm>
            <a:off x="3956553" y="443370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7" name="Oval 416"/>
          <p:cNvSpPr/>
          <p:nvPr/>
        </p:nvSpPr>
        <p:spPr>
          <a:xfrm>
            <a:off x="4370255" y="445487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8" name="Oval 417"/>
          <p:cNvSpPr/>
          <p:nvPr/>
        </p:nvSpPr>
        <p:spPr>
          <a:xfrm>
            <a:off x="3999402" y="441370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9" name="Oval 418"/>
          <p:cNvSpPr/>
          <p:nvPr/>
        </p:nvSpPr>
        <p:spPr>
          <a:xfrm>
            <a:off x="4327105" y="439729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0" name="Oval 419"/>
          <p:cNvSpPr/>
          <p:nvPr/>
        </p:nvSpPr>
        <p:spPr>
          <a:xfrm>
            <a:off x="4271583" y="440687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1" name="Oval 420"/>
          <p:cNvSpPr/>
          <p:nvPr/>
        </p:nvSpPr>
        <p:spPr>
          <a:xfrm>
            <a:off x="4082384" y="445896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2" name="Oval 421"/>
          <p:cNvSpPr/>
          <p:nvPr/>
        </p:nvSpPr>
        <p:spPr>
          <a:xfrm>
            <a:off x="4269169" y="446461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3" name="Oval 422"/>
          <p:cNvSpPr/>
          <p:nvPr/>
        </p:nvSpPr>
        <p:spPr>
          <a:xfrm>
            <a:off x="4438753" y="444578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4" name="Oval 423"/>
          <p:cNvSpPr/>
          <p:nvPr/>
        </p:nvSpPr>
        <p:spPr>
          <a:xfrm>
            <a:off x="4351245" y="446912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5" name="Oval 424"/>
          <p:cNvSpPr/>
          <p:nvPr/>
        </p:nvSpPr>
        <p:spPr>
          <a:xfrm>
            <a:off x="4339477" y="442127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6" name="Oval 425"/>
          <p:cNvSpPr/>
          <p:nvPr/>
        </p:nvSpPr>
        <p:spPr>
          <a:xfrm>
            <a:off x="4048588" y="445374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7" name="Oval 426"/>
          <p:cNvSpPr/>
          <p:nvPr/>
        </p:nvSpPr>
        <p:spPr>
          <a:xfrm>
            <a:off x="3958062" y="444623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8" name="Oval 427"/>
          <p:cNvSpPr/>
          <p:nvPr/>
        </p:nvSpPr>
        <p:spPr>
          <a:xfrm>
            <a:off x="4333743" y="445482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9" name="Oval 428"/>
          <p:cNvSpPr/>
          <p:nvPr/>
        </p:nvSpPr>
        <p:spPr>
          <a:xfrm>
            <a:off x="4394999" y="448485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0" name="Oval 429"/>
          <p:cNvSpPr/>
          <p:nvPr/>
        </p:nvSpPr>
        <p:spPr>
          <a:xfrm>
            <a:off x="4076952" y="445863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1" name="Oval 430"/>
          <p:cNvSpPr/>
          <p:nvPr/>
        </p:nvSpPr>
        <p:spPr>
          <a:xfrm>
            <a:off x="4229337" y="446032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2" name="Oval 431"/>
          <p:cNvSpPr/>
          <p:nvPr/>
        </p:nvSpPr>
        <p:spPr>
          <a:xfrm>
            <a:off x="4479791" y="446267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3" name="Oval 432"/>
          <p:cNvSpPr/>
          <p:nvPr/>
        </p:nvSpPr>
        <p:spPr>
          <a:xfrm>
            <a:off x="4483412" y="444267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4" name="Oval 433"/>
          <p:cNvSpPr/>
          <p:nvPr/>
        </p:nvSpPr>
        <p:spPr>
          <a:xfrm>
            <a:off x="4084798" y="441339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5" name="Oval 434"/>
          <p:cNvSpPr/>
          <p:nvPr/>
        </p:nvSpPr>
        <p:spPr>
          <a:xfrm>
            <a:off x="4472248" y="448116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6" name="Oval 435"/>
          <p:cNvSpPr/>
          <p:nvPr/>
        </p:nvSpPr>
        <p:spPr>
          <a:xfrm>
            <a:off x="4070616" y="447781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7" name="Oval 436"/>
          <p:cNvSpPr/>
          <p:nvPr/>
        </p:nvSpPr>
        <p:spPr>
          <a:xfrm>
            <a:off x="4486128" y="439845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8" name="Oval 437"/>
          <p:cNvSpPr/>
          <p:nvPr/>
        </p:nvSpPr>
        <p:spPr>
          <a:xfrm>
            <a:off x="4481300" y="443632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9" name="Oval 438"/>
          <p:cNvSpPr/>
          <p:nvPr/>
        </p:nvSpPr>
        <p:spPr>
          <a:xfrm>
            <a:off x="4214551" y="443891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0" name="Oval 439"/>
          <p:cNvSpPr/>
          <p:nvPr/>
        </p:nvSpPr>
        <p:spPr>
          <a:xfrm>
            <a:off x="4500009" y="446042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1" name="Oval 440"/>
          <p:cNvSpPr/>
          <p:nvPr/>
        </p:nvSpPr>
        <p:spPr>
          <a:xfrm>
            <a:off x="4495784" y="439526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2" name="Oval 441"/>
          <p:cNvSpPr/>
          <p:nvPr/>
        </p:nvSpPr>
        <p:spPr>
          <a:xfrm>
            <a:off x="4323786" y="440760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3" name="Oval 442"/>
          <p:cNvSpPr/>
          <p:nvPr/>
        </p:nvSpPr>
        <p:spPr>
          <a:xfrm>
            <a:off x="4417027" y="447325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4" name="Oval 443"/>
          <p:cNvSpPr/>
          <p:nvPr/>
        </p:nvSpPr>
        <p:spPr>
          <a:xfrm>
            <a:off x="4445090" y="448202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5" name="Oval 444"/>
          <p:cNvSpPr/>
          <p:nvPr/>
        </p:nvSpPr>
        <p:spPr>
          <a:xfrm>
            <a:off x="4313526" y="448749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6" name="Oval 445"/>
          <p:cNvSpPr/>
          <p:nvPr/>
        </p:nvSpPr>
        <p:spPr>
          <a:xfrm>
            <a:off x="4309603" y="441707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7" name="Oval 446"/>
          <p:cNvSpPr/>
          <p:nvPr/>
        </p:nvSpPr>
        <p:spPr>
          <a:xfrm>
            <a:off x="4500914" y="446691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8" name="Oval 447"/>
          <p:cNvSpPr/>
          <p:nvPr/>
        </p:nvSpPr>
        <p:spPr>
          <a:xfrm>
            <a:off x="4468627" y="448331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9" name="Oval 448"/>
          <p:cNvSpPr/>
          <p:nvPr/>
        </p:nvSpPr>
        <p:spPr>
          <a:xfrm>
            <a:off x="4428795" y="444340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0" name="Oval 449"/>
          <p:cNvSpPr/>
          <p:nvPr/>
        </p:nvSpPr>
        <p:spPr>
          <a:xfrm>
            <a:off x="4486732" y="443559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1" name="Oval 450"/>
          <p:cNvSpPr/>
          <p:nvPr/>
        </p:nvSpPr>
        <p:spPr>
          <a:xfrm>
            <a:off x="4478584" y="448930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2" name="Oval 451"/>
          <p:cNvSpPr/>
          <p:nvPr/>
        </p:nvSpPr>
        <p:spPr>
          <a:xfrm>
            <a:off x="4468627" y="443861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3" name="Oval 452"/>
          <p:cNvSpPr/>
          <p:nvPr/>
        </p:nvSpPr>
        <p:spPr>
          <a:xfrm>
            <a:off x="4475265" y="441965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4" name="Oval 453"/>
          <p:cNvSpPr/>
          <p:nvPr/>
        </p:nvSpPr>
        <p:spPr>
          <a:xfrm>
            <a:off x="4484318" y="440147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5" name="Oval 454"/>
          <p:cNvSpPr/>
          <p:nvPr/>
        </p:nvSpPr>
        <p:spPr>
          <a:xfrm>
            <a:off x="4535917" y="443715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6" name="Oval 455"/>
          <p:cNvSpPr/>
          <p:nvPr/>
        </p:nvSpPr>
        <p:spPr>
          <a:xfrm>
            <a:off x="4483412" y="439479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7" name="Oval 456"/>
          <p:cNvSpPr/>
          <p:nvPr/>
        </p:nvSpPr>
        <p:spPr>
          <a:xfrm>
            <a:off x="4385343" y="446751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8" name="Oval 457"/>
          <p:cNvSpPr/>
          <p:nvPr/>
        </p:nvSpPr>
        <p:spPr>
          <a:xfrm>
            <a:off x="4536219" y="448418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9" name="Oval 458"/>
          <p:cNvSpPr/>
          <p:nvPr/>
        </p:nvSpPr>
        <p:spPr>
          <a:xfrm>
            <a:off x="4520226" y="446542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0" name="Oval 459"/>
          <p:cNvSpPr/>
          <p:nvPr/>
        </p:nvSpPr>
        <p:spPr>
          <a:xfrm>
            <a:off x="4477076" y="446504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1" name="Oval 460"/>
          <p:cNvSpPr/>
          <p:nvPr/>
        </p:nvSpPr>
        <p:spPr>
          <a:xfrm>
            <a:off x="4257098" y="444150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2" name="Oval 461"/>
          <p:cNvSpPr/>
          <p:nvPr/>
        </p:nvSpPr>
        <p:spPr>
          <a:xfrm>
            <a:off x="4475869" y="440469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3" name="Oval 462"/>
          <p:cNvSpPr/>
          <p:nvPr/>
        </p:nvSpPr>
        <p:spPr>
          <a:xfrm>
            <a:off x="4506647" y="449073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4" name="Oval 463"/>
          <p:cNvSpPr/>
          <p:nvPr/>
        </p:nvSpPr>
        <p:spPr>
          <a:xfrm>
            <a:off x="4490353" y="448397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5" name="Oval 464"/>
          <p:cNvSpPr/>
          <p:nvPr/>
        </p:nvSpPr>
        <p:spPr>
          <a:xfrm>
            <a:off x="4499405" y="447388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6" name="Oval 465"/>
          <p:cNvSpPr/>
          <p:nvPr/>
        </p:nvSpPr>
        <p:spPr>
          <a:xfrm>
            <a:off x="4064279" y="442486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7" name="Oval 466"/>
          <p:cNvSpPr/>
          <p:nvPr/>
        </p:nvSpPr>
        <p:spPr>
          <a:xfrm>
            <a:off x="3963192" y="442308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8" name="Oval 467"/>
          <p:cNvSpPr/>
          <p:nvPr/>
        </p:nvSpPr>
        <p:spPr>
          <a:xfrm>
            <a:off x="4514795" y="448414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9" name="Oval 468"/>
          <p:cNvSpPr/>
          <p:nvPr/>
        </p:nvSpPr>
        <p:spPr>
          <a:xfrm>
            <a:off x="4084496" y="445070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0" name="Oval 469"/>
          <p:cNvSpPr/>
          <p:nvPr/>
        </p:nvSpPr>
        <p:spPr>
          <a:xfrm>
            <a:off x="4237183" y="449200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1" name="Oval 470"/>
          <p:cNvSpPr/>
          <p:nvPr/>
        </p:nvSpPr>
        <p:spPr>
          <a:xfrm>
            <a:off x="4477981" y="448296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2" name="Oval 471"/>
          <p:cNvSpPr/>
          <p:nvPr/>
        </p:nvSpPr>
        <p:spPr>
          <a:xfrm>
            <a:off x="4461988" y="444241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3" name="Oval 472"/>
          <p:cNvSpPr/>
          <p:nvPr/>
        </p:nvSpPr>
        <p:spPr>
          <a:xfrm>
            <a:off x="4288481" y="446163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4" name="Oval 473"/>
          <p:cNvSpPr/>
          <p:nvPr/>
        </p:nvSpPr>
        <p:spPr>
          <a:xfrm>
            <a:off x="4291800" y="439438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5" name="Oval 474"/>
          <p:cNvSpPr/>
          <p:nvPr/>
        </p:nvSpPr>
        <p:spPr>
          <a:xfrm>
            <a:off x="4312621" y="439667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6" name="Oval 475"/>
          <p:cNvSpPr/>
          <p:nvPr/>
        </p:nvSpPr>
        <p:spPr>
          <a:xfrm>
            <a:off x="4095359" y="446280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7" name="Oval 476"/>
          <p:cNvSpPr/>
          <p:nvPr/>
        </p:nvSpPr>
        <p:spPr>
          <a:xfrm>
            <a:off x="4484318" y="449211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8" name="Oval 477"/>
          <p:cNvSpPr/>
          <p:nvPr/>
        </p:nvSpPr>
        <p:spPr>
          <a:xfrm>
            <a:off x="4490654" y="445740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9" name="Oval 478"/>
          <p:cNvSpPr/>
          <p:nvPr/>
        </p:nvSpPr>
        <p:spPr>
          <a:xfrm>
            <a:off x="4352150" y="445760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0" name="Oval 479"/>
          <p:cNvSpPr/>
          <p:nvPr/>
        </p:nvSpPr>
        <p:spPr>
          <a:xfrm>
            <a:off x="4534409" y="441856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1" name="Oval 480"/>
          <p:cNvSpPr/>
          <p:nvPr/>
        </p:nvSpPr>
        <p:spPr>
          <a:xfrm>
            <a:off x="4499707" y="444599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2" name="Oval 481"/>
          <p:cNvSpPr/>
          <p:nvPr/>
        </p:nvSpPr>
        <p:spPr>
          <a:xfrm>
            <a:off x="4516907" y="441688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3" name="Oval 482"/>
          <p:cNvSpPr/>
          <p:nvPr/>
        </p:nvSpPr>
        <p:spPr>
          <a:xfrm>
            <a:off x="4195541" y="448513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4" name="Oval 483"/>
          <p:cNvSpPr/>
          <p:nvPr/>
        </p:nvSpPr>
        <p:spPr>
          <a:xfrm>
            <a:off x="4516002" y="445593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5" name="Oval 484"/>
          <p:cNvSpPr/>
          <p:nvPr/>
        </p:nvSpPr>
        <p:spPr>
          <a:xfrm>
            <a:off x="4521735" y="440114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6" name="Oval 485"/>
          <p:cNvSpPr/>
          <p:nvPr/>
        </p:nvSpPr>
        <p:spPr>
          <a:xfrm>
            <a:off x="4511174" y="439370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7" name="Oval 486"/>
          <p:cNvSpPr/>
          <p:nvPr/>
        </p:nvSpPr>
        <p:spPr>
          <a:xfrm>
            <a:off x="4454746" y="443645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8" name="Oval 487"/>
          <p:cNvSpPr/>
          <p:nvPr/>
        </p:nvSpPr>
        <p:spPr>
          <a:xfrm>
            <a:off x="4439960" y="440744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9" name="Oval 488"/>
          <p:cNvSpPr/>
          <p:nvPr/>
        </p:nvSpPr>
        <p:spPr>
          <a:xfrm>
            <a:off x="4420346" y="442475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0" name="Oval 489"/>
          <p:cNvSpPr/>
          <p:nvPr/>
        </p:nvSpPr>
        <p:spPr>
          <a:xfrm>
            <a:off x="4307793" y="441548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1" name="Oval 490"/>
          <p:cNvSpPr/>
          <p:nvPr/>
        </p:nvSpPr>
        <p:spPr>
          <a:xfrm>
            <a:off x="4491861" y="4651882"/>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2" name="Oval 491"/>
          <p:cNvSpPr/>
          <p:nvPr/>
        </p:nvSpPr>
        <p:spPr>
          <a:xfrm>
            <a:off x="3707005" y="4629080"/>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3" name="Oval 492"/>
          <p:cNvSpPr/>
          <p:nvPr/>
        </p:nvSpPr>
        <p:spPr>
          <a:xfrm>
            <a:off x="3971038" y="4633672"/>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4" name="Oval 493"/>
          <p:cNvSpPr/>
          <p:nvPr/>
        </p:nvSpPr>
        <p:spPr>
          <a:xfrm>
            <a:off x="4064581" y="469401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5" name="Oval 494"/>
          <p:cNvSpPr/>
          <p:nvPr/>
        </p:nvSpPr>
        <p:spPr>
          <a:xfrm>
            <a:off x="4084798" y="4673473"/>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6" name="Oval 495"/>
          <p:cNvSpPr/>
          <p:nvPr/>
        </p:nvSpPr>
        <p:spPr>
          <a:xfrm>
            <a:off x="4464402" y="4678064"/>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7" name="Oval 496"/>
          <p:cNvSpPr/>
          <p:nvPr/>
        </p:nvSpPr>
        <p:spPr>
          <a:xfrm>
            <a:off x="4467420" y="4631831"/>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8" name="Oval 497"/>
          <p:cNvSpPr/>
          <p:nvPr/>
        </p:nvSpPr>
        <p:spPr>
          <a:xfrm>
            <a:off x="4365729" y="4646920"/>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9" name="Oval 498"/>
          <p:cNvSpPr/>
          <p:nvPr/>
        </p:nvSpPr>
        <p:spPr>
          <a:xfrm>
            <a:off x="4318656" y="4606234"/>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0" name="Oval 499"/>
          <p:cNvSpPr/>
          <p:nvPr/>
        </p:nvSpPr>
        <p:spPr>
          <a:xfrm>
            <a:off x="4245330" y="4677704"/>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1" name="Oval 500"/>
          <p:cNvSpPr/>
          <p:nvPr/>
        </p:nvSpPr>
        <p:spPr>
          <a:xfrm>
            <a:off x="4280032" y="4629527"/>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2" name="Oval 501"/>
          <p:cNvSpPr/>
          <p:nvPr/>
        </p:nvSpPr>
        <p:spPr>
          <a:xfrm>
            <a:off x="3946294" y="4604225"/>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3" name="Oval 502"/>
          <p:cNvSpPr/>
          <p:nvPr/>
        </p:nvSpPr>
        <p:spPr>
          <a:xfrm>
            <a:off x="4260719" y="4637446"/>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4" name="Oval 503"/>
          <p:cNvSpPr/>
          <p:nvPr/>
        </p:nvSpPr>
        <p:spPr>
          <a:xfrm>
            <a:off x="4177436" y="4679061"/>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5" name="Oval 504"/>
          <p:cNvSpPr/>
          <p:nvPr/>
        </p:nvSpPr>
        <p:spPr>
          <a:xfrm>
            <a:off x="3442972" y="4624276"/>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6" name="Oval 505"/>
          <p:cNvSpPr/>
          <p:nvPr/>
        </p:nvSpPr>
        <p:spPr>
          <a:xfrm>
            <a:off x="3888056" y="4610073"/>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7" name="Oval 506"/>
          <p:cNvSpPr/>
          <p:nvPr/>
        </p:nvSpPr>
        <p:spPr>
          <a:xfrm>
            <a:off x="4055528" y="4694896"/>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8" name="Oval 507"/>
          <p:cNvSpPr/>
          <p:nvPr/>
        </p:nvSpPr>
        <p:spPr>
          <a:xfrm>
            <a:off x="2806275" y="4617108"/>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9" name="Oval 508"/>
          <p:cNvSpPr/>
          <p:nvPr/>
        </p:nvSpPr>
        <p:spPr>
          <a:xfrm>
            <a:off x="3875986" y="463973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0" name="Oval 509"/>
          <p:cNvSpPr/>
          <p:nvPr/>
        </p:nvSpPr>
        <p:spPr>
          <a:xfrm>
            <a:off x="3010259" y="467393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1" name="Oval 510"/>
          <p:cNvSpPr/>
          <p:nvPr/>
        </p:nvSpPr>
        <p:spPr>
          <a:xfrm>
            <a:off x="3879908" y="4632505"/>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2" name="Oval 511"/>
          <p:cNvSpPr/>
          <p:nvPr/>
        </p:nvSpPr>
        <p:spPr>
          <a:xfrm>
            <a:off x="2712430" y="4626025"/>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3" name="Oval 512"/>
          <p:cNvSpPr/>
          <p:nvPr/>
        </p:nvSpPr>
        <p:spPr>
          <a:xfrm>
            <a:off x="3134279" y="468920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4" name="Oval 513"/>
          <p:cNvSpPr/>
          <p:nvPr/>
        </p:nvSpPr>
        <p:spPr>
          <a:xfrm>
            <a:off x="3633075" y="4683038"/>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5" name="TextBox 514"/>
          <p:cNvSpPr txBox="1"/>
          <p:nvPr/>
        </p:nvSpPr>
        <p:spPr>
          <a:xfrm>
            <a:off x="4800600" y="437540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118 of 123</a:t>
            </a:r>
          </a:p>
          <a:p>
            <a:pPr algn="l">
              <a:lnSpc>
                <a:spcPct val="109000"/>
              </a:lnSpc>
              <a:spcBef>
                <a:spcPts val="0"/>
              </a:spcBef>
              <a:spcAft>
                <a:spcPts val="0"/>
              </a:spcAft>
            </a:pPr>
            <a:r>
              <a:rPr sz="1250" b="0">
                <a:solidFill>
                  <a:srgbClr val="00407A"/>
                </a:solidFill>
                <a:latin typeface="Arial"/>
              </a:rPr>
              <a:t>are “yes”</a:t>
            </a:r>
          </a:p>
        </p:txBody>
      </p:sp>
      <p:sp>
        <p:nvSpPr>
          <p:cNvPr id="516" name="TextBox 515"/>
          <p:cNvSpPr txBox="1"/>
          <p:nvPr/>
        </p:nvSpPr>
        <p:spPr>
          <a:xfrm>
            <a:off x="996696" y="5029200"/>
            <a:ext cx="4800600" cy="219456"/>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4A5A66"/>
                </a:solidFill>
                <a:latin typeface="Arial"/>
              </a:rPr>
              <a:t>Yes probability of each design • dashed line: 0.5 threshold</a:t>
            </a:r>
          </a:p>
        </p:txBody>
      </p:sp>
      <p:sp>
        <p:nvSpPr>
          <p:cNvPr id="517" name="Rounded Rectangle 516"/>
          <p:cNvSpPr/>
          <p:nvPr/>
        </p:nvSpPr>
        <p:spPr>
          <a:xfrm>
            <a:off x="6208776" y="1819656"/>
            <a:ext cx="5166360" cy="3730752"/>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8" name="TextBox 517"/>
          <p:cNvSpPr txBox="1"/>
          <p:nvPr/>
        </p:nvSpPr>
        <p:spPr>
          <a:xfrm>
            <a:off x="6409944" y="1984248"/>
            <a:ext cx="4764024" cy="502920"/>
          </a:xfrm>
          <a:prstGeom prst="rect">
            <a:avLst/>
          </a:prstGeom>
          <a:noFill/>
        </p:spPr>
        <p:txBody>
          <a:bodyPr wrap="square" lIns="0" rIns="0" tIns="0" bIns="0" anchor="t">
            <a:noAutofit/>
          </a:bodyPr>
          <a:lstStyle/>
          <a:p>
            <a:pPr algn="l">
              <a:lnSpc>
                <a:spcPct val="109000"/>
              </a:lnSpc>
              <a:spcBef>
                <a:spcPts val="0"/>
              </a:spcBef>
              <a:spcAft>
                <a:spcPts val="0"/>
              </a:spcAft>
            </a:pPr>
            <a:r>
              <a:rPr sz="1800" b="1">
                <a:solidFill>
                  <a:srgbClr val="00407A"/>
                </a:solidFill>
                <a:latin typeface="Arial"/>
              </a:rPr>
              <a:t>Does it compile?</a:t>
            </a:r>
          </a:p>
        </p:txBody>
      </p:sp>
      <p:sp>
        <p:nvSpPr>
          <p:cNvPr id="519" name="TextBox 518"/>
          <p:cNvSpPr txBox="1"/>
          <p:nvPr/>
        </p:nvSpPr>
        <p:spPr>
          <a:xfrm>
            <a:off x="6409944" y="2432304"/>
            <a:ext cx="4764024" cy="274320"/>
          </a:xfrm>
          <a:prstGeom prst="rect">
            <a:avLst/>
          </a:prstGeom>
          <a:noFill/>
        </p:spPr>
        <p:txBody>
          <a:bodyPr wrap="square" lIns="0" rIns="0" tIns="0" bIns="0">
            <a:noAutofit/>
          </a:bodyPr>
          <a:lstStyle/>
          <a:p>
            <a:r>
              <a:rPr sz="1250">
                <a:solidFill>
                  <a:srgbClr val="1D8DB0"/>
                </a:solidFill>
                <a:latin typeface="Arial"/>
              </a:rPr>
              <a:t>●</a:t>
            </a:r>
            <a:r>
              <a:rPr sz="1250">
                <a:solidFill>
                  <a:srgbClr val="4A5A66"/>
                </a:solidFill>
                <a:latin typeface="Arial"/>
              </a:rPr>
              <a:t> vlog accepts: 114</a:t>
            </a:r>
            <a:r>
              <a:rPr sz="1250">
                <a:solidFill>
                  <a:srgbClr val="E97132"/>
                </a:solidFill>
                <a:latin typeface="Arial"/>
              </a:rPr>
              <a:t>      ●</a:t>
            </a:r>
            <a:r>
              <a:rPr sz="1250">
                <a:solidFill>
                  <a:srgbClr val="4A5A66"/>
                </a:solidFill>
                <a:latin typeface="Arial"/>
              </a:rPr>
              <a:t> vlog rejects: 9</a:t>
            </a:r>
          </a:p>
        </p:txBody>
      </p:sp>
      <p:cxnSp>
        <p:nvCxnSpPr>
          <p:cNvPr id="520" name="Connector 519"/>
          <p:cNvCxnSpPr/>
          <p:nvPr/>
        </p:nvCxnSpPr>
        <p:spPr>
          <a:xfrm>
            <a:off x="7059168" y="2825496"/>
            <a:ext cx="0" cy="194767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521" name="TextBox 520"/>
          <p:cNvSpPr txBox="1"/>
          <p:nvPr/>
        </p:nvSpPr>
        <p:spPr>
          <a:xfrm>
            <a:off x="685800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a:t>
            </a:r>
          </a:p>
        </p:txBody>
      </p:sp>
      <p:cxnSp>
        <p:nvCxnSpPr>
          <p:cNvPr id="522" name="Connector 521"/>
          <p:cNvCxnSpPr/>
          <p:nvPr/>
        </p:nvCxnSpPr>
        <p:spPr>
          <a:xfrm>
            <a:off x="8567928" y="2825496"/>
            <a:ext cx="0" cy="1947672"/>
          </a:xfrm>
          <a:prstGeom prst="line">
            <a:avLst/>
          </a:prstGeom>
          <a:ln w="15240">
            <a:solidFill>
              <a:srgbClr val="4A5A66"/>
            </a:solidFill>
            <a:prstDash val="dash"/>
          </a:ln>
        </p:spPr>
        <p:style>
          <a:lnRef idx="2">
            <a:schemeClr val="accent1"/>
          </a:lnRef>
          <a:fillRef idx="0">
            <a:schemeClr val="accent1"/>
          </a:fillRef>
          <a:effectRef idx="1">
            <a:schemeClr val="accent1"/>
          </a:effectRef>
          <a:fontRef idx="minor">
            <a:schemeClr val="tx1"/>
          </a:fontRef>
        </p:style>
      </p:cxnSp>
      <p:sp>
        <p:nvSpPr>
          <p:cNvPr id="523" name="TextBox 522"/>
          <p:cNvSpPr txBox="1"/>
          <p:nvPr/>
        </p:nvSpPr>
        <p:spPr>
          <a:xfrm>
            <a:off x="8366759"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0.5</a:t>
            </a:r>
          </a:p>
        </p:txBody>
      </p:sp>
      <p:cxnSp>
        <p:nvCxnSpPr>
          <p:cNvPr id="524" name="Connector 523"/>
          <p:cNvCxnSpPr/>
          <p:nvPr/>
        </p:nvCxnSpPr>
        <p:spPr>
          <a:xfrm>
            <a:off x="10076688" y="2825496"/>
            <a:ext cx="0" cy="194767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525" name="TextBox 524"/>
          <p:cNvSpPr txBox="1"/>
          <p:nvPr/>
        </p:nvSpPr>
        <p:spPr>
          <a:xfrm>
            <a:off x="9875519"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1</a:t>
            </a:r>
          </a:p>
        </p:txBody>
      </p:sp>
      <p:sp>
        <p:nvSpPr>
          <p:cNvPr id="526" name="TextBox 525"/>
          <p:cNvSpPr txBox="1"/>
          <p:nvPr/>
        </p:nvSpPr>
        <p:spPr>
          <a:xfrm>
            <a:off x="6391656" y="292150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0.8B</a:t>
            </a:r>
          </a:p>
        </p:txBody>
      </p:sp>
      <p:sp>
        <p:nvSpPr>
          <p:cNvPr id="527" name="Oval 526"/>
          <p:cNvSpPr/>
          <p:nvPr/>
        </p:nvSpPr>
        <p:spPr>
          <a:xfrm>
            <a:off x="8263697" y="291800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8" name="Oval 527"/>
          <p:cNvSpPr/>
          <p:nvPr/>
        </p:nvSpPr>
        <p:spPr>
          <a:xfrm>
            <a:off x="8330988" y="297577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9" name="Oval 528"/>
          <p:cNvSpPr/>
          <p:nvPr/>
        </p:nvSpPr>
        <p:spPr>
          <a:xfrm>
            <a:off x="8203649" y="297422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0" name="Oval 529"/>
          <p:cNvSpPr/>
          <p:nvPr/>
        </p:nvSpPr>
        <p:spPr>
          <a:xfrm>
            <a:off x="8415780" y="292998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1" name="Oval 530"/>
          <p:cNvSpPr/>
          <p:nvPr/>
        </p:nvSpPr>
        <p:spPr>
          <a:xfrm>
            <a:off x="8225375" y="296960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2" name="Oval 531"/>
          <p:cNvSpPr/>
          <p:nvPr/>
        </p:nvSpPr>
        <p:spPr>
          <a:xfrm>
            <a:off x="8198821" y="296082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3" name="Oval 532"/>
          <p:cNvSpPr/>
          <p:nvPr/>
        </p:nvSpPr>
        <p:spPr>
          <a:xfrm>
            <a:off x="8279087" y="296039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4" name="Oval 533"/>
          <p:cNvSpPr/>
          <p:nvPr/>
        </p:nvSpPr>
        <p:spPr>
          <a:xfrm>
            <a:off x="8264301" y="293938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5" name="Oval 534"/>
          <p:cNvSpPr/>
          <p:nvPr/>
        </p:nvSpPr>
        <p:spPr>
          <a:xfrm>
            <a:off x="8167740" y="290284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6" name="Oval 535"/>
          <p:cNvSpPr/>
          <p:nvPr/>
        </p:nvSpPr>
        <p:spPr>
          <a:xfrm>
            <a:off x="8254343" y="291540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7" name="Oval 536"/>
          <p:cNvSpPr/>
          <p:nvPr/>
        </p:nvSpPr>
        <p:spPr>
          <a:xfrm>
            <a:off x="8234428" y="295537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8" name="Oval 537"/>
          <p:cNvSpPr/>
          <p:nvPr/>
        </p:nvSpPr>
        <p:spPr>
          <a:xfrm>
            <a:off x="8388623" y="293670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9" name="Oval 538"/>
          <p:cNvSpPr/>
          <p:nvPr/>
        </p:nvSpPr>
        <p:spPr>
          <a:xfrm>
            <a:off x="8445050" y="296056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0" name="Oval 539"/>
          <p:cNvSpPr/>
          <p:nvPr/>
        </p:nvSpPr>
        <p:spPr>
          <a:xfrm>
            <a:off x="8337627" y="295557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1" name="Oval 540"/>
          <p:cNvSpPr/>
          <p:nvPr/>
        </p:nvSpPr>
        <p:spPr>
          <a:xfrm>
            <a:off x="8206063" y="298376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2" name="Oval 541"/>
          <p:cNvSpPr/>
          <p:nvPr/>
        </p:nvSpPr>
        <p:spPr>
          <a:xfrm>
            <a:off x="8200330" y="297275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3" name="Oval 542"/>
          <p:cNvSpPr/>
          <p:nvPr/>
        </p:nvSpPr>
        <p:spPr>
          <a:xfrm>
            <a:off x="8168947" y="297659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4" name="Oval 543"/>
          <p:cNvSpPr/>
          <p:nvPr/>
        </p:nvSpPr>
        <p:spPr>
          <a:xfrm>
            <a:off x="8232919" y="296545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5" name="Oval 544"/>
          <p:cNvSpPr/>
          <p:nvPr/>
        </p:nvSpPr>
        <p:spPr>
          <a:xfrm>
            <a:off x="8205761" y="289015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6" name="Oval 545"/>
          <p:cNvSpPr/>
          <p:nvPr/>
        </p:nvSpPr>
        <p:spPr>
          <a:xfrm>
            <a:off x="8269733" y="295108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7" name="Oval 546"/>
          <p:cNvSpPr/>
          <p:nvPr/>
        </p:nvSpPr>
        <p:spPr>
          <a:xfrm>
            <a:off x="8212400" y="296845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8" name="Oval 547"/>
          <p:cNvSpPr/>
          <p:nvPr/>
        </p:nvSpPr>
        <p:spPr>
          <a:xfrm>
            <a:off x="8470398" y="298230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9" name="Oval 548"/>
          <p:cNvSpPr/>
          <p:nvPr/>
        </p:nvSpPr>
        <p:spPr>
          <a:xfrm>
            <a:off x="8326160" y="295269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0" name="Oval 549"/>
          <p:cNvSpPr/>
          <p:nvPr/>
        </p:nvSpPr>
        <p:spPr>
          <a:xfrm>
            <a:off x="8370819" y="289830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1" name="Oval 550"/>
          <p:cNvSpPr/>
          <p:nvPr/>
        </p:nvSpPr>
        <p:spPr>
          <a:xfrm>
            <a:off x="8190975" y="292494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2" name="Oval 551"/>
          <p:cNvSpPr/>
          <p:nvPr/>
        </p:nvSpPr>
        <p:spPr>
          <a:xfrm>
            <a:off x="8232315" y="294611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3" name="Oval 552"/>
          <p:cNvSpPr/>
          <p:nvPr/>
        </p:nvSpPr>
        <p:spPr>
          <a:xfrm>
            <a:off x="8176189" y="290494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4" name="Oval 553"/>
          <p:cNvSpPr/>
          <p:nvPr/>
        </p:nvSpPr>
        <p:spPr>
          <a:xfrm>
            <a:off x="8201537" y="288853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5" name="Oval 554"/>
          <p:cNvSpPr/>
          <p:nvPr/>
        </p:nvSpPr>
        <p:spPr>
          <a:xfrm>
            <a:off x="8315901" y="289811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6" name="Oval 555"/>
          <p:cNvSpPr/>
          <p:nvPr/>
        </p:nvSpPr>
        <p:spPr>
          <a:xfrm>
            <a:off x="8244687" y="295020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7" name="Oval 556"/>
          <p:cNvSpPr/>
          <p:nvPr/>
        </p:nvSpPr>
        <p:spPr>
          <a:xfrm>
            <a:off x="8136660" y="295585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8" name="Oval 557"/>
          <p:cNvSpPr/>
          <p:nvPr/>
        </p:nvSpPr>
        <p:spPr>
          <a:xfrm>
            <a:off x="8311073" y="293702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9" name="Oval 558"/>
          <p:cNvSpPr/>
          <p:nvPr/>
        </p:nvSpPr>
        <p:spPr>
          <a:xfrm>
            <a:off x="8174681" y="296036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0" name="Oval 559"/>
          <p:cNvSpPr/>
          <p:nvPr/>
        </p:nvSpPr>
        <p:spPr>
          <a:xfrm>
            <a:off x="8258869" y="291251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1" name="Oval 560"/>
          <p:cNvSpPr/>
          <p:nvPr/>
        </p:nvSpPr>
        <p:spPr>
          <a:xfrm>
            <a:off x="8404314" y="294498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2" name="Oval 561"/>
          <p:cNvSpPr/>
          <p:nvPr/>
        </p:nvSpPr>
        <p:spPr>
          <a:xfrm>
            <a:off x="8410651" y="293747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3" name="Oval 562"/>
          <p:cNvSpPr/>
          <p:nvPr/>
        </p:nvSpPr>
        <p:spPr>
          <a:xfrm>
            <a:off x="8334911" y="294606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4" name="Oval 563"/>
          <p:cNvSpPr/>
          <p:nvPr/>
        </p:nvSpPr>
        <p:spPr>
          <a:xfrm>
            <a:off x="8211494" y="297609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5" name="Oval 564"/>
          <p:cNvSpPr/>
          <p:nvPr/>
        </p:nvSpPr>
        <p:spPr>
          <a:xfrm>
            <a:off x="8355732" y="294987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6" name="Oval 565"/>
          <p:cNvSpPr/>
          <p:nvPr/>
        </p:nvSpPr>
        <p:spPr>
          <a:xfrm>
            <a:off x="8287234" y="295156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7" name="Oval 566"/>
          <p:cNvSpPr/>
          <p:nvPr/>
        </p:nvSpPr>
        <p:spPr>
          <a:xfrm>
            <a:off x="8294476" y="295391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8" name="Oval 567"/>
          <p:cNvSpPr/>
          <p:nvPr/>
        </p:nvSpPr>
        <p:spPr>
          <a:xfrm>
            <a:off x="8197916" y="293391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9" name="Oval 568"/>
          <p:cNvSpPr/>
          <p:nvPr/>
        </p:nvSpPr>
        <p:spPr>
          <a:xfrm>
            <a:off x="8241066" y="290463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0" name="Oval 569"/>
          <p:cNvSpPr/>
          <p:nvPr/>
        </p:nvSpPr>
        <p:spPr>
          <a:xfrm>
            <a:off x="8265810" y="297240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1" name="Oval 570"/>
          <p:cNvSpPr/>
          <p:nvPr/>
        </p:nvSpPr>
        <p:spPr>
          <a:xfrm>
            <a:off x="8248006" y="296905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2" name="Oval 571"/>
          <p:cNvSpPr/>
          <p:nvPr/>
        </p:nvSpPr>
        <p:spPr>
          <a:xfrm>
            <a:off x="8238049" y="288969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3" name="Oval 572"/>
          <p:cNvSpPr/>
          <p:nvPr/>
        </p:nvSpPr>
        <p:spPr>
          <a:xfrm>
            <a:off x="8440222" y="292756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4" name="Oval 573"/>
          <p:cNvSpPr/>
          <p:nvPr/>
        </p:nvSpPr>
        <p:spPr>
          <a:xfrm>
            <a:off x="8310167" y="293015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5" name="Oval 574"/>
          <p:cNvSpPr/>
          <p:nvPr/>
        </p:nvSpPr>
        <p:spPr>
          <a:xfrm>
            <a:off x="8037082" y="295166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6" name="Oval 575"/>
          <p:cNvSpPr/>
          <p:nvPr/>
        </p:nvSpPr>
        <p:spPr>
          <a:xfrm>
            <a:off x="8084759" y="288650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7" name="Oval 576"/>
          <p:cNvSpPr/>
          <p:nvPr/>
        </p:nvSpPr>
        <p:spPr>
          <a:xfrm>
            <a:off x="7942332" y="289884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8" name="Oval 577"/>
          <p:cNvSpPr/>
          <p:nvPr/>
        </p:nvSpPr>
        <p:spPr>
          <a:xfrm>
            <a:off x="8278483" y="296449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9" name="Oval 578"/>
          <p:cNvSpPr/>
          <p:nvPr/>
        </p:nvSpPr>
        <p:spPr>
          <a:xfrm>
            <a:off x="8158688" y="297326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0" name="Oval 579"/>
          <p:cNvSpPr/>
          <p:nvPr/>
        </p:nvSpPr>
        <p:spPr>
          <a:xfrm>
            <a:off x="8254041" y="297873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1" name="Oval 580"/>
          <p:cNvSpPr/>
          <p:nvPr/>
        </p:nvSpPr>
        <p:spPr>
          <a:xfrm>
            <a:off x="8255550" y="290831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2" name="Oval 581"/>
          <p:cNvSpPr/>
          <p:nvPr/>
        </p:nvSpPr>
        <p:spPr>
          <a:xfrm>
            <a:off x="8424230" y="294195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3" name="Oval 582"/>
          <p:cNvSpPr/>
          <p:nvPr/>
        </p:nvSpPr>
        <p:spPr>
          <a:xfrm>
            <a:off x="8335816" y="295815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4" name="Oval 583"/>
          <p:cNvSpPr/>
          <p:nvPr/>
        </p:nvSpPr>
        <p:spPr>
          <a:xfrm>
            <a:off x="8287234" y="297455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5" name="Oval 584"/>
          <p:cNvSpPr/>
          <p:nvPr/>
        </p:nvSpPr>
        <p:spPr>
          <a:xfrm>
            <a:off x="8323746" y="293464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6" name="Oval 585"/>
          <p:cNvSpPr/>
          <p:nvPr/>
        </p:nvSpPr>
        <p:spPr>
          <a:xfrm>
            <a:off x="8223866" y="292683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7" name="Oval 586"/>
          <p:cNvSpPr/>
          <p:nvPr/>
        </p:nvSpPr>
        <p:spPr>
          <a:xfrm>
            <a:off x="8198821" y="298054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8" name="Oval 587"/>
          <p:cNvSpPr/>
          <p:nvPr/>
        </p:nvSpPr>
        <p:spPr>
          <a:xfrm>
            <a:off x="8250420" y="292985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9" name="Oval 588"/>
          <p:cNvSpPr/>
          <p:nvPr/>
        </p:nvSpPr>
        <p:spPr>
          <a:xfrm>
            <a:off x="8227185" y="291089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0" name="Oval 589"/>
          <p:cNvSpPr/>
          <p:nvPr/>
        </p:nvSpPr>
        <p:spPr>
          <a:xfrm>
            <a:off x="8400391" y="289271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1" name="Oval 590"/>
          <p:cNvSpPr/>
          <p:nvPr/>
        </p:nvSpPr>
        <p:spPr>
          <a:xfrm>
            <a:off x="8290252" y="292839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2" name="Oval 591"/>
          <p:cNvSpPr/>
          <p:nvPr/>
        </p:nvSpPr>
        <p:spPr>
          <a:xfrm>
            <a:off x="8244989" y="288603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3" name="Oval 592"/>
          <p:cNvSpPr/>
          <p:nvPr/>
        </p:nvSpPr>
        <p:spPr>
          <a:xfrm>
            <a:off x="8499668" y="295875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4" name="Oval 593"/>
          <p:cNvSpPr/>
          <p:nvPr/>
        </p:nvSpPr>
        <p:spPr>
          <a:xfrm>
            <a:off x="8339437" y="297542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5" name="Oval 594"/>
          <p:cNvSpPr/>
          <p:nvPr/>
        </p:nvSpPr>
        <p:spPr>
          <a:xfrm>
            <a:off x="8068464" y="295666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6" name="Oval 595"/>
          <p:cNvSpPr/>
          <p:nvPr/>
        </p:nvSpPr>
        <p:spPr>
          <a:xfrm>
            <a:off x="8221452" y="295628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7" name="Oval 596"/>
          <p:cNvSpPr/>
          <p:nvPr/>
        </p:nvSpPr>
        <p:spPr>
          <a:xfrm>
            <a:off x="8291459" y="293274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8" name="Oval 597"/>
          <p:cNvSpPr/>
          <p:nvPr/>
        </p:nvSpPr>
        <p:spPr>
          <a:xfrm>
            <a:off x="8363577" y="289593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9" name="Oval 598"/>
          <p:cNvSpPr/>
          <p:nvPr/>
        </p:nvSpPr>
        <p:spPr>
          <a:xfrm>
            <a:off x="8622481" y="298197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0" name="Oval 599"/>
          <p:cNvSpPr/>
          <p:nvPr/>
        </p:nvSpPr>
        <p:spPr>
          <a:xfrm>
            <a:off x="8545534" y="297521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1" name="Oval 600"/>
          <p:cNvSpPr/>
          <p:nvPr/>
        </p:nvSpPr>
        <p:spPr>
          <a:xfrm>
            <a:off x="8469794" y="296512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2" name="Oval 601"/>
          <p:cNvSpPr/>
          <p:nvPr/>
        </p:nvSpPr>
        <p:spPr>
          <a:xfrm>
            <a:off x="8450784" y="291610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3" name="Oval 602"/>
          <p:cNvSpPr/>
          <p:nvPr/>
        </p:nvSpPr>
        <p:spPr>
          <a:xfrm>
            <a:off x="8246799" y="291432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4" name="Oval 603"/>
          <p:cNvSpPr/>
          <p:nvPr/>
        </p:nvSpPr>
        <p:spPr>
          <a:xfrm>
            <a:off x="8419703" y="297538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5" name="Oval 604"/>
          <p:cNvSpPr/>
          <p:nvPr/>
        </p:nvSpPr>
        <p:spPr>
          <a:xfrm>
            <a:off x="8218435" y="294194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6" name="Oval 605"/>
          <p:cNvSpPr/>
          <p:nvPr/>
        </p:nvSpPr>
        <p:spPr>
          <a:xfrm>
            <a:off x="8224771" y="292374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7" name="Oval 606"/>
          <p:cNvSpPr/>
          <p:nvPr/>
        </p:nvSpPr>
        <p:spPr>
          <a:xfrm>
            <a:off x="8187354" y="298409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8" name="Oval 607"/>
          <p:cNvSpPr/>
          <p:nvPr/>
        </p:nvSpPr>
        <p:spPr>
          <a:xfrm>
            <a:off x="8133341" y="296354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9" name="Oval 608"/>
          <p:cNvSpPr/>
          <p:nvPr/>
        </p:nvSpPr>
        <p:spPr>
          <a:xfrm>
            <a:off x="8226280" y="296813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0" name="Oval 609"/>
          <p:cNvSpPr/>
          <p:nvPr/>
        </p:nvSpPr>
        <p:spPr>
          <a:xfrm>
            <a:off x="8307753" y="292190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1" name="Oval 610"/>
          <p:cNvSpPr/>
          <p:nvPr/>
        </p:nvSpPr>
        <p:spPr>
          <a:xfrm>
            <a:off x="8212400" y="293699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2" name="Oval 611"/>
          <p:cNvSpPr/>
          <p:nvPr/>
        </p:nvSpPr>
        <p:spPr>
          <a:xfrm>
            <a:off x="8455008" y="289630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3" name="Oval 612"/>
          <p:cNvSpPr/>
          <p:nvPr/>
        </p:nvSpPr>
        <p:spPr>
          <a:xfrm>
            <a:off x="8264904" y="296777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4" name="Oval 613"/>
          <p:cNvSpPr/>
          <p:nvPr/>
        </p:nvSpPr>
        <p:spPr>
          <a:xfrm>
            <a:off x="8244989" y="298324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5" name="Oval 614"/>
          <p:cNvSpPr/>
          <p:nvPr/>
        </p:nvSpPr>
        <p:spPr>
          <a:xfrm>
            <a:off x="8250420" y="291959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6" name="Oval 615"/>
          <p:cNvSpPr/>
          <p:nvPr/>
        </p:nvSpPr>
        <p:spPr>
          <a:xfrm>
            <a:off x="8062127" y="297420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7" name="Oval 616"/>
          <p:cNvSpPr/>
          <p:nvPr/>
        </p:nvSpPr>
        <p:spPr>
          <a:xfrm>
            <a:off x="8014450" y="289429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8" name="Oval 617"/>
          <p:cNvSpPr/>
          <p:nvPr/>
        </p:nvSpPr>
        <p:spPr>
          <a:xfrm>
            <a:off x="8140281" y="292751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9" name="Oval 618"/>
          <p:cNvSpPr/>
          <p:nvPr/>
        </p:nvSpPr>
        <p:spPr>
          <a:xfrm>
            <a:off x="8077818" y="293365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0" name="Oval 619"/>
          <p:cNvSpPr/>
          <p:nvPr/>
        </p:nvSpPr>
        <p:spPr>
          <a:xfrm>
            <a:off x="8105881" y="296913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1" name="Oval 620"/>
          <p:cNvSpPr/>
          <p:nvPr/>
        </p:nvSpPr>
        <p:spPr>
          <a:xfrm>
            <a:off x="8245592" y="295287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2" name="Oval 621"/>
          <p:cNvSpPr/>
          <p:nvPr/>
        </p:nvSpPr>
        <p:spPr>
          <a:xfrm>
            <a:off x="8242877" y="291434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3" name="Oval 622"/>
          <p:cNvSpPr/>
          <p:nvPr/>
        </p:nvSpPr>
        <p:spPr>
          <a:xfrm>
            <a:off x="8160498" y="290014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4" name="Oval 623"/>
          <p:cNvSpPr/>
          <p:nvPr/>
        </p:nvSpPr>
        <p:spPr>
          <a:xfrm>
            <a:off x="8297494" y="288562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5" name="Oval 624"/>
          <p:cNvSpPr/>
          <p:nvPr/>
        </p:nvSpPr>
        <p:spPr>
          <a:xfrm>
            <a:off x="8630930" y="288791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6" name="Oval 625"/>
          <p:cNvSpPr/>
          <p:nvPr/>
        </p:nvSpPr>
        <p:spPr>
          <a:xfrm>
            <a:off x="8401598" y="295404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7" name="Oval 626"/>
          <p:cNvSpPr/>
          <p:nvPr/>
        </p:nvSpPr>
        <p:spPr>
          <a:xfrm>
            <a:off x="8150842" y="298335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8" name="Oval 627"/>
          <p:cNvSpPr/>
          <p:nvPr/>
        </p:nvSpPr>
        <p:spPr>
          <a:xfrm>
            <a:off x="8268827" y="294864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9" name="Oval 628"/>
          <p:cNvSpPr/>
          <p:nvPr/>
        </p:nvSpPr>
        <p:spPr>
          <a:xfrm>
            <a:off x="8387718" y="294884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0" name="Oval 629"/>
          <p:cNvSpPr/>
          <p:nvPr/>
        </p:nvSpPr>
        <p:spPr>
          <a:xfrm>
            <a:off x="8132737" y="290980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1" name="Oval 630"/>
          <p:cNvSpPr/>
          <p:nvPr/>
        </p:nvSpPr>
        <p:spPr>
          <a:xfrm>
            <a:off x="8483675" y="293723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2" name="Oval 631"/>
          <p:cNvSpPr/>
          <p:nvPr/>
        </p:nvSpPr>
        <p:spPr>
          <a:xfrm>
            <a:off x="8321332" y="290812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3" name="Oval 632"/>
          <p:cNvSpPr/>
          <p:nvPr/>
        </p:nvSpPr>
        <p:spPr>
          <a:xfrm>
            <a:off x="8250420" y="297637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4" name="Oval 633"/>
          <p:cNvSpPr/>
          <p:nvPr/>
        </p:nvSpPr>
        <p:spPr>
          <a:xfrm>
            <a:off x="8162309" y="294717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5" name="Oval 634"/>
          <p:cNvSpPr/>
          <p:nvPr/>
        </p:nvSpPr>
        <p:spPr>
          <a:xfrm>
            <a:off x="8015959" y="289238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6" name="Oval 635"/>
          <p:cNvSpPr/>
          <p:nvPr/>
        </p:nvSpPr>
        <p:spPr>
          <a:xfrm>
            <a:off x="8042212" y="288494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7" name="Oval 636"/>
          <p:cNvSpPr/>
          <p:nvPr/>
        </p:nvSpPr>
        <p:spPr>
          <a:xfrm>
            <a:off x="8189768" y="292769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8" name="Oval 637"/>
          <p:cNvSpPr/>
          <p:nvPr/>
        </p:nvSpPr>
        <p:spPr>
          <a:xfrm>
            <a:off x="8225073" y="289868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9" name="Oval 638"/>
          <p:cNvSpPr/>
          <p:nvPr/>
        </p:nvSpPr>
        <p:spPr>
          <a:xfrm>
            <a:off x="8542818" y="291599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0" name="Oval 639"/>
          <p:cNvSpPr/>
          <p:nvPr/>
        </p:nvSpPr>
        <p:spPr>
          <a:xfrm>
            <a:off x="8257662" y="290672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1" name="Oval 640"/>
          <p:cNvSpPr/>
          <p:nvPr/>
        </p:nvSpPr>
        <p:spPr>
          <a:xfrm>
            <a:off x="8168344" y="3120320"/>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2" name="Oval 641"/>
          <p:cNvSpPr/>
          <p:nvPr/>
        </p:nvSpPr>
        <p:spPr>
          <a:xfrm>
            <a:off x="8170154" y="3186136"/>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3" name="Oval 642"/>
          <p:cNvSpPr/>
          <p:nvPr/>
        </p:nvSpPr>
        <p:spPr>
          <a:xfrm>
            <a:off x="8280596" y="3108348"/>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4" name="Oval 643"/>
          <p:cNvSpPr/>
          <p:nvPr/>
        </p:nvSpPr>
        <p:spPr>
          <a:xfrm>
            <a:off x="8422419" y="313097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5" name="Oval 644"/>
          <p:cNvSpPr/>
          <p:nvPr/>
        </p:nvSpPr>
        <p:spPr>
          <a:xfrm>
            <a:off x="8179810" y="316517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6" name="Oval 645"/>
          <p:cNvSpPr/>
          <p:nvPr/>
        </p:nvSpPr>
        <p:spPr>
          <a:xfrm>
            <a:off x="8168042" y="3123745"/>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7" name="Oval 646"/>
          <p:cNvSpPr/>
          <p:nvPr/>
        </p:nvSpPr>
        <p:spPr>
          <a:xfrm>
            <a:off x="7950781" y="3117265"/>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8" name="Oval 647"/>
          <p:cNvSpPr/>
          <p:nvPr/>
        </p:nvSpPr>
        <p:spPr>
          <a:xfrm>
            <a:off x="8381381" y="318044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9" name="Oval 648"/>
          <p:cNvSpPr/>
          <p:nvPr/>
        </p:nvSpPr>
        <p:spPr>
          <a:xfrm>
            <a:off x="8422721" y="3174278"/>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0" name="TextBox 649"/>
          <p:cNvSpPr txBox="1"/>
          <p:nvPr/>
        </p:nvSpPr>
        <p:spPr>
          <a:xfrm>
            <a:off x="10195560" y="286664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4 of 123</a:t>
            </a:r>
          </a:p>
          <a:p>
            <a:pPr algn="l">
              <a:lnSpc>
                <a:spcPct val="109000"/>
              </a:lnSpc>
              <a:spcBef>
                <a:spcPts val="0"/>
              </a:spcBef>
              <a:spcAft>
                <a:spcPts val="0"/>
              </a:spcAft>
            </a:pPr>
            <a:r>
              <a:rPr sz="1250" b="0">
                <a:solidFill>
                  <a:srgbClr val="00407A"/>
                </a:solidFill>
                <a:latin typeface="Arial"/>
              </a:rPr>
              <a:t>are “yes”</a:t>
            </a:r>
          </a:p>
        </p:txBody>
      </p:sp>
      <p:sp>
        <p:nvSpPr>
          <p:cNvPr id="651" name="TextBox 650"/>
          <p:cNvSpPr txBox="1"/>
          <p:nvPr/>
        </p:nvSpPr>
        <p:spPr>
          <a:xfrm>
            <a:off x="6391656" y="3424427"/>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4B</a:t>
            </a:r>
          </a:p>
        </p:txBody>
      </p:sp>
      <p:sp>
        <p:nvSpPr>
          <p:cNvPr id="652" name="Oval 651"/>
          <p:cNvSpPr/>
          <p:nvPr/>
        </p:nvSpPr>
        <p:spPr>
          <a:xfrm>
            <a:off x="9796899" y="342092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3" name="Oval 652"/>
          <p:cNvSpPr/>
          <p:nvPr/>
        </p:nvSpPr>
        <p:spPr>
          <a:xfrm>
            <a:off x="9614641" y="347869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4" name="Oval 653"/>
          <p:cNvSpPr/>
          <p:nvPr/>
        </p:nvSpPr>
        <p:spPr>
          <a:xfrm>
            <a:off x="9847594" y="347714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5" name="Oval 654"/>
          <p:cNvSpPr/>
          <p:nvPr/>
        </p:nvSpPr>
        <p:spPr>
          <a:xfrm>
            <a:off x="9365092" y="343290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6" name="Oval 655"/>
          <p:cNvSpPr/>
          <p:nvPr/>
        </p:nvSpPr>
        <p:spPr>
          <a:xfrm>
            <a:off x="9739567" y="347252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7" name="Oval 656"/>
          <p:cNvSpPr/>
          <p:nvPr/>
        </p:nvSpPr>
        <p:spPr>
          <a:xfrm>
            <a:off x="9827075" y="346374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8" name="Oval 657"/>
          <p:cNvSpPr/>
          <p:nvPr/>
        </p:nvSpPr>
        <p:spPr>
          <a:xfrm>
            <a:off x="9765215" y="346331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9" name="Oval 658"/>
          <p:cNvSpPr/>
          <p:nvPr/>
        </p:nvSpPr>
        <p:spPr>
          <a:xfrm>
            <a:off x="9815910" y="344230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0" name="Oval 659"/>
          <p:cNvSpPr/>
          <p:nvPr/>
        </p:nvSpPr>
        <p:spPr>
          <a:xfrm>
            <a:off x="9735342" y="340576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1" name="Oval 660"/>
          <p:cNvSpPr/>
          <p:nvPr/>
        </p:nvSpPr>
        <p:spPr>
          <a:xfrm>
            <a:off x="9768535" y="341832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2" name="Oval 661"/>
          <p:cNvSpPr/>
          <p:nvPr/>
        </p:nvSpPr>
        <p:spPr>
          <a:xfrm>
            <a:off x="9707581" y="345829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3" name="Oval 662"/>
          <p:cNvSpPr/>
          <p:nvPr/>
        </p:nvSpPr>
        <p:spPr>
          <a:xfrm>
            <a:off x="9743791" y="343962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4" name="Oval 663"/>
          <p:cNvSpPr/>
          <p:nvPr/>
        </p:nvSpPr>
        <p:spPr>
          <a:xfrm>
            <a:off x="9630634" y="346348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5" name="Oval 664"/>
          <p:cNvSpPr/>
          <p:nvPr/>
        </p:nvSpPr>
        <p:spPr>
          <a:xfrm>
            <a:off x="9608606" y="345849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6" name="Oval 665"/>
          <p:cNvSpPr/>
          <p:nvPr/>
        </p:nvSpPr>
        <p:spPr>
          <a:xfrm>
            <a:off x="9629125" y="348668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7" name="Oval 666"/>
          <p:cNvSpPr/>
          <p:nvPr/>
        </p:nvSpPr>
        <p:spPr>
          <a:xfrm>
            <a:off x="9534979" y="347567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8" name="Oval 667"/>
          <p:cNvSpPr/>
          <p:nvPr/>
        </p:nvSpPr>
        <p:spPr>
          <a:xfrm>
            <a:off x="9251030" y="347951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9" name="Oval 668"/>
          <p:cNvSpPr/>
          <p:nvPr/>
        </p:nvSpPr>
        <p:spPr>
          <a:xfrm>
            <a:off x="9687967" y="346837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0" name="Oval 669"/>
          <p:cNvSpPr/>
          <p:nvPr/>
        </p:nvSpPr>
        <p:spPr>
          <a:xfrm>
            <a:off x="9584466" y="339307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1" name="Oval 670"/>
          <p:cNvSpPr/>
          <p:nvPr/>
        </p:nvSpPr>
        <p:spPr>
          <a:xfrm>
            <a:off x="9661714" y="345400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2" name="Oval 671"/>
          <p:cNvSpPr/>
          <p:nvPr/>
        </p:nvSpPr>
        <p:spPr>
          <a:xfrm>
            <a:off x="9388931" y="347137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3" name="Oval 672"/>
          <p:cNvSpPr/>
          <p:nvPr/>
        </p:nvSpPr>
        <p:spPr>
          <a:xfrm>
            <a:off x="9741377" y="348522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4" name="Oval 673"/>
          <p:cNvSpPr/>
          <p:nvPr/>
        </p:nvSpPr>
        <p:spPr>
          <a:xfrm>
            <a:off x="9766121" y="345561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5" name="Oval 674"/>
          <p:cNvSpPr/>
          <p:nvPr/>
        </p:nvSpPr>
        <p:spPr>
          <a:xfrm>
            <a:off x="9648437" y="340122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6" name="Oval 675"/>
          <p:cNvSpPr/>
          <p:nvPr/>
        </p:nvSpPr>
        <p:spPr>
          <a:xfrm>
            <a:off x="9707279" y="342786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7" name="Oval 676"/>
          <p:cNvSpPr/>
          <p:nvPr/>
        </p:nvSpPr>
        <p:spPr>
          <a:xfrm>
            <a:off x="9670767" y="344903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8" name="Oval 677"/>
          <p:cNvSpPr/>
          <p:nvPr/>
        </p:nvSpPr>
        <p:spPr>
          <a:xfrm>
            <a:off x="9727496" y="340786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9" name="Oval 678"/>
          <p:cNvSpPr/>
          <p:nvPr/>
        </p:nvSpPr>
        <p:spPr>
          <a:xfrm>
            <a:off x="9554291" y="339145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0" name="Oval 679"/>
          <p:cNvSpPr/>
          <p:nvPr/>
        </p:nvSpPr>
        <p:spPr>
          <a:xfrm>
            <a:off x="9699433" y="340103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1" name="Oval 680"/>
          <p:cNvSpPr/>
          <p:nvPr/>
        </p:nvSpPr>
        <p:spPr>
          <a:xfrm>
            <a:off x="9612831" y="345312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2" name="Oval 681"/>
          <p:cNvSpPr/>
          <p:nvPr/>
        </p:nvSpPr>
        <p:spPr>
          <a:xfrm>
            <a:off x="9757068" y="345877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3" name="Oval 682"/>
          <p:cNvSpPr/>
          <p:nvPr/>
        </p:nvSpPr>
        <p:spPr>
          <a:xfrm>
            <a:off x="9680423" y="343994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4" name="Oval 683"/>
          <p:cNvSpPr/>
          <p:nvPr/>
        </p:nvSpPr>
        <p:spPr>
          <a:xfrm>
            <a:off x="9122785" y="346328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5" name="Oval 684"/>
          <p:cNvSpPr/>
          <p:nvPr/>
        </p:nvSpPr>
        <p:spPr>
          <a:xfrm>
            <a:off x="9384706" y="341543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6" name="Oval 685"/>
          <p:cNvSpPr/>
          <p:nvPr/>
        </p:nvSpPr>
        <p:spPr>
          <a:xfrm>
            <a:off x="9647834" y="344790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7" name="Oval 686"/>
          <p:cNvSpPr/>
          <p:nvPr/>
        </p:nvSpPr>
        <p:spPr>
          <a:xfrm>
            <a:off x="9442944" y="344039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8" name="Oval 687"/>
          <p:cNvSpPr/>
          <p:nvPr/>
        </p:nvSpPr>
        <p:spPr>
          <a:xfrm>
            <a:off x="9573603" y="344898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9" name="Oval 688"/>
          <p:cNvSpPr/>
          <p:nvPr/>
        </p:nvSpPr>
        <p:spPr>
          <a:xfrm>
            <a:off x="9318924" y="347901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0" name="Oval 689"/>
          <p:cNvSpPr/>
          <p:nvPr/>
        </p:nvSpPr>
        <p:spPr>
          <a:xfrm>
            <a:off x="9546143" y="345279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1" name="Oval 690"/>
          <p:cNvSpPr/>
          <p:nvPr/>
        </p:nvSpPr>
        <p:spPr>
          <a:xfrm>
            <a:off x="9575413" y="345448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2" name="Oval 691"/>
          <p:cNvSpPr/>
          <p:nvPr/>
        </p:nvSpPr>
        <p:spPr>
          <a:xfrm>
            <a:off x="9617659" y="345683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3" name="Oval 692"/>
          <p:cNvSpPr/>
          <p:nvPr/>
        </p:nvSpPr>
        <p:spPr>
          <a:xfrm>
            <a:off x="9746809" y="343683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4" name="Oval 693"/>
          <p:cNvSpPr/>
          <p:nvPr/>
        </p:nvSpPr>
        <p:spPr>
          <a:xfrm>
            <a:off x="9584768" y="340755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5" name="Oval 694"/>
          <p:cNvSpPr/>
          <p:nvPr/>
        </p:nvSpPr>
        <p:spPr>
          <a:xfrm>
            <a:off x="9418502" y="347532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6" name="Oval 695"/>
          <p:cNvSpPr/>
          <p:nvPr/>
        </p:nvSpPr>
        <p:spPr>
          <a:xfrm>
            <a:off x="9818022" y="347197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7" name="Oval 696"/>
          <p:cNvSpPr/>
          <p:nvPr/>
        </p:nvSpPr>
        <p:spPr>
          <a:xfrm>
            <a:off x="9723272" y="339261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8" name="Oval 697"/>
          <p:cNvSpPr/>
          <p:nvPr/>
        </p:nvSpPr>
        <p:spPr>
          <a:xfrm>
            <a:off x="9690079" y="343048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9" name="Oval 698"/>
          <p:cNvSpPr/>
          <p:nvPr/>
        </p:nvSpPr>
        <p:spPr>
          <a:xfrm>
            <a:off x="9556705" y="343307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0" name="Oval 699"/>
          <p:cNvSpPr/>
          <p:nvPr/>
        </p:nvSpPr>
        <p:spPr>
          <a:xfrm>
            <a:off x="9731117" y="345458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1" name="Oval 700"/>
          <p:cNvSpPr/>
          <p:nvPr/>
        </p:nvSpPr>
        <p:spPr>
          <a:xfrm>
            <a:off x="9828885" y="338942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2" name="Oval 701"/>
          <p:cNvSpPr/>
          <p:nvPr/>
        </p:nvSpPr>
        <p:spPr>
          <a:xfrm>
            <a:off x="9418201" y="340176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3" name="Oval 702"/>
          <p:cNvSpPr/>
          <p:nvPr/>
        </p:nvSpPr>
        <p:spPr>
          <a:xfrm>
            <a:off x="9710598" y="346741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4" name="Oval 703"/>
          <p:cNvSpPr/>
          <p:nvPr/>
        </p:nvSpPr>
        <p:spPr>
          <a:xfrm>
            <a:off x="9730816" y="347618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5" name="Oval 704"/>
          <p:cNvSpPr/>
          <p:nvPr/>
        </p:nvSpPr>
        <p:spPr>
          <a:xfrm>
            <a:off x="9485491" y="348165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6" name="Oval 705"/>
          <p:cNvSpPr/>
          <p:nvPr/>
        </p:nvSpPr>
        <p:spPr>
          <a:xfrm>
            <a:off x="9684044" y="341123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7" name="Oval 706"/>
          <p:cNvSpPr/>
          <p:nvPr/>
        </p:nvSpPr>
        <p:spPr>
          <a:xfrm>
            <a:off x="9706977" y="344487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8" name="Oval 707"/>
          <p:cNvSpPr/>
          <p:nvPr/>
        </p:nvSpPr>
        <p:spPr>
          <a:xfrm>
            <a:off x="9850309" y="346107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9" name="Oval 708"/>
          <p:cNvSpPr/>
          <p:nvPr/>
        </p:nvSpPr>
        <p:spPr>
          <a:xfrm>
            <a:off x="9756766" y="347747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0" name="Oval 709"/>
          <p:cNvSpPr/>
          <p:nvPr/>
        </p:nvSpPr>
        <p:spPr>
          <a:xfrm>
            <a:off x="9747110" y="343756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1" name="Oval 710"/>
          <p:cNvSpPr/>
          <p:nvPr/>
        </p:nvSpPr>
        <p:spPr>
          <a:xfrm>
            <a:off x="9605890" y="342975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2" name="Oval 711"/>
          <p:cNvSpPr/>
          <p:nvPr/>
        </p:nvSpPr>
        <p:spPr>
          <a:xfrm>
            <a:off x="9675595" y="348346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3" name="Oval 712"/>
          <p:cNvSpPr/>
          <p:nvPr/>
        </p:nvSpPr>
        <p:spPr>
          <a:xfrm>
            <a:off x="9566059" y="343277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4" name="Oval 713"/>
          <p:cNvSpPr/>
          <p:nvPr/>
        </p:nvSpPr>
        <p:spPr>
          <a:xfrm>
            <a:off x="9359661" y="341381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5" name="Oval 714"/>
          <p:cNvSpPr/>
          <p:nvPr/>
        </p:nvSpPr>
        <p:spPr>
          <a:xfrm>
            <a:off x="9783321" y="339563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6" name="Oval 715"/>
          <p:cNvSpPr/>
          <p:nvPr/>
        </p:nvSpPr>
        <p:spPr>
          <a:xfrm>
            <a:off x="9885614" y="343131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7" name="Oval 716"/>
          <p:cNvSpPr/>
          <p:nvPr/>
        </p:nvSpPr>
        <p:spPr>
          <a:xfrm>
            <a:off x="9686156" y="338895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8" name="Oval 717"/>
          <p:cNvSpPr/>
          <p:nvPr/>
        </p:nvSpPr>
        <p:spPr>
          <a:xfrm>
            <a:off x="9818927" y="346167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9" name="Oval 718"/>
          <p:cNvSpPr/>
          <p:nvPr/>
        </p:nvSpPr>
        <p:spPr>
          <a:xfrm>
            <a:off x="9739868" y="347834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0" name="Oval 719"/>
          <p:cNvSpPr/>
          <p:nvPr/>
        </p:nvSpPr>
        <p:spPr>
          <a:xfrm>
            <a:off x="9738058" y="345958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1" name="Oval 720"/>
          <p:cNvSpPr/>
          <p:nvPr/>
        </p:nvSpPr>
        <p:spPr>
          <a:xfrm>
            <a:off x="9708486" y="345920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2" name="Oval 721"/>
          <p:cNvSpPr/>
          <p:nvPr/>
        </p:nvSpPr>
        <p:spPr>
          <a:xfrm>
            <a:off x="9607399" y="343566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3" name="Oval 722"/>
          <p:cNvSpPr/>
          <p:nvPr/>
        </p:nvSpPr>
        <p:spPr>
          <a:xfrm>
            <a:off x="9640894" y="339885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4" name="Oval 723"/>
          <p:cNvSpPr/>
          <p:nvPr/>
        </p:nvSpPr>
        <p:spPr>
          <a:xfrm>
            <a:off x="9702753" y="348489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5" name="Oval 724"/>
          <p:cNvSpPr/>
          <p:nvPr/>
        </p:nvSpPr>
        <p:spPr>
          <a:xfrm>
            <a:off x="9693097" y="347813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6" name="Oval 725"/>
          <p:cNvSpPr/>
          <p:nvPr/>
        </p:nvSpPr>
        <p:spPr>
          <a:xfrm>
            <a:off x="9764310" y="346804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7" name="Oval 726"/>
          <p:cNvSpPr/>
          <p:nvPr/>
        </p:nvSpPr>
        <p:spPr>
          <a:xfrm>
            <a:off x="9575413" y="341902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8" name="Oval 727"/>
          <p:cNvSpPr/>
          <p:nvPr/>
        </p:nvSpPr>
        <p:spPr>
          <a:xfrm>
            <a:off x="9579336" y="341724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9" name="Oval 728"/>
          <p:cNvSpPr/>
          <p:nvPr/>
        </p:nvSpPr>
        <p:spPr>
          <a:xfrm>
            <a:off x="9774871" y="347830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0" name="Oval 729"/>
          <p:cNvSpPr/>
          <p:nvPr/>
        </p:nvSpPr>
        <p:spPr>
          <a:xfrm>
            <a:off x="9633652" y="344486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1" name="Oval 730"/>
          <p:cNvSpPr/>
          <p:nvPr/>
        </p:nvSpPr>
        <p:spPr>
          <a:xfrm>
            <a:off x="9690079" y="342666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2" name="Oval 731"/>
          <p:cNvSpPr/>
          <p:nvPr/>
        </p:nvSpPr>
        <p:spPr>
          <a:xfrm>
            <a:off x="9497863" y="348701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3" name="Oval 732"/>
          <p:cNvSpPr/>
          <p:nvPr/>
        </p:nvSpPr>
        <p:spPr>
          <a:xfrm>
            <a:off x="9439927" y="346646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4" name="Oval 733"/>
          <p:cNvSpPr/>
          <p:nvPr/>
        </p:nvSpPr>
        <p:spPr>
          <a:xfrm>
            <a:off x="9690984" y="347105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5" name="Oval 734"/>
          <p:cNvSpPr/>
          <p:nvPr/>
        </p:nvSpPr>
        <p:spPr>
          <a:xfrm>
            <a:off x="9623090" y="342482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6" name="Oval 735"/>
          <p:cNvSpPr/>
          <p:nvPr/>
        </p:nvSpPr>
        <p:spPr>
          <a:xfrm>
            <a:off x="9327675" y="343991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7" name="Oval 736"/>
          <p:cNvSpPr/>
          <p:nvPr/>
        </p:nvSpPr>
        <p:spPr>
          <a:xfrm>
            <a:off x="9621581" y="339922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8" name="Oval 737"/>
          <p:cNvSpPr/>
          <p:nvPr/>
        </p:nvSpPr>
        <p:spPr>
          <a:xfrm>
            <a:off x="9644816" y="347069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9" name="Oval 738"/>
          <p:cNvSpPr/>
          <p:nvPr/>
        </p:nvSpPr>
        <p:spPr>
          <a:xfrm>
            <a:off x="9378973" y="348616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0" name="Oval 739"/>
          <p:cNvSpPr/>
          <p:nvPr/>
        </p:nvSpPr>
        <p:spPr>
          <a:xfrm>
            <a:off x="9386215" y="342251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1" name="Oval 740"/>
          <p:cNvSpPr/>
          <p:nvPr/>
        </p:nvSpPr>
        <p:spPr>
          <a:xfrm>
            <a:off x="9660507" y="347712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2" name="Oval 741"/>
          <p:cNvSpPr/>
          <p:nvPr/>
        </p:nvSpPr>
        <p:spPr>
          <a:xfrm>
            <a:off x="9589898" y="339721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3" name="Oval 742"/>
          <p:cNvSpPr/>
          <p:nvPr/>
        </p:nvSpPr>
        <p:spPr>
          <a:xfrm>
            <a:off x="9101361" y="343043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4" name="Oval 743"/>
          <p:cNvSpPr/>
          <p:nvPr/>
        </p:nvSpPr>
        <p:spPr>
          <a:xfrm>
            <a:off x="9669258" y="343657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5" name="Oval 744"/>
          <p:cNvSpPr/>
          <p:nvPr/>
        </p:nvSpPr>
        <p:spPr>
          <a:xfrm>
            <a:off x="9621280" y="347205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6" name="Oval 745"/>
          <p:cNvSpPr/>
          <p:nvPr/>
        </p:nvSpPr>
        <p:spPr>
          <a:xfrm>
            <a:off x="9288749" y="345579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7" name="Oval 746"/>
          <p:cNvSpPr/>
          <p:nvPr/>
        </p:nvSpPr>
        <p:spPr>
          <a:xfrm>
            <a:off x="9151150" y="341726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8" name="Oval 747"/>
          <p:cNvSpPr/>
          <p:nvPr/>
        </p:nvSpPr>
        <p:spPr>
          <a:xfrm>
            <a:off x="9560929" y="340306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9" name="Oval 748"/>
          <p:cNvSpPr/>
          <p:nvPr/>
        </p:nvSpPr>
        <p:spPr>
          <a:xfrm>
            <a:off x="9422727" y="338854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0" name="Oval 749"/>
          <p:cNvSpPr/>
          <p:nvPr/>
        </p:nvSpPr>
        <p:spPr>
          <a:xfrm>
            <a:off x="9461955" y="339083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1" name="Oval 750"/>
          <p:cNvSpPr/>
          <p:nvPr/>
        </p:nvSpPr>
        <p:spPr>
          <a:xfrm>
            <a:off x="9370222" y="345696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2" name="Oval 751"/>
          <p:cNvSpPr/>
          <p:nvPr/>
        </p:nvSpPr>
        <p:spPr>
          <a:xfrm>
            <a:off x="9799313" y="348627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3" name="Oval 752"/>
          <p:cNvSpPr/>
          <p:nvPr/>
        </p:nvSpPr>
        <p:spPr>
          <a:xfrm>
            <a:off x="9917902" y="345156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4" name="Oval 753"/>
          <p:cNvSpPr/>
          <p:nvPr/>
        </p:nvSpPr>
        <p:spPr>
          <a:xfrm>
            <a:off x="9581448" y="345176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5" name="Oval 754"/>
          <p:cNvSpPr/>
          <p:nvPr/>
        </p:nvSpPr>
        <p:spPr>
          <a:xfrm>
            <a:off x="9912169" y="341272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6" name="Oval 755"/>
          <p:cNvSpPr/>
          <p:nvPr/>
        </p:nvSpPr>
        <p:spPr>
          <a:xfrm>
            <a:off x="9850309" y="344015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7" name="Oval 756"/>
          <p:cNvSpPr/>
          <p:nvPr/>
        </p:nvSpPr>
        <p:spPr>
          <a:xfrm>
            <a:off x="9599252" y="341104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8" name="Oval 757"/>
          <p:cNvSpPr/>
          <p:nvPr/>
        </p:nvSpPr>
        <p:spPr>
          <a:xfrm>
            <a:off x="9263402" y="347929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9" name="Oval 758"/>
          <p:cNvSpPr/>
          <p:nvPr/>
        </p:nvSpPr>
        <p:spPr>
          <a:xfrm>
            <a:off x="9771854" y="345009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0" name="Oval 759"/>
          <p:cNvSpPr/>
          <p:nvPr/>
        </p:nvSpPr>
        <p:spPr>
          <a:xfrm>
            <a:off x="9841860" y="339530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1" name="Oval 760"/>
          <p:cNvSpPr/>
          <p:nvPr/>
        </p:nvSpPr>
        <p:spPr>
          <a:xfrm>
            <a:off x="9807159" y="338786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2" name="Oval 761"/>
          <p:cNvSpPr/>
          <p:nvPr/>
        </p:nvSpPr>
        <p:spPr>
          <a:xfrm>
            <a:off x="9657490" y="343061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3" name="Oval 762"/>
          <p:cNvSpPr/>
          <p:nvPr/>
        </p:nvSpPr>
        <p:spPr>
          <a:xfrm>
            <a:off x="9718444" y="340160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4" name="Oval 763"/>
          <p:cNvSpPr/>
          <p:nvPr/>
        </p:nvSpPr>
        <p:spPr>
          <a:xfrm>
            <a:off x="9715728" y="341891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5" name="Oval 764"/>
          <p:cNvSpPr/>
          <p:nvPr/>
        </p:nvSpPr>
        <p:spPr>
          <a:xfrm>
            <a:off x="9651153" y="340964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6" name="Oval 765"/>
          <p:cNvSpPr/>
          <p:nvPr/>
        </p:nvSpPr>
        <p:spPr>
          <a:xfrm>
            <a:off x="9702149" y="3623240"/>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7" name="Oval 766"/>
          <p:cNvSpPr/>
          <p:nvPr/>
        </p:nvSpPr>
        <p:spPr>
          <a:xfrm>
            <a:off x="9362980" y="3689056"/>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8" name="Oval 767"/>
          <p:cNvSpPr/>
          <p:nvPr/>
        </p:nvSpPr>
        <p:spPr>
          <a:xfrm>
            <a:off x="9264005" y="3611268"/>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9" name="Oval 768"/>
          <p:cNvSpPr/>
          <p:nvPr/>
        </p:nvSpPr>
        <p:spPr>
          <a:xfrm>
            <a:off x="9687665" y="363389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0" name="Oval 769"/>
          <p:cNvSpPr/>
          <p:nvPr/>
        </p:nvSpPr>
        <p:spPr>
          <a:xfrm>
            <a:off x="8547948" y="366809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1" name="Oval 770"/>
          <p:cNvSpPr/>
          <p:nvPr/>
        </p:nvSpPr>
        <p:spPr>
          <a:xfrm>
            <a:off x="9210294" y="3626665"/>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2" name="Oval 771"/>
          <p:cNvSpPr/>
          <p:nvPr/>
        </p:nvSpPr>
        <p:spPr>
          <a:xfrm>
            <a:off x="9210595" y="3620185"/>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3" name="Oval 772"/>
          <p:cNvSpPr/>
          <p:nvPr/>
        </p:nvSpPr>
        <p:spPr>
          <a:xfrm>
            <a:off x="9722970" y="368336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4" name="Oval 773"/>
          <p:cNvSpPr/>
          <p:nvPr/>
        </p:nvSpPr>
        <p:spPr>
          <a:xfrm>
            <a:off x="9371127" y="3677198"/>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5" name="TextBox 774"/>
          <p:cNvSpPr txBox="1"/>
          <p:nvPr/>
        </p:nvSpPr>
        <p:spPr>
          <a:xfrm>
            <a:off x="10195560" y="336956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123 of 123</a:t>
            </a:r>
          </a:p>
          <a:p>
            <a:pPr algn="l">
              <a:lnSpc>
                <a:spcPct val="109000"/>
              </a:lnSpc>
              <a:spcBef>
                <a:spcPts val="0"/>
              </a:spcBef>
              <a:spcAft>
                <a:spcPts val="0"/>
              </a:spcAft>
            </a:pPr>
            <a:r>
              <a:rPr sz="1250" b="0">
                <a:solidFill>
                  <a:srgbClr val="00407A"/>
                </a:solidFill>
                <a:latin typeface="Arial"/>
              </a:rPr>
              <a:t>are “yes”</a:t>
            </a:r>
          </a:p>
        </p:txBody>
      </p:sp>
      <p:sp>
        <p:nvSpPr>
          <p:cNvPr id="776" name="TextBox 775"/>
          <p:cNvSpPr txBox="1"/>
          <p:nvPr/>
        </p:nvSpPr>
        <p:spPr>
          <a:xfrm>
            <a:off x="6391656" y="392734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9B</a:t>
            </a:r>
          </a:p>
        </p:txBody>
      </p:sp>
      <p:sp>
        <p:nvSpPr>
          <p:cNvPr id="777" name="Oval 776"/>
          <p:cNvSpPr/>
          <p:nvPr/>
        </p:nvSpPr>
        <p:spPr>
          <a:xfrm>
            <a:off x="9752542" y="392384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8" name="Oval 777"/>
          <p:cNvSpPr/>
          <p:nvPr/>
        </p:nvSpPr>
        <p:spPr>
          <a:xfrm>
            <a:off x="9657188" y="398161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9" name="Oval 778"/>
          <p:cNvSpPr/>
          <p:nvPr/>
        </p:nvSpPr>
        <p:spPr>
          <a:xfrm>
            <a:off x="9604985" y="398006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0" name="Oval 779"/>
          <p:cNvSpPr/>
          <p:nvPr/>
        </p:nvSpPr>
        <p:spPr>
          <a:xfrm>
            <a:off x="9468291" y="393582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1" name="Oval 780"/>
          <p:cNvSpPr/>
          <p:nvPr/>
        </p:nvSpPr>
        <p:spPr>
          <a:xfrm>
            <a:off x="9681932" y="397544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2" name="Oval 781"/>
          <p:cNvSpPr/>
          <p:nvPr/>
        </p:nvSpPr>
        <p:spPr>
          <a:xfrm>
            <a:off x="9736247" y="396666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3" name="Oval 782"/>
          <p:cNvSpPr/>
          <p:nvPr/>
        </p:nvSpPr>
        <p:spPr>
          <a:xfrm>
            <a:off x="9570284" y="396623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4" name="Oval 783"/>
          <p:cNvSpPr/>
          <p:nvPr/>
        </p:nvSpPr>
        <p:spPr>
          <a:xfrm>
            <a:off x="9659300" y="394522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5" name="Oval 784"/>
          <p:cNvSpPr/>
          <p:nvPr/>
        </p:nvSpPr>
        <p:spPr>
          <a:xfrm>
            <a:off x="9629125" y="390868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6" name="Oval 785"/>
          <p:cNvSpPr/>
          <p:nvPr/>
        </p:nvSpPr>
        <p:spPr>
          <a:xfrm>
            <a:off x="9662922" y="392124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7" name="Oval 786"/>
          <p:cNvSpPr/>
          <p:nvPr/>
        </p:nvSpPr>
        <p:spPr>
          <a:xfrm>
            <a:off x="9602873" y="396121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8" name="Oval 787"/>
          <p:cNvSpPr/>
          <p:nvPr/>
        </p:nvSpPr>
        <p:spPr>
          <a:xfrm>
            <a:off x="9691286" y="394254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9" name="Oval 788"/>
          <p:cNvSpPr/>
          <p:nvPr/>
        </p:nvSpPr>
        <p:spPr>
          <a:xfrm>
            <a:off x="9581750" y="396640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0" name="Oval 789"/>
          <p:cNvSpPr/>
          <p:nvPr/>
        </p:nvSpPr>
        <p:spPr>
          <a:xfrm>
            <a:off x="9624901" y="396141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1" name="Oval 790"/>
          <p:cNvSpPr/>
          <p:nvPr/>
        </p:nvSpPr>
        <p:spPr>
          <a:xfrm>
            <a:off x="9544635" y="398960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2" name="Oval 791"/>
          <p:cNvSpPr/>
          <p:nvPr/>
        </p:nvSpPr>
        <p:spPr>
          <a:xfrm>
            <a:off x="9450790" y="397859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3" name="Oval 792"/>
          <p:cNvSpPr/>
          <p:nvPr/>
        </p:nvSpPr>
        <p:spPr>
          <a:xfrm>
            <a:off x="9575715" y="398243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4" name="Oval 793"/>
          <p:cNvSpPr/>
          <p:nvPr/>
        </p:nvSpPr>
        <p:spPr>
          <a:xfrm>
            <a:off x="9427253" y="397129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5" name="Oval 794"/>
          <p:cNvSpPr/>
          <p:nvPr/>
        </p:nvSpPr>
        <p:spPr>
          <a:xfrm>
            <a:off x="9569077" y="389599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6" name="Oval 795"/>
          <p:cNvSpPr/>
          <p:nvPr/>
        </p:nvSpPr>
        <p:spPr>
          <a:xfrm>
            <a:off x="9671672" y="395692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7" name="Oval 796"/>
          <p:cNvSpPr/>
          <p:nvPr/>
        </p:nvSpPr>
        <p:spPr>
          <a:xfrm>
            <a:off x="9531056" y="397429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8" name="Oval 797"/>
          <p:cNvSpPr/>
          <p:nvPr/>
        </p:nvSpPr>
        <p:spPr>
          <a:xfrm>
            <a:off x="9573905" y="398814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9" name="Oval 798"/>
          <p:cNvSpPr/>
          <p:nvPr/>
        </p:nvSpPr>
        <p:spPr>
          <a:xfrm>
            <a:off x="9651757" y="395853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0" name="Oval 799"/>
          <p:cNvSpPr/>
          <p:nvPr/>
        </p:nvSpPr>
        <p:spPr>
          <a:xfrm>
            <a:off x="9617960" y="390414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1" name="Oval 800"/>
          <p:cNvSpPr/>
          <p:nvPr/>
        </p:nvSpPr>
        <p:spPr>
          <a:xfrm>
            <a:off x="9499372" y="393078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2" name="Oval 801"/>
          <p:cNvSpPr/>
          <p:nvPr/>
        </p:nvSpPr>
        <p:spPr>
          <a:xfrm>
            <a:off x="9513554" y="395195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3" name="Oval 802"/>
          <p:cNvSpPr/>
          <p:nvPr/>
        </p:nvSpPr>
        <p:spPr>
          <a:xfrm>
            <a:off x="9619771" y="391078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4" name="Oval 803"/>
          <p:cNvSpPr/>
          <p:nvPr/>
        </p:nvSpPr>
        <p:spPr>
          <a:xfrm>
            <a:off x="9439625" y="389437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5" name="Oval 804"/>
          <p:cNvSpPr/>
          <p:nvPr/>
        </p:nvSpPr>
        <p:spPr>
          <a:xfrm>
            <a:off x="9533772" y="390395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6" name="Oval 805"/>
          <p:cNvSpPr/>
          <p:nvPr/>
        </p:nvSpPr>
        <p:spPr>
          <a:xfrm>
            <a:off x="9517779" y="395604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7" name="Oval 806"/>
          <p:cNvSpPr/>
          <p:nvPr/>
        </p:nvSpPr>
        <p:spPr>
          <a:xfrm>
            <a:off x="9572396" y="396169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8" name="Oval 807"/>
          <p:cNvSpPr/>
          <p:nvPr/>
        </p:nvSpPr>
        <p:spPr>
          <a:xfrm>
            <a:off x="9649644" y="394286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9" name="Oval 808"/>
          <p:cNvSpPr/>
          <p:nvPr/>
        </p:nvSpPr>
        <p:spPr>
          <a:xfrm>
            <a:off x="9328580" y="396620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0" name="Oval 809"/>
          <p:cNvSpPr/>
          <p:nvPr/>
        </p:nvSpPr>
        <p:spPr>
          <a:xfrm>
            <a:off x="9438418" y="391835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1" name="Oval 810"/>
          <p:cNvSpPr/>
          <p:nvPr/>
        </p:nvSpPr>
        <p:spPr>
          <a:xfrm>
            <a:off x="9637574" y="395082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2" name="Oval 811"/>
          <p:cNvSpPr/>
          <p:nvPr/>
        </p:nvSpPr>
        <p:spPr>
          <a:xfrm>
            <a:off x="9285732" y="394331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3" name="Oval 812"/>
          <p:cNvSpPr/>
          <p:nvPr/>
        </p:nvSpPr>
        <p:spPr>
          <a:xfrm>
            <a:off x="9451092" y="395190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4" name="Oval 813"/>
          <p:cNvSpPr/>
          <p:nvPr/>
        </p:nvSpPr>
        <p:spPr>
          <a:xfrm>
            <a:off x="9442039" y="398193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5" name="Oval 814"/>
          <p:cNvSpPr/>
          <p:nvPr/>
        </p:nvSpPr>
        <p:spPr>
          <a:xfrm>
            <a:off x="9573603" y="395571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6" name="Oval 815"/>
          <p:cNvSpPr/>
          <p:nvPr/>
        </p:nvSpPr>
        <p:spPr>
          <a:xfrm>
            <a:off x="9445962" y="395740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7" name="Oval 816"/>
          <p:cNvSpPr/>
          <p:nvPr/>
        </p:nvSpPr>
        <p:spPr>
          <a:xfrm>
            <a:off x="9576620" y="395975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8" name="Oval 817"/>
          <p:cNvSpPr/>
          <p:nvPr/>
        </p:nvSpPr>
        <p:spPr>
          <a:xfrm>
            <a:off x="9636971" y="393975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9" name="Oval 818"/>
          <p:cNvSpPr/>
          <p:nvPr/>
        </p:nvSpPr>
        <p:spPr>
          <a:xfrm>
            <a:off x="9598347" y="391047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0" name="Oval 819"/>
          <p:cNvSpPr/>
          <p:nvPr/>
        </p:nvSpPr>
        <p:spPr>
          <a:xfrm>
            <a:off x="9600761" y="397824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1" name="Oval 820"/>
          <p:cNvSpPr/>
          <p:nvPr/>
        </p:nvSpPr>
        <p:spPr>
          <a:xfrm>
            <a:off x="9720254" y="397489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2" name="Oval 821"/>
          <p:cNvSpPr/>
          <p:nvPr/>
        </p:nvSpPr>
        <p:spPr>
          <a:xfrm>
            <a:off x="9658697" y="389553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3" name="Oval 822"/>
          <p:cNvSpPr/>
          <p:nvPr/>
        </p:nvSpPr>
        <p:spPr>
          <a:xfrm>
            <a:off x="9672578" y="393340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4" name="Oval 823"/>
          <p:cNvSpPr/>
          <p:nvPr/>
        </p:nvSpPr>
        <p:spPr>
          <a:xfrm>
            <a:off x="9387422" y="393599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5" name="Oval 824"/>
          <p:cNvSpPr/>
          <p:nvPr/>
        </p:nvSpPr>
        <p:spPr>
          <a:xfrm>
            <a:off x="9643006" y="395750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6" name="Oval 825"/>
          <p:cNvSpPr/>
          <p:nvPr/>
        </p:nvSpPr>
        <p:spPr>
          <a:xfrm>
            <a:off x="9725384" y="389234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7" name="Oval 826"/>
          <p:cNvSpPr/>
          <p:nvPr/>
        </p:nvSpPr>
        <p:spPr>
          <a:xfrm>
            <a:off x="9070884" y="390468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8" name="Oval 827"/>
          <p:cNvSpPr/>
          <p:nvPr/>
        </p:nvSpPr>
        <p:spPr>
          <a:xfrm>
            <a:off x="9580543" y="397033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9" name="Oval 828"/>
          <p:cNvSpPr/>
          <p:nvPr/>
        </p:nvSpPr>
        <p:spPr>
          <a:xfrm>
            <a:off x="9600459" y="397910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0" name="Oval 829"/>
          <p:cNvSpPr/>
          <p:nvPr/>
        </p:nvSpPr>
        <p:spPr>
          <a:xfrm>
            <a:off x="9393457" y="398457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1" name="Oval 830"/>
          <p:cNvSpPr/>
          <p:nvPr/>
        </p:nvSpPr>
        <p:spPr>
          <a:xfrm>
            <a:off x="9495751" y="391415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2" name="Oval 831"/>
          <p:cNvSpPr/>
          <p:nvPr/>
        </p:nvSpPr>
        <p:spPr>
          <a:xfrm>
            <a:off x="9597743" y="394779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3" name="Oval 832"/>
          <p:cNvSpPr/>
          <p:nvPr/>
        </p:nvSpPr>
        <p:spPr>
          <a:xfrm>
            <a:off x="9773363" y="396399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4" name="Oval 833"/>
          <p:cNvSpPr/>
          <p:nvPr/>
        </p:nvSpPr>
        <p:spPr>
          <a:xfrm>
            <a:off x="9655378" y="398039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5" name="Oval 834"/>
          <p:cNvSpPr/>
          <p:nvPr/>
        </p:nvSpPr>
        <p:spPr>
          <a:xfrm>
            <a:off x="9603476" y="394048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6" name="Oval 835"/>
          <p:cNvSpPr/>
          <p:nvPr/>
        </p:nvSpPr>
        <p:spPr>
          <a:xfrm>
            <a:off x="9600459" y="393267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7" name="Oval 836"/>
          <p:cNvSpPr/>
          <p:nvPr/>
        </p:nvSpPr>
        <p:spPr>
          <a:xfrm>
            <a:off x="9607399" y="398638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8" name="Oval 837"/>
          <p:cNvSpPr/>
          <p:nvPr/>
        </p:nvSpPr>
        <p:spPr>
          <a:xfrm>
            <a:off x="9551877" y="393569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9" name="Oval 838"/>
          <p:cNvSpPr/>
          <p:nvPr/>
        </p:nvSpPr>
        <p:spPr>
          <a:xfrm>
            <a:off x="9502389" y="391673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0" name="Oval 839"/>
          <p:cNvSpPr/>
          <p:nvPr/>
        </p:nvSpPr>
        <p:spPr>
          <a:xfrm>
            <a:off x="9671974" y="389855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1" name="Oval 840"/>
          <p:cNvSpPr/>
          <p:nvPr/>
        </p:nvSpPr>
        <p:spPr>
          <a:xfrm>
            <a:off x="9770043" y="393423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2" name="Oval 841"/>
          <p:cNvSpPr/>
          <p:nvPr/>
        </p:nvSpPr>
        <p:spPr>
          <a:xfrm>
            <a:off x="9430874" y="389187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3" name="Oval 842"/>
          <p:cNvSpPr/>
          <p:nvPr/>
        </p:nvSpPr>
        <p:spPr>
          <a:xfrm>
            <a:off x="9393155" y="396459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4" name="Oval 843"/>
          <p:cNvSpPr/>
          <p:nvPr/>
        </p:nvSpPr>
        <p:spPr>
          <a:xfrm>
            <a:off x="9611322" y="398126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5" name="Oval 844"/>
          <p:cNvSpPr/>
          <p:nvPr/>
        </p:nvSpPr>
        <p:spPr>
          <a:xfrm>
            <a:off x="9564852" y="396250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6" name="Oval 845"/>
          <p:cNvSpPr/>
          <p:nvPr/>
        </p:nvSpPr>
        <p:spPr>
          <a:xfrm>
            <a:off x="9588389" y="396212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7" name="Oval 846"/>
          <p:cNvSpPr/>
          <p:nvPr/>
        </p:nvSpPr>
        <p:spPr>
          <a:xfrm>
            <a:off x="9381689" y="393858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8" name="Oval 847"/>
          <p:cNvSpPr/>
          <p:nvPr/>
        </p:nvSpPr>
        <p:spPr>
          <a:xfrm>
            <a:off x="9592915" y="390177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9" name="Oval 848"/>
          <p:cNvSpPr/>
          <p:nvPr/>
        </p:nvSpPr>
        <p:spPr>
          <a:xfrm>
            <a:off x="9624901" y="398781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0" name="Oval 849"/>
          <p:cNvSpPr/>
          <p:nvPr/>
        </p:nvSpPr>
        <p:spPr>
          <a:xfrm>
            <a:off x="9583259" y="398105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1" name="Oval 850"/>
          <p:cNvSpPr/>
          <p:nvPr/>
        </p:nvSpPr>
        <p:spPr>
          <a:xfrm>
            <a:off x="9650550" y="397096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2" name="Oval 851"/>
          <p:cNvSpPr/>
          <p:nvPr/>
        </p:nvSpPr>
        <p:spPr>
          <a:xfrm>
            <a:off x="9619771" y="392194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3" name="Oval 852"/>
          <p:cNvSpPr/>
          <p:nvPr/>
        </p:nvSpPr>
        <p:spPr>
          <a:xfrm>
            <a:off x="9404320" y="392016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4" name="Oval 853"/>
          <p:cNvSpPr/>
          <p:nvPr/>
        </p:nvSpPr>
        <p:spPr>
          <a:xfrm>
            <a:off x="9674992" y="398122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5" name="Oval 854"/>
          <p:cNvSpPr/>
          <p:nvPr/>
        </p:nvSpPr>
        <p:spPr>
          <a:xfrm>
            <a:off x="9443548" y="394778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6" name="Oval 855"/>
          <p:cNvSpPr/>
          <p:nvPr/>
        </p:nvSpPr>
        <p:spPr>
          <a:xfrm>
            <a:off x="9423934" y="392958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7" name="Oval 856"/>
          <p:cNvSpPr/>
          <p:nvPr/>
        </p:nvSpPr>
        <p:spPr>
          <a:xfrm>
            <a:off x="9451695" y="398993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8" name="Oval 857"/>
          <p:cNvSpPr/>
          <p:nvPr/>
        </p:nvSpPr>
        <p:spPr>
          <a:xfrm>
            <a:off x="9350306" y="396938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9" name="Oval 858"/>
          <p:cNvSpPr/>
          <p:nvPr/>
        </p:nvSpPr>
        <p:spPr>
          <a:xfrm>
            <a:off x="9655076" y="397397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0" name="Oval 859"/>
          <p:cNvSpPr/>
          <p:nvPr/>
        </p:nvSpPr>
        <p:spPr>
          <a:xfrm>
            <a:off x="9591708" y="392774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1" name="Oval 860"/>
          <p:cNvSpPr/>
          <p:nvPr/>
        </p:nvSpPr>
        <p:spPr>
          <a:xfrm>
            <a:off x="9447169" y="394283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2" name="Oval 861"/>
          <p:cNvSpPr/>
          <p:nvPr/>
        </p:nvSpPr>
        <p:spPr>
          <a:xfrm>
            <a:off x="9569077" y="390214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3" name="Oval 862"/>
          <p:cNvSpPr/>
          <p:nvPr/>
        </p:nvSpPr>
        <p:spPr>
          <a:xfrm>
            <a:off x="9642704" y="397361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4" name="Oval 863"/>
          <p:cNvSpPr/>
          <p:nvPr/>
        </p:nvSpPr>
        <p:spPr>
          <a:xfrm>
            <a:off x="9433892" y="398908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5" name="Oval 864"/>
          <p:cNvSpPr/>
          <p:nvPr/>
        </p:nvSpPr>
        <p:spPr>
          <a:xfrm>
            <a:off x="9433590" y="392543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6" name="Oval 865"/>
          <p:cNvSpPr/>
          <p:nvPr/>
        </p:nvSpPr>
        <p:spPr>
          <a:xfrm>
            <a:off x="9572094" y="398004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7" name="Oval 866"/>
          <p:cNvSpPr/>
          <p:nvPr/>
        </p:nvSpPr>
        <p:spPr>
          <a:xfrm>
            <a:off x="9157185" y="390013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8" name="Oval 867"/>
          <p:cNvSpPr/>
          <p:nvPr/>
        </p:nvSpPr>
        <p:spPr>
          <a:xfrm>
            <a:off x="8667442" y="393335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9" name="Oval 868"/>
          <p:cNvSpPr/>
          <p:nvPr/>
        </p:nvSpPr>
        <p:spPr>
          <a:xfrm>
            <a:off x="9667146" y="393949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0" name="Oval 869"/>
          <p:cNvSpPr/>
          <p:nvPr/>
        </p:nvSpPr>
        <p:spPr>
          <a:xfrm>
            <a:off x="9322847" y="397497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1" name="Oval 870"/>
          <p:cNvSpPr/>
          <p:nvPr/>
        </p:nvSpPr>
        <p:spPr>
          <a:xfrm>
            <a:off x="9458032" y="395871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2" name="Oval 871"/>
          <p:cNvSpPr/>
          <p:nvPr/>
        </p:nvSpPr>
        <p:spPr>
          <a:xfrm>
            <a:off x="9423632" y="392018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3" name="Oval 872"/>
          <p:cNvSpPr/>
          <p:nvPr/>
        </p:nvSpPr>
        <p:spPr>
          <a:xfrm>
            <a:off x="9546747" y="390598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4" name="Oval 873"/>
          <p:cNvSpPr/>
          <p:nvPr/>
        </p:nvSpPr>
        <p:spPr>
          <a:xfrm>
            <a:off x="9513554" y="389146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5" name="Oval 874"/>
          <p:cNvSpPr/>
          <p:nvPr/>
        </p:nvSpPr>
        <p:spPr>
          <a:xfrm>
            <a:off x="9440530" y="389375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6" name="Oval 875"/>
          <p:cNvSpPr/>
          <p:nvPr/>
        </p:nvSpPr>
        <p:spPr>
          <a:xfrm>
            <a:off x="9359962" y="395988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7" name="Oval 876"/>
          <p:cNvSpPr/>
          <p:nvPr/>
        </p:nvSpPr>
        <p:spPr>
          <a:xfrm>
            <a:off x="9753749" y="398919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8" name="Oval 877"/>
          <p:cNvSpPr/>
          <p:nvPr/>
        </p:nvSpPr>
        <p:spPr>
          <a:xfrm>
            <a:off x="9736851" y="395448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9" name="Oval 878"/>
          <p:cNvSpPr/>
          <p:nvPr/>
        </p:nvSpPr>
        <p:spPr>
          <a:xfrm>
            <a:off x="9534677" y="395468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0" name="Oval 879"/>
          <p:cNvSpPr/>
          <p:nvPr/>
        </p:nvSpPr>
        <p:spPr>
          <a:xfrm>
            <a:off x="9815910" y="391564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1" name="Oval 880"/>
          <p:cNvSpPr/>
          <p:nvPr/>
        </p:nvSpPr>
        <p:spPr>
          <a:xfrm>
            <a:off x="9732023" y="394307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2" name="Oval 881"/>
          <p:cNvSpPr/>
          <p:nvPr/>
        </p:nvSpPr>
        <p:spPr>
          <a:xfrm>
            <a:off x="9544333" y="391396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3" name="Oval 882"/>
          <p:cNvSpPr/>
          <p:nvPr/>
        </p:nvSpPr>
        <p:spPr>
          <a:xfrm>
            <a:off x="9355738" y="398221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4" name="Oval 883"/>
          <p:cNvSpPr/>
          <p:nvPr/>
        </p:nvSpPr>
        <p:spPr>
          <a:xfrm>
            <a:off x="9716633" y="395301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5" name="Oval 884"/>
          <p:cNvSpPr/>
          <p:nvPr/>
        </p:nvSpPr>
        <p:spPr>
          <a:xfrm>
            <a:off x="9760689" y="389822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6" name="Oval 885"/>
          <p:cNvSpPr/>
          <p:nvPr/>
        </p:nvSpPr>
        <p:spPr>
          <a:xfrm>
            <a:off x="9764914" y="389078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7" name="Oval 886"/>
          <p:cNvSpPr/>
          <p:nvPr/>
        </p:nvSpPr>
        <p:spPr>
          <a:xfrm>
            <a:off x="9464972" y="393353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8" name="Oval 887"/>
          <p:cNvSpPr/>
          <p:nvPr/>
        </p:nvSpPr>
        <p:spPr>
          <a:xfrm>
            <a:off x="9610417" y="390452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9" name="Oval 888"/>
          <p:cNvSpPr/>
          <p:nvPr/>
        </p:nvSpPr>
        <p:spPr>
          <a:xfrm>
            <a:off x="9620978" y="392183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0" name="Oval 889"/>
          <p:cNvSpPr/>
          <p:nvPr/>
        </p:nvSpPr>
        <p:spPr>
          <a:xfrm>
            <a:off x="9585371" y="391256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1" name="Oval 890"/>
          <p:cNvSpPr/>
          <p:nvPr/>
        </p:nvSpPr>
        <p:spPr>
          <a:xfrm>
            <a:off x="9576319" y="4126160"/>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2" name="Oval 891"/>
          <p:cNvSpPr/>
          <p:nvPr/>
        </p:nvSpPr>
        <p:spPr>
          <a:xfrm>
            <a:off x="9518081" y="4191976"/>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3" name="Oval 892"/>
          <p:cNvSpPr/>
          <p:nvPr/>
        </p:nvSpPr>
        <p:spPr>
          <a:xfrm>
            <a:off x="8163516" y="4114188"/>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4" name="Oval 893"/>
          <p:cNvSpPr/>
          <p:nvPr/>
        </p:nvSpPr>
        <p:spPr>
          <a:xfrm>
            <a:off x="9655981" y="413681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5" name="Oval 894"/>
          <p:cNvSpPr/>
          <p:nvPr/>
        </p:nvSpPr>
        <p:spPr>
          <a:xfrm>
            <a:off x="8034668" y="417101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6" name="Oval 895"/>
          <p:cNvSpPr/>
          <p:nvPr/>
        </p:nvSpPr>
        <p:spPr>
          <a:xfrm>
            <a:off x="9563947" y="4129585"/>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7" name="Oval 896"/>
          <p:cNvSpPr/>
          <p:nvPr/>
        </p:nvSpPr>
        <p:spPr>
          <a:xfrm>
            <a:off x="8989411" y="4123105"/>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8" name="Oval 897"/>
          <p:cNvSpPr/>
          <p:nvPr/>
        </p:nvSpPr>
        <p:spPr>
          <a:xfrm>
            <a:off x="9640894" y="418628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9" name="Oval 898"/>
          <p:cNvSpPr/>
          <p:nvPr/>
        </p:nvSpPr>
        <p:spPr>
          <a:xfrm>
            <a:off x="9103775" y="4180118"/>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0" name="TextBox 899"/>
          <p:cNvSpPr txBox="1"/>
          <p:nvPr/>
        </p:nvSpPr>
        <p:spPr>
          <a:xfrm>
            <a:off x="10195560" y="387248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121 of 123</a:t>
            </a:r>
          </a:p>
          <a:p>
            <a:pPr algn="l">
              <a:lnSpc>
                <a:spcPct val="109000"/>
              </a:lnSpc>
              <a:spcBef>
                <a:spcPts val="0"/>
              </a:spcBef>
              <a:spcAft>
                <a:spcPts val="0"/>
              </a:spcAft>
            </a:pPr>
            <a:r>
              <a:rPr sz="1250" b="0">
                <a:solidFill>
                  <a:srgbClr val="00407A"/>
                </a:solidFill>
                <a:latin typeface="Arial"/>
              </a:rPr>
              <a:t>are “yes”</a:t>
            </a:r>
          </a:p>
        </p:txBody>
      </p:sp>
      <p:sp>
        <p:nvSpPr>
          <p:cNvPr id="901" name="TextBox 900"/>
          <p:cNvSpPr txBox="1"/>
          <p:nvPr/>
        </p:nvSpPr>
        <p:spPr>
          <a:xfrm>
            <a:off x="6391656" y="443026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27B</a:t>
            </a:r>
          </a:p>
        </p:txBody>
      </p:sp>
      <p:sp>
        <p:nvSpPr>
          <p:cNvPr id="902" name="Oval 901"/>
          <p:cNvSpPr/>
          <p:nvPr/>
        </p:nvSpPr>
        <p:spPr>
          <a:xfrm>
            <a:off x="9932386" y="442676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3" name="Oval 902"/>
          <p:cNvSpPr/>
          <p:nvPr/>
        </p:nvSpPr>
        <p:spPr>
          <a:xfrm>
            <a:off x="9458937" y="448453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4" name="Oval 903"/>
          <p:cNvSpPr/>
          <p:nvPr/>
        </p:nvSpPr>
        <p:spPr>
          <a:xfrm>
            <a:off x="9027734" y="448298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5" name="Oval 904"/>
          <p:cNvSpPr/>
          <p:nvPr/>
        </p:nvSpPr>
        <p:spPr>
          <a:xfrm>
            <a:off x="9545540" y="443874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6" name="Oval 905"/>
          <p:cNvSpPr/>
          <p:nvPr/>
        </p:nvSpPr>
        <p:spPr>
          <a:xfrm>
            <a:off x="9908246" y="447836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7" name="Oval 906"/>
          <p:cNvSpPr/>
          <p:nvPr/>
        </p:nvSpPr>
        <p:spPr>
          <a:xfrm>
            <a:off x="8703954" y="446958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8" name="Oval 907"/>
          <p:cNvSpPr/>
          <p:nvPr/>
        </p:nvSpPr>
        <p:spPr>
          <a:xfrm>
            <a:off x="9881993" y="446915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9" name="Oval 908"/>
          <p:cNvSpPr/>
          <p:nvPr/>
        </p:nvSpPr>
        <p:spPr>
          <a:xfrm>
            <a:off x="9833713" y="444814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0" name="Oval 909"/>
          <p:cNvSpPr/>
          <p:nvPr/>
        </p:nvSpPr>
        <p:spPr>
          <a:xfrm>
            <a:off x="9467386" y="441160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1" name="Oval 910"/>
          <p:cNvSpPr/>
          <p:nvPr/>
        </p:nvSpPr>
        <p:spPr>
          <a:xfrm>
            <a:off x="9915488" y="442416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2" name="Oval 911"/>
          <p:cNvSpPr/>
          <p:nvPr/>
        </p:nvSpPr>
        <p:spPr>
          <a:xfrm>
            <a:off x="9557912" y="446413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3" name="Oval 912"/>
          <p:cNvSpPr/>
          <p:nvPr/>
        </p:nvSpPr>
        <p:spPr>
          <a:xfrm>
            <a:off x="9704563" y="444546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4" name="Oval 913"/>
          <p:cNvSpPr/>
          <p:nvPr/>
        </p:nvSpPr>
        <p:spPr>
          <a:xfrm>
            <a:off x="9746205" y="446932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5" name="Oval 914"/>
          <p:cNvSpPr/>
          <p:nvPr/>
        </p:nvSpPr>
        <p:spPr>
          <a:xfrm>
            <a:off x="9580241" y="446433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6" name="Oval 915"/>
          <p:cNvSpPr/>
          <p:nvPr/>
        </p:nvSpPr>
        <p:spPr>
          <a:xfrm>
            <a:off x="9549463" y="449252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7" name="Oval 916"/>
          <p:cNvSpPr/>
          <p:nvPr/>
        </p:nvSpPr>
        <p:spPr>
          <a:xfrm>
            <a:off x="9532866" y="448151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8" name="Oval 917"/>
          <p:cNvSpPr/>
          <p:nvPr/>
        </p:nvSpPr>
        <p:spPr>
          <a:xfrm>
            <a:off x="9770647" y="448535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9" name="Oval 918"/>
          <p:cNvSpPr/>
          <p:nvPr/>
        </p:nvSpPr>
        <p:spPr>
          <a:xfrm>
            <a:off x="9654472" y="447421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0" name="Oval 919"/>
          <p:cNvSpPr/>
          <p:nvPr/>
        </p:nvSpPr>
        <p:spPr>
          <a:xfrm>
            <a:off x="9857250" y="439891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1" name="Oval 920"/>
          <p:cNvSpPr/>
          <p:nvPr/>
        </p:nvSpPr>
        <p:spPr>
          <a:xfrm>
            <a:off x="9753749" y="445984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2" name="Oval 921"/>
          <p:cNvSpPr/>
          <p:nvPr/>
        </p:nvSpPr>
        <p:spPr>
          <a:xfrm>
            <a:off x="9430874" y="447721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3" name="Oval 922"/>
          <p:cNvSpPr/>
          <p:nvPr/>
        </p:nvSpPr>
        <p:spPr>
          <a:xfrm>
            <a:off x="9580543" y="449106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4" name="Oval 923"/>
          <p:cNvSpPr/>
          <p:nvPr/>
        </p:nvSpPr>
        <p:spPr>
          <a:xfrm>
            <a:off x="9830394" y="446145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5" name="Oval 924"/>
          <p:cNvSpPr/>
          <p:nvPr/>
        </p:nvSpPr>
        <p:spPr>
          <a:xfrm>
            <a:off x="9809573" y="440706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6" name="Oval 925"/>
          <p:cNvSpPr/>
          <p:nvPr/>
        </p:nvSpPr>
        <p:spPr>
          <a:xfrm>
            <a:off x="9517175" y="443370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7" name="Oval 926"/>
          <p:cNvSpPr/>
          <p:nvPr/>
        </p:nvSpPr>
        <p:spPr>
          <a:xfrm>
            <a:off x="9741075" y="445487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8" name="Oval 927"/>
          <p:cNvSpPr/>
          <p:nvPr/>
        </p:nvSpPr>
        <p:spPr>
          <a:xfrm>
            <a:off x="9861776" y="441370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9" name="Oval 928"/>
          <p:cNvSpPr/>
          <p:nvPr/>
        </p:nvSpPr>
        <p:spPr>
          <a:xfrm>
            <a:off x="9538600" y="439729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0" name="Oval 929"/>
          <p:cNvSpPr/>
          <p:nvPr/>
        </p:nvSpPr>
        <p:spPr>
          <a:xfrm>
            <a:off x="9704563" y="440687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1" name="Oval 930"/>
          <p:cNvSpPr/>
          <p:nvPr/>
        </p:nvSpPr>
        <p:spPr>
          <a:xfrm>
            <a:off x="9300216" y="445896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2" name="Oval 931"/>
          <p:cNvSpPr/>
          <p:nvPr/>
        </p:nvSpPr>
        <p:spPr>
          <a:xfrm>
            <a:off x="9643308" y="446461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3" name="Oval 932"/>
          <p:cNvSpPr/>
          <p:nvPr/>
        </p:nvSpPr>
        <p:spPr>
          <a:xfrm>
            <a:off x="9861173" y="444578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4" name="Oval 933"/>
          <p:cNvSpPr/>
          <p:nvPr/>
        </p:nvSpPr>
        <p:spPr>
          <a:xfrm>
            <a:off x="9795089" y="446912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5" name="Oval 934"/>
          <p:cNvSpPr/>
          <p:nvPr/>
        </p:nvSpPr>
        <p:spPr>
          <a:xfrm>
            <a:off x="9788450" y="442127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6" name="Oval 935"/>
          <p:cNvSpPr/>
          <p:nvPr/>
        </p:nvSpPr>
        <p:spPr>
          <a:xfrm>
            <a:off x="9665034" y="445374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7" name="Oval 936"/>
          <p:cNvSpPr/>
          <p:nvPr/>
        </p:nvSpPr>
        <p:spPr>
          <a:xfrm>
            <a:off x="9339745" y="444623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8" name="Oval 937"/>
          <p:cNvSpPr/>
          <p:nvPr/>
        </p:nvSpPr>
        <p:spPr>
          <a:xfrm>
            <a:off x="9819531" y="445482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9" name="Oval 938"/>
          <p:cNvSpPr/>
          <p:nvPr/>
        </p:nvSpPr>
        <p:spPr>
          <a:xfrm>
            <a:off x="9628824" y="448485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0" name="Oval 939"/>
          <p:cNvSpPr/>
          <p:nvPr/>
        </p:nvSpPr>
        <p:spPr>
          <a:xfrm>
            <a:off x="9552782" y="445863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1" name="Oval 940"/>
          <p:cNvSpPr/>
          <p:nvPr/>
        </p:nvSpPr>
        <p:spPr>
          <a:xfrm>
            <a:off x="9188567" y="446032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2" name="Oval 941"/>
          <p:cNvSpPr/>
          <p:nvPr/>
        </p:nvSpPr>
        <p:spPr>
          <a:xfrm>
            <a:off x="9840955" y="446267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3" name="Oval 942"/>
          <p:cNvSpPr/>
          <p:nvPr/>
        </p:nvSpPr>
        <p:spPr>
          <a:xfrm>
            <a:off x="9699433" y="444267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4" name="Oval 943"/>
          <p:cNvSpPr/>
          <p:nvPr/>
        </p:nvSpPr>
        <p:spPr>
          <a:xfrm>
            <a:off x="9428460" y="441339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5" name="Oval 944"/>
          <p:cNvSpPr/>
          <p:nvPr/>
        </p:nvSpPr>
        <p:spPr>
          <a:xfrm>
            <a:off x="9922428" y="448116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6" name="Oval 945"/>
          <p:cNvSpPr/>
          <p:nvPr/>
        </p:nvSpPr>
        <p:spPr>
          <a:xfrm>
            <a:off x="9940232" y="447781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7" name="Oval 946"/>
          <p:cNvSpPr/>
          <p:nvPr/>
        </p:nvSpPr>
        <p:spPr>
          <a:xfrm>
            <a:off x="9886821" y="439845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8" name="Oval 947"/>
          <p:cNvSpPr/>
          <p:nvPr/>
        </p:nvSpPr>
        <p:spPr>
          <a:xfrm>
            <a:off x="9939628" y="443632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9" name="Oval 948"/>
          <p:cNvSpPr/>
          <p:nvPr/>
        </p:nvSpPr>
        <p:spPr>
          <a:xfrm>
            <a:off x="9673181" y="443891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0" name="Oval 949"/>
          <p:cNvSpPr/>
          <p:nvPr/>
        </p:nvSpPr>
        <p:spPr>
          <a:xfrm>
            <a:off x="9902513" y="446042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1" name="Oval 950"/>
          <p:cNvSpPr/>
          <p:nvPr/>
        </p:nvSpPr>
        <p:spPr>
          <a:xfrm>
            <a:off x="9920014" y="439526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2" name="Oval 951"/>
          <p:cNvSpPr/>
          <p:nvPr/>
        </p:nvSpPr>
        <p:spPr>
          <a:xfrm>
            <a:off x="9681027" y="440760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3" name="Oval 952"/>
          <p:cNvSpPr/>
          <p:nvPr/>
        </p:nvSpPr>
        <p:spPr>
          <a:xfrm>
            <a:off x="9751637" y="447325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4" name="Oval 953"/>
          <p:cNvSpPr/>
          <p:nvPr/>
        </p:nvSpPr>
        <p:spPr>
          <a:xfrm>
            <a:off x="9967993" y="448202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5" name="Oval 954"/>
          <p:cNvSpPr/>
          <p:nvPr/>
        </p:nvSpPr>
        <p:spPr>
          <a:xfrm>
            <a:off x="9631238" y="448749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6" name="Oval 955"/>
          <p:cNvSpPr/>
          <p:nvPr/>
        </p:nvSpPr>
        <p:spPr>
          <a:xfrm>
            <a:off x="9815608" y="441707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7" name="Oval 956"/>
          <p:cNvSpPr/>
          <p:nvPr/>
        </p:nvSpPr>
        <p:spPr>
          <a:xfrm>
            <a:off x="9925144" y="445071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8" name="Oval 957"/>
          <p:cNvSpPr/>
          <p:nvPr/>
        </p:nvSpPr>
        <p:spPr>
          <a:xfrm>
            <a:off x="9983986" y="446691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9" name="Oval 958"/>
          <p:cNvSpPr/>
          <p:nvPr/>
        </p:nvSpPr>
        <p:spPr>
          <a:xfrm>
            <a:off x="9946870" y="448331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0" name="Oval 959"/>
          <p:cNvSpPr/>
          <p:nvPr/>
        </p:nvSpPr>
        <p:spPr>
          <a:xfrm>
            <a:off x="9890744" y="444340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1" name="Oval 960"/>
          <p:cNvSpPr/>
          <p:nvPr/>
        </p:nvSpPr>
        <p:spPr>
          <a:xfrm>
            <a:off x="9947172" y="443559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2" name="Oval 961"/>
          <p:cNvSpPr/>
          <p:nvPr/>
        </p:nvSpPr>
        <p:spPr>
          <a:xfrm>
            <a:off x="9925747" y="448930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3" name="Oval 962"/>
          <p:cNvSpPr/>
          <p:nvPr/>
        </p:nvSpPr>
        <p:spPr>
          <a:xfrm>
            <a:off x="9965881" y="443861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4" name="Oval 963"/>
          <p:cNvSpPr/>
          <p:nvPr/>
        </p:nvSpPr>
        <p:spPr>
          <a:xfrm>
            <a:off x="9955319" y="441965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5" name="Oval 964"/>
          <p:cNvSpPr/>
          <p:nvPr/>
        </p:nvSpPr>
        <p:spPr>
          <a:xfrm>
            <a:off x="9929972" y="440147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6" name="Oval 965"/>
          <p:cNvSpPr/>
          <p:nvPr/>
        </p:nvSpPr>
        <p:spPr>
          <a:xfrm>
            <a:off x="10012954" y="443715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7" name="Oval 966"/>
          <p:cNvSpPr/>
          <p:nvPr/>
        </p:nvSpPr>
        <p:spPr>
          <a:xfrm>
            <a:off x="9971916" y="439479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8" name="Oval 967"/>
          <p:cNvSpPr/>
          <p:nvPr/>
        </p:nvSpPr>
        <p:spPr>
          <a:xfrm>
            <a:off x="9624599" y="446751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9" name="Oval 968"/>
          <p:cNvSpPr/>
          <p:nvPr/>
        </p:nvSpPr>
        <p:spPr>
          <a:xfrm>
            <a:off x="9990624" y="448418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0" name="Oval 969"/>
          <p:cNvSpPr/>
          <p:nvPr/>
        </p:nvSpPr>
        <p:spPr>
          <a:xfrm>
            <a:off x="9968295" y="446542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1" name="Oval 970"/>
          <p:cNvSpPr/>
          <p:nvPr/>
        </p:nvSpPr>
        <p:spPr>
          <a:xfrm>
            <a:off x="9932084" y="446504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2" name="Oval 971"/>
          <p:cNvSpPr/>
          <p:nvPr/>
        </p:nvSpPr>
        <p:spPr>
          <a:xfrm>
            <a:off x="9444453" y="444150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3" name="Oval 972"/>
          <p:cNvSpPr/>
          <p:nvPr/>
        </p:nvSpPr>
        <p:spPr>
          <a:xfrm>
            <a:off x="9915186" y="440469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4" name="Oval 973"/>
          <p:cNvSpPr/>
          <p:nvPr/>
        </p:nvSpPr>
        <p:spPr>
          <a:xfrm>
            <a:off x="9977951" y="449073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5" name="Oval 974"/>
          <p:cNvSpPr/>
          <p:nvPr/>
        </p:nvSpPr>
        <p:spPr>
          <a:xfrm>
            <a:off x="9935102" y="448397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6" name="Oval 975"/>
          <p:cNvSpPr/>
          <p:nvPr/>
        </p:nvSpPr>
        <p:spPr>
          <a:xfrm>
            <a:off x="9932386" y="447388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7" name="Oval 976"/>
          <p:cNvSpPr/>
          <p:nvPr/>
        </p:nvSpPr>
        <p:spPr>
          <a:xfrm>
            <a:off x="9055796" y="442486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8" name="Oval 977"/>
          <p:cNvSpPr/>
          <p:nvPr/>
        </p:nvSpPr>
        <p:spPr>
          <a:xfrm>
            <a:off x="8946864" y="442308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9" name="Oval 978"/>
          <p:cNvSpPr/>
          <p:nvPr/>
        </p:nvSpPr>
        <p:spPr>
          <a:xfrm>
            <a:off x="9969803" y="448414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0" name="Oval 979"/>
          <p:cNvSpPr/>
          <p:nvPr/>
        </p:nvSpPr>
        <p:spPr>
          <a:xfrm>
            <a:off x="9454109" y="445070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1" name="Oval 980"/>
          <p:cNvSpPr/>
          <p:nvPr/>
        </p:nvSpPr>
        <p:spPr>
          <a:xfrm>
            <a:off x="9006611" y="443250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2" name="Oval 981"/>
          <p:cNvSpPr/>
          <p:nvPr/>
        </p:nvSpPr>
        <p:spPr>
          <a:xfrm>
            <a:off x="9330994" y="449285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3" name="Oval 982"/>
          <p:cNvSpPr/>
          <p:nvPr/>
        </p:nvSpPr>
        <p:spPr>
          <a:xfrm>
            <a:off x="9335219" y="447230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4" name="Oval 983"/>
          <p:cNvSpPr/>
          <p:nvPr/>
        </p:nvSpPr>
        <p:spPr>
          <a:xfrm>
            <a:off x="9863888" y="447689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5" name="Oval 984"/>
          <p:cNvSpPr/>
          <p:nvPr/>
        </p:nvSpPr>
        <p:spPr>
          <a:xfrm>
            <a:off x="9821945" y="443066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6" name="Oval 985"/>
          <p:cNvSpPr/>
          <p:nvPr/>
        </p:nvSpPr>
        <p:spPr>
          <a:xfrm>
            <a:off x="9558515" y="444575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7" name="Oval 986"/>
          <p:cNvSpPr/>
          <p:nvPr/>
        </p:nvSpPr>
        <p:spPr>
          <a:xfrm>
            <a:off x="9353324" y="440506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8" name="Oval 987"/>
          <p:cNvSpPr/>
          <p:nvPr/>
        </p:nvSpPr>
        <p:spPr>
          <a:xfrm>
            <a:off x="9598950" y="447653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9" name="Oval 988"/>
          <p:cNvSpPr/>
          <p:nvPr/>
        </p:nvSpPr>
        <p:spPr>
          <a:xfrm>
            <a:off x="9633953" y="449200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0" name="Oval 989"/>
          <p:cNvSpPr/>
          <p:nvPr/>
        </p:nvSpPr>
        <p:spPr>
          <a:xfrm>
            <a:off x="9749524" y="442835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1" name="Oval 990"/>
          <p:cNvSpPr/>
          <p:nvPr/>
        </p:nvSpPr>
        <p:spPr>
          <a:xfrm>
            <a:off x="9897081" y="448296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2" name="Oval 991"/>
          <p:cNvSpPr/>
          <p:nvPr/>
        </p:nvSpPr>
        <p:spPr>
          <a:xfrm>
            <a:off x="9571491" y="440305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3" name="Oval 992"/>
          <p:cNvSpPr/>
          <p:nvPr/>
        </p:nvSpPr>
        <p:spPr>
          <a:xfrm>
            <a:off x="9861474" y="443627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4" name="Oval 993"/>
          <p:cNvSpPr/>
          <p:nvPr/>
        </p:nvSpPr>
        <p:spPr>
          <a:xfrm>
            <a:off x="9877165" y="444241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5" name="Oval 994"/>
          <p:cNvSpPr/>
          <p:nvPr/>
        </p:nvSpPr>
        <p:spPr>
          <a:xfrm>
            <a:off x="9701244" y="447789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6" name="Oval 995"/>
          <p:cNvSpPr/>
          <p:nvPr/>
        </p:nvSpPr>
        <p:spPr>
          <a:xfrm>
            <a:off x="9330994" y="446163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7" name="Oval 996"/>
          <p:cNvSpPr/>
          <p:nvPr/>
        </p:nvSpPr>
        <p:spPr>
          <a:xfrm>
            <a:off x="8989109" y="442310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8" name="Oval 997"/>
          <p:cNvSpPr/>
          <p:nvPr/>
        </p:nvSpPr>
        <p:spPr>
          <a:xfrm>
            <a:off x="9836731" y="440890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9" name="Oval 998"/>
          <p:cNvSpPr/>
          <p:nvPr/>
        </p:nvSpPr>
        <p:spPr>
          <a:xfrm>
            <a:off x="9527737" y="439438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0" name="Oval 999"/>
          <p:cNvSpPr/>
          <p:nvPr/>
        </p:nvSpPr>
        <p:spPr>
          <a:xfrm>
            <a:off x="9871130" y="439667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1" name="Oval 1000"/>
          <p:cNvSpPr/>
          <p:nvPr/>
        </p:nvSpPr>
        <p:spPr>
          <a:xfrm>
            <a:off x="9759482" y="446280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2" name="Oval 1001"/>
          <p:cNvSpPr/>
          <p:nvPr/>
        </p:nvSpPr>
        <p:spPr>
          <a:xfrm>
            <a:off x="9968295" y="449211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3" name="Oval 1002"/>
          <p:cNvSpPr/>
          <p:nvPr/>
        </p:nvSpPr>
        <p:spPr>
          <a:xfrm>
            <a:off x="10006617" y="445740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4" name="Oval 1003"/>
          <p:cNvSpPr/>
          <p:nvPr/>
        </p:nvSpPr>
        <p:spPr>
          <a:xfrm>
            <a:off x="9483983" y="445760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5" name="Oval 1004"/>
          <p:cNvSpPr/>
          <p:nvPr/>
        </p:nvSpPr>
        <p:spPr>
          <a:xfrm>
            <a:off x="9984287" y="441856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6" name="Oval 1005"/>
          <p:cNvSpPr/>
          <p:nvPr/>
        </p:nvSpPr>
        <p:spPr>
          <a:xfrm>
            <a:off x="9948982" y="444599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7" name="Oval 1006"/>
          <p:cNvSpPr/>
          <p:nvPr/>
        </p:nvSpPr>
        <p:spPr>
          <a:xfrm>
            <a:off x="9924239" y="441688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8" name="Oval 1007"/>
          <p:cNvSpPr/>
          <p:nvPr/>
        </p:nvSpPr>
        <p:spPr>
          <a:xfrm>
            <a:off x="9739265" y="448513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9" name="Oval 1008"/>
          <p:cNvSpPr/>
          <p:nvPr/>
        </p:nvSpPr>
        <p:spPr>
          <a:xfrm>
            <a:off x="9950793" y="445593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0" name="Oval 1009"/>
          <p:cNvSpPr/>
          <p:nvPr/>
        </p:nvSpPr>
        <p:spPr>
          <a:xfrm>
            <a:off x="9967389" y="440114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1" name="Oval 1010"/>
          <p:cNvSpPr/>
          <p:nvPr/>
        </p:nvSpPr>
        <p:spPr>
          <a:xfrm>
            <a:off x="9965579" y="439370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2" name="Oval 1011"/>
          <p:cNvSpPr/>
          <p:nvPr/>
        </p:nvSpPr>
        <p:spPr>
          <a:xfrm>
            <a:off x="9924239" y="443645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3" name="Oval 1012"/>
          <p:cNvSpPr/>
          <p:nvPr/>
        </p:nvSpPr>
        <p:spPr>
          <a:xfrm>
            <a:off x="9923333" y="440744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4" name="Oval 1013"/>
          <p:cNvSpPr/>
          <p:nvPr/>
        </p:nvSpPr>
        <p:spPr>
          <a:xfrm>
            <a:off x="9657490" y="442475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5" name="Oval 1014"/>
          <p:cNvSpPr/>
          <p:nvPr/>
        </p:nvSpPr>
        <p:spPr>
          <a:xfrm>
            <a:off x="9685553" y="441548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6" name="Oval 1015"/>
          <p:cNvSpPr/>
          <p:nvPr/>
        </p:nvSpPr>
        <p:spPr>
          <a:xfrm>
            <a:off x="8113123" y="4629080"/>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7" name="Oval 1016"/>
          <p:cNvSpPr/>
          <p:nvPr/>
        </p:nvSpPr>
        <p:spPr>
          <a:xfrm>
            <a:off x="9080842" y="4694896"/>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8" name="Oval 1017"/>
          <p:cNvSpPr/>
          <p:nvPr/>
        </p:nvSpPr>
        <p:spPr>
          <a:xfrm>
            <a:off x="7864480" y="4617108"/>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9" name="Oval 1018"/>
          <p:cNvSpPr/>
          <p:nvPr/>
        </p:nvSpPr>
        <p:spPr>
          <a:xfrm>
            <a:off x="8109804" y="463973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0" name="Oval 1019"/>
          <p:cNvSpPr/>
          <p:nvPr/>
        </p:nvSpPr>
        <p:spPr>
          <a:xfrm>
            <a:off x="8007812" y="467393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1" name="Oval 1020"/>
          <p:cNvSpPr/>
          <p:nvPr/>
        </p:nvSpPr>
        <p:spPr>
          <a:xfrm>
            <a:off x="8316504" y="4632505"/>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2" name="Oval 1021"/>
          <p:cNvSpPr/>
          <p:nvPr/>
        </p:nvSpPr>
        <p:spPr>
          <a:xfrm>
            <a:off x="7752530" y="4626025"/>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3" name="Oval 1022"/>
          <p:cNvSpPr/>
          <p:nvPr/>
        </p:nvSpPr>
        <p:spPr>
          <a:xfrm>
            <a:off x="7779386" y="468920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4" name="Oval 1023"/>
          <p:cNvSpPr/>
          <p:nvPr/>
        </p:nvSpPr>
        <p:spPr>
          <a:xfrm>
            <a:off x="8500271" y="4683038"/>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5" name="TextBox 1024"/>
          <p:cNvSpPr txBox="1"/>
          <p:nvPr/>
        </p:nvSpPr>
        <p:spPr>
          <a:xfrm>
            <a:off x="10195560" y="437540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115 of 123</a:t>
            </a:r>
          </a:p>
          <a:p>
            <a:pPr algn="l">
              <a:lnSpc>
                <a:spcPct val="109000"/>
              </a:lnSpc>
              <a:spcBef>
                <a:spcPts val="0"/>
              </a:spcBef>
              <a:spcAft>
                <a:spcPts val="0"/>
              </a:spcAft>
            </a:pPr>
            <a:r>
              <a:rPr sz="1250" b="0">
                <a:solidFill>
                  <a:srgbClr val="00407A"/>
                </a:solidFill>
                <a:latin typeface="Arial"/>
              </a:rPr>
              <a:t>are “yes”</a:t>
            </a:r>
          </a:p>
        </p:txBody>
      </p:sp>
      <p:sp>
        <p:nvSpPr>
          <p:cNvPr id="1026" name="TextBox 1025"/>
          <p:cNvSpPr txBox="1"/>
          <p:nvPr/>
        </p:nvSpPr>
        <p:spPr>
          <a:xfrm>
            <a:off x="6391656" y="5029200"/>
            <a:ext cx="4800600" cy="219456"/>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4A5A66"/>
                </a:solidFill>
                <a:latin typeface="Arial"/>
              </a:rPr>
              <a:t>Yes probability of each design • dashed line: 0.5 threshold</a:t>
            </a:r>
          </a:p>
        </p:txBody>
      </p:sp>
      <p:sp>
        <p:nvSpPr>
          <p:cNvPr id="1027" name="Rounded Rectangle 1026"/>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8" name="TextBox 1027"/>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Only KEV-27B’s compile answers are right in both groups: 114 of 114 and 8 of 9.</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265176"/>
            <a:ext cx="10561320" cy="237744"/>
          </a:xfrm>
          <a:prstGeom prst="rect">
            <a:avLst/>
          </a:prstGeom>
          <a:noFill/>
        </p:spPr>
        <p:txBody>
          <a:bodyPr wrap="square" lIns="0" rIns="0" tIns="0" bIns="0" anchor="t">
            <a:noAutofit/>
          </a:bodyPr>
          <a:lstStyle/>
          <a:p>
            <a:pPr algn="l">
              <a:lnSpc>
                <a:spcPct val="109000"/>
              </a:lnSpc>
              <a:spcBef>
                <a:spcPts val="0"/>
              </a:spcBef>
              <a:spcAft>
                <a:spcPts val="0"/>
              </a:spcAft>
            </a:pPr>
            <a:r>
              <a:rPr sz="1250" b="1">
                <a:solidFill>
                  <a:srgbClr val="0B5A93"/>
                </a:solidFill>
                <a:latin typeface="Arial"/>
              </a:rPr>
              <a:t>EXPERIMENT 2  •  THREE SOLVED EXAMPLES PER QUESTION</a:t>
            </a:r>
          </a:p>
        </p:txBody>
      </p:sp>
      <p:sp>
        <p:nvSpPr>
          <p:cNvPr id="3" name="TextBox 2"/>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Yes probabilities of every design, with examples</a:t>
            </a:r>
          </a:p>
        </p:txBody>
      </p:sp>
      <p:sp>
        <p:nvSpPr>
          <p:cNvPr id="4" name="TextBox 3"/>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Each dot is one held-out design. A yes probability of 0.5 or more counts as “yes”.</a:t>
            </a:r>
          </a:p>
        </p:txBody>
      </p:sp>
      <p:sp>
        <p:nvSpPr>
          <p:cNvPr id="5" name="TextBox 4"/>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three examples per question  •  16 October 2026  |  APPENDIX</a:t>
            </a:r>
          </a:p>
        </p:txBody>
      </p:sp>
      <p:sp>
        <p:nvSpPr>
          <p:cNvPr id="6" name="TextBox 5"/>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46</a:t>
            </a:r>
          </a:p>
        </p:txBody>
      </p:sp>
      <p:sp>
        <p:nvSpPr>
          <p:cNvPr id="7" name="Rounded Rectangle 6"/>
          <p:cNvSpPr/>
          <p:nvPr/>
        </p:nvSpPr>
        <p:spPr>
          <a:xfrm>
            <a:off x="813816" y="1819656"/>
            <a:ext cx="5166360" cy="3730752"/>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14984" y="1984248"/>
            <a:ext cx="4764024" cy="502920"/>
          </a:xfrm>
          <a:prstGeom prst="rect">
            <a:avLst/>
          </a:prstGeom>
          <a:noFill/>
        </p:spPr>
        <p:txBody>
          <a:bodyPr wrap="square" lIns="0" rIns="0" tIns="0" bIns="0" anchor="t">
            <a:noAutofit/>
          </a:bodyPr>
          <a:lstStyle/>
          <a:p>
            <a:pPr algn="l">
              <a:lnSpc>
                <a:spcPct val="109000"/>
              </a:lnSpc>
              <a:spcBef>
                <a:spcPts val="0"/>
              </a:spcBef>
              <a:spcAft>
                <a:spcPts val="0"/>
              </a:spcAft>
            </a:pPr>
            <a:r>
              <a:rPr sz="1800" b="1">
                <a:solidFill>
                  <a:srgbClr val="00407A"/>
                </a:solidFill>
                <a:latin typeface="Arial"/>
              </a:rPr>
              <a:t>Does it synthesize?</a:t>
            </a:r>
          </a:p>
        </p:txBody>
      </p:sp>
      <p:sp>
        <p:nvSpPr>
          <p:cNvPr id="9" name="TextBox 8"/>
          <p:cNvSpPr txBox="1"/>
          <p:nvPr/>
        </p:nvSpPr>
        <p:spPr>
          <a:xfrm>
            <a:off x="1014984" y="2432304"/>
            <a:ext cx="4764024" cy="274320"/>
          </a:xfrm>
          <a:prstGeom prst="rect">
            <a:avLst/>
          </a:prstGeom>
          <a:noFill/>
        </p:spPr>
        <p:txBody>
          <a:bodyPr wrap="square" lIns="0" rIns="0" tIns="0" bIns="0">
            <a:noAutofit/>
          </a:bodyPr>
          <a:lstStyle/>
          <a:p>
            <a:r>
              <a:rPr sz="1250">
                <a:solidFill>
                  <a:srgbClr val="1D8DB0"/>
                </a:solidFill>
                <a:latin typeface="Arial"/>
              </a:rPr>
              <a:t>●</a:t>
            </a:r>
            <a:r>
              <a:rPr sz="1250">
                <a:solidFill>
                  <a:srgbClr val="4A5A66"/>
                </a:solidFill>
                <a:latin typeface="Arial"/>
              </a:rPr>
              <a:t> tool synthesizes: 99</a:t>
            </a:r>
            <a:r>
              <a:rPr sz="1250">
                <a:solidFill>
                  <a:srgbClr val="E97132"/>
                </a:solidFill>
                <a:latin typeface="Arial"/>
              </a:rPr>
              <a:t>      ●</a:t>
            </a:r>
            <a:r>
              <a:rPr sz="1250">
                <a:solidFill>
                  <a:srgbClr val="4A5A66"/>
                </a:solidFill>
                <a:latin typeface="Arial"/>
              </a:rPr>
              <a:t> tool fails: 24</a:t>
            </a:r>
          </a:p>
        </p:txBody>
      </p:sp>
      <p:cxnSp>
        <p:nvCxnSpPr>
          <p:cNvPr id="10" name="Connector 9"/>
          <p:cNvCxnSpPr/>
          <p:nvPr/>
        </p:nvCxnSpPr>
        <p:spPr>
          <a:xfrm>
            <a:off x="1664208" y="2825496"/>
            <a:ext cx="0" cy="194767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146304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a:t>
            </a:r>
          </a:p>
        </p:txBody>
      </p:sp>
      <p:cxnSp>
        <p:nvCxnSpPr>
          <p:cNvPr id="12" name="Connector 11"/>
          <p:cNvCxnSpPr/>
          <p:nvPr/>
        </p:nvCxnSpPr>
        <p:spPr>
          <a:xfrm>
            <a:off x="3172968" y="2825496"/>
            <a:ext cx="0" cy="1947672"/>
          </a:xfrm>
          <a:prstGeom prst="line">
            <a:avLst/>
          </a:prstGeom>
          <a:ln w="15240">
            <a:solidFill>
              <a:srgbClr val="4A5A66"/>
            </a:solidFill>
            <a:prstDash val="dash"/>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297180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0.5</a:t>
            </a:r>
          </a:p>
        </p:txBody>
      </p:sp>
      <p:cxnSp>
        <p:nvCxnSpPr>
          <p:cNvPr id="14" name="Connector 13"/>
          <p:cNvCxnSpPr/>
          <p:nvPr/>
        </p:nvCxnSpPr>
        <p:spPr>
          <a:xfrm>
            <a:off x="4681728" y="2825496"/>
            <a:ext cx="0" cy="194767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448056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1</a:t>
            </a:r>
          </a:p>
        </p:txBody>
      </p:sp>
      <p:sp>
        <p:nvSpPr>
          <p:cNvPr id="16" name="TextBox 15"/>
          <p:cNvSpPr txBox="1"/>
          <p:nvPr/>
        </p:nvSpPr>
        <p:spPr>
          <a:xfrm>
            <a:off x="996696" y="292150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0.8B</a:t>
            </a:r>
          </a:p>
        </p:txBody>
      </p:sp>
      <p:sp>
        <p:nvSpPr>
          <p:cNvPr id="17" name="Oval 16"/>
          <p:cNvSpPr/>
          <p:nvPr/>
        </p:nvSpPr>
        <p:spPr>
          <a:xfrm>
            <a:off x="2314721" y="290228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2336749" y="296961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2581771" y="291667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2482193" y="292829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2374769" y="288518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2683160" y="295580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2564571" y="295104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2773384" y="291412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2462881" y="289701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2341275" y="295645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2094744" y="289535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2603497" y="293679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2640311" y="291585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2308686" y="295841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2060646" y="291938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2149964" y="295389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2436327" y="292686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2371450" y="295361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2417316" y="289314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2201866" y="292446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2503316" y="288779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2140006" y="295034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2519610" y="293257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2413695" y="297889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2341275" y="296438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2181950" y="295648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2427878" y="290967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2222083" y="298028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2664753" y="297955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2086295" y="298362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2205487" y="291647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2396496" y="291314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2342180" y="292479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2264932" y="289384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2145136" y="295918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2081467" y="295876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val 52"/>
          <p:cNvSpPr/>
          <p:nvPr/>
        </p:nvSpPr>
        <p:spPr>
          <a:xfrm>
            <a:off x="2322868" y="295762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2308988" y="298199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2239283" y="298428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Oval 55"/>
          <p:cNvSpPr/>
          <p:nvPr/>
        </p:nvSpPr>
        <p:spPr>
          <a:xfrm>
            <a:off x="2558235" y="294453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val 56"/>
          <p:cNvSpPr/>
          <p:nvPr/>
        </p:nvSpPr>
        <p:spPr>
          <a:xfrm>
            <a:off x="2318040" y="293987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Oval 57"/>
          <p:cNvSpPr/>
          <p:nvPr/>
        </p:nvSpPr>
        <p:spPr>
          <a:xfrm>
            <a:off x="2749244" y="293895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val 58"/>
          <p:cNvSpPr/>
          <p:nvPr/>
        </p:nvSpPr>
        <p:spPr>
          <a:xfrm>
            <a:off x="2947193" y="291785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Oval 59"/>
          <p:cNvSpPr/>
          <p:nvPr/>
        </p:nvSpPr>
        <p:spPr>
          <a:xfrm>
            <a:off x="2271269" y="297078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Oval 60"/>
          <p:cNvSpPr/>
          <p:nvPr/>
        </p:nvSpPr>
        <p:spPr>
          <a:xfrm>
            <a:off x="2929390" y="296716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Oval 61"/>
          <p:cNvSpPr/>
          <p:nvPr/>
        </p:nvSpPr>
        <p:spPr>
          <a:xfrm>
            <a:off x="2441457" y="289980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Oval 62"/>
          <p:cNvSpPr/>
          <p:nvPr/>
        </p:nvSpPr>
        <p:spPr>
          <a:xfrm>
            <a:off x="2749847" y="288705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Oval 63"/>
          <p:cNvSpPr/>
          <p:nvPr/>
        </p:nvSpPr>
        <p:spPr>
          <a:xfrm>
            <a:off x="2982196" y="292498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Oval 64"/>
          <p:cNvSpPr/>
          <p:nvPr/>
        </p:nvSpPr>
        <p:spPr>
          <a:xfrm>
            <a:off x="2808085" y="290628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Oval 65"/>
          <p:cNvSpPr/>
          <p:nvPr/>
        </p:nvSpPr>
        <p:spPr>
          <a:xfrm>
            <a:off x="2719672" y="289454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Oval 66"/>
          <p:cNvSpPr/>
          <p:nvPr/>
        </p:nvSpPr>
        <p:spPr>
          <a:xfrm>
            <a:off x="2634276" y="295170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Oval 67"/>
          <p:cNvSpPr/>
          <p:nvPr/>
        </p:nvSpPr>
        <p:spPr>
          <a:xfrm>
            <a:off x="2567589" y="293663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Oval 68"/>
          <p:cNvSpPr/>
          <p:nvPr/>
        </p:nvSpPr>
        <p:spPr>
          <a:xfrm>
            <a:off x="2474046" y="295282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Oval 69"/>
          <p:cNvSpPr/>
          <p:nvPr/>
        </p:nvSpPr>
        <p:spPr>
          <a:xfrm>
            <a:off x="2474951" y="295565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Oval 70"/>
          <p:cNvSpPr/>
          <p:nvPr/>
        </p:nvSpPr>
        <p:spPr>
          <a:xfrm>
            <a:off x="2477667" y="296171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Oval 71"/>
          <p:cNvSpPr/>
          <p:nvPr/>
        </p:nvSpPr>
        <p:spPr>
          <a:xfrm>
            <a:off x="2864513" y="292242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Oval 72"/>
          <p:cNvSpPr/>
          <p:nvPr/>
        </p:nvSpPr>
        <p:spPr>
          <a:xfrm>
            <a:off x="2423352" y="293860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Oval 73"/>
          <p:cNvSpPr/>
          <p:nvPr/>
        </p:nvSpPr>
        <p:spPr>
          <a:xfrm>
            <a:off x="2571814" y="296817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Oval 74"/>
          <p:cNvSpPr/>
          <p:nvPr/>
        </p:nvSpPr>
        <p:spPr>
          <a:xfrm>
            <a:off x="2294805" y="290454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Oval 75"/>
          <p:cNvSpPr/>
          <p:nvPr/>
        </p:nvSpPr>
        <p:spPr>
          <a:xfrm>
            <a:off x="2378692" y="298184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Oval 76"/>
          <p:cNvSpPr/>
          <p:nvPr/>
        </p:nvSpPr>
        <p:spPr>
          <a:xfrm>
            <a:off x="2459864" y="293759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Oval 77"/>
          <p:cNvSpPr/>
          <p:nvPr/>
        </p:nvSpPr>
        <p:spPr>
          <a:xfrm>
            <a:off x="2195529" y="297280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Oval 78"/>
          <p:cNvSpPr/>
          <p:nvPr/>
        </p:nvSpPr>
        <p:spPr>
          <a:xfrm>
            <a:off x="2757089" y="292989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Oval 79"/>
          <p:cNvSpPr/>
          <p:nvPr/>
        </p:nvSpPr>
        <p:spPr>
          <a:xfrm>
            <a:off x="3119795" y="297608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Oval 80"/>
          <p:cNvSpPr/>
          <p:nvPr/>
        </p:nvSpPr>
        <p:spPr>
          <a:xfrm>
            <a:off x="2796921" y="291416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Oval 81"/>
          <p:cNvSpPr/>
          <p:nvPr/>
        </p:nvSpPr>
        <p:spPr>
          <a:xfrm>
            <a:off x="3092336" y="295231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Oval 82"/>
          <p:cNvSpPr/>
          <p:nvPr/>
        </p:nvSpPr>
        <p:spPr>
          <a:xfrm>
            <a:off x="2949607" y="298338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Oval 83"/>
          <p:cNvSpPr/>
          <p:nvPr/>
        </p:nvSpPr>
        <p:spPr>
          <a:xfrm>
            <a:off x="2711826" y="292962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Oval 84"/>
          <p:cNvSpPr/>
          <p:nvPr/>
        </p:nvSpPr>
        <p:spPr>
          <a:xfrm>
            <a:off x="2614361" y="289626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Oval 85"/>
          <p:cNvSpPr/>
          <p:nvPr/>
        </p:nvSpPr>
        <p:spPr>
          <a:xfrm>
            <a:off x="2783643" y="295293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Oval 86"/>
          <p:cNvSpPr/>
          <p:nvPr/>
        </p:nvSpPr>
        <p:spPr>
          <a:xfrm>
            <a:off x="2607420" y="298498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Oval 87"/>
          <p:cNvSpPr/>
          <p:nvPr/>
        </p:nvSpPr>
        <p:spPr>
          <a:xfrm>
            <a:off x="2610136" y="294258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Oval 88"/>
          <p:cNvSpPr/>
          <p:nvPr/>
        </p:nvSpPr>
        <p:spPr>
          <a:xfrm>
            <a:off x="2801749" y="297102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Oval 89"/>
          <p:cNvSpPr/>
          <p:nvPr/>
        </p:nvSpPr>
        <p:spPr>
          <a:xfrm>
            <a:off x="2712430" y="295985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Oval 90"/>
          <p:cNvSpPr/>
          <p:nvPr/>
        </p:nvSpPr>
        <p:spPr>
          <a:xfrm>
            <a:off x="2821664" y="291808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Oval 91"/>
          <p:cNvSpPr/>
          <p:nvPr/>
        </p:nvSpPr>
        <p:spPr>
          <a:xfrm>
            <a:off x="2835847" y="291924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Oval 92"/>
          <p:cNvSpPr/>
          <p:nvPr/>
        </p:nvSpPr>
        <p:spPr>
          <a:xfrm>
            <a:off x="2886541" y="288582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Oval 93"/>
          <p:cNvSpPr/>
          <p:nvPr/>
        </p:nvSpPr>
        <p:spPr>
          <a:xfrm>
            <a:off x="2647252" y="288776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Oval 94"/>
          <p:cNvSpPr/>
          <p:nvPr/>
        </p:nvSpPr>
        <p:spPr>
          <a:xfrm>
            <a:off x="2212729" y="291339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Oval 95"/>
          <p:cNvSpPr/>
          <p:nvPr/>
        </p:nvSpPr>
        <p:spPr>
          <a:xfrm>
            <a:off x="2881411" y="294226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Oval 96"/>
          <p:cNvSpPr/>
          <p:nvPr/>
        </p:nvSpPr>
        <p:spPr>
          <a:xfrm>
            <a:off x="2689799" y="296014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Oval 97"/>
          <p:cNvSpPr/>
          <p:nvPr/>
        </p:nvSpPr>
        <p:spPr>
          <a:xfrm>
            <a:off x="2427274" y="289667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Oval 98"/>
          <p:cNvSpPr/>
          <p:nvPr/>
        </p:nvSpPr>
        <p:spPr>
          <a:xfrm>
            <a:off x="2530172" y="289216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Oval 99"/>
          <p:cNvSpPr/>
          <p:nvPr/>
        </p:nvSpPr>
        <p:spPr>
          <a:xfrm>
            <a:off x="2537716" y="290421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Oval 100"/>
          <p:cNvSpPr/>
          <p:nvPr/>
        </p:nvSpPr>
        <p:spPr>
          <a:xfrm>
            <a:off x="2574228" y="294284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Oval 101"/>
          <p:cNvSpPr/>
          <p:nvPr/>
        </p:nvSpPr>
        <p:spPr>
          <a:xfrm>
            <a:off x="2539828" y="296476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Oval 102"/>
          <p:cNvSpPr/>
          <p:nvPr/>
        </p:nvSpPr>
        <p:spPr>
          <a:xfrm>
            <a:off x="3023536" y="291391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Oval 103"/>
          <p:cNvSpPr/>
          <p:nvPr/>
        </p:nvSpPr>
        <p:spPr>
          <a:xfrm>
            <a:off x="2637897" y="292980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Oval 104"/>
          <p:cNvSpPr/>
          <p:nvPr/>
        </p:nvSpPr>
        <p:spPr>
          <a:xfrm>
            <a:off x="3028968" y="296411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Oval 105"/>
          <p:cNvSpPr/>
          <p:nvPr/>
        </p:nvSpPr>
        <p:spPr>
          <a:xfrm>
            <a:off x="2921846" y="296877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Oval 106"/>
          <p:cNvSpPr/>
          <p:nvPr/>
        </p:nvSpPr>
        <p:spPr>
          <a:xfrm>
            <a:off x="2586901" y="296517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Oval 107"/>
          <p:cNvSpPr/>
          <p:nvPr/>
        </p:nvSpPr>
        <p:spPr>
          <a:xfrm>
            <a:off x="2628543" y="289472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Oval 108"/>
          <p:cNvSpPr/>
          <p:nvPr/>
        </p:nvSpPr>
        <p:spPr>
          <a:xfrm>
            <a:off x="2166561" y="294343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Oval 109"/>
          <p:cNvSpPr/>
          <p:nvPr/>
        </p:nvSpPr>
        <p:spPr>
          <a:xfrm>
            <a:off x="2733251" y="295808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Oval 110"/>
          <p:cNvSpPr/>
          <p:nvPr/>
        </p:nvSpPr>
        <p:spPr>
          <a:xfrm>
            <a:off x="2700360" y="292982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Oval 111"/>
          <p:cNvSpPr/>
          <p:nvPr/>
        </p:nvSpPr>
        <p:spPr>
          <a:xfrm>
            <a:off x="2714542" y="297534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Oval 112"/>
          <p:cNvSpPr/>
          <p:nvPr/>
        </p:nvSpPr>
        <p:spPr>
          <a:xfrm>
            <a:off x="2350931" y="297079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Oval 113"/>
          <p:cNvSpPr/>
          <p:nvPr/>
        </p:nvSpPr>
        <p:spPr>
          <a:xfrm>
            <a:off x="2449302" y="298026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Oval 114"/>
          <p:cNvSpPr/>
          <p:nvPr/>
        </p:nvSpPr>
        <p:spPr>
          <a:xfrm>
            <a:off x="2497583" y="290407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Oval 115"/>
          <p:cNvSpPr/>
          <p:nvPr/>
        </p:nvSpPr>
        <p:spPr>
          <a:xfrm>
            <a:off x="2722388" y="3152555"/>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Oval 116"/>
          <p:cNvSpPr/>
          <p:nvPr/>
        </p:nvSpPr>
        <p:spPr>
          <a:xfrm>
            <a:off x="2478572" y="3136646"/>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Oval 117"/>
          <p:cNvSpPr/>
          <p:nvPr/>
        </p:nvSpPr>
        <p:spPr>
          <a:xfrm>
            <a:off x="2371752" y="3152657"/>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Oval 118"/>
          <p:cNvSpPr/>
          <p:nvPr/>
        </p:nvSpPr>
        <p:spPr>
          <a:xfrm>
            <a:off x="2155396" y="3090643"/>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Oval 119"/>
          <p:cNvSpPr/>
          <p:nvPr/>
        </p:nvSpPr>
        <p:spPr>
          <a:xfrm>
            <a:off x="2796619" y="3184056"/>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Oval 120"/>
          <p:cNvSpPr/>
          <p:nvPr/>
        </p:nvSpPr>
        <p:spPr>
          <a:xfrm>
            <a:off x="2433611" y="3112790"/>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Oval 121"/>
          <p:cNvSpPr/>
          <p:nvPr/>
        </p:nvSpPr>
        <p:spPr>
          <a:xfrm>
            <a:off x="2324980" y="3153226"/>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Oval 122"/>
          <p:cNvSpPr/>
          <p:nvPr/>
        </p:nvSpPr>
        <p:spPr>
          <a:xfrm>
            <a:off x="2316531" y="309476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Oval 123"/>
          <p:cNvSpPr/>
          <p:nvPr/>
        </p:nvSpPr>
        <p:spPr>
          <a:xfrm>
            <a:off x="2623715" y="3115627"/>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Oval 124"/>
          <p:cNvSpPr/>
          <p:nvPr/>
        </p:nvSpPr>
        <p:spPr>
          <a:xfrm>
            <a:off x="2200357" y="3109123"/>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Oval 125"/>
          <p:cNvSpPr/>
          <p:nvPr/>
        </p:nvSpPr>
        <p:spPr>
          <a:xfrm>
            <a:off x="2206392" y="3121853"/>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Oval 126"/>
          <p:cNvSpPr/>
          <p:nvPr/>
        </p:nvSpPr>
        <p:spPr>
          <a:xfrm>
            <a:off x="2866625" y="3174533"/>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Oval 127"/>
          <p:cNvSpPr/>
          <p:nvPr/>
        </p:nvSpPr>
        <p:spPr>
          <a:xfrm>
            <a:off x="2236265" y="3162851"/>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Oval 128"/>
          <p:cNvSpPr/>
          <p:nvPr/>
        </p:nvSpPr>
        <p:spPr>
          <a:xfrm>
            <a:off x="2718465" y="3129648"/>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Oval 129"/>
          <p:cNvSpPr/>
          <p:nvPr/>
        </p:nvSpPr>
        <p:spPr>
          <a:xfrm>
            <a:off x="2297521" y="310964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Oval 130"/>
          <p:cNvSpPr/>
          <p:nvPr/>
        </p:nvSpPr>
        <p:spPr>
          <a:xfrm>
            <a:off x="2400117" y="3176570"/>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Oval 131"/>
          <p:cNvSpPr/>
          <p:nvPr/>
        </p:nvSpPr>
        <p:spPr>
          <a:xfrm>
            <a:off x="2569399" y="3169272"/>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Oval 132"/>
          <p:cNvSpPr/>
          <p:nvPr/>
        </p:nvSpPr>
        <p:spPr>
          <a:xfrm>
            <a:off x="2991852" y="3126717"/>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Oval 133"/>
          <p:cNvSpPr/>
          <p:nvPr/>
        </p:nvSpPr>
        <p:spPr>
          <a:xfrm>
            <a:off x="2732647" y="3184903"/>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Oval 134"/>
          <p:cNvSpPr/>
          <p:nvPr/>
        </p:nvSpPr>
        <p:spPr>
          <a:xfrm>
            <a:off x="2327696" y="3164662"/>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Oval 135"/>
          <p:cNvSpPr/>
          <p:nvPr/>
        </p:nvSpPr>
        <p:spPr>
          <a:xfrm>
            <a:off x="2399815" y="3171042"/>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Oval 136"/>
          <p:cNvSpPr/>
          <p:nvPr/>
        </p:nvSpPr>
        <p:spPr>
          <a:xfrm>
            <a:off x="2573322" y="3131902"/>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Oval 137"/>
          <p:cNvSpPr/>
          <p:nvPr/>
        </p:nvSpPr>
        <p:spPr>
          <a:xfrm>
            <a:off x="2595048" y="3108207"/>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Oval 138"/>
          <p:cNvSpPr/>
          <p:nvPr/>
        </p:nvSpPr>
        <p:spPr>
          <a:xfrm>
            <a:off x="2087502" y="3096997"/>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TextBox 139"/>
          <p:cNvSpPr txBox="1"/>
          <p:nvPr/>
        </p:nvSpPr>
        <p:spPr>
          <a:xfrm>
            <a:off x="4800600" y="286664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0 of 123</a:t>
            </a:r>
          </a:p>
          <a:p>
            <a:pPr algn="l">
              <a:lnSpc>
                <a:spcPct val="109000"/>
              </a:lnSpc>
              <a:spcBef>
                <a:spcPts val="0"/>
              </a:spcBef>
              <a:spcAft>
                <a:spcPts val="0"/>
              </a:spcAft>
            </a:pPr>
            <a:r>
              <a:rPr sz="1250" b="0">
                <a:solidFill>
                  <a:srgbClr val="00407A"/>
                </a:solidFill>
                <a:latin typeface="Arial"/>
              </a:rPr>
              <a:t>are “yes”</a:t>
            </a:r>
          </a:p>
        </p:txBody>
      </p:sp>
      <p:sp>
        <p:nvSpPr>
          <p:cNvPr id="141" name="TextBox 140"/>
          <p:cNvSpPr txBox="1"/>
          <p:nvPr/>
        </p:nvSpPr>
        <p:spPr>
          <a:xfrm>
            <a:off x="996696" y="3424427"/>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4B</a:t>
            </a:r>
          </a:p>
        </p:txBody>
      </p:sp>
      <p:sp>
        <p:nvSpPr>
          <p:cNvPr id="142" name="Oval 141"/>
          <p:cNvSpPr/>
          <p:nvPr/>
        </p:nvSpPr>
        <p:spPr>
          <a:xfrm>
            <a:off x="4365729" y="340520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Oval 142"/>
          <p:cNvSpPr/>
          <p:nvPr/>
        </p:nvSpPr>
        <p:spPr>
          <a:xfrm>
            <a:off x="4068503" y="347253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Oval 143"/>
          <p:cNvSpPr/>
          <p:nvPr/>
        </p:nvSpPr>
        <p:spPr>
          <a:xfrm>
            <a:off x="4357582" y="341959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Oval 144"/>
          <p:cNvSpPr/>
          <p:nvPr/>
        </p:nvSpPr>
        <p:spPr>
          <a:xfrm>
            <a:off x="2138498" y="343121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Oval 145"/>
          <p:cNvSpPr/>
          <p:nvPr/>
        </p:nvSpPr>
        <p:spPr>
          <a:xfrm>
            <a:off x="3985522" y="338810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Oval 146"/>
          <p:cNvSpPr/>
          <p:nvPr/>
        </p:nvSpPr>
        <p:spPr>
          <a:xfrm>
            <a:off x="4281842" y="345872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Oval 147"/>
          <p:cNvSpPr/>
          <p:nvPr/>
        </p:nvSpPr>
        <p:spPr>
          <a:xfrm>
            <a:off x="4175022" y="345396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Oval 148"/>
          <p:cNvSpPr/>
          <p:nvPr/>
        </p:nvSpPr>
        <p:spPr>
          <a:xfrm>
            <a:off x="4265246" y="341704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Oval 149"/>
          <p:cNvSpPr/>
          <p:nvPr/>
        </p:nvSpPr>
        <p:spPr>
          <a:xfrm>
            <a:off x="3718773" y="339993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Oval 150"/>
          <p:cNvSpPr/>
          <p:nvPr/>
        </p:nvSpPr>
        <p:spPr>
          <a:xfrm>
            <a:off x="4189808" y="345937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Oval 151"/>
          <p:cNvSpPr/>
          <p:nvPr/>
        </p:nvSpPr>
        <p:spPr>
          <a:xfrm>
            <a:off x="3985522" y="339827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Oval 152"/>
          <p:cNvSpPr/>
          <p:nvPr/>
        </p:nvSpPr>
        <p:spPr>
          <a:xfrm>
            <a:off x="3854863" y="343971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Oval 153"/>
          <p:cNvSpPr/>
          <p:nvPr/>
        </p:nvSpPr>
        <p:spPr>
          <a:xfrm>
            <a:off x="3297527" y="341877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Oval 154"/>
          <p:cNvSpPr/>
          <p:nvPr/>
        </p:nvSpPr>
        <p:spPr>
          <a:xfrm>
            <a:off x="4099584" y="346133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Oval 155"/>
          <p:cNvSpPr/>
          <p:nvPr/>
        </p:nvSpPr>
        <p:spPr>
          <a:xfrm>
            <a:off x="3971038" y="342230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Oval 156"/>
          <p:cNvSpPr/>
          <p:nvPr/>
        </p:nvSpPr>
        <p:spPr>
          <a:xfrm>
            <a:off x="3735369" y="345681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Oval 157"/>
          <p:cNvSpPr/>
          <p:nvPr/>
        </p:nvSpPr>
        <p:spPr>
          <a:xfrm>
            <a:off x="3657517" y="342978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Oval 158"/>
          <p:cNvSpPr/>
          <p:nvPr/>
        </p:nvSpPr>
        <p:spPr>
          <a:xfrm>
            <a:off x="4050097" y="345653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Oval 159"/>
          <p:cNvSpPr/>
          <p:nvPr/>
        </p:nvSpPr>
        <p:spPr>
          <a:xfrm>
            <a:off x="3908273" y="339606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Oval 160"/>
          <p:cNvSpPr/>
          <p:nvPr/>
        </p:nvSpPr>
        <p:spPr>
          <a:xfrm>
            <a:off x="4046476" y="342738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Oval 161"/>
          <p:cNvSpPr/>
          <p:nvPr/>
        </p:nvSpPr>
        <p:spPr>
          <a:xfrm>
            <a:off x="3437540" y="339071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Oval 162"/>
          <p:cNvSpPr/>
          <p:nvPr/>
        </p:nvSpPr>
        <p:spPr>
          <a:xfrm>
            <a:off x="3875986" y="345326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Oval 163"/>
          <p:cNvSpPr/>
          <p:nvPr/>
        </p:nvSpPr>
        <p:spPr>
          <a:xfrm>
            <a:off x="4112861" y="343549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Oval 164"/>
          <p:cNvSpPr/>
          <p:nvPr/>
        </p:nvSpPr>
        <p:spPr>
          <a:xfrm>
            <a:off x="4105317" y="348181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Oval 165"/>
          <p:cNvSpPr/>
          <p:nvPr/>
        </p:nvSpPr>
        <p:spPr>
          <a:xfrm>
            <a:off x="3797832" y="346730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Oval 166"/>
          <p:cNvSpPr/>
          <p:nvPr/>
        </p:nvSpPr>
        <p:spPr>
          <a:xfrm>
            <a:off x="3934224" y="345940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Oval 167"/>
          <p:cNvSpPr/>
          <p:nvPr/>
        </p:nvSpPr>
        <p:spPr>
          <a:xfrm>
            <a:off x="3933319" y="341259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Oval 168"/>
          <p:cNvSpPr/>
          <p:nvPr/>
        </p:nvSpPr>
        <p:spPr>
          <a:xfrm>
            <a:off x="3806583" y="348320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Oval 169"/>
          <p:cNvSpPr/>
          <p:nvPr/>
        </p:nvSpPr>
        <p:spPr>
          <a:xfrm>
            <a:off x="4088419" y="348247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 name="Oval 170"/>
          <p:cNvSpPr/>
          <p:nvPr/>
        </p:nvSpPr>
        <p:spPr>
          <a:xfrm>
            <a:off x="4113464" y="348654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 name="Oval 171"/>
          <p:cNvSpPr/>
          <p:nvPr/>
        </p:nvSpPr>
        <p:spPr>
          <a:xfrm>
            <a:off x="3771579" y="341939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Oval 172"/>
          <p:cNvSpPr/>
          <p:nvPr/>
        </p:nvSpPr>
        <p:spPr>
          <a:xfrm>
            <a:off x="4316845" y="341606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 name="Oval 173"/>
          <p:cNvSpPr/>
          <p:nvPr/>
        </p:nvSpPr>
        <p:spPr>
          <a:xfrm>
            <a:off x="3877193" y="342771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 name="Oval 174"/>
          <p:cNvSpPr/>
          <p:nvPr/>
        </p:nvSpPr>
        <p:spPr>
          <a:xfrm>
            <a:off x="3874477" y="339676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 name="Oval 175"/>
          <p:cNvSpPr/>
          <p:nvPr/>
        </p:nvSpPr>
        <p:spPr>
          <a:xfrm>
            <a:off x="3932112" y="346210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 name="Oval 176"/>
          <p:cNvSpPr/>
          <p:nvPr/>
        </p:nvSpPr>
        <p:spPr>
          <a:xfrm>
            <a:off x="3675321" y="346168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 name="Oval 177"/>
          <p:cNvSpPr/>
          <p:nvPr/>
        </p:nvSpPr>
        <p:spPr>
          <a:xfrm>
            <a:off x="3958666" y="346054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 name="Oval 178"/>
          <p:cNvSpPr/>
          <p:nvPr/>
        </p:nvSpPr>
        <p:spPr>
          <a:xfrm>
            <a:off x="3843698" y="348491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 name="Oval 179"/>
          <p:cNvSpPr/>
          <p:nvPr/>
        </p:nvSpPr>
        <p:spPr>
          <a:xfrm>
            <a:off x="3842491" y="348720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 name="Oval 180"/>
          <p:cNvSpPr/>
          <p:nvPr/>
        </p:nvSpPr>
        <p:spPr>
          <a:xfrm>
            <a:off x="4022034" y="344745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Oval 181"/>
          <p:cNvSpPr/>
          <p:nvPr/>
        </p:nvSpPr>
        <p:spPr>
          <a:xfrm>
            <a:off x="4176531" y="344279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 name="Oval 182"/>
          <p:cNvSpPr/>
          <p:nvPr/>
        </p:nvSpPr>
        <p:spPr>
          <a:xfrm>
            <a:off x="4354866" y="344187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 name="Oval 183"/>
          <p:cNvSpPr/>
          <p:nvPr/>
        </p:nvSpPr>
        <p:spPr>
          <a:xfrm>
            <a:off x="4067900" y="342077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 name="Oval 184"/>
          <p:cNvSpPr/>
          <p:nvPr/>
        </p:nvSpPr>
        <p:spPr>
          <a:xfrm>
            <a:off x="4201878" y="347370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 name="Oval 185"/>
          <p:cNvSpPr/>
          <p:nvPr/>
        </p:nvSpPr>
        <p:spPr>
          <a:xfrm>
            <a:off x="4229035" y="347008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 name="Oval 186"/>
          <p:cNvSpPr/>
          <p:nvPr/>
        </p:nvSpPr>
        <p:spPr>
          <a:xfrm>
            <a:off x="4196446" y="340272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 name="Oval 187"/>
          <p:cNvSpPr/>
          <p:nvPr/>
        </p:nvSpPr>
        <p:spPr>
          <a:xfrm>
            <a:off x="4214250" y="338997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 name="Oval 188"/>
          <p:cNvSpPr/>
          <p:nvPr/>
        </p:nvSpPr>
        <p:spPr>
          <a:xfrm>
            <a:off x="3988841" y="342790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 name="Oval 189"/>
          <p:cNvSpPr/>
          <p:nvPr/>
        </p:nvSpPr>
        <p:spPr>
          <a:xfrm>
            <a:off x="4177738" y="340920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 name="Oval 190"/>
          <p:cNvSpPr/>
          <p:nvPr/>
        </p:nvSpPr>
        <p:spPr>
          <a:xfrm>
            <a:off x="4254986" y="339746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 name="Oval 191"/>
          <p:cNvSpPr/>
          <p:nvPr/>
        </p:nvSpPr>
        <p:spPr>
          <a:xfrm>
            <a:off x="3599581" y="345462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 name="Oval 192"/>
          <p:cNvSpPr/>
          <p:nvPr/>
        </p:nvSpPr>
        <p:spPr>
          <a:xfrm>
            <a:off x="4204895" y="343955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 name="Oval 193"/>
          <p:cNvSpPr/>
          <p:nvPr/>
        </p:nvSpPr>
        <p:spPr>
          <a:xfrm>
            <a:off x="4240200" y="345574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 name="Oval 194"/>
          <p:cNvSpPr/>
          <p:nvPr/>
        </p:nvSpPr>
        <p:spPr>
          <a:xfrm>
            <a:off x="4020223" y="345857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 name="Oval 195"/>
          <p:cNvSpPr/>
          <p:nvPr/>
        </p:nvSpPr>
        <p:spPr>
          <a:xfrm>
            <a:off x="4218474" y="346463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 name="Oval 196"/>
          <p:cNvSpPr/>
          <p:nvPr/>
        </p:nvSpPr>
        <p:spPr>
          <a:xfrm>
            <a:off x="4373575" y="342534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 name="Oval 197"/>
          <p:cNvSpPr/>
          <p:nvPr/>
        </p:nvSpPr>
        <p:spPr>
          <a:xfrm>
            <a:off x="4309603" y="344152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 name="Oval 198"/>
          <p:cNvSpPr/>
          <p:nvPr/>
        </p:nvSpPr>
        <p:spPr>
          <a:xfrm>
            <a:off x="4281540" y="347109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 name="Oval 199"/>
          <p:cNvSpPr/>
          <p:nvPr/>
        </p:nvSpPr>
        <p:spPr>
          <a:xfrm>
            <a:off x="4156917" y="340746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 name="Oval 200"/>
          <p:cNvSpPr/>
          <p:nvPr/>
        </p:nvSpPr>
        <p:spPr>
          <a:xfrm>
            <a:off x="4295421" y="348476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 name="Oval 201"/>
          <p:cNvSpPr/>
          <p:nvPr/>
        </p:nvSpPr>
        <p:spPr>
          <a:xfrm>
            <a:off x="4183169" y="344051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 name="Oval 202"/>
          <p:cNvSpPr/>
          <p:nvPr/>
        </p:nvSpPr>
        <p:spPr>
          <a:xfrm>
            <a:off x="4165064" y="347572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 name="Oval 203"/>
          <p:cNvSpPr/>
          <p:nvPr/>
        </p:nvSpPr>
        <p:spPr>
          <a:xfrm>
            <a:off x="4298137" y="343281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 name="Oval 204"/>
          <p:cNvSpPr/>
          <p:nvPr/>
        </p:nvSpPr>
        <p:spPr>
          <a:xfrm>
            <a:off x="4387757" y="347900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 name="Oval 205"/>
          <p:cNvSpPr/>
          <p:nvPr/>
        </p:nvSpPr>
        <p:spPr>
          <a:xfrm>
            <a:off x="4210025" y="341708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 name="Oval 206"/>
          <p:cNvSpPr/>
          <p:nvPr/>
        </p:nvSpPr>
        <p:spPr>
          <a:xfrm>
            <a:off x="4302965" y="345523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 name="Oval 207"/>
          <p:cNvSpPr/>
          <p:nvPr/>
        </p:nvSpPr>
        <p:spPr>
          <a:xfrm>
            <a:off x="4305379" y="348630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 name="Oval 208"/>
          <p:cNvSpPr/>
          <p:nvPr/>
        </p:nvSpPr>
        <p:spPr>
          <a:xfrm>
            <a:off x="4208818" y="343254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 name="Oval 209"/>
          <p:cNvSpPr/>
          <p:nvPr/>
        </p:nvSpPr>
        <p:spPr>
          <a:xfrm>
            <a:off x="4125836" y="339918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 name="Oval 210"/>
          <p:cNvSpPr/>
          <p:nvPr/>
        </p:nvSpPr>
        <p:spPr>
          <a:xfrm>
            <a:off x="4046777" y="345585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 name="Oval 211"/>
          <p:cNvSpPr/>
          <p:nvPr/>
        </p:nvSpPr>
        <p:spPr>
          <a:xfrm>
            <a:off x="4173815" y="348790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 name="Oval 212"/>
          <p:cNvSpPr/>
          <p:nvPr/>
        </p:nvSpPr>
        <p:spPr>
          <a:xfrm>
            <a:off x="4218776" y="344550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 name="Oval 213"/>
          <p:cNvSpPr/>
          <p:nvPr/>
        </p:nvSpPr>
        <p:spPr>
          <a:xfrm>
            <a:off x="4262228" y="347394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 name="Oval 214"/>
          <p:cNvSpPr/>
          <p:nvPr/>
        </p:nvSpPr>
        <p:spPr>
          <a:xfrm>
            <a:off x="4280635" y="346277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 name="Oval 215"/>
          <p:cNvSpPr/>
          <p:nvPr/>
        </p:nvSpPr>
        <p:spPr>
          <a:xfrm>
            <a:off x="4009360" y="342100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 name="Oval 216"/>
          <p:cNvSpPr/>
          <p:nvPr/>
        </p:nvSpPr>
        <p:spPr>
          <a:xfrm>
            <a:off x="3784555" y="342216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 name="Oval 217"/>
          <p:cNvSpPr/>
          <p:nvPr/>
        </p:nvSpPr>
        <p:spPr>
          <a:xfrm>
            <a:off x="4240502" y="338874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 name="Oval 218"/>
          <p:cNvSpPr/>
          <p:nvPr/>
        </p:nvSpPr>
        <p:spPr>
          <a:xfrm>
            <a:off x="3691615" y="339068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 name="Oval 219"/>
          <p:cNvSpPr/>
          <p:nvPr/>
        </p:nvSpPr>
        <p:spPr>
          <a:xfrm>
            <a:off x="3850035" y="341631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 name="Oval 220"/>
          <p:cNvSpPr/>
          <p:nvPr/>
        </p:nvSpPr>
        <p:spPr>
          <a:xfrm>
            <a:off x="4144545" y="344518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 name="Oval 221"/>
          <p:cNvSpPr/>
          <p:nvPr/>
        </p:nvSpPr>
        <p:spPr>
          <a:xfrm>
            <a:off x="4154805" y="346306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 name="Oval 222"/>
          <p:cNvSpPr/>
          <p:nvPr/>
        </p:nvSpPr>
        <p:spPr>
          <a:xfrm>
            <a:off x="4153899" y="339959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 name="Oval 223"/>
          <p:cNvSpPr/>
          <p:nvPr/>
        </p:nvSpPr>
        <p:spPr>
          <a:xfrm>
            <a:off x="3968322" y="339508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 name="Oval 224"/>
          <p:cNvSpPr/>
          <p:nvPr/>
        </p:nvSpPr>
        <p:spPr>
          <a:xfrm>
            <a:off x="4103205" y="340713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 name="Oval 225"/>
          <p:cNvSpPr/>
          <p:nvPr/>
        </p:nvSpPr>
        <p:spPr>
          <a:xfrm>
            <a:off x="3796625" y="344576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 name="Oval 226"/>
          <p:cNvSpPr/>
          <p:nvPr/>
        </p:nvSpPr>
        <p:spPr>
          <a:xfrm>
            <a:off x="4349736" y="346768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 name="Oval 227"/>
          <p:cNvSpPr/>
          <p:nvPr/>
        </p:nvSpPr>
        <p:spPr>
          <a:xfrm>
            <a:off x="4394094" y="341683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 name="Oval 228"/>
          <p:cNvSpPr/>
          <p:nvPr/>
        </p:nvSpPr>
        <p:spPr>
          <a:xfrm>
            <a:off x="4175324" y="343272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 name="Oval 229"/>
          <p:cNvSpPr/>
          <p:nvPr/>
        </p:nvSpPr>
        <p:spPr>
          <a:xfrm>
            <a:off x="4349435" y="346703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 name="Oval 230"/>
          <p:cNvSpPr/>
          <p:nvPr/>
        </p:nvSpPr>
        <p:spPr>
          <a:xfrm>
            <a:off x="4324389" y="347169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 name="Oval 231"/>
          <p:cNvSpPr/>
          <p:nvPr/>
        </p:nvSpPr>
        <p:spPr>
          <a:xfrm>
            <a:off x="4068503" y="346809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 name="Oval 232"/>
          <p:cNvSpPr/>
          <p:nvPr/>
        </p:nvSpPr>
        <p:spPr>
          <a:xfrm>
            <a:off x="4009964" y="339764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 name="Oval 233"/>
          <p:cNvSpPr/>
          <p:nvPr/>
        </p:nvSpPr>
        <p:spPr>
          <a:xfrm>
            <a:off x="4307491" y="344635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 name="Oval 234"/>
          <p:cNvSpPr/>
          <p:nvPr/>
        </p:nvSpPr>
        <p:spPr>
          <a:xfrm>
            <a:off x="4310810" y="346100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 name="Oval 235"/>
          <p:cNvSpPr/>
          <p:nvPr/>
        </p:nvSpPr>
        <p:spPr>
          <a:xfrm>
            <a:off x="4211232" y="343274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 name="Oval 236"/>
          <p:cNvSpPr/>
          <p:nvPr/>
        </p:nvSpPr>
        <p:spPr>
          <a:xfrm>
            <a:off x="4204895" y="347826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 name="Oval 237"/>
          <p:cNvSpPr/>
          <p:nvPr/>
        </p:nvSpPr>
        <p:spPr>
          <a:xfrm>
            <a:off x="4165064" y="347371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 name="Oval 238"/>
          <p:cNvSpPr/>
          <p:nvPr/>
        </p:nvSpPr>
        <p:spPr>
          <a:xfrm>
            <a:off x="4242313" y="348318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 name="Oval 239"/>
          <p:cNvSpPr/>
          <p:nvPr/>
        </p:nvSpPr>
        <p:spPr>
          <a:xfrm>
            <a:off x="4183471" y="340699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 name="Oval 240"/>
          <p:cNvSpPr/>
          <p:nvPr/>
        </p:nvSpPr>
        <p:spPr>
          <a:xfrm>
            <a:off x="4262530" y="3655475"/>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 name="Oval 241"/>
          <p:cNvSpPr/>
          <p:nvPr/>
        </p:nvSpPr>
        <p:spPr>
          <a:xfrm>
            <a:off x="3608030" y="3639566"/>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 name="Oval 242"/>
          <p:cNvSpPr/>
          <p:nvPr/>
        </p:nvSpPr>
        <p:spPr>
          <a:xfrm>
            <a:off x="4028974" y="3655577"/>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 name="Oval 243"/>
          <p:cNvSpPr/>
          <p:nvPr/>
        </p:nvSpPr>
        <p:spPr>
          <a:xfrm>
            <a:off x="3712134" y="3593563"/>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 name="Oval 244"/>
          <p:cNvSpPr/>
          <p:nvPr/>
        </p:nvSpPr>
        <p:spPr>
          <a:xfrm>
            <a:off x="3814428" y="3686976"/>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 name="Oval 245"/>
          <p:cNvSpPr/>
          <p:nvPr/>
        </p:nvSpPr>
        <p:spPr>
          <a:xfrm>
            <a:off x="4130664" y="3615710"/>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 name="Oval 246"/>
          <p:cNvSpPr/>
          <p:nvPr/>
        </p:nvSpPr>
        <p:spPr>
          <a:xfrm>
            <a:off x="4172910" y="3656146"/>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 name="Oval 247"/>
          <p:cNvSpPr/>
          <p:nvPr/>
        </p:nvSpPr>
        <p:spPr>
          <a:xfrm>
            <a:off x="3839775" y="359768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 name="Oval 248"/>
          <p:cNvSpPr/>
          <p:nvPr/>
        </p:nvSpPr>
        <p:spPr>
          <a:xfrm>
            <a:off x="3277310" y="3618547"/>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 name="Oval 249"/>
          <p:cNvSpPr/>
          <p:nvPr/>
        </p:nvSpPr>
        <p:spPr>
          <a:xfrm>
            <a:off x="4082082" y="3612043"/>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 name="Oval 250"/>
          <p:cNvSpPr/>
          <p:nvPr/>
        </p:nvSpPr>
        <p:spPr>
          <a:xfrm>
            <a:off x="3903747" y="3624773"/>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2" name="Oval 251"/>
          <p:cNvSpPr/>
          <p:nvPr/>
        </p:nvSpPr>
        <p:spPr>
          <a:xfrm>
            <a:off x="3495778" y="3677453"/>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3" name="Oval 252"/>
          <p:cNvSpPr/>
          <p:nvPr/>
        </p:nvSpPr>
        <p:spPr>
          <a:xfrm>
            <a:off x="2707904" y="3665771"/>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4" name="Oval 253"/>
          <p:cNvSpPr/>
          <p:nvPr/>
        </p:nvSpPr>
        <p:spPr>
          <a:xfrm>
            <a:off x="3925171" y="3632568"/>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5" name="Oval 254"/>
          <p:cNvSpPr/>
          <p:nvPr/>
        </p:nvSpPr>
        <p:spPr>
          <a:xfrm>
            <a:off x="3282138" y="361256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6" name="Oval 255"/>
          <p:cNvSpPr/>
          <p:nvPr/>
        </p:nvSpPr>
        <p:spPr>
          <a:xfrm>
            <a:off x="3625531" y="3679490"/>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7" name="Oval 256"/>
          <p:cNvSpPr/>
          <p:nvPr/>
        </p:nvSpPr>
        <p:spPr>
          <a:xfrm>
            <a:off x="3388656" y="3672192"/>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8" name="Oval 257"/>
          <p:cNvSpPr/>
          <p:nvPr/>
        </p:nvSpPr>
        <p:spPr>
          <a:xfrm>
            <a:off x="3697952" y="3629637"/>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9" name="Oval 258"/>
          <p:cNvSpPr/>
          <p:nvPr/>
        </p:nvSpPr>
        <p:spPr>
          <a:xfrm>
            <a:off x="4206102" y="3687823"/>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0" name="Oval 259"/>
          <p:cNvSpPr/>
          <p:nvPr/>
        </p:nvSpPr>
        <p:spPr>
          <a:xfrm>
            <a:off x="3200966" y="3667582"/>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1" name="Oval 260"/>
          <p:cNvSpPr/>
          <p:nvPr/>
        </p:nvSpPr>
        <p:spPr>
          <a:xfrm>
            <a:off x="3636395" y="3673962"/>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2" name="Oval 261"/>
          <p:cNvSpPr/>
          <p:nvPr/>
        </p:nvSpPr>
        <p:spPr>
          <a:xfrm>
            <a:off x="3021424" y="3634822"/>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3" name="Oval 262"/>
          <p:cNvSpPr/>
          <p:nvPr/>
        </p:nvSpPr>
        <p:spPr>
          <a:xfrm>
            <a:off x="3665665" y="3611127"/>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4" name="Oval 263"/>
          <p:cNvSpPr/>
          <p:nvPr/>
        </p:nvSpPr>
        <p:spPr>
          <a:xfrm>
            <a:off x="3526557" y="3599917"/>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5" name="TextBox 264"/>
          <p:cNvSpPr txBox="1"/>
          <p:nvPr/>
        </p:nvSpPr>
        <p:spPr>
          <a:xfrm>
            <a:off x="4800600" y="336956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120 of 123</a:t>
            </a:r>
          </a:p>
          <a:p>
            <a:pPr algn="l">
              <a:lnSpc>
                <a:spcPct val="109000"/>
              </a:lnSpc>
              <a:spcBef>
                <a:spcPts val="0"/>
              </a:spcBef>
              <a:spcAft>
                <a:spcPts val="0"/>
              </a:spcAft>
            </a:pPr>
            <a:r>
              <a:rPr sz="1250" b="0">
                <a:solidFill>
                  <a:srgbClr val="00407A"/>
                </a:solidFill>
                <a:latin typeface="Arial"/>
              </a:rPr>
              <a:t>are “yes”</a:t>
            </a:r>
          </a:p>
        </p:txBody>
      </p:sp>
      <p:sp>
        <p:nvSpPr>
          <p:cNvPr id="266" name="TextBox 265"/>
          <p:cNvSpPr txBox="1"/>
          <p:nvPr/>
        </p:nvSpPr>
        <p:spPr>
          <a:xfrm>
            <a:off x="996696" y="392734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9B</a:t>
            </a:r>
          </a:p>
        </p:txBody>
      </p:sp>
      <p:sp>
        <p:nvSpPr>
          <p:cNvPr id="267" name="Oval 266"/>
          <p:cNvSpPr/>
          <p:nvPr/>
        </p:nvSpPr>
        <p:spPr>
          <a:xfrm>
            <a:off x="4434529" y="390812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8" name="Oval 267"/>
          <p:cNvSpPr/>
          <p:nvPr/>
        </p:nvSpPr>
        <p:spPr>
          <a:xfrm>
            <a:off x="4430606" y="397545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9" name="Oval 268"/>
          <p:cNvSpPr/>
          <p:nvPr/>
        </p:nvSpPr>
        <p:spPr>
          <a:xfrm>
            <a:off x="4373876" y="392251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0" name="Oval 269"/>
          <p:cNvSpPr/>
          <p:nvPr/>
        </p:nvSpPr>
        <p:spPr>
          <a:xfrm>
            <a:off x="2777910" y="393413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1" name="Oval 270"/>
          <p:cNvSpPr/>
          <p:nvPr/>
        </p:nvSpPr>
        <p:spPr>
          <a:xfrm>
            <a:off x="4082686" y="389102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2" name="Oval 271"/>
          <p:cNvSpPr/>
          <p:nvPr/>
        </p:nvSpPr>
        <p:spPr>
          <a:xfrm>
            <a:off x="4321673" y="396164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3" name="Oval 272"/>
          <p:cNvSpPr/>
          <p:nvPr/>
        </p:nvSpPr>
        <p:spPr>
          <a:xfrm>
            <a:off x="4360599" y="395688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4" name="Oval 273"/>
          <p:cNvSpPr/>
          <p:nvPr/>
        </p:nvSpPr>
        <p:spPr>
          <a:xfrm>
            <a:off x="4342494" y="391996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5" name="Oval 274"/>
          <p:cNvSpPr/>
          <p:nvPr/>
        </p:nvSpPr>
        <p:spPr>
          <a:xfrm>
            <a:off x="3769769" y="390285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6" name="Oval 275"/>
          <p:cNvSpPr/>
          <p:nvPr/>
        </p:nvSpPr>
        <p:spPr>
          <a:xfrm>
            <a:off x="4355771" y="396229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7" name="Oval 276"/>
          <p:cNvSpPr/>
          <p:nvPr/>
        </p:nvSpPr>
        <p:spPr>
          <a:xfrm>
            <a:off x="4348228" y="390119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8" name="Oval 277"/>
          <p:cNvSpPr/>
          <p:nvPr/>
        </p:nvSpPr>
        <p:spPr>
          <a:xfrm>
            <a:off x="4391378" y="394263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9" name="Oval 278"/>
          <p:cNvSpPr/>
          <p:nvPr/>
        </p:nvSpPr>
        <p:spPr>
          <a:xfrm>
            <a:off x="3842189" y="392169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0" name="Oval 279"/>
          <p:cNvSpPr/>
          <p:nvPr/>
        </p:nvSpPr>
        <p:spPr>
          <a:xfrm>
            <a:off x="4278825" y="396425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1" name="Oval 280"/>
          <p:cNvSpPr/>
          <p:nvPr/>
        </p:nvSpPr>
        <p:spPr>
          <a:xfrm>
            <a:off x="4378403" y="392522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2" name="Oval 281"/>
          <p:cNvSpPr/>
          <p:nvPr/>
        </p:nvSpPr>
        <p:spPr>
          <a:xfrm>
            <a:off x="4179850" y="395973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3" name="Oval 282"/>
          <p:cNvSpPr/>
          <p:nvPr/>
        </p:nvSpPr>
        <p:spPr>
          <a:xfrm>
            <a:off x="3905256" y="393270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4" name="Oval 283"/>
          <p:cNvSpPr/>
          <p:nvPr/>
        </p:nvSpPr>
        <p:spPr>
          <a:xfrm>
            <a:off x="4108636" y="395945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5" name="Oval 284"/>
          <p:cNvSpPr/>
          <p:nvPr/>
        </p:nvSpPr>
        <p:spPr>
          <a:xfrm>
            <a:off x="4213948" y="389898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6" name="Oval 285"/>
          <p:cNvSpPr/>
          <p:nvPr/>
        </p:nvSpPr>
        <p:spPr>
          <a:xfrm>
            <a:off x="4359091" y="393030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7" name="Oval 286"/>
          <p:cNvSpPr/>
          <p:nvPr/>
        </p:nvSpPr>
        <p:spPr>
          <a:xfrm>
            <a:off x="4040742" y="389363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8" name="Oval 287"/>
          <p:cNvSpPr/>
          <p:nvPr/>
        </p:nvSpPr>
        <p:spPr>
          <a:xfrm>
            <a:off x="4316242" y="395618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9" name="Oval 288"/>
          <p:cNvSpPr/>
          <p:nvPr/>
        </p:nvSpPr>
        <p:spPr>
          <a:xfrm>
            <a:off x="4203990" y="393841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0" name="Oval 289"/>
          <p:cNvSpPr/>
          <p:nvPr/>
        </p:nvSpPr>
        <p:spPr>
          <a:xfrm>
            <a:off x="3862407" y="398473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1" name="Oval 290"/>
          <p:cNvSpPr/>
          <p:nvPr/>
        </p:nvSpPr>
        <p:spPr>
          <a:xfrm>
            <a:off x="3896203" y="397022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2" name="Oval 291"/>
          <p:cNvSpPr/>
          <p:nvPr/>
        </p:nvSpPr>
        <p:spPr>
          <a:xfrm>
            <a:off x="4102601" y="396232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3" name="Oval 292"/>
          <p:cNvSpPr/>
          <p:nvPr/>
        </p:nvSpPr>
        <p:spPr>
          <a:xfrm>
            <a:off x="4280333" y="391551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4" name="Oval 293"/>
          <p:cNvSpPr/>
          <p:nvPr/>
        </p:nvSpPr>
        <p:spPr>
          <a:xfrm>
            <a:off x="4122819" y="398612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5" name="Oval 294"/>
          <p:cNvSpPr/>
          <p:nvPr/>
        </p:nvSpPr>
        <p:spPr>
          <a:xfrm>
            <a:off x="4224509" y="398539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6" name="Oval 295"/>
          <p:cNvSpPr/>
          <p:nvPr/>
        </p:nvSpPr>
        <p:spPr>
          <a:xfrm>
            <a:off x="4287877" y="398946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7" name="Oval 296"/>
          <p:cNvSpPr/>
          <p:nvPr/>
        </p:nvSpPr>
        <p:spPr>
          <a:xfrm>
            <a:off x="4297835" y="392231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8" name="Oval 297"/>
          <p:cNvSpPr/>
          <p:nvPr/>
        </p:nvSpPr>
        <p:spPr>
          <a:xfrm>
            <a:off x="4439658" y="391898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9" name="Oval 298"/>
          <p:cNvSpPr/>
          <p:nvPr/>
        </p:nvSpPr>
        <p:spPr>
          <a:xfrm>
            <a:off x="4253477" y="393063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0" name="Oval 299"/>
          <p:cNvSpPr/>
          <p:nvPr/>
        </p:nvSpPr>
        <p:spPr>
          <a:xfrm>
            <a:off x="4069710" y="389968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1" name="Oval 300"/>
          <p:cNvSpPr/>
          <p:nvPr/>
        </p:nvSpPr>
        <p:spPr>
          <a:xfrm>
            <a:off x="4312621" y="396502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2" name="Oval 301"/>
          <p:cNvSpPr/>
          <p:nvPr/>
        </p:nvSpPr>
        <p:spPr>
          <a:xfrm>
            <a:off x="3963494" y="396460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3" name="Oval 302"/>
          <p:cNvSpPr/>
          <p:nvPr/>
        </p:nvSpPr>
        <p:spPr>
          <a:xfrm>
            <a:off x="4015697" y="396346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4" name="Oval 303"/>
          <p:cNvSpPr/>
          <p:nvPr/>
        </p:nvSpPr>
        <p:spPr>
          <a:xfrm>
            <a:off x="4200067" y="398783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5" name="Oval 304"/>
          <p:cNvSpPr/>
          <p:nvPr/>
        </p:nvSpPr>
        <p:spPr>
          <a:xfrm>
            <a:off x="4268565" y="399012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6" name="Oval 305"/>
          <p:cNvSpPr/>
          <p:nvPr/>
        </p:nvSpPr>
        <p:spPr>
          <a:xfrm>
            <a:off x="4113163" y="395037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7" name="Oval 306"/>
          <p:cNvSpPr/>
          <p:nvPr/>
        </p:nvSpPr>
        <p:spPr>
          <a:xfrm>
            <a:off x="4324691" y="394571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8" name="Oval 307"/>
          <p:cNvSpPr/>
          <p:nvPr/>
        </p:nvSpPr>
        <p:spPr>
          <a:xfrm>
            <a:off x="4449314" y="394479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9" name="Oval 308"/>
          <p:cNvSpPr/>
          <p:nvPr/>
        </p:nvSpPr>
        <p:spPr>
          <a:xfrm>
            <a:off x="4308698" y="392369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0" name="Oval 309"/>
          <p:cNvSpPr/>
          <p:nvPr/>
        </p:nvSpPr>
        <p:spPr>
          <a:xfrm>
            <a:off x="4371161" y="397662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1" name="Oval 310"/>
          <p:cNvSpPr/>
          <p:nvPr/>
        </p:nvSpPr>
        <p:spPr>
          <a:xfrm>
            <a:off x="4378101" y="397300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2" name="Oval 311"/>
          <p:cNvSpPr/>
          <p:nvPr/>
        </p:nvSpPr>
        <p:spPr>
          <a:xfrm>
            <a:off x="4352150" y="390564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3" name="Oval 312"/>
          <p:cNvSpPr/>
          <p:nvPr/>
        </p:nvSpPr>
        <p:spPr>
          <a:xfrm>
            <a:off x="4226320" y="389289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4" name="Oval 313"/>
          <p:cNvSpPr/>
          <p:nvPr/>
        </p:nvSpPr>
        <p:spPr>
          <a:xfrm>
            <a:off x="3902238" y="393082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5" name="Oval 314"/>
          <p:cNvSpPr/>
          <p:nvPr/>
        </p:nvSpPr>
        <p:spPr>
          <a:xfrm>
            <a:off x="4332536" y="391212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6" name="Oval 315"/>
          <p:cNvSpPr/>
          <p:nvPr/>
        </p:nvSpPr>
        <p:spPr>
          <a:xfrm>
            <a:off x="4445090" y="390038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7" name="Oval 316"/>
          <p:cNvSpPr/>
          <p:nvPr/>
        </p:nvSpPr>
        <p:spPr>
          <a:xfrm>
            <a:off x="3699461" y="395754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8" name="Oval 317"/>
          <p:cNvSpPr/>
          <p:nvPr/>
        </p:nvSpPr>
        <p:spPr>
          <a:xfrm>
            <a:off x="4352150" y="394247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9" name="Oval 318"/>
          <p:cNvSpPr/>
          <p:nvPr/>
        </p:nvSpPr>
        <p:spPr>
          <a:xfrm>
            <a:off x="4396810" y="395866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0" name="Oval 319"/>
          <p:cNvSpPr/>
          <p:nvPr/>
        </p:nvSpPr>
        <p:spPr>
          <a:xfrm>
            <a:off x="4255590" y="396149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1" name="Oval 320"/>
          <p:cNvSpPr/>
          <p:nvPr/>
        </p:nvSpPr>
        <p:spPr>
          <a:xfrm>
            <a:off x="4366031" y="396755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2" name="Oval 321"/>
          <p:cNvSpPr/>
          <p:nvPr/>
        </p:nvSpPr>
        <p:spPr>
          <a:xfrm>
            <a:off x="4490654" y="392826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3" name="Oval 322"/>
          <p:cNvSpPr/>
          <p:nvPr/>
        </p:nvSpPr>
        <p:spPr>
          <a:xfrm>
            <a:off x="4437244" y="394444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4" name="Oval 323"/>
          <p:cNvSpPr/>
          <p:nvPr/>
        </p:nvSpPr>
        <p:spPr>
          <a:xfrm>
            <a:off x="4436943" y="397401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5" name="Oval 324"/>
          <p:cNvSpPr/>
          <p:nvPr/>
        </p:nvSpPr>
        <p:spPr>
          <a:xfrm>
            <a:off x="4385645" y="391038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6" name="Oval 325"/>
          <p:cNvSpPr/>
          <p:nvPr/>
        </p:nvSpPr>
        <p:spPr>
          <a:xfrm>
            <a:off x="4430606" y="398768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7" name="Oval 326"/>
          <p:cNvSpPr/>
          <p:nvPr/>
        </p:nvSpPr>
        <p:spPr>
          <a:xfrm>
            <a:off x="4411294" y="394343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8" name="Oval 327"/>
          <p:cNvSpPr/>
          <p:nvPr/>
        </p:nvSpPr>
        <p:spPr>
          <a:xfrm>
            <a:off x="4445995" y="397864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9" name="Oval 328"/>
          <p:cNvSpPr/>
          <p:nvPr/>
        </p:nvSpPr>
        <p:spPr>
          <a:xfrm>
            <a:off x="4278523" y="393573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0" name="Oval 329"/>
          <p:cNvSpPr/>
          <p:nvPr/>
        </p:nvSpPr>
        <p:spPr>
          <a:xfrm>
            <a:off x="4317751" y="398192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1" name="Oval 330"/>
          <p:cNvSpPr/>
          <p:nvPr/>
        </p:nvSpPr>
        <p:spPr>
          <a:xfrm>
            <a:off x="4314733" y="392000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2" name="Oval 331"/>
          <p:cNvSpPr/>
          <p:nvPr/>
        </p:nvSpPr>
        <p:spPr>
          <a:xfrm>
            <a:off x="4244727" y="395815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3" name="Oval 332"/>
          <p:cNvSpPr/>
          <p:nvPr/>
        </p:nvSpPr>
        <p:spPr>
          <a:xfrm>
            <a:off x="4454746" y="398922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4" name="Oval 333"/>
          <p:cNvSpPr/>
          <p:nvPr/>
        </p:nvSpPr>
        <p:spPr>
          <a:xfrm>
            <a:off x="4418838" y="393546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5" name="Oval 334"/>
          <p:cNvSpPr/>
          <p:nvPr/>
        </p:nvSpPr>
        <p:spPr>
          <a:xfrm>
            <a:off x="4381420" y="390210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6" name="Oval 335"/>
          <p:cNvSpPr/>
          <p:nvPr/>
        </p:nvSpPr>
        <p:spPr>
          <a:xfrm>
            <a:off x="4290291" y="395877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7" name="Oval 336"/>
          <p:cNvSpPr/>
          <p:nvPr/>
        </p:nvSpPr>
        <p:spPr>
          <a:xfrm>
            <a:off x="4399224" y="399082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8" name="Oval 337"/>
          <p:cNvSpPr/>
          <p:nvPr/>
        </p:nvSpPr>
        <p:spPr>
          <a:xfrm>
            <a:off x="4436943" y="394842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9" name="Oval 338"/>
          <p:cNvSpPr/>
          <p:nvPr/>
        </p:nvSpPr>
        <p:spPr>
          <a:xfrm>
            <a:off x="4393189" y="397686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0" name="Oval 339"/>
          <p:cNvSpPr/>
          <p:nvPr/>
        </p:nvSpPr>
        <p:spPr>
          <a:xfrm>
            <a:off x="4429399" y="396569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1" name="Oval 340"/>
          <p:cNvSpPr/>
          <p:nvPr/>
        </p:nvSpPr>
        <p:spPr>
          <a:xfrm>
            <a:off x="4366333" y="392392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2" name="Oval 341"/>
          <p:cNvSpPr/>
          <p:nvPr/>
        </p:nvSpPr>
        <p:spPr>
          <a:xfrm>
            <a:off x="4196145" y="392508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3" name="Oval 342"/>
          <p:cNvSpPr/>
          <p:nvPr/>
        </p:nvSpPr>
        <p:spPr>
          <a:xfrm>
            <a:off x="4418536" y="389166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4" name="Oval 343"/>
          <p:cNvSpPr/>
          <p:nvPr/>
        </p:nvSpPr>
        <p:spPr>
          <a:xfrm>
            <a:off x="3778218" y="389360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5" name="Oval 344"/>
          <p:cNvSpPr/>
          <p:nvPr/>
        </p:nvSpPr>
        <p:spPr>
          <a:xfrm>
            <a:off x="4064279" y="391923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6" name="Oval 345"/>
          <p:cNvSpPr/>
          <p:nvPr/>
        </p:nvSpPr>
        <p:spPr>
          <a:xfrm>
            <a:off x="3894694" y="394810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7" name="Oval 346"/>
          <p:cNvSpPr/>
          <p:nvPr/>
        </p:nvSpPr>
        <p:spPr>
          <a:xfrm>
            <a:off x="4410388" y="396598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8" name="Oval 347"/>
          <p:cNvSpPr/>
          <p:nvPr/>
        </p:nvSpPr>
        <p:spPr>
          <a:xfrm>
            <a:off x="4157219" y="390251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9" name="Oval 348"/>
          <p:cNvSpPr/>
          <p:nvPr/>
        </p:nvSpPr>
        <p:spPr>
          <a:xfrm>
            <a:off x="4335856" y="389800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0" name="Oval 349"/>
          <p:cNvSpPr/>
          <p:nvPr/>
        </p:nvSpPr>
        <p:spPr>
          <a:xfrm>
            <a:off x="4262832" y="391005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1" name="Oval 350"/>
          <p:cNvSpPr/>
          <p:nvPr/>
        </p:nvSpPr>
        <p:spPr>
          <a:xfrm>
            <a:off x="4209120" y="394868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2" name="Oval 351"/>
          <p:cNvSpPr/>
          <p:nvPr/>
        </p:nvSpPr>
        <p:spPr>
          <a:xfrm>
            <a:off x="4450521" y="397060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3" name="Oval 352"/>
          <p:cNvSpPr/>
          <p:nvPr/>
        </p:nvSpPr>
        <p:spPr>
          <a:xfrm>
            <a:off x="4354866" y="391975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4" name="Oval 353"/>
          <p:cNvSpPr/>
          <p:nvPr/>
        </p:nvSpPr>
        <p:spPr>
          <a:xfrm>
            <a:off x="4433623" y="393564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5" name="Oval 354"/>
          <p:cNvSpPr/>
          <p:nvPr/>
        </p:nvSpPr>
        <p:spPr>
          <a:xfrm>
            <a:off x="4407673" y="396995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6" name="Oval 355"/>
          <p:cNvSpPr/>
          <p:nvPr/>
        </p:nvSpPr>
        <p:spPr>
          <a:xfrm>
            <a:off x="4337968" y="397461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7" name="Oval 356"/>
          <p:cNvSpPr/>
          <p:nvPr/>
        </p:nvSpPr>
        <p:spPr>
          <a:xfrm>
            <a:off x="4349736" y="397101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8" name="Oval 357"/>
          <p:cNvSpPr/>
          <p:nvPr/>
        </p:nvSpPr>
        <p:spPr>
          <a:xfrm>
            <a:off x="3794211" y="390056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9" name="Oval 358"/>
          <p:cNvSpPr/>
          <p:nvPr/>
        </p:nvSpPr>
        <p:spPr>
          <a:xfrm>
            <a:off x="4463799" y="394927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0" name="Oval 359"/>
          <p:cNvSpPr/>
          <p:nvPr/>
        </p:nvSpPr>
        <p:spPr>
          <a:xfrm>
            <a:off x="4434830" y="396392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1" name="Oval 360"/>
          <p:cNvSpPr/>
          <p:nvPr/>
        </p:nvSpPr>
        <p:spPr>
          <a:xfrm>
            <a:off x="4313828" y="393566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2" name="Oval 361"/>
          <p:cNvSpPr/>
          <p:nvPr/>
        </p:nvSpPr>
        <p:spPr>
          <a:xfrm>
            <a:off x="4276411" y="398118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3" name="Oval 362"/>
          <p:cNvSpPr/>
          <p:nvPr/>
        </p:nvSpPr>
        <p:spPr>
          <a:xfrm>
            <a:off x="4394999" y="397663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4" name="Oval 363"/>
          <p:cNvSpPr/>
          <p:nvPr/>
        </p:nvSpPr>
        <p:spPr>
          <a:xfrm>
            <a:off x="4351849" y="398610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5" name="Oval 364"/>
          <p:cNvSpPr/>
          <p:nvPr/>
        </p:nvSpPr>
        <p:spPr>
          <a:xfrm>
            <a:off x="4207913" y="390991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6" name="Oval 365"/>
          <p:cNvSpPr/>
          <p:nvPr/>
        </p:nvSpPr>
        <p:spPr>
          <a:xfrm>
            <a:off x="4439960" y="4158395"/>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7" name="Oval 366"/>
          <p:cNvSpPr/>
          <p:nvPr/>
        </p:nvSpPr>
        <p:spPr>
          <a:xfrm>
            <a:off x="3579967" y="4142486"/>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8" name="Oval 367"/>
          <p:cNvSpPr/>
          <p:nvPr/>
        </p:nvSpPr>
        <p:spPr>
          <a:xfrm>
            <a:off x="3948104" y="4158497"/>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9" name="Oval 368"/>
          <p:cNvSpPr/>
          <p:nvPr/>
        </p:nvSpPr>
        <p:spPr>
          <a:xfrm>
            <a:off x="4173211" y="4096483"/>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0" name="Oval 369"/>
          <p:cNvSpPr/>
          <p:nvPr/>
        </p:nvSpPr>
        <p:spPr>
          <a:xfrm>
            <a:off x="4373273" y="4189896"/>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1" name="Oval 370"/>
          <p:cNvSpPr/>
          <p:nvPr/>
        </p:nvSpPr>
        <p:spPr>
          <a:xfrm>
            <a:off x="4156313" y="4118630"/>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2" name="Oval 371"/>
          <p:cNvSpPr/>
          <p:nvPr/>
        </p:nvSpPr>
        <p:spPr>
          <a:xfrm>
            <a:off x="4336157" y="4159066"/>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3" name="Oval 372"/>
          <p:cNvSpPr/>
          <p:nvPr/>
        </p:nvSpPr>
        <p:spPr>
          <a:xfrm>
            <a:off x="4197050" y="410060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4" name="Oval 373"/>
          <p:cNvSpPr/>
          <p:nvPr/>
        </p:nvSpPr>
        <p:spPr>
          <a:xfrm>
            <a:off x="3773993" y="4121467"/>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5" name="Oval 374"/>
          <p:cNvSpPr/>
          <p:nvPr/>
        </p:nvSpPr>
        <p:spPr>
          <a:xfrm>
            <a:off x="4295723" y="4114963"/>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6" name="Oval 375"/>
          <p:cNvSpPr/>
          <p:nvPr/>
        </p:nvSpPr>
        <p:spPr>
          <a:xfrm>
            <a:off x="3998195" y="4127693"/>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7" name="Oval 376"/>
          <p:cNvSpPr/>
          <p:nvPr/>
        </p:nvSpPr>
        <p:spPr>
          <a:xfrm>
            <a:off x="2001804" y="4180373"/>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8" name="Oval 377"/>
          <p:cNvSpPr/>
          <p:nvPr/>
        </p:nvSpPr>
        <p:spPr>
          <a:xfrm>
            <a:off x="1987923" y="4168691"/>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9" name="Oval 378"/>
          <p:cNvSpPr/>
          <p:nvPr/>
        </p:nvSpPr>
        <p:spPr>
          <a:xfrm>
            <a:off x="3772786" y="4135488"/>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0" name="Oval 379"/>
          <p:cNvSpPr/>
          <p:nvPr/>
        </p:nvSpPr>
        <p:spPr>
          <a:xfrm>
            <a:off x="3898014" y="411548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1" name="Oval 380"/>
          <p:cNvSpPr/>
          <p:nvPr/>
        </p:nvSpPr>
        <p:spPr>
          <a:xfrm>
            <a:off x="3963192" y="4182410"/>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2" name="Oval 381"/>
          <p:cNvSpPr/>
          <p:nvPr/>
        </p:nvSpPr>
        <p:spPr>
          <a:xfrm>
            <a:off x="3938750" y="4175112"/>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3" name="Oval 382"/>
          <p:cNvSpPr/>
          <p:nvPr/>
        </p:nvSpPr>
        <p:spPr>
          <a:xfrm>
            <a:off x="1901321" y="4132557"/>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4" name="Oval 383"/>
          <p:cNvSpPr/>
          <p:nvPr/>
        </p:nvSpPr>
        <p:spPr>
          <a:xfrm>
            <a:off x="4178945" y="4190743"/>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5" name="Oval 384"/>
          <p:cNvSpPr/>
          <p:nvPr/>
        </p:nvSpPr>
        <p:spPr>
          <a:xfrm>
            <a:off x="3355765" y="4170502"/>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6" name="Oval 385"/>
          <p:cNvSpPr/>
          <p:nvPr/>
        </p:nvSpPr>
        <p:spPr>
          <a:xfrm>
            <a:off x="3911894" y="4176882"/>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7" name="Oval 386"/>
          <p:cNvSpPr/>
          <p:nvPr/>
        </p:nvSpPr>
        <p:spPr>
          <a:xfrm>
            <a:off x="2743812" y="4137742"/>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8" name="Oval 387"/>
          <p:cNvSpPr/>
          <p:nvPr/>
        </p:nvSpPr>
        <p:spPr>
          <a:xfrm>
            <a:off x="4372669" y="4114047"/>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9" name="Oval 388"/>
          <p:cNvSpPr/>
          <p:nvPr/>
        </p:nvSpPr>
        <p:spPr>
          <a:xfrm>
            <a:off x="3541946" y="4102837"/>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0" name="TextBox 389"/>
          <p:cNvSpPr txBox="1"/>
          <p:nvPr/>
        </p:nvSpPr>
        <p:spPr>
          <a:xfrm>
            <a:off x="4800600" y="387248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118 of 123</a:t>
            </a:r>
          </a:p>
          <a:p>
            <a:pPr algn="l">
              <a:lnSpc>
                <a:spcPct val="109000"/>
              </a:lnSpc>
              <a:spcBef>
                <a:spcPts val="0"/>
              </a:spcBef>
              <a:spcAft>
                <a:spcPts val="0"/>
              </a:spcAft>
            </a:pPr>
            <a:r>
              <a:rPr sz="1250" b="0">
                <a:solidFill>
                  <a:srgbClr val="00407A"/>
                </a:solidFill>
                <a:latin typeface="Arial"/>
              </a:rPr>
              <a:t>are “yes”</a:t>
            </a:r>
          </a:p>
        </p:txBody>
      </p:sp>
      <p:sp>
        <p:nvSpPr>
          <p:cNvPr id="391" name="TextBox 390"/>
          <p:cNvSpPr txBox="1"/>
          <p:nvPr/>
        </p:nvSpPr>
        <p:spPr>
          <a:xfrm>
            <a:off x="996696" y="443026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27B</a:t>
            </a:r>
          </a:p>
        </p:txBody>
      </p:sp>
      <p:sp>
        <p:nvSpPr>
          <p:cNvPr id="392" name="Oval 391"/>
          <p:cNvSpPr/>
          <p:nvPr/>
        </p:nvSpPr>
        <p:spPr>
          <a:xfrm>
            <a:off x="4561264" y="441104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3" name="Oval 392"/>
          <p:cNvSpPr/>
          <p:nvPr/>
        </p:nvSpPr>
        <p:spPr>
          <a:xfrm>
            <a:off x="3328909" y="447837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4" name="Oval 393"/>
          <p:cNvSpPr/>
          <p:nvPr/>
        </p:nvSpPr>
        <p:spPr>
          <a:xfrm>
            <a:off x="3738688" y="442543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5" name="Oval 394"/>
          <p:cNvSpPr/>
          <p:nvPr/>
        </p:nvSpPr>
        <p:spPr>
          <a:xfrm>
            <a:off x="2992154" y="443705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6" name="Oval 395"/>
          <p:cNvSpPr/>
          <p:nvPr/>
        </p:nvSpPr>
        <p:spPr>
          <a:xfrm>
            <a:off x="4347322" y="439394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7" name="Oval 396"/>
          <p:cNvSpPr/>
          <p:nvPr/>
        </p:nvSpPr>
        <p:spPr>
          <a:xfrm>
            <a:off x="3681959" y="446456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8" name="Oval 397"/>
          <p:cNvSpPr/>
          <p:nvPr/>
        </p:nvSpPr>
        <p:spPr>
          <a:xfrm>
            <a:off x="4261323" y="445980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9" name="Oval 398"/>
          <p:cNvSpPr/>
          <p:nvPr/>
        </p:nvSpPr>
        <p:spPr>
          <a:xfrm>
            <a:off x="4577861" y="442288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0" name="Oval 399"/>
          <p:cNvSpPr/>
          <p:nvPr/>
        </p:nvSpPr>
        <p:spPr>
          <a:xfrm>
            <a:off x="3571820" y="440577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1" name="Oval 400"/>
          <p:cNvSpPr/>
          <p:nvPr/>
        </p:nvSpPr>
        <p:spPr>
          <a:xfrm>
            <a:off x="4342494" y="446521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2" name="Oval 401"/>
          <p:cNvSpPr/>
          <p:nvPr/>
        </p:nvSpPr>
        <p:spPr>
          <a:xfrm>
            <a:off x="3611047" y="440411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3" name="Oval 402"/>
          <p:cNvSpPr/>
          <p:nvPr/>
        </p:nvSpPr>
        <p:spPr>
          <a:xfrm>
            <a:off x="4358487" y="444555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4" name="Oval 403"/>
          <p:cNvSpPr/>
          <p:nvPr/>
        </p:nvSpPr>
        <p:spPr>
          <a:xfrm>
            <a:off x="4544668" y="442461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5" name="Oval 404"/>
          <p:cNvSpPr/>
          <p:nvPr/>
        </p:nvSpPr>
        <p:spPr>
          <a:xfrm>
            <a:off x="3989444" y="446717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6" name="Oval 405"/>
          <p:cNvSpPr/>
          <p:nvPr/>
        </p:nvSpPr>
        <p:spPr>
          <a:xfrm>
            <a:off x="4074840" y="442814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7" name="Oval 406"/>
          <p:cNvSpPr/>
          <p:nvPr/>
        </p:nvSpPr>
        <p:spPr>
          <a:xfrm>
            <a:off x="2444776" y="446265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8" name="Oval 407"/>
          <p:cNvSpPr/>
          <p:nvPr/>
        </p:nvSpPr>
        <p:spPr>
          <a:xfrm>
            <a:off x="4025353" y="443562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9" name="Oval 408"/>
          <p:cNvSpPr/>
          <p:nvPr/>
        </p:nvSpPr>
        <p:spPr>
          <a:xfrm>
            <a:off x="3672907" y="446237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0" name="Oval 409"/>
          <p:cNvSpPr/>
          <p:nvPr/>
        </p:nvSpPr>
        <p:spPr>
          <a:xfrm>
            <a:off x="4329217" y="440190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1" name="Oval 410"/>
          <p:cNvSpPr/>
          <p:nvPr/>
        </p:nvSpPr>
        <p:spPr>
          <a:xfrm>
            <a:off x="4245632" y="443322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2" name="Oval 411"/>
          <p:cNvSpPr/>
          <p:nvPr/>
        </p:nvSpPr>
        <p:spPr>
          <a:xfrm>
            <a:off x="4356073" y="439655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3" name="Oval 412"/>
          <p:cNvSpPr/>
          <p:nvPr/>
        </p:nvSpPr>
        <p:spPr>
          <a:xfrm>
            <a:off x="3957760" y="445910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4" name="Oval 413"/>
          <p:cNvSpPr/>
          <p:nvPr/>
        </p:nvSpPr>
        <p:spPr>
          <a:xfrm>
            <a:off x="4284860" y="444133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5" name="Oval 414"/>
          <p:cNvSpPr/>
          <p:nvPr/>
        </p:nvSpPr>
        <p:spPr>
          <a:xfrm>
            <a:off x="4267962" y="448765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6" name="Oval 415"/>
          <p:cNvSpPr/>
          <p:nvPr/>
        </p:nvSpPr>
        <p:spPr>
          <a:xfrm>
            <a:off x="3925171" y="447314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7" name="Oval 416"/>
          <p:cNvSpPr/>
          <p:nvPr/>
        </p:nvSpPr>
        <p:spPr>
          <a:xfrm>
            <a:off x="4150882" y="446524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8" name="Oval 417"/>
          <p:cNvSpPr/>
          <p:nvPr/>
        </p:nvSpPr>
        <p:spPr>
          <a:xfrm>
            <a:off x="4045872" y="441843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9" name="Oval 418"/>
          <p:cNvSpPr/>
          <p:nvPr/>
        </p:nvSpPr>
        <p:spPr>
          <a:xfrm>
            <a:off x="3811411" y="448904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0" name="Oval 419"/>
          <p:cNvSpPr/>
          <p:nvPr/>
        </p:nvSpPr>
        <p:spPr>
          <a:xfrm>
            <a:off x="3878400" y="448831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1" name="Oval 420"/>
          <p:cNvSpPr/>
          <p:nvPr/>
        </p:nvSpPr>
        <p:spPr>
          <a:xfrm>
            <a:off x="3853958" y="449238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2" name="Oval 421"/>
          <p:cNvSpPr/>
          <p:nvPr/>
        </p:nvSpPr>
        <p:spPr>
          <a:xfrm>
            <a:off x="3346713" y="442523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3" name="Oval 422"/>
          <p:cNvSpPr/>
          <p:nvPr/>
        </p:nvSpPr>
        <p:spPr>
          <a:xfrm>
            <a:off x="4408578" y="442190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4" name="Oval 423"/>
          <p:cNvSpPr/>
          <p:nvPr/>
        </p:nvSpPr>
        <p:spPr>
          <a:xfrm>
            <a:off x="4082082" y="443355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5" name="Oval 424"/>
          <p:cNvSpPr/>
          <p:nvPr/>
        </p:nvSpPr>
        <p:spPr>
          <a:xfrm>
            <a:off x="3984013" y="440260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6" name="Oval 425"/>
          <p:cNvSpPr/>
          <p:nvPr/>
        </p:nvSpPr>
        <p:spPr>
          <a:xfrm>
            <a:off x="3305071" y="446794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7" name="Oval 426"/>
          <p:cNvSpPr/>
          <p:nvPr/>
        </p:nvSpPr>
        <p:spPr>
          <a:xfrm>
            <a:off x="2669883" y="446752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8" name="Oval 427"/>
          <p:cNvSpPr/>
          <p:nvPr/>
        </p:nvSpPr>
        <p:spPr>
          <a:xfrm>
            <a:off x="4208818" y="446638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9" name="Oval 428"/>
          <p:cNvSpPr/>
          <p:nvPr/>
        </p:nvSpPr>
        <p:spPr>
          <a:xfrm>
            <a:off x="3893789" y="449075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0" name="Oval 429"/>
          <p:cNvSpPr/>
          <p:nvPr/>
        </p:nvSpPr>
        <p:spPr>
          <a:xfrm>
            <a:off x="3794211" y="449304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1" name="Oval 430"/>
          <p:cNvSpPr/>
          <p:nvPr/>
        </p:nvSpPr>
        <p:spPr>
          <a:xfrm>
            <a:off x="3813825" y="445329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2" name="Oval 431"/>
          <p:cNvSpPr/>
          <p:nvPr/>
        </p:nvSpPr>
        <p:spPr>
          <a:xfrm>
            <a:off x="4281842" y="444863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3" name="Oval 432"/>
          <p:cNvSpPr/>
          <p:nvPr/>
        </p:nvSpPr>
        <p:spPr>
          <a:xfrm>
            <a:off x="3474655" y="444771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4" name="Oval 433"/>
          <p:cNvSpPr/>
          <p:nvPr/>
        </p:nvSpPr>
        <p:spPr>
          <a:xfrm>
            <a:off x="4098679" y="442661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5" name="Oval 434"/>
          <p:cNvSpPr/>
          <p:nvPr/>
        </p:nvSpPr>
        <p:spPr>
          <a:xfrm>
            <a:off x="4445693" y="447954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6" name="Oval 435"/>
          <p:cNvSpPr/>
          <p:nvPr/>
        </p:nvSpPr>
        <p:spPr>
          <a:xfrm>
            <a:off x="4346115" y="447592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7" name="Oval 436"/>
          <p:cNvSpPr/>
          <p:nvPr/>
        </p:nvSpPr>
        <p:spPr>
          <a:xfrm>
            <a:off x="4402241" y="440856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8" name="Oval 437"/>
          <p:cNvSpPr/>
          <p:nvPr/>
        </p:nvSpPr>
        <p:spPr>
          <a:xfrm>
            <a:off x="4512381" y="439581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9" name="Oval 438"/>
          <p:cNvSpPr/>
          <p:nvPr/>
        </p:nvSpPr>
        <p:spPr>
          <a:xfrm>
            <a:off x="3332229" y="443374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0" name="Oval 439"/>
          <p:cNvSpPr/>
          <p:nvPr/>
        </p:nvSpPr>
        <p:spPr>
          <a:xfrm>
            <a:off x="4170194" y="441504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1" name="Oval 440"/>
          <p:cNvSpPr/>
          <p:nvPr/>
        </p:nvSpPr>
        <p:spPr>
          <a:xfrm>
            <a:off x="4565187" y="440330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2" name="Oval 441"/>
          <p:cNvSpPr/>
          <p:nvPr/>
        </p:nvSpPr>
        <p:spPr>
          <a:xfrm>
            <a:off x="3484312" y="446046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3" name="Oval 442"/>
          <p:cNvSpPr/>
          <p:nvPr/>
        </p:nvSpPr>
        <p:spPr>
          <a:xfrm>
            <a:off x="4345512" y="444539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4" name="Oval 443"/>
          <p:cNvSpPr/>
          <p:nvPr/>
        </p:nvSpPr>
        <p:spPr>
          <a:xfrm>
            <a:off x="4557643" y="446158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5" name="Oval 444"/>
          <p:cNvSpPr/>
          <p:nvPr/>
        </p:nvSpPr>
        <p:spPr>
          <a:xfrm>
            <a:off x="4273091" y="446441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6" name="Oval 445"/>
          <p:cNvSpPr/>
          <p:nvPr/>
        </p:nvSpPr>
        <p:spPr>
          <a:xfrm>
            <a:off x="4129156" y="447047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7" name="Oval 446"/>
          <p:cNvSpPr/>
          <p:nvPr/>
        </p:nvSpPr>
        <p:spPr>
          <a:xfrm>
            <a:off x="4566998" y="443118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8" name="Oval 447"/>
          <p:cNvSpPr/>
          <p:nvPr/>
        </p:nvSpPr>
        <p:spPr>
          <a:xfrm>
            <a:off x="4541651" y="444736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9" name="Oval 448"/>
          <p:cNvSpPr/>
          <p:nvPr/>
        </p:nvSpPr>
        <p:spPr>
          <a:xfrm>
            <a:off x="4441167" y="447693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0" name="Oval 449"/>
          <p:cNvSpPr/>
          <p:nvPr/>
        </p:nvSpPr>
        <p:spPr>
          <a:xfrm>
            <a:off x="4527468" y="441330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1" name="Oval 450"/>
          <p:cNvSpPr/>
          <p:nvPr/>
        </p:nvSpPr>
        <p:spPr>
          <a:xfrm>
            <a:off x="4521735" y="449060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2" name="Oval 451"/>
          <p:cNvSpPr/>
          <p:nvPr/>
        </p:nvSpPr>
        <p:spPr>
          <a:xfrm>
            <a:off x="4528373" y="444635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3" name="Oval 452"/>
          <p:cNvSpPr/>
          <p:nvPr/>
        </p:nvSpPr>
        <p:spPr>
          <a:xfrm>
            <a:off x="4554324" y="448156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4" name="Oval 453"/>
          <p:cNvSpPr/>
          <p:nvPr/>
        </p:nvSpPr>
        <p:spPr>
          <a:xfrm>
            <a:off x="4481300" y="443865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5" name="Oval 454"/>
          <p:cNvSpPr/>
          <p:nvPr/>
        </p:nvSpPr>
        <p:spPr>
          <a:xfrm>
            <a:off x="4610148" y="448484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6" name="Oval 455"/>
          <p:cNvSpPr/>
          <p:nvPr/>
        </p:nvSpPr>
        <p:spPr>
          <a:xfrm>
            <a:off x="4575749" y="442292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7" name="Oval 456"/>
          <p:cNvSpPr/>
          <p:nvPr/>
        </p:nvSpPr>
        <p:spPr>
          <a:xfrm>
            <a:off x="4384438" y="446107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8" name="Oval 457"/>
          <p:cNvSpPr/>
          <p:nvPr/>
        </p:nvSpPr>
        <p:spPr>
          <a:xfrm>
            <a:off x="4542858" y="449214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9" name="Oval 458"/>
          <p:cNvSpPr/>
          <p:nvPr/>
        </p:nvSpPr>
        <p:spPr>
          <a:xfrm>
            <a:off x="4570317" y="443838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0" name="Oval 459"/>
          <p:cNvSpPr/>
          <p:nvPr/>
        </p:nvSpPr>
        <p:spPr>
          <a:xfrm>
            <a:off x="4479188" y="440502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1" name="Oval 460"/>
          <p:cNvSpPr/>
          <p:nvPr/>
        </p:nvSpPr>
        <p:spPr>
          <a:xfrm>
            <a:off x="4117387" y="446169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2" name="Oval 461"/>
          <p:cNvSpPr/>
          <p:nvPr/>
        </p:nvSpPr>
        <p:spPr>
          <a:xfrm>
            <a:off x="4448409" y="449374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3" name="Oval 462"/>
          <p:cNvSpPr/>
          <p:nvPr/>
        </p:nvSpPr>
        <p:spPr>
          <a:xfrm>
            <a:off x="4564282" y="445134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4" name="Oval 463"/>
          <p:cNvSpPr/>
          <p:nvPr/>
        </p:nvSpPr>
        <p:spPr>
          <a:xfrm>
            <a:off x="4563980" y="447978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5" name="Oval 464"/>
          <p:cNvSpPr/>
          <p:nvPr/>
        </p:nvSpPr>
        <p:spPr>
          <a:xfrm>
            <a:off x="4536521" y="446861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6" name="Oval 465"/>
          <p:cNvSpPr/>
          <p:nvPr/>
        </p:nvSpPr>
        <p:spPr>
          <a:xfrm>
            <a:off x="4478584" y="442684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7" name="Oval 466"/>
          <p:cNvSpPr/>
          <p:nvPr/>
        </p:nvSpPr>
        <p:spPr>
          <a:xfrm>
            <a:off x="3656008" y="442800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8" name="Oval 467"/>
          <p:cNvSpPr/>
          <p:nvPr/>
        </p:nvSpPr>
        <p:spPr>
          <a:xfrm>
            <a:off x="4569412" y="439458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9" name="Oval 468"/>
          <p:cNvSpPr/>
          <p:nvPr/>
        </p:nvSpPr>
        <p:spPr>
          <a:xfrm>
            <a:off x="3972848" y="439652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0" name="Oval 469"/>
          <p:cNvSpPr/>
          <p:nvPr/>
        </p:nvSpPr>
        <p:spPr>
          <a:xfrm>
            <a:off x="3621005" y="442215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1" name="Oval 470"/>
          <p:cNvSpPr/>
          <p:nvPr/>
        </p:nvSpPr>
        <p:spPr>
          <a:xfrm>
            <a:off x="4114973" y="445102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2" name="Oval 471"/>
          <p:cNvSpPr/>
          <p:nvPr/>
        </p:nvSpPr>
        <p:spPr>
          <a:xfrm>
            <a:off x="4226621" y="446890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3" name="Oval 472"/>
          <p:cNvSpPr/>
          <p:nvPr/>
        </p:nvSpPr>
        <p:spPr>
          <a:xfrm>
            <a:off x="4192222" y="440543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4" name="Oval 473"/>
          <p:cNvSpPr/>
          <p:nvPr/>
        </p:nvSpPr>
        <p:spPr>
          <a:xfrm>
            <a:off x="4362712" y="440092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5" name="Oval 474"/>
          <p:cNvSpPr/>
          <p:nvPr/>
        </p:nvSpPr>
        <p:spPr>
          <a:xfrm>
            <a:off x="4121914" y="441297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6" name="Oval 475"/>
          <p:cNvSpPr/>
          <p:nvPr/>
        </p:nvSpPr>
        <p:spPr>
          <a:xfrm>
            <a:off x="4081177" y="445160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7" name="Oval 476"/>
          <p:cNvSpPr/>
          <p:nvPr/>
        </p:nvSpPr>
        <p:spPr>
          <a:xfrm>
            <a:off x="4557643" y="447352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8" name="Oval 477"/>
          <p:cNvSpPr/>
          <p:nvPr/>
        </p:nvSpPr>
        <p:spPr>
          <a:xfrm>
            <a:off x="4512682" y="442267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9" name="Oval 478"/>
          <p:cNvSpPr/>
          <p:nvPr/>
        </p:nvSpPr>
        <p:spPr>
          <a:xfrm>
            <a:off x="4318958" y="443856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0" name="Oval 479"/>
          <p:cNvSpPr/>
          <p:nvPr/>
        </p:nvSpPr>
        <p:spPr>
          <a:xfrm>
            <a:off x="4600794" y="447287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1" name="Oval 480"/>
          <p:cNvSpPr/>
          <p:nvPr/>
        </p:nvSpPr>
        <p:spPr>
          <a:xfrm>
            <a:off x="4538030" y="447753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2" name="Oval 481"/>
          <p:cNvSpPr/>
          <p:nvPr/>
        </p:nvSpPr>
        <p:spPr>
          <a:xfrm>
            <a:off x="4551608" y="447393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3" name="Oval 482"/>
          <p:cNvSpPr/>
          <p:nvPr/>
        </p:nvSpPr>
        <p:spPr>
          <a:xfrm>
            <a:off x="3938448" y="440348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4" name="Oval 483"/>
          <p:cNvSpPr/>
          <p:nvPr/>
        </p:nvSpPr>
        <p:spPr>
          <a:xfrm>
            <a:off x="4590233" y="445219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5" name="Oval 484"/>
          <p:cNvSpPr/>
          <p:nvPr/>
        </p:nvSpPr>
        <p:spPr>
          <a:xfrm>
            <a:off x="4567601" y="446684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6" name="Oval 485"/>
          <p:cNvSpPr/>
          <p:nvPr/>
        </p:nvSpPr>
        <p:spPr>
          <a:xfrm>
            <a:off x="4480998" y="443858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7" name="Oval 486"/>
          <p:cNvSpPr/>
          <p:nvPr/>
        </p:nvSpPr>
        <p:spPr>
          <a:xfrm>
            <a:off x="4527770" y="448410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8" name="Oval 487"/>
          <p:cNvSpPr/>
          <p:nvPr/>
        </p:nvSpPr>
        <p:spPr>
          <a:xfrm>
            <a:off x="4381119" y="447955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9" name="Oval 488"/>
          <p:cNvSpPr/>
          <p:nvPr/>
        </p:nvSpPr>
        <p:spPr>
          <a:xfrm>
            <a:off x="4518114" y="448902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0" name="Oval 489"/>
          <p:cNvSpPr/>
          <p:nvPr/>
        </p:nvSpPr>
        <p:spPr>
          <a:xfrm>
            <a:off x="3987332" y="441283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1" name="Oval 490"/>
          <p:cNvSpPr/>
          <p:nvPr/>
        </p:nvSpPr>
        <p:spPr>
          <a:xfrm>
            <a:off x="4044665" y="4661315"/>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2" name="Oval 491"/>
          <p:cNvSpPr/>
          <p:nvPr/>
        </p:nvSpPr>
        <p:spPr>
          <a:xfrm>
            <a:off x="2512067" y="4645406"/>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3" name="Oval 492"/>
          <p:cNvSpPr/>
          <p:nvPr/>
        </p:nvSpPr>
        <p:spPr>
          <a:xfrm>
            <a:off x="2217255" y="4661417"/>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4" name="Oval 493"/>
          <p:cNvSpPr/>
          <p:nvPr/>
        </p:nvSpPr>
        <p:spPr>
          <a:xfrm>
            <a:off x="2474951" y="4599403"/>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5" name="Oval 494"/>
          <p:cNvSpPr/>
          <p:nvPr/>
        </p:nvSpPr>
        <p:spPr>
          <a:xfrm>
            <a:off x="3278517" y="4692816"/>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6" name="Oval 495"/>
          <p:cNvSpPr/>
          <p:nvPr/>
        </p:nvSpPr>
        <p:spPr>
          <a:xfrm>
            <a:off x="3613763" y="4621550"/>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7" name="Oval 496"/>
          <p:cNvSpPr/>
          <p:nvPr/>
        </p:nvSpPr>
        <p:spPr>
          <a:xfrm>
            <a:off x="3872365" y="4661986"/>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8" name="Oval 497"/>
          <p:cNvSpPr/>
          <p:nvPr/>
        </p:nvSpPr>
        <p:spPr>
          <a:xfrm>
            <a:off x="3705496" y="460352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9" name="Oval 498"/>
          <p:cNvSpPr/>
          <p:nvPr/>
        </p:nvSpPr>
        <p:spPr>
          <a:xfrm>
            <a:off x="4262228" y="4624387"/>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0" name="Oval 499"/>
          <p:cNvSpPr/>
          <p:nvPr/>
        </p:nvSpPr>
        <p:spPr>
          <a:xfrm>
            <a:off x="3509055" y="4617883"/>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1" name="Oval 500"/>
          <p:cNvSpPr/>
          <p:nvPr/>
        </p:nvSpPr>
        <p:spPr>
          <a:xfrm>
            <a:off x="3649370" y="4630613"/>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2" name="Oval 501"/>
          <p:cNvSpPr/>
          <p:nvPr/>
        </p:nvSpPr>
        <p:spPr>
          <a:xfrm>
            <a:off x="2616473" y="4683293"/>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3" name="Oval 502"/>
          <p:cNvSpPr/>
          <p:nvPr/>
        </p:nvSpPr>
        <p:spPr>
          <a:xfrm>
            <a:off x="3468922" y="4671611"/>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4" name="Oval 503"/>
          <p:cNvSpPr/>
          <p:nvPr/>
        </p:nvSpPr>
        <p:spPr>
          <a:xfrm>
            <a:off x="3425470" y="4638408"/>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5" name="Oval 504"/>
          <p:cNvSpPr/>
          <p:nvPr/>
        </p:nvSpPr>
        <p:spPr>
          <a:xfrm>
            <a:off x="2315324" y="461840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6" name="Oval 505"/>
          <p:cNvSpPr/>
          <p:nvPr/>
        </p:nvSpPr>
        <p:spPr>
          <a:xfrm>
            <a:off x="3724808" y="4685330"/>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7" name="Oval 506"/>
          <p:cNvSpPr/>
          <p:nvPr/>
        </p:nvSpPr>
        <p:spPr>
          <a:xfrm>
            <a:off x="3756794" y="4678032"/>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8" name="Oval 507"/>
          <p:cNvSpPr/>
          <p:nvPr/>
        </p:nvSpPr>
        <p:spPr>
          <a:xfrm>
            <a:off x="1692508" y="4635477"/>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9" name="Oval 508"/>
          <p:cNvSpPr/>
          <p:nvPr/>
        </p:nvSpPr>
        <p:spPr>
          <a:xfrm>
            <a:off x="2162336" y="4693663"/>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0" name="Oval 509"/>
          <p:cNvSpPr/>
          <p:nvPr/>
        </p:nvSpPr>
        <p:spPr>
          <a:xfrm>
            <a:off x="1730227" y="4673422"/>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1" name="Oval 510"/>
          <p:cNvSpPr/>
          <p:nvPr/>
        </p:nvSpPr>
        <p:spPr>
          <a:xfrm>
            <a:off x="2562157" y="4679802"/>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2" name="Oval 511"/>
          <p:cNvSpPr/>
          <p:nvPr/>
        </p:nvSpPr>
        <p:spPr>
          <a:xfrm>
            <a:off x="1713329" y="4640662"/>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3" name="Oval 512"/>
          <p:cNvSpPr/>
          <p:nvPr/>
        </p:nvSpPr>
        <p:spPr>
          <a:xfrm>
            <a:off x="2009650" y="4616967"/>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4" name="Oval 513"/>
          <p:cNvSpPr/>
          <p:nvPr/>
        </p:nvSpPr>
        <p:spPr>
          <a:xfrm>
            <a:off x="1880198" y="4605757"/>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5" name="TextBox 514"/>
          <p:cNvSpPr txBox="1"/>
          <p:nvPr/>
        </p:nvSpPr>
        <p:spPr>
          <a:xfrm>
            <a:off x="4800600" y="437540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108 of 123</a:t>
            </a:r>
          </a:p>
          <a:p>
            <a:pPr algn="l">
              <a:lnSpc>
                <a:spcPct val="109000"/>
              </a:lnSpc>
              <a:spcBef>
                <a:spcPts val="0"/>
              </a:spcBef>
              <a:spcAft>
                <a:spcPts val="0"/>
              </a:spcAft>
            </a:pPr>
            <a:r>
              <a:rPr sz="1250" b="0">
                <a:solidFill>
                  <a:srgbClr val="00407A"/>
                </a:solidFill>
                <a:latin typeface="Arial"/>
              </a:rPr>
              <a:t>are “yes”</a:t>
            </a:r>
          </a:p>
        </p:txBody>
      </p:sp>
      <p:sp>
        <p:nvSpPr>
          <p:cNvPr id="516" name="TextBox 515"/>
          <p:cNvSpPr txBox="1"/>
          <p:nvPr/>
        </p:nvSpPr>
        <p:spPr>
          <a:xfrm>
            <a:off x="996696" y="5029200"/>
            <a:ext cx="4800600" cy="219456"/>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4A5A66"/>
                </a:solidFill>
                <a:latin typeface="Arial"/>
              </a:rPr>
              <a:t>Yes probability of each design • dashed line: 0.5 threshold</a:t>
            </a:r>
          </a:p>
        </p:txBody>
      </p:sp>
      <p:sp>
        <p:nvSpPr>
          <p:cNvPr id="517" name="Rounded Rectangle 516"/>
          <p:cNvSpPr/>
          <p:nvPr/>
        </p:nvSpPr>
        <p:spPr>
          <a:xfrm>
            <a:off x="6208776" y="1819656"/>
            <a:ext cx="5166360" cy="3730752"/>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8" name="TextBox 517"/>
          <p:cNvSpPr txBox="1"/>
          <p:nvPr/>
        </p:nvSpPr>
        <p:spPr>
          <a:xfrm>
            <a:off x="6409944" y="1984248"/>
            <a:ext cx="4764024" cy="502920"/>
          </a:xfrm>
          <a:prstGeom prst="rect">
            <a:avLst/>
          </a:prstGeom>
          <a:noFill/>
        </p:spPr>
        <p:txBody>
          <a:bodyPr wrap="square" lIns="0" rIns="0" tIns="0" bIns="0" anchor="t">
            <a:noAutofit/>
          </a:bodyPr>
          <a:lstStyle/>
          <a:p>
            <a:pPr algn="l">
              <a:lnSpc>
                <a:spcPct val="109000"/>
              </a:lnSpc>
              <a:spcBef>
                <a:spcPts val="0"/>
              </a:spcBef>
              <a:spcAft>
                <a:spcPts val="0"/>
              </a:spcAft>
            </a:pPr>
            <a:r>
              <a:rPr sz="1800" b="1">
                <a:solidFill>
                  <a:srgbClr val="00407A"/>
                </a:solidFill>
                <a:latin typeface="Arial"/>
              </a:rPr>
              <a:t>Does it compile?</a:t>
            </a:r>
          </a:p>
        </p:txBody>
      </p:sp>
      <p:sp>
        <p:nvSpPr>
          <p:cNvPr id="519" name="TextBox 518"/>
          <p:cNvSpPr txBox="1"/>
          <p:nvPr/>
        </p:nvSpPr>
        <p:spPr>
          <a:xfrm>
            <a:off x="6409944" y="2432304"/>
            <a:ext cx="4764024" cy="274320"/>
          </a:xfrm>
          <a:prstGeom prst="rect">
            <a:avLst/>
          </a:prstGeom>
          <a:noFill/>
        </p:spPr>
        <p:txBody>
          <a:bodyPr wrap="square" lIns="0" rIns="0" tIns="0" bIns="0">
            <a:noAutofit/>
          </a:bodyPr>
          <a:lstStyle/>
          <a:p>
            <a:r>
              <a:rPr sz="1250">
                <a:solidFill>
                  <a:srgbClr val="1D8DB0"/>
                </a:solidFill>
                <a:latin typeface="Arial"/>
              </a:rPr>
              <a:t>●</a:t>
            </a:r>
            <a:r>
              <a:rPr sz="1250">
                <a:solidFill>
                  <a:srgbClr val="4A5A66"/>
                </a:solidFill>
                <a:latin typeface="Arial"/>
              </a:rPr>
              <a:t> vlog accepts: 114</a:t>
            </a:r>
            <a:r>
              <a:rPr sz="1250">
                <a:solidFill>
                  <a:srgbClr val="E97132"/>
                </a:solidFill>
                <a:latin typeface="Arial"/>
              </a:rPr>
              <a:t>      ●</a:t>
            </a:r>
            <a:r>
              <a:rPr sz="1250">
                <a:solidFill>
                  <a:srgbClr val="4A5A66"/>
                </a:solidFill>
                <a:latin typeface="Arial"/>
              </a:rPr>
              <a:t> vlog rejects: 9</a:t>
            </a:r>
          </a:p>
        </p:txBody>
      </p:sp>
      <p:cxnSp>
        <p:nvCxnSpPr>
          <p:cNvPr id="520" name="Connector 519"/>
          <p:cNvCxnSpPr/>
          <p:nvPr/>
        </p:nvCxnSpPr>
        <p:spPr>
          <a:xfrm>
            <a:off x="7059168" y="2825496"/>
            <a:ext cx="0" cy="194767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521" name="TextBox 520"/>
          <p:cNvSpPr txBox="1"/>
          <p:nvPr/>
        </p:nvSpPr>
        <p:spPr>
          <a:xfrm>
            <a:off x="685800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a:t>
            </a:r>
          </a:p>
        </p:txBody>
      </p:sp>
      <p:cxnSp>
        <p:nvCxnSpPr>
          <p:cNvPr id="522" name="Connector 521"/>
          <p:cNvCxnSpPr/>
          <p:nvPr/>
        </p:nvCxnSpPr>
        <p:spPr>
          <a:xfrm>
            <a:off x="8567928" y="2825496"/>
            <a:ext cx="0" cy="1947672"/>
          </a:xfrm>
          <a:prstGeom prst="line">
            <a:avLst/>
          </a:prstGeom>
          <a:ln w="15240">
            <a:solidFill>
              <a:srgbClr val="4A5A66"/>
            </a:solidFill>
            <a:prstDash val="dash"/>
          </a:ln>
        </p:spPr>
        <p:style>
          <a:lnRef idx="2">
            <a:schemeClr val="accent1"/>
          </a:lnRef>
          <a:fillRef idx="0">
            <a:schemeClr val="accent1"/>
          </a:fillRef>
          <a:effectRef idx="1">
            <a:schemeClr val="accent1"/>
          </a:effectRef>
          <a:fontRef idx="minor">
            <a:schemeClr val="tx1"/>
          </a:fontRef>
        </p:style>
      </p:cxnSp>
      <p:sp>
        <p:nvSpPr>
          <p:cNvPr id="523" name="TextBox 522"/>
          <p:cNvSpPr txBox="1"/>
          <p:nvPr/>
        </p:nvSpPr>
        <p:spPr>
          <a:xfrm>
            <a:off x="8366759"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0.5</a:t>
            </a:r>
          </a:p>
        </p:txBody>
      </p:sp>
      <p:cxnSp>
        <p:nvCxnSpPr>
          <p:cNvPr id="524" name="Connector 523"/>
          <p:cNvCxnSpPr/>
          <p:nvPr/>
        </p:nvCxnSpPr>
        <p:spPr>
          <a:xfrm>
            <a:off x="10076688" y="2825496"/>
            <a:ext cx="0" cy="194767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525" name="TextBox 524"/>
          <p:cNvSpPr txBox="1"/>
          <p:nvPr/>
        </p:nvSpPr>
        <p:spPr>
          <a:xfrm>
            <a:off x="9875519"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1</a:t>
            </a:r>
          </a:p>
        </p:txBody>
      </p:sp>
      <p:sp>
        <p:nvSpPr>
          <p:cNvPr id="526" name="TextBox 525"/>
          <p:cNvSpPr txBox="1"/>
          <p:nvPr/>
        </p:nvSpPr>
        <p:spPr>
          <a:xfrm>
            <a:off x="6391656" y="292150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0.8B</a:t>
            </a:r>
          </a:p>
        </p:txBody>
      </p:sp>
      <p:sp>
        <p:nvSpPr>
          <p:cNvPr id="527" name="Oval 526"/>
          <p:cNvSpPr/>
          <p:nvPr/>
        </p:nvSpPr>
        <p:spPr>
          <a:xfrm>
            <a:off x="8142997" y="292009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8" name="Oval 527"/>
          <p:cNvSpPr/>
          <p:nvPr/>
        </p:nvSpPr>
        <p:spPr>
          <a:xfrm>
            <a:off x="8250119" y="294865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9" name="Oval 528"/>
          <p:cNvSpPr/>
          <p:nvPr/>
        </p:nvSpPr>
        <p:spPr>
          <a:xfrm>
            <a:off x="7938409" y="296088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0" name="Oval 529"/>
          <p:cNvSpPr/>
          <p:nvPr/>
        </p:nvSpPr>
        <p:spPr>
          <a:xfrm>
            <a:off x="7990914" y="296963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1" name="Oval 530"/>
          <p:cNvSpPr/>
          <p:nvPr/>
        </p:nvSpPr>
        <p:spPr>
          <a:xfrm>
            <a:off x="8198217" y="290225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2" name="Oval 531"/>
          <p:cNvSpPr/>
          <p:nvPr/>
        </p:nvSpPr>
        <p:spPr>
          <a:xfrm>
            <a:off x="7877153" y="297344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3" name="Oval 532"/>
          <p:cNvSpPr/>
          <p:nvPr/>
        </p:nvSpPr>
        <p:spPr>
          <a:xfrm>
            <a:off x="8126702" y="293561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4" name="Oval 533"/>
          <p:cNvSpPr/>
          <p:nvPr/>
        </p:nvSpPr>
        <p:spPr>
          <a:xfrm>
            <a:off x="8127607" y="290409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5" name="Oval 534"/>
          <p:cNvSpPr/>
          <p:nvPr/>
        </p:nvSpPr>
        <p:spPr>
          <a:xfrm>
            <a:off x="8095320" y="297598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6" name="Oval 535"/>
          <p:cNvSpPr/>
          <p:nvPr/>
        </p:nvSpPr>
        <p:spPr>
          <a:xfrm>
            <a:off x="8199424" y="294439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7" name="Oval 536"/>
          <p:cNvSpPr/>
          <p:nvPr/>
        </p:nvSpPr>
        <p:spPr>
          <a:xfrm>
            <a:off x="7795680" y="295708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8" name="Oval 537"/>
          <p:cNvSpPr/>
          <p:nvPr/>
        </p:nvSpPr>
        <p:spPr>
          <a:xfrm>
            <a:off x="7991819" y="293589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9" name="Oval 538"/>
          <p:cNvSpPr/>
          <p:nvPr/>
        </p:nvSpPr>
        <p:spPr>
          <a:xfrm>
            <a:off x="8143902" y="295335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0" name="Oval 539"/>
          <p:cNvSpPr/>
          <p:nvPr/>
        </p:nvSpPr>
        <p:spPr>
          <a:xfrm>
            <a:off x="8176189" y="288719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1" name="Oval 540"/>
          <p:cNvSpPr/>
          <p:nvPr/>
        </p:nvSpPr>
        <p:spPr>
          <a:xfrm>
            <a:off x="7815898" y="295781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2" name="Oval 541"/>
          <p:cNvSpPr/>
          <p:nvPr/>
        </p:nvSpPr>
        <p:spPr>
          <a:xfrm>
            <a:off x="7945651" y="290363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3" name="Oval 542"/>
          <p:cNvSpPr/>
          <p:nvPr/>
        </p:nvSpPr>
        <p:spPr>
          <a:xfrm>
            <a:off x="7999966" y="291197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4" name="Oval 543"/>
          <p:cNvSpPr/>
          <p:nvPr/>
        </p:nvSpPr>
        <p:spPr>
          <a:xfrm>
            <a:off x="7932676" y="292222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5" name="Oval 544"/>
          <p:cNvSpPr/>
          <p:nvPr/>
        </p:nvSpPr>
        <p:spPr>
          <a:xfrm>
            <a:off x="7940521" y="291216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6" name="Oval 545"/>
          <p:cNvSpPr/>
          <p:nvPr/>
        </p:nvSpPr>
        <p:spPr>
          <a:xfrm>
            <a:off x="8008717" y="292514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7" name="Oval 546"/>
          <p:cNvSpPr/>
          <p:nvPr/>
        </p:nvSpPr>
        <p:spPr>
          <a:xfrm>
            <a:off x="7843659" y="291818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8" name="Oval 547"/>
          <p:cNvSpPr/>
          <p:nvPr/>
        </p:nvSpPr>
        <p:spPr>
          <a:xfrm>
            <a:off x="7805638" y="292841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9" name="Oval 548"/>
          <p:cNvSpPr/>
          <p:nvPr/>
        </p:nvSpPr>
        <p:spPr>
          <a:xfrm>
            <a:off x="7873834" y="294018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0" name="Oval 549"/>
          <p:cNvSpPr/>
          <p:nvPr/>
        </p:nvSpPr>
        <p:spPr>
          <a:xfrm>
            <a:off x="7919398" y="295234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1" name="Oval 550"/>
          <p:cNvSpPr/>
          <p:nvPr/>
        </p:nvSpPr>
        <p:spPr>
          <a:xfrm>
            <a:off x="7920605" y="296592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2" name="Oval 551"/>
          <p:cNvSpPr/>
          <p:nvPr/>
        </p:nvSpPr>
        <p:spPr>
          <a:xfrm>
            <a:off x="8086871" y="294201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3" name="Oval 552"/>
          <p:cNvSpPr/>
          <p:nvPr/>
        </p:nvSpPr>
        <p:spPr>
          <a:xfrm>
            <a:off x="7864781" y="296443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4" name="Oval 553"/>
          <p:cNvSpPr/>
          <p:nvPr/>
        </p:nvSpPr>
        <p:spPr>
          <a:xfrm>
            <a:off x="8096527" y="289608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5" name="Oval 554"/>
          <p:cNvSpPr/>
          <p:nvPr/>
        </p:nvSpPr>
        <p:spPr>
          <a:xfrm>
            <a:off x="8162611" y="296543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6" name="Oval 555"/>
          <p:cNvSpPr/>
          <p:nvPr/>
        </p:nvSpPr>
        <p:spPr>
          <a:xfrm>
            <a:off x="7853013" y="293081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7" name="Oval 556"/>
          <p:cNvSpPr/>
          <p:nvPr/>
        </p:nvSpPr>
        <p:spPr>
          <a:xfrm>
            <a:off x="7832796" y="289988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8" name="Oval 557"/>
          <p:cNvSpPr/>
          <p:nvPr/>
        </p:nvSpPr>
        <p:spPr>
          <a:xfrm>
            <a:off x="8051868" y="295798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9" name="Oval 558"/>
          <p:cNvSpPr/>
          <p:nvPr/>
        </p:nvSpPr>
        <p:spPr>
          <a:xfrm>
            <a:off x="8056092" y="298238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0" name="Oval 559"/>
          <p:cNvSpPr/>
          <p:nvPr/>
        </p:nvSpPr>
        <p:spPr>
          <a:xfrm>
            <a:off x="7952591" y="289490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1" name="Oval 560"/>
          <p:cNvSpPr/>
          <p:nvPr/>
        </p:nvSpPr>
        <p:spPr>
          <a:xfrm>
            <a:off x="7885300" y="292459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2" name="Oval 561"/>
          <p:cNvSpPr/>
          <p:nvPr/>
        </p:nvSpPr>
        <p:spPr>
          <a:xfrm>
            <a:off x="7897672" y="296436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3" name="Oval 562"/>
          <p:cNvSpPr/>
          <p:nvPr/>
        </p:nvSpPr>
        <p:spPr>
          <a:xfrm>
            <a:off x="7766410" y="290598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4" name="Oval 563"/>
          <p:cNvSpPr/>
          <p:nvPr/>
        </p:nvSpPr>
        <p:spPr>
          <a:xfrm>
            <a:off x="7827666" y="296280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5" name="Oval 564"/>
          <p:cNvSpPr/>
          <p:nvPr/>
        </p:nvSpPr>
        <p:spPr>
          <a:xfrm>
            <a:off x="7855729" y="290318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6" name="Oval 565"/>
          <p:cNvSpPr/>
          <p:nvPr/>
        </p:nvSpPr>
        <p:spPr>
          <a:xfrm>
            <a:off x="8052471" y="298221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7" name="Oval 566"/>
          <p:cNvSpPr/>
          <p:nvPr/>
        </p:nvSpPr>
        <p:spPr>
          <a:xfrm>
            <a:off x="8010829" y="294777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8" name="Oval 567"/>
          <p:cNvSpPr/>
          <p:nvPr/>
        </p:nvSpPr>
        <p:spPr>
          <a:xfrm>
            <a:off x="8329781" y="294286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9" name="Oval 568"/>
          <p:cNvSpPr/>
          <p:nvPr/>
        </p:nvSpPr>
        <p:spPr>
          <a:xfrm>
            <a:off x="8021692" y="295995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0" name="Oval 569"/>
          <p:cNvSpPr/>
          <p:nvPr/>
        </p:nvSpPr>
        <p:spPr>
          <a:xfrm>
            <a:off x="8147825" y="292051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1" name="Oval 570"/>
          <p:cNvSpPr/>
          <p:nvPr/>
        </p:nvSpPr>
        <p:spPr>
          <a:xfrm>
            <a:off x="8300813" y="293341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2" name="Oval 571"/>
          <p:cNvSpPr/>
          <p:nvPr/>
        </p:nvSpPr>
        <p:spPr>
          <a:xfrm>
            <a:off x="7789645" y="292474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3" name="Oval 572"/>
          <p:cNvSpPr/>
          <p:nvPr/>
        </p:nvSpPr>
        <p:spPr>
          <a:xfrm>
            <a:off x="7803827" y="293014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4" name="Oval 573"/>
          <p:cNvSpPr/>
          <p:nvPr/>
        </p:nvSpPr>
        <p:spPr>
          <a:xfrm>
            <a:off x="8375647" y="297553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5" name="Oval 574"/>
          <p:cNvSpPr/>
          <p:nvPr/>
        </p:nvSpPr>
        <p:spPr>
          <a:xfrm>
            <a:off x="8203347" y="297318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6" name="Oval 575"/>
          <p:cNvSpPr/>
          <p:nvPr/>
        </p:nvSpPr>
        <p:spPr>
          <a:xfrm>
            <a:off x="8092906" y="295871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7" name="Oval 576"/>
          <p:cNvSpPr/>
          <p:nvPr/>
        </p:nvSpPr>
        <p:spPr>
          <a:xfrm>
            <a:off x="8006605" y="295797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8" name="Oval 577"/>
          <p:cNvSpPr/>
          <p:nvPr/>
        </p:nvSpPr>
        <p:spPr>
          <a:xfrm>
            <a:off x="8028331" y="296393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9" name="Oval 578"/>
          <p:cNvSpPr/>
          <p:nvPr/>
        </p:nvSpPr>
        <p:spPr>
          <a:xfrm>
            <a:off x="7683730" y="290004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0" name="Oval 579"/>
          <p:cNvSpPr/>
          <p:nvPr/>
        </p:nvSpPr>
        <p:spPr>
          <a:xfrm>
            <a:off x="7786024" y="295975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1" name="Oval 580"/>
          <p:cNvSpPr/>
          <p:nvPr/>
        </p:nvSpPr>
        <p:spPr>
          <a:xfrm>
            <a:off x="7681014" y="292872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2" name="Oval 581"/>
          <p:cNvSpPr/>
          <p:nvPr/>
        </p:nvSpPr>
        <p:spPr>
          <a:xfrm>
            <a:off x="8095622" y="293217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3" name="Oval 582"/>
          <p:cNvSpPr/>
          <p:nvPr/>
        </p:nvSpPr>
        <p:spPr>
          <a:xfrm>
            <a:off x="8132435" y="292908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4" name="Oval 583"/>
          <p:cNvSpPr/>
          <p:nvPr/>
        </p:nvSpPr>
        <p:spPr>
          <a:xfrm>
            <a:off x="8146919" y="293349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5" name="Oval 584"/>
          <p:cNvSpPr/>
          <p:nvPr/>
        </p:nvSpPr>
        <p:spPr>
          <a:xfrm>
            <a:off x="8040099" y="289831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6" name="Oval 585"/>
          <p:cNvSpPr/>
          <p:nvPr/>
        </p:nvSpPr>
        <p:spPr>
          <a:xfrm>
            <a:off x="7647218" y="289355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7" name="Oval 586"/>
          <p:cNvSpPr/>
          <p:nvPr/>
        </p:nvSpPr>
        <p:spPr>
          <a:xfrm>
            <a:off x="7718432" y="294437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8" name="Oval 587"/>
          <p:cNvSpPr/>
          <p:nvPr/>
        </p:nvSpPr>
        <p:spPr>
          <a:xfrm>
            <a:off x="7801715" y="295307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9" name="Oval 588"/>
          <p:cNvSpPr/>
          <p:nvPr/>
        </p:nvSpPr>
        <p:spPr>
          <a:xfrm>
            <a:off x="7752228" y="290672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0" name="Oval 589"/>
          <p:cNvSpPr/>
          <p:nvPr/>
        </p:nvSpPr>
        <p:spPr>
          <a:xfrm>
            <a:off x="8114330" y="292419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1" name="Oval 590"/>
          <p:cNvSpPr/>
          <p:nvPr/>
        </p:nvSpPr>
        <p:spPr>
          <a:xfrm>
            <a:off x="8177095" y="292360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2" name="Oval 591"/>
          <p:cNvSpPr/>
          <p:nvPr/>
        </p:nvSpPr>
        <p:spPr>
          <a:xfrm>
            <a:off x="8091095" y="294911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3" name="Oval 592"/>
          <p:cNvSpPr/>
          <p:nvPr/>
        </p:nvSpPr>
        <p:spPr>
          <a:xfrm>
            <a:off x="8475226" y="291262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4" name="Oval 593"/>
          <p:cNvSpPr/>
          <p:nvPr/>
        </p:nvSpPr>
        <p:spPr>
          <a:xfrm>
            <a:off x="8415780" y="296822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5" name="Oval 594"/>
          <p:cNvSpPr/>
          <p:nvPr/>
        </p:nvSpPr>
        <p:spPr>
          <a:xfrm>
            <a:off x="8177698" y="289767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6" name="Oval 595"/>
          <p:cNvSpPr/>
          <p:nvPr/>
        </p:nvSpPr>
        <p:spPr>
          <a:xfrm>
            <a:off x="8083250" y="289721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7" name="Oval 596"/>
          <p:cNvSpPr/>
          <p:nvPr/>
        </p:nvSpPr>
        <p:spPr>
          <a:xfrm>
            <a:off x="8278785" y="298097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8" name="Oval 597"/>
          <p:cNvSpPr/>
          <p:nvPr/>
        </p:nvSpPr>
        <p:spPr>
          <a:xfrm>
            <a:off x="7942030" y="294626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9" name="Oval 598"/>
          <p:cNvSpPr/>
          <p:nvPr/>
        </p:nvSpPr>
        <p:spPr>
          <a:xfrm>
            <a:off x="8063032" y="296718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0" name="Oval 599"/>
          <p:cNvSpPr/>
          <p:nvPr/>
        </p:nvSpPr>
        <p:spPr>
          <a:xfrm>
            <a:off x="8191881" y="290120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1" name="Oval 600"/>
          <p:cNvSpPr/>
          <p:nvPr/>
        </p:nvSpPr>
        <p:spPr>
          <a:xfrm>
            <a:off x="8174681" y="297711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2" name="Oval 601"/>
          <p:cNvSpPr/>
          <p:nvPr/>
        </p:nvSpPr>
        <p:spPr>
          <a:xfrm>
            <a:off x="8221754" y="298299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3" name="Oval 602"/>
          <p:cNvSpPr/>
          <p:nvPr/>
        </p:nvSpPr>
        <p:spPr>
          <a:xfrm>
            <a:off x="8288743" y="296163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4" name="Oval 603"/>
          <p:cNvSpPr/>
          <p:nvPr/>
        </p:nvSpPr>
        <p:spPr>
          <a:xfrm>
            <a:off x="8053980" y="298091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5" name="Oval 604"/>
          <p:cNvSpPr/>
          <p:nvPr/>
        </p:nvSpPr>
        <p:spPr>
          <a:xfrm>
            <a:off x="7749512" y="291661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6" name="Oval 605"/>
          <p:cNvSpPr/>
          <p:nvPr/>
        </p:nvSpPr>
        <p:spPr>
          <a:xfrm>
            <a:off x="7959230" y="294867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7" name="Oval 606"/>
          <p:cNvSpPr/>
          <p:nvPr/>
        </p:nvSpPr>
        <p:spPr>
          <a:xfrm>
            <a:off x="7958928" y="298462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8" name="Oval 607"/>
          <p:cNvSpPr/>
          <p:nvPr/>
        </p:nvSpPr>
        <p:spPr>
          <a:xfrm>
            <a:off x="8339739" y="293293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9" name="Oval 608"/>
          <p:cNvSpPr/>
          <p:nvPr/>
        </p:nvSpPr>
        <p:spPr>
          <a:xfrm>
            <a:off x="7805940" y="296961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0" name="Oval 609"/>
          <p:cNvSpPr/>
          <p:nvPr/>
        </p:nvSpPr>
        <p:spPr>
          <a:xfrm>
            <a:off x="8037082" y="290237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1" name="Oval 610"/>
          <p:cNvSpPr/>
          <p:nvPr/>
        </p:nvSpPr>
        <p:spPr>
          <a:xfrm>
            <a:off x="7828873" y="289965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2" name="Oval 611"/>
          <p:cNvSpPr/>
          <p:nvPr/>
        </p:nvSpPr>
        <p:spPr>
          <a:xfrm>
            <a:off x="8093811" y="297465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3" name="Oval 612"/>
          <p:cNvSpPr/>
          <p:nvPr/>
        </p:nvSpPr>
        <p:spPr>
          <a:xfrm>
            <a:off x="8029840" y="291734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4" name="Oval 613"/>
          <p:cNvSpPr/>
          <p:nvPr/>
        </p:nvSpPr>
        <p:spPr>
          <a:xfrm>
            <a:off x="7933883" y="297951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5" name="Oval 614"/>
          <p:cNvSpPr/>
          <p:nvPr/>
        </p:nvSpPr>
        <p:spPr>
          <a:xfrm>
            <a:off x="7932676" y="296019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6" name="Oval 615"/>
          <p:cNvSpPr/>
          <p:nvPr/>
        </p:nvSpPr>
        <p:spPr>
          <a:xfrm>
            <a:off x="8276069" y="291894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7" name="Oval 616"/>
          <p:cNvSpPr/>
          <p:nvPr/>
        </p:nvSpPr>
        <p:spPr>
          <a:xfrm>
            <a:off x="8262792" y="293718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8" name="Oval 617"/>
          <p:cNvSpPr/>
          <p:nvPr/>
        </p:nvSpPr>
        <p:spPr>
          <a:xfrm>
            <a:off x="8089888" y="290858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9" name="Oval 618"/>
          <p:cNvSpPr/>
          <p:nvPr/>
        </p:nvSpPr>
        <p:spPr>
          <a:xfrm>
            <a:off x="8089888" y="295145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0" name="Oval 619"/>
          <p:cNvSpPr/>
          <p:nvPr/>
        </p:nvSpPr>
        <p:spPr>
          <a:xfrm>
            <a:off x="8100450" y="291646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1" name="Oval 620"/>
          <p:cNvSpPr/>
          <p:nvPr/>
        </p:nvSpPr>
        <p:spPr>
          <a:xfrm>
            <a:off x="8299908" y="295284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2" name="Oval 621"/>
          <p:cNvSpPr/>
          <p:nvPr/>
        </p:nvSpPr>
        <p:spPr>
          <a:xfrm>
            <a:off x="8151446" y="289514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3" name="Oval 622"/>
          <p:cNvSpPr/>
          <p:nvPr/>
        </p:nvSpPr>
        <p:spPr>
          <a:xfrm>
            <a:off x="7902802" y="295288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4" name="Oval 623"/>
          <p:cNvSpPr/>
          <p:nvPr/>
        </p:nvSpPr>
        <p:spPr>
          <a:xfrm>
            <a:off x="7910949" y="297172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5" name="Oval 624"/>
          <p:cNvSpPr/>
          <p:nvPr/>
        </p:nvSpPr>
        <p:spPr>
          <a:xfrm>
            <a:off x="8237143" y="293327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6" name="Oval 625"/>
          <p:cNvSpPr/>
          <p:nvPr/>
        </p:nvSpPr>
        <p:spPr>
          <a:xfrm>
            <a:off x="8002078" y="292915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7" name="Oval 626"/>
          <p:cNvSpPr/>
          <p:nvPr/>
        </p:nvSpPr>
        <p:spPr>
          <a:xfrm>
            <a:off x="8129418" y="290153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8" name="Oval 627"/>
          <p:cNvSpPr/>
          <p:nvPr/>
        </p:nvSpPr>
        <p:spPr>
          <a:xfrm>
            <a:off x="8254645" y="298060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9" name="Oval 628"/>
          <p:cNvSpPr/>
          <p:nvPr/>
        </p:nvSpPr>
        <p:spPr>
          <a:xfrm>
            <a:off x="7865083" y="289216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0" name="Oval 629"/>
          <p:cNvSpPr/>
          <p:nvPr/>
        </p:nvSpPr>
        <p:spPr>
          <a:xfrm>
            <a:off x="8013545" y="288502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1" name="Oval 630"/>
          <p:cNvSpPr/>
          <p:nvPr/>
        </p:nvSpPr>
        <p:spPr>
          <a:xfrm>
            <a:off x="8028633" y="294590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2" name="Oval 631"/>
          <p:cNvSpPr/>
          <p:nvPr/>
        </p:nvSpPr>
        <p:spPr>
          <a:xfrm>
            <a:off x="8154162" y="294270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3" name="Oval 632"/>
          <p:cNvSpPr/>
          <p:nvPr/>
        </p:nvSpPr>
        <p:spPr>
          <a:xfrm>
            <a:off x="8235936" y="292250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4" name="Oval 633"/>
          <p:cNvSpPr/>
          <p:nvPr/>
        </p:nvSpPr>
        <p:spPr>
          <a:xfrm>
            <a:off x="8032555" y="290305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5" name="Oval 634"/>
          <p:cNvSpPr/>
          <p:nvPr/>
        </p:nvSpPr>
        <p:spPr>
          <a:xfrm>
            <a:off x="7683428" y="297043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6" name="Oval 635"/>
          <p:cNvSpPr/>
          <p:nvPr/>
        </p:nvSpPr>
        <p:spPr>
          <a:xfrm>
            <a:off x="8162309" y="290654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7" name="Oval 636"/>
          <p:cNvSpPr/>
          <p:nvPr/>
        </p:nvSpPr>
        <p:spPr>
          <a:xfrm>
            <a:off x="8544629" y="289132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8" name="Oval 637"/>
          <p:cNvSpPr/>
          <p:nvPr/>
        </p:nvSpPr>
        <p:spPr>
          <a:xfrm>
            <a:off x="8130625" y="291643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9" name="Oval 638"/>
          <p:cNvSpPr/>
          <p:nvPr/>
        </p:nvSpPr>
        <p:spPr>
          <a:xfrm>
            <a:off x="7877757" y="290556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0" name="Oval 639"/>
          <p:cNvSpPr/>
          <p:nvPr/>
        </p:nvSpPr>
        <p:spPr>
          <a:xfrm>
            <a:off x="8362370" y="290403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1" name="Oval 640"/>
          <p:cNvSpPr/>
          <p:nvPr/>
        </p:nvSpPr>
        <p:spPr>
          <a:xfrm>
            <a:off x="8117046" y="3124962"/>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2" name="Oval 641"/>
          <p:cNvSpPr/>
          <p:nvPr/>
        </p:nvSpPr>
        <p:spPr>
          <a:xfrm>
            <a:off x="7888318" y="3087351"/>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3" name="Oval 642"/>
          <p:cNvSpPr/>
          <p:nvPr/>
        </p:nvSpPr>
        <p:spPr>
          <a:xfrm>
            <a:off x="8358749" y="3115232"/>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4" name="Oval 643"/>
          <p:cNvSpPr/>
          <p:nvPr/>
        </p:nvSpPr>
        <p:spPr>
          <a:xfrm>
            <a:off x="7770635" y="3105188"/>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5" name="Oval 644"/>
          <p:cNvSpPr/>
          <p:nvPr/>
        </p:nvSpPr>
        <p:spPr>
          <a:xfrm>
            <a:off x="8043419" y="3140543"/>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6" name="Oval 645"/>
          <p:cNvSpPr/>
          <p:nvPr/>
        </p:nvSpPr>
        <p:spPr>
          <a:xfrm>
            <a:off x="8016563" y="313758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7" name="Oval 646"/>
          <p:cNvSpPr/>
          <p:nvPr/>
        </p:nvSpPr>
        <p:spPr>
          <a:xfrm>
            <a:off x="7932676" y="312301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8" name="Oval 647"/>
          <p:cNvSpPr/>
          <p:nvPr/>
        </p:nvSpPr>
        <p:spPr>
          <a:xfrm>
            <a:off x="7966472" y="3124016"/>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9" name="Oval 648"/>
          <p:cNvSpPr/>
          <p:nvPr/>
        </p:nvSpPr>
        <p:spPr>
          <a:xfrm>
            <a:off x="7886507" y="3152672"/>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0" name="TextBox 649"/>
          <p:cNvSpPr txBox="1"/>
          <p:nvPr/>
        </p:nvSpPr>
        <p:spPr>
          <a:xfrm>
            <a:off x="10195560" y="286664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1 of 123</a:t>
            </a:r>
          </a:p>
          <a:p>
            <a:pPr algn="l">
              <a:lnSpc>
                <a:spcPct val="109000"/>
              </a:lnSpc>
              <a:spcBef>
                <a:spcPts val="0"/>
              </a:spcBef>
              <a:spcAft>
                <a:spcPts val="0"/>
              </a:spcAft>
            </a:pPr>
            <a:r>
              <a:rPr sz="1250" b="0">
                <a:solidFill>
                  <a:srgbClr val="00407A"/>
                </a:solidFill>
                <a:latin typeface="Arial"/>
              </a:rPr>
              <a:t>are “yes”</a:t>
            </a:r>
          </a:p>
        </p:txBody>
      </p:sp>
      <p:sp>
        <p:nvSpPr>
          <p:cNvPr id="651" name="TextBox 650"/>
          <p:cNvSpPr txBox="1"/>
          <p:nvPr/>
        </p:nvSpPr>
        <p:spPr>
          <a:xfrm>
            <a:off x="6391656" y="3424427"/>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4B</a:t>
            </a:r>
          </a:p>
        </p:txBody>
      </p:sp>
      <p:sp>
        <p:nvSpPr>
          <p:cNvPr id="652" name="Oval 651"/>
          <p:cNvSpPr/>
          <p:nvPr/>
        </p:nvSpPr>
        <p:spPr>
          <a:xfrm>
            <a:off x="9848197" y="342301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3" name="Oval 652"/>
          <p:cNvSpPr/>
          <p:nvPr/>
        </p:nvSpPr>
        <p:spPr>
          <a:xfrm>
            <a:off x="9728402" y="345157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4" name="Oval 653"/>
          <p:cNvSpPr/>
          <p:nvPr/>
        </p:nvSpPr>
        <p:spPr>
          <a:xfrm>
            <a:off x="9850611" y="346380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5" name="Oval 654"/>
          <p:cNvSpPr/>
          <p:nvPr/>
        </p:nvSpPr>
        <p:spPr>
          <a:xfrm>
            <a:off x="8812584" y="347255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6" name="Oval 655"/>
          <p:cNvSpPr/>
          <p:nvPr/>
        </p:nvSpPr>
        <p:spPr>
          <a:xfrm>
            <a:off x="9608003" y="340517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7" name="Oval 656"/>
          <p:cNvSpPr/>
          <p:nvPr/>
        </p:nvSpPr>
        <p:spPr>
          <a:xfrm>
            <a:off x="9756465" y="347636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8" name="Oval 657"/>
          <p:cNvSpPr/>
          <p:nvPr/>
        </p:nvSpPr>
        <p:spPr>
          <a:xfrm>
            <a:off x="9732626" y="343853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9" name="Oval 658"/>
          <p:cNvSpPr/>
          <p:nvPr/>
        </p:nvSpPr>
        <p:spPr>
          <a:xfrm>
            <a:off x="9825868" y="340701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0" name="Oval 659"/>
          <p:cNvSpPr/>
          <p:nvPr/>
        </p:nvSpPr>
        <p:spPr>
          <a:xfrm>
            <a:off x="9595933" y="347890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1" name="Oval 660"/>
          <p:cNvSpPr/>
          <p:nvPr/>
        </p:nvSpPr>
        <p:spPr>
          <a:xfrm>
            <a:off x="9785735" y="344731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2" name="Oval 661"/>
          <p:cNvSpPr/>
          <p:nvPr/>
        </p:nvSpPr>
        <p:spPr>
          <a:xfrm>
            <a:off x="9616452" y="346000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3" name="Oval 662"/>
          <p:cNvSpPr/>
          <p:nvPr/>
        </p:nvSpPr>
        <p:spPr>
          <a:xfrm>
            <a:off x="9670465" y="343881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4" name="Oval 663"/>
          <p:cNvSpPr/>
          <p:nvPr/>
        </p:nvSpPr>
        <p:spPr>
          <a:xfrm>
            <a:off x="9351212" y="345627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5" name="Oval 664"/>
          <p:cNvSpPr/>
          <p:nvPr/>
        </p:nvSpPr>
        <p:spPr>
          <a:xfrm>
            <a:off x="9686760" y="339011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6" name="Oval 665"/>
          <p:cNvSpPr/>
          <p:nvPr/>
        </p:nvSpPr>
        <p:spPr>
          <a:xfrm>
            <a:off x="9719047" y="346073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7" name="Oval 666"/>
          <p:cNvSpPr/>
          <p:nvPr/>
        </p:nvSpPr>
        <p:spPr>
          <a:xfrm>
            <a:off x="9471912" y="340655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8" name="Oval 667"/>
          <p:cNvSpPr/>
          <p:nvPr/>
        </p:nvSpPr>
        <p:spPr>
          <a:xfrm>
            <a:off x="9331598" y="341489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9" name="Oval 668"/>
          <p:cNvSpPr/>
          <p:nvPr/>
        </p:nvSpPr>
        <p:spPr>
          <a:xfrm>
            <a:off x="9656585" y="342514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0" name="Oval 669"/>
          <p:cNvSpPr/>
          <p:nvPr/>
        </p:nvSpPr>
        <p:spPr>
          <a:xfrm>
            <a:off x="9571189" y="341508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1" name="Oval 670"/>
          <p:cNvSpPr/>
          <p:nvPr/>
        </p:nvSpPr>
        <p:spPr>
          <a:xfrm>
            <a:off x="9583259" y="342806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2" name="Oval 671"/>
          <p:cNvSpPr/>
          <p:nvPr/>
        </p:nvSpPr>
        <p:spPr>
          <a:xfrm>
            <a:off x="9351212" y="342110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3" name="Oval 672"/>
          <p:cNvSpPr/>
          <p:nvPr/>
        </p:nvSpPr>
        <p:spPr>
          <a:xfrm>
            <a:off x="9569077" y="343133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4" name="Oval 673"/>
          <p:cNvSpPr/>
          <p:nvPr/>
        </p:nvSpPr>
        <p:spPr>
          <a:xfrm>
            <a:off x="9643911" y="344310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5" name="Oval 674"/>
          <p:cNvSpPr/>
          <p:nvPr/>
        </p:nvSpPr>
        <p:spPr>
          <a:xfrm>
            <a:off x="9782114" y="345526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6" name="Oval 675"/>
          <p:cNvSpPr/>
          <p:nvPr/>
        </p:nvSpPr>
        <p:spPr>
          <a:xfrm>
            <a:off x="9582957" y="346884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7" name="Oval 676"/>
          <p:cNvSpPr/>
          <p:nvPr/>
        </p:nvSpPr>
        <p:spPr>
          <a:xfrm>
            <a:off x="9463162" y="344493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8" name="Oval 677"/>
          <p:cNvSpPr/>
          <p:nvPr/>
        </p:nvSpPr>
        <p:spPr>
          <a:xfrm>
            <a:off x="9473421" y="346735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9" name="Oval 678"/>
          <p:cNvSpPr/>
          <p:nvPr/>
        </p:nvSpPr>
        <p:spPr>
          <a:xfrm>
            <a:off x="9408243" y="339900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0" name="Oval 679"/>
          <p:cNvSpPr/>
          <p:nvPr/>
        </p:nvSpPr>
        <p:spPr>
          <a:xfrm>
            <a:off x="9558214" y="346835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1" name="Oval 680"/>
          <p:cNvSpPr/>
          <p:nvPr/>
        </p:nvSpPr>
        <p:spPr>
          <a:xfrm>
            <a:off x="9647834" y="343373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2" name="Oval 681"/>
          <p:cNvSpPr/>
          <p:nvPr/>
        </p:nvSpPr>
        <p:spPr>
          <a:xfrm>
            <a:off x="9598648" y="340280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3" name="Oval 682"/>
          <p:cNvSpPr/>
          <p:nvPr/>
        </p:nvSpPr>
        <p:spPr>
          <a:xfrm>
            <a:off x="9809875" y="346090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4" name="Oval 683"/>
          <p:cNvSpPr/>
          <p:nvPr/>
        </p:nvSpPr>
        <p:spPr>
          <a:xfrm>
            <a:off x="9479456" y="348530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5" name="Oval 684"/>
          <p:cNvSpPr/>
          <p:nvPr/>
        </p:nvSpPr>
        <p:spPr>
          <a:xfrm>
            <a:off x="9432081" y="339782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6" name="Oval 685"/>
          <p:cNvSpPr/>
          <p:nvPr/>
        </p:nvSpPr>
        <p:spPr>
          <a:xfrm>
            <a:off x="9465274" y="342751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7" name="Oval 686"/>
          <p:cNvSpPr/>
          <p:nvPr/>
        </p:nvSpPr>
        <p:spPr>
          <a:xfrm>
            <a:off x="9628522" y="346728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8" name="Oval 687"/>
          <p:cNvSpPr/>
          <p:nvPr/>
        </p:nvSpPr>
        <p:spPr>
          <a:xfrm>
            <a:off x="9574810" y="340890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9" name="Oval 688"/>
          <p:cNvSpPr/>
          <p:nvPr/>
        </p:nvSpPr>
        <p:spPr>
          <a:xfrm>
            <a:off x="9554593" y="346572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0" name="Oval 689"/>
          <p:cNvSpPr/>
          <p:nvPr/>
        </p:nvSpPr>
        <p:spPr>
          <a:xfrm>
            <a:off x="9445358" y="340610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1" name="Oval 690"/>
          <p:cNvSpPr/>
          <p:nvPr/>
        </p:nvSpPr>
        <p:spPr>
          <a:xfrm>
            <a:off x="9496053" y="348513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2" name="Oval 691"/>
          <p:cNvSpPr/>
          <p:nvPr/>
        </p:nvSpPr>
        <p:spPr>
          <a:xfrm>
            <a:off x="9629729" y="345069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3" name="Oval 692"/>
          <p:cNvSpPr/>
          <p:nvPr/>
        </p:nvSpPr>
        <p:spPr>
          <a:xfrm>
            <a:off x="9792373" y="344578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4" name="Oval 693"/>
          <p:cNvSpPr/>
          <p:nvPr/>
        </p:nvSpPr>
        <p:spPr>
          <a:xfrm>
            <a:off x="9627013" y="346287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5" name="Oval 694"/>
          <p:cNvSpPr/>
          <p:nvPr/>
        </p:nvSpPr>
        <p:spPr>
          <a:xfrm>
            <a:off x="9462860" y="342343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6" name="Oval 695"/>
          <p:cNvSpPr/>
          <p:nvPr/>
        </p:nvSpPr>
        <p:spPr>
          <a:xfrm>
            <a:off x="9506312" y="343633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7" name="Oval 696"/>
          <p:cNvSpPr/>
          <p:nvPr/>
        </p:nvSpPr>
        <p:spPr>
          <a:xfrm>
            <a:off x="9665637" y="342766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8" name="Oval 697"/>
          <p:cNvSpPr/>
          <p:nvPr/>
        </p:nvSpPr>
        <p:spPr>
          <a:xfrm>
            <a:off x="9666844" y="343306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9" name="Oval 698"/>
          <p:cNvSpPr/>
          <p:nvPr/>
        </p:nvSpPr>
        <p:spPr>
          <a:xfrm>
            <a:off x="9615245" y="347845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0" name="Oval 699"/>
          <p:cNvSpPr/>
          <p:nvPr/>
        </p:nvSpPr>
        <p:spPr>
          <a:xfrm>
            <a:off x="9718444" y="347610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1" name="Oval 700"/>
          <p:cNvSpPr/>
          <p:nvPr/>
        </p:nvSpPr>
        <p:spPr>
          <a:xfrm>
            <a:off x="9813496" y="346163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2" name="Oval 701"/>
          <p:cNvSpPr/>
          <p:nvPr/>
        </p:nvSpPr>
        <p:spPr>
          <a:xfrm>
            <a:off x="9509933" y="346089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3" name="Oval 702"/>
          <p:cNvSpPr/>
          <p:nvPr/>
        </p:nvSpPr>
        <p:spPr>
          <a:xfrm>
            <a:off x="9785131" y="346685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4" name="Oval 703"/>
          <p:cNvSpPr/>
          <p:nvPr/>
        </p:nvSpPr>
        <p:spPr>
          <a:xfrm>
            <a:off x="9784226" y="340296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5" name="Oval 704"/>
          <p:cNvSpPr/>
          <p:nvPr/>
        </p:nvSpPr>
        <p:spPr>
          <a:xfrm>
            <a:off x="9669258" y="346267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6" name="Oval 705"/>
          <p:cNvSpPr/>
          <p:nvPr/>
        </p:nvSpPr>
        <p:spPr>
          <a:xfrm>
            <a:off x="9630332" y="343164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7" name="Oval 706"/>
          <p:cNvSpPr/>
          <p:nvPr/>
        </p:nvSpPr>
        <p:spPr>
          <a:xfrm>
            <a:off x="9821945" y="343509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8" name="Oval 707"/>
          <p:cNvSpPr/>
          <p:nvPr/>
        </p:nvSpPr>
        <p:spPr>
          <a:xfrm>
            <a:off x="9874450" y="343200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9" name="Oval 708"/>
          <p:cNvSpPr/>
          <p:nvPr/>
        </p:nvSpPr>
        <p:spPr>
          <a:xfrm>
            <a:off x="9837334" y="343641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0" name="Oval 709"/>
          <p:cNvSpPr/>
          <p:nvPr/>
        </p:nvSpPr>
        <p:spPr>
          <a:xfrm>
            <a:off x="9783019" y="340123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1" name="Oval 710"/>
          <p:cNvSpPr/>
          <p:nvPr/>
        </p:nvSpPr>
        <p:spPr>
          <a:xfrm>
            <a:off x="9762801" y="339647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2" name="Oval 711"/>
          <p:cNvSpPr/>
          <p:nvPr/>
        </p:nvSpPr>
        <p:spPr>
          <a:xfrm>
            <a:off x="9835825" y="344729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3" name="Oval 712"/>
          <p:cNvSpPr/>
          <p:nvPr/>
        </p:nvSpPr>
        <p:spPr>
          <a:xfrm>
            <a:off x="9750731" y="345599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4" name="Oval 713"/>
          <p:cNvSpPr/>
          <p:nvPr/>
        </p:nvSpPr>
        <p:spPr>
          <a:xfrm>
            <a:off x="9724781" y="340964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5" name="Oval 714"/>
          <p:cNvSpPr/>
          <p:nvPr/>
        </p:nvSpPr>
        <p:spPr>
          <a:xfrm>
            <a:off x="9841860" y="342711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6" name="Oval 715"/>
          <p:cNvSpPr/>
          <p:nvPr/>
        </p:nvSpPr>
        <p:spPr>
          <a:xfrm>
            <a:off x="9823152" y="342652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7" name="Oval 716"/>
          <p:cNvSpPr/>
          <p:nvPr/>
        </p:nvSpPr>
        <p:spPr>
          <a:xfrm>
            <a:off x="9727496" y="345203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8" name="Oval 717"/>
          <p:cNvSpPr/>
          <p:nvPr/>
        </p:nvSpPr>
        <p:spPr>
          <a:xfrm>
            <a:off x="9825566" y="341554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9" name="Oval 718"/>
          <p:cNvSpPr/>
          <p:nvPr/>
        </p:nvSpPr>
        <p:spPr>
          <a:xfrm>
            <a:off x="9792373" y="347114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0" name="Oval 719"/>
          <p:cNvSpPr/>
          <p:nvPr/>
        </p:nvSpPr>
        <p:spPr>
          <a:xfrm>
            <a:off x="9821945" y="340059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1" name="Oval 720"/>
          <p:cNvSpPr/>
          <p:nvPr/>
        </p:nvSpPr>
        <p:spPr>
          <a:xfrm>
            <a:off x="9764310" y="340013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2" name="Oval 721"/>
          <p:cNvSpPr/>
          <p:nvPr/>
        </p:nvSpPr>
        <p:spPr>
          <a:xfrm>
            <a:off x="9764914" y="348389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3" name="Oval 722"/>
          <p:cNvSpPr/>
          <p:nvPr/>
        </p:nvSpPr>
        <p:spPr>
          <a:xfrm>
            <a:off x="9751938" y="344918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4" name="Oval 723"/>
          <p:cNvSpPr/>
          <p:nvPr/>
        </p:nvSpPr>
        <p:spPr>
          <a:xfrm>
            <a:off x="9787545" y="347010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5" name="Oval 724"/>
          <p:cNvSpPr/>
          <p:nvPr/>
        </p:nvSpPr>
        <p:spPr>
          <a:xfrm>
            <a:off x="9813798" y="340412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6" name="Oval 725"/>
          <p:cNvSpPr/>
          <p:nvPr/>
        </p:nvSpPr>
        <p:spPr>
          <a:xfrm>
            <a:off x="9848801" y="348003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7" name="Oval 726"/>
          <p:cNvSpPr/>
          <p:nvPr/>
        </p:nvSpPr>
        <p:spPr>
          <a:xfrm>
            <a:off x="9602571" y="348591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8" name="Oval 727"/>
          <p:cNvSpPr/>
          <p:nvPr/>
        </p:nvSpPr>
        <p:spPr>
          <a:xfrm>
            <a:off x="9719349" y="346455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9" name="Oval 728"/>
          <p:cNvSpPr/>
          <p:nvPr/>
        </p:nvSpPr>
        <p:spPr>
          <a:xfrm>
            <a:off x="9854534" y="348383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0" name="Oval 729"/>
          <p:cNvSpPr/>
          <p:nvPr/>
        </p:nvSpPr>
        <p:spPr>
          <a:xfrm>
            <a:off x="9614641" y="341953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1" name="Oval 730"/>
          <p:cNvSpPr/>
          <p:nvPr/>
        </p:nvSpPr>
        <p:spPr>
          <a:xfrm>
            <a:off x="9625806" y="345159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2" name="Oval 731"/>
          <p:cNvSpPr/>
          <p:nvPr/>
        </p:nvSpPr>
        <p:spPr>
          <a:xfrm>
            <a:off x="9479155" y="348754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3" name="Oval 732"/>
          <p:cNvSpPr/>
          <p:nvPr/>
        </p:nvSpPr>
        <p:spPr>
          <a:xfrm>
            <a:off x="9401906" y="343585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4" name="Oval 733"/>
          <p:cNvSpPr/>
          <p:nvPr/>
        </p:nvSpPr>
        <p:spPr>
          <a:xfrm>
            <a:off x="9531659" y="347253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5" name="Oval 734"/>
          <p:cNvSpPr/>
          <p:nvPr/>
        </p:nvSpPr>
        <p:spPr>
          <a:xfrm>
            <a:off x="9619167" y="340529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6" name="Oval 735"/>
          <p:cNvSpPr/>
          <p:nvPr/>
        </p:nvSpPr>
        <p:spPr>
          <a:xfrm>
            <a:off x="9552480" y="340257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7" name="Oval 736"/>
          <p:cNvSpPr/>
          <p:nvPr/>
        </p:nvSpPr>
        <p:spPr>
          <a:xfrm>
            <a:off x="9344875" y="347757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8" name="Oval 737"/>
          <p:cNvSpPr/>
          <p:nvPr/>
        </p:nvSpPr>
        <p:spPr>
          <a:xfrm>
            <a:off x="9592613" y="342026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9" name="Oval 738"/>
          <p:cNvSpPr/>
          <p:nvPr/>
        </p:nvSpPr>
        <p:spPr>
          <a:xfrm>
            <a:off x="9454713" y="348243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0" name="Oval 739"/>
          <p:cNvSpPr/>
          <p:nvPr/>
        </p:nvSpPr>
        <p:spPr>
          <a:xfrm>
            <a:off x="9455920" y="346311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1" name="Oval 740"/>
          <p:cNvSpPr/>
          <p:nvPr/>
        </p:nvSpPr>
        <p:spPr>
          <a:xfrm>
            <a:off x="9675293" y="342186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2" name="Oval 741"/>
          <p:cNvSpPr/>
          <p:nvPr/>
        </p:nvSpPr>
        <p:spPr>
          <a:xfrm>
            <a:off x="9003593" y="344010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3" name="Oval 742"/>
          <p:cNvSpPr/>
          <p:nvPr/>
        </p:nvSpPr>
        <p:spPr>
          <a:xfrm>
            <a:off x="7928149" y="341150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4" name="Oval 743"/>
          <p:cNvSpPr/>
          <p:nvPr/>
        </p:nvSpPr>
        <p:spPr>
          <a:xfrm>
            <a:off x="9714219" y="345437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5" name="Oval 744"/>
          <p:cNvSpPr/>
          <p:nvPr/>
        </p:nvSpPr>
        <p:spPr>
          <a:xfrm>
            <a:off x="9689777" y="341938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6" name="Oval 745"/>
          <p:cNvSpPr/>
          <p:nvPr/>
        </p:nvSpPr>
        <p:spPr>
          <a:xfrm>
            <a:off x="9487000" y="345576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7" name="Oval 746"/>
          <p:cNvSpPr/>
          <p:nvPr/>
        </p:nvSpPr>
        <p:spPr>
          <a:xfrm>
            <a:off x="8959839" y="339806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8" name="Oval 747"/>
          <p:cNvSpPr/>
          <p:nvPr/>
        </p:nvSpPr>
        <p:spPr>
          <a:xfrm>
            <a:off x="9525926" y="345580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9" name="Oval 748"/>
          <p:cNvSpPr/>
          <p:nvPr/>
        </p:nvSpPr>
        <p:spPr>
          <a:xfrm>
            <a:off x="9708788" y="347464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0" name="Oval 749"/>
          <p:cNvSpPr/>
          <p:nvPr/>
        </p:nvSpPr>
        <p:spPr>
          <a:xfrm>
            <a:off x="9734437" y="343619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1" name="Oval 750"/>
          <p:cNvSpPr/>
          <p:nvPr/>
        </p:nvSpPr>
        <p:spPr>
          <a:xfrm>
            <a:off x="9689174" y="343207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2" name="Oval 751"/>
          <p:cNvSpPr/>
          <p:nvPr/>
        </p:nvSpPr>
        <p:spPr>
          <a:xfrm>
            <a:off x="9838541" y="340445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3" name="Oval 752"/>
          <p:cNvSpPr/>
          <p:nvPr/>
        </p:nvSpPr>
        <p:spPr>
          <a:xfrm>
            <a:off x="9903116" y="348352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4" name="Oval 753"/>
          <p:cNvSpPr/>
          <p:nvPr/>
        </p:nvSpPr>
        <p:spPr>
          <a:xfrm>
            <a:off x="9751637" y="339508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5" name="Oval 754"/>
          <p:cNvSpPr/>
          <p:nvPr/>
        </p:nvSpPr>
        <p:spPr>
          <a:xfrm>
            <a:off x="9850913" y="338794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6" name="Oval 755"/>
          <p:cNvSpPr/>
          <p:nvPr/>
        </p:nvSpPr>
        <p:spPr>
          <a:xfrm>
            <a:off x="9892555" y="344882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7" name="Oval 756"/>
          <p:cNvSpPr/>
          <p:nvPr/>
        </p:nvSpPr>
        <p:spPr>
          <a:xfrm>
            <a:off x="9675595" y="344562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8" name="Oval 757"/>
          <p:cNvSpPr/>
          <p:nvPr/>
        </p:nvSpPr>
        <p:spPr>
          <a:xfrm>
            <a:off x="9763103" y="342542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9" name="Oval 758"/>
          <p:cNvSpPr/>
          <p:nvPr/>
        </p:nvSpPr>
        <p:spPr>
          <a:xfrm>
            <a:off x="9837636" y="340597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0" name="Oval 759"/>
          <p:cNvSpPr/>
          <p:nvPr/>
        </p:nvSpPr>
        <p:spPr>
          <a:xfrm>
            <a:off x="9118561" y="347335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1" name="Oval 760"/>
          <p:cNvSpPr/>
          <p:nvPr/>
        </p:nvSpPr>
        <p:spPr>
          <a:xfrm>
            <a:off x="9759180" y="340946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2" name="Oval 761"/>
          <p:cNvSpPr/>
          <p:nvPr/>
        </p:nvSpPr>
        <p:spPr>
          <a:xfrm>
            <a:off x="9829187" y="339424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3" name="Oval 762"/>
          <p:cNvSpPr/>
          <p:nvPr/>
        </p:nvSpPr>
        <p:spPr>
          <a:xfrm>
            <a:off x="9735342" y="341935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4" name="Oval 763"/>
          <p:cNvSpPr/>
          <p:nvPr/>
        </p:nvSpPr>
        <p:spPr>
          <a:xfrm>
            <a:off x="9689174" y="340848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5" name="Oval 764"/>
          <p:cNvSpPr/>
          <p:nvPr/>
        </p:nvSpPr>
        <p:spPr>
          <a:xfrm>
            <a:off x="9751637" y="340695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6" name="Oval 765"/>
          <p:cNvSpPr/>
          <p:nvPr/>
        </p:nvSpPr>
        <p:spPr>
          <a:xfrm>
            <a:off x="9545842" y="3627882"/>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7" name="Oval 766"/>
          <p:cNvSpPr/>
          <p:nvPr/>
        </p:nvSpPr>
        <p:spPr>
          <a:xfrm>
            <a:off x="9192792" y="3590271"/>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8" name="Oval 767"/>
          <p:cNvSpPr/>
          <p:nvPr/>
        </p:nvSpPr>
        <p:spPr>
          <a:xfrm>
            <a:off x="7531345" y="3618152"/>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9" name="Oval 768"/>
          <p:cNvSpPr/>
          <p:nvPr/>
        </p:nvSpPr>
        <p:spPr>
          <a:xfrm>
            <a:off x="9655981" y="3608108"/>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0" name="Oval 769"/>
          <p:cNvSpPr/>
          <p:nvPr/>
        </p:nvSpPr>
        <p:spPr>
          <a:xfrm>
            <a:off x="8299304" y="3643463"/>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1" name="Oval 770"/>
          <p:cNvSpPr/>
          <p:nvPr/>
        </p:nvSpPr>
        <p:spPr>
          <a:xfrm>
            <a:off x="9285128" y="364050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2" name="Oval 771"/>
          <p:cNvSpPr/>
          <p:nvPr/>
        </p:nvSpPr>
        <p:spPr>
          <a:xfrm>
            <a:off x="7284210" y="362593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3" name="Oval 772"/>
          <p:cNvSpPr/>
          <p:nvPr/>
        </p:nvSpPr>
        <p:spPr>
          <a:xfrm>
            <a:off x="9601364" y="3626936"/>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4" name="Oval 773"/>
          <p:cNvSpPr/>
          <p:nvPr/>
        </p:nvSpPr>
        <p:spPr>
          <a:xfrm>
            <a:off x="9148736" y="3655592"/>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5" name="TextBox 774"/>
          <p:cNvSpPr txBox="1"/>
          <p:nvPr/>
        </p:nvSpPr>
        <p:spPr>
          <a:xfrm>
            <a:off x="10195560" y="336956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119 of 123</a:t>
            </a:r>
          </a:p>
          <a:p>
            <a:pPr algn="l">
              <a:lnSpc>
                <a:spcPct val="109000"/>
              </a:lnSpc>
              <a:spcBef>
                <a:spcPts val="0"/>
              </a:spcBef>
              <a:spcAft>
                <a:spcPts val="0"/>
              </a:spcAft>
            </a:pPr>
            <a:r>
              <a:rPr sz="1250" b="0">
                <a:solidFill>
                  <a:srgbClr val="00407A"/>
                </a:solidFill>
                <a:latin typeface="Arial"/>
              </a:rPr>
              <a:t>are “yes”</a:t>
            </a:r>
          </a:p>
        </p:txBody>
      </p:sp>
      <p:sp>
        <p:nvSpPr>
          <p:cNvPr id="776" name="TextBox 775"/>
          <p:cNvSpPr txBox="1"/>
          <p:nvPr/>
        </p:nvSpPr>
        <p:spPr>
          <a:xfrm>
            <a:off x="6391656" y="392734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9B</a:t>
            </a:r>
          </a:p>
        </p:txBody>
      </p:sp>
      <p:sp>
        <p:nvSpPr>
          <p:cNvPr id="777" name="Oval 776"/>
          <p:cNvSpPr/>
          <p:nvPr/>
        </p:nvSpPr>
        <p:spPr>
          <a:xfrm>
            <a:off x="9834317" y="392593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8" name="Oval 777"/>
          <p:cNvSpPr/>
          <p:nvPr/>
        </p:nvSpPr>
        <p:spPr>
          <a:xfrm>
            <a:off x="9744998" y="395449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9" name="Oval 778"/>
          <p:cNvSpPr/>
          <p:nvPr/>
        </p:nvSpPr>
        <p:spPr>
          <a:xfrm>
            <a:off x="9836429" y="396672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0" name="Oval 779"/>
          <p:cNvSpPr/>
          <p:nvPr/>
        </p:nvSpPr>
        <p:spPr>
          <a:xfrm>
            <a:off x="9420011" y="397547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1" name="Oval 780"/>
          <p:cNvSpPr/>
          <p:nvPr/>
        </p:nvSpPr>
        <p:spPr>
          <a:xfrm>
            <a:off x="9614641" y="390809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2" name="Oval 781"/>
          <p:cNvSpPr/>
          <p:nvPr/>
        </p:nvSpPr>
        <p:spPr>
          <a:xfrm>
            <a:off x="9865095" y="397928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3" name="Oval 782"/>
          <p:cNvSpPr/>
          <p:nvPr/>
        </p:nvSpPr>
        <p:spPr>
          <a:xfrm>
            <a:off x="9706374" y="394145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4" name="Oval 783"/>
          <p:cNvSpPr/>
          <p:nvPr/>
        </p:nvSpPr>
        <p:spPr>
          <a:xfrm>
            <a:off x="9821643" y="390993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5" name="Oval 784"/>
          <p:cNvSpPr/>
          <p:nvPr/>
        </p:nvSpPr>
        <p:spPr>
          <a:xfrm>
            <a:off x="9267626" y="398182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6" name="Oval 785"/>
          <p:cNvSpPr/>
          <p:nvPr/>
        </p:nvSpPr>
        <p:spPr>
          <a:xfrm>
            <a:off x="9715728" y="395023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7" name="Oval 786"/>
          <p:cNvSpPr/>
          <p:nvPr/>
        </p:nvSpPr>
        <p:spPr>
          <a:xfrm>
            <a:off x="9651455" y="396292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8" name="Oval 787"/>
          <p:cNvSpPr/>
          <p:nvPr/>
        </p:nvSpPr>
        <p:spPr>
          <a:xfrm>
            <a:off x="9747110" y="394173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9" name="Oval 788"/>
          <p:cNvSpPr/>
          <p:nvPr/>
        </p:nvSpPr>
        <p:spPr>
          <a:xfrm>
            <a:off x="9709391" y="395919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0" name="Oval 789"/>
          <p:cNvSpPr/>
          <p:nvPr/>
        </p:nvSpPr>
        <p:spPr>
          <a:xfrm>
            <a:off x="9680725" y="389303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1" name="Oval 790"/>
          <p:cNvSpPr/>
          <p:nvPr/>
        </p:nvSpPr>
        <p:spPr>
          <a:xfrm>
            <a:off x="9732928" y="396365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2" name="Oval 791"/>
          <p:cNvSpPr/>
          <p:nvPr/>
        </p:nvSpPr>
        <p:spPr>
          <a:xfrm>
            <a:off x="9559421" y="390947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3" name="Oval 792"/>
          <p:cNvSpPr/>
          <p:nvPr/>
        </p:nvSpPr>
        <p:spPr>
          <a:xfrm>
            <a:off x="9520193" y="391781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4" name="Oval 793"/>
          <p:cNvSpPr/>
          <p:nvPr/>
        </p:nvSpPr>
        <p:spPr>
          <a:xfrm>
            <a:off x="9442341" y="392806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5" name="Oval 794"/>
          <p:cNvSpPr/>
          <p:nvPr/>
        </p:nvSpPr>
        <p:spPr>
          <a:xfrm>
            <a:off x="9547350" y="391800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6" name="Oval 795"/>
          <p:cNvSpPr/>
          <p:nvPr/>
        </p:nvSpPr>
        <p:spPr>
          <a:xfrm>
            <a:off x="9740774" y="393098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7" name="Oval 796"/>
          <p:cNvSpPr/>
          <p:nvPr/>
        </p:nvSpPr>
        <p:spPr>
          <a:xfrm>
            <a:off x="9558214" y="392402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8" name="Oval 797"/>
          <p:cNvSpPr/>
          <p:nvPr/>
        </p:nvSpPr>
        <p:spPr>
          <a:xfrm>
            <a:off x="9709693" y="393425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9" name="Oval 798"/>
          <p:cNvSpPr/>
          <p:nvPr/>
        </p:nvSpPr>
        <p:spPr>
          <a:xfrm>
            <a:off x="9750430" y="394602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0" name="Oval 799"/>
          <p:cNvSpPr/>
          <p:nvPr/>
        </p:nvSpPr>
        <p:spPr>
          <a:xfrm>
            <a:off x="9606192" y="395818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1" name="Oval 800"/>
          <p:cNvSpPr/>
          <p:nvPr/>
        </p:nvSpPr>
        <p:spPr>
          <a:xfrm>
            <a:off x="9460446" y="397176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2" name="Oval 801"/>
          <p:cNvSpPr/>
          <p:nvPr/>
        </p:nvSpPr>
        <p:spPr>
          <a:xfrm>
            <a:off x="9539807" y="394785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3" name="Oval 802"/>
          <p:cNvSpPr/>
          <p:nvPr/>
        </p:nvSpPr>
        <p:spPr>
          <a:xfrm>
            <a:off x="9737152" y="397027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4" name="Oval 803"/>
          <p:cNvSpPr/>
          <p:nvPr/>
        </p:nvSpPr>
        <p:spPr>
          <a:xfrm>
            <a:off x="9217234" y="390192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5" name="Oval 804"/>
          <p:cNvSpPr/>
          <p:nvPr/>
        </p:nvSpPr>
        <p:spPr>
          <a:xfrm>
            <a:off x="9639988" y="397127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6" name="Oval 805"/>
          <p:cNvSpPr/>
          <p:nvPr/>
        </p:nvSpPr>
        <p:spPr>
          <a:xfrm>
            <a:off x="9671672" y="393665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7" name="Oval 806"/>
          <p:cNvSpPr/>
          <p:nvPr/>
        </p:nvSpPr>
        <p:spPr>
          <a:xfrm>
            <a:off x="9667146" y="390572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8" name="Oval 807"/>
          <p:cNvSpPr/>
          <p:nvPr/>
        </p:nvSpPr>
        <p:spPr>
          <a:xfrm>
            <a:off x="9808668" y="396382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9" name="Oval 808"/>
          <p:cNvSpPr/>
          <p:nvPr/>
        </p:nvSpPr>
        <p:spPr>
          <a:xfrm>
            <a:off x="9567266" y="398822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0" name="Oval 809"/>
          <p:cNvSpPr/>
          <p:nvPr/>
        </p:nvSpPr>
        <p:spPr>
          <a:xfrm>
            <a:off x="9573905" y="390074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1" name="Oval 810"/>
          <p:cNvSpPr/>
          <p:nvPr/>
        </p:nvSpPr>
        <p:spPr>
          <a:xfrm>
            <a:off x="9730514" y="393043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2" name="Oval 811"/>
          <p:cNvSpPr/>
          <p:nvPr/>
        </p:nvSpPr>
        <p:spPr>
          <a:xfrm>
            <a:off x="9458937" y="397020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3" name="Oval 812"/>
          <p:cNvSpPr/>
          <p:nvPr/>
        </p:nvSpPr>
        <p:spPr>
          <a:xfrm>
            <a:off x="9567568" y="391182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4" name="Oval 813"/>
          <p:cNvSpPr/>
          <p:nvPr/>
        </p:nvSpPr>
        <p:spPr>
          <a:xfrm>
            <a:off x="9647532" y="396864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5" name="Oval 814"/>
          <p:cNvSpPr/>
          <p:nvPr/>
        </p:nvSpPr>
        <p:spPr>
          <a:xfrm>
            <a:off x="9651153" y="390902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6" name="Oval 815"/>
          <p:cNvSpPr/>
          <p:nvPr/>
        </p:nvSpPr>
        <p:spPr>
          <a:xfrm>
            <a:off x="9582354" y="398805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7" name="Oval 816"/>
          <p:cNvSpPr/>
          <p:nvPr/>
        </p:nvSpPr>
        <p:spPr>
          <a:xfrm>
            <a:off x="9647834" y="395361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8" name="Oval 817"/>
          <p:cNvSpPr/>
          <p:nvPr/>
        </p:nvSpPr>
        <p:spPr>
          <a:xfrm>
            <a:off x="9850913" y="394870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9" name="Oval 818"/>
          <p:cNvSpPr/>
          <p:nvPr/>
        </p:nvSpPr>
        <p:spPr>
          <a:xfrm>
            <a:off x="9735342" y="396579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0" name="Oval 819"/>
          <p:cNvSpPr/>
          <p:nvPr/>
        </p:nvSpPr>
        <p:spPr>
          <a:xfrm>
            <a:off x="9697019" y="392635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1" name="Oval 820"/>
          <p:cNvSpPr/>
          <p:nvPr/>
        </p:nvSpPr>
        <p:spPr>
          <a:xfrm>
            <a:off x="9688570" y="393925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2" name="Oval 821"/>
          <p:cNvSpPr/>
          <p:nvPr/>
        </p:nvSpPr>
        <p:spPr>
          <a:xfrm>
            <a:off x="9707883" y="393058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3" name="Oval 822"/>
          <p:cNvSpPr/>
          <p:nvPr/>
        </p:nvSpPr>
        <p:spPr>
          <a:xfrm>
            <a:off x="9619469" y="393598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4" name="Oval 823"/>
          <p:cNvSpPr/>
          <p:nvPr/>
        </p:nvSpPr>
        <p:spPr>
          <a:xfrm>
            <a:off x="9370826" y="398137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5" name="Oval 824"/>
          <p:cNvSpPr/>
          <p:nvPr/>
        </p:nvSpPr>
        <p:spPr>
          <a:xfrm>
            <a:off x="9714521" y="397902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6" name="Oval 825"/>
          <p:cNvSpPr/>
          <p:nvPr/>
        </p:nvSpPr>
        <p:spPr>
          <a:xfrm>
            <a:off x="9807159" y="396455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7" name="Oval 826"/>
          <p:cNvSpPr/>
          <p:nvPr/>
        </p:nvSpPr>
        <p:spPr>
          <a:xfrm>
            <a:off x="9144813" y="396381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8" name="Oval 827"/>
          <p:cNvSpPr/>
          <p:nvPr/>
        </p:nvSpPr>
        <p:spPr>
          <a:xfrm>
            <a:off x="9665034" y="396977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9" name="Oval 828"/>
          <p:cNvSpPr/>
          <p:nvPr/>
        </p:nvSpPr>
        <p:spPr>
          <a:xfrm>
            <a:off x="9745602" y="390588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0" name="Oval 829"/>
          <p:cNvSpPr/>
          <p:nvPr/>
        </p:nvSpPr>
        <p:spPr>
          <a:xfrm>
            <a:off x="9653869" y="396559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1" name="Oval 830"/>
          <p:cNvSpPr/>
          <p:nvPr/>
        </p:nvSpPr>
        <p:spPr>
          <a:xfrm>
            <a:off x="9339142" y="393456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2" name="Oval 831"/>
          <p:cNvSpPr/>
          <p:nvPr/>
        </p:nvSpPr>
        <p:spPr>
          <a:xfrm>
            <a:off x="9812892" y="393801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3" name="Oval 832"/>
          <p:cNvSpPr/>
          <p:nvPr/>
        </p:nvSpPr>
        <p:spPr>
          <a:xfrm>
            <a:off x="9872941" y="393492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4" name="Oval 833"/>
          <p:cNvSpPr/>
          <p:nvPr/>
        </p:nvSpPr>
        <p:spPr>
          <a:xfrm>
            <a:off x="9814099" y="393933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5" name="Oval 834"/>
          <p:cNvSpPr/>
          <p:nvPr/>
        </p:nvSpPr>
        <p:spPr>
          <a:xfrm>
            <a:off x="9772156" y="390415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6" name="Oval 835"/>
          <p:cNvSpPr/>
          <p:nvPr/>
        </p:nvSpPr>
        <p:spPr>
          <a:xfrm>
            <a:off x="9772156" y="389939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7" name="Oval 836"/>
          <p:cNvSpPr/>
          <p:nvPr/>
        </p:nvSpPr>
        <p:spPr>
          <a:xfrm>
            <a:off x="9827980" y="395021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8" name="Oval 837"/>
          <p:cNvSpPr/>
          <p:nvPr/>
        </p:nvSpPr>
        <p:spPr>
          <a:xfrm>
            <a:off x="9812590" y="395891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9" name="Oval 838"/>
          <p:cNvSpPr/>
          <p:nvPr/>
        </p:nvSpPr>
        <p:spPr>
          <a:xfrm>
            <a:off x="9833110" y="391256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0" name="Oval 839"/>
          <p:cNvSpPr/>
          <p:nvPr/>
        </p:nvSpPr>
        <p:spPr>
          <a:xfrm>
            <a:off x="9881993" y="393003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1" name="Oval 840"/>
          <p:cNvSpPr/>
          <p:nvPr/>
        </p:nvSpPr>
        <p:spPr>
          <a:xfrm>
            <a:off x="9894969" y="392944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2" name="Oval 841"/>
          <p:cNvSpPr/>
          <p:nvPr/>
        </p:nvSpPr>
        <p:spPr>
          <a:xfrm>
            <a:off x="9851517" y="395495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3" name="Oval 842"/>
          <p:cNvSpPr/>
          <p:nvPr/>
        </p:nvSpPr>
        <p:spPr>
          <a:xfrm>
            <a:off x="9832506" y="391846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4" name="Oval 843"/>
          <p:cNvSpPr/>
          <p:nvPr/>
        </p:nvSpPr>
        <p:spPr>
          <a:xfrm>
            <a:off x="9841860" y="397406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5" name="Oval 844"/>
          <p:cNvSpPr/>
          <p:nvPr/>
        </p:nvSpPr>
        <p:spPr>
          <a:xfrm>
            <a:off x="9853931" y="390351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6" name="Oval 845"/>
          <p:cNvSpPr/>
          <p:nvPr/>
        </p:nvSpPr>
        <p:spPr>
          <a:xfrm>
            <a:off x="9782717" y="390305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7" name="Oval 846"/>
          <p:cNvSpPr/>
          <p:nvPr/>
        </p:nvSpPr>
        <p:spPr>
          <a:xfrm>
            <a:off x="9580543" y="398681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8" name="Oval 847"/>
          <p:cNvSpPr/>
          <p:nvPr/>
        </p:nvSpPr>
        <p:spPr>
          <a:xfrm>
            <a:off x="9805650" y="395210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9" name="Oval 848"/>
          <p:cNvSpPr/>
          <p:nvPr/>
        </p:nvSpPr>
        <p:spPr>
          <a:xfrm>
            <a:off x="9834618" y="397302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0" name="Oval 849"/>
          <p:cNvSpPr/>
          <p:nvPr/>
        </p:nvSpPr>
        <p:spPr>
          <a:xfrm>
            <a:off x="9786942" y="390704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1" name="Oval 850"/>
          <p:cNvSpPr/>
          <p:nvPr/>
        </p:nvSpPr>
        <p:spPr>
          <a:xfrm>
            <a:off x="9827376" y="398295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2" name="Oval 851"/>
          <p:cNvSpPr/>
          <p:nvPr/>
        </p:nvSpPr>
        <p:spPr>
          <a:xfrm>
            <a:off x="9710900" y="398883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3" name="Oval 852"/>
          <p:cNvSpPr/>
          <p:nvPr/>
        </p:nvSpPr>
        <p:spPr>
          <a:xfrm>
            <a:off x="9600459" y="396747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4" name="Oval 853"/>
          <p:cNvSpPr/>
          <p:nvPr/>
        </p:nvSpPr>
        <p:spPr>
          <a:xfrm>
            <a:off x="9846387" y="398675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5" name="Oval 854"/>
          <p:cNvSpPr/>
          <p:nvPr/>
        </p:nvSpPr>
        <p:spPr>
          <a:xfrm>
            <a:off x="9460446" y="392245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6" name="Oval 855"/>
          <p:cNvSpPr/>
          <p:nvPr/>
        </p:nvSpPr>
        <p:spPr>
          <a:xfrm>
            <a:off x="9304138" y="395451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7" name="Oval 856"/>
          <p:cNvSpPr/>
          <p:nvPr/>
        </p:nvSpPr>
        <p:spPr>
          <a:xfrm>
            <a:off x="9533470" y="399046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8" name="Oval 857"/>
          <p:cNvSpPr/>
          <p:nvPr/>
        </p:nvSpPr>
        <p:spPr>
          <a:xfrm>
            <a:off x="9685553" y="393877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9" name="Oval 858"/>
          <p:cNvSpPr/>
          <p:nvPr/>
        </p:nvSpPr>
        <p:spPr>
          <a:xfrm>
            <a:off x="9558817" y="397545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0" name="Oval 859"/>
          <p:cNvSpPr/>
          <p:nvPr/>
        </p:nvSpPr>
        <p:spPr>
          <a:xfrm>
            <a:off x="9646929" y="390821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1" name="Oval 860"/>
          <p:cNvSpPr/>
          <p:nvPr/>
        </p:nvSpPr>
        <p:spPr>
          <a:xfrm>
            <a:off x="9644213" y="390549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2" name="Oval 861"/>
          <p:cNvSpPr/>
          <p:nvPr/>
        </p:nvSpPr>
        <p:spPr>
          <a:xfrm>
            <a:off x="9706676" y="398049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3" name="Oval 862"/>
          <p:cNvSpPr/>
          <p:nvPr/>
        </p:nvSpPr>
        <p:spPr>
          <a:xfrm>
            <a:off x="9689174" y="392318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4" name="Oval 863"/>
          <p:cNvSpPr/>
          <p:nvPr/>
        </p:nvSpPr>
        <p:spPr>
          <a:xfrm>
            <a:off x="9568775" y="398535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5" name="Oval 864"/>
          <p:cNvSpPr/>
          <p:nvPr/>
        </p:nvSpPr>
        <p:spPr>
          <a:xfrm>
            <a:off x="9556101" y="396603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6" name="Oval 865"/>
          <p:cNvSpPr/>
          <p:nvPr/>
        </p:nvSpPr>
        <p:spPr>
          <a:xfrm>
            <a:off x="8929966" y="392478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7" name="Oval 866"/>
          <p:cNvSpPr/>
          <p:nvPr/>
        </p:nvSpPr>
        <p:spPr>
          <a:xfrm>
            <a:off x="7361459" y="394302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8" name="Oval 867"/>
          <p:cNvSpPr/>
          <p:nvPr/>
        </p:nvSpPr>
        <p:spPr>
          <a:xfrm>
            <a:off x="7459830" y="391442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9" name="Oval 868"/>
          <p:cNvSpPr/>
          <p:nvPr/>
        </p:nvSpPr>
        <p:spPr>
          <a:xfrm>
            <a:off x="9750731" y="395729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0" name="Oval 869"/>
          <p:cNvSpPr/>
          <p:nvPr/>
        </p:nvSpPr>
        <p:spPr>
          <a:xfrm>
            <a:off x="9255255" y="392230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1" name="Oval 870"/>
          <p:cNvSpPr/>
          <p:nvPr/>
        </p:nvSpPr>
        <p:spPr>
          <a:xfrm>
            <a:off x="9235942" y="395868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2" name="Oval 871"/>
          <p:cNvSpPr/>
          <p:nvPr/>
        </p:nvSpPr>
        <p:spPr>
          <a:xfrm>
            <a:off x="9357548" y="390098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3" name="Oval 872"/>
          <p:cNvSpPr/>
          <p:nvPr/>
        </p:nvSpPr>
        <p:spPr>
          <a:xfrm>
            <a:off x="9437211" y="395872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4" name="Oval 873"/>
          <p:cNvSpPr/>
          <p:nvPr/>
        </p:nvSpPr>
        <p:spPr>
          <a:xfrm>
            <a:off x="9757672" y="397756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5" name="Oval 874"/>
          <p:cNvSpPr/>
          <p:nvPr/>
        </p:nvSpPr>
        <p:spPr>
          <a:xfrm>
            <a:off x="9676802" y="393911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6" name="Oval 875"/>
          <p:cNvSpPr/>
          <p:nvPr/>
        </p:nvSpPr>
        <p:spPr>
          <a:xfrm>
            <a:off x="9665939" y="393499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7" name="Oval 876"/>
          <p:cNvSpPr/>
          <p:nvPr/>
        </p:nvSpPr>
        <p:spPr>
          <a:xfrm>
            <a:off x="9864492" y="390737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8" name="Oval 877"/>
          <p:cNvSpPr/>
          <p:nvPr/>
        </p:nvSpPr>
        <p:spPr>
          <a:xfrm>
            <a:off x="9697925" y="398644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9" name="Oval 878"/>
          <p:cNvSpPr/>
          <p:nvPr/>
        </p:nvSpPr>
        <p:spPr>
          <a:xfrm>
            <a:off x="9771854" y="389800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0" name="Oval 879"/>
          <p:cNvSpPr/>
          <p:nvPr/>
        </p:nvSpPr>
        <p:spPr>
          <a:xfrm>
            <a:off x="9890744" y="389086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1" name="Oval 880"/>
          <p:cNvSpPr/>
          <p:nvPr/>
        </p:nvSpPr>
        <p:spPr>
          <a:xfrm>
            <a:off x="9875958" y="395174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2" name="Oval 881"/>
          <p:cNvSpPr/>
          <p:nvPr/>
        </p:nvSpPr>
        <p:spPr>
          <a:xfrm>
            <a:off x="9722668" y="394854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3" name="Oval 882"/>
          <p:cNvSpPr/>
          <p:nvPr/>
        </p:nvSpPr>
        <p:spPr>
          <a:xfrm>
            <a:off x="9511140" y="392834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4" name="Oval 883"/>
          <p:cNvSpPr/>
          <p:nvPr/>
        </p:nvSpPr>
        <p:spPr>
          <a:xfrm>
            <a:off x="9851215" y="390889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5" name="Oval 884"/>
          <p:cNvSpPr/>
          <p:nvPr/>
        </p:nvSpPr>
        <p:spPr>
          <a:xfrm>
            <a:off x="9840955" y="397627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6" name="Oval 885"/>
          <p:cNvSpPr/>
          <p:nvPr/>
        </p:nvSpPr>
        <p:spPr>
          <a:xfrm>
            <a:off x="9671672" y="391238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7" name="Oval 886"/>
          <p:cNvSpPr/>
          <p:nvPr/>
        </p:nvSpPr>
        <p:spPr>
          <a:xfrm>
            <a:off x="9630936" y="389716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8" name="Oval 887"/>
          <p:cNvSpPr/>
          <p:nvPr/>
        </p:nvSpPr>
        <p:spPr>
          <a:xfrm>
            <a:off x="9757068" y="392227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9" name="Oval 888"/>
          <p:cNvSpPr/>
          <p:nvPr/>
        </p:nvSpPr>
        <p:spPr>
          <a:xfrm>
            <a:off x="9709391" y="391140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0" name="Oval 889"/>
          <p:cNvSpPr/>
          <p:nvPr/>
        </p:nvSpPr>
        <p:spPr>
          <a:xfrm>
            <a:off x="9610718" y="390987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1" name="Oval 890"/>
          <p:cNvSpPr/>
          <p:nvPr/>
        </p:nvSpPr>
        <p:spPr>
          <a:xfrm>
            <a:off x="8947468" y="4130802"/>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2" name="Oval 891"/>
          <p:cNvSpPr/>
          <p:nvPr/>
        </p:nvSpPr>
        <p:spPr>
          <a:xfrm>
            <a:off x="9439625" y="4093191"/>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3" name="Oval 892"/>
          <p:cNvSpPr/>
          <p:nvPr/>
        </p:nvSpPr>
        <p:spPr>
          <a:xfrm>
            <a:off x="7139068" y="4121072"/>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4" name="Oval 893"/>
          <p:cNvSpPr/>
          <p:nvPr/>
        </p:nvSpPr>
        <p:spPr>
          <a:xfrm>
            <a:off x="9577827" y="4111028"/>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5" name="Oval 894"/>
          <p:cNvSpPr/>
          <p:nvPr/>
        </p:nvSpPr>
        <p:spPr>
          <a:xfrm>
            <a:off x="7494532" y="4146383"/>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6" name="Oval 895"/>
          <p:cNvSpPr/>
          <p:nvPr/>
        </p:nvSpPr>
        <p:spPr>
          <a:xfrm>
            <a:off x="9529849" y="414342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7" name="Oval 896"/>
          <p:cNvSpPr/>
          <p:nvPr/>
        </p:nvSpPr>
        <p:spPr>
          <a:xfrm>
            <a:off x="7213299" y="412885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8" name="Oval 897"/>
          <p:cNvSpPr/>
          <p:nvPr/>
        </p:nvSpPr>
        <p:spPr>
          <a:xfrm>
            <a:off x="9689174" y="4129856"/>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9" name="Oval 898"/>
          <p:cNvSpPr/>
          <p:nvPr/>
        </p:nvSpPr>
        <p:spPr>
          <a:xfrm>
            <a:off x="7875946" y="4158512"/>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0" name="TextBox 899"/>
          <p:cNvSpPr txBox="1"/>
          <p:nvPr/>
        </p:nvSpPr>
        <p:spPr>
          <a:xfrm>
            <a:off x="10195560" y="387248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117 of 123</a:t>
            </a:r>
          </a:p>
          <a:p>
            <a:pPr algn="l">
              <a:lnSpc>
                <a:spcPct val="109000"/>
              </a:lnSpc>
              <a:spcBef>
                <a:spcPts val="0"/>
              </a:spcBef>
              <a:spcAft>
                <a:spcPts val="0"/>
              </a:spcAft>
            </a:pPr>
            <a:r>
              <a:rPr sz="1250" b="0">
                <a:solidFill>
                  <a:srgbClr val="00407A"/>
                </a:solidFill>
                <a:latin typeface="Arial"/>
              </a:rPr>
              <a:t>are “yes”</a:t>
            </a:r>
          </a:p>
        </p:txBody>
      </p:sp>
      <p:sp>
        <p:nvSpPr>
          <p:cNvPr id="901" name="TextBox 900"/>
          <p:cNvSpPr txBox="1"/>
          <p:nvPr/>
        </p:nvSpPr>
        <p:spPr>
          <a:xfrm>
            <a:off x="6391656" y="443026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27B</a:t>
            </a:r>
          </a:p>
        </p:txBody>
      </p:sp>
      <p:sp>
        <p:nvSpPr>
          <p:cNvPr id="902" name="Oval 901"/>
          <p:cNvSpPr/>
          <p:nvPr/>
        </p:nvSpPr>
        <p:spPr>
          <a:xfrm>
            <a:off x="9970709" y="442885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3" name="Oval 902"/>
          <p:cNvSpPr/>
          <p:nvPr/>
        </p:nvSpPr>
        <p:spPr>
          <a:xfrm>
            <a:off x="9285732" y="445741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4" name="Oval 903"/>
          <p:cNvSpPr/>
          <p:nvPr/>
        </p:nvSpPr>
        <p:spPr>
          <a:xfrm>
            <a:off x="9078126" y="446964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5" name="Oval 904"/>
          <p:cNvSpPr/>
          <p:nvPr/>
        </p:nvSpPr>
        <p:spPr>
          <a:xfrm>
            <a:off x="9003895" y="447839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6" name="Oval 905"/>
          <p:cNvSpPr/>
          <p:nvPr/>
        </p:nvSpPr>
        <p:spPr>
          <a:xfrm>
            <a:off x="9648437" y="441101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7" name="Oval 906"/>
          <p:cNvSpPr/>
          <p:nvPr/>
        </p:nvSpPr>
        <p:spPr>
          <a:xfrm>
            <a:off x="8841553" y="448220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8" name="Oval 907"/>
          <p:cNvSpPr/>
          <p:nvPr/>
        </p:nvSpPr>
        <p:spPr>
          <a:xfrm>
            <a:off x="9869320" y="444437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9" name="Oval 908"/>
          <p:cNvSpPr/>
          <p:nvPr/>
        </p:nvSpPr>
        <p:spPr>
          <a:xfrm>
            <a:off x="9654472" y="441285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0" name="Oval 909"/>
          <p:cNvSpPr/>
          <p:nvPr/>
        </p:nvSpPr>
        <p:spPr>
          <a:xfrm>
            <a:off x="9097137" y="448474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1" name="Oval 910"/>
          <p:cNvSpPr/>
          <p:nvPr/>
        </p:nvSpPr>
        <p:spPr>
          <a:xfrm>
            <a:off x="9802934" y="445315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2" name="Oval 911"/>
          <p:cNvSpPr/>
          <p:nvPr/>
        </p:nvSpPr>
        <p:spPr>
          <a:xfrm>
            <a:off x="9119164" y="446584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3" name="Oval 912"/>
          <p:cNvSpPr/>
          <p:nvPr/>
        </p:nvSpPr>
        <p:spPr>
          <a:xfrm>
            <a:off x="8566958" y="444465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4" name="Oval 913"/>
          <p:cNvSpPr/>
          <p:nvPr/>
        </p:nvSpPr>
        <p:spPr>
          <a:xfrm>
            <a:off x="9886821" y="446211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5" name="Oval 914"/>
          <p:cNvSpPr/>
          <p:nvPr/>
        </p:nvSpPr>
        <p:spPr>
          <a:xfrm>
            <a:off x="9068470" y="439595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6" name="Oval 915"/>
          <p:cNvSpPr/>
          <p:nvPr/>
        </p:nvSpPr>
        <p:spPr>
          <a:xfrm>
            <a:off x="8788444" y="446657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7" name="Oval 916"/>
          <p:cNvSpPr/>
          <p:nvPr/>
        </p:nvSpPr>
        <p:spPr>
          <a:xfrm>
            <a:off x="7386203" y="441239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8" name="Oval 917"/>
          <p:cNvSpPr/>
          <p:nvPr/>
        </p:nvSpPr>
        <p:spPr>
          <a:xfrm>
            <a:off x="9562740" y="442073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9" name="Oval 918"/>
          <p:cNvSpPr/>
          <p:nvPr/>
        </p:nvSpPr>
        <p:spPr>
          <a:xfrm>
            <a:off x="9104077" y="443098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0" name="Oval 919"/>
          <p:cNvSpPr/>
          <p:nvPr/>
        </p:nvSpPr>
        <p:spPr>
          <a:xfrm>
            <a:off x="9538600" y="442092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1" name="Oval 920"/>
          <p:cNvSpPr/>
          <p:nvPr/>
        </p:nvSpPr>
        <p:spPr>
          <a:xfrm>
            <a:off x="9411562" y="443390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2" name="Oval 921"/>
          <p:cNvSpPr/>
          <p:nvPr/>
        </p:nvSpPr>
        <p:spPr>
          <a:xfrm>
            <a:off x="9413373" y="442694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3" name="Oval 922"/>
          <p:cNvSpPr/>
          <p:nvPr/>
        </p:nvSpPr>
        <p:spPr>
          <a:xfrm>
            <a:off x="9158392" y="443717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4" name="Oval 923"/>
          <p:cNvSpPr/>
          <p:nvPr/>
        </p:nvSpPr>
        <p:spPr>
          <a:xfrm>
            <a:off x="9924540" y="444894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5" name="Oval 924"/>
          <p:cNvSpPr/>
          <p:nvPr/>
        </p:nvSpPr>
        <p:spPr>
          <a:xfrm>
            <a:off x="9862078" y="446110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6" name="Oval 925"/>
          <p:cNvSpPr/>
          <p:nvPr/>
        </p:nvSpPr>
        <p:spPr>
          <a:xfrm>
            <a:off x="9265816" y="447468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7" name="Oval 926"/>
          <p:cNvSpPr/>
          <p:nvPr/>
        </p:nvSpPr>
        <p:spPr>
          <a:xfrm>
            <a:off x="9666543" y="445077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8" name="Oval 927"/>
          <p:cNvSpPr/>
          <p:nvPr/>
        </p:nvSpPr>
        <p:spPr>
          <a:xfrm>
            <a:off x="9852724" y="447319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9" name="Oval 928"/>
          <p:cNvSpPr/>
          <p:nvPr/>
        </p:nvSpPr>
        <p:spPr>
          <a:xfrm>
            <a:off x="8738655" y="440484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0" name="Oval 929"/>
          <p:cNvSpPr/>
          <p:nvPr/>
        </p:nvSpPr>
        <p:spPr>
          <a:xfrm>
            <a:off x="9712711" y="447419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1" name="Oval 930"/>
          <p:cNvSpPr/>
          <p:nvPr/>
        </p:nvSpPr>
        <p:spPr>
          <a:xfrm>
            <a:off x="9315001" y="443957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2" name="Oval 931"/>
          <p:cNvSpPr/>
          <p:nvPr/>
        </p:nvSpPr>
        <p:spPr>
          <a:xfrm>
            <a:off x="9006611" y="440864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3" name="Oval 932"/>
          <p:cNvSpPr/>
          <p:nvPr/>
        </p:nvSpPr>
        <p:spPr>
          <a:xfrm>
            <a:off x="9731419" y="446674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4" name="Oval 933"/>
          <p:cNvSpPr/>
          <p:nvPr/>
        </p:nvSpPr>
        <p:spPr>
          <a:xfrm>
            <a:off x="9436909" y="449114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5" name="Oval 934"/>
          <p:cNvSpPr/>
          <p:nvPr/>
        </p:nvSpPr>
        <p:spPr>
          <a:xfrm>
            <a:off x="9528642" y="440366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6" name="Oval 935"/>
          <p:cNvSpPr/>
          <p:nvPr/>
        </p:nvSpPr>
        <p:spPr>
          <a:xfrm>
            <a:off x="8915784" y="443335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7" name="Oval 936"/>
          <p:cNvSpPr/>
          <p:nvPr/>
        </p:nvSpPr>
        <p:spPr>
          <a:xfrm>
            <a:off x="8873538" y="447312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8" name="Oval 937"/>
          <p:cNvSpPr/>
          <p:nvPr/>
        </p:nvSpPr>
        <p:spPr>
          <a:xfrm>
            <a:off x="9576319" y="441474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9" name="Oval 938"/>
          <p:cNvSpPr/>
          <p:nvPr/>
        </p:nvSpPr>
        <p:spPr>
          <a:xfrm>
            <a:off x="9104077" y="447156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0" name="Oval 939"/>
          <p:cNvSpPr/>
          <p:nvPr/>
        </p:nvSpPr>
        <p:spPr>
          <a:xfrm>
            <a:off x="9047046" y="441194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1" name="Oval 940"/>
          <p:cNvSpPr/>
          <p:nvPr/>
        </p:nvSpPr>
        <p:spPr>
          <a:xfrm>
            <a:off x="8887419" y="449097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2" name="Oval 941"/>
          <p:cNvSpPr/>
          <p:nvPr/>
        </p:nvSpPr>
        <p:spPr>
          <a:xfrm>
            <a:off x="9635764" y="445653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3" name="Oval 942"/>
          <p:cNvSpPr/>
          <p:nvPr/>
        </p:nvSpPr>
        <p:spPr>
          <a:xfrm>
            <a:off x="8222056" y="445162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4" name="Oval 943"/>
          <p:cNvSpPr/>
          <p:nvPr/>
        </p:nvSpPr>
        <p:spPr>
          <a:xfrm>
            <a:off x="9371429" y="446871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5" name="Oval 944"/>
          <p:cNvSpPr/>
          <p:nvPr/>
        </p:nvSpPr>
        <p:spPr>
          <a:xfrm>
            <a:off x="9833411" y="442927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6" name="Oval 945"/>
          <p:cNvSpPr/>
          <p:nvPr/>
        </p:nvSpPr>
        <p:spPr>
          <a:xfrm>
            <a:off x="9948077" y="444217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7" name="Oval 946"/>
          <p:cNvSpPr/>
          <p:nvPr/>
        </p:nvSpPr>
        <p:spPr>
          <a:xfrm>
            <a:off x="9645118" y="443350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8" name="Oval 947"/>
          <p:cNvSpPr/>
          <p:nvPr/>
        </p:nvSpPr>
        <p:spPr>
          <a:xfrm>
            <a:off x="9698226" y="443890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9" name="Oval 948"/>
          <p:cNvSpPr/>
          <p:nvPr/>
        </p:nvSpPr>
        <p:spPr>
          <a:xfrm>
            <a:off x="8564544" y="448429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0" name="Oval 949"/>
          <p:cNvSpPr/>
          <p:nvPr/>
        </p:nvSpPr>
        <p:spPr>
          <a:xfrm>
            <a:off x="9447772" y="448194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1" name="Oval 950"/>
          <p:cNvSpPr/>
          <p:nvPr/>
        </p:nvSpPr>
        <p:spPr>
          <a:xfrm>
            <a:off x="9803538" y="446747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2" name="Oval 951"/>
          <p:cNvSpPr/>
          <p:nvPr/>
        </p:nvSpPr>
        <p:spPr>
          <a:xfrm>
            <a:off x="8938717" y="446673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3" name="Oval 952"/>
          <p:cNvSpPr/>
          <p:nvPr/>
        </p:nvSpPr>
        <p:spPr>
          <a:xfrm>
            <a:off x="9770345" y="447269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4" name="Oval 953"/>
          <p:cNvSpPr/>
          <p:nvPr/>
        </p:nvSpPr>
        <p:spPr>
          <a:xfrm>
            <a:off x="9945060" y="440880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5" name="Oval 954"/>
          <p:cNvSpPr/>
          <p:nvPr/>
        </p:nvSpPr>
        <p:spPr>
          <a:xfrm>
            <a:off x="9373843" y="446851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6" name="Oval 955"/>
          <p:cNvSpPr/>
          <p:nvPr/>
        </p:nvSpPr>
        <p:spPr>
          <a:xfrm>
            <a:off x="9695812" y="443748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7" name="Oval 956"/>
          <p:cNvSpPr/>
          <p:nvPr/>
        </p:nvSpPr>
        <p:spPr>
          <a:xfrm>
            <a:off x="9899797" y="444093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8" name="Oval 957"/>
          <p:cNvSpPr/>
          <p:nvPr/>
        </p:nvSpPr>
        <p:spPr>
          <a:xfrm>
            <a:off x="9963165" y="443784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9" name="Oval 958"/>
          <p:cNvSpPr/>
          <p:nvPr/>
        </p:nvSpPr>
        <p:spPr>
          <a:xfrm>
            <a:off x="9902814" y="444225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0" name="Oval 959"/>
          <p:cNvSpPr/>
          <p:nvPr/>
        </p:nvSpPr>
        <p:spPr>
          <a:xfrm>
            <a:off x="9679216" y="440707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1" name="Oval 960"/>
          <p:cNvSpPr/>
          <p:nvPr/>
        </p:nvSpPr>
        <p:spPr>
          <a:xfrm>
            <a:off x="9939628" y="440231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2" name="Oval 961"/>
          <p:cNvSpPr/>
          <p:nvPr/>
        </p:nvSpPr>
        <p:spPr>
          <a:xfrm>
            <a:off x="9920618" y="445313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3" name="Oval 962"/>
          <p:cNvSpPr/>
          <p:nvPr/>
        </p:nvSpPr>
        <p:spPr>
          <a:xfrm>
            <a:off x="9899797" y="446183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4" name="Oval 963"/>
          <p:cNvSpPr/>
          <p:nvPr/>
        </p:nvSpPr>
        <p:spPr>
          <a:xfrm>
            <a:off x="9917600" y="441548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5" name="Oval 964"/>
          <p:cNvSpPr/>
          <p:nvPr/>
        </p:nvSpPr>
        <p:spPr>
          <a:xfrm>
            <a:off x="9460144" y="443295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6" name="Oval 965"/>
          <p:cNvSpPr/>
          <p:nvPr/>
        </p:nvSpPr>
        <p:spPr>
          <a:xfrm>
            <a:off x="10001789" y="443236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7" name="Oval 966"/>
          <p:cNvSpPr/>
          <p:nvPr/>
        </p:nvSpPr>
        <p:spPr>
          <a:xfrm>
            <a:off x="9750128" y="445787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8" name="Oval 967"/>
          <p:cNvSpPr/>
          <p:nvPr/>
        </p:nvSpPr>
        <p:spPr>
          <a:xfrm>
            <a:off x="9139684" y="442138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9" name="Oval 968"/>
          <p:cNvSpPr/>
          <p:nvPr/>
        </p:nvSpPr>
        <p:spPr>
          <a:xfrm>
            <a:off x="9944154" y="447698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0" name="Oval 969"/>
          <p:cNvSpPr/>
          <p:nvPr/>
        </p:nvSpPr>
        <p:spPr>
          <a:xfrm>
            <a:off x="9916695" y="440643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1" name="Oval 970"/>
          <p:cNvSpPr/>
          <p:nvPr/>
        </p:nvSpPr>
        <p:spPr>
          <a:xfrm>
            <a:off x="9811685" y="440597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2" name="Oval 971"/>
          <p:cNvSpPr/>
          <p:nvPr/>
        </p:nvSpPr>
        <p:spPr>
          <a:xfrm>
            <a:off x="9478551" y="448973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3" name="Oval 972"/>
          <p:cNvSpPr/>
          <p:nvPr/>
        </p:nvSpPr>
        <p:spPr>
          <a:xfrm>
            <a:off x="9830092" y="445502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4" name="Oval 973"/>
          <p:cNvSpPr/>
          <p:nvPr/>
        </p:nvSpPr>
        <p:spPr>
          <a:xfrm>
            <a:off x="9905832" y="447594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5" name="Oval 974"/>
          <p:cNvSpPr/>
          <p:nvPr/>
        </p:nvSpPr>
        <p:spPr>
          <a:xfrm>
            <a:off x="9951396" y="440996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6" name="Oval 975"/>
          <p:cNvSpPr/>
          <p:nvPr/>
        </p:nvSpPr>
        <p:spPr>
          <a:xfrm>
            <a:off x="9901909" y="448587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7" name="Oval 976"/>
          <p:cNvSpPr/>
          <p:nvPr/>
        </p:nvSpPr>
        <p:spPr>
          <a:xfrm>
            <a:off x="9802331" y="449175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8" name="Oval 977"/>
          <p:cNvSpPr/>
          <p:nvPr/>
        </p:nvSpPr>
        <p:spPr>
          <a:xfrm>
            <a:off x="8722059" y="447039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9" name="Oval 978"/>
          <p:cNvSpPr/>
          <p:nvPr/>
        </p:nvSpPr>
        <p:spPr>
          <a:xfrm>
            <a:off x="9965881" y="448967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0" name="Oval 979"/>
          <p:cNvSpPr/>
          <p:nvPr/>
        </p:nvSpPr>
        <p:spPr>
          <a:xfrm>
            <a:off x="9213311" y="442537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1" name="Oval 980"/>
          <p:cNvSpPr/>
          <p:nvPr/>
        </p:nvSpPr>
        <p:spPr>
          <a:xfrm>
            <a:off x="7877455" y="445743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2" name="Oval 981"/>
          <p:cNvSpPr/>
          <p:nvPr/>
        </p:nvSpPr>
        <p:spPr>
          <a:xfrm>
            <a:off x="7410343" y="449338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3" name="Oval 982"/>
          <p:cNvSpPr/>
          <p:nvPr/>
        </p:nvSpPr>
        <p:spPr>
          <a:xfrm>
            <a:off x="8221150" y="444169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4" name="Oval 983"/>
          <p:cNvSpPr/>
          <p:nvPr/>
        </p:nvSpPr>
        <p:spPr>
          <a:xfrm>
            <a:off x="9467084" y="447837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5" name="Oval 984"/>
          <p:cNvSpPr/>
          <p:nvPr/>
        </p:nvSpPr>
        <p:spPr>
          <a:xfrm>
            <a:off x="9519589" y="441113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6" name="Oval 985"/>
          <p:cNvSpPr/>
          <p:nvPr/>
        </p:nvSpPr>
        <p:spPr>
          <a:xfrm>
            <a:off x="8983376" y="440841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7" name="Oval 986"/>
          <p:cNvSpPr/>
          <p:nvPr/>
        </p:nvSpPr>
        <p:spPr>
          <a:xfrm>
            <a:off x="9580543" y="448341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8" name="Oval 987"/>
          <p:cNvSpPr/>
          <p:nvPr/>
        </p:nvSpPr>
        <p:spPr>
          <a:xfrm>
            <a:off x="8957425" y="442610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9" name="Oval 988"/>
          <p:cNvSpPr/>
          <p:nvPr/>
        </p:nvSpPr>
        <p:spPr>
          <a:xfrm>
            <a:off x="9276981" y="448827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0" name="Oval 989"/>
          <p:cNvSpPr/>
          <p:nvPr/>
        </p:nvSpPr>
        <p:spPr>
          <a:xfrm>
            <a:off x="9309872" y="446895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1" name="Oval 990"/>
          <p:cNvSpPr/>
          <p:nvPr/>
        </p:nvSpPr>
        <p:spPr>
          <a:xfrm>
            <a:off x="9345478" y="442770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2" name="Oval 991"/>
          <p:cNvSpPr/>
          <p:nvPr/>
        </p:nvSpPr>
        <p:spPr>
          <a:xfrm>
            <a:off x="8818318" y="444594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3" name="Oval 992"/>
          <p:cNvSpPr/>
          <p:nvPr/>
        </p:nvSpPr>
        <p:spPr>
          <a:xfrm>
            <a:off x="9731117" y="441734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4" name="Oval 993"/>
          <p:cNvSpPr/>
          <p:nvPr/>
        </p:nvSpPr>
        <p:spPr>
          <a:xfrm>
            <a:off x="9638781" y="446021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5" name="Oval 994"/>
          <p:cNvSpPr/>
          <p:nvPr/>
        </p:nvSpPr>
        <p:spPr>
          <a:xfrm>
            <a:off x="9365696" y="442522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6" name="Oval 995"/>
          <p:cNvSpPr/>
          <p:nvPr/>
        </p:nvSpPr>
        <p:spPr>
          <a:xfrm>
            <a:off x="9612227" y="446160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7" name="Oval 996"/>
          <p:cNvSpPr/>
          <p:nvPr/>
        </p:nvSpPr>
        <p:spPr>
          <a:xfrm>
            <a:off x="8187052" y="440390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8" name="Oval 997"/>
          <p:cNvSpPr/>
          <p:nvPr/>
        </p:nvSpPr>
        <p:spPr>
          <a:xfrm>
            <a:off x="9471309" y="446164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9" name="Oval 998"/>
          <p:cNvSpPr/>
          <p:nvPr/>
        </p:nvSpPr>
        <p:spPr>
          <a:xfrm>
            <a:off x="9517477" y="448048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0" name="Oval 999"/>
          <p:cNvSpPr/>
          <p:nvPr/>
        </p:nvSpPr>
        <p:spPr>
          <a:xfrm>
            <a:off x="9582354" y="444203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1" name="Oval 1000"/>
          <p:cNvSpPr/>
          <p:nvPr/>
        </p:nvSpPr>
        <p:spPr>
          <a:xfrm>
            <a:off x="9462256" y="443791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2" name="Oval 1001"/>
          <p:cNvSpPr/>
          <p:nvPr/>
        </p:nvSpPr>
        <p:spPr>
          <a:xfrm>
            <a:off x="9845180" y="441029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3" name="Oval 1002"/>
          <p:cNvSpPr/>
          <p:nvPr/>
        </p:nvSpPr>
        <p:spPr>
          <a:xfrm>
            <a:off x="9963768" y="448936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4" name="Oval 1003"/>
          <p:cNvSpPr/>
          <p:nvPr/>
        </p:nvSpPr>
        <p:spPr>
          <a:xfrm>
            <a:off x="9596838" y="440092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5" name="Oval 1004"/>
          <p:cNvSpPr/>
          <p:nvPr/>
        </p:nvSpPr>
        <p:spPr>
          <a:xfrm>
            <a:off x="9530151" y="439378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6" name="Oval 1005"/>
          <p:cNvSpPr/>
          <p:nvPr/>
        </p:nvSpPr>
        <p:spPr>
          <a:xfrm>
            <a:off x="9904927" y="445466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7" name="Oval 1006"/>
          <p:cNvSpPr/>
          <p:nvPr/>
        </p:nvSpPr>
        <p:spPr>
          <a:xfrm>
            <a:off x="9891951" y="445146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8" name="Oval 1007"/>
          <p:cNvSpPr/>
          <p:nvPr/>
        </p:nvSpPr>
        <p:spPr>
          <a:xfrm>
            <a:off x="9354833" y="443126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9" name="Oval 1008"/>
          <p:cNvSpPr/>
          <p:nvPr/>
        </p:nvSpPr>
        <p:spPr>
          <a:xfrm>
            <a:off x="9982779" y="441181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0" name="Oval 1009"/>
          <p:cNvSpPr/>
          <p:nvPr/>
        </p:nvSpPr>
        <p:spPr>
          <a:xfrm>
            <a:off x="9944456" y="447919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1" name="Oval 1010"/>
          <p:cNvSpPr/>
          <p:nvPr/>
        </p:nvSpPr>
        <p:spPr>
          <a:xfrm>
            <a:off x="9917600" y="441530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2" name="Oval 1011"/>
          <p:cNvSpPr/>
          <p:nvPr/>
        </p:nvSpPr>
        <p:spPr>
          <a:xfrm>
            <a:off x="9856646" y="440008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3" name="Oval 1012"/>
          <p:cNvSpPr/>
          <p:nvPr/>
        </p:nvSpPr>
        <p:spPr>
          <a:xfrm>
            <a:off x="9805650" y="442519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4" name="Oval 1013"/>
          <p:cNvSpPr/>
          <p:nvPr/>
        </p:nvSpPr>
        <p:spPr>
          <a:xfrm>
            <a:off x="9656886" y="441432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5" name="Oval 1014"/>
          <p:cNvSpPr/>
          <p:nvPr/>
        </p:nvSpPr>
        <p:spPr>
          <a:xfrm>
            <a:off x="9463765" y="441279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6" name="Oval 1015"/>
          <p:cNvSpPr/>
          <p:nvPr/>
        </p:nvSpPr>
        <p:spPr>
          <a:xfrm>
            <a:off x="7566349" y="4633722"/>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7" name="Oval 1016"/>
          <p:cNvSpPr/>
          <p:nvPr/>
        </p:nvSpPr>
        <p:spPr>
          <a:xfrm>
            <a:off x="8396770" y="4596111"/>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8" name="Oval 1017"/>
          <p:cNvSpPr/>
          <p:nvPr/>
        </p:nvSpPr>
        <p:spPr>
          <a:xfrm>
            <a:off x="7155362" y="4623992"/>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9" name="Oval 1018"/>
          <p:cNvSpPr/>
          <p:nvPr/>
        </p:nvSpPr>
        <p:spPr>
          <a:xfrm>
            <a:off x="7409136" y="4613948"/>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0" name="Oval 1019"/>
          <p:cNvSpPr/>
          <p:nvPr/>
        </p:nvSpPr>
        <p:spPr>
          <a:xfrm>
            <a:off x="7085356" y="4649303"/>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1" name="Oval 1020"/>
          <p:cNvSpPr/>
          <p:nvPr/>
        </p:nvSpPr>
        <p:spPr>
          <a:xfrm>
            <a:off x="7784214" y="464634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2" name="Oval 1021"/>
          <p:cNvSpPr/>
          <p:nvPr/>
        </p:nvSpPr>
        <p:spPr>
          <a:xfrm>
            <a:off x="7104668" y="463177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3" name="Oval 1022"/>
          <p:cNvSpPr/>
          <p:nvPr/>
        </p:nvSpPr>
        <p:spPr>
          <a:xfrm>
            <a:off x="7333698" y="4632776"/>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4" name="Oval 1023"/>
          <p:cNvSpPr/>
          <p:nvPr/>
        </p:nvSpPr>
        <p:spPr>
          <a:xfrm>
            <a:off x="7325249" y="4661432"/>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5" name="TextBox 1024"/>
          <p:cNvSpPr txBox="1"/>
          <p:nvPr/>
        </p:nvSpPr>
        <p:spPr>
          <a:xfrm>
            <a:off x="10195560" y="437540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108 of 123</a:t>
            </a:r>
          </a:p>
          <a:p>
            <a:pPr algn="l">
              <a:lnSpc>
                <a:spcPct val="109000"/>
              </a:lnSpc>
              <a:spcBef>
                <a:spcPts val="0"/>
              </a:spcBef>
              <a:spcAft>
                <a:spcPts val="0"/>
              </a:spcAft>
            </a:pPr>
            <a:r>
              <a:rPr sz="1250" b="0">
                <a:solidFill>
                  <a:srgbClr val="00407A"/>
                </a:solidFill>
                <a:latin typeface="Arial"/>
              </a:rPr>
              <a:t>are “yes”</a:t>
            </a:r>
          </a:p>
        </p:txBody>
      </p:sp>
      <p:sp>
        <p:nvSpPr>
          <p:cNvPr id="1026" name="TextBox 1025"/>
          <p:cNvSpPr txBox="1"/>
          <p:nvPr/>
        </p:nvSpPr>
        <p:spPr>
          <a:xfrm>
            <a:off x="6391656" y="5029200"/>
            <a:ext cx="4800600" cy="219456"/>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4A5A66"/>
                </a:solidFill>
                <a:latin typeface="Arial"/>
              </a:rPr>
              <a:t>Yes probability of each design • dashed line: 0.5 threshold</a:t>
            </a:r>
          </a:p>
        </p:txBody>
      </p:sp>
      <p:sp>
        <p:nvSpPr>
          <p:cNvPr id="1027" name="Rounded Rectangle 1026"/>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8" name="TextBox 1027"/>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Only KEV-27B’s compile answers are right in both groups: 108 of 114 and 9 of 9.</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265176"/>
            <a:ext cx="10561320" cy="237744"/>
          </a:xfrm>
          <a:prstGeom prst="rect">
            <a:avLst/>
          </a:prstGeom>
          <a:noFill/>
        </p:spPr>
        <p:txBody>
          <a:bodyPr wrap="square" lIns="0" rIns="0" tIns="0" bIns="0" anchor="t">
            <a:noAutofit/>
          </a:bodyPr>
          <a:lstStyle/>
          <a:p>
            <a:pPr algn="l">
              <a:lnSpc>
                <a:spcPct val="109000"/>
              </a:lnSpc>
              <a:spcBef>
                <a:spcPts val="0"/>
              </a:spcBef>
              <a:spcAft>
                <a:spcPts val="0"/>
              </a:spcAft>
            </a:pPr>
            <a:r>
              <a:rPr sz="1250" b="1">
                <a:solidFill>
                  <a:srgbClr val="4A5A66"/>
                </a:solidFill>
                <a:latin typeface="Arial"/>
              </a:rPr>
              <a:t>EXPERIMENT 1  •  NO EXAMPLES</a:t>
            </a:r>
          </a:p>
        </p:txBody>
      </p:sp>
      <p:sp>
        <p:nvSpPr>
          <p:cNvPr id="3" name="TextBox 2"/>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Failure-reason coverage is small and uneven</a:t>
            </a:r>
          </a:p>
        </p:txBody>
      </p:sp>
      <p:sp>
        <p:nvSpPr>
          <p:cNvPr id="4" name="TextBox 3"/>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Correct reason counts by actual class • the prompt supplies that failure occurred.</a:t>
            </a:r>
          </a:p>
        </p:txBody>
      </p:sp>
      <p:sp>
        <p:nvSpPr>
          <p:cNvPr id="5" name="TextBox 4"/>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APPENDIX</a:t>
            </a:r>
          </a:p>
        </p:txBody>
      </p:sp>
      <p:sp>
        <p:nvSpPr>
          <p:cNvPr id="6" name="TextBox 5"/>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47</a:t>
            </a:r>
          </a:p>
        </p:txBody>
      </p:sp>
      <p:graphicFrame>
        <p:nvGraphicFramePr>
          <p:cNvPr id="7" name="Table 6"/>
          <p:cNvGraphicFramePr>
            <a:graphicFrameLocks noGrp="1"/>
          </p:cNvGraphicFramePr>
          <p:nvPr/>
        </p:nvGraphicFramePr>
        <p:xfrm>
          <a:off x="813816" y="1865376"/>
          <a:ext cx="10561319" cy="3776463"/>
        </p:xfrm>
        <a:graphic>
          <a:graphicData uri="http://schemas.openxmlformats.org/drawingml/2006/table">
            <a:tbl>
              <a:tblPr firstRow="1" bandRow="1">
                <a:tableStyleId>{5C22544A-7EE6-4342-B048-85BDC9FD1C3A}</a:tableStyleId>
              </a:tblPr>
              <a:tblGrid>
                <a:gridCol w="3749039"/>
                <a:gridCol w="1143000"/>
                <a:gridCol w="1417320"/>
                <a:gridCol w="1417320"/>
                <a:gridCol w="1417320"/>
                <a:gridCol w="1417320"/>
              </a:tblGrid>
              <a:tr h="566928">
                <a:tc>
                  <a:txBody>
                    <a:bodyPr/>
                    <a:lstStyle/>
                    <a:p>
                      <a:pPr algn="l">
                        <a:lnSpc>
                          <a:spcPct val="103000"/>
                        </a:lnSpc>
                        <a:spcBef>
                          <a:spcPts val="0"/>
                        </a:spcBef>
                        <a:spcAft>
                          <a:spcPts val="0"/>
                        </a:spcAft>
                      </a:pPr>
                      <a:r>
                        <a:rPr sz="1500" b="1">
                          <a:solidFill>
                            <a:srgbClr val="FFFFFF"/>
                          </a:solidFill>
                          <a:latin typeface="Arial"/>
                        </a:rPr>
                        <a:t>Actual failure class</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Cases</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0.8B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4B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9B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27B</a:t>
                      </a:r>
                    </a:p>
                  </a:txBody>
                  <a:tcPr marL="109728" marR="91440" marT="54864" marB="36576" anchor="ctr">
                    <a:solidFill>
                      <a:srgbClr val="00407A"/>
                    </a:solidFill>
                    <a:lnL>
                      <a:noFill/>
                    </a:lnL>
                    <a:lnR>
                      <a:noFill/>
                    </a:lnR>
                    <a:lnT>
                      <a:noFill/>
                    </a:lnT>
                    <a:lnB>
                      <a:noFill/>
                    </a:lnB>
                  </a:tcPr>
                </a:tc>
              </a:tr>
              <a:tr h="356615">
                <a:tc>
                  <a:txBody>
                    <a:bodyPr/>
                    <a:lstStyle/>
                    <a:p>
                      <a:pPr algn="l">
                        <a:lnSpc>
                          <a:spcPct val="103000"/>
                        </a:lnSpc>
                        <a:spcBef>
                          <a:spcPts val="0"/>
                        </a:spcBef>
                        <a:spcAft>
                          <a:spcPts val="0"/>
                        </a:spcAft>
                      </a:pPr>
                      <a:r>
                        <a:rPr sz="1600" b="0">
                          <a:solidFill>
                            <a:srgbClr val="00407A"/>
                          </a:solidFill>
                          <a:latin typeface="Arial"/>
                        </a:rPr>
                        <a:t>More than one driver</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E3EFF5"/>
                    </a:solidFill>
                    <a:lnL>
                      <a:noFill/>
                    </a:lnL>
                    <a:lnR>
                      <a:noFill/>
                    </a:lnR>
                    <a:lnT>
                      <a:noFill/>
                    </a:lnT>
                    <a:lnB>
                      <a:noFill/>
                    </a:lnB>
                  </a:tcPr>
                </a:tc>
              </a:tr>
              <a:tr h="356615">
                <a:tc>
                  <a:txBody>
                    <a:bodyPr/>
                    <a:lstStyle/>
                    <a:p>
                      <a:pPr algn="l">
                        <a:lnSpc>
                          <a:spcPct val="103000"/>
                        </a:lnSpc>
                        <a:spcBef>
                          <a:spcPts val="0"/>
                        </a:spcBef>
                        <a:spcAft>
                          <a:spcPts val="0"/>
                        </a:spcAft>
                      </a:pPr>
                      <a:r>
                        <a:rPr sz="1600" b="0">
                          <a:solidFill>
                            <a:srgbClr val="00407A"/>
                          </a:solidFill>
                          <a:latin typeface="Arial"/>
                        </a:rPr>
                        <a:t>Illegal code</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a:t>
                      </a:r>
                    </a:p>
                  </a:txBody>
                  <a:tcPr marL="109728" marR="91440" marT="54864" marB="36576" anchor="ctr">
                    <a:solidFill>
                      <a:srgbClr val="FFFFFF"/>
                    </a:solidFill>
                    <a:lnL>
                      <a:noFill/>
                    </a:lnL>
                    <a:lnR>
                      <a:noFill/>
                    </a:lnR>
                    <a:lnT>
                      <a:noFill/>
                    </a:lnT>
                    <a:lnB>
                      <a:noFill/>
                    </a:lnB>
                  </a:tcPr>
                </a:tc>
              </a:tr>
              <a:tr h="356615">
                <a:tc>
                  <a:txBody>
                    <a:bodyPr/>
                    <a:lstStyle/>
                    <a:p>
                      <a:pPr algn="l">
                        <a:lnSpc>
                          <a:spcPct val="103000"/>
                        </a:lnSpc>
                        <a:spcBef>
                          <a:spcPts val="0"/>
                        </a:spcBef>
                        <a:spcAft>
                          <a:spcPts val="0"/>
                        </a:spcAft>
                      </a:pPr>
                      <a:r>
                        <a:rPr sz="1600" b="0">
                          <a:solidFill>
                            <a:srgbClr val="00407A"/>
                          </a:solidFill>
                          <a:latin typeface="Arial"/>
                        </a:rPr>
                        <a:t>Unsupported construct</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a:t>
                      </a:r>
                    </a:p>
                  </a:txBody>
                  <a:tcPr marL="109728" marR="91440" marT="54864" marB="36576" anchor="ctr">
                    <a:solidFill>
                      <a:srgbClr val="E3EFF5"/>
                    </a:solidFill>
                    <a:lnL>
                      <a:noFill/>
                    </a:lnL>
                    <a:lnR>
                      <a:noFill/>
                    </a:lnR>
                    <a:lnT>
                      <a:noFill/>
                    </a:lnT>
                    <a:lnB>
                      <a:noFill/>
                    </a:lnB>
                  </a:tcPr>
                </a:tc>
              </a:tr>
              <a:tr h="356615">
                <a:tc>
                  <a:txBody>
                    <a:bodyPr/>
                    <a:lstStyle/>
                    <a:p>
                      <a:pPr algn="l">
                        <a:lnSpc>
                          <a:spcPct val="103000"/>
                        </a:lnSpc>
                        <a:spcBef>
                          <a:spcPts val="0"/>
                        </a:spcBef>
                        <a:spcAft>
                          <a:spcPts val="0"/>
                        </a:spcAft>
                      </a:pPr>
                      <a:r>
                        <a:rPr sz="1600" b="0">
                          <a:solidFill>
                            <a:srgbClr val="00407A"/>
                          </a:solidFill>
                          <a:latin typeface="Arial"/>
                        </a:rPr>
                        <a:t>Unsupported timing control</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3</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3</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3</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3</a:t>
                      </a:r>
                    </a:p>
                  </a:txBody>
                  <a:tcPr marL="109728" marR="91440" marT="54864" marB="36576" anchor="ctr">
                    <a:solidFill>
                      <a:srgbClr val="FFFFFF"/>
                    </a:solidFill>
                    <a:lnL>
                      <a:noFill/>
                    </a:lnL>
                    <a:lnR>
                      <a:noFill/>
                    </a:lnR>
                    <a:lnT>
                      <a:noFill/>
                    </a:lnT>
                    <a:lnB>
                      <a:noFill/>
                    </a:lnB>
                  </a:tcPr>
                </a:tc>
              </a:tr>
              <a:tr h="356615">
                <a:tc>
                  <a:txBody>
                    <a:bodyPr/>
                    <a:lstStyle/>
                    <a:p>
                      <a:pPr algn="l">
                        <a:lnSpc>
                          <a:spcPct val="103000"/>
                        </a:lnSpc>
                        <a:spcBef>
                          <a:spcPts val="0"/>
                        </a:spcBef>
                        <a:spcAft>
                          <a:spcPts val="0"/>
                        </a:spcAft>
                      </a:pPr>
                      <a:r>
                        <a:rPr sz="1600" b="0">
                          <a:solidFill>
                            <a:srgbClr val="00407A"/>
                          </a:solidFill>
                          <a:latin typeface="Arial"/>
                        </a:rPr>
                        <a:t>Simulation-only statement</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5</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3</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5</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5</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5</a:t>
                      </a:r>
                    </a:p>
                  </a:txBody>
                  <a:tcPr marL="109728" marR="91440" marT="54864" marB="36576" anchor="ctr">
                    <a:solidFill>
                      <a:srgbClr val="E3EFF5"/>
                    </a:solidFill>
                    <a:lnL>
                      <a:noFill/>
                    </a:lnL>
                    <a:lnR>
                      <a:noFill/>
                    </a:lnR>
                    <a:lnT>
                      <a:noFill/>
                    </a:lnT>
                    <a:lnB>
                      <a:noFill/>
                    </a:lnB>
                  </a:tcPr>
                </a:tc>
              </a:tr>
              <a:tr h="356615">
                <a:tc>
                  <a:txBody>
                    <a:bodyPr/>
                    <a:lstStyle/>
                    <a:p>
                      <a:pPr algn="l">
                        <a:lnSpc>
                          <a:spcPct val="103000"/>
                        </a:lnSpc>
                        <a:spcBef>
                          <a:spcPts val="0"/>
                        </a:spcBef>
                        <a:spcAft>
                          <a:spcPts val="0"/>
                        </a:spcAft>
                      </a:pPr>
                      <a:r>
                        <a:rPr sz="1600" b="0">
                          <a:solidFill>
                            <a:srgbClr val="00407A"/>
                          </a:solidFill>
                          <a:latin typeface="Arial"/>
                        </a:rPr>
                        <a:t>Asynchronous reset</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a:t>
                      </a:r>
                    </a:p>
                  </a:txBody>
                  <a:tcPr marL="109728" marR="91440" marT="54864" marB="36576" anchor="ctr">
                    <a:solidFill>
                      <a:srgbClr val="FFFFFF"/>
                    </a:solidFill>
                    <a:lnL>
                      <a:noFill/>
                    </a:lnL>
                    <a:lnR>
                      <a:noFill/>
                    </a:lnR>
                    <a:lnT>
                      <a:noFill/>
                    </a:lnT>
                    <a:lnB>
                      <a:noFill/>
                    </a:lnB>
                  </a:tcPr>
                </a:tc>
              </a:tr>
              <a:tr h="356615">
                <a:tc>
                  <a:txBody>
                    <a:bodyPr/>
                    <a:lstStyle/>
                    <a:p>
                      <a:pPr algn="l">
                        <a:lnSpc>
                          <a:spcPct val="103000"/>
                        </a:lnSpc>
                        <a:spcBef>
                          <a:spcPts val="0"/>
                        </a:spcBef>
                        <a:spcAft>
                          <a:spcPts val="0"/>
                        </a:spcAft>
                      </a:pPr>
                      <a:r>
                        <a:rPr sz="1600" b="0">
                          <a:solidFill>
                            <a:srgbClr val="00407A"/>
                          </a:solidFill>
                          <a:latin typeface="Arial"/>
                        </a:rPr>
                        <a:t>Mixed assignment styles</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a:t>
                      </a:r>
                    </a:p>
                  </a:txBody>
                  <a:tcPr marL="109728" marR="91440" marT="54864" marB="36576" anchor="ctr">
                    <a:solidFill>
                      <a:srgbClr val="E3EFF5"/>
                    </a:solidFill>
                    <a:lnL>
                      <a:noFill/>
                    </a:lnL>
                    <a:lnR>
                      <a:noFill/>
                    </a:lnR>
                    <a:lnT>
                      <a:noFill/>
                    </a:lnT>
                    <a:lnB>
                      <a:noFill/>
                    </a:lnB>
                  </a:tcPr>
                </a:tc>
              </a:tr>
              <a:tr h="356615">
                <a:tc>
                  <a:txBody>
                    <a:bodyPr/>
                    <a:lstStyle/>
                    <a:p>
                      <a:pPr algn="l">
                        <a:lnSpc>
                          <a:spcPct val="103000"/>
                        </a:lnSpc>
                        <a:spcBef>
                          <a:spcPts val="0"/>
                        </a:spcBef>
                        <a:spcAft>
                          <a:spcPts val="0"/>
                        </a:spcAft>
                      </a:pPr>
                      <a:r>
                        <a:rPr sz="1600" b="0">
                          <a:solidFill>
                            <a:srgbClr val="00407A"/>
                          </a:solidFill>
                          <a:latin typeface="Arial"/>
                        </a:rPr>
                        <a:t>Module-instance mismatch</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a:t>
                      </a:r>
                    </a:p>
                  </a:txBody>
                  <a:tcPr marL="109728" marR="91440" marT="54864" marB="36576" anchor="ctr">
                    <a:solidFill>
                      <a:srgbClr val="FFFFFF"/>
                    </a:solidFill>
                    <a:lnL>
                      <a:noFill/>
                    </a:lnL>
                    <a:lnR>
                      <a:noFill/>
                    </a:lnR>
                    <a:lnT>
                      <a:noFill/>
                    </a:lnT>
                    <a:lnB>
                      <a:noFill/>
                    </a:lnB>
                  </a:tcPr>
                </a:tc>
              </a:tr>
              <a:tr h="356615">
                <a:tc>
                  <a:txBody>
                    <a:bodyPr/>
                    <a:lstStyle/>
                    <a:p>
                      <a:pPr algn="l">
                        <a:lnSpc>
                          <a:spcPct val="103000"/>
                        </a:lnSpc>
                        <a:spcBef>
                          <a:spcPts val="0"/>
                        </a:spcBef>
                        <a:spcAft>
                          <a:spcPts val="0"/>
                        </a:spcAft>
                      </a:pPr>
                      <a:r>
                        <a:rPr sz="1600" b="0">
                          <a:solidFill>
                            <a:srgbClr val="00407A"/>
                          </a:solidFill>
                          <a:latin typeface="Arial"/>
                        </a:rPr>
                        <a:t>Equal weight per observed class</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Accuracy</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17.9%</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37.5%</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50.0%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87.5%</a:t>
                      </a:r>
                    </a:p>
                  </a:txBody>
                  <a:tcPr marL="109728" marR="91440" marT="54864" marB="36576" anchor="ctr">
                    <a:solidFill>
                      <a:srgbClr val="E3EFF5"/>
                    </a:solidFill>
                    <a:lnL>
                      <a:noFill/>
                    </a:lnL>
                    <a:lnR>
                      <a:noFill/>
                    </a:lnR>
                    <a:lnT>
                      <a:noFill/>
                    </a:lnT>
                    <a:lnB>
                      <a:noFill/>
                    </a:lnB>
                  </a:tcPr>
                </a:tc>
              </a:tr>
            </a:tbl>
          </a:graphicData>
        </a:graphic>
      </p:graphicFrame>
      <p:sp>
        <p:nvSpPr>
          <p:cNvPr id="8" name="TextBox 7"/>
          <p:cNvSpPr txBox="1"/>
          <p:nvPr/>
        </p:nvSpPr>
        <p:spPr>
          <a:xfrm>
            <a:off x="960120" y="5806440"/>
            <a:ext cx="10149840" cy="502920"/>
          </a:xfrm>
          <a:prstGeom prst="rect">
            <a:avLst/>
          </a:prstGeom>
          <a:noFill/>
        </p:spPr>
        <p:txBody>
          <a:bodyPr wrap="square" lIns="0" rIns="0" tIns="0" bIns="0" anchor="t">
            <a:noAutofit/>
          </a:bodyPr>
          <a:lstStyle/>
          <a:p>
            <a:pPr algn="l">
              <a:lnSpc>
                <a:spcPct val="109000"/>
              </a:lnSpc>
              <a:spcBef>
                <a:spcPts val="0"/>
              </a:spcBef>
              <a:spcAft>
                <a:spcPts val="0"/>
              </a:spcAft>
            </a:pPr>
            <a:r>
              <a:rPr sz="1550" b="0">
                <a:solidFill>
                  <a:srgbClr val="00407A"/>
                </a:solidFill>
                <a:latin typeface="Arial"/>
              </a:rPr>
              <a:t>No true event-list or unbounded-loop cases occur in this held-out subset.</a:t>
            </a:r>
          </a:p>
          <a:p>
            <a:pPr algn="l">
              <a:lnSpc>
                <a:spcPct val="109000"/>
              </a:lnSpc>
              <a:spcBef>
                <a:spcPts val="0"/>
              </a:spcBef>
              <a:spcAft>
                <a:spcPts val="0"/>
              </a:spcAft>
            </a:pPr>
            <a:r>
              <a:rPr sz="1550" b="0">
                <a:solidFill>
                  <a:srgbClr val="00407A"/>
                </a:solidFill>
                <a:latin typeface="Arial"/>
              </a:rPr>
              <a:t>These two offered classes therefore have no measured class recall.</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265176"/>
            <a:ext cx="10561320" cy="237744"/>
          </a:xfrm>
          <a:prstGeom prst="rect">
            <a:avLst/>
          </a:prstGeom>
          <a:noFill/>
        </p:spPr>
        <p:txBody>
          <a:bodyPr wrap="square" lIns="0" rIns="0" tIns="0" bIns="0" anchor="t">
            <a:noAutofit/>
          </a:bodyPr>
          <a:lstStyle/>
          <a:p>
            <a:pPr algn="l">
              <a:lnSpc>
                <a:spcPct val="109000"/>
              </a:lnSpc>
              <a:spcBef>
                <a:spcPts val="0"/>
              </a:spcBef>
              <a:spcAft>
                <a:spcPts val="0"/>
              </a:spcAft>
            </a:pPr>
            <a:r>
              <a:rPr sz="1250" b="1">
                <a:solidFill>
                  <a:srgbClr val="0B5A93"/>
                </a:solidFill>
                <a:latin typeface="Arial"/>
              </a:rPr>
              <a:t>EXPERIMENT 2  •  THREE SOLVED EXAMPLES PER QUESTION</a:t>
            </a:r>
          </a:p>
        </p:txBody>
      </p:sp>
      <p:sp>
        <p:nvSpPr>
          <p:cNvPr id="3" name="TextBox 2"/>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Failure-reason classes with examples</a:t>
            </a:r>
          </a:p>
        </p:txBody>
      </p:sp>
      <p:sp>
        <p:nvSpPr>
          <p:cNvPr id="4" name="TextBox 3"/>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Correct reason counts by actual class • the prompt supplies that failure occurred.</a:t>
            </a:r>
          </a:p>
        </p:txBody>
      </p:sp>
      <p:sp>
        <p:nvSpPr>
          <p:cNvPr id="5" name="TextBox 4"/>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three examples per question  •  16 October 2026  |  APPENDIX</a:t>
            </a:r>
          </a:p>
        </p:txBody>
      </p:sp>
      <p:sp>
        <p:nvSpPr>
          <p:cNvPr id="6" name="TextBox 5"/>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48</a:t>
            </a:r>
          </a:p>
        </p:txBody>
      </p:sp>
      <p:graphicFrame>
        <p:nvGraphicFramePr>
          <p:cNvPr id="7" name="Table 6"/>
          <p:cNvGraphicFramePr>
            <a:graphicFrameLocks noGrp="1"/>
          </p:cNvGraphicFramePr>
          <p:nvPr/>
        </p:nvGraphicFramePr>
        <p:xfrm>
          <a:off x="813816" y="1865376"/>
          <a:ext cx="10561319" cy="3776463"/>
        </p:xfrm>
        <a:graphic>
          <a:graphicData uri="http://schemas.openxmlformats.org/drawingml/2006/table">
            <a:tbl>
              <a:tblPr firstRow="1" bandRow="1">
                <a:tableStyleId>{5C22544A-7EE6-4342-B048-85BDC9FD1C3A}</a:tableStyleId>
              </a:tblPr>
              <a:tblGrid>
                <a:gridCol w="3749039"/>
                <a:gridCol w="1143000"/>
                <a:gridCol w="1417320"/>
                <a:gridCol w="1417320"/>
                <a:gridCol w="1417320"/>
                <a:gridCol w="1417320"/>
              </a:tblGrid>
              <a:tr h="566928">
                <a:tc>
                  <a:txBody>
                    <a:bodyPr/>
                    <a:lstStyle/>
                    <a:p>
                      <a:pPr algn="l">
                        <a:lnSpc>
                          <a:spcPct val="103000"/>
                        </a:lnSpc>
                        <a:spcBef>
                          <a:spcPts val="0"/>
                        </a:spcBef>
                        <a:spcAft>
                          <a:spcPts val="0"/>
                        </a:spcAft>
                      </a:pPr>
                      <a:r>
                        <a:rPr sz="1500" b="1">
                          <a:solidFill>
                            <a:srgbClr val="FFFFFF"/>
                          </a:solidFill>
                          <a:latin typeface="Arial"/>
                        </a:rPr>
                        <a:t>Actual failure class</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Cases</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0.8B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4B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9B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27B</a:t>
                      </a:r>
                    </a:p>
                  </a:txBody>
                  <a:tcPr marL="109728" marR="91440" marT="54864" marB="36576" anchor="ctr">
                    <a:solidFill>
                      <a:srgbClr val="00407A"/>
                    </a:solidFill>
                    <a:lnL>
                      <a:noFill/>
                    </a:lnL>
                    <a:lnR>
                      <a:noFill/>
                    </a:lnR>
                    <a:lnT>
                      <a:noFill/>
                    </a:lnT>
                    <a:lnB>
                      <a:noFill/>
                    </a:lnB>
                  </a:tcPr>
                </a:tc>
              </a:tr>
              <a:tr h="356615">
                <a:tc>
                  <a:txBody>
                    <a:bodyPr/>
                    <a:lstStyle/>
                    <a:p>
                      <a:pPr algn="l">
                        <a:lnSpc>
                          <a:spcPct val="103000"/>
                        </a:lnSpc>
                        <a:spcBef>
                          <a:spcPts val="0"/>
                        </a:spcBef>
                        <a:spcAft>
                          <a:spcPts val="0"/>
                        </a:spcAft>
                      </a:pPr>
                      <a:r>
                        <a:rPr sz="1600" b="0">
                          <a:solidFill>
                            <a:srgbClr val="00407A"/>
                          </a:solidFill>
                          <a:latin typeface="Arial"/>
                        </a:rPr>
                        <a:t>More than one driver</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E3EFF5"/>
                    </a:solidFill>
                    <a:lnL>
                      <a:noFill/>
                    </a:lnL>
                    <a:lnR>
                      <a:noFill/>
                    </a:lnR>
                    <a:lnT>
                      <a:noFill/>
                    </a:lnT>
                    <a:lnB>
                      <a:noFill/>
                    </a:lnB>
                  </a:tcPr>
                </a:tc>
              </a:tr>
              <a:tr h="356615">
                <a:tc>
                  <a:txBody>
                    <a:bodyPr/>
                    <a:lstStyle/>
                    <a:p>
                      <a:pPr algn="l">
                        <a:lnSpc>
                          <a:spcPct val="103000"/>
                        </a:lnSpc>
                        <a:spcBef>
                          <a:spcPts val="0"/>
                        </a:spcBef>
                        <a:spcAft>
                          <a:spcPts val="0"/>
                        </a:spcAft>
                      </a:pPr>
                      <a:r>
                        <a:rPr sz="1600" b="0">
                          <a:solidFill>
                            <a:srgbClr val="00407A"/>
                          </a:solidFill>
                          <a:latin typeface="Arial"/>
                        </a:rPr>
                        <a:t>Illegal code</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a:t>
                      </a:r>
                    </a:p>
                  </a:txBody>
                  <a:tcPr marL="109728" marR="91440" marT="54864" marB="36576" anchor="ctr">
                    <a:solidFill>
                      <a:srgbClr val="FFFFFF"/>
                    </a:solidFill>
                    <a:lnL>
                      <a:noFill/>
                    </a:lnL>
                    <a:lnR>
                      <a:noFill/>
                    </a:lnR>
                    <a:lnT>
                      <a:noFill/>
                    </a:lnT>
                    <a:lnB>
                      <a:noFill/>
                    </a:lnB>
                  </a:tcPr>
                </a:tc>
              </a:tr>
              <a:tr h="356615">
                <a:tc>
                  <a:txBody>
                    <a:bodyPr/>
                    <a:lstStyle/>
                    <a:p>
                      <a:pPr algn="l">
                        <a:lnSpc>
                          <a:spcPct val="103000"/>
                        </a:lnSpc>
                        <a:spcBef>
                          <a:spcPts val="0"/>
                        </a:spcBef>
                        <a:spcAft>
                          <a:spcPts val="0"/>
                        </a:spcAft>
                      </a:pPr>
                      <a:r>
                        <a:rPr sz="1600" b="0">
                          <a:solidFill>
                            <a:srgbClr val="00407A"/>
                          </a:solidFill>
                          <a:latin typeface="Arial"/>
                        </a:rPr>
                        <a:t>Unsupported construct</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a:t>
                      </a:r>
                    </a:p>
                  </a:txBody>
                  <a:tcPr marL="109728" marR="91440" marT="54864" marB="36576" anchor="ctr">
                    <a:solidFill>
                      <a:srgbClr val="E3EFF5"/>
                    </a:solidFill>
                    <a:lnL>
                      <a:noFill/>
                    </a:lnL>
                    <a:lnR>
                      <a:noFill/>
                    </a:lnR>
                    <a:lnT>
                      <a:noFill/>
                    </a:lnT>
                    <a:lnB>
                      <a:noFill/>
                    </a:lnB>
                  </a:tcPr>
                </a:tc>
              </a:tr>
              <a:tr h="356615">
                <a:tc>
                  <a:txBody>
                    <a:bodyPr/>
                    <a:lstStyle/>
                    <a:p>
                      <a:pPr algn="l">
                        <a:lnSpc>
                          <a:spcPct val="103000"/>
                        </a:lnSpc>
                        <a:spcBef>
                          <a:spcPts val="0"/>
                        </a:spcBef>
                        <a:spcAft>
                          <a:spcPts val="0"/>
                        </a:spcAft>
                      </a:pPr>
                      <a:r>
                        <a:rPr sz="1600" b="0">
                          <a:solidFill>
                            <a:srgbClr val="00407A"/>
                          </a:solidFill>
                          <a:latin typeface="Arial"/>
                        </a:rPr>
                        <a:t>Unsupported timing control</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3</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3</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3</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3</a:t>
                      </a:r>
                    </a:p>
                  </a:txBody>
                  <a:tcPr marL="109728" marR="91440" marT="54864" marB="36576" anchor="ctr">
                    <a:solidFill>
                      <a:srgbClr val="FFFFFF"/>
                    </a:solidFill>
                    <a:lnL>
                      <a:noFill/>
                    </a:lnL>
                    <a:lnR>
                      <a:noFill/>
                    </a:lnR>
                    <a:lnT>
                      <a:noFill/>
                    </a:lnT>
                    <a:lnB>
                      <a:noFill/>
                    </a:lnB>
                  </a:tcPr>
                </a:tc>
              </a:tr>
              <a:tr h="356615">
                <a:tc>
                  <a:txBody>
                    <a:bodyPr/>
                    <a:lstStyle/>
                    <a:p>
                      <a:pPr algn="l">
                        <a:lnSpc>
                          <a:spcPct val="103000"/>
                        </a:lnSpc>
                        <a:spcBef>
                          <a:spcPts val="0"/>
                        </a:spcBef>
                        <a:spcAft>
                          <a:spcPts val="0"/>
                        </a:spcAft>
                      </a:pPr>
                      <a:r>
                        <a:rPr sz="1600" b="0">
                          <a:solidFill>
                            <a:srgbClr val="00407A"/>
                          </a:solidFill>
                          <a:latin typeface="Arial"/>
                        </a:rPr>
                        <a:t>Simulation-only statement</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5</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5</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5</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5</a:t>
                      </a:r>
                    </a:p>
                  </a:txBody>
                  <a:tcPr marL="109728" marR="91440" marT="54864" marB="36576" anchor="ctr">
                    <a:solidFill>
                      <a:srgbClr val="E3EFF5"/>
                    </a:solidFill>
                    <a:lnL>
                      <a:noFill/>
                    </a:lnL>
                    <a:lnR>
                      <a:noFill/>
                    </a:lnR>
                    <a:lnT>
                      <a:noFill/>
                    </a:lnT>
                    <a:lnB>
                      <a:noFill/>
                    </a:lnB>
                  </a:tcPr>
                </a:tc>
              </a:tr>
              <a:tr h="356615">
                <a:tc>
                  <a:txBody>
                    <a:bodyPr/>
                    <a:lstStyle/>
                    <a:p>
                      <a:pPr algn="l">
                        <a:lnSpc>
                          <a:spcPct val="103000"/>
                        </a:lnSpc>
                        <a:spcBef>
                          <a:spcPts val="0"/>
                        </a:spcBef>
                        <a:spcAft>
                          <a:spcPts val="0"/>
                        </a:spcAft>
                      </a:pPr>
                      <a:r>
                        <a:rPr sz="1600" b="0">
                          <a:solidFill>
                            <a:srgbClr val="00407A"/>
                          </a:solidFill>
                          <a:latin typeface="Arial"/>
                        </a:rPr>
                        <a:t>Asynchronous reset</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FFFFFF"/>
                    </a:solidFill>
                    <a:lnL>
                      <a:noFill/>
                    </a:lnL>
                    <a:lnR>
                      <a:noFill/>
                    </a:lnR>
                    <a:lnT>
                      <a:noFill/>
                    </a:lnT>
                    <a:lnB>
                      <a:noFill/>
                    </a:lnB>
                  </a:tcPr>
                </a:tc>
              </a:tr>
              <a:tr h="356615">
                <a:tc>
                  <a:txBody>
                    <a:bodyPr/>
                    <a:lstStyle/>
                    <a:p>
                      <a:pPr algn="l">
                        <a:lnSpc>
                          <a:spcPct val="103000"/>
                        </a:lnSpc>
                        <a:spcBef>
                          <a:spcPts val="0"/>
                        </a:spcBef>
                        <a:spcAft>
                          <a:spcPts val="0"/>
                        </a:spcAft>
                      </a:pPr>
                      <a:r>
                        <a:rPr sz="1600" b="0">
                          <a:solidFill>
                            <a:srgbClr val="00407A"/>
                          </a:solidFill>
                          <a:latin typeface="Arial"/>
                        </a:rPr>
                        <a:t>Mixed assignment styles</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a:t>
                      </a:r>
                    </a:p>
                  </a:txBody>
                  <a:tcPr marL="109728" marR="91440" marT="54864" marB="36576" anchor="ctr">
                    <a:solidFill>
                      <a:srgbClr val="E3EFF5"/>
                    </a:solidFill>
                    <a:lnL>
                      <a:noFill/>
                    </a:lnL>
                    <a:lnR>
                      <a:noFill/>
                    </a:lnR>
                    <a:lnT>
                      <a:noFill/>
                    </a:lnT>
                    <a:lnB>
                      <a:noFill/>
                    </a:lnB>
                  </a:tcPr>
                </a:tc>
              </a:tr>
              <a:tr h="356615">
                <a:tc>
                  <a:txBody>
                    <a:bodyPr/>
                    <a:lstStyle/>
                    <a:p>
                      <a:pPr algn="l">
                        <a:lnSpc>
                          <a:spcPct val="103000"/>
                        </a:lnSpc>
                        <a:spcBef>
                          <a:spcPts val="0"/>
                        </a:spcBef>
                        <a:spcAft>
                          <a:spcPts val="0"/>
                        </a:spcAft>
                      </a:pPr>
                      <a:r>
                        <a:rPr sz="1600" b="0">
                          <a:solidFill>
                            <a:srgbClr val="00407A"/>
                          </a:solidFill>
                          <a:latin typeface="Arial"/>
                        </a:rPr>
                        <a:t>Module-instance mismatch</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a:t>
                      </a:r>
                    </a:p>
                  </a:txBody>
                  <a:tcPr marL="109728" marR="91440" marT="54864" marB="36576" anchor="ctr">
                    <a:solidFill>
                      <a:srgbClr val="FFFFFF"/>
                    </a:solidFill>
                    <a:lnL>
                      <a:noFill/>
                    </a:lnL>
                    <a:lnR>
                      <a:noFill/>
                    </a:lnR>
                    <a:lnT>
                      <a:noFill/>
                    </a:lnT>
                    <a:lnB>
                      <a:noFill/>
                    </a:lnB>
                  </a:tcPr>
                </a:tc>
              </a:tr>
              <a:tr h="356615">
                <a:tc>
                  <a:txBody>
                    <a:bodyPr/>
                    <a:lstStyle/>
                    <a:p>
                      <a:pPr algn="l">
                        <a:lnSpc>
                          <a:spcPct val="103000"/>
                        </a:lnSpc>
                        <a:spcBef>
                          <a:spcPts val="0"/>
                        </a:spcBef>
                        <a:spcAft>
                          <a:spcPts val="0"/>
                        </a:spcAft>
                      </a:pPr>
                      <a:r>
                        <a:rPr sz="1600" b="0">
                          <a:solidFill>
                            <a:srgbClr val="00407A"/>
                          </a:solidFill>
                          <a:latin typeface="Arial"/>
                        </a:rPr>
                        <a:t>Equal weight per observed class</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Accuracy</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4.2%</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43.8%</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50.0%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75.0%</a:t>
                      </a:r>
                    </a:p>
                  </a:txBody>
                  <a:tcPr marL="109728" marR="91440" marT="54864" marB="36576" anchor="ctr">
                    <a:solidFill>
                      <a:srgbClr val="E3EFF5"/>
                    </a:solidFill>
                    <a:lnL>
                      <a:noFill/>
                    </a:lnL>
                    <a:lnR>
                      <a:noFill/>
                    </a:lnR>
                    <a:lnT>
                      <a:noFill/>
                    </a:lnT>
                    <a:lnB>
                      <a:noFill/>
                    </a:lnB>
                  </a:tcPr>
                </a:tc>
              </a:tr>
            </a:tbl>
          </a:graphicData>
        </a:graphic>
      </p:graphicFrame>
      <p:sp>
        <p:nvSpPr>
          <p:cNvPr id="8" name="TextBox 7"/>
          <p:cNvSpPr txBox="1"/>
          <p:nvPr/>
        </p:nvSpPr>
        <p:spPr>
          <a:xfrm>
            <a:off x="960120" y="5806440"/>
            <a:ext cx="10149840" cy="502920"/>
          </a:xfrm>
          <a:prstGeom prst="rect">
            <a:avLst/>
          </a:prstGeom>
          <a:noFill/>
        </p:spPr>
        <p:txBody>
          <a:bodyPr wrap="square" lIns="0" rIns="0" tIns="0" bIns="0" anchor="t">
            <a:noAutofit/>
          </a:bodyPr>
          <a:lstStyle/>
          <a:p>
            <a:pPr algn="l">
              <a:lnSpc>
                <a:spcPct val="109000"/>
              </a:lnSpc>
              <a:spcBef>
                <a:spcPts val="0"/>
              </a:spcBef>
              <a:spcAft>
                <a:spcPts val="0"/>
              </a:spcAft>
            </a:pPr>
            <a:r>
              <a:rPr sz="1550" b="0">
                <a:solidFill>
                  <a:srgbClr val="00407A"/>
                </a:solidFill>
                <a:latin typeface="Arial"/>
              </a:rPr>
              <a:t>The models chose event_list 16 times (7, 3, 4, 2); no test design has this class.</a:t>
            </a:r>
          </a:p>
          <a:p>
            <a:pPr algn="l">
              <a:lnSpc>
                <a:spcPct val="109000"/>
              </a:lnSpc>
              <a:spcBef>
                <a:spcPts val="0"/>
              </a:spcBef>
              <a:spcAft>
                <a:spcPts val="0"/>
              </a:spcAft>
            </a:pPr>
            <a:r>
              <a:rPr sz="1550" b="0">
                <a:solidFill>
                  <a:srgbClr val="00407A"/>
                </a:solidFill>
                <a:latin typeface="Arial"/>
              </a:rPr>
              <a:t>The three examples: multiple_drivers, illegal_code, event_list.</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265176"/>
            <a:ext cx="10561320" cy="237744"/>
          </a:xfrm>
          <a:prstGeom prst="rect">
            <a:avLst/>
          </a:prstGeom>
          <a:noFill/>
        </p:spPr>
        <p:txBody>
          <a:bodyPr wrap="square" lIns="0" rIns="0" tIns="0" bIns="0" anchor="t">
            <a:noAutofit/>
          </a:bodyPr>
          <a:lstStyle/>
          <a:p>
            <a:pPr algn="l">
              <a:lnSpc>
                <a:spcPct val="109000"/>
              </a:lnSpc>
              <a:spcBef>
                <a:spcPts val="0"/>
              </a:spcBef>
              <a:spcAft>
                <a:spcPts val="0"/>
              </a:spcAft>
            </a:pPr>
            <a:r>
              <a:rPr sz="1250" b="1">
                <a:solidFill>
                  <a:srgbClr val="4A5A66"/>
                </a:solidFill>
                <a:latin typeface="Arial"/>
              </a:rPr>
              <a:t>EXPERIMENT 1  •  NO EXAMPLES</a:t>
            </a:r>
          </a:p>
        </p:txBody>
      </p:sp>
      <p:sp>
        <p:nvSpPr>
          <p:cNvPr id="3" name="TextBox 2"/>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Probability ranking and binary decisions are different</a:t>
            </a:r>
          </a:p>
        </p:txBody>
      </p:sp>
      <p:sp>
        <p:nvSpPr>
          <p:cNvPr id="4" name="TextBox 3"/>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A model can rank cases reasonably while making poor decisions at the fixed 0.5 threshold.</a:t>
            </a:r>
          </a:p>
        </p:txBody>
      </p:sp>
      <p:sp>
        <p:nvSpPr>
          <p:cNvPr id="5" name="TextBox 4"/>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APPENDIX</a:t>
            </a:r>
          </a:p>
        </p:txBody>
      </p:sp>
      <p:sp>
        <p:nvSpPr>
          <p:cNvPr id="6" name="TextBox 5"/>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49</a:t>
            </a:r>
          </a:p>
        </p:txBody>
      </p:sp>
      <p:graphicFrame>
        <p:nvGraphicFramePr>
          <p:cNvPr id="7" name="Table 6"/>
          <p:cNvGraphicFramePr>
            <a:graphicFrameLocks noGrp="1"/>
          </p:cNvGraphicFramePr>
          <p:nvPr/>
        </p:nvGraphicFramePr>
        <p:xfrm>
          <a:off x="813816" y="1874519"/>
          <a:ext cx="10561320" cy="2148840"/>
        </p:xfrm>
        <a:graphic>
          <a:graphicData uri="http://schemas.openxmlformats.org/drawingml/2006/table">
            <a:tbl>
              <a:tblPr firstRow="1" bandRow="1">
                <a:tableStyleId>{5C22544A-7EE6-4342-B048-85BDC9FD1C3A}</a:tableStyleId>
              </a:tblPr>
              <a:tblGrid>
                <a:gridCol w="4160520"/>
                <a:gridCol w="1600200"/>
                <a:gridCol w="1600200"/>
                <a:gridCol w="1600200"/>
                <a:gridCol w="1600200"/>
              </a:tblGrid>
              <a:tr h="566928">
                <a:tc>
                  <a:txBody>
                    <a:bodyPr/>
                    <a:lstStyle/>
                    <a:p>
                      <a:pPr algn="l">
                        <a:lnSpc>
                          <a:spcPct val="103000"/>
                        </a:lnSpc>
                        <a:spcBef>
                          <a:spcPts val="0"/>
                        </a:spcBef>
                        <a:spcAft>
                          <a:spcPts val="0"/>
                        </a:spcAft>
                      </a:pPr>
                      <a:r>
                        <a:rPr sz="1600" b="1">
                          <a:solidFill>
                            <a:srgbClr val="FFFFFF"/>
                          </a:solidFill>
                          <a:latin typeface="Arial"/>
                        </a:rPr>
                        <a:t>Probability metric</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0.8B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4B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9B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27B</a:t>
                      </a:r>
                    </a:p>
                  </a:txBody>
                  <a:tcPr marL="109728" marR="91440" marT="54864" marB="36576" anchor="ctr">
                    <a:solidFill>
                      <a:srgbClr val="00407A"/>
                    </a:solidFill>
                    <a:lnL>
                      <a:noFill/>
                    </a:lnL>
                    <a:lnR>
                      <a:noFill/>
                    </a:lnR>
                    <a:lnT>
                      <a:noFill/>
                    </a:lnT>
                    <a:lnB>
                      <a:noFill/>
                    </a:lnB>
                  </a:tcPr>
                </a:tc>
              </a:tr>
              <a:tr h="395478">
                <a:tc>
                  <a:txBody>
                    <a:bodyPr/>
                    <a:lstStyle/>
                    <a:p>
                      <a:pPr algn="l">
                        <a:lnSpc>
                          <a:spcPct val="103000"/>
                        </a:lnSpc>
                        <a:spcBef>
                          <a:spcPts val="0"/>
                        </a:spcBef>
                        <a:spcAft>
                          <a:spcPts val="0"/>
                        </a:spcAft>
                      </a:pPr>
                      <a:r>
                        <a:rPr sz="1700" b="0">
                          <a:solidFill>
                            <a:srgbClr val="00407A"/>
                          </a:solidFill>
                          <a:latin typeface="Arial"/>
                        </a:rPr>
                        <a:t>Compilation: ranking score (AUROC)</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0.563</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0.763</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0.692</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0.994</a:t>
                      </a:r>
                    </a:p>
                  </a:txBody>
                  <a:tcPr marL="109728" marR="91440" marT="54864" marB="36576" anchor="ctr">
                    <a:solidFill>
                      <a:srgbClr val="E3EFF5"/>
                    </a:solidFill>
                    <a:lnL>
                      <a:noFill/>
                    </a:lnL>
                    <a:lnR>
                      <a:noFill/>
                    </a:lnR>
                    <a:lnT>
                      <a:noFill/>
                    </a:lnT>
                    <a:lnB>
                      <a:noFill/>
                    </a:lnB>
                  </a:tcPr>
                </a:tc>
              </a:tr>
              <a:tr h="395478">
                <a:tc>
                  <a:txBody>
                    <a:bodyPr/>
                    <a:lstStyle/>
                    <a:p>
                      <a:pPr algn="l">
                        <a:lnSpc>
                          <a:spcPct val="103000"/>
                        </a:lnSpc>
                        <a:spcBef>
                          <a:spcPts val="0"/>
                        </a:spcBef>
                        <a:spcAft>
                          <a:spcPts val="0"/>
                        </a:spcAft>
                      </a:pPr>
                      <a:r>
                        <a:rPr sz="1700" b="0">
                          <a:solidFill>
                            <a:srgbClr val="00407A"/>
                          </a:solidFill>
                          <a:latin typeface="Arial"/>
                        </a:rPr>
                        <a:t>Compilation: probability error (Brier)</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0.334</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0.064</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0.066</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0.030</a:t>
                      </a:r>
                    </a:p>
                  </a:txBody>
                  <a:tcPr marL="109728" marR="91440" marT="54864" marB="36576" anchor="ctr">
                    <a:solidFill>
                      <a:srgbClr val="FFFFFF"/>
                    </a:solidFill>
                    <a:lnL>
                      <a:noFill/>
                    </a:lnL>
                    <a:lnR>
                      <a:noFill/>
                    </a:lnR>
                    <a:lnT>
                      <a:noFill/>
                    </a:lnT>
                    <a:lnB>
                      <a:noFill/>
                    </a:lnB>
                  </a:tcPr>
                </a:tc>
              </a:tr>
              <a:tr h="395478">
                <a:tc>
                  <a:txBody>
                    <a:bodyPr/>
                    <a:lstStyle/>
                    <a:p>
                      <a:pPr algn="l">
                        <a:lnSpc>
                          <a:spcPct val="103000"/>
                        </a:lnSpc>
                        <a:spcBef>
                          <a:spcPts val="0"/>
                        </a:spcBef>
                        <a:spcAft>
                          <a:spcPts val="0"/>
                        </a:spcAft>
                      </a:pPr>
                      <a:r>
                        <a:rPr sz="1700" b="0">
                          <a:solidFill>
                            <a:srgbClr val="00407A"/>
                          </a:solidFill>
                          <a:latin typeface="Arial"/>
                        </a:rPr>
                        <a:t>Synthesis: ranking score (AUROC)</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0.490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0.714</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0.740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0.814</a:t>
                      </a:r>
                    </a:p>
                  </a:txBody>
                  <a:tcPr marL="109728" marR="91440" marT="54864" marB="36576" anchor="ctr">
                    <a:solidFill>
                      <a:srgbClr val="E3EFF5"/>
                    </a:solidFill>
                    <a:lnL>
                      <a:noFill/>
                    </a:lnL>
                    <a:lnR>
                      <a:noFill/>
                    </a:lnR>
                    <a:lnT>
                      <a:noFill/>
                    </a:lnT>
                    <a:lnB>
                      <a:noFill/>
                    </a:lnB>
                  </a:tcPr>
                </a:tc>
              </a:tr>
              <a:tr h="395478">
                <a:tc>
                  <a:txBody>
                    <a:bodyPr/>
                    <a:lstStyle/>
                    <a:p>
                      <a:pPr algn="l">
                        <a:lnSpc>
                          <a:spcPct val="103000"/>
                        </a:lnSpc>
                        <a:spcBef>
                          <a:spcPts val="0"/>
                        </a:spcBef>
                        <a:spcAft>
                          <a:spcPts val="0"/>
                        </a:spcAft>
                      </a:pPr>
                      <a:r>
                        <a:rPr sz="1700" b="0">
                          <a:solidFill>
                            <a:srgbClr val="00407A"/>
                          </a:solidFill>
                          <a:latin typeface="Arial"/>
                        </a:rPr>
                        <a:t>Synthesis: probability error (Brier)</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0.187</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0.148</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0.144</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0.128</a:t>
                      </a:r>
                    </a:p>
                  </a:txBody>
                  <a:tcPr marL="109728" marR="91440" marT="54864" marB="36576" anchor="ctr">
                    <a:solidFill>
                      <a:srgbClr val="FFFFFF"/>
                    </a:solidFill>
                    <a:lnL>
                      <a:noFill/>
                    </a:lnL>
                    <a:lnR>
                      <a:noFill/>
                    </a:lnR>
                    <a:lnT>
                      <a:noFill/>
                    </a:lnT>
                    <a:lnB>
                      <a:noFill/>
                    </a:lnB>
                  </a:tcPr>
                </a:tc>
              </a:tr>
            </a:tbl>
          </a:graphicData>
        </a:graphic>
      </p:graphicFrame>
      <p:sp>
        <p:nvSpPr>
          <p:cNvPr id="8" name="Rounded Rectangle 7"/>
          <p:cNvSpPr/>
          <p:nvPr/>
        </p:nvSpPr>
        <p:spPr>
          <a:xfrm>
            <a:off x="813816" y="4343400"/>
            <a:ext cx="5166360" cy="150876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13816" y="4343400"/>
            <a:ext cx="516636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2416" y="4489704"/>
            <a:ext cx="4709160" cy="384048"/>
          </a:xfrm>
          <a:prstGeom prst="rect">
            <a:avLst/>
          </a:prstGeom>
          <a:noFill/>
        </p:spPr>
        <p:txBody>
          <a:bodyPr wrap="square" lIns="0" rIns="0" tIns="0" bIns="0" anchor="t">
            <a:noAutofit/>
          </a:bodyPr>
          <a:lstStyle/>
          <a:p>
            <a:pPr algn="l">
              <a:lnSpc>
                <a:spcPct val="109000"/>
              </a:lnSpc>
              <a:spcBef>
                <a:spcPts val="0"/>
              </a:spcBef>
              <a:spcAft>
                <a:spcPts val="0"/>
              </a:spcAft>
            </a:pPr>
            <a:r>
              <a:rPr sz="2000" b="1">
                <a:solidFill>
                  <a:srgbClr val="00407A"/>
                </a:solidFill>
                <a:latin typeface="Arial"/>
              </a:rPr>
              <a:t>Ranking score: higher is better</a:t>
            </a:r>
          </a:p>
        </p:txBody>
      </p:sp>
      <p:sp>
        <p:nvSpPr>
          <p:cNvPr id="11" name="TextBox 10"/>
          <p:cNvSpPr txBox="1"/>
          <p:nvPr/>
        </p:nvSpPr>
        <p:spPr>
          <a:xfrm>
            <a:off x="1042416" y="5001768"/>
            <a:ext cx="4709160" cy="75895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00407A"/>
                </a:solidFill>
                <a:latin typeface="Arial"/>
              </a:rPr>
              <a:t>Chance = 0.5; perfect ordering = 1.</a:t>
            </a:r>
          </a:p>
          <a:p>
            <a:pPr algn="l">
              <a:lnSpc>
                <a:spcPct val="109000"/>
              </a:lnSpc>
              <a:spcBef>
                <a:spcPts val="0"/>
              </a:spcBef>
              <a:spcAft>
                <a:spcPts val="0"/>
              </a:spcAft>
            </a:pPr>
            <a:r>
              <a:rPr sz="1600" b="0">
                <a:solidFill>
                  <a:srgbClr val="00407A"/>
                </a:solidFill>
                <a:latin typeface="Arial"/>
              </a:rPr>
              <a:t>Compares yes probabilities for successes and failures.</a:t>
            </a:r>
          </a:p>
        </p:txBody>
      </p:sp>
      <p:sp>
        <p:nvSpPr>
          <p:cNvPr id="12" name="Rounded Rectangle 11"/>
          <p:cNvSpPr/>
          <p:nvPr/>
        </p:nvSpPr>
        <p:spPr>
          <a:xfrm>
            <a:off x="6208776" y="4343400"/>
            <a:ext cx="5166360" cy="150876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08776" y="4343400"/>
            <a:ext cx="516636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7376" y="4489704"/>
            <a:ext cx="4709160" cy="384048"/>
          </a:xfrm>
          <a:prstGeom prst="rect">
            <a:avLst/>
          </a:prstGeom>
          <a:noFill/>
        </p:spPr>
        <p:txBody>
          <a:bodyPr wrap="square" lIns="0" rIns="0" tIns="0" bIns="0" anchor="t">
            <a:noAutofit/>
          </a:bodyPr>
          <a:lstStyle/>
          <a:p>
            <a:pPr algn="l">
              <a:lnSpc>
                <a:spcPct val="109000"/>
              </a:lnSpc>
              <a:spcBef>
                <a:spcPts val="0"/>
              </a:spcBef>
              <a:spcAft>
                <a:spcPts val="0"/>
              </a:spcAft>
            </a:pPr>
            <a:r>
              <a:rPr sz="2000" b="1">
                <a:solidFill>
                  <a:srgbClr val="00407A"/>
                </a:solidFill>
                <a:latin typeface="Arial"/>
              </a:rPr>
              <a:t>Probability error: lower is better</a:t>
            </a:r>
          </a:p>
        </p:txBody>
      </p:sp>
      <p:sp>
        <p:nvSpPr>
          <p:cNvPr id="15" name="TextBox 14"/>
          <p:cNvSpPr txBox="1"/>
          <p:nvPr/>
        </p:nvSpPr>
        <p:spPr>
          <a:xfrm>
            <a:off x="6437376" y="5001768"/>
            <a:ext cx="4709160" cy="75895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00407A"/>
                </a:solidFill>
                <a:latin typeface="Arial"/>
              </a:rPr>
              <a:t>Mean squared error of the yes probability.</a:t>
            </a:r>
          </a:p>
          <a:p>
            <a:pPr algn="l">
              <a:lnSpc>
                <a:spcPct val="109000"/>
              </a:lnSpc>
              <a:spcBef>
                <a:spcPts val="0"/>
              </a:spcBef>
              <a:spcAft>
                <a:spcPts val="0"/>
              </a:spcAft>
            </a:pPr>
            <a:r>
              <a:rPr sz="1600" b="0">
                <a:solidFill>
                  <a:srgbClr val="00407A"/>
                </a:solidFill>
                <a:latin typeface="Arial"/>
              </a:rPr>
              <a:t>Zero is perfect; confidently wrong answers cost more.</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265176"/>
            <a:ext cx="10561320" cy="237744"/>
          </a:xfrm>
          <a:prstGeom prst="rect">
            <a:avLst/>
          </a:prstGeom>
          <a:noFill/>
        </p:spPr>
        <p:txBody>
          <a:bodyPr wrap="square" lIns="0" rIns="0" tIns="0" bIns="0" anchor="t">
            <a:noAutofit/>
          </a:bodyPr>
          <a:lstStyle/>
          <a:p>
            <a:pPr algn="l">
              <a:lnSpc>
                <a:spcPct val="109000"/>
              </a:lnSpc>
              <a:spcBef>
                <a:spcPts val="0"/>
              </a:spcBef>
              <a:spcAft>
                <a:spcPts val="0"/>
              </a:spcAft>
            </a:pPr>
            <a:r>
              <a:rPr sz="1250" b="1">
                <a:solidFill>
                  <a:srgbClr val="0B5A93"/>
                </a:solidFill>
                <a:latin typeface="Arial"/>
              </a:rPr>
              <a:t>EXPERIMENT 2  •  THREE SOLVED EXAMPLES PER QUESTION</a:t>
            </a:r>
          </a:p>
        </p:txBody>
      </p:sp>
      <p:sp>
        <p:nvSpPr>
          <p:cNvPr id="3" name="TextBox 2"/>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27B’s synthesis ranking score rises to 0.918</a:t>
            </a:r>
          </a:p>
        </p:txBody>
      </p:sp>
      <p:sp>
        <p:nvSpPr>
          <p:cNvPr id="4" name="TextBox 3"/>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Ranking (AUROC) and probability error (Brier) of the yes probabilities, with examples.</a:t>
            </a:r>
          </a:p>
        </p:txBody>
      </p:sp>
      <p:sp>
        <p:nvSpPr>
          <p:cNvPr id="5" name="TextBox 4"/>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three examples per question  •  16 October 2026  |  APPENDIX</a:t>
            </a:r>
          </a:p>
        </p:txBody>
      </p:sp>
      <p:sp>
        <p:nvSpPr>
          <p:cNvPr id="6" name="TextBox 5"/>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50</a:t>
            </a:r>
          </a:p>
        </p:txBody>
      </p:sp>
      <p:graphicFrame>
        <p:nvGraphicFramePr>
          <p:cNvPr id="7" name="Table 6"/>
          <p:cNvGraphicFramePr>
            <a:graphicFrameLocks noGrp="1"/>
          </p:cNvGraphicFramePr>
          <p:nvPr/>
        </p:nvGraphicFramePr>
        <p:xfrm>
          <a:off x="813816" y="1874519"/>
          <a:ext cx="10561320" cy="2148840"/>
        </p:xfrm>
        <a:graphic>
          <a:graphicData uri="http://schemas.openxmlformats.org/drawingml/2006/table">
            <a:tbl>
              <a:tblPr firstRow="1" bandRow="1">
                <a:tableStyleId>{5C22544A-7EE6-4342-B048-85BDC9FD1C3A}</a:tableStyleId>
              </a:tblPr>
              <a:tblGrid>
                <a:gridCol w="4160520"/>
                <a:gridCol w="1600200"/>
                <a:gridCol w="1600200"/>
                <a:gridCol w="1600200"/>
                <a:gridCol w="1600200"/>
              </a:tblGrid>
              <a:tr h="566928">
                <a:tc>
                  <a:txBody>
                    <a:bodyPr/>
                    <a:lstStyle/>
                    <a:p>
                      <a:pPr algn="l">
                        <a:lnSpc>
                          <a:spcPct val="103000"/>
                        </a:lnSpc>
                        <a:spcBef>
                          <a:spcPts val="0"/>
                        </a:spcBef>
                        <a:spcAft>
                          <a:spcPts val="0"/>
                        </a:spcAft>
                      </a:pPr>
                      <a:r>
                        <a:rPr sz="1600" b="1">
                          <a:solidFill>
                            <a:srgbClr val="FFFFFF"/>
                          </a:solidFill>
                          <a:latin typeface="Arial"/>
                        </a:rPr>
                        <a:t>Probability metric</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0.8B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4B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9B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27B</a:t>
                      </a:r>
                    </a:p>
                  </a:txBody>
                  <a:tcPr marL="109728" marR="91440" marT="54864" marB="36576" anchor="ctr">
                    <a:solidFill>
                      <a:srgbClr val="00407A"/>
                    </a:solidFill>
                    <a:lnL>
                      <a:noFill/>
                    </a:lnL>
                    <a:lnR>
                      <a:noFill/>
                    </a:lnR>
                    <a:lnT>
                      <a:noFill/>
                    </a:lnT>
                    <a:lnB>
                      <a:noFill/>
                    </a:lnB>
                  </a:tcPr>
                </a:tc>
              </a:tr>
              <a:tr h="395478">
                <a:tc>
                  <a:txBody>
                    <a:bodyPr/>
                    <a:lstStyle/>
                    <a:p>
                      <a:pPr algn="l">
                        <a:lnSpc>
                          <a:spcPct val="103000"/>
                        </a:lnSpc>
                        <a:spcBef>
                          <a:spcPts val="0"/>
                        </a:spcBef>
                        <a:spcAft>
                          <a:spcPts val="0"/>
                        </a:spcAft>
                      </a:pPr>
                      <a:r>
                        <a:rPr sz="1700" b="0">
                          <a:solidFill>
                            <a:srgbClr val="00407A"/>
                          </a:solidFill>
                          <a:latin typeface="Arial"/>
                        </a:rPr>
                        <a:t>Compilation: ranking score (AUROC)</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0.577</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0.868</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0.875</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0.989</a:t>
                      </a:r>
                    </a:p>
                  </a:txBody>
                  <a:tcPr marL="109728" marR="91440" marT="54864" marB="36576" anchor="ctr">
                    <a:solidFill>
                      <a:srgbClr val="E3EFF5"/>
                    </a:solidFill>
                    <a:lnL>
                      <a:noFill/>
                    </a:lnL>
                    <a:lnR>
                      <a:noFill/>
                    </a:lnR>
                    <a:lnT>
                      <a:noFill/>
                    </a:lnT>
                    <a:lnB>
                      <a:noFill/>
                    </a:lnB>
                  </a:tcPr>
                </a:tc>
              </a:tr>
              <a:tr h="395478">
                <a:tc>
                  <a:txBody>
                    <a:bodyPr/>
                    <a:lstStyle/>
                    <a:p>
                      <a:pPr algn="l">
                        <a:lnSpc>
                          <a:spcPct val="103000"/>
                        </a:lnSpc>
                        <a:spcBef>
                          <a:spcPts val="0"/>
                        </a:spcBef>
                        <a:spcAft>
                          <a:spcPts val="0"/>
                        </a:spcAft>
                      </a:pPr>
                      <a:r>
                        <a:rPr sz="1700" b="0">
                          <a:solidFill>
                            <a:srgbClr val="00407A"/>
                          </a:solidFill>
                          <a:latin typeface="Arial"/>
                        </a:rPr>
                        <a:t>Compilation: probability error (Brier)</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0.420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0.056</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0.057</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0.068</a:t>
                      </a:r>
                    </a:p>
                  </a:txBody>
                  <a:tcPr marL="109728" marR="91440" marT="54864" marB="36576" anchor="ctr">
                    <a:solidFill>
                      <a:srgbClr val="FFFFFF"/>
                    </a:solidFill>
                    <a:lnL>
                      <a:noFill/>
                    </a:lnL>
                    <a:lnR>
                      <a:noFill/>
                    </a:lnR>
                    <a:lnT>
                      <a:noFill/>
                    </a:lnT>
                    <a:lnB>
                      <a:noFill/>
                    </a:lnB>
                  </a:tcPr>
                </a:tc>
              </a:tr>
              <a:tr h="395478">
                <a:tc>
                  <a:txBody>
                    <a:bodyPr/>
                    <a:lstStyle/>
                    <a:p>
                      <a:pPr algn="l">
                        <a:lnSpc>
                          <a:spcPct val="103000"/>
                        </a:lnSpc>
                        <a:spcBef>
                          <a:spcPts val="0"/>
                        </a:spcBef>
                        <a:spcAft>
                          <a:spcPts val="0"/>
                        </a:spcAft>
                      </a:pPr>
                      <a:r>
                        <a:rPr sz="1700" b="0">
                          <a:solidFill>
                            <a:srgbClr val="00407A"/>
                          </a:solidFill>
                          <a:latin typeface="Arial"/>
                        </a:rPr>
                        <a:t>Synthesis: ranking score (AUROC)</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0.566</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0.816</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0.796</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0.918</a:t>
                      </a:r>
                    </a:p>
                  </a:txBody>
                  <a:tcPr marL="109728" marR="91440" marT="54864" marB="36576" anchor="ctr">
                    <a:solidFill>
                      <a:srgbClr val="E3EFF5"/>
                    </a:solidFill>
                    <a:lnL>
                      <a:noFill/>
                    </a:lnL>
                    <a:lnR>
                      <a:noFill/>
                    </a:lnR>
                    <a:lnT>
                      <a:noFill/>
                    </a:lnT>
                    <a:lnB>
                      <a:noFill/>
                    </a:lnB>
                  </a:tcPr>
                </a:tc>
              </a:tr>
              <a:tr h="395478">
                <a:tc>
                  <a:txBody>
                    <a:bodyPr/>
                    <a:lstStyle/>
                    <a:p>
                      <a:pPr algn="l">
                        <a:lnSpc>
                          <a:spcPct val="103000"/>
                        </a:lnSpc>
                        <a:spcBef>
                          <a:spcPts val="0"/>
                        </a:spcBef>
                        <a:spcAft>
                          <a:spcPts val="0"/>
                        </a:spcAft>
                      </a:pPr>
                      <a:r>
                        <a:rPr sz="1700" b="0">
                          <a:solidFill>
                            <a:srgbClr val="00407A"/>
                          </a:solidFill>
                          <a:latin typeface="Arial"/>
                        </a:rPr>
                        <a:t>Synthesis: probability error (Brier)</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0.416</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0.130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0.123</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0.088</a:t>
                      </a:r>
                    </a:p>
                  </a:txBody>
                  <a:tcPr marL="109728" marR="91440" marT="54864" marB="36576" anchor="ctr">
                    <a:solidFill>
                      <a:srgbClr val="FFFFFF"/>
                    </a:solidFill>
                    <a:lnL>
                      <a:noFill/>
                    </a:lnL>
                    <a:lnR>
                      <a:noFill/>
                    </a:lnR>
                    <a:lnT>
                      <a:noFill/>
                    </a:lnT>
                    <a:lnB>
                      <a:noFill/>
                    </a:lnB>
                  </a:tcPr>
                </a:tc>
              </a:tr>
            </a:tbl>
          </a:graphicData>
        </a:graphic>
      </p:graphicFrame>
      <p:sp>
        <p:nvSpPr>
          <p:cNvPr id="8" name="Rounded Rectangle 7"/>
          <p:cNvSpPr/>
          <p:nvPr/>
        </p:nvSpPr>
        <p:spPr>
          <a:xfrm>
            <a:off x="813816" y="4343400"/>
            <a:ext cx="5166360" cy="150876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13816" y="4343400"/>
            <a:ext cx="516636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2416" y="4489704"/>
            <a:ext cx="4709160" cy="384048"/>
          </a:xfrm>
          <a:prstGeom prst="rect">
            <a:avLst/>
          </a:prstGeom>
          <a:noFill/>
        </p:spPr>
        <p:txBody>
          <a:bodyPr wrap="square" lIns="0" rIns="0" tIns="0" bIns="0" anchor="t">
            <a:noAutofit/>
          </a:bodyPr>
          <a:lstStyle/>
          <a:p>
            <a:pPr algn="l">
              <a:lnSpc>
                <a:spcPct val="109000"/>
              </a:lnSpc>
              <a:spcBef>
                <a:spcPts val="0"/>
              </a:spcBef>
              <a:spcAft>
                <a:spcPts val="0"/>
              </a:spcAft>
            </a:pPr>
            <a:r>
              <a:rPr sz="2000" b="1">
                <a:solidFill>
                  <a:srgbClr val="00407A"/>
                </a:solidFill>
                <a:latin typeface="Arial"/>
              </a:rPr>
              <a:t>Ranking score: higher is better</a:t>
            </a:r>
          </a:p>
        </p:txBody>
      </p:sp>
      <p:sp>
        <p:nvSpPr>
          <p:cNvPr id="11" name="TextBox 10"/>
          <p:cNvSpPr txBox="1"/>
          <p:nvPr/>
        </p:nvSpPr>
        <p:spPr>
          <a:xfrm>
            <a:off x="1042416" y="5001768"/>
            <a:ext cx="4709160" cy="75895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00407A"/>
                </a:solidFill>
                <a:latin typeface="Arial"/>
              </a:rPr>
              <a:t>Chance = 0.5; perfect ordering = 1.</a:t>
            </a:r>
          </a:p>
          <a:p>
            <a:pPr algn="l">
              <a:lnSpc>
                <a:spcPct val="109000"/>
              </a:lnSpc>
              <a:spcBef>
                <a:spcPts val="0"/>
              </a:spcBef>
              <a:spcAft>
                <a:spcPts val="0"/>
              </a:spcAft>
            </a:pPr>
            <a:r>
              <a:rPr sz="1600" b="0">
                <a:solidFill>
                  <a:srgbClr val="00407A"/>
                </a:solidFill>
                <a:latin typeface="Arial"/>
              </a:rPr>
              <a:t>Compares yes probabilities for successes and failures.</a:t>
            </a:r>
          </a:p>
        </p:txBody>
      </p:sp>
      <p:sp>
        <p:nvSpPr>
          <p:cNvPr id="12" name="Rounded Rectangle 11"/>
          <p:cNvSpPr/>
          <p:nvPr/>
        </p:nvSpPr>
        <p:spPr>
          <a:xfrm>
            <a:off x="6208776" y="4343400"/>
            <a:ext cx="5166360" cy="150876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08776" y="4343400"/>
            <a:ext cx="516636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7376" y="4489704"/>
            <a:ext cx="4709160" cy="384048"/>
          </a:xfrm>
          <a:prstGeom prst="rect">
            <a:avLst/>
          </a:prstGeom>
          <a:noFill/>
        </p:spPr>
        <p:txBody>
          <a:bodyPr wrap="square" lIns="0" rIns="0" tIns="0" bIns="0" anchor="t">
            <a:noAutofit/>
          </a:bodyPr>
          <a:lstStyle/>
          <a:p>
            <a:pPr algn="l">
              <a:lnSpc>
                <a:spcPct val="109000"/>
              </a:lnSpc>
              <a:spcBef>
                <a:spcPts val="0"/>
              </a:spcBef>
              <a:spcAft>
                <a:spcPts val="0"/>
              </a:spcAft>
            </a:pPr>
            <a:r>
              <a:rPr sz="2000" b="1">
                <a:solidFill>
                  <a:srgbClr val="00407A"/>
                </a:solidFill>
                <a:latin typeface="Arial"/>
              </a:rPr>
              <a:t>Probability error: lower is better</a:t>
            </a:r>
          </a:p>
        </p:txBody>
      </p:sp>
      <p:sp>
        <p:nvSpPr>
          <p:cNvPr id="15" name="TextBox 14"/>
          <p:cNvSpPr txBox="1"/>
          <p:nvPr/>
        </p:nvSpPr>
        <p:spPr>
          <a:xfrm>
            <a:off x="6437376" y="5001768"/>
            <a:ext cx="4709160" cy="75895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00407A"/>
                </a:solidFill>
                <a:latin typeface="Arial"/>
              </a:rPr>
              <a:t>Mean squared error of the yes probability.</a:t>
            </a:r>
          </a:p>
          <a:p>
            <a:pPr algn="l">
              <a:lnSpc>
                <a:spcPct val="109000"/>
              </a:lnSpc>
              <a:spcBef>
                <a:spcPts val="0"/>
              </a:spcBef>
              <a:spcAft>
                <a:spcPts val="0"/>
              </a:spcAft>
            </a:pPr>
            <a:r>
              <a:rPr sz="1600" b="0">
                <a:solidFill>
                  <a:srgbClr val="00407A"/>
                </a:solidFill>
                <a:latin typeface="Arial"/>
              </a:rPr>
              <a:t>Zero is perfect; confidently wrong answers cost more.</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265176"/>
            <a:ext cx="10561320" cy="237744"/>
          </a:xfrm>
          <a:prstGeom prst="rect">
            <a:avLst/>
          </a:prstGeom>
          <a:noFill/>
        </p:spPr>
        <p:txBody>
          <a:bodyPr wrap="square" lIns="0" rIns="0" tIns="0" bIns="0" anchor="t">
            <a:noAutofit/>
          </a:bodyPr>
          <a:lstStyle/>
          <a:p>
            <a:pPr algn="l">
              <a:lnSpc>
                <a:spcPct val="109000"/>
              </a:lnSpc>
              <a:spcBef>
                <a:spcPts val="0"/>
              </a:spcBef>
              <a:spcAft>
                <a:spcPts val="0"/>
              </a:spcAft>
            </a:pPr>
            <a:r>
              <a:rPr sz="1250" b="1">
                <a:solidFill>
                  <a:srgbClr val="4A5A66"/>
                </a:solidFill>
                <a:latin typeface="Arial"/>
              </a:rPr>
              <a:t>EXPERIMENT 1  •  NO EXAMPLES</a:t>
            </a:r>
          </a:p>
        </p:txBody>
      </p:sp>
      <p:sp>
        <p:nvSpPr>
          <p:cNvPr id="3" name="TextBox 2"/>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Performance levels: tolerance and expected-level error</a:t>
            </a:r>
          </a:p>
        </p:txBody>
      </p:sp>
      <p:sp>
        <p:nvSpPr>
          <p:cNvPr id="4" name="TextBox 3"/>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Within one level: higher is better. Mean level error: lower is better.</a:t>
            </a:r>
          </a:p>
        </p:txBody>
      </p:sp>
      <p:sp>
        <p:nvSpPr>
          <p:cNvPr id="5" name="TextBox 4"/>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APPENDIX</a:t>
            </a:r>
          </a:p>
        </p:txBody>
      </p:sp>
      <p:sp>
        <p:nvSpPr>
          <p:cNvPr id="6" name="TextBox 5"/>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51</a:t>
            </a:r>
          </a:p>
        </p:txBody>
      </p:sp>
      <p:graphicFrame>
        <p:nvGraphicFramePr>
          <p:cNvPr id="7" name="Table 6"/>
          <p:cNvGraphicFramePr>
            <a:graphicFrameLocks noGrp="1"/>
          </p:cNvGraphicFramePr>
          <p:nvPr/>
        </p:nvGraphicFramePr>
        <p:xfrm>
          <a:off x="813816" y="1874519"/>
          <a:ext cx="10561320" cy="3611880"/>
        </p:xfrm>
        <a:graphic>
          <a:graphicData uri="http://schemas.openxmlformats.org/drawingml/2006/table">
            <a:tbl>
              <a:tblPr firstRow="1" bandRow="1">
                <a:tableStyleId>{5C22544A-7EE6-4342-B048-85BDC9FD1C3A}</a:tableStyleId>
              </a:tblPr>
              <a:tblGrid>
                <a:gridCol w="1965960"/>
                <a:gridCol w="2240280"/>
                <a:gridCol w="1588770"/>
                <a:gridCol w="1588770"/>
                <a:gridCol w="1588770"/>
                <a:gridCol w="1588770"/>
              </a:tblGrid>
              <a:tr h="566928">
                <a:tc>
                  <a:txBody>
                    <a:bodyPr/>
                    <a:lstStyle/>
                    <a:p>
                      <a:pPr algn="l">
                        <a:lnSpc>
                          <a:spcPct val="103000"/>
                        </a:lnSpc>
                        <a:spcBef>
                          <a:spcPts val="0"/>
                        </a:spcBef>
                        <a:spcAft>
                          <a:spcPts val="0"/>
                        </a:spcAft>
                      </a:pPr>
                      <a:r>
                        <a:rPr sz="1500" b="1">
                          <a:solidFill>
                            <a:srgbClr val="FFFFFF"/>
                          </a:solidFill>
                          <a:latin typeface="Arial"/>
                        </a:rPr>
                        <a:t>Metric</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Measure</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0.8B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4B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9B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27B</a:t>
                      </a:r>
                    </a:p>
                  </a:txBody>
                  <a:tcPr marL="109728" marR="91440" marT="54864" marB="36576" anchor="ctr">
                    <a:solidFill>
                      <a:srgbClr val="00407A"/>
                    </a:solidFill>
                    <a:lnL>
                      <a:noFill/>
                    </a:lnL>
                    <a:lnR>
                      <a:noFill/>
                    </a:lnR>
                    <a:lnT>
                      <a:noFill/>
                    </a:lnT>
                    <a:lnB>
                      <a:noFill/>
                    </a:lnB>
                  </a:tcPr>
                </a:tc>
              </a:tr>
              <a:tr h="380619">
                <a:tc>
                  <a:txBody>
                    <a:bodyPr/>
                    <a:lstStyle/>
                    <a:p>
                      <a:pPr algn="l">
                        <a:lnSpc>
                          <a:spcPct val="103000"/>
                        </a:lnSpc>
                        <a:spcBef>
                          <a:spcPts val="0"/>
                        </a:spcBef>
                        <a:spcAft>
                          <a:spcPts val="0"/>
                        </a:spcAft>
                      </a:pPr>
                      <a:r>
                        <a:rPr sz="1600" b="0">
                          <a:solidFill>
                            <a:srgbClr val="00407A"/>
                          </a:solidFill>
                          <a:latin typeface="Arial"/>
                        </a:rPr>
                        <a:t>Area</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Within one level</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66.3%</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70.7%</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90.2%</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100.0%</a:t>
                      </a:r>
                    </a:p>
                  </a:txBody>
                  <a:tcPr marL="109728" marR="91440" marT="54864" marB="36576" anchor="ctr">
                    <a:solidFill>
                      <a:srgbClr val="E3EFF5"/>
                    </a:solidFill>
                    <a:lnL>
                      <a:noFill/>
                    </a:lnL>
                    <a:lnR>
                      <a:noFill/>
                    </a:lnR>
                    <a:lnT>
                      <a:noFill/>
                    </a:lnT>
                    <a:lnB>
                      <a:noFill/>
                    </a:lnB>
                  </a:tcPr>
                </a:tc>
              </a:tr>
              <a:tr h="380619">
                <a:tc>
                  <a:txBody>
                    <a:bodyPr/>
                    <a:lstStyle/>
                    <a:p>
                      <a:pPr algn="l">
                        <a:lnSpc>
                          <a:spcPct val="103000"/>
                        </a:lnSpc>
                        <a:spcBef>
                          <a:spcPts val="0"/>
                        </a:spcBef>
                        <a:spcAft>
                          <a:spcPts val="0"/>
                        </a:spcAft>
                      </a:pPr>
                      <a:r>
                        <a:rPr sz="1600" b="0">
                          <a:solidFill>
                            <a:srgbClr val="00407A"/>
                          </a:solidFill>
                          <a:latin typeface="Arial"/>
                        </a:rPr>
                        <a:t>Area</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Mean level error</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0.994</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0.713</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0.649</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0.485</a:t>
                      </a:r>
                    </a:p>
                  </a:txBody>
                  <a:tcPr marL="109728" marR="91440" marT="54864" marB="36576" anchor="ctr">
                    <a:solidFill>
                      <a:srgbClr val="FFFFFF"/>
                    </a:solidFill>
                    <a:lnL>
                      <a:noFill/>
                    </a:lnL>
                    <a:lnR>
                      <a:noFill/>
                    </a:lnR>
                    <a:lnT>
                      <a:noFill/>
                    </a:lnT>
                    <a:lnB>
                      <a:noFill/>
                    </a:lnB>
                  </a:tcPr>
                </a:tc>
              </a:tr>
              <a:tr h="380619">
                <a:tc>
                  <a:txBody>
                    <a:bodyPr/>
                    <a:lstStyle/>
                    <a:p>
                      <a:pPr algn="l">
                        <a:lnSpc>
                          <a:spcPct val="103000"/>
                        </a:lnSpc>
                        <a:spcBef>
                          <a:spcPts val="0"/>
                        </a:spcBef>
                        <a:spcAft>
                          <a:spcPts val="0"/>
                        </a:spcAft>
                      </a:pPr>
                      <a:r>
                        <a:rPr sz="1600" b="0">
                          <a:solidFill>
                            <a:srgbClr val="00407A"/>
                          </a:solidFill>
                          <a:latin typeface="Arial"/>
                        </a:rPr>
                        <a:t>Power</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Within one level</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82.4%</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91.8%</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92.9%</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64.7%</a:t>
                      </a:r>
                    </a:p>
                  </a:txBody>
                  <a:tcPr marL="109728" marR="91440" marT="54864" marB="36576" anchor="ctr">
                    <a:solidFill>
                      <a:srgbClr val="E3EFF5"/>
                    </a:solidFill>
                    <a:lnL>
                      <a:noFill/>
                    </a:lnL>
                    <a:lnR>
                      <a:noFill/>
                    </a:lnR>
                    <a:lnT>
                      <a:noFill/>
                    </a:lnT>
                    <a:lnB>
                      <a:noFill/>
                    </a:lnB>
                  </a:tcPr>
                </a:tc>
              </a:tr>
              <a:tr h="380619">
                <a:tc>
                  <a:txBody>
                    <a:bodyPr/>
                    <a:lstStyle/>
                    <a:p>
                      <a:pPr algn="l">
                        <a:lnSpc>
                          <a:spcPct val="103000"/>
                        </a:lnSpc>
                        <a:spcBef>
                          <a:spcPts val="0"/>
                        </a:spcBef>
                        <a:spcAft>
                          <a:spcPts val="0"/>
                        </a:spcAft>
                      </a:pPr>
                      <a:r>
                        <a:rPr sz="1600" b="0">
                          <a:solidFill>
                            <a:srgbClr val="00407A"/>
                          </a:solidFill>
                          <a:latin typeface="Arial"/>
                        </a:rPr>
                        <a:t>Power</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Mean level error</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0.971</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0.754</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0.900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1.070</a:t>
                      </a:r>
                    </a:p>
                  </a:txBody>
                  <a:tcPr marL="109728" marR="91440" marT="54864" marB="36576" anchor="ctr">
                    <a:solidFill>
                      <a:srgbClr val="FFFFFF"/>
                    </a:solidFill>
                    <a:lnL>
                      <a:noFill/>
                    </a:lnL>
                    <a:lnR>
                      <a:noFill/>
                    </a:lnR>
                    <a:lnT>
                      <a:noFill/>
                    </a:lnT>
                    <a:lnB>
                      <a:noFill/>
                    </a:lnB>
                  </a:tcPr>
                </a:tc>
              </a:tr>
              <a:tr h="380619">
                <a:tc>
                  <a:txBody>
                    <a:bodyPr/>
                    <a:lstStyle/>
                    <a:p>
                      <a:pPr algn="l">
                        <a:lnSpc>
                          <a:spcPct val="103000"/>
                        </a:lnSpc>
                        <a:spcBef>
                          <a:spcPts val="0"/>
                        </a:spcBef>
                        <a:spcAft>
                          <a:spcPts val="0"/>
                        </a:spcAft>
                      </a:pPr>
                      <a:r>
                        <a:rPr sz="1600" b="0">
                          <a:solidFill>
                            <a:srgbClr val="00407A"/>
                          </a:solidFill>
                          <a:latin typeface="Arial"/>
                        </a:rPr>
                        <a:t>Clock frequency</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Within one level</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31.5%</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31.5%</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33.7%</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31.5%</a:t>
                      </a:r>
                    </a:p>
                  </a:txBody>
                  <a:tcPr marL="109728" marR="91440" marT="54864" marB="36576" anchor="ctr">
                    <a:solidFill>
                      <a:srgbClr val="E3EFF5"/>
                    </a:solidFill>
                    <a:lnL>
                      <a:noFill/>
                    </a:lnL>
                    <a:lnR>
                      <a:noFill/>
                    </a:lnR>
                    <a:lnT>
                      <a:noFill/>
                    </a:lnT>
                    <a:lnB>
                      <a:noFill/>
                    </a:lnB>
                  </a:tcPr>
                </a:tc>
              </a:tr>
              <a:tr h="380619">
                <a:tc>
                  <a:txBody>
                    <a:bodyPr/>
                    <a:lstStyle/>
                    <a:p>
                      <a:pPr algn="l">
                        <a:lnSpc>
                          <a:spcPct val="103000"/>
                        </a:lnSpc>
                        <a:spcBef>
                          <a:spcPts val="0"/>
                        </a:spcBef>
                        <a:spcAft>
                          <a:spcPts val="0"/>
                        </a:spcAft>
                      </a:pPr>
                      <a:r>
                        <a:rPr sz="1600" b="0">
                          <a:solidFill>
                            <a:srgbClr val="00407A"/>
                          </a:solidFill>
                          <a:latin typeface="Arial"/>
                        </a:rPr>
                        <a:t>Clock frequency</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Mean level error</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1.119</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1.321</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1.208</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1.242</a:t>
                      </a:r>
                    </a:p>
                  </a:txBody>
                  <a:tcPr marL="109728" marR="91440" marT="54864" marB="36576" anchor="ctr">
                    <a:solidFill>
                      <a:srgbClr val="FFFFFF"/>
                    </a:solidFill>
                    <a:lnL>
                      <a:noFill/>
                    </a:lnL>
                    <a:lnR>
                      <a:noFill/>
                    </a:lnR>
                    <a:lnT>
                      <a:noFill/>
                    </a:lnT>
                    <a:lnB>
                      <a:noFill/>
                    </a:lnB>
                  </a:tcPr>
                </a:tc>
              </a:tr>
              <a:tr h="380619">
                <a:tc>
                  <a:txBody>
                    <a:bodyPr/>
                    <a:lstStyle/>
                    <a:p>
                      <a:pPr algn="l">
                        <a:lnSpc>
                          <a:spcPct val="103000"/>
                        </a:lnSpc>
                        <a:spcBef>
                          <a:spcPts val="0"/>
                        </a:spcBef>
                        <a:spcAft>
                          <a:spcPts val="0"/>
                        </a:spcAft>
                      </a:pPr>
                      <a:r>
                        <a:rPr sz="1600" b="0">
                          <a:solidFill>
                            <a:srgbClr val="00407A"/>
                          </a:solidFill>
                          <a:latin typeface="Arial"/>
                        </a:rPr>
                        <a:t>Timing margin</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Within one level</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30.4%</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28.3%</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12.0%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40.2%</a:t>
                      </a:r>
                    </a:p>
                  </a:txBody>
                  <a:tcPr marL="109728" marR="91440" marT="54864" marB="36576" anchor="ctr">
                    <a:solidFill>
                      <a:srgbClr val="E3EFF5"/>
                    </a:solidFill>
                    <a:lnL>
                      <a:noFill/>
                    </a:lnL>
                    <a:lnR>
                      <a:noFill/>
                    </a:lnR>
                    <a:lnT>
                      <a:noFill/>
                    </a:lnT>
                    <a:lnB>
                      <a:noFill/>
                    </a:lnB>
                  </a:tcPr>
                </a:tc>
              </a:tr>
              <a:tr h="380619">
                <a:tc>
                  <a:txBody>
                    <a:bodyPr/>
                    <a:lstStyle/>
                    <a:p>
                      <a:pPr algn="l">
                        <a:lnSpc>
                          <a:spcPct val="103000"/>
                        </a:lnSpc>
                        <a:spcBef>
                          <a:spcPts val="0"/>
                        </a:spcBef>
                        <a:spcAft>
                          <a:spcPts val="0"/>
                        </a:spcAft>
                      </a:pPr>
                      <a:r>
                        <a:rPr sz="1600" b="0">
                          <a:solidFill>
                            <a:srgbClr val="00407A"/>
                          </a:solidFill>
                          <a:latin typeface="Arial"/>
                        </a:rPr>
                        <a:t>Timing margin</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Mean level error</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1.509</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1.654</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1.742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1.622</a:t>
                      </a:r>
                    </a:p>
                  </a:txBody>
                  <a:tcPr marL="109728" marR="91440" marT="54864" marB="36576" anchor="ctr">
                    <a:solidFill>
                      <a:srgbClr val="FFFFFF"/>
                    </a:solidFill>
                    <a:lnL>
                      <a:noFill/>
                    </a:lnL>
                    <a:lnR>
                      <a:noFill/>
                    </a:lnR>
                    <a:lnT>
                      <a:noFill/>
                    </a:lnT>
                    <a:lnB>
                      <a:noFill/>
                    </a:lnB>
                  </a:tcPr>
                </a:tc>
              </a:tr>
            </a:tbl>
          </a:graphicData>
        </a:graphic>
      </p:graphicFrame>
      <p:sp>
        <p:nvSpPr>
          <p:cNvPr id="8" name="TextBox 7"/>
          <p:cNvSpPr txBox="1"/>
          <p:nvPr/>
        </p:nvSpPr>
        <p:spPr>
          <a:xfrm>
            <a:off x="960120" y="5705856"/>
            <a:ext cx="10149840" cy="548640"/>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00407A"/>
                </a:solidFill>
                <a:latin typeface="Arial"/>
              </a:rPr>
              <a:t>Mean level error uses the probability-weighted expected level, not just the most likely level.</a:t>
            </a:r>
          </a:p>
          <a:p>
            <a:pPr algn="l">
              <a:lnSpc>
                <a:spcPct val="109000"/>
              </a:lnSpc>
              <a:spcBef>
                <a:spcPts val="0"/>
              </a:spcBef>
              <a:spcAft>
                <a:spcPts val="0"/>
              </a:spcAft>
            </a:pPr>
            <a:r>
              <a:rPr sz="1600" b="0">
                <a:solidFill>
                  <a:srgbClr val="00407A"/>
                </a:solidFill>
                <a:latin typeface="Arial"/>
              </a:rPr>
              <a:t>Unequal physical bin widths mean that one level is not a fixed physical error.</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265176"/>
            <a:ext cx="10561320" cy="237744"/>
          </a:xfrm>
          <a:prstGeom prst="rect">
            <a:avLst/>
          </a:prstGeom>
          <a:noFill/>
        </p:spPr>
        <p:txBody>
          <a:bodyPr wrap="square" lIns="0" rIns="0" tIns="0" bIns="0" anchor="t">
            <a:noAutofit/>
          </a:bodyPr>
          <a:lstStyle/>
          <a:p>
            <a:pPr algn="l">
              <a:lnSpc>
                <a:spcPct val="109000"/>
              </a:lnSpc>
              <a:spcBef>
                <a:spcPts val="0"/>
              </a:spcBef>
              <a:spcAft>
                <a:spcPts val="0"/>
              </a:spcAft>
            </a:pPr>
            <a:r>
              <a:rPr sz="1250" b="1">
                <a:solidFill>
                  <a:srgbClr val="0B5A93"/>
                </a:solidFill>
                <a:latin typeface="Arial"/>
              </a:rPr>
              <a:t>EXPERIMENT 2  •  THREE SOLVED EXAMPLES PER QUESTION</a:t>
            </a:r>
          </a:p>
        </p:txBody>
      </p:sp>
      <p:sp>
        <p:nvSpPr>
          <p:cNvPr id="3" name="TextBox 2"/>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Level tolerance and error, with examples</a:t>
            </a:r>
          </a:p>
        </p:txBody>
      </p:sp>
      <p:sp>
        <p:nvSpPr>
          <p:cNvPr id="4" name="TextBox 3"/>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Within one level: higher is better. Mean level error: lower is better.</a:t>
            </a:r>
          </a:p>
        </p:txBody>
      </p:sp>
      <p:sp>
        <p:nvSpPr>
          <p:cNvPr id="5" name="TextBox 4"/>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three examples per question  •  16 October 2026  |  APPENDIX</a:t>
            </a:r>
          </a:p>
        </p:txBody>
      </p:sp>
      <p:sp>
        <p:nvSpPr>
          <p:cNvPr id="6" name="TextBox 5"/>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52</a:t>
            </a:r>
          </a:p>
        </p:txBody>
      </p:sp>
      <p:graphicFrame>
        <p:nvGraphicFramePr>
          <p:cNvPr id="7" name="Table 6"/>
          <p:cNvGraphicFramePr>
            <a:graphicFrameLocks noGrp="1"/>
          </p:cNvGraphicFramePr>
          <p:nvPr/>
        </p:nvGraphicFramePr>
        <p:xfrm>
          <a:off x="813816" y="1874519"/>
          <a:ext cx="10561320" cy="3611880"/>
        </p:xfrm>
        <a:graphic>
          <a:graphicData uri="http://schemas.openxmlformats.org/drawingml/2006/table">
            <a:tbl>
              <a:tblPr firstRow="1" bandRow="1">
                <a:tableStyleId>{5C22544A-7EE6-4342-B048-85BDC9FD1C3A}</a:tableStyleId>
              </a:tblPr>
              <a:tblGrid>
                <a:gridCol w="1965960"/>
                <a:gridCol w="2240280"/>
                <a:gridCol w="1588770"/>
                <a:gridCol w="1588770"/>
                <a:gridCol w="1588770"/>
                <a:gridCol w="1588770"/>
              </a:tblGrid>
              <a:tr h="566928">
                <a:tc>
                  <a:txBody>
                    <a:bodyPr/>
                    <a:lstStyle/>
                    <a:p>
                      <a:pPr algn="l">
                        <a:lnSpc>
                          <a:spcPct val="103000"/>
                        </a:lnSpc>
                        <a:spcBef>
                          <a:spcPts val="0"/>
                        </a:spcBef>
                        <a:spcAft>
                          <a:spcPts val="0"/>
                        </a:spcAft>
                      </a:pPr>
                      <a:r>
                        <a:rPr sz="1500" b="1">
                          <a:solidFill>
                            <a:srgbClr val="FFFFFF"/>
                          </a:solidFill>
                          <a:latin typeface="Arial"/>
                        </a:rPr>
                        <a:t>Metric</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Measure</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0.8B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4B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9B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27B</a:t>
                      </a:r>
                    </a:p>
                  </a:txBody>
                  <a:tcPr marL="109728" marR="91440" marT="54864" marB="36576" anchor="ctr">
                    <a:solidFill>
                      <a:srgbClr val="00407A"/>
                    </a:solidFill>
                    <a:lnL>
                      <a:noFill/>
                    </a:lnL>
                    <a:lnR>
                      <a:noFill/>
                    </a:lnR>
                    <a:lnT>
                      <a:noFill/>
                    </a:lnT>
                    <a:lnB>
                      <a:noFill/>
                    </a:lnB>
                  </a:tcPr>
                </a:tc>
              </a:tr>
              <a:tr h="380619">
                <a:tc>
                  <a:txBody>
                    <a:bodyPr/>
                    <a:lstStyle/>
                    <a:p>
                      <a:pPr algn="l">
                        <a:lnSpc>
                          <a:spcPct val="103000"/>
                        </a:lnSpc>
                        <a:spcBef>
                          <a:spcPts val="0"/>
                        </a:spcBef>
                        <a:spcAft>
                          <a:spcPts val="0"/>
                        </a:spcAft>
                      </a:pPr>
                      <a:r>
                        <a:rPr sz="1600" b="0">
                          <a:solidFill>
                            <a:srgbClr val="00407A"/>
                          </a:solidFill>
                          <a:latin typeface="Arial"/>
                        </a:rPr>
                        <a:t>Area</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Within one level</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12.0%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93.5%</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92.4%</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100.0%</a:t>
                      </a:r>
                    </a:p>
                  </a:txBody>
                  <a:tcPr marL="109728" marR="91440" marT="54864" marB="36576" anchor="ctr">
                    <a:solidFill>
                      <a:srgbClr val="E3EFF5"/>
                    </a:solidFill>
                    <a:lnL>
                      <a:noFill/>
                    </a:lnL>
                    <a:lnR>
                      <a:noFill/>
                    </a:lnR>
                    <a:lnT>
                      <a:noFill/>
                    </a:lnT>
                    <a:lnB>
                      <a:noFill/>
                    </a:lnB>
                  </a:tcPr>
                </a:tc>
              </a:tr>
              <a:tr h="380619">
                <a:tc>
                  <a:txBody>
                    <a:bodyPr/>
                    <a:lstStyle/>
                    <a:p>
                      <a:pPr algn="l">
                        <a:lnSpc>
                          <a:spcPct val="103000"/>
                        </a:lnSpc>
                        <a:spcBef>
                          <a:spcPts val="0"/>
                        </a:spcBef>
                        <a:spcAft>
                          <a:spcPts val="0"/>
                        </a:spcAft>
                      </a:pPr>
                      <a:r>
                        <a:rPr sz="1600" b="0">
                          <a:solidFill>
                            <a:srgbClr val="00407A"/>
                          </a:solidFill>
                          <a:latin typeface="Arial"/>
                        </a:rPr>
                        <a:t>Area</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Mean level error</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1.626</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0.884</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0.748</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0.438</a:t>
                      </a:r>
                    </a:p>
                  </a:txBody>
                  <a:tcPr marL="109728" marR="91440" marT="54864" marB="36576" anchor="ctr">
                    <a:solidFill>
                      <a:srgbClr val="FFFFFF"/>
                    </a:solidFill>
                    <a:lnL>
                      <a:noFill/>
                    </a:lnL>
                    <a:lnR>
                      <a:noFill/>
                    </a:lnR>
                    <a:lnT>
                      <a:noFill/>
                    </a:lnT>
                    <a:lnB>
                      <a:noFill/>
                    </a:lnB>
                  </a:tcPr>
                </a:tc>
              </a:tr>
              <a:tr h="380619">
                <a:tc>
                  <a:txBody>
                    <a:bodyPr/>
                    <a:lstStyle/>
                    <a:p>
                      <a:pPr algn="l">
                        <a:lnSpc>
                          <a:spcPct val="103000"/>
                        </a:lnSpc>
                        <a:spcBef>
                          <a:spcPts val="0"/>
                        </a:spcBef>
                        <a:spcAft>
                          <a:spcPts val="0"/>
                        </a:spcAft>
                      </a:pPr>
                      <a:r>
                        <a:rPr sz="1600" b="0">
                          <a:solidFill>
                            <a:srgbClr val="00407A"/>
                          </a:solidFill>
                          <a:latin typeface="Arial"/>
                        </a:rPr>
                        <a:t>Power</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Within one level</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8.2%</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88.2%</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69.4%</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87.1%</a:t>
                      </a:r>
                    </a:p>
                  </a:txBody>
                  <a:tcPr marL="109728" marR="91440" marT="54864" marB="36576" anchor="ctr">
                    <a:solidFill>
                      <a:srgbClr val="E3EFF5"/>
                    </a:solidFill>
                    <a:lnL>
                      <a:noFill/>
                    </a:lnL>
                    <a:lnR>
                      <a:noFill/>
                    </a:lnR>
                    <a:lnT>
                      <a:noFill/>
                    </a:lnT>
                    <a:lnB>
                      <a:noFill/>
                    </a:lnB>
                  </a:tcPr>
                </a:tc>
              </a:tr>
              <a:tr h="380619">
                <a:tc>
                  <a:txBody>
                    <a:bodyPr/>
                    <a:lstStyle/>
                    <a:p>
                      <a:pPr algn="l">
                        <a:lnSpc>
                          <a:spcPct val="103000"/>
                        </a:lnSpc>
                        <a:spcBef>
                          <a:spcPts val="0"/>
                        </a:spcBef>
                        <a:spcAft>
                          <a:spcPts val="0"/>
                        </a:spcAft>
                      </a:pPr>
                      <a:r>
                        <a:rPr sz="1600" b="0">
                          <a:solidFill>
                            <a:srgbClr val="00407A"/>
                          </a:solidFill>
                          <a:latin typeface="Arial"/>
                        </a:rPr>
                        <a:t>Power</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Mean level error</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1.606</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0.986</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1.056</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1.045</a:t>
                      </a:r>
                    </a:p>
                  </a:txBody>
                  <a:tcPr marL="109728" marR="91440" marT="54864" marB="36576" anchor="ctr">
                    <a:solidFill>
                      <a:srgbClr val="FFFFFF"/>
                    </a:solidFill>
                    <a:lnL>
                      <a:noFill/>
                    </a:lnL>
                    <a:lnR>
                      <a:noFill/>
                    </a:lnR>
                    <a:lnT>
                      <a:noFill/>
                    </a:lnT>
                    <a:lnB>
                      <a:noFill/>
                    </a:lnB>
                  </a:tcPr>
                </a:tc>
              </a:tr>
              <a:tr h="380619">
                <a:tc>
                  <a:txBody>
                    <a:bodyPr/>
                    <a:lstStyle/>
                    <a:p>
                      <a:pPr algn="l">
                        <a:lnSpc>
                          <a:spcPct val="103000"/>
                        </a:lnSpc>
                        <a:spcBef>
                          <a:spcPts val="0"/>
                        </a:spcBef>
                        <a:spcAft>
                          <a:spcPts val="0"/>
                        </a:spcAft>
                      </a:pPr>
                      <a:r>
                        <a:rPr sz="1600" b="0">
                          <a:solidFill>
                            <a:srgbClr val="00407A"/>
                          </a:solidFill>
                          <a:latin typeface="Arial"/>
                        </a:rPr>
                        <a:t>Clock frequency</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Within one level</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62.0%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51.1%</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51.1%</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83.7%</a:t>
                      </a:r>
                    </a:p>
                  </a:txBody>
                  <a:tcPr marL="109728" marR="91440" marT="54864" marB="36576" anchor="ctr">
                    <a:solidFill>
                      <a:srgbClr val="E3EFF5"/>
                    </a:solidFill>
                    <a:lnL>
                      <a:noFill/>
                    </a:lnL>
                    <a:lnR>
                      <a:noFill/>
                    </a:lnR>
                    <a:lnT>
                      <a:noFill/>
                    </a:lnT>
                    <a:lnB>
                      <a:noFill/>
                    </a:lnB>
                  </a:tcPr>
                </a:tc>
              </a:tr>
              <a:tr h="380619">
                <a:tc>
                  <a:txBody>
                    <a:bodyPr/>
                    <a:lstStyle/>
                    <a:p>
                      <a:pPr algn="l">
                        <a:lnSpc>
                          <a:spcPct val="103000"/>
                        </a:lnSpc>
                        <a:spcBef>
                          <a:spcPts val="0"/>
                        </a:spcBef>
                        <a:spcAft>
                          <a:spcPts val="0"/>
                        </a:spcAft>
                      </a:pPr>
                      <a:r>
                        <a:rPr sz="1600" b="0">
                          <a:solidFill>
                            <a:srgbClr val="00407A"/>
                          </a:solidFill>
                          <a:latin typeface="Arial"/>
                        </a:rPr>
                        <a:t>Clock frequency</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Mean level error</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0.932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0.998</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1.049</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0.868</a:t>
                      </a:r>
                    </a:p>
                  </a:txBody>
                  <a:tcPr marL="109728" marR="91440" marT="54864" marB="36576" anchor="ctr">
                    <a:solidFill>
                      <a:srgbClr val="FFFFFF"/>
                    </a:solidFill>
                    <a:lnL>
                      <a:noFill/>
                    </a:lnL>
                    <a:lnR>
                      <a:noFill/>
                    </a:lnR>
                    <a:lnT>
                      <a:noFill/>
                    </a:lnT>
                    <a:lnB>
                      <a:noFill/>
                    </a:lnB>
                  </a:tcPr>
                </a:tc>
              </a:tr>
              <a:tr h="380619">
                <a:tc>
                  <a:txBody>
                    <a:bodyPr/>
                    <a:lstStyle/>
                    <a:p>
                      <a:pPr algn="l">
                        <a:lnSpc>
                          <a:spcPct val="103000"/>
                        </a:lnSpc>
                        <a:spcBef>
                          <a:spcPts val="0"/>
                        </a:spcBef>
                        <a:spcAft>
                          <a:spcPts val="0"/>
                        </a:spcAft>
                      </a:pPr>
                      <a:r>
                        <a:rPr sz="1600" b="0">
                          <a:solidFill>
                            <a:srgbClr val="00407A"/>
                          </a:solidFill>
                          <a:latin typeface="Arial"/>
                        </a:rPr>
                        <a:t>Timing margin</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Within one level</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85.9%</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32.6%</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76.1%</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90.2%</a:t>
                      </a:r>
                    </a:p>
                  </a:txBody>
                  <a:tcPr marL="109728" marR="91440" marT="54864" marB="36576" anchor="ctr">
                    <a:solidFill>
                      <a:srgbClr val="E3EFF5"/>
                    </a:solidFill>
                    <a:lnL>
                      <a:noFill/>
                    </a:lnL>
                    <a:lnR>
                      <a:noFill/>
                    </a:lnR>
                    <a:lnT>
                      <a:noFill/>
                    </a:lnT>
                    <a:lnB>
                      <a:noFill/>
                    </a:lnB>
                  </a:tcPr>
                </a:tc>
              </a:tr>
              <a:tr h="380619">
                <a:tc>
                  <a:txBody>
                    <a:bodyPr/>
                    <a:lstStyle/>
                    <a:p>
                      <a:pPr algn="l">
                        <a:lnSpc>
                          <a:spcPct val="103000"/>
                        </a:lnSpc>
                        <a:spcBef>
                          <a:spcPts val="0"/>
                        </a:spcBef>
                        <a:spcAft>
                          <a:spcPts val="0"/>
                        </a:spcAft>
                      </a:pPr>
                      <a:r>
                        <a:rPr sz="1600" b="0">
                          <a:solidFill>
                            <a:srgbClr val="00407A"/>
                          </a:solidFill>
                          <a:latin typeface="Arial"/>
                        </a:rPr>
                        <a:t>Timing margin</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Mean level error</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0.759</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1.439</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1.474</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0.925</a:t>
                      </a:r>
                    </a:p>
                  </a:txBody>
                  <a:tcPr marL="109728" marR="91440" marT="54864" marB="36576" anchor="ctr">
                    <a:solidFill>
                      <a:srgbClr val="FFFFFF"/>
                    </a:solidFill>
                    <a:lnL>
                      <a:noFill/>
                    </a:lnL>
                    <a:lnR>
                      <a:noFill/>
                    </a:lnR>
                    <a:lnT>
                      <a:noFill/>
                    </a:lnT>
                    <a:lnB>
                      <a:noFill/>
                    </a:lnB>
                  </a:tcPr>
                </a:tc>
              </a:tr>
            </a:tbl>
          </a:graphicData>
        </a:graphic>
      </p:graphicFrame>
      <p:sp>
        <p:nvSpPr>
          <p:cNvPr id="8" name="TextBox 7"/>
          <p:cNvSpPr txBox="1"/>
          <p:nvPr/>
        </p:nvSpPr>
        <p:spPr>
          <a:xfrm>
            <a:off x="960120" y="5705856"/>
            <a:ext cx="10149840" cy="548640"/>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00407A"/>
                </a:solidFill>
                <a:latin typeface="Arial"/>
              </a:rPr>
              <a:t>Mean level error uses the probability-weighted expected level, not just the most likely level.</a:t>
            </a:r>
          </a:p>
          <a:p>
            <a:pPr algn="l">
              <a:lnSpc>
                <a:spcPct val="109000"/>
              </a:lnSpc>
              <a:spcBef>
                <a:spcPts val="0"/>
              </a:spcBef>
              <a:spcAft>
                <a:spcPts val="0"/>
              </a:spcAft>
            </a:pPr>
            <a:r>
              <a:rPr sz="1600" b="0">
                <a:solidFill>
                  <a:srgbClr val="00407A"/>
                </a:solidFill>
                <a:latin typeface="Arial"/>
              </a:rPr>
              <a:t>Unequal physical bin widths mean that one level is not a fixed physical error.</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265176"/>
            <a:ext cx="10561320" cy="237744"/>
          </a:xfrm>
          <a:prstGeom prst="rect">
            <a:avLst/>
          </a:prstGeom>
          <a:noFill/>
        </p:spPr>
        <p:txBody>
          <a:bodyPr wrap="square" lIns="0" rIns="0" tIns="0" bIns="0" anchor="t">
            <a:noAutofit/>
          </a:bodyPr>
          <a:lstStyle/>
          <a:p>
            <a:pPr algn="l">
              <a:lnSpc>
                <a:spcPct val="109000"/>
              </a:lnSpc>
              <a:spcBef>
                <a:spcPts val="0"/>
              </a:spcBef>
              <a:spcAft>
                <a:spcPts val="0"/>
              </a:spcAft>
            </a:pPr>
            <a:r>
              <a:rPr sz="1250" b="1">
                <a:solidFill>
                  <a:srgbClr val="4A5A66"/>
                </a:solidFill>
                <a:latin typeface="Arial"/>
              </a:rPr>
              <a:t>EXPERIMENT 1  •  NO EXAMPLES</a:t>
            </a:r>
          </a:p>
        </p:txBody>
      </p:sp>
      <p:sp>
        <p:nvSpPr>
          <p:cNvPr id="3" name="TextBox 2"/>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Pair order: all correctness and letter-bias counts</a:t>
            </a:r>
          </a:p>
        </p:txBody>
      </p:sp>
      <p:sp>
        <p:nvSpPr>
          <p:cNvPr id="4" name="TextBox 3"/>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Counts are per distinct pair. Each pair has exactly two model answers.</a:t>
            </a:r>
          </a:p>
        </p:txBody>
      </p:sp>
      <p:sp>
        <p:nvSpPr>
          <p:cNvPr id="5" name="TextBox 4"/>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APPENDIX</a:t>
            </a:r>
          </a:p>
        </p:txBody>
      </p:sp>
      <p:sp>
        <p:nvSpPr>
          <p:cNvPr id="6" name="TextBox 5"/>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53</a:t>
            </a:r>
          </a:p>
        </p:txBody>
      </p:sp>
      <p:graphicFrame>
        <p:nvGraphicFramePr>
          <p:cNvPr id="7" name="Table 6"/>
          <p:cNvGraphicFramePr>
            <a:graphicFrameLocks noGrp="1"/>
          </p:cNvGraphicFramePr>
          <p:nvPr/>
        </p:nvGraphicFramePr>
        <p:xfrm>
          <a:off x="813816" y="1874519"/>
          <a:ext cx="10561319" cy="3886200"/>
        </p:xfrm>
        <a:graphic>
          <a:graphicData uri="http://schemas.openxmlformats.org/drawingml/2006/table">
            <a:tbl>
              <a:tblPr firstRow="1" bandRow="1">
                <a:tableStyleId>{5C22544A-7EE6-4342-B048-85BDC9FD1C3A}</a:tableStyleId>
              </a:tblPr>
              <a:tblGrid>
                <a:gridCol w="3749039"/>
                <a:gridCol w="1143000"/>
                <a:gridCol w="1417320"/>
                <a:gridCol w="1417320"/>
                <a:gridCol w="1417320"/>
                <a:gridCol w="1417320"/>
              </a:tblGrid>
              <a:tr h="566928">
                <a:tc>
                  <a:txBody>
                    <a:bodyPr/>
                    <a:lstStyle/>
                    <a:p>
                      <a:pPr algn="l">
                        <a:lnSpc>
                          <a:spcPct val="103000"/>
                        </a:lnSpc>
                        <a:spcBef>
                          <a:spcPts val="0"/>
                        </a:spcBef>
                        <a:spcAft>
                          <a:spcPts val="0"/>
                        </a:spcAft>
                      </a:pPr>
                      <a:r>
                        <a:rPr sz="1500" b="1">
                          <a:solidFill>
                            <a:srgbClr val="FFFFFF"/>
                          </a:solidFill>
                          <a:latin typeface="Arial"/>
                        </a:rPr>
                        <a:t>Pair outcome</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Pairs</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0.8B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4B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9B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27B</a:t>
                      </a:r>
                    </a:p>
                  </a:txBody>
                  <a:tcPr marL="109728" marR="91440" marT="54864" marB="36576" anchor="ctr">
                    <a:solidFill>
                      <a:srgbClr val="00407A"/>
                    </a:solidFill>
                    <a:lnL>
                      <a:noFill/>
                    </a:lnL>
                    <a:lnR>
                      <a:noFill/>
                    </a:lnR>
                    <a:lnT>
                      <a:noFill/>
                    </a:lnT>
                    <a:lnB>
                      <a:noFill/>
                    </a:lnB>
                  </a:tcPr>
                </a:tc>
              </a:tr>
              <a:tr h="368808">
                <a:tc>
                  <a:txBody>
                    <a:bodyPr/>
                    <a:lstStyle/>
                    <a:p>
                      <a:pPr algn="l">
                        <a:lnSpc>
                          <a:spcPct val="103000"/>
                        </a:lnSpc>
                        <a:spcBef>
                          <a:spcPts val="0"/>
                        </a:spcBef>
                        <a:spcAft>
                          <a:spcPts val="0"/>
                        </a:spcAft>
                      </a:pPr>
                      <a:r>
                        <a:rPr sz="1600" b="0">
                          <a:solidFill>
                            <a:srgbClr val="00407A"/>
                          </a:solidFill>
                          <a:latin typeface="Arial"/>
                        </a:rPr>
                        <a:t>Area — Both orders correct</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23</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5</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13</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19</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17</a:t>
                      </a:r>
                    </a:p>
                  </a:txBody>
                  <a:tcPr marL="109728" marR="91440" marT="54864" marB="36576" anchor="ctr">
                    <a:solidFill>
                      <a:srgbClr val="E3EFF5"/>
                    </a:solidFill>
                    <a:lnL>
                      <a:noFill/>
                    </a:lnL>
                    <a:lnR>
                      <a:noFill/>
                    </a:lnR>
                    <a:lnT>
                      <a:noFill/>
                    </a:lnT>
                    <a:lnB>
                      <a:noFill/>
                    </a:lnB>
                  </a:tcPr>
                </a:tc>
              </a:tr>
              <a:tr h="368808">
                <a:tc>
                  <a:txBody>
                    <a:bodyPr/>
                    <a:lstStyle/>
                    <a:p>
                      <a:pPr algn="l">
                        <a:lnSpc>
                          <a:spcPct val="103000"/>
                        </a:lnSpc>
                        <a:spcBef>
                          <a:spcPts val="0"/>
                        </a:spcBef>
                        <a:spcAft>
                          <a:spcPts val="0"/>
                        </a:spcAft>
                      </a:pPr>
                      <a:r>
                        <a:rPr sz="1600" b="0">
                          <a:solidFill>
                            <a:srgbClr val="00407A"/>
                          </a:solidFill>
                          <a:latin typeface="Arial"/>
                        </a:rPr>
                        <a:t>Area — One order correct</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23</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9</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a:t>
                      </a:r>
                    </a:p>
                  </a:txBody>
                  <a:tcPr marL="109728" marR="91440" marT="54864" marB="36576" anchor="ctr">
                    <a:solidFill>
                      <a:srgbClr val="FFFFFF"/>
                    </a:solidFill>
                    <a:lnL>
                      <a:noFill/>
                    </a:lnL>
                    <a:lnR>
                      <a:noFill/>
                    </a:lnR>
                    <a:lnT>
                      <a:noFill/>
                    </a:lnT>
                    <a:lnB>
                      <a:noFill/>
                    </a:lnB>
                  </a:tcPr>
                </a:tc>
              </a:tr>
              <a:tr h="368808">
                <a:tc>
                  <a:txBody>
                    <a:bodyPr/>
                    <a:lstStyle/>
                    <a:p>
                      <a:pPr algn="l">
                        <a:lnSpc>
                          <a:spcPct val="103000"/>
                        </a:lnSpc>
                        <a:spcBef>
                          <a:spcPts val="0"/>
                        </a:spcBef>
                        <a:spcAft>
                          <a:spcPts val="0"/>
                        </a:spcAft>
                      </a:pPr>
                      <a:r>
                        <a:rPr sz="1600" b="0">
                          <a:solidFill>
                            <a:srgbClr val="00407A"/>
                          </a:solidFill>
                          <a:latin typeface="Arial"/>
                        </a:rPr>
                        <a:t>Area — Neither order correct</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23</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6</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4</a:t>
                      </a:r>
                    </a:p>
                  </a:txBody>
                  <a:tcPr marL="109728" marR="91440" marT="54864" marB="36576" anchor="ctr">
                    <a:solidFill>
                      <a:srgbClr val="E3EFF5"/>
                    </a:solidFill>
                    <a:lnL>
                      <a:noFill/>
                    </a:lnL>
                    <a:lnR>
                      <a:noFill/>
                    </a:lnR>
                    <a:lnT>
                      <a:noFill/>
                    </a:lnT>
                    <a:lnB>
                      <a:noFill/>
                    </a:lnB>
                  </a:tcPr>
                </a:tc>
              </a:tr>
              <a:tr h="368808">
                <a:tc>
                  <a:txBody>
                    <a:bodyPr/>
                    <a:lstStyle/>
                    <a:p>
                      <a:pPr algn="l">
                        <a:lnSpc>
                          <a:spcPct val="103000"/>
                        </a:lnSpc>
                        <a:spcBef>
                          <a:spcPts val="0"/>
                        </a:spcBef>
                        <a:spcAft>
                          <a:spcPts val="0"/>
                        </a:spcAft>
                      </a:pPr>
                      <a:r>
                        <a:rPr sz="1600" b="0">
                          <a:solidFill>
                            <a:srgbClr val="00407A"/>
                          </a:solidFill>
                          <a:latin typeface="Arial"/>
                        </a:rPr>
                        <a:t>Power — Both orders correct</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6</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3</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9</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14</a:t>
                      </a:r>
                    </a:p>
                  </a:txBody>
                  <a:tcPr marL="109728" marR="91440" marT="54864" marB="36576" anchor="ctr">
                    <a:solidFill>
                      <a:srgbClr val="FFFFFF"/>
                    </a:solidFill>
                    <a:lnL>
                      <a:noFill/>
                    </a:lnL>
                    <a:lnR>
                      <a:noFill/>
                    </a:lnR>
                    <a:lnT>
                      <a:noFill/>
                    </a:lnT>
                    <a:lnB>
                      <a:noFill/>
                    </a:lnB>
                  </a:tcPr>
                </a:tc>
              </a:tr>
              <a:tr h="368808">
                <a:tc>
                  <a:txBody>
                    <a:bodyPr/>
                    <a:lstStyle/>
                    <a:p>
                      <a:pPr algn="l">
                        <a:lnSpc>
                          <a:spcPct val="103000"/>
                        </a:lnSpc>
                        <a:spcBef>
                          <a:spcPts val="0"/>
                        </a:spcBef>
                        <a:spcAft>
                          <a:spcPts val="0"/>
                        </a:spcAft>
                      </a:pPr>
                      <a:r>
                        <a:rPr sz="1600" b="0">
                          <a:solidFill>
                            <a:srgbClr val="00407A"/>
                          </a:solidFill>
                          <a:latin typeface="Arial"/>
                        </a:rPr>
                        <a:t>Power — One order correct</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22</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16</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19</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11</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3</a:t>
                      </a:r>
                    </a:p>
                  </a:txBody>
                  <a:tcPr marL="109728" marR="91440" marT="54864" marB="36576" anchor="ctr">
                    <a:solidFill>
                      <a:srgbClr val="E3EFF5"/>
                    </a:solidFill>
                    <a:lnL>
                      <a:noFill/>
                    </a:lnL>
                    <a:lnR>
                      <a:noFill/>
                    </a:lnR>
                    <a:lnT>
                      <a:noFill/>
                    </a:lnT>
                    <a:lnB>
                      <a:noFill/>
                    </a:lnB>
                  </a:tcPr>
                </a:tc>
              </a:tr>
              <a:tr h="368808">
                <a:tc>
                  <a:txBody>
                    <a:bodyPr/>
                    <a:lstStyle/>
                    <a:p>
                      <a:pPr algn="l">
                        <a:lnSpc>
                          <a:spcPct val="103000"/>
                        </a:lnSpc>
                        <a:spcBef>
                          <a:spcPts val="0"/>
                        </a:spcBef>
                        <a:spcAft>
                          <a:spcPts val="0"/>
                        </a:spcAft>
                      </a:pPr>
                      <a:r>
                        <a:rPr sz="1600" b="0">
                          <a:solidFill>
                            <a:srgbClr val="00407A"/>
                          </a:solidFill>
                          <a:latin typeface="Arial"/>
                        </a:rPr>
                        <a:t>Power — Neither order correct</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5</a:t>
                      </a:r>
                    </a:p>
                  </a:txBody>
                  <a:tcPr marL="109728" marR="91440" marT="54864" marB="36576" anchor="ctr">
                    <a:solidFill>
                      <a:srgbClr val="FFFFFF"/>
                    </a:solidFill>
                    <a:lnL>
                      <a:noFill/>
                    </a:lnL>
                    <a:lnR>
                      <a:noFill/>
                    </a:lnR>
                    <a:lnT>
                      <a:noFill/>
                    </a:lnT>
                    <a:lnB>
                      <a:noFill/>
                    </a:lnB>
                  </a:tcPr>
                </a:tc>
              </a:tr>
              <a:tr h="368808">
                <a:tc>
                  <a:txBody>
                    <a:bodyPr/>
                    <a:lstStyle/>
                    <a:p>
                      <a:pPr algn="l">
                        <a:lnSpc>
                          <a:spcPct val="103000"/>
                        </a:lnSpc>
                        <a:spcBef>
                          <a:spcPts val="0"/>
                        </a:spcBef>
                        <a:spcAft>
                          <a:spcPts val="0"/>
                        </a:spcAft>
                      </a:pPr>
                      <a:r>
                        <a:rPr sz="1600" b="0">
                          <a:solidFill>
                            <a:srgbClr val="00407A"/>
                          </a:solidFill>
                          <a:latin typeface="Arial"/>
                        </a:rPr>
                        <a:t>Frequency — Both orders correct</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6</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3</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4</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4</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5</a:t>
                      </a:r>
                    </a:p>
                  </a:txBody>
                  <a:tcPr marL="109728" marR="91440" marT="54864" marB="36576" anchor="ctr">
                    <a:solidFill>
                      <a:srgbClr val="E3EFF5"/>
                    </a:solidFill>
                    <a:lnL>
                      <a:noFill/>
                    </a:lnL>
                    <a:lnR>
                      <a:noFill/>
                    </a:lnR>
                    <a:lnT>
                      <a:noFill/>
                    </a:lnT>
                    <a:lnB>
                      <a:noFill/>
                    </a:lnB>
                  </a:tcPr>
                </a:tc>
              </a:tr>
              <a:tr h="368808">
                <a:tc>
                  <a:txBody>
                    <a:bodyPr/>
                    <a:lstStyle/>
                    <a:p>
                      <a:pPr algn="l">
                        <a:lnSpc>
                          <a:spcPct val="103000"/>
                        </a:lnSpc>
                        <a:spcBef>
                          <a:spcPts val="0"/>
                        </a:spcBef>
                        <a:spcAft>
                          <a:spcPts val="0"/>
                        </a:spcAft>
                      </a:pPr>
                      <a:r>
                        <a:rPr sz="1600" b="0">
                          <a:solidFill>
                            <a:srgbClr val="00407A"/>
                          </a:solidFill>
                          <a:latin typeface="Arial"/>
                        </a:rPr>
                        <a:t>Frequency — One order correct</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6</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FFFFFF"/>
                    </a:solidFill>
                    <a:lnL>
                      <a:noFill/>
                    </a:lnL>
                    <a:lnR>
                      <a:noFill/>
                    </a:lnR>
                    <a:lnT>
                      <a:noFill/>
                    </a:lnT>
                    <a:lnB>
                      <a:noFill/>
                    </a:lnB>
                  </a:tcPr>
                </a:tc>
              </a:tr>
              <a:tr h="368808">
                <a:tc>
                  <a:txBody>
                    <a:bodyPr/>
                    <a:lstStyle/>
                    <a:p>
                      <a:pPr algn="l">
                        <a:lnSpc>
                          <a:spcPct val="103000"/>
                        </a:lnSpc>
                        <a:spcBef>
                          <a:spcPts val="0"/>
                        </a:spcBef>
                        <a:spcAft>
                          <a:spcPts val="0"/>
                        </a:spcAft>
                      </a:pPr>
                      <a:r>
                        <a:rPr sz="1600" b="0">
                          <a:solidFill>
                            <a:srgbClr val="00407A"/>
                          </a:solidFill>
                          <a:latin typeface="Arial"/>
                        </a:rPr>
                        <a:t>Frequency — Neither order correct</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6</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a:t>
                      </a:r>
                    </a:p>
                  </a:txBody>
                  <a:tcPr marL="109728" marR="91440" marT="54864" marB="36576" anchor="ctr">
                    <a:solidFill>
                      <a:srgbClr val="E3EFF5"/>
                    </a:solidFill>
                    <a:lnL>
                      <a:noFill/>
                    </a:lnL>
                    <a:lnR>
                      <a:noFill/>
                    </a:lnR>
                    <a:lnT>
                      <a:noFill/>
                    </a:lnT>
                    <a:lnB>
                      <a:noFill/>
                    </a:lnB>
                  </a:tcPr>
                </a:tc>
              </a:tr>
            </a:tbl>
          </a:graphicData>
        </a:graphic>
      </p:graphicFrame>
      <p:sp>
        <p:nvSpPr>
          <p:cNvPr id="8" name="TextBox 7"/>
          <p:cNvSpPr txBox="1"/>
          <p:nvPr/>
        </p:nvSpPr>
        <p:spPr>
          <a:xfrm>
            <a:off x="960120" y="5888736"/>
            <a:ext cx="10149840" cy="502920"/>
          </a:xfrm>
          <a:prstGeom prst="rect">
            <a:avLst/>
          </a:prstGeom>
          <a:noFill/>
        </p:spPr>
        <p:txBody>
          <a:bodyPr wrap="square" lIns="0" rIns="0" tIns="0" bIns="0" anchor="t">
            <a:noAutofit/>
          </a:bodyPr>
          <a:lstStyle/>
          <a:p>
            <a:pPr algn="l">
              <a:lnSpc>
                <a:spcPct val="109000"/>
              </a:lnSpc>
              <a:spcBef>
                <a:spcPts val="0"/>
              </a:spcBef>
              <a:spcAft>
                <a:spcPts val="0"/>
              </a:spcAft>
            </a:pPr>
            <a:r>
              <a:rPr sz="1500" b="0">
                <a:solidFill>
                  <a:srgbClr val="00407A"/>
                </a:solidFill>
                <a:latin typeface="Arial"/>
              </a:rPr>
              <a:t>With two opposite correct letters, “one order correct” is the same as keeping the same letter.</a:t>
            </a:r>
          </a:p>
          <a:p>
            <a:pPr algn="l">
              <a:lnSpc>
                <a:spcPct val="109000"/>
              </a:lnSpc>
              <a:spcBef>
                <a:spcPts val="0"/>
              </a:spcBef>
              <a:spcAft>
                <a:spcPts val="0"/>
              </a:spcAft>
            </a:pPr>
            <a:r>
              <a:rPr sz="1500" b="0">
                <a:solidFill>
                  <a:srgbClr val="00407A"/>
                </a:solidFill>
                <a:latin typeface="Arial"/>
              </a:rPr>
              <a:t>A consistent letter swap can still be wrong in both orders.</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265176"/>
            <a:ext cx="10561320" cy="237744"/>
          </a:xfrm>
          <a:prstGeom prst="rect">
            <a:avLst/>
          </a:prstGeom>
          <a:noFill/>
        </p:spPr>
        <p:txBody>
          <a:bodyPr wrap="square" lIns="0" rIns="0" tIns="0" bIns="0" anchor="t">
            <a:noAutofit/>
          </a:bodyPr>
          <a:lstStyle/>
          <a:p>
            <a:pPr algn="l">
              <a:lnSpc>
                <a:spcPct val="109000"/>
              </a:lnSpc>
              <a:spcBef>
                <a:spcPts val="0"/>
              </a:spcBef>
              <a:spcAft>
                <a:spcPts val="0"/>
              </a:spcAft>
            </a:pPr>
            <a:r>
              <a:rPr sz="1250" b="1">
                <a:solidFill>
                  <a:srgbClr val="0B5A93"/>
                </a:solidFill>
                <a:latin typeface="Arial"/>
              </a:rPr>
              <a:t>EXPERIMENT 2  •  THREE SOLVED EXAMPLES PER QUESTION</a:t>
            </a:r>
          </a:p>
        </p:txBody>
      </p:sp>
      <p:sp>
        <p:nvSpPr>
          <p:cNvPr id="3" name="TextBox 2"/>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Pair order counts, with examples</a:t>
            </a:r>
          </a:p>
        </p:txBody>
      </p:sp>
      <p:sp>
        <p:nvSpPr>
          <p:cNvPr id="4" name="TextBox 3"/>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Counts are per distinct pair. Each pair has exactly two model answers.</a:t>
            </a:r>
          </a:p>
        </p:txBody>
      </p:sp>
      <p:sp>
        <p:nvSpPr>
          <p:cNvPr id="5" name="TextBox 4"/>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three examples per question  •  16 October 2026  |  APPENDIX</a:t>
            </a:r>
          </a:p>
        </p:txBody>
      </p:sp>
      <p:sp>
        <p:nvSpPr>
          <p:cNvPr id="6" name="TextBox 5"/>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54</a:t>
            </a:r>
          </a:p>
        </p:txBody>
      </p:sp>
      <p:graphicFrame>
        <p:nvGraphicFramePr>
          <p:cNvPr id="7" name="Table 6"/>
          <p:cNvGraphicFramePr>
            <a:graphicFrameLocks noGrp="1"/>
          </p:cNvGraphicFramePr>
          <p:nvPr/>
        </p:nvGraphicFramePr>
        <p:xfrm>
          <a:off x="813816" y="1874519"/>
          <a:ext cx="10561319" cy="3886200"/>
        </p:xfrm>
        <a:graphic>
          <a:graphicData uri="http://schemas.openxmlformats.org/drawingml/2006/table">
            <a:tbl>
              <a:tblPr firstRow="1" bandRow="1">
                <a:tableStyleId>{5C22544A-7EE6-4342-B048-85BDC9FD1C3A}</a:tableStyleId>
              </a:tblPr>
              <a:tblGrid>
                <a:gridCol w="3749039"/>
                <a:gridCol w="1143000"/>
                <a:gridCol w="1417320"/>
                <a:gridCol w="1417320"/>
                <a:gridCol w="1417320"/>
                <a:gridCol w="1417320"/>
              </a:tblGrid>
              <a:tr h="566928">
                <a:tc>
                  <a:txBody>
                    <a:bodyPr/>
                    <a:lstStyle/>
                    <a:p>
                      <a:pPr algn="l">
                        <a:lnSpc>
                          <a:spcPct val="103000"/>
                        </a:lnSpc>
                        <a:spcBef>
                          <a:spcPts val="0"/>
                        </a:spcBef>
                        <a:spcAft>
                          <a:spcPts val="0"/>
                        </a:spcAft>
                      </a:pPr>
                      <a:r>
                        <a:rPr sz="1500" b="1">
                          <a:solidFill>
                            <a:srgbClr val="FFFFFF"/>
                          </a:solidFill>
                          <a:latin typeface="Arial"/>
                        </a:rPr>
                        <a:t>Pair outcome</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Pairs</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0.8B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4B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9B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27B</a:t>
                      </a:r>
                    </a:p>
                  </a:txBody>
                  <a:tcPr marL="109728" marR="91440" marT="54864" marB="36576" anchor="ctr">
                    <a:solidFill>
                      <a:srgbClr val="00407A"/>
                    </a:solidFill>
                    <a:lnL>
                      <a:noFill/>
                    </a:lnL>
                    <a:lnR>
                      <a:noFill/>
                    </a:lnR>
                    <a:lnT>
                      <a:noFill/>
                    </a:lnT>
                    <a:lnB>
                      <a:noFill/>
                    </a:lnB>
                  </a:tcPr>
                </a:tc>
              </a:tr>
              <a:tr h="368808">
                <a:tc>
                  <a:txBody>
                    <a:bodyPr/>
                    <a:lstStyle/>
                    <a:p>
                      <a:pPr algn="l">
                        <a:lnSpc>
                          <a:spcPct val="103000"/>
                        </a:lnSpc>
                        <a:spcBef>
                          <a:spcPts val="0"/>
                        </a:spcBef>
                        <a:spcAft>
                          <a:spcPts val="0"/>
                        </a:spcAft>
                      </a:pPr>
                      <a:r>
                        <a:rPr sz="1600" b="0">
                          <a:solidFill>
                            <a:srgbClr val="00407A"/>
                          </a:solidFill>
                          <a:latin typeface="Arial"/>
                        </a:rPr>
                        <a:t>Area — Both orders correct</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23</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12</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20</a:t>
                      </a:r>
                    </a:p>
                  </a:txBody>
                  <a:tcPr marL="109728" marR="91440" marT="54864" marB="36576" anchor="ctr">
                    <a:solidFill>
                      <a:srgbClr val="E3EFF5"/>
                    </a:solidFill>
                    <a:lnL>
                      <a:noFill/>
                    </a:lnL>
                    <a:lnR>
                      <a:noFill/>
                    </a:lnR>
                    <a:lnT>
                      <a:noFill/>
                    </a:lnT>
                    <a:lnB>
                      <a:noFill/>
                    </a:lnB>
                  </a:tcPr>
                </a:tc>
              </a:tr>
              <a:tr h="368808">
                <a:tc>
                  <a:txBody>
                    <a:bodyPr/>
                    <a:lstStyle/>
                    <a:p>
                      <a:pPr algn="l">
                        <a:lnSpc>
                          <a:spcPct val="103000"/>
                        </a:lnSpc>
                        <a:spcBef>
                          <a:spcPts val="0"/>
                        </a:spcBef>
                        <a:spcAft>
                          <a:spcPts val="0"/>
                        </a:spcAft>
                      </a:pPr>
                      <a:r>
                        <a:rPr sz="1600" b="0">
                          <a:solidFill>
                            <a:srgbClr val="00407A"/>
                          </a:solidFill>
                          <a:latin typeface="Arial"/>
                        </a:rPr>
                        <a:t>Area — One order correct</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23</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23</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11</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11</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a:t>
                      </a:r>
                    </a:p>
                  </a:txBody>
                  <a:tcPr marL="109728" marR="91440" marT="54864" marB="36576" anchor="ctr">
                    <a:solidFill>
                      <a:srgbClr val="FFFFFF"/>
                    </a:solidFill>
                    <a:lnL>
                      <a:noFill/>
                    </a:lnL>
                    <a:lnR>
                      <a:noFill/>
                    </a:lnR>
                    <a:lnT>
                      <a:noFill/>
                    </a:lnT>
                    <a:lnB>
                      <a:noFill/>
                    </a:lnB>
                  </a:tcPr>
                </a:tc>
              </a:tr>
              <a:tr h="368808">
                <a:tc>
                  <a:txBody>
                    <a:bodyPr/>
                    <a:lstStyle/>
                    <a:p>
                      <a:pPr algn="l">
                        <a:lnSpc>
                          <a:spcPct val="103000"/>
                        </a:lnSpc>
                        <a:spcBef>
                          <a:spcPts val="0"/>
                        </a:spcBef>
                        <a:spcAft>
                          <a:spcPts val="0"/>
                        </a:spcAft>
                      </a:pPr>
                      <a:r>
                        <a:rPr sz="1600" b="0">
                          <a:solidFill>
                            <a:srgbClr val="00407A"/>
                          </a:solidFill>
                          <a:latin typeface="Arial"/>
                        </a:rPr>
                        <a:t>Area — Neither order correct</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23</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a:t>
                      </a:r>
                    </a:p>
                  </a:txBody>
                  <a:tcPr marL="109728" marR="91440" marT="54864" marB="36576" anchor="ctr">
                    <a:solidFill>
                      <a:srgbClr val="E3EFF5"/>
                    </a:solidFill>
                    <a:lnL>
                      <a:noFill/>
                    </a:lnL>
                    <a:lnR>
                      <a:noFill/>
                    </a:lnR>
                    <a:lnT>
                      <a:noFill/>
                    </a:lnT>
                    <a:lnB>
                      <a:noFill/>
                    </a:lnB>
                  </a:tcPr>
                </a:tc>
              </a:tr>
              <a:tr h="368808">
                <a:tc>
                  <a:txBody>
                    <a:bodyPr/>
                    <a:lstStyle/>
                    <a:p>
                      <a:pPr algn="l">
                        <a:lnSpc>
                          <a:spcPct val="103000"/>
                        </a:lnSpc>
                        <a:spcBef>
                          <a:spcPts val="0"/>
                        </a:spcBef>
                        <a:spcAft>
                          <a:spcPts val="0"/>
                        </a:spcAft>
                      </a:pPr>
                      <a:r>
                        <a:rPr sz="1600" b="0">
                          <a:solidFill>
                            <a:srgbClr val="00407A"/>
                          </a:solidFill>
                          <a:latin typeface="Arial"/>
                        </a:rPr>
                        <a:t>Power — Both orders correct</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3</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8</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11</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17</a:t>
                      </a:r>
                    </a:p>
                  </a:txBody>
                  <a:tcPr marL="109728" marR="91440" marT="54864" marB="36576" anchor="ctr">
                    <a:solidFill>
                      <a:srgbClr val="FFFFFF"/>
                    </a:solidFill>
                    <a:lnL>
                      <a:noFill/>
                    </a:lnL>
                    <a:lnR>
                      <a:noFill/>
                    </a:lnR>
                    <a:lnT>
                      <a:noFill/>
                    </a:lnT>
                    <a:lnB>
                      <a:noFill/>
                    </a:lnB>
                  </a:tcPr>
                </a:tc>
              </a:tr>
              <a:tr h="368808">
                <a:tc>
                  <a:txBody>
                    <a:bodyPr/>
                    <a:lstStyle/>
                    <a:p>
                      <a:pPr algn="l">
                        <a:lnSpc>
                          <a:spcPct val="103000"/>
                        </a:lnSpc>
                        <a:spcBef>
                          <a:spcPts val="0"/>
                        </a:spcBef>
                        <a:spcAft>
                          <a:spcPts val="0"/>
                        </a:spcAft>
                      </a:pPr>
                      <a:r>
                        <a:rPr sz="1600" b="0">
                          <a:solidFill>
                            <a:srgbClr val="00407A"/>
                          </a:solidFill>
                          <a:latin typeface="Arial"/>
                        </a:rPr>
                        <a:t>Power — One order correct</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22</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18</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12</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9</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a:t>
                      </a:r>
                    </a:p>
                  </a:txBody>
                  <a:tcPr marL="109728" marR="91440" marT="54864" marB="36576" anchor="ctr">
                    <a:solidFill>
                      <a:srgbClr val="E3EFF5"/>
                    </a:solidFill>
                    <a:lnL>
                      <a:noFill/>
                    </a:lnL>
                    <a:lnR>
                      <a:noFill/>
                    </a:lnR>
                    <a:lnT>
                      <a:noFill/>
                    </a:lnT>
                    <a:lnB>
                      <a:noFill/>
                    </a:lnB>
                  </a:tcPr>
                </a:tc>
              </a:tr>
              <a:tr h="368808">
                <a:tc>
                  <a:txBody>
                    <a:bodyPr/>
                    <a:lstStyle/>
                    <a:p>
                      <a:pPr algn="l">
                        <a:lnSpc>
                          <a:spcPct val="103000"/>
                        </a:lnSpc>
                        <a:spcBef>
                          <a:spcPts val="0"/>
                        </a:spcBef>
                        <a:spcAft>
                          <a:spcPts val="0"/>
                        </a:spcAft>
                      </a:pPr>
                      <a:r>
                        <a:rPr sz="1600" b="0">
                          <a:solidFill>
                            <a:srgbClr val="00407A"/>
                          </a:solidFill>
                          <a:latin typeface="Arial"/>
                        </a:rPr>
                        <a:t>Power — Neither order correct</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4</a:t>
                      </a:r>
                    </a:p>
                  </a:txBody>
                  <a:tcPr marL="109728" marR="91440" marT="54864" marB="36576" anchor="ctr">
                    <a:solidFill>
                      <a:srgbClr val="FFFFFF"/>
                    </a:solidFill>
                    <a:lnL>
                      <a:noFill/>
                    </a:lnL>
                    <a:lnR>
                      <a:noFill/>
                    </a:lnR>
                    <a:lnT>
                      <a:noFill/>
                    </a:lnT>
                    <a:lnB>
                      <a:noFill/>
                    </a:lnB>
                  </a:tcPr>
                </a:tc>
              </a:tr>
              <a:tr h="368808">
                <a:tc>
                  <a:txBody>
                    <a:bodyPr/>
                    <a:lstStyle/>
                    <a:p>
                      <a:pPr algn="l">
                        <a:lnSpc>
                          <a:spcPct val="103000"/>
                        </a:lnSpc>
                        <a:spcBef>
                          <a:spcPts val="0"/>
                        </a:spcBef>
                        <a:spcAft>
                          <a:spcPts val="0"/>
                        </a:spcAft>
                      </a:pPr>
                      <a:r>
                        <a:rPr sz="1600" b="0">
                          <a:solidFill>
                            <a:srgbClr val="00407A"/>
                          </a:solidFill>
                          <a:latin typeface="Arial"/>
                        </a:rPr>
                        <a:t>Frequency — Both orders correct</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6</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4</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5</a:t>
                      </a:r>
                    </a:p>
                  </a:txBody>
                  <a:tcPr marL="109728" marR="91440" marT="54864" marB="36576" anchor="ctr">
                    <a:solidFill>
                      <a:srgbClr val="E3EFF5"/>
                    </a:solidFill>
                    <a:lnL>
                      <a:noFill/>
                    </a:lnL>
                    <a:lnR>
                      <a:noFill/>
                    </a:lnR>
                    <a:lnT>
                      <a:noFill/>
                    </a:lnT>
                    <a:lnB>
                      <a:noFill/>
                    </a:lnB>
                  </a:tcPr>
                </a:tc>
              </a:tr>
              <a:tr h="368808">
                <a:tc>
                  <a:txBody>
                    <a:bodyPr/>
                    <a:lstStyle/>
                    <a:p>
                      <a:pPr algn="l">
                        <a:lnSpc>
                          <a:spcPct val="103000"/>
                        </a:lnSpc>
                        <a:spcBef>
                          <a:spcPts val="0"/>
                        </a:spcBef>
                        <a:spcAft>
                          <a:spcPts val="0"/>
                        </a:spcAft>
                      </a:pPr>
                      <a:r>
                        <a:rPr sz="1600" b="0">
                          <a:solidFill>
                            <a:srgbClr val="00407A"/>
                          </a:solidFill>
                          <a:latin typeface="Arial"/>
                        </a:rPr>
                        <a:t>Frequency — One order correct</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6</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6</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6</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a:t>
                      </a:r>
                    </a:p>
                  </a:txBody>
                  <a:tcPr marL="109728" marR="91440" marT="54864" marB="36576" anchor="ctr">
                    <a:solidFill>
                      <a:srgbClr val="FFFFFF"/>
                    </a:solidFill>
                    <a:lnL>
                      <a:noFill/>
                    </a:lnL>
                    <a:lnR>
                      <a:noFill/>
                    </a:lnR>
                    <a:lnT>
                      <a:noFill/>
                    </a:lnT>
                    <a:lnB>
                      <a:noFill/>
                    </a:lnB>
                  </a:tcPr>
                </a:tc>
              </a:tr>
              <a:tr h="368808">
                <a:tc>
                  <a:txBody>
                    <a:bodyPr/>
                    <a:lstStyle/>
                    <a:p>
                      <a:pPr algn="l">
                        <a:lnSpc>
                          <a:spcPct val="103000"/>
                        </a:lnSpc>
                        <a:spcBef>
                          <a:spcPts val="0"/>
                        </a:spcBef>
                        <a:spcAft>
                          <a:spcPts val="0"/>
                        </a:spcAft>
                      </a:pPr>
                      <a:r>
                        <a:rPr sz="1600" b="0">
                          <a:solidFill>
                            <a:srgbClr val="00407A"/>
                          </a:solidFill>
                          <a:latin typeface="Arial"/>
                        </a:rPr>
                        <a:t>Frequency — Neither order correct</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6</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E3EFF5"/>
                    </a:solidFill>
                    <a:lnL>
                      <a:noFill/>
                    </a:lnL>
                    <a:lnR>
                      <a:noFill/>
                    </a:lnR>
                    <a:lnT>
                      <a:noFill/>
                    </a:lnT>
                    <a:lnB>
                      <a:noFill/>
                    </a:lnB>
                  </a:tcPr>
                </a:tc>
              </a:tr>
            </a:tbl>
          </a:graphicData>
        </a:graphic>
      </p:graphicFrame>
      <p:sp>
        <p:nvSpPr>
          <p:cNvPr id="8" name="TextBox 7"/>
          <p:cNvSpPr txBox="1"/>
          <p:nvPr/>
        </p:nvSpPr>
        <p:spPr>
          <a:xfrm>
            <a:off x="960120" y="5888736"/>
            <a:ext cx="10149840" cy="502920"/>
          </a:xfrm>
          <a:prstGeom prst="rect">
            <a:avLst/>
          </a:prstGeom>
          <a:noFill/>
        </p:spPr>
        <p:txBody>
          <a:bodyPr wrap="square" lIns="0" rIns="0" tIns="0" bIns="0" anchor="t">
            <a:noAutofit/>
          </a:bodyPr>
          <a:lstStyle/>
          <a:p>
            <a:pPr algn="l">
              <a:lnSpc>
                <a:spcPct val="109000"/>
              </a:lnSpc>
              <a:spcBef>
                <a:spcPts val="0"/>
              </a:spcBef>
              <a:spcAft>
                <a:spcPts val="0"/>
              </a:spcAft>
            </a:pPr>
            <a:r>
              <a:rPr sz="1500" b="0">
                <a:solidFill>
                  <a:srgbClr val="00407A"/>
                </a:solidFill>
                <a:latin typeface="Arial"/>
              </a:rPr>
              <a:t>With two opposite correct letters, “one order correct” is the same as keeping the same letter.</a:t>
            </a:r>
          </a:p>
          <a:p>
            <a:pPr algn="l">
              <a:lnSpc>
                <a:spcPct val="109000"/>
              </a:lnSpc>
              <a:spcBef>
                <a:spcPts val="0"/>
              </a:spcBef>
              <a:spcAft>
                <a:spcPts val="0"/>
              </a:spcAft>
            </a:pPr>
            <a:r>
              <a:rPr sz="1500" b="0">
                <a:solidFill>
                  <a:srgbClr val="00407A"/>
                </a:solidFill>
                <a:latin typeface="Arial"/>
              </a:rPr>
              <a:t>A consistent letter swap can still be wrong in both orders.</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Dataset composition and missing coverage</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The retained designs cover several sources; this is not a balanced population sample.</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APPENDIX</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55</a:t>
            </a:r>
          </a:p>
        </p:txBody>
      </p:sp>
      <p:graphicFrame>
        <p:nvGraphicFramePr>
          <p:cNvPr id="6" name="Table 5"/>
          <p:cNvGraphicFramePr>
            <a:graphicFrameLocks noGrp="1"/>
          </p:cNvGraphicFramePr>
          <p:nvPr/>
        </p:nvGraphicFramePr>
        <p:xfrm>
          <a:off x="813816" y="1874519"/>
          <a:ext cx="10561320" cy="3502152"/>
        </p:xfrm>
        <a:graphic>
          <a:graphicData uri="http://schemas.openxmlformats.org/drawingml/2006/table">
            <a:tbl>
              <a:tblPr firstRow="1" bandRow="1">
                <a:tableStyleId>{5C22544A-7EE6-4342-B048-85BDC9FD1C3A}</a:tableStyleId>
              </a:tblPr>
              <a:tblGrid>
                <a:gridCol w="5074920"/>
                <a:gridCol w="1554480"/>
                <a:gridCol w="1737360"/>
                <a:gridCol w="2194560"/>
              </a:tblGrid>
              <a:tr h="566928">
                <a:tc>
                  <a:txBody>
                    <a:bodyPr/>
                    <a:lstStyle/>
                    <a:p>
                      <a:pPr algn="l">
                        <a:lnSpc>
                          <a:spcPct val="103000"/>
                        </a:lnSpc>
                        <a:spcBef>
                          <a:spcPts val="0"/>
                        </a:spcBef>
                        <a:spcAft>
                          <a:spcPts val="0"/>
                        </a:spcAft>
                      </a:pPr>
                      <a:r>
                        <a:rPr sz="1500" b="1">
                          <a:solidFill>
                            <a:srgbClr val="FFFFFF"/>
                          </a:solidFill>
                          <a:latin typeface="Arial"/>
                        </a:rPr>
                        <a:t>Design group</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All retained</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Held-out designs</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Held-out synthesis failures</a:t>
                      </a:r>
                    </a:p>
                  </a:txBody>
                  <a:tcPr marL="109728" marR="91440" marT="54864" marB="36576" anchor="ctr">
                    <a:solidFill>
                      <a:srgbClr val="00407A"/>
                    </a:solidFill>
                    <a:lnL>
                      <a:noFill/>
                    </a:lnL>
                    <a:lnR>
                      <a:noFill/>
                    </a:lnR>
                    <a:lnT>
                      <a:noFill/>
                    </a:lnT>
                    <a:lnB>
                      <a:noFill/>
                    </a:lnB>
                  </a:tcPr>
                </a:tc>
              </a:tr>
              <a:tr h="366903">
                <a:tc>
                  <a:txBody>
                    <a:bodyPr/>
                    <a:lstStyle/>
                    <a:p>
                      <a:pPr algn="l">
                        <a:lnSpc>
                          <a:spcPct val="103000"/>
                        </a:lnSpc>
                        <a:spcBef>
                          <a:spcPts val="0"/>
                        </a:spcBef>
                        <a:spcAft>
                          <a:spcPts val="0"/>
                        </a:spcAft>
                      </a:pPr>
                      <a:r>
                        <a:rPr sz="1600" b="0">
                          <a:solidFill>
                            <a:srgbClr val="00407A"/>
                          </a:solidFill>
                          <a:latin typeface="Arial"/>
                        </a:rPr>
                        <a:t>MetRex: varied sizes</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40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31</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E3EFF5"/>
                    </a:solidFill>
                    <a:lnL>
                      <a:noFill/>
                    </a:lnL>
                    <a:lnR>
                      <a:noFill/>
                    </a:lnR>
                    <a:lnT>
                      <a:noFill/>
                    </a:lnT>
                    <a:lnB>
                      <a:noFill/>
                    </a:lnB>
                  </a:tcPr>
                </a:tc>
              </a:tr>
              <a:tr h="366903">
                <a:tc>
                  <a:txBody>
                    <a:bodyPr/>
                    <a:lstStyle/>
                    <a:p>
                      <a:pPr algn="l">
                        <a:lnSpc>
                          <a:spcPct val="103000"/>
                        </a:lnSpc>
                        <a:spcBef>
                          <a:spcPts val="0"/>
                        </a:spcBef>
                        <a:spcAft>
                          <a:spcPts val="0"/>
                        </a:spcAft>
                      </a:pPr>
                      <a:r>
                        <a:rPr sz="1600" b="0">
                          <a:solidFill>
                            <a:srgbClr val="00407A"/>
                          </a:solidFill>
                          <a:latin typeface="Arial"/>
                        </a:rPr>
                        <a:t>Injected synthesis errors</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16</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9</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9</a:t>
                      </a:r>
                    </a:p>
                  </a:txBody>
                  <a:tcPr marL="109728" marR="91440" marT="54864" marB="36576" anchor="ctr">
                    <a:solidFill>
                      <a:srgbClr val="FFFFFF"/>
                    </a:solidFill>
                    <a:lnL>
                      <a:noFill/>
                    </a:lnL>
                    <a:lnR>
                      <a:noFill/>
                    </a:lnR>
                    <a:lnT>
                      <a:noFill/>
                    </a:lnT>
                    <a:lnB>
                      <a:noFill/>
                    </a:lnB>
                  </a:tcPr>
                </a:tc>
              </a:tr>
              <a:tr h="366903">
                <a:tc>
                  <a:txBody>
                    <a:bodyPr/>
                    <a:lstStyle/>
                    <a:p>
                      <a:pPr algn="l">
                        <a:lnSpc>
                          <a:spcPct val="103000"/>
                        </a:lnSpc>
                        <a:spcBef>
                          <a:spcPts val="0"/>
                        </a:spcBef>
                        <a:spcAft>
                          <a:spcPts val="0"/>
                        </a:spcAft>
                      </a:pPr>
                      <a:r>
                        <a:rPr sz="1600" b="0">
                          <a:solidFill>
                            <a:srgbClr val="00407A"/>
                          </a:solidFill>
                          <a:latin typeface="Arial"/>
                        </a:rPr>
                        <a:t>Natural language-model candidates</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17</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E3EFF5"/>
                    </a:solidFill>
                    <a:lnL>
                      <a:noFill/>
                    </a:lnL>
                    <a:lnR>
                      <a:noFill/>
                    </a:lnR>
                    <a:lnT>
                      <a:noFill/>
                    </a:lnT>
                    <a:lnB>
                      <a:noFill/>
                    </a:lnB>
                  </a:tcPr>
                </a:tc>
              </a:tr>
              <a:tr h="366903">
                <a:tc>
                  <a:txBody>
                    <a:bodyPr/>
                    <a:lstStyle/>
                    <a:p>
                      <a:pPr algn="l">
                        <a:lnSpc>
                          <a:spcPct val="103000"/>
                        </a:lnSpc>
                        <a:spcBef>
                          <a:spcPts val="0"/>
                        </a:spcBef>
                        <a:spcAft>
                          <a:spcPts val="0"/>
                        </a:spcAft>
                      </a:pPr>
                      <a:r>
                        <a:rPr sz="1600" b="0">
                          <a:solidFill>
                            <a:srgbClr val="00407A"/>
                          </a:solidFill>
                          <a:latin typeface="Arial"/>
                        </a:rPr>
                        <a:t>Injected compilation errors</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8</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8</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8</a:t>
                      </a:r>
                    </a:p>
                  </a:txBody>
                  <a:tcPr marL="109728" marR="91440" marT="54864" marB="36576" anchor="ctr">
                    <a:solidFill>
                      <a:srgbClr val="FFFFFF"/>
                    </a:solidFill>
                    <a:lnL>
                      <a:noFill/>
                    </a:lnL>
                    <a:lnR>
                      <a:noFill/>
                    </a:lnR>
                    <a:lnT>
                      <a:noFill/>
                    </a:lnT>
                    <a:lnB>
                      <a:noFill/>
                    </a:lnB>
                  </a:tcPr>
                </a:tc>
              </a:tr>
              <a:tr h="366903">
                <a:tc>
                  <a:txBody>
                    <a:bodyPr/>
                    <a:lstStyle/>
                    <a:p>
                      <a:pPr algn="l">
                        <a:lnSpc>
                          <a:spcPct val="103000"/>
                        </a:lnSpc>
                        <a:spcBef>
                          <a:spcPts val="0"/>
                        </a:spcBef>
                        <a:spcAft>
                          <a:spcPts val="0"/>
                        </a:spcAft>
                      </a:pPr>
                      <a:r>
                        <a:rPr sz="1600" b="0">
                          <a:solidFill>
                            <a:srgbClr val="00407A"/>
                          </a:solidFill>
                          <a:latin typeface="Arial"/>
                        </a:rPr>
                        <a:t>Human reference designs</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15</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11</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E3EFF5"/>
                    </a:solidFill>
                    <a:lnL>
                      <a:noFill/>
                    </a:lnL>
                    <a:lnR>
                      <a:noFill/>
                    </a:lnR>
                    <a:lnT>
                      <a:noFill/>
                    </a:lnT>
                    <a:lnB>
                      <a:noFill/>
                    </a:lnB>
                  </a:tcPr>
                </a:tc>
              </a:tr>
              <a:tr h="366903">
                <a:tc>
                  <a:txBody>
                    <a:bodyPr/>
                    <a:lstStyle/>
                    <a:p>
                      <a:pPr algn="l">
                        <a:lnSpc>
                          <a:spcPct val="103000"/>
                        </a:lnSpc>
                        <a:spcBef>
                          <a:spcPts val="0"/>
                        </a:spcBef>
                        <a:spcAft>
                          <a:spcPts val="0"/>
                        </a:spcAft>
                      </a:pPr>
                      <a:r>
                        <a:rPr sz="1600" b="0">
                          <a:solidFill>
                            <a:srgbClr val="00407A"/>
                          </a:solidFill>
                          <a:latin typeface="Arial"/>
                        </a:rPr>
                        <a:t>Older REvolution candidates</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32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28</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a:t>
                      </a:r>
                    </a:p>
                  </a:txBody>
                  <a:tcPr marL="109728" marR="91440" marT="54864" marB="36576" anchor="ctr">
                    <a:solidFill>
                      <a:srgbClr val="FFFFFF"/>
                    </a:solidFill>
                    <a:lnL>
                      <a:noFill/>
                    </a:lnL>
                    <a:lnR>
                      <a:noFill/>
                    </a:lnR>
                    <a:lnT>
                      <a:noFill/>
                    </a:lnT>
                    <a:lnB>
                      <a:noFill/>
                    </a:lnB>
                  </a:tcPr>
                </a:tc>
              </a:tr>
              <a:tr h="366903">
                <a:tc>
                  <a:txBody>
                    <a:bodyPr/>
                    <a:lstStyle/>
                    <a:p>
                      <a:pPr algn="l">
                        <a:lnSpc>
                          <a:spcPct val="103000"/>
                        </a:lnSpc>
                        <a:spcBef>
                          <a:spcPts val="0"/>
                        </a:spcBef>
                        <a:spcAft>
                          <a:spcPts val="0"/>
                        </a:spcAft>
                      </a:pPr>
                      <a:r>
                        <a:rPr sz="1600" b="0">
                          <a:solidFill>
                            <a:srgbClr val="00407A"/>
                          </a:solidFill>
                          <a:latin typeface="Arial"/>
                        </a:rPr>
                        <a:t>REvolution v0 designs</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9</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E3EFF5"/>
                    </a:solidFill>
                    <a:lnL>
                      <a:noFill/>
                    </a:lnL>
                    <a:lnR>
                      <a:noFill/>
                    </a:lnR>
                    <a:lnT>
                      <a:noFill/>
                    </a:lnT>
                    <a:lnB>
                      <a:noFill/>
                    </a:lnB>
                  </a:tcPr>
                </a:tc>
              </a:tr>
              <a:tr h="366903">
                <a:tc>
                  <a:txBody>
                    <a:bodyPr/>
                    <a:lstStyle/>
                    <a:p>
                      <a:pPr algn="l">
                        <a:lnSpc>
                          <a:spcPct val="103000"/>
                        </a:lnSpc>
                        <a:spcBef>
                          <a:spcPts val="0"/>
                        </a:spcBef>
                        <a:spcAft>
                          <a:spcPts val="0"/>
                        </a:spcAft>
                      </a:pPr>
                      <a:r>
                        <a:rPr sz="1600" b="0">
                          <a:solidFill>
                            <a:srgbClr val="00407A"/>
                          </a:solidFill>
                          <a:latin typeface="Arial"/>
                        </a:rPr>
                        <a:t>Accepted edits and rejected twins</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6</a:t>
                      </a:r>
                    </a:p>
                  </a:txBody>
                  <a:tcPr marL="109728" marR="91440" marT="54864" marB="36576" anchor="ctr">
                    <a:solidFill>
                      <a:srgbClr val="FFFFFF"/>
                    </a:solidFill>
                    <a:lnL>
                      <a:noFill/>
                    </a:lnL>
                    <a:lnR>
                      <a:noFill/>
                    </a:lnR>
                    <a:lnT>
                      <a:noFill/>
                    </a:lnT>
                    <a:lnB>
                      <a:noFill/>
                    </a:lnB>
                  </a:tcPr>
                </a:tc>
              </a:tr>
            </a:tbl>
          </a:graphicData>
        </a:graphic>
      </p:graphicFrame>
      <p:sp>
        <p:nvSpPr>
          <p:cNvPr id="7" name="TextBox 6"/>
          <p:cNvSpPr txBox="1"/>
          <p:nvPr/>
        </p:nvSpPr>
        <p:spPr>
          <a:xfrm>
            <a:off x="960120" y="5614416"/>
            <a:ext cx="10149840" cy="658368"/>
          </a:xfrm>
          <a:prstGeom prst="rect">
            <a:avLst/>
          </a:prstGeom>
          <a:noFill/>
        </p:spPr>
        <p:txBody>
          <a:bodyPr wrap="square" lIns="0" rIns="0" tIns="0" bIns="0" anchor="t">
            <a:noAutofit/>
          </a:bodyPr>
          <a:lstStyle/>
          <a:p>
            <a:pPr algn="l">
              <a:lnSpc>
                <a:spcPct val="109000"/>
              </a:lnSpc>
              <a:spcBef>
                <a:spcPts val="0"/>
              </a:spcBef>
              <a:spcAft>
                <a:spcPts val="0"/>
              </a:spcAft>
            </a:pPr>
            <a:r>
              <a:rPr sz="1700" b="0">
                <a:solidFill>
                  <a:srgbClr val="00407A"/>
                </a:solidFill>
                <a:latin typeface="Arial"/>
              </a:rPr>
              <a:t>Not measured here: energy per operation, functional equivalence, post-route timing,</a:t>
            </a:r>
          </a:p>
          <a:p>
            <a:pPr algn="l">
              <a:lnSpc>
                <a:spcPct val="109000"/>
              </a:lnSpc>
              <a:spcBef>
                <a:spcPts val="0"/>
              </a:spcBef>
              <a:spcAft>
                <a:spcPts val="0"/>
              </a:spcAft>
            </a:pPr>
            <a:r>
              <a:rPr sz="1700" b="0">
                <a:solidFill>
                  <a:srgbClr val="00407A"/>
                </a:solidFill>
                <a:latin typeface="Arial"/>
              </a:rPr>
              <a:t>measured chips, other model families, or the older plan’s rename/comment controls.</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265176"/>
            <a:ext cx="10561320" cy="237744"/>
          </a:xfrm>
          <a:prstGeom prst="rect">
            <a:avLst/>
          </a:prstGeom>
          <a:noFill/>
        </p:spPr>
        <p:txBody>
          <a:bodyPr wrap="square" lIns="0" rIns="0" tIns="0" bIns="0" anchor="t">
            <a:noAutofit/>
          </a:bodyPr>
          <a:lstStyle/>
          <a:p>
            <a:pPr algn="l">
              <a:lnSpc>
                <a:spcPct val="109000"/>
              </a:lnSpc>
              <a:spcBef>
                <a:spcPts val="0"/>
              </a:spcBef>
              <a:spcAft>
                <a:spcPts val="0"/>
              </a:spcAft>
            </a:pPr>
            <a:r>
              <a:rPr sz="1250" b="1">
                <a:solidFill>
                  <a:srgbClr val="4A5A66"/>
                </a:solidFill>
                <a:latin typeface="Arial"/>
              </a:rPr>
              <a:t>EXPERIMENT 1  •  NO EXAMPLES</a:t>
            </a:r>
          </a:p>
        </p:txBody>
      </p:sp>
      <p:sp>
        <p:nvSpPr>
          <p:cNvPr id="3" name="TextBox 2"/>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Evidence needed to reproduce this deck</a:t>
            </a:r>
          </a:p>
        </p:txBody>
      </p:sp>
      <p:sp>
        <p:nvSpPr>
          <p:cNvPr id="4" name="TextBox 3"/>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Every number is tied to the frozen dataset and saved responses; no model reruns were needed.</a:t>
            </a:r>
          </a:p>
        </p:txBody>
      </p:sp>
      <p:sp>
        <p:nvSpPr>
          <p:cNvPr id="5" name="TextBox 4"/>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APPENDIX</a:t>
            </a:r>
          </a:p>
        </p:txBody>
      </p:sp>
      <p:sp>
        <p:nvSpPr>
          <p:cNvPr id="6" name="TextBox 5"/>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56</a:t>
            </a:r>
          </a:p>
        </p:txBody>
      </p:sp>
      <p:graphicFrame>
        <p:nvGraphicFramePr>
          <p:cNvPr id="7" name="Table 6"/>
          <p:cNvGraphicFramePr>
            <a:graphicFrameLocks noGrp="1"/>
          </p:cNvGraphicFramePr>
          <p:nvPr/>
        </p:nvGraphicFramePr>
        <p:xfrm>
          <a:off x="813816" y="1874519"/>
          <a:ext cx="10561320" cy="2286000"/>
        </p:xfrm>
        <a:graphic>
          <a:graphicData uri="http://schemas.openxmlformats.org/drawingml/2006/table">
            <a:tbl>
              <a:tblPr firstRow="1" bandRow="1">
                <a:tableStyleId>{5C22544A-7EE6-4342-B048-85BDC9FD1C3A}</a:tableStyleId>
              </a:tblPr>
              <a:tblGrid>
                <a:gridCol w="1508760"/>
                <a:gridCol w="1280160"/>
                <a:gridCol w="3657600"/>
                <a:gridCol w="4114800"/>
              </a:tblGrid>
              <a:tr h="566928">
                <a:tc>
                  <a:txBody>
                    <a:bodyPr/>
                    <a:lstStyle/>
                    <a:p>
                      <a:pPr algn="l">
                        <a:lnSpc>
                          <a:spcPct val="103000"/>
                        </a:lnSpc>
                        <a:spcBef>
                          <a:spcPts val="0"/>
                        </a:spcBef>
                        <a:spcAft>
                          <a:spcPts val="0"/>
                        </a:spcAft>
                      </a:pPr>
                      <a:r>
                        <a:rPr sz="1600" b="1">
                          <a:solidFill>
                            <a:srgbClr val="FFFFFF"/>
                          </a:solidFill>
                          <a:latin typeface="Arial"/>
                        </a:rPr>
                        <a:t>Model</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Condor job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Completed on 15 October</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Checkpoint revision (prefix)</a:t>
                      </a:r>
                    </a:p>
                  </a:txBody>
                  <a:tcPr marL="109728" marR="91440" marT="54864" marB="36576" anchor="ctr">
                    <a:solidFill>
                      <a:srgbClr val="00407A"/>
                    </a:solidFill>
                    <a:lnL>
                      <a:noFill/>
                    </a:lnL>
                    <a:lnR>
                      <a:noFill/>
                    </a:lnR>
                    <a:lnT>
                      <a:noFill/>
                    </a:lnT>
                    <a:lnB>
                      <a:noFill/>
                    </a:lnB>
                  </a:tcPr>
                </a:tc>
              </a:tr>
              <a:tr h="429768">
                <a:tc>
                  <a:txBody>
                    <a:bodyPr/>
                    <a:lstStyle/>
                    <a:p>
                      <a:pPr algn="l">
                        <a:lnSpc>
                          <a:spcPct val="103000"/>
                        </a:lnSpc>
                        <a:spcBef>
                          <a:spcPts val="0"/>
                        </a:spcBef>
                        <a:spcAft>
                          <a:spcPts val="0"/>
                        </a:spcAft>
                      </a:pPr>
                      <a:r>
                        <a:rPr sz="1900" b="0">
                          <a:solidFill>
                            <a:srgbClr val="00407A"/>
                          </a:solidFill>
                          <a:latin typeface="Arial"/>
                        </a:rPr>
                        <a:t>KEV-0.8B</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900" b="0">
                          <a:solidFill>
                            <a:srgbClr val="00407A"/>
                          </a:solidFill>
                          <a:latin typeface="Arial"/>
                        </a:rPr>
                        <a:t>4.0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900" b="0">
                          <a:solidFill>
                            <a:srgbClr val="00407A"/>
                          </a:solidFill>
                          <a:latin typeface="Arial"/>
                        </a:rPr>
                        <a:t>11:30:55</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900" b="0">
                          <a:solidFill>
                            <a:srgbClr val="00407A"/>
                          </a:solidFill>
                          <a:latin typeface="Arial"/>
                        </a:rPr>
                        <a:t>bf75a6a8848e</a:t>
                      </a:r>
                    </a:p>
                  </a:txBody>
                  <a:tcPr marL="109728" marR="91440" marT="54864" marB="36576" anchor="ctr">
                    <a:solidFill>
                      <a:srgbClr val="E3EFF5"/>
                    </a:solidFill>
                    <a:lnL>
                      <a:noFill/>
                    </a:lnL>
                    <a:lnR>
                      <a:noFill/>
                    </a:lnR>
                    <a:lnT>
                      <a:noFill/>
                    </a:lnT>
                    <a:lnB>
                      <a:noFill/>
                    </a:lnB>
                  </a:tcPr>
                </a:tc>
              </a:tr>
              <a:tr h="429768">
                <a:tc>
                  <a:txBody>
                    <a:bodyPr/>
                    <a:lstStyle/>
                    <a:p>
                      <a:pPr algn="l">
                        <a:lnSpc>
                          <a:spcPct val="103000"/>
                        </a:lnSpc>
                        <a:spcBef>
                          <a:spcPts val="0"/>
                        </a:spcBef>
                        <a:spcAft>
                          <a:spcPts val="0"/>
                        </a:spcAft>
                      </a:pPr>
                      <a:r>
                        <a:rPr sz="1900" b="0">
                          <a:solidFill>
                            <a:srgbClr val="00407A"/>
                          </a:solidFill>
                          <a:latin typeface="Arial"/>
                        </a:rPr>
                        <a:t>KEV-4B</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900" b="0">
                          <a:solidFill>
                            <a:srgbClr val="00407A"/>
                          </a:solidFill>
                          <a:latin typeface="Arial"/>
                        </a:rPr>
                        <a:t>5.0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900" b="0">
                          <a:solidFill>
                            <a:srgbClr val="00407A"/>
                          </a:solidFill>
                          <a:latin typeface="Arial"/>
                        </a:rPr>
                        <a:t>14:31:45</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900" b="0">
                          <a:solidFill>
                            <a:srgbClr val="00407A"/>
                          </a:solidFill>
                          <a:latin typeface="Arial"/>
                        </a:rPr>
                        <a:t>6cfce5c2fa4b</a:t>
                      </a:r>
                    </a:p>
                  </a:txBody>
                  <a:tcPr marL="109728" marR="91440" marT="54864" marB="36576" anchor="ctr">
                    <a:solidFill>
                      <a:srgbClr val="FFFFFF"/>
                    </a:solidFill>
                    <a:lnL>
                      <a:noFill/>
                    </a:lnL>
                    <a:lnR>
                      <a:noFill/>
                    </a:lnR>
                    <a:lnT>
                      <a:noFill/>
                    </a:lnT>
                    <a:lnB>
                      <a:noFill/>
                    </a:lnB>
                  </a:tcPr>
                </a:tc>
              </a:tr>
              <a:tr h="429768">
                <a:tc>
                  <a:txBody>
                    <a:bodyPr/>
                    <a:lstStyle/>
                    <a:p>
                      <a:pPr algn="l">
                        <a:lnSpc>
                          <a:spcPct val="103000"/>
                        </a:lnSpc>
                        <a:spcBef>
                          <a:spcPts val="0"/>
                        </a:spcBef>
                        <a:spcAft>
                          <a:spcPts val="0"/>
                        </a:spcAft>
                      </a:pPr>
                      <a:r>
                        <a:rPr sz="1900" b="0">
                          <a:solidFill>
                            <a:srgbClr val="00407A"/>
                          </a:solidFill>
                          <a:latin typeface="Arial"/>
                        </a:rPr>
                        <a:t>KEV-9B</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900" b="0">
                          <a:solidFill>
                            <a:srgbClr val="00407A"/>
                          </a:solidFill>
                          <a:latin typeface="Arial"/>
                        </a:rPr>
                        <a:t>6.0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900" b="0">
                          <a:solidFill>
                            <a:srgbClr val="00407A"/>
                          </a:solidFill>
                          <a:latin typeface="Arial"/>
                        </a:rPr>
                        <a:t>14:34:55</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900" b="0">
                          <a:solidFill>
                            <a:srgbClr val="00407A"/>
                          </a:solidFill>
                          <a:latin typeface="Arial"/>
                        </a:rPr>
                        <a:t>db029f08b290</a:t>
                      </a:r>
                    </a:p>
                  </a:txBody>
                  <a:tcPr marL="109728" marR="91440" marT="54864" marB="36576" anchor="ctr">
                    <a:solidFill>
                      <a:srgbClr val="E3EFF5"/>
                    </a:solidFill>
                    <a:lnL>
                      <a:noFill/>
                    </a:lnL>
                    <a:lnR>
                      <a:noFill/>
                    </a:lnR>
                    <a:lnT>
                      <a:noFill/>
                    </a:lnT>
                    <a:lnB>
                      <a:noFill/>
                    </a:lnB>
                  </a:tcPr>
                </a:tc>
              </a:tr>
              <a:tr h="429768">
                <a:tc>
                  <a:txBody>
                    <a:bodyPr/>
                    <a:lstStyle/>
                    <a:p>
                      <a:pPr algn="l">
                        <a:lnSpc>
                          <a:spcPct val="103000"/>
                        </a:lnSpc>
                        <a:spcBef>
                          <a:spcPts val="0"/>
                        </a:spcBef>
                        <a:spcAft>
                          <a:spcPts val="0"/>
                        </a:spcAft>
                      </a:pPr>
                      <a:r>
                        <a:rPr sz="1900" b="0">
                          <a:solidFill>
                            <a:srgbClr val="00407A"/>
                          </a:solidFill>
                          <a:latin typeface="Arial"/>
                        </a:rPr>
                        <a:t>KEV-27B</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900" b="0">
                          <a:solidFill>
                            <a:srgbClr val="00407A"/>
                          </a:solidFill>
                          <a:latin typeface="Arial"/>
                        </a:rPr>
                        <a:t>7.0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900" b="0">
                          <a:solidFill>
                            <a:srgbClr val="00407A"/>
                          </a:solidFill>
                          <a:latin typeface="Arial"/>
                        </a:rPr>
                        <a:t>14:39:12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900" b="0">
                          <a:solidFill>
                            <a:srgbClr val="00407A"/>
                          </a:solidFill>
                          <a:latin typeface="Arial"/>
                        </a:rPr>
                        <a:t>af0e6d551bdc</a:t>
                      </a:r>
                    </a:p>
                  </a:txBody>
                  <a:tcPr marL="109728" marR="91440" marT="54864" marB="36576" anchor="ctr">
                    <a:solidFill>
                      <a:srgbClr val="FFFFFF"/>
                    </a:solidFill>
                    <a:lnL>
                      <a:noFill/>
                    </a:lnL>
                    <a:lnR>
                      <a:noFill/>
                    </a:lnR>
                    <a:lnT>
                      <a:noFill/>
                    </a:lnT>
                    <a:lnB>
                      <a:noFill/>
                    </a:lnB>
                  </a:tcPr>
                </a:tc>
              </a:tr>
            </a:tbl>
          </a:graphicData>
        </a:graphic>
      </p:graphicFrame>
      <p:sp>
        <p:nvSpPr>
          <p:cNvPr id="8" name="TextBox 7"/>
          <p:cNvSpPr txBox="1"/>
          <p:nvPr/>
        </p:nvSpPr>
        <p:spPr>
          <a:xfrm>
            <a:off x="960120" y="4443984"/>
            <a:ext cx="10149840" cy="365760"/>
          </a:xfrm>
          <a:prstGeom prst="rect">
            <a:avLst/>
          </a:prstGeom>
          <a:noFill/>
        </p:spPr>
        <p:txBody>
          <a:bodyPr wrap="square" lIns="0" rIns="0" tIns="0" bIns="0" anchor="t">
            <a:noAutofit/>
          </a:bodyPr>
          <a:lstStyle/>
          <a:p>
            <a:pPr algn="l">
              <a:lnSpc>
                <a:spcPct val="109000"/>
              </a:lnSpc>
              <a:spcBef>
                <a:spcPts val="0"/>
              </a:spcBef>
              <a:spcAft>
                <a:spcPts val="0"/>
              </a:spcAft>
            </a:pPr>
            <a:r>
              <a:rPr sz="2200" b="1">
                <a:solidFill>
                  <a:srgbClr val="00407A"/>
                </a:solidFill>
                <a:latin typeface="Arial"/>
              </a:rPr>
              <a:t>Inputs and evidence</a:t>
            </a:r>
          </a:p>
        </p:txBody>
      </p:sp>
      <p:sp>
        <p:nvSpPr>
          <p:cNvPr id="9" name="TextBox 8"/>
          <p:cNvSpPr txBox="1"/>
          <p:nvPr/>
        </p:nvSpPr>
        <p:spPr>
          <a:xfrm>
            <a:off x="960120" y="4965192"/>
            <a:ext cx="10149840" cy="914400"/>
          </a:xfrm>
          <a:prstGeom prst="rect">
            <a:avLst/>
          </a:prstGeom>
          <a:noFill/>
        </p:spPr>
        <p:txBody>
          <a:bodyPr wrap="square" lIns="0" rIns="0" tIns="0" bIns="0" anchor="t">
            <a:noAutofit/>
          </a:bodyPr>
          <a:lstStyle/>
          <a:p>
            <a:pPr algn="l">
              <a:lnSpc>
                <a:spcPct val="109000"/>
              </a:lnSpc>
              <a:spcBef>
                <a:spcPts val="0"/>
              </a:spcBef>
              <a:spcAft>
                <a:spcPts val="0"/>
              </a:spcAft>
            </a:pPr>
            <a:r>
              <a:rPr sz="1800" b="0">
                <a:solidFill>
                  <a:srgbClr val="00407A"/>
                </a:solidFill>
                <a:latin typeface="Arial"/>
              </a:rPr>
              <a:t>Questions: data/questions/dataset_v1.jsonl</a:t>
            </a:r>
          </a:p>
          <a:p>
            <a:pPr algn="l">
              <a:lnSpc>
                <a:spcPct val="109000"/>
              </a:lnSpc>
              <a:spcBef>
                <a:spcPts val="0"/>
              </a:spcBef>
              <a:spcAft>
                <a:spcPts val="0"/>
              </a:spcAft>
            </a:pPr>
            <a:r>
              <a:rPr sz="1800" b="0">
                <a:solidFill>
                  <a:srgbClr val="00407A"/>
                </a:solidFill>
                <a:latin typeface="Arial"/>
              </a:rPr>
              <a:t>Answers, scores and manifests: results/kev/</a:t>
            </a:r>
          </a:p>
          <a:p>
            <a:pPr algn="l">
              <a:lnSpc>
                <a:spcPct val="109000"/>
              </a:lnSpc>
              <a:spcBef>
                <a:spcPts val="0"/>
              </a:spcBef>
              <a:spcAft>
                <a:spcPts val="0"/>
              </a:spcAft>
            </a:pPr>
            <a:r>
              <a:rPr sz="1800" b="0">
                <a:solidFill>
                  <a:srgbClr val="00407A"/>
                </a:solidFill>
                <a:latin typeface="Arial"/>
              </a:rPr>
              <a:t>Verified tables and rebuild scripts: presentations/data/ and presentations/src/</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265176"/>
            <a:ext cx="10561320" cy="237744"/>
          </a:xfrm>
          <a:prstGeom prst="rect">
            <a:avLst/>
          </a:prstGeom>
          <a:noFill/>
        </p:spPr>
        <p:txBody>
          <a:bodyPr wrap="square" lIns="0" rIns="0" tIns="0" bIns="0" anchor="t">
            <a:noAutofit/>
          </a:bodyPr>
          <a:lstStyle/>
          <a:p>
            <a:pPr algn="l">
              <a:lnSpc>
                <a:spcPct val="109000"/>
              </a:lnSpc>
              <a:spcBef>
                <a:spcPts val="0"/>
              </a:spcBef>
              <a:spcAft>
                <a:spcPts val="0"/>
              </a:spcAft>
            </a:pPr>
            <a:r>
              <a:rPr sz="1250" b="1">
                <a:solidFill>
                  <a:srgbClr val="0B5A93"/>
                </a:solidFill>
                <a:latin typeface="Arial"/>
              </a:rPr>
              <a:t>EXPERIMENT 2  •  THREE SOLVED EXAMPLES PER QUESTION</a:t>
            </a:r>
          </a:p>
        </p:txBody>
      </p:sp>
      <p:sp>
        <p:nvSpPr>
          <p:cNvPr id="3" name="TextBox 2"/>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Evidence needed to reproduce experiment 2</a:t>
            </a:r>
          </a:p>
        </p:txBody>
      </p:sp>
      <p:sp>
        <p:nvSpPr>
          <p:cNvPr id="4" name="TextBox 3"/>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Every number is tied to the frozen question file and the saved answers of 16 October.</a:t>
            </a:r>
          </a:p>
        </p:txBody>
      </p:sp>
      <p:sp>
        <p:nvSpPr>
          <p:cNvPr id="5" name="TextBox 4"/>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three examples per question  •  16 October 2026  |  APPENDIX</a:t>
            </a:r>
          </a:p>
        </p:txBody>
      </p:sp>
      <p:sp>
        <p:nvSpPr>
          <p:cNvPr id="6" name="TextBox 5"/>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57</a:t>
            </a:r>
          </a:p>
        </p:txBody>
      </p:sp>
      <p:graphicFrame>
        <p:nvGraphicFramePr>
          <p:cNvPr id="7" name="Table 6"/>
          <p:cNvGraphicFramePr>
            <a:graphicFrameLocks noGrp="1"/>
          </p:cNvGraphicFramePr>
          <p:nvPr/>
        </p:nvGraphicFramePr>
        <p:xfrm>
          <a:off x="813816" y="1874519"/>
          <a:ext cx="10561320" cy="2286000"/>
        </p:xfrm>
        <a:graphic>
          <a:graphicData uri="http://schemas.openxmlformats.org/drawingml/2006/table">
            <a:tbl>
              <a:tblPr firstRow="1" bandRow="1">
                <a:tableStyleId>{5C22544A-7EE6-4342-B048-85BDC9FD1C3A}</a:tableStyleId>
              </a:tblPr>
              <a:tblGrid>
                <a:gridCol w="1508760"/>
                <a:gridCol w="1280160"/>
                <a:gridCol w="3657600"/>
                <a:gridCol w="4114800"/>
              </a:tblGrid>
              <a:tr h="566928">
                <a:tc>
                  <a:txBody>
                    <a:bodyPr/>
                    <a:lstStyle/>
                    <a:p>
                      <a:pPr algn="l">
                        <a:lnSpc>
                          <a:spcPct val="103000"/>
                        </a:lnSpc>
                        <a:spcBef>
                          <a:spcPts val="0"/>
                        </a:spcBef>
                        <a:spcAft>
                          <a:spcPts val="0"/>
                        </a:spcAft>
                      </a:pPr>
                      <a:r>
                        <a:rPr sz="1600" b="1">
                          <a:solidFill>
                            <a:srgbClr val="FFFFFF"/>
                          </a:solidFill>
                          <a:latin typeface="Arial"/>
                        </a:rPr>
                        <a:t>Model</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Condor job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Completed on 16 October</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Checkpoint revision (prefix)</a:t>
                      </a:r>
                    </a:p>
                  </a:txBody>
                  <a:tcPr marL="109728" marR="91440" marT="54864" marB="36576" anchor="ctr">
                    <a:solidFill>
                      <a:srgbClr val="00407A"/>
                    </a:solidFill>
                    <a:lnL>
                      <a:noFill/>
                    </a:lnL>
                    <a:lnR>
                      <a:noFill/>
                    </a:lnR>
                    <a:lnT>
                      <a:noFill/>
                    </a:lnT>
                    <a:lnB>
                      <a:noFill/>
                    </a:lnB>
                  </a:tcPr>
                </a:tc>
              </a:tr>
              <a:tr h="429768">
                <a:tc>
                  <a:txBody>
                    <a:bodyPr/>
                    <a:lstStyle/>
                    <a:p>
                      <a:pPr algn="l">
                        <a:lnSpc>
                          <a:spcPct val="103000"/>
                        </a:lnSpc>
                        <a:spcBef>
                          <a:spcPts val="0"/>
                        </a:spcBef>
                        <a:spcAft>
                          <a:spcPts val="0"/>
                        </a:spcAft>
                      </a:pPr>
                      <a:r>
                        <a:rPr sz="1900" b="0">
                          <a:solidFill>
                            <a:srgbClr val="00407A"/>
                          </a:solidFill>
                          <a:latin typeface="Arial"/>
                        </a:rPr>
                        <a:t>KEV-0.8B</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900" b="0">
                          <a:solidFill>
                            <a:srgbClr val="00407A"/>
                          </a:solidFill>
                          <a:latin typeface="Arial"/>
                        </a:rPr>
                        <a:t>8.0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900" b="0">
                          <a:solidFill>
                            <a:srgbClr val="00407A"/>
                          </a:solidFill>
                          <a:latin typeface="Arial"/>
                        </a:rPr>
                        <a:t>15:44:23</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900" b="0">
                          <a:solidFill>
                            <a:srgbClr val="00407A"/>
                          </a:solidFill>
                          <a:latin typeface="Arial"/>
                        </a:rPr>
                        <a:t>bf75a6a8848e</a:t>
                      </a:r>
                    </a:p>
                  </a:txBody>
                  <a:tcPr marL="109728" marR="91440" marT="54864" marB="36576" anchor="ctr">
                    <a:solidFill>
                      <a:srgbClr val="E3EFF5"/>
                    </a:solidFill>
                    <a:lnL>
                      <a:noFill/>
                    </a:lnL>
                    <a:lnR>
                      <a:noFill/>
                    </a:lnR>
                    <a:lnT>
                      <a:noFill/>
                    </a:lnT>
                    <a:lnB>
                      <a:noFill/>
                    </a:lnB>
                  </a:tcPr>
                </a:tc>
              </a:tr>
              <a:tr h="429768">
                <a:tc>
                  <a:txBody>
                    <a:bodyPr/>
                    <a:lstStyle/>
                    <a:p>
                      <a:pPr algn="l">
                        <a:lnSpc>
                          <a:spcPct val="103000"/>
                        </a:lnSpc>
                        <a:spcBef>
                          <a:spcPts val="0"/>
                        </a:spcBef>
                        <a:spcAft>
                          <a:spcPts val="0"/>
                        </a:spcAft>
                      </a:pPr>
                      <a:r>
                        <a:rPr sz="1900" b="0">
                          <a:solidFill>
                            <a:srgbClr val="00407A"/>
                          </a:solidFill>
                          <a:latin typeface="Arial"/>
                        </a:rPr>
                        <a:t>KEV-4B</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900" b="0">
                          <a:solidFill>
                            <a:srgbClr val="00407A"/>
                          </a:solidFill>
                          <a:latin typeface="Arial"/>
                        </a:rPr>
                        <a:t>9.0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900" b="0">
                          <a:solidFill>
                            <a:srgbClr val="00407A"/>
                          </a:solidFill>
                          <a:latin typeface="Arial"/>
                        </a:rPr>
                        <a:t>15:49:46</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900" b="0">
                          <a:solidFill>
                            <a:srgbClr val="00407A"/>
                          </a:solidFill>
                          <a:latin typeface="Arial"/>
                        </a:rPr>
                        <a:t>6cfce5c2fa4b</a:t>
                      </a:r>
                    </a:p>
                  </a:txBody>
                  <a:tcPr marL="109728" marR="91440" marT="54864" marB="36576" anchor="ctr">
                    <a:solidFill>
                      <a:srgbClr val="FFFFFF"/>
                    </a:solidFill>
                    <a:lnL>
                      <a:noFill/>
                    </a:lnL>
                    <a:lnR>
                      <a:noFill/>
                    </a:lnR>
                    <a:lnT>
                      <a:noFill/>
                    </a:lnT>
                    <a:lnB>
                      <a:noFill/>
                    </a:lnB>
                  </a:tcPr>
                </a:tc>
              </a:tr>
              <a:tr h="429768">
                <a:tc>
                  <a:txBody>
                    <a:bodyPr/>
                    <a:lstStyle/>
                    <a:p>
                      <a:pPr algn="l">
                        <a:lnSpc>
                          <a:spcPct val="103000"/>
                        </a:lnSpc>
                        <a:spcBef>
                          <a:spcPts val="0"/>
                        </a:spcBef>
                        <a:spcAft>
                          <a:spcPts val="0"/>
                        </a:spcAft>
                      </a:pPr>
                      <a:r>
                        <a:rPr sz="1900" b="0">
                          <a:solidFill>
                            <a:srgbClr val="00407A"/>
                          </a:solidFill>
                          <a:latin typeface="Arial"/>
                        </a:rPr>
                        <a:t>KEV-9B</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900" b="0">
                          <a:solidFill>
                            <a:srgbClr val="00407A"/>
                          </a:solidFill>
                          <a:latin typeface="Arial"/>
                        </a:rPr>
                        <a:t>10.0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900" b="0">
                          <a:solidFill>
                            <a:srgbClr val="00407A"/>
                          </a:solidFill>
                          <a:latin typeface="Arial"/>
                        </a:rPr>
                        <a:t>15:57:06</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900" b="0">
                          <a:solidFill>
                            <a:srgbClr val="00407A"/>
                          </a:solidFill>
                          <a:latin typeface="Arial"/>
                        </a:rPr>
                        <a:t>db029f08b290</a:t>
                      </a:r>
                    </a:p>
                  </a:txBody>
                  <a:tcPr marL="109728" marR="91440" marT="54864" marB="36576" anchor="ctr">
                    <a:solidFill>
                      <a:srgbClr val="E3EFF5"/>
                    </a:solidFill>
                    <a:lnL>
                      <a:noFill/>
                    </a:lnL>
                    <a:lnR>
                      <a:noFill/>
                    </a:lnR>
                    <a:lnT>
                      <a:noFill/>
                    </a:lnT>
                    <a:lnB>
                      <a:noFill/>
                    </a:lnB>
                  </a:tcPr>
                </a:tc>
              </a:tr>
              <a:tr h="429768">
                <a:tc>
                  <a:txBody>
                    <a:bodyPr/>
                    <a:lstStyle/>
                    <a:p>
                      <a:pPr algn="l">
                        <a:lnSpc>
                          <a:spcPct val="103000"/>
                        </a:lnSpc>
                        <a:spcBef>
                          <a:spcPts val="0"/>
                        </a:spcBef>
                        <a:spcAft>
                          <a:spcPts val="0"/>
                        </a:spcAft>
                      </a:pPr>
                      <a:r>
                        <a:rPr sz="1900" b="0">
                          <a:solidFill>
                            <a:srgbClr val="00407A"/>
                          </a:solidFill>
                          <a:latin typeface="Arial"/>
                        </a:rPr>
                        <a:t>KEV-27B</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900" b="0">
                          <a:solidFill>
                            <a:srgbClr val="00407A"/>
                          </a:solidFill>
                          <a:latin typeface="Arial"/>
                        </a:rPr>
                        <a:t>11.0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900" b="0">
                          <a:solidFill>
                            <a:srgbClr val="00407A"/>
                          </a:solidFill>
                          <a:latin typeface="Arial"/>
                        </a:rPr>
                        <a:t>20:15:35</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900" b="0">
                          <a:solidFill>
                            <a:srgbClr val="00407A"/>
                          </a:solidFill>
                          <a:latin typeface="Arial"/>
                        </a:rPr>
                        <a:t>af0e6d551bdc</a:t>
                      </a:r>
                    </a:p>
                  </a:txBody>
                  <a:tcPr marL="109728" marR="91440" marT="54864" marB="36576" anchor="ctr">
                    <a:solidFill>
                      <a:srgbClr val="FFFFFF"/>
                    </a:solidFill>
                    <a:lnL>
                      <a:noFill/>
                    </a:lnL>
                    <a:lnR>
                      <a:noFill/>
                    </a:lnR>
                    <a:lnT>
                      <a:noFill/>
                    </a:lnT>
                    <a:lnB>
                      <a:noFill/>
                    </a:lnB>
                  </a:tcPr>
                </a:tc>
              </a:tr>
            </a:tbl>
          </a:graphicData>
        </a:graphic>
      </p:graphicFrame>
      <p:sp>
        <p:nvSpPr>
          <p:cNvPr id="8" name="TextBox 7"/>
          <p:cNvSpPr txBox="1"/>
          <p:nvPr/>
        </p:nvSpPr>
        <p:spPr>
          <a:xfrm>
            <a:off x="960120" y="4443984"/>
            <a:ext cx="10149840" cy="365760"/>
          </a:xfrm>
          <a:prstGeom prst="rect">
            <a:avLst/>
          </a:prstGeom>
          <a:noFill/>
        </p:spPr>
        <p:txBody>
          <a:bodyPr wrap="square" lIns="0" rIns="0" tIns="0" bIns="0" anchor="t">
            <a:noAutofit/>
          </a:bodyPr>
          <a:lstStyle/>
          <a:p>
            <a:pPr algn="l">
              <a:lnSpc>
                <a:spcPct val="109000"/>
              </a:lnSpc>
              <a:spcBef>
                <a:spcPts val="0"/>
              </a:spcBef>
              <a:spcAft>
                <a:spcPts val="0"/>
              </a:spcAft>
            </a:pPr>
            <a:r>
              <a:rPr sz="2200" b="1">
                <a:solidFill>
                  <a:srgbClr val="00407A"/>
                </a:solidFill>
                <a:latin typeface="Arial"/>
              </a:rPr>
              <a:t>Inputs and evidence</a:t>
            </a:r>
          </a:p>
        </p:txBody>
      </p:sp>
      <p:sp>
        <p:nvSpPr>
          <p:cNvPr id="9" name="TextBox 8"/>
          <p:cNvSpPr txBox="1"/>
          <p:nvPr/>
        </p:nvSpPr>
        <p:spPr>
          <a:xfrm>
            <a:off x="960120" y="4965192"/>
            <a:ext cx="10149840" cy="914400"/>
          </a:xfrm>
          <a:prstGeom prst="rect">
            <a:avLst/>
          </a:prstGeom>
          <a:noFill/>
        </p:spPr>
        <p:txBody>
          <a:bodyPr wrap="square" lIns="0" rIns="0" tIns="0" bIns="0" anchor="t">
            <a:noAutofit/>
          </a:bodyPr>
          <a:lstStyle/>
          <a:p>
            <a:pPr algn="l">
              <a:lnSpc>
                <a:spcPct val="109000"/>
              </a:lnSpc>
              <a:spcBef>
                <a:spcPts val="0"/>
              </a:spcBef>
              <a:spcAft>
                <a:spcPts val="0"/>
              </a:spcAft>
            </a:pPr>
            <a:r>
              <a:rPr sz="1800" b="0">
                <a:solidFill>
                  <a:srgbClr val="00407A"/>
                </a:solidFill>
                <a:latin typeface="Arial"/>
              </a:rPr>
              <a:t>Questions: data/questions/dataset_v1_fewshot3.jsonl (harness/fewshot.py)</a:t>
            </a:r>
          </a:p>
          <a:p>
            <a:pPr algn="l">
              <a:lnSpc>
                <a:spcPct val="109000"/>
              </a:lnSpc>
              <a:spcBef>
                <a:spcPts val="0"/>
              </a:spcBef>
              <a:spcAft>
                <a:spcPts val="0"/>
              </a:spcAft>
            </a:pPr>
            <a:r>
              <a:rPr sz="1800" b="0">
                <a:solidFill>
                  <a:srgbClr val="00407A"/>
                </a:solidFill>
                <a:latin typeface="Arial"/>
              </a:rPr>
              <a:t>Answers, scores, manifests and comparisons: results/kev/dataset_v1_fewshot3_*/</a:t>
            </a:r>
          </a:p>
          <a:p>
            <a:pPr algn="l">
              <a:lnSpc>
                <a:spcPct val="109000"/>
              </a:lnSpc>
              <a:spcBef>
                <a:spcPts val="0"/>
              </a:spcBef>
              <a:spcAft>
                <a:spcPts val="0"/>
              </a:spcAft>
            </a:pPr>
            <a:r>
              <a:rPr sz="1800" b="0">
                <a:solidFill>
                  <a:srgbClr val="00407A"/>
                </a:solidFill>
                <a:latin typeface="Arial"/>
              </a:rPr>
              <a:t>Verified tables: presentations/data/verified_metrics_fewshot3.json, compare_fewshot3.csv</a:t>
            </a:r>
          </a:p>
        </p:txBody>
      </p:sp>
    </p:spTree>
  </p:cSld>
  <p:clrMapOvr>
    <a:masterClrMapping/>
  </p:clrMapOvr>
</p:sld>
</file>

<file path=ppt/theme/theme1.xml><?xml version="1.0" encoding="utf-8"?>
<a:theme xmlns:a="http://schemas.openxmlformats.org/drawingml/2006/main" name="TinyTapeOut 2026: jullie feedback">
  <a:themeElements>
    <a:clrScheme name="TinyTapeOut 2026: jullie feedback">
      <a:dk1>
        <a:srgbClr val="00407A"/>
      </a:dk1>
      <a:lt1>
        <a:srgbClr val="F4F8FA"/>
      </a:lt1>
      <a:dk2>
        <a:srgbClr val="3D6E9A"/>
      </a:dk2>
      <a:lt2>
        <a:srgbClr val="DCE6ED"/>
      </a:lt2>
      <a:accent1>
        <a:srgbClr val="52BDEC"/>
      </a:accent1>
      <a:accent2>
        <a:srgbClr val="0B5A93"/>
      </a:accent2>
      <a:accent3>
        <a:srgbClr val="BFDDEC"/>
      </a:accent3>
      <a:accent4>
        <a:srgbClr val="1D8DB0"/>
      </a:accent4>
      <a:accent5>
        <a:srgbClr val="4A5A66"/>
      </a:accent5>
      <a:accent6>
        <a:srgbClr val="C8D3DA"/>
      </a:accent6>
      <a:hlink>
        <a:srgbClr val="0563C1"/>
      </a:hlink>
      <a:folHlink>
        <a:srgbClr val="954F72"/>
      </a:folHlink>
    </a:clrScheme>
    <a:fontScheme name="TinyTapeOut 2026: jullie feedback">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608</Words>
  <Application>Microsoft Office PowerPoint</Application>
  <PresentationFormat>Widescreen</PresentationFormat>
  <Paragraphs>96</Paragraphs>
  <Slides>7</Slides>
  <Notes>7</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7</vt:i4>
      </vt:variant>
    </vt:vector>
  </HeadingPairs>
  <TitlesOfParts>
    <vt:vector size="9" baseType="lpstr">
      <vt:lpstr>Arial</vt:lpstr>
      <vt:lpstr>TinyTapeOut 2026: jullie feedback</vt:lpstr>
      <vt:lpstr>Wat jullie ervan vonden</vt:lpstr>
      <vt:lpstr>De cijfers</vt:lpstr>
      <vt:lpstr>Jullie beste moment</vt:lpstr>
      <vt:lpstr>Waar jullie vastliepen</vt:lpstr>
      <vt:lpstr>Volgend jaar</vt:lpstr>
      <vt:lpstr>Jullie chips opmeten</vt:lpstr>
      <vt:lpstr>Bedankt!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KEV on RTL: tests, results and limitations</dc:title>
  <dc:subject>Dataset v1; all four KEV v1.0 models; 725 held-out questions</dc:subject>
  <dc:creator>JEV_RTL study</dc:creator>
  <cp:lastModifiedBy>Marian Verhelst</cp:lastModifiedBy>
  <cp:revision>1</cp:revision>
  <dcterms:created xsi:type="dcterms:W3CDTF">2026-10-14T20:01:21Z</dcterms:created>
  <dcterms:modified xsi:type="dcterms:W3CDTF">2026-10-14T20:04:01Z</dcterms:modified>
  <cp:keywords>RTL, KEV, synthesis, compilation, area, power, timing</cp:keywords>
</cp:coreProperties>
</file>