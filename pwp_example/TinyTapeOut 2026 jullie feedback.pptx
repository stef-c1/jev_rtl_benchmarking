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8" r:id="rId3"/>
    <p:sldId id="259" r:id="rId4"/>
    <p:sldId id="260" r:id="rId5"/>
    <p:sldId id="261" r:id="rId6"/>
    <p:sldId id="262" r:id="rId7"/>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B04C1B-7AD6-4013-AE6D-F69CCB37705D}" v="2" dt="2026-10-14T20:03:10.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 Verhelst" userId="731a6a4d-0ae0-40ab-8310-2cd6e3bb0597" providerId="ADAL" clId="{B0FF59DE-8C83-455B-9775-86E18A21BAE3}"/>
    <pc:docChg chg="custSel delSld modSld">
      <pc:chgData name="Marian Verhelst" userId="731a6a4d-0ae0-40ab-8310-2cd6e3bb0597" providerId="ADAL" clId="{B0FF59DE-8C83-455B-9775-86E18A21BAE3}" dt="2026-10-14T20:03:58.793" v="54" actId="20577"/>
      <pc:docMkLst>
        <pc:docMk/>
      </pc:docMkLst>
      <pc:sldChg chg="del">
        <pc:chgData name="Marian Verhelst" userId="731a6a4d-0ae0-40ab-8310-2cd6e3bb0597" providerId="ADAL" clId="{B0FF59DE-8C83-455B-9775-86E18A21BAE3}" dt="2026-10-14T20:01:31.973" v="0" actId="47"/>
        <pc:sldMkLst>
          <pc:docMk/>
          <pc:sldMk cId="0" sldId="257"/>
        </pc:sldMkLst>
      </pc:sldChg>
      <pc:sldChg chg="modSp mod">
        <pc:chgData name="Marian Verhelst" userId="731a6a4d-0ae0-40ab-8310-2cd6e3bb0597" providerId="ADAL" clId="{B0FF59DE-8C83-455B-9775-86E18A21BAE3}" dt="2026-10-14T20:02:06.567" v="10" actId="403"/>
        <pc:sldMkLst>
          <pc:docMk/>
          <pc:sldMk cId="0" sldId="259"/>
        </pc:sldMkLst>
        <pc:spChg chg="mod">
          <ac:chgData name="Marian Verhelst" userId="731a6a4d-0ae0-40ab-8310-2cd6e3bb0597" providerId="ADAL" clId="{B0FF59DE-8C83-455B-9775-86E18A21BAE3}" dt="2026-10-14T20:01:53.987" v="4" actId="20577"/>
          <ac:spMkLst>
            <pc:docMk/>
            <pc:sldMk cId="0" sldId="259"/>
            <ac:spMk id="7" creationId="{00000000-0000-0000-0000-000000000000}"/>
          </ac:spMkLst>
        </pc:spChg>
        <pc:spChg chg="mod">
          <ac:chgData name="Marian Verhelst" userId="731a6a4d-0ae0-40ab-8310-2cd6e3bb0597" providerId="ADAL" clId="{B0FF59DE-8C83-455B-9775-86E18A21BAE3}" dt="2026-10-14T20:02:06.567" v="10" actId="403"/>
          <ac:spMkLst>
            <pc:docMk/>
            <pc:sldMk cId="0" sldId="259"/>
            <ac:spMk id="9" creationId="{00000000-0000-0000-0000-000000000000}"/>
          </ac:spMkLst>
        </pc:spChg>
      </pc:sldChg>
      <pc:sldChg chg="modSp mod">
        <pc:chgData name="Marian Verhelst" userId="731a6a4d-0ae0-40ab-8310-2cd6e3bb0597" providerId="ADAL" clId="{B0FF59DE-8C83-455B-9775-86E18A21BAE3}" dt="2026-10-14T20:02:20.287" v="14" actId="404"/>
        <pc:sldMkLst>
          <pc:docMk/>
          <pc:sldMk cId="0" sldId="260"/>
        </pc:sldMkLst>
        <pc:spChg chg="mod">
          <ac:chgData name="Marian Verhelst" userId="731a6a4d-0ae0-40ab-8310-2cd6e3bb0597" providerId="ADAL" clId="{B0FF59DE-8C83-455B-9775-86E18A21BAE3}" dt="2026-10-14T20:02:20.287" v="14" actId="404"/>
          <ac:spMkLst>
            <pc:docMk/>
            <pc:sldMk cId="0" sldId="260"/>
            <ac:spMk id="12" creationId="{00000000-0000-0000-0000-000000000000}"/>
          </ac:spMkLst>
        </pc:spChg>
      </pc:sldChg>
      <pc:sldChg chg="modSp mod">
        <pc:chgData name="Marian Verhelst" userId="731a6a4d-0ae0-40ab-8310-2cd6e3bb0597" providerId="ADAL" clId="{B0FF59DE-8C83-455B-9775-86E18A21BAE3}" dt="2026-10-14T20:02:51.421" v="15" actId="20577"/>
        <pc:sldMkLst>
          <pc:docMk/>
          <pc:sldMk cId="0" sldId="261"/>
        </pc:sldMkLst>
        <pc:spChg chg="mod">
          <ac:chgData name="Marian Verhelst" userId="731a6a4d-0ae0-40ab-8310-2cd6e3bb0597" providerId="ADAL" clId="{B0FF59DE-8C83-455B-9775-86E18A21BAE3}" dt="2026-10-14T20:02:51.421" v="15" actId="20577"/>
          <ac:spMkLst>
            <pc:docMk/>
            <pc:sldMk cId="0" sldId="261"/>
            <ac:spMk id="6" creationId="{00000000-0000-0000-0000-000000000000}"/>
          </ac:spMkLst>
        </pc:spChg>
      </pc:sldChg>
      <pc:sldChg chg="modSp mod">
        <pc:chgData name="Marian Verhelst" userId="731a6a4d-0ae0-40ab-8310-2cd6e3bb0597" providerId="ADAL" clId="{B0FF59DE-8C83-455B-9775-86E18A21BAE3}" dt="2026-10-14T20:03:37.335" v="35" actId="20577"/>
        <pc:sldMkLst>
          <pc:docMk/>
          <pc:sldMk cId="0" sldId="262"/>
        </pc:sldMkLst>
        <pc:spChg chg="mod">
          <ac:chgData name="Marian Verhelst" userId="731a6a4d-0ae0-40ab-8310-2cd6e3bb0597" providerId="ADAL" clId="{B0FF59DE-8C83-455B-9775-86E18A21BAE3}" dt="2026-10-14T20:03:25.848" v="27" actId="207"/>
          <ac:spMkLst>
            <pc:docMk/>
            <pc:sldMk cId="0" sldId="262"/>
            <ac:spMk id="9" creationId="{00000000-0000-0000-0000-000000000000}"/>
          </ac:spMkLst>
        </pc:spChg>
        <pc:graphicFrameChg chg="mod modGraphic">
          <ac:chgData name="Marian Verhelst" userId="731a6a4d-0ae0-40ab-8310-2cd6e3bb0597" providerId="ADAL" clId="{B0FF59DE-8C83-455B-9775-86E18A21BAE3}" dt="2026-10-14T20:03:37.335" v="35" actId="20577"/>
          <ac:graphicFrameMkLst>
            <pc:docMk/>
            <pc:sldMk cId="0" sldId="262"/>
            <ac:graphicFrameMk id="8" creationId="{00000000-0000-0000-0000-000000000000}"/>
          </ac:graphicFrameMkLst>
        </pc:graphicFrameChg>
      </pc:sldChg>
      <pc:sldChg chg="modSp mod">
        <pc:chgData name="Marian Verhelst" userId="731a6a4d-0ae0-40ab-8310-2cd6e3bb0597" providerId="ADAL" clId="{B0FF59DE-8C83-455B-9775-86E18A21BAE3}" dt="2026-10-14T20:03:58.793" v="54" actId="20577"/>
        <pc:sldMkLst>
          <pc:docMk/>
          <pc:sldMk cId="0" sldId="263"/>
        </pc:sldMkLst>
        <pc:spChg chg="mod">
          <ac:chgData name="Marian Verhelst" userId="731a6a4d-0ae0-40ab-8310-2cd6e3bb0597" providerId="ADAL" clId="{B0FF59DE-8C83-455B-9775-86E18A21BAE3}" dt="2026-10-14T20:03:58.793" v="54"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41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 welkom. 20 van de 21 deelnemers hebben de bevraging ingevuld, dat is bijna iedereen. We overlopen wat jullie zeiden en wat we ermee doen.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Leuk en aanraden scoren het hoogst. “Veel geleerd” scoort iets lager: wie al ervaring had met Verilog, vond het soms gelijkaardig aan eerdere projecten. We bekijken hoe we voor die groep extra uitdaging kunnen voorzien.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Citaten uit de bevraging, anoniem. Twee grote groepen antwoorden: het moment dat de simulatie werkte, en de creatieve start met brainstormen en architectuur.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drie grote struikelblokken. De begeleiding zelf werd door veel studenten spontaan geprezen.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wat jullie expliciet wilden behouden. Rechts de verbeterpunten die het vaakst terugkwamen. Groepsgrootte: 3 werd het vaakst genoemd als ideaal, 2 werkt ook goed.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chips worden pas in de tweede helft van mei 2027 verstuurd. De voorkeuren voor het opmeten lopen uiteen, dus we plannen per team. Het formulier liet maar één Pmod toe, dus check of jullie lijn klopt. Silicon Sonics en Chrome Chain: geef nog door wat jullie nodig hebben.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Afsluiter. Ruimte voor vragen.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07A"/>
        </a:solidFill>
        <a:effectLst/>
      </p:bgPr>
    </p:bg>
    <p:spTree>
      <p:nvGrpSpPr>
        <p:cNvPr id="1" name=""/>
        <p:cNvGrpSpPr/>
        <p:nvPr/>
      </p:nvGrpSpPr>
      <p:grpSpPr>
        <a:xfrm>
          <a:off x="0" y="0"/>
          <a:ext cx="0" cy="0"/>
          <a:chOff x="0" y="0"/>
          <a:chExt cx="0" cy="0"/>
        </a:xfrm>
      </p:grpSpPr>
      <p:sp>
        <p:nvSpPr>
          <p:cNvPr id="2" name="Shape 0"/>
          <p:cNvSpPr/>
          <p:nvPr/>
        </p:nvSpPr>
        <p:spPr>
          <a:xfrm>
            <a:off x="8509000" y="812800"/>
            <a:ext cx="2870200" cy="2870200"/>
          </a:xfrm>
          <a:prstGeom prst="rect">
            <a:avLst/>
          </a:prstGeom>
          <a:gradFill rotWithShape="1">
            <a:gsLst>
              <a:gs pos="0">
                <a:srgbClr val="0B5A93">
                  <a:alpha val="90000"/>
                </a:srgbClr>
              </a:gs>
              <a:gs pos="5000">
                <a:srgbClr val="0B5A93">
                  <a:alpha val="90000"/>
                </a:srgbClr>
              </a:gs>
              <a:gs pos="5000">
                <a:srgbClr val="0B5A93">
                  <a:alpha val="0"/>
                </a:srgbClr>
              </a:gs>
              <a:gs pos="100000">
                <a:srgbClr val="000000">
                  <a:alpha val="0"/>
                </a:srgbClr>
              </a:gs>
            </a:gsLst>
            <a:lin ang="0" scaled="0"/>
          </a:gradFill>
          <a:ln/>
        </p:spPr>
        <p:txBody>
          <a:bodyPr/>
          <a:lstStyle/>
          <a:p>
            <a:endParaRPr lang="en-US"/>
          </a:p>
        </p:txBody>
      </p:sp>
      <p:sp>
        <p:nvSpPr>
          <p:cNvPr id="3" name="Shape 1"/>
          <p:cNvSpPr/>
          <p:nvPr/>
        </p:nvSpPr>
        <p:spPr>
          <a:xfrm>
            <a:off x="9029700" y="1333500"/>
            <a:ext cx="1828800" cy="1828800"/>
          </a:xfrm>
          <a:prstGeom prst="roundRect">
            <a:avLst>
              <a:gd name="adj" fmla="val 2083"/>
            </a:avLst>
          </a:prstGeom>
          <a:noFill/>
          <a:ln w="25400">
            <a:solidFill>
              <a:srgbClr val="1D8DB0"/>
            </a:solidFill>
            <a:prstDash val="solid"/>
          </a:ln>
        </p:spPr>
        <p:txBody>
          <a:bodyPr/>
          <a:lstStyle/>
          <a:p>
            <a:endParaRPr lang="en-US"/>
          </a:p>
        </p:txBody>
      </p:sp>
      <p:sp>
        <p:nvSpPr>
          <p:cNvPr id="4" name="Text 2"/>
          <p:cNvSpPr/>
          <p:nvPr/>
        </p:nvSpPr>
        <p:spPr>
          <a:xfrm>
            <a:off x="812800" y="18415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kern="0" spc="200" dirty="0">
                <a:solidFill>
                  <a:srgbClr val="52BDEC"/>
                </a:solidFill>
                <a:latin typeface="Arial" pitchFamily="34" charset="0"/>
                <a:ea typeface="Arial" pitchFamily="34" charset="-122"/>
                <a:cs typeface="Arial" pitchFamily="34" charset="-120"/>
              </a:rPr>
              <a:t>TINYTAPEOUT ZOMER 2026</a:t>
            </a:r>
            <a:endParaRPr lang="en-US" sz="1600" dirty="0"/>
          </a:p>
        </p:txBody>
      </p:sp>
      <p:sp>
        <p:nvSpPr>
          <p:cNvPr id="5" name="Text 3"/>
          <p:cNvSpPr>
            <a:spLocks noGrp="1"/>
          </p:cNvSpPr>
          <p:nvPr>
            <p:ph type="title"/>
          </p:nvPr>
        </p:nvSpPr>
        <p:spPr>
          <a:xfrm>
            <a:off x="812800" y="2379980"/>
            <a:ext cx="784860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4F8FA"/>
                </a:solidFill>
                <a:latin typeface="Arial" pitchFamily="34" charset="0"/>
                <a:ea typeface="Arial" pitchFamily="34" charset="-122"/>
                <a:cs typeface="Arial" pitchFamily="34" charset="-120"/>
              </a:rPr>
              <a:t>Wat jullie ervan vonden</a:t>
            </a:r>
            <a:endParaRPr lang="en-US" sz="6000" dirty="0"/>
          </a:p>
        </p:txBody>
      </p:sp>
      <p:sp>
        <p:nvSpPr>
          <p:cNvPr id="6" name="Text 4"/>
          <p:cNvSpPr/>
          <p:nvPr/>
        </p:nvSpPr>
        <p:spPr>
          <a:xfrm>
            <a:off x="812800" y="4234180"/>
            <a:ext cx="7848600" cy="8077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FDDEC"/>
                </a:solidFill>
                <a:latin typeface="Arial" pitchFamily="34" charset="0"/>
                <a:ea typeface="Arial" pitchFamily="34" charset="-122"/>
                <a:cs typeface="Arial" pitchFamily="34" charset="-120"/>
              </a:rPr>
              <a:t>Resultaten van de bevraging: 20 van de 21 studenten vulden ze in. Bedankt!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4F8F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407A"/>
                </a:solidFill>
                <a:latin typeface="Arial" pitchFamily="34" charset="0"/>
                <a:ea typeface="Arial" pitchFamily="34" charset="-122"/>
                <a:cs typeface="Arial" pitchFamily="34" charset="-120"/>
              </a:rPr>
              <a:t>De cijfers</a:t>
            </a:r>
            <a:endParaRPr lang="en-US" sz="3600" dirty="0"/>
          </a:p>
        </p:txBody>
      </p:sp>
      <p:sp>
        <p:nvSpPr>
          <p:cNvPr id="3" name="Text 1"/>
          <p:cNvSpPr/>
          <p:nvPr/>
        </p:nvSpPr>
        <p:spPr>
          <a:xfrm>
            <a:off x="812800" y="1757680"/>
            <a:ext cx="36626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0407A"/>
                </a:solidFill>
                <a:latin typeface="Arial" pitchFamily="34" charset="0"/>
                <a:ea typeface="Arial" pitchFamily="34" charset="-122"/>
                <a:cs typeface="Arial" pitchFamily="34" charset="-120"/>
              </a:rPr>
              <a:t>Ik vond het leuk om te doen</a:t>
            </a:r>
            <a:endParaRPr lang="en-US" sz="1600" dirty="0"/>
          </a:p>
        </p:txBody>
      </p:sp>
      <p:sp>
        <p:nvSpPr>
          <p:cNvPr id="4" name="Text 2"/>
          <p:cNvSpPr/>
          <p:nvPr/>
        </p:nvSpPr>
        <p:spPr>
          <a:xfrm>
            <a:off x="4622800" y="1671320"/>
            <a:ext cx="4622800" cy="457200"/>
          </a:xfrm>
          <a:prstGeom prst="rect">
            <a:avLst/>
          </a:prstGeom>
          <a:solidFill>
            <a:srgbClr val="00407A"/>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Arial" pitchFamily="34" charset="0"/>
                <a:ea typeface="Arial" pitchFamily="34" charset="-122"/>
                <a:cs typeface="Arial" pitchFamily="34" charset="-120"/>
              </a:rPr>
              <a:t>14</a:t>
            </a:r>
            <a:endParaRPr lang="en-US" sz="1400" dirty="0"/>
          </a:p>
        </p:txBody>
      </p:sp>
      <p:sp>
        <p:nvSpPr>
          <p:cNvPr id="5" name="Text 3"/>
          <p:cNvSpPr/>
          <p:nvPr/>
        </p:nvSpPr>
        <p:spPr>
          <a:xfrm>
            <a:off x="9245600" y="1671320"/>
            <a:ext cx="1981200" cy="457200"/>
          </a:xfrm>
          <a:prstGeom prst="rect">
            <a:avLst/>
          </a:prstGeom>
          <a:solidFill>
            <a:srgbClr val="52BDEC"/>
          </a:solidFill>
          <a:ln/>
        </p:spPr>
        <p:txBody>
          <a:bodyPr wrap="square" lIns="0" tIns="0" rIns="0" bIns="0" rtlCol="0" anchor="ctr">
            <a:normAutofit/>
          </a:bodyPr>
          <a:lstStyle/>
          <a:p>
            <a:pPr marL="0" indent="0" algn="ctr">
              <a:lnSpc>
                <a:spcPts val="1960"/>
              </a:lnSpc>
              <a:buNone/>
            </a:pPr>
            <a:r>
              <a:rPr lang="en-US" sz="1400" b="1" dirty="0">
                <a:solidFill>
                  <a:srgbClr val="00407A"/>
                </a:solidFill>
                <a:latin typeface="Arial" pitchFamily="34" charset="0"/>
                <a:ea typeface="Arial" pitchFamily="34" charset="-122"/>
                <a:cs typeface="Arial" pitchFamily="34" charset="-120"/>
              </a:rPr>
              <a:t>6</a:t>
            </a:r>
            <a:endParaRPr lang="en-US" sz="1400" dirty="0"/>
          </a:p>
        </p:txBody>
      </p:sp>
      <p:sp>
        <p:nvSpPr>
          <p:cNvPr id="6" name="Text 4"/>
          <p:cNvSpPr/>
          <p:nvPr/>
        </p:nvSpPr>
        <p:spPr>
          <a:xfrm>
            <a:off x="812800" y="2443480"/>
            <a:ext cx="36626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0407A"/>
                </a:solidFill>
                <a:latin typeface="Arial" pitchFamily="34" charset="0"/>
                <a:ea typeface="Arial" pitchFamily="34" charset="-122"/>
                <a:cs typeface="Arial" pitchFamily="34" charset="-120"/>
              </a:rPr>
              <a:t>Ik heb er veel van geleerd</a:t>
            </a:r>
            <a:endParaRPr lang="en-US" sz="1600" dirty="0"/>
          </a:p>
        </p:txBody>
      </p:sp>
      <p:sp>
        <p:nvSpPr>
          <p:cNvPr id="7" name="Text 5"/>
          <p:cNvSpPr/>
          <p:nvPr/>
        </p:nvSpPr>
        <p:spPr>
          <a:xfrm>
            <a:off x="4622800" y="2357120"/>
            <a:ext cx="2971800" cy="457200"/>
          </a:xfrm>
          <a:prstGeom prst="rect">
            <a:avLst/>
          </a:prstGeom>
          <a:solidFill>
            <a:srgbClr val="00407A"/>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8" name="Text 6"/>
          <p:cNvSpPr/>
          <p:nvPr/>
        </p:nvSpPr>
        <p:spPr>
          <a:xfrm>
            <a:off x="7594600" y="2357120"/>
            <a:ext cx="2311400" cy="457200"/>
          </a:xfrm>
          <a:prstGeom prst="rect">
            <a:avLst/>
          </a:prstGeom>
          <a:solidFill>
            <a:srgbClr val="52BDEC"/>
          </a:solidFill>
          <a:ln/>
        </p:spPr>
        <p:txBody>
          <a:bodyPr wrap="square" lIns="0" tIns="0" rIns="0" bIns="0" rtlCol="0" anchor="ctr">
            <a:normAutofit/>
          </a:bodyPr>
          <a:lstStyle/>
          <a:p>
            <a:pPr marL="0" indent="0" algn="ctr">
              <a:lnSpc>
                <a:spcPts val="1960"/>
              </a:lnSpc>
              <a:buNone/>
            </a:pPr>
            <a:r>
              <a:rPr lang="en-US" sz="1400" b="1" dirty="0">
                <a:solidFill>
                  <a:srgbClr val="00407A"/>
                </a:solidFill>
                <a:latin typeface="Arial" pitchFamily="34" charset="0"/>
                <a:ea typeface="Arial" pitchFamily="34" charset="-122"/>
                <a:cs typeface="Arial" pitchFamily="34" charset="-120"/>
              </a:rPr>
              <a:t>7</a:t>
            </a:r>
            <a:endParaRPr lang="en-US" sz="1400" dirty="0"/>
          </a:p>
        </p:txBody>
      </p:sp>
      <p:sp>
        <p:nvSpPr>
          <p:cNvPr id="9" name="Text 7"/>
          <p:cNvSpPr/>
          <p:nvPr/>
        </p:nvSpPr>
        <p:spPr>
          <a:xfrm>
            <a:off x="9906000" y="2357120"/>
            <a:ext cx="990600" cy="457200"/>
          </a:xfrm>
          <a:prstGeom prst="rect">
            <a:avLst/>
          </a:prstGeom>
          <a:solidFill>
            <a:srgbClr val="C8D3DA"/>
          </a:solidFill>
          <a:ln/>
        </p:spPr>
        <p:txBody>
          <a:bodyPr wrap="square" lIns="0" tIns="0" rIns="0" bIns="0" rtlCol="0" anchor="ctr">
            <a:normAutofit/>
          </a:bodyPr>
          <a:lstStyle/>
          <a:p>
            <a:pPr marL="0" indent="0" algn="ctr">
              <a:lnSpc>
                <a:spcPts val="1960"/>
              </a:lnSpc>
              <a:buNone/>
            </a:pPr>
            <a:r>
              <a:rPr lang="en-US" sz="1400" b="1" dirty="0">
                <a:solidFill>
                  <a:srgbClr val="00407A"/>
                </a:solidFill>
                <a:latin typeface="Arial" pitchFamily="34" charset="0"/>
                <a:ea typeface="Arial" pitchFamily="34" charset="-122"/>
                <a:cs typeface="Arial" pitchFamily="34" charset="-120"/>
              </a:rPr>
              <a:t>3</a:t>
            </a:r>
            <a:endParaRPr lang="en-US" sz="1400" dirty="0"/>
          </a:p>
        </p:txBody>
      </p:sp>
      <p:sp>
        <p:nvSpPr>
          <p:cNvPr id="10" name="Text 8"/>
          <p:cNvSpPr/>
          <p:nvPr/>
        </p:nvSpPr>
        <p:spPr>
          <a:xfrm>
            <a:off x="10896600" y="2357120"/>
            <a:ext cx="330200" cy="457200"/>
          </a:xfrm>
          <a:prstGeom prst="rect">
            <a:avLst/>
          </a:prstGeom>
          <a:solidFill>
            <a:srgbClr val="6B7280"/>
          </a:solidFill>
          <a:ln/>
        </p:spPr>
        <p:txBody>
          <a:bodyPr wrap="square" lIns="0" tIns="0" rIns="0" bIns="0" rtlCol="0" anchor="ctr">
            <a:normAutofit/>
          </a:bodyPr>
          <a:lstStyle/>
          <a:p>
            <a:pPr marL="0" indent="0" algn="ctr">
              <a:lnSpc>
                <a:spcPts val="1960"/>
              </a:lnSpc>
              <a:buNone/>
            </a:pPr>
            <a:r>
              <a:rPr lang="en-US" sz="1400" b="1" dirty="0">
                <a:solidFill>
                  <a:srgbClr val="F4F8FA"/>
                </a:solidFill>
                <a:latin typeface="Arial" pitchFamily="34" charset="0"/>
                <a:ea typeface="Arial" pitchFamily="34" charset="-122"/>
                <a:cs typeface="Arial" pitchFamily="34" charset="-120"/>
              </a:rPr>
              <a:t>1</a:t>
            </a:r>
            <a:endParaRPr lang="en-US" sz="1400" dirty="0"/>
          </a:p>
        </p:txBody>
      </p:sp>
      <p:sp>
        <p:nvSpPr>
          <p:cNvPr id="11" name="Text 9"/>
          <p:cNvSpPr/>
          <p:nvPr/>
        </p:nvSpPr>
        <p:spPr>
          <a:xfrm>
            <a:off x="812800" y="3129280"/>
            <a:ext cx="36626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0407A"/>
                </a:solidFill>
                <a:latin typeface="Arial" pitchFamily="34" charset="0"/>
                <a:ea typeface="Arial" pitchFamily="34" charset="-122"/>
                <a:cs typeface="Arial" pitchFamily="34" charset="-120"/>
              </a:rPr>
              <a:t>Ik ben trots op onze chip</a:t>
            </a:r>
            <a:endParaRPr lang="en-US" sz="1600" dirty="0"/>
          </a:p>
        </p:txBody>
      </p:sp>
      <p:sp>
        <p:nvSpPr>
          <p:cNvPr id="12" name="Text 10"/>
          <p:cNvSpPr/>
          <p:nvPr/>
        </p:nvSpPr>
        <p:spPr>
          <a:xfrm>
            <a:off x="4622800" y="3042920"/>
            <a:ext cx="3962400" cy="457200"/>
          </a:xfrm>
          <a:prstGeom prst="rect">
            <a:avLst/>
          </a:prstGeom>
          <a:solidFill>
            <a:srgbClr val="00407A"/>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Arial" pitchFamily="34" charset="0"/>
                <a:ea typeface="Arial" pitchFamily="34" charset="-122"/>
                <a:cs typeface="Arial" pitchFamily="34" charset="-120"/>
              </a:rPr>
              <a:t>12</a:t>
            </a:r>
            <a:endParaRPr lang="en-US" sz="1400" dirty="0"/>
          </a:p>
        </p:txBody>
      </p:sp>
      <p:sp>
        <p:nvSpPr>
          <p:cNvPr id="13" name="Text 11"/>
          <p:cNvSpPr/>
          <p:nvPr/>
        </p:nvSpPr>
        <p:spPr>
          <a:xfrm>
            <a:off x="8585200" y="3042920"/>
            <a:ext cx="990600" cy="457200"/>
          </a:xfrm>
          <a:prstGeom prst="rect">
            <a:avLst/>
          </a:prstGeom>
          <a:solidFill>
            <a:srgbClr val="52BDEC"/>
          </a:solidFill>
          <a:ln/>
        </p:spPr>
        <p:txBody>
          <a:bodyPr wrap="square" lIns="0" tIns="0" rIns="0" bIns="0" rtlCol="0" anchor="ctr">
            <a:normAutofit/>
          </a:bodyPr>
          <a:lstStyle/>
          <a:p>
            <a:pPr marL="0" indent="0" algn="ctr">
              <a:lnSpc>
                <a:spcPts val="1960"/>
              </a:lnSpc>
              <a:buNone/>
            </a:pPr>
            <a:r>
              <a:rPr lang="en-US" sz="1400" b="1" dirty="0">
                <a:solidFill>
                  <a:srgbClr val="00407A"/>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9575800" y="3042920"/>
            <a:ext cx="1651000" cy="457200"/>
          </a:xfrm>
          <a:prstGeom prst="rect">
            <a:avLst/>
          </a:prstGeom>
          <a:solidFill>
            <a:srgbClr val="C8D3DA"/>
          </a:solidFill>
          <a:ln/>
        </p:spPr>
        <p:txBody>
          <a:bodyPr wrap="square" lIns="0" tIns="0" rIns="0" bIns="0" rtlCol="0" anchor="ctr">
            <a:normAutofit/>
          </a:bodyPr>
          <a:lstStyle/>
          <a:p>
            <a:pPr marL="0" indent="0" algn="ctr">
              <a:lnSpc>
                <a:spcPts val="1960"/>
              </a:lnSpc>
              <a:buNone/>
            </a:pPr>
            <a:r>
              <a:rPr lang="en-US" sz="1400" b="1" dirty="0">
                <a:solidFill>
                  <a:srgbClr val="00407A"/>
                </a:solidFill>
                <a:latin typeface="Arial" pitchFamily="34" charset="0"/>
                <a:ea typeface="Arial" pitchFamily="34" charset="-122"/>
                <a:cs typeface="Arial" pitchFamily="34" charset="-120"/>
              </a:rPr>
              <a:t>5</a:t>
            </a:r>
            <a:endParaRPr lang="en-US" sz="1400" dirty="0"/>
          </a:p>
        </p:txBody>
      </p:sp>
      <p:sp>
        <p:nvSpPr>
          <p:cNvPr id="15" name="Text 13"/>
          <p:cNvSpPr/>
          <p:nvPr/>
        </p:nvSpPr>
        <p:spPr>
          <a:xfrm>
            <a:off x="812800" y="3815080"/>
            <a:ext cx="36626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0407A"/>
                </a:solidFill>
                <a:latin typeface="Arial" pitchFamily="34" charset="0"/>
                <a:ea typeface="Arial" pitchFamily="34" charset="-122"/>
                <a:cs typeface="Arial" pitchFamily="34" charset="-120"/>
              </a:rPr>
              <a:t>Ik zou het aanraden aan anderen</a:t>
            </a:r>
            <a:endParaRPr lang="en-US" sz="1600" dirty="0"/>
          </a:p>
        </p:txBody>
      </p:sp>
      <p:sp>
        <p:nvSpPr>
          <p:cNvPr id="16" name="Text 14"/>
          <p:cNvSpPr/>
          <p:nvPr/>
        </p:nvSpPr>
        <p:spPr>
          <a:xfrm>
            <a:off x="4622800" y="3728720"/>
            <a:ext cx="4953000" cy="457200"/>
          </a:xfrm>
          <a:prstGeom prst="rect">
            <a:avLst/>
          </a:prstGeom>
          <a:solidFill>
            <a:srgbClr val="00407A"/>
          </a:solidFill>
          <a:ln/>
        </p:spPr>
        <p:txBody>
          <a:bodyPr wrap="square" lIns="0" tIns="0" rIns="0" bIns="0" rtlCol="0" anchor="ctr">
            <a:normAutofit/>
          </a:bodyPr>
          <a:lstStyle/>
          <a:p>
            <a:pPr marL="0" indent="0" algn="ctr">
              <a:lnSpc>
                <a:spcPts val="1960"/>
              </a:lnSpc>
              <a:buNone/>
            </a:pPr>
            <a:r>
              <a:rPr lang="en-US" sz="1400" b="1" dirty="0">
                <a:solidFill>
                  <a:srgbClr val="FFFFFF"/>
                </a:solidFill>
                <a:latin typeface="Arial" pitchFamily="34" charset="0"/>
                <a:ea typeface="Arial" pitchFamily="34" charset="-122"/>
                <a:cs typeface="Arial" pitchFamily="34" charset="-120"/>
              </a:rPr>
              <a:t>15</a:t>
            </a:r>
            <a:endParaRPr lang="en-US" sz="1400" dirty="0"/>
          </a:p>
        </p:txBody>
      </p:sp>
      <p:sp>
        <p:nvSpPr>
          <p:cNvPr id="17" name="Text 15"/>
          <p:cNvSpPr/>
          <p:nvPr/>
        </p:nvSpPr>
        <p:spPr>
          <a:xfrm>
            <a:off x="9575800" y="3728720"/>
            <a:ext cx="1651000" cy="457200"/>
          </a:xfrm>
          <a:prstGeom prst="rect">
            <a:avLst/>
          </a:prstGeom>
          <a:solidFill>
            <a:srgbClr val="52BDEC"/>
          </a:solidFill>
          <a:ln/>
        </p:spPr>
        <p:txBody>
          <a:bodyPr wrap="square" lIns="0" tIns="0" rIns="0" bIns="0" rtlCol="0" anchor="ctr">
            <a:normAutofit/>
          </a:bodyPr>
          <a:lstStyle/>
          <a:p>
            <a:pPr marL="0" indent="0" algn="ctr">
              <a:lnSpc>
                <a:spcPts val="1960"/>
              </a:lnSpc>
              <a:buNone/>
            </a:pPr>
            <a:r>
              <a:rPr lang="en-US" sz="1400" b="1" dirty="0">
                <a:solidFill>
                  <a:srgbClr val="00407A"/>
                </a:solidFill>
                <a:latin typeface="Arial" pitchFamily="34" charset="0"/>
                <a:ea typeface="Arial" pitchFamily="34" charset="-122"/>
                <a:cs typeface="Arial" pitchFamily="34" charset="-120"/>
              </a:rPr>
              <a:t>5</a:t>
            </a:r>
            <a:endParaRPr lang="en-US" sz="1400" dirty="0"/>
          </a:p>
        </p:txBody>
      </p:sp>
      <p:sp>
        <p:nvSpPr>
          <p:cNvPr id="18" name="Shape 16"/>
          <p:cNvSpPr/>
          <p:nvPr/>
        </p:nvSpPr>
        <p:spPr>
          <a:xfrm>
            <a:off x="812800" y="4546600"/>
            <a:ext cx="203200" cy="203200"/>
          </a:xfrm>
          <a:prstGeom prst="rect">
            <a:avLst/>
          </a:prstGeom>
          <a:solidFill>
            <a:srgbClr val="00407A"/>
          </a:solidFill>
          <a:ln/>
        </p:spPr>
        <p:txBody>
          <a:bodyPr/>
          <a:lstStyle/>
          <a:p>
            <a:endParaRPr lang="en-US"/>
          </a:p>
        </p:txBody>
      </p:sp>
      <p:sp>
        <p:nvSpPr>
          <p:cNvPr id="19" name="Text 17"/>
          <p:cNvSpPr/>
          <p:nvPr/>
        </p:nvSpPr>
        <p:spPr>
          <a:xfrm>
            <a:off x="1092200" y="4541520"/>
            <a:ext cx="5183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407A"/>
                </a:solidFill>
                <a:latin typeface="Arial" pitchFamily="34" charset="0"/>
                <a:ea typeface="Arial" pitchFamily="34" charset="-122"/>
                <a:cs typeface="Arial" pitchFamily="34" charset="-120"/>
              </a:rPr>
              <a:t>Zeker!</a:t>
            </a:r>
            <a:endParaRPr lang="en-US" sz="1200" dirty="0"/>
          </a:p>
        </p:txBody>
      </p:sp>
      <p:sp>
        <p:nvSpPr>
          <p:cNvPr id="20" name="Shape 18"/>
          <p:cNvSpPr/>
          <p:nvPr/>
        </p:nvSpPr>
        <p:spPr>
          <a:xfrm>
            <a:off x="1828959" y="4546600"/>
            <a:ext cx="203200" cy="203200"/>
          </a:xfrm>
          <a:prstGeom prst="rect">
            <a:avLst/>
          </a:prstGeom>
          <a:solidFill>
            <a:srgbClr val="52BDEC"/>
          </a:solidFill>
          <a:ln/>
        </p:spPr>
        <p:txBody>
          <a:bodyPr/>
          <a:lstStyle/>
          <a:p>
            <a:endParaRPr lang="en-US"/>
          </a:p>
        </p:txBody>
      </p:sp>
      <p:sp>
        <p:nvSpPr>
          <p:cNvPr id="21" name="Text 19"/>
          <p:cNvSpPr/>
          <p:nvPr/>
        </p:nvSpPr>
        <p:spPr>
          <a:xfrm>
            <a:off x="2108359" y="4541520"/>
            <a:ext cx="6505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407A"/>
                </a:solidFill>
                <a:latin typeface="Arial" pitchFamily="34" charset="0"/>
                <a:ea typeface="Arial" pitchFamily="34" charset="-122"/>
                <a:cs typeface="Arial" pitchFamily="34" charset="-120"/>
              </a:rPr>
              <a:t>Redelijk</a:t>
            </a:r>
            <a:endParaRPr lang="en-US" sz="1200" dirty="0"/>
          </a:p>
        </p:txBody>
      </p:sp>
      <p:sp>
        <p:nvSpPr>
          <p:cNvPr id="22" name="Shape 20"/>
          <p:cNvSpPr/>
          <p:nvPr/>
        </p:nvSpPr>
        <p:spPr>
          <a:xfrm>
            <a:off x="2955290" y="4546600"/>
            <a:ext cx="203200" cy="203200"/>
          </a:xfrm>
          <a:prstGeom prst="rect">
            <a:avLst/>
          </a:prstGeom>
          <a:solidFill>
            <a:srgbClr val="C8D3DA"/>
          </a:solidFill>
          <a:ln/>
        </p:spPr>
        <p:txBody>
          <a:bodyPr/>
          <a:lstStyle/>
          <a:p>
            <a:endParaRPr lang="en-US"/>
          </a:p>
        </p:txBody>
      </p:sp>
      <p:sp>
        <p:nvSpPr>
          <p:cNvPr id="23" name="Text 21"/>
          <p:cNvSpPr/>
          <p:nvPr/>
        </p:nvSpPr>
        <p:spPr>
          <a:xfrm>
            <a:off x="3234690" y="4541520"/>
            <a:ext cx="69132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407A"/>
                </a:solidFill>
                <a:latin typeface="Arial" pitchFamily="34" charset="0"/>
                <a:ea typeface="Arial" pitchFamily="34" charset="-122"/>
                <a:cs typeface="Arial" pitchFamily="34" charset="-120"/>
              </a:rPr>
              <a:t>Neutraal</a:t>
            </a:r>
            <a:endParaRPr lang="en-US" sz="1200" dirty="0"/>
          </a:p>
        </p:txBody>
      </p:sp>
      <p:sp>
        <p:nvSpPr>
          <p:cNvPr id="24" name="Shape 22"/>
          <p:cNvSpPr/>
          <p:nvPr/>
        </p:nvSpPr>
        <p:spPr>
          <a:xfrm>
            <a:off x="4115594" y="4546600"/>
            <a:ext cx="203200" cy="203200"/>
          </a:xfrm>
          <a:prstGeom prst="rect">
            <a:avLst/>
          </a:prstGeom>
          <a:solidFill>
            <a:srgbClr val="6B7280"/>
          </a:solidFill>
          <a:ln/>
        </p:spPr>
        <p:txBody>
          <a:bodyPr/>
          <a:lstStyle/>
          <a:p>
            <a:endParaRPr lang="en-US"/>
          </a:p>
        </p:txBody>
      </p:sp>
      <p:sp>
        <p:nvSpPr>
          <p:cNvPr id="25" name="Text 23"/>
          <p:cNvSpPr/>
          <p:nvPr/>
        </p:nvSpPr>
        <p:spPr>
          <a:xfrm>
            <a:off x="4394994" y="4541520"/>
            <a:ext cx="89458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407A"/>
                </a:solidFill>
                <a:latin typeface="Arial" pitchFamily="34" charset="0"/>
                <a:ea typeface="Arial" pitchFamily="34" charset="-122"/>
                <a:cs typeface="Arial" pitchFamily="34" charset="-120"/>
              </a:rPr>
              <a:t>Eerder niet</a:t>
            </a:r>
            <a:endParaRPr lang="en-US" sz="1200" dirty="0"/>
          </a:p>
        </p:txBody>
      </p:sp>
      <p:sp>
        <p:nvSpPr>
          <p:cNvPr id="26" name="Text 24"/>
          <p:cNvSpPr/>
          <p:nvPr/>
        </p:nvSpPr>
        <p:spPr>
          <a:xfrm>
            <a:off x="5445284" y="4541520"/>
            <a:ext cx="198786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6"/>
                </a:solidFill>
                <a:latin typeface="Arial" pitchFamily="34" charset="0"/>
                <a:ea typeface="Arial" pitchFamily="34" charset="-122"/>
                <a:cs typeface="Arial" pitchFamily="34" charset="-120"/>
              </a:rPr>
              <a:t>Aantal studenten, n = 20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E3EFF5"/>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407A"/>
                </a:solidFill>
                <a:latin typeface="Arial" pitchFamily="34" charset="0"/>
                <a:ea typeface="Arial" pitchFamily="34" charset="-122"/>
                <a:cs typeface="Arial" pitchFamily="34" charset="-120"/>
              </a:rPr>
              <a:t>Jullie beste moment</a:t>
            </a:r>
            <a:endParaRPr lang="en-US" sz="3600" dirty="0"/>
          </a:p>
        </p:txBody>
      </p:sp>
      <p:sp>
        <p:nvSpPr>
          <p:cNvPr id="3" name="Text 1"/>
          <p:cNvSpPr/>
          <p:nvPr/>
        </p:nvSpPr>
        <p:spPr>
          <a:xfrm>
            <a:off x="812800" y="1671320"/>
            <a:ext cx="3386614" cy="2406650"/>
          </a:xfrm>
          <a:prstGeom prst="roundRect">
            <a:avLst>
              <a:gd name="adj" fmla="val 4222"/>
            </a:avLst>
          </a:prstGeom>
          <a:solidFill>
            <a:srgbClr val="F4F8FA"/>
          </a:solidFill>
          <a:ln/>
        </p:spPr>
        <p:txBody>
          <a:bodyPr wrap="square" lIns="275042" tIns="325842" rIns="191732" bIns="275042" rtlCol="0" anchor="t">
            <a:normAutofit/>
          </a:bodyPr>
          <a:lstStyle/>
          <a:p>
            <a:pPr marL="0" indent="0" algn="l">
              <a:lnSpc>
                <a:spcPts val="2750"/>
              </a:lnSpc>
              <a:buNone/>
            </a:pPr>
            <a:r>
              <a:rPr lang="en-US" sz="2200" dirty="0">
                <a:solidFill>
                  <a:srgbClr val="00407A"/>
                </a:solidFill>
                <a:latin typeface="Arial" pitchFamily="34" charset="0"/>
                <a:ea typeface="Arial" pitchFamily="34" charset="-122"/>
                <a:cs typeface="Arial" pitchFamily="34" charset="-120"/>
              </a:rPr>
              <a:t>“De eerste keer de simulatie zien werken van het hele project.”</a:t>
            </a:r>
            <a:endParaRPr lang="en-US" sz="2200" dirty="0"/>
          </a:p>
        </p:txBody>
      </p:sp>
      <p:sp>
        <p:nvSpPr>
          <p:cNvPr id="4" name="Shape 2"/>
          <p:cNvSpPr/>
          <p:nvPr/>
        </p:nvSpPr>
        <p:spPr>
          <a:xfrm>
            <a:off x="812800" y="1671320"/>
            <a:ext cx="3386614" cy="2406650"/>
          </a:xfrm>
          <a:custGeom>
            <a:avLst/>
            <a:gdLst/>
            <a:ahLst/>
            <a:cxnLst/>
            <a:rect l="l" t="t" r="r" b="b"/>
            <a:pathLst>
              <a:path w="3386614" h="2406650">
                <a:moveTo>
                  <a:pt x="0" y="101600"/>
                </a:moveTo>
                <a:lnTo>
                  <a:pt x="0" y="101600"/>
                </a:lnTo>
                <a:arcTo wR="101600" hR="101600" stAng="10800000" swAng="5400000"/>
                <a:lnTo>
                  <a:pt x="3285014" y="0"/>
                </a:lnTo>
                <a:arcTo wR="101600" hR="101600" stAng="16200000" swAng="5400000"/>
                <a:lnTo>
                  <a:pt x="3386614" y="101600"/>
                </a:lnTo>
                <a:arcTo wR="101600" hR="50800" stAng="0" swAng="-5400000"/>
                <a:lnTo>
                  <a:pt x="101600" y="50800"/>
                </a:lnTo>
                <a:arcTo wR="101600" hR="50800" stAng="16200000" swAng="-5400000"/>
                <a:close/>
              </a:path>
            </a:pathLst>
          </a:custGeom>
          <a:solidFill>
            <a:srgbClr val="1D8DB0"/>
          </a:solidFill>
          <a:ln/>
        </p:spPr>
        <p:txBody>
          <a:bodyPr/>
          <a:lstStyle/>
          <a:p>
            <a:endParaRPr lang="en-US"/>
          </a:p>
        </p:txBody>
      </p:sp>
      <p:sp>
        <p:nvSpPr>
          <p:cNvPr id="5" name="Text 3"/>
          <p:cNvSpPr/>
          <p:nvPr/>
        </p:nvSpPr>
        <p:spPr>
          <a:xfrm>
            <a:off x="4402614" y="1671320"/>
            <a:ext cx="3386693" cy="2406650"/>
          </a:xfrm>
          <a:prstGeom prst="roundRect">
            <a:avLst>
              <a:gd name="adj" fmla="val 4222"/>
            </a:avLst>
          </a:prstGeom>
          <a:solidFill>
            <a:srgbClr val="F4F8FA"/>
          </a:solidFill>
          <a:ln/>
        </p:spPr>
        <p:txBody>
          <a:bodyPr wrap="square" lIns="275042" tIns="325842" rIns="191730" bIns="249642" rtlCol="0" anchor="t">
            <a:normAutofit/>
          </a:bodyPr>
          <a:lstStyle/>
          <a:p>
            <a:pPr marL="0" indent="0" algn="l">
              <a:lnSpc>
                <a:spcPts val="2750"/>
              </a:lnSpc>
              <a:buNone/>
            </a:pPr>
            <a:r>
              <a:rPr lang="en-US" sz="2200" dirty="0">
                <a:solidFill>
                  <a:srgbClr val="00407A"/>
                </a:solidFill>
                <a:latin typeface="Arial" pitchFamily="34" charset="0"/>
                <a:ea typeface="Arial" pitchFamily="34" charset="-122"/>
                <a:cs typeface="Arial" pitchFamily="34" charset="-120"/>
              </a:rPr>
              <a:t>“Zien hoe de ideeën van de 1e brainstorm gaandeweg echt vorm beginnen aan te nemen.”</a:t>
            </a:r>
            <a:endParaRPr lang="en-US" sz="2200" dirty="0"/>
          </a:p>
        </p:txBody>
      </p:sp>
      <p:sp>
        <p:nvSpPr>
          <p:cNvPr id="6" name="Shape 4"/>
          <p:cNvSpPr/>
          <p:nvPr/>
        </p:nvSpPr>
        <p:spPr>
          <a:xfrm>
            <a:off x="4402614" y="1671320"/>
            <a:ext cx="3386693" cy="2406650"/>
          </a:xfrm>
          <a:custGeom>
            <a:avLst/>
            <a:gdLst/>
            <a:ahLst/>
            <a:cxnLst/>
            <a:rect l="l" t="t" r="r" b="b"/>
            <a:pathLst>
              <a:path w="3386693" h="2406650">
                <a:moveTo>
                  <a:pt x="0" y="101600"/>
                </a:moveTo>
                <a:lnTo>
                  <a:pt x="0" y="101600"/>
                </a:lnTo>
                <a:arcTo wR="101600" hR="101600" stAng="10800000" swAng="5400000"/>
                <a:lnTo>
                  <a:pt x="3285093" y="0"/>
                </a:lnTo>
                <a:arcTo wR="101600" hR="101600" stAng="16200000" swAng="5400000"/>
                <a:lnTo>
                  <a:pt x="3386693" y="101600"/>
                </a:lnTo>
                <a:arcTo wR="101600" hR="50800" stAng="0" swAng="-5400000"/>
                <a:lnTo>
                  <a:pt x="101600" y="50800"/>
                </a:lnTo>
                <a:arcTo wR="101600" hR="50800" stAng="16200000" swAng="-5400000"/>
                <a:close/>
              </a:path>
            </a:pathLst>
          </a:custGeom>
          <a:solidFill>
            <a:srgbClr val="1D8DB0"/>
          </a:solidFill>
          <a:ln/>
        </p:spPr>
        <p:txBody>
          <a:bodyPr/>
          <a:lstStyle/>
          <a:p>
            <a:endParaRPr lang="en-US"/>
          </a:p>
        </p:txBody>
      </p:sp>
      <p:sp>
        <p:nvSpPr>
          <p:cNvPr id="7" name="Text 5"/>
          <p:cNvSpPr/>
          <p:nvPr/>
        </p:nvSpPr>
        <p:spPr>
          <a:xfrm>
            <a:off x="7992507" y="1671320"/>
            <a:ext cx="3386693" cy="2406650"/>
          </a:xfrm>
          <a:prstGeom prst="roundRect">
            <a:avLst>
              <a:gd name="adj" fmla="val 4222"/>
            </a:avLst>
          </a:prstGeom>
          <a:solidFill>
            <a:srgbClr val="F4F8FA"/>
          </a:solidFill>
          <a:ln/>
        </p:spPr>
        <p:txBody>
          <a:bodyPr wrap="square" lIns="275042" tIns="325842" rIns="191730" bIns="275042" rtlCol="0" anchor="t">
            <a:normAutofit/>
          </a:bodyPr>
          <a:lstStyle/>
          <a:p>
            <a:pPr marL="0" indent="0" algn="l">
              <a:lnSpc>
                <a:spcPts val="2750"/>
              </a:lnSpc>
              <a:buNone/>
            </a:pPr>
            <a:r>
              <a:rPr lang="en-US" sz="2200" dirty="0">
                <a:solidFill>
                  <a:srgbClr val="00407A"/>
                </a:solidFill>
                <a:latin typeface="Arial" pitchFamily="34" charset="0"/>
                <a:ea typeface="Arial" pitchFamily="34" charset="-122"/>
                <a:cs typeface="Arial" pitchFamily="34" charset="-120"/>
              </a:rPr>
              <a:t>“Wanneer de GDS passed is, zonder errors.”</a:t>
            </a:r>
            <a:endParaRPr lang="en-US" sz="2200" dirty="0"/>
          </a:p>
        </p:txBody>
      </p:sp>
      <p:sp>
        <p:nvSpPr>
          <p:cNvPr id="8" name="Shape 6"/>
          <p:cNvSpPr/>
          <p:nvPr/>
        </p:nvSpPr>
        <p:spPr>
          <a:xfrm>
            <a:off x="7992507" y="1671320"/>
            <a:ext cx="3386693" cy="2406650"/>
          </a:xfrm>
          <a:custGeom>
            <a:avLst/>
            <a:gdLst/>
            <a:ahLst/>
            <a:cxnLst/>
            <a:rect l="l" t="t" r="r" b="b"/>
            <a:pathLst>
              <a:path w="3386693" h="2406650">
                <a:moveTo>
                  <a:pt x="0" y="101600"/>
                </a:moveTo>
                <a:lnTo>
                  <a:pt x="0" y="101600"/>
                </a:lnTo>
                <a:arcTo wR="101600" hR="101600" stAng="10800000" swAng="5400000"/>
                <a:lnTo>
                  <a:pt x="3285093" y="0"/>
                </a:lnTo>
                <a:arcTo wR="101600" hR="101600" stAng="16200000" swAng="5400000"/>
                <a:lnTo>
                  <a:pt x="3386693" y="101600"/>
                </a:lnTo>
                <a:arcTo wR="101600" hR="50800" stAng="0" swAng="-5400000"/>
                <a:lnTo>
                  <a:pt x="101600" y="50800"/>
                </a:lnTo>
                <a:arcTo wR="101600" hR="50800" stAng="16200000" swAng="-5400000"/>
                <a:close/>
              </a:path>
            </a:pathLst>
          </a:custGeom>
          <a:solidFill>
            <a:srgbClr val="1D8DB0"/>
          </a:solidFill>
          <a:ln/>
        </p:spPr>
        <p:txBody>
          <a:bodyPr/>
          <a:lstStyle/>
          <a:p>
            <a:endParaRPr lang="en-US"/>
          </a:p>
        </p:txBody>
      </p:sp>
      <p:sp>
        <p:nvSpPr>
          <p:cNvPr id="9" name="Text 7"/>
          <p:cNvSpPr/>
          <p:nvPr/>
        </p:nvSpPr>
        <p:spPr>
          <a:xfrm>
            <a:off x="812800" y="4433570"/>
            <a:ext cx="9810750" cy="594360"/>
          </a:xfrm>
          <a:prstGeom prst="rect">
            <a:avLst/>
          </a:prstGeom>
          <a:noFill/>
          <a:ln/>
        </p:spPr>
        <p:txBody>
          <a:bodyPr wrap="square" lIns="0" tIns="0" rIns="0" bIns="0" rtlCol="0" anchor="t">
            <a:normAutofit fontScale="92500"/>
          </a:bodyPr>
          <a:lstStyle/>
          <a:p>
            <a:pPr marL="0" indent="0" algn="l">
              <a:lnSpc>
                <a:spcPts val="2240"/>
              </a:lnSpc>
              <a:buNone/>
            </a:pPr>
            <a:r>
              <a:rPr lang="en-US" dirty="0">
                <a:solidFill>
                  <a:srgbClr val="4A5A66"/>
                </a:solidFill>
                <a:latin typeface="Arial" pitchFamily="34" charset="0"/>
                <a:ea typeface="Arial" pitchFamily="34" charset="-122"/>
                <a:cs typeface="Arial" pitchFamily="34" charset="-120"/>
              </a:rPr>
              <a:t>Het vaakst genoemd: een simulatie die eindelijk werkt, en samen brainstormen en de architectuur uittekenen. </a:t>
            </a:r>
            <a:r>
              <a:rPr lang="en-US" b="1" dirty="0">
                <a:solidFill>
                  <a:srgbClr val="4A5A66"/>
                </a:solidFill>
                <a:latin typeface="Arial" pitchFamily="34" charset="0"/>
                <a:ea typeface="Arial" pitchFamily="34" charset="-122"/>
                <a:cs typeface="Arial" pitchFamily="34" charset="-120"/>
              </a:rPr>
              <a:t>Eén student houdt het beste moment nog tegoed: een werkende chip opmeten.</a:t>
            </a:r>
            <a:endParaRPr 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8F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407A"/>
                </a:solidFill>
                <a:latin typeface="Arial" pitchFamily="34" charset="0"/>
                <a:ea typeface="Arial" pitchFamily="34" charset="-122"/>
                <a:cs typeface="Arial" pitchFamily="34" charset="-120"/>
              </a:rPr>
              <a:t>Waar jullie vastliepen</a:t>
            </a:r>
            <a:endParaRPr lang="en-US" sz="3600" dirty="0"/>
          </a:p>
        </p:txBody>
      </p:sp>
      <p:sp>
        <p:nvSpPr>
          <p:cNvPr id="3" name="Shape 1"/>
          <p:cNvSpPr/>
          <p:nvPr/>
        </p:nvSpPr>
        <p:spPr>
          <a:xfrm>
            <a:off x="812800" y="1671321"/>
            <a:ext cx="3386614" cy="3017520"/>
          </a:xfrm>
          <a:prstGeom prst="roundRect">
            <a:avLst>
              <a:gd name="adj" fmla="val 3367"/>
            </a:avLst>
          </a:prstGeom>
          <a:solidFill>
            <a:srgbClr val="E3EFF5"/>
          </a:solidFill>
          <a:ln/>
        </p:spPr>
        <p:txBody>
          <a:bodyPr/>
          <a:lstStyle/>
          <a:p>
            <a:endParaRPr lang="en-US"/>
          </a:p>
        </p:txBody>
      </p:sp>
      <p:sp>
        <p:nvSpPr>
          <p:cNvPr id="4" name="Text 2"/>
          <p:cNvSpPr/>
          <p:nvPr/>
        </p:nvSpPr>
        <p:spPr>
          <a:xfrm>
            <a:off x="1117600" y="1976121"/>
            <a:ext cx="286032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0407A"/>
                </a:solidFill>
                <a:latin typeface="Arial" pitchFamily="34" charset="0"/>
                <a:ea typeface="Arial" pitchFamily="34" charset="-122"/>
                <a:cs typeface="Arial" pitchFamily="34" charset="-120"/>
              </a:rPr>
              <a:t>Starten</a:t>
            </a:r>
            <a:endParaRPr lang="en-US" sz="2200" dirty="0"/>
          </a:p>
        </p:txBody>
      </p:sp>
      <p:sp>
        <p:nvSpPr>
          <p:cNvPr id="5" name="Text 3"/>
          <p:cNvSpPr/>
          <p:nvPr/>
        </p:nvSpPr>
        <p:spPr>
          <a:xfrm>
            <a:off x="1194308" y="2463800"/>
            <a:ext cx="2775996" cy="1945640"/>
          </a:xfrm>
          <a:prstGeom prst="rect">
            <a:avLst/>
          </a:prstGeom>
          <a:noFill/>
          <a:ln/>
        </p:spPr>
        <p:txBody>
          <a:bodyPr wrap="square" lIns="0" tIns="0" rIns="0" bIns="0" rtlCol="0" anchor="t">
            <a:normAutofit/>
          </a:bodyPr>
          <a:lstStyle/>
          <a:p>
            <a:pPr marL="177292" indent="-177292" algn="l">
              <a:lnSpc>
                <a:spcPts val="2160"/>
              </a:lnSpc>
              <a:buSzPct val="100000"/>
              <a:buChar char="•"/>
            </a:pPr>
            <a:r>
              <a:rPr lang="en-US" sz="1600" dirty="0">
                <a:solidFill>
                  <a:srgbClr val="00407A"/>
                </a:solidFill>
                <a:latin typeface="Arial" pitchFamily="34" charset="0"/>
                <a:ea typeface="Arial" pitchFamily="34" charset="-122"/>
                <a:cs typeface="Arial" pitchFamily="34" charset="-120"/>
              </a:rPr>
              <a:t>Verilog en GitHub (opnieuw) leren</a:t>
            </a:r>
            <a:endParaRPr lang="en-US" sz="1600" dirty="0"/>
          </a:p>
          <a:p>
            <a:pPr marL="177292" indent="-177292" algn="l">
              <a:lnSpc>
                <a:spcPts val="2160"/>
              </a:lnSpc>
              <a:buSzPct val="100000"/>
              <a:buChar char="•"/>
            </a:pPr>
            <a:r>
              <a:rPr lang="en-US" sz="1600" dirty="0">
                <a:solidFill>
                  <a:srgbClr val="00407A"/>
                </a:solidFill>
                <a:latin typeface="Arial" pitchFamily="34" charset="0"/>
                <a:ea typeface="Arial" pitchFamily="34" charset="-122"/>
                <a:cs typeface="Arial" pitchFamily="34" charset="-120"/>
              </a:rPr>
              <a:t>Hoe structureer je een project: datapad, controlepad</a:t>
            </a:r>
            <a:endParaRPr lang="en-US" sz="1600" dirty="0"/>
          </a:p>
          <a:p>
            <a:pPr marL="177292" indent="-177292" algn="l">
              <a:lnSpc>
                <a:spcPts val="2160"/>
              </a:lnSpc>
              <a:buSzPct val="100000"/>
              <a:buChar char="•"/>
            </a:pPr>
            <a:r>
              <a:rPr lang="en-US" sz="1600" dirty="0">
                <a:solidFill>
                  <a:srgbClr val="00407A"/>
                </a:solidFill>
                <a:latin typeface="Arial" pitchFamily="34" charset="0"/>
                <a:ea typeface="Arial" pitchFamily="34" charset="-122"/>
                <a:cs typeface="Arial" pitchFamily="34" charset="-120"/>
              </a:rPr>
              <a:t>Goede practices zonder ervaring</a:t>
            </a:r>
            <a:endParaRPr lang="en-US" sz="1600" dirty="0"/>
          </a:p>
        </p:txBody>
      </p:sp>
      <p:sp>
        <p:nvSpPr>
          <p:cNvPr id="6" name="Shape 4"/>
          <p:cNvSpPr/>
          <p:nvPr/>
        </p:nvSpPr>
        <p:spPr>
          <a:xfrm>
            <a:off x="4402614" y="1671321"/>
            <a:ext cx="3386693" cy="3017520"/>
          </a:xfrm>
          <a:prstGeom prst="roundRect">
            <a:avLst>
              <a:gd name="adj" fmla="val 3367"/>
            </a:avLst>
          </a:prstGeom>
          <a:solidFill>
            <a:srgbClr val="E3EFF5"/>
          </a:solidFill>
          <a:ln/>
        </p:spPr>
        <p:txBody>
          <a:bodyPr/>
          <a:lstStyle/>
          <a:p>
            <a:endParaRPr lang="en-US"/>
          </a:p>
        </p:txBody>
      </p:sp>
      <p:sp>
        <p:nvSpPr>
          <p:cNvPr id="7" name="Text 5"/>
          <p:cNvSpPr/>
          <p:nvPr/>
        </p:nvSpPr>
        <p:spPr>
          <a:xfrm>
            <a:off x="4707414" y="1976121"/>
            <a:ext cx="2860406"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0407A"/>
                </a:solidFill>
                <a:latin typeface="Arial" pitchFamily="34" charset="0"/>
                <a:ea typeface="Arial" pitchFamily="34" charset="-122"/>
                <a:cs typeface="Arial" pitchFamily="34" charset="-120"/>
              </a:rPr>
              <a:t>Testen</a:t>
            </a:r>
            <a:endParaRPr lang="en-US" sz="2200" dirty="0"/>
          </a:p>
        </p:txBody>
      </p:sp>
      <p:sp>
        <p:nvSpPr>
          <p:cNvPr id="8" name="Text 6"/>
          <p:cNvSpPr/>
          <p:nvPr/>
        </p:nvSpPr>
        <p:spPr>
          <a:xfrm>
            <a:off x="4784122" y="2463800"/>
            <a:ext cx="2776078" cy="1671320"/>
          </a:xfrm>
          <a:prstGeom prst="rect">
            <a:avLst/>
          </a:prstGeom>
          <a:noFill/>
          <a:ln/>
        </p:spPr>
        <p:txBody>
          <a:bodyPr wrap="square" lIns="0" tIns="0" rIns="0" bIns="0" rtlCol="0" anchor="t">
            <a:normAutofit/>
          </a:bodyPr>
          <a:lstStyle/>
          <a:p>
            <a:pPr marL="177292" indent="-177292" algn="l">
              <a:lnSpc>
                <a:spcPts val="2160"/>
              </a:lnSpc>
              <a:buSzPct val="100000"/>
              <a:buChar char="•"/>
            </a:pPr>
            <a:r>
              <a:rPr lang="en-US" sz="1600" dirty="0">
                <a:solidFill>
                  <a:srgbClr val="00407A"/>
                </a:solidFill>
                <a:latin typeface="Arial" pitchFamily="34" charset="0"/>
                <a:ea typeface="Arial" pitchFamily="34" charset="-122"/>
                <a:cs typeface="Arial" pitchFamily="34" charset="-120"/>
              </a:rPr>
              <a:t>Testbenches schrijven</a:t>
            </a:r>
            <a:endParaRPr lang="en-US" sz="1600" dirty="0"/>
          </a:p>
          <a:p>
            <a:pPr marL="177292" indent="-177292" algn="l">
              <a:lnSpc>
                <a:spcPts val="2160"/>
              </a:lnSpc>
              <a:buSzPct val="100000"/>
              <a:buChar char="•"/>
            </a:pPr>
            <a:r>
              <a:rPr lang="en-US" sz="1600" dirty="0">
                <a:solidFill>
                  <a:srgbClr val="00407A"/>
                </a:solidFill>
                <a:latin typeface="Arial" pitchFamily="34" charset="0"/>
                <a:ea typeface="Arial" pitchFamily="34" charset="-122"/>
                <a:cs typeface="Arial" pitchFamily="34" charset="-120"/>
              </a:rPr>
              <a:t>Trage GitHub Actions en vage foutmeldingen</a:t>
            </a:r>
            <a:endParaRPr lang="en-US" sz="1600" dirty="0"/>
          </a:p>
          <a:p>
            <a:pPr marL="177292" indent="-177292" algn="l">
              <a:lnSpc>
                <a:spcPts val="2160"/>
              </a:lnSpc>
              <a:buSzPct val="100000"/>
              <a:buChar char="•"/>
            </a:pPr>
            <a:r>
              <a:rPr lang="en-US" sz="1600" dirty="0">
                <a:solidFill>
                  <a:srgbClr val="00407A"/>
                </a:solidFill>
                <a:latin typeface="Arial" pitchFamily="34" charset="0"/>
                <a:ea typeface="Arial" pitchFamily="34" charset="-122"/>
                <a:cs typeface="Arial" pitchFamily="34" charset="-120"/>
              </a:rPr>
              <a:t>VGA-simulaties van een uur</a:t>
            </a:r>
            <a:endParaRPr lang="en-US" sz="1600" dirty="0"/>
          </a:p>
          <a:p>
            <a:pPr marL="177292" indent="-177292" algn="l">
              <a:lnSpc>
                <a:spcPts val="2160"/>
              </a:lnSpc>
              <a:buSzPct val="100000"/>
              <a:buChar char="•"/>
            </a:pPr>
            <a:r>
              <a:rPr lang="en-US" sz="1600" dirty="0">
                <a:solidFill>
                  <a:srgbClr val="00407A"/>
                </a:solidFill>
                <a:latin typeface="Arial" pitchFamily="34" charset="0"/>
                <a:ea typeface="Arial" pitchFamily="34" charset="-122"/>
                <a:cs typeface="Arial" pitchFamily="34" charset="-120"/>
              </a:rPr>
              <a:t>Hoeveel past er in 1 tile?</a:t>
            </a:r>
            <a:endParaRPr lang="en-US" sz="1600" dirty="0"/>
          </a:p>
        </p:txBody>
      </p:sp>
      <p:sp>
        <p:nvSpPr>
          <p:cNvPr id="9" name="Shape 7"/>
          <p:cNvSpPr/>
          <p:nvPr/>
        </p:nvSpPr>
        <p:spPr>
          <a:xfrm>
            <a:off x="7992507" y="1671321"/>
            <a:ext cx="3386693" cy="3017520"/>
          </a:xfrm>
          <a:prstGeom prst="roundRect">
            <a:avLst>
              <a:gd name="adj" fmla="val 3367"/>
            </a:avLst>
          </a:prstGeom>
          <a:solidFill>
            <a:srgbClr val="E3EFF5"/>
          </a:solidFill>
          <a:ln/>
        </p:spPr>
        <p:txBody>
          <a:bodyPr/>
          <a:lstStyle/>
          <a:p>
            <a:endParaRPr lang="en-US"/>
          </a:p>
        </p:txBody>
      </p:sp>
      <p:sp>
        <p:nvSpPr>
          <p:cNvPr id="10" name="Text 8"/>
          <p:cNvSpPr/>
          <p:nvPr/>
        </p:nvSpPr>
        <p:spPr>
          <a:xfrm>
            <a:off x="8297307" y="1976121"/>
            <a:ext cx="2860406"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0407A"/>
                </a:solidFill>
                <a:latin typeface="Arial" pitchFamily="34" charset="0"/>
                <a:ea typeface="Arial" pitchFamily="34" charset="-122"/>
                <a:cs typeface="Arial" pitchFamily="34" charset="-120"/>
              </a:rPr>
              <a:t>Plannen</a:t>
            </a:r>
            <a:endParaRPr lang="en-US" sz="2200" dirty="0"/>
          </a:p>
        </p:txBody>
      </p:sp>
      <p:sp>
        <p:nvSpPr>
          <p:cNvPr id="11" name="Text 9"/>
          <p:cNvSpPr/>
          <p:nvPr/>
        </p:nvSpPr>
        <p:spPr>
          <a:xfrm>
            <a:off x="8374015" y="2463800"/>
            <a:ext cx="2776078" cy="1122680"/>
          </a:xfrm>
          <a:prstGeom prst="rect">
            <a:avLst/>
          </a:prstGeom>
          <a:noFill/>
          <a:ln/>
        </p:spPr>
        <p:txBody>
          <a:bodyPr wrap="square" lIns="0" tIns="0" rIns="0" bIns="0" rtlCol="0" anchor="t">
            <a:normAutofit/>
          </a:bodyPr>
          <a:lstStyle/>
          <a:p>
            <a:pPr marL="177292" indent="-177292" algn="l">
              <a:lnSpc>
                <a:spcPts val="2160"/>
              </a:lnSpc>
              <a:buSzPct val="100000"/>
              <a:buChar char="•"/>
            </a:pPr>
            <a:r>
              <a:rPr lang="en-US" sz="1600" dirty="0">
                <a:solidFill>
                  <a:srgbClr val="00407A"/>
                </a:solidFill>
                <a:latin typeface="Arial" pitchFamily="34" charset="0"/>
                <a:ea typeface="Arial" pitchFamily="34" charset="-122"/>
                <a:cs typeface="Arial" pitchFamily="34" charset="-120"/>
              </a:rPr>
              <a:t>Onduidelijk wat er per deadline klaar moest zijn</a:t>
            </a:r>
            <a:endParaRPr lang="en-US" sz="1600" dirty="0"/>
          </a:p>
          <a:p>
            <a:pPr marL="177292" indent="-177292" algn="l">
              <a:lnSpc>
                <a:spcPts val="2160"/>
              </a:lnSpc>
              <a:buSzPct val="100000"/>
              <a:buChar char="•"/>
            </a:pPr>
            <a:r>
              <a:rPr lang="en-US" sz="1600" dirty="0">
                <a:solidFill>
                  <a:srgbClr val="00407A"/>
                </a:solidFill>
                <a:latin typeface="Arial" pitchFamily="34" charset="0"/>
                <a:ea typeface="Arial" pitchFamily="34" charset="-122"/>
                <a:cs typeface="Arial" pitchFamily="34" charset="-120"/>
              </a:rPr>
              <a:t>Teamleden niet tegelijk beschikbaar in de vakantie</a:t>
            </a:r>
            <a:endParaRPr lang="en-US" sz="1600" dirty="0"/>
          </a:p>
        </p:txBody>
      </p:sp>
      <p:sp>
        <p:nvSpPr>
          <p:cNvPr id="12" name="Text 10"/>
          <p:cNvSpPr/>
          <p:nvPr/>
        </p:nvSpPr>
        <p:spPr>
          <a:xfrm>
            <a:off x="812800" y="5044439"/>
            <a:ext cx="9810750" cy="309880"/>
          </a:xfrm>
          <a:prstGeom prst="rect">
            <a:avLst/>
          </a:prstGeom>
          <a:noFill/>
          <a:ln/>
        </p:spPr>
        <p:txBody>
          <a:bodyPr wrap="square" lIns="0" tIns="0" rIns="0" bIns="0" rtlCol="0" anchor="t">
            <a:normAutofit/>
          </a:bodyPr>
          <a:lstStyle/>
          <a:p>
            <a:pPr marL="0" indent="0" algn="l">
              <a:lnSpc>
                <a:spcPts val="2240"/>
              </a:lnSpc>
              <a:buNone/>
            </a:pPr>
            <a:r>
              <a:rPr lang="en-US" b="1" dirty="0">
                <a:solidFill>
                  <a:srgbClr val="4A5A66"/>
                </a:solidFill>
                <a:latin typeface="Arial" pitchFamily="34" charset="0"/>
                <a:ea typeface="Arial" pitchFamily="34" charset="-122"/>
                <a:cs typeface="Arial" pitchFamily="34" charset="-120"/>
              </a:rPr>
              <a:t>De begeleiding kreeg veel lof:</a:t>
            </a:r>
            <a:r>
              <a:rPr lang="en-US" dirty="0">
                <a:solidFill>
                  <a:srgbClr val="4A5A66"/>
                </a:solidFill>
                <a:latin typeface="Arial" pitchFamily="34" charset="0"/>
                <a:ea typeface="Arial" pitchFamily="34" charset="-122"/>
                <a:cs typeface="Arial" pitchFamily="34" charset="-120"/>
              </a:rPr>
              <a:t> de assistent per groep was bijna altijd bereikbaar.</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E3EFF5"/>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407A"/>
                </a:solidFill>
                <a:latin typeface="Arial" pitchFamily="34" charset="0"/>
                <a:ea typeface="Arial" pitchFamily="34" charset="-122"/>
                <a:cs typeface="Arial" pitchFamily="34" charset="-120"/>
              </a:rPr>
              <a:t>Volgend jaar</a:t>
            </a:r>
            <a:endParaRPr lang="en-US" sz="3600" dirty="0"/>
          </a:p>
        </p:txBody>
      </p:sp>
      <p:sp>
        <p:nvSpPr>
          <p:cNvPr id="3" name="Shape 1"/>
          <p:cNvSpPr/>
          <p:nvPr/>
        </p:nvSpPr>
        <p:spPr>
          <a:xfrm>
            <a:off x="812800" y="1671321"/>
            <a:ext cx="5181600" cy="2854960"/>
          </a:xfrm>
          <a:prstGeom prst="roundRect">
            <a:avLst>
              <a:gd name="adj" fmla="val 3559"/>
            </a:avLst>
          </a:prstGeom>
          <a:solidFill>
            <a:srgbClr val="F4F8FA"/>
          </a:solidFill>
          <a:ln/>
        </p:spPr>
        <p:txBody>
          <a:bodyPr/>
          <a:lstStyle/>
          <a:p>
            <a:endParaRPr lang="en-US"/>
          </a:p>
        </p:txBody>
      </p:sp>
      <p:sp>
        <p:nvSpPr>
          <p:cNvPr id="4" name="Shape 2"/>
          <p:cNvSpPr/>
          <p:nvPr/>
        </p:nvSpPr>
        <p:spPr>
          <a:xfrm>
            <a:off x="812800" y="1671321"/>
            <a:ext cx="5181600" cy="2854960"/>
          </a:xfrm>
          <a:custGeom>
            <a:avLst/>
            <a:gdLst/>
            <a:ahLst/>
            <a:cxnLst/>
            <a:rect l="l" t="t" r="r" b="b"/>
            <a:pathLst>
              <a:path w="5181600" h="285496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00407A"/>
          </a:solidFill>
          <a:ln/>
        </p:spPr>
        <p:txBody>
          <a:bodyPr/>
          <a:lstStyle/>
          <a:p>
            <a:endParaRPr lang="en-US"/>
          </a:p>
        </p:txBody>
      </p:sp>
      <p:sp>
        <p:nvSpPr>
          <p:cNvPr id="5" name="Text 3"/>
          <p:cNvSpPr/>
          <p:nvPr/>
        </p:nvSpPr>
        <p:spPr>
          <a:xfrm>
            <a:off x="1117600" y="2026921"/>
            <a:ext cx="470916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0407A"/>
                </a:solidFill>
                <a:latin typeface="Arial" pitchFamily="34" charset="0"/>
                <a:ea typeface="Arial" pitchFamily="34" charset="-122"/>
                <a:cs typeface="Arial" pitchFamily="34" charset="-120"/>
              </a:rPr>
              <a:t>Dit blijft</a:t>
            </a:r>
            <a:endParaRPr lang="en-US" sz="2200" dirty="0"/>
          </a:p>
        </p:txBody>
      </p:sp>
      <p:sp>
        <p:nvSpPr>
          <p:cNvPr id="6" name="Text 4"/>
          <p:cNvSpPr/>
          <p:nvPr/>
        </p:nvSpPr>
        <p:spPr>
          <a:xfrm>
            <a:off x="1194308" y="2514600"/>
            <a:ext cx="4624832" cy="173228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00407A"/>
                </a:solidFill>
                <a:latin typeface="Arial" pitchFamily="34" charset="0"/>
                <a:ea typeface="Arial" pitchFamily="34" charset="-122"/>
                <a:cs typeface="Arial" pitchFamily="34" charset="-120"/>
              </a:rPr>
              <a:t>Kick-off dag en brainstormlunch om teams te vormen</a:t>
            </a:r>
            <a:endParaRPr lang="en-US" sz="1600" dirty="0"/>
          </a:p>
          <a:p>
            <a:pPr marL="177292" indent="-177292" algn="l">
              <a:lnSpc>
                <a:spcPts val="2240"/>
              </a:lnSpc>
              <a:buSzPct val="100000"/>
              <a:buChar char="•"/>
            </a:pPr>
            <a:r>
              <a:rPr lang="en-US" sz="1600" dirty="0">
                <a:solidFill>
                  <a:srgbClr val="00407A"/>
                </a:solidFill>
                <a:latin typeface="Arial" pitchFamily="34" charset="0"/>
                <a:ea typeface="Arial" pitchFamily="34" charset="-122"/>
                <a:cs typeface="Arial" pitchFamily="34" charset="-120"/>
              </a:rPr>
              <a:t>Een assistent per groep</a:t>
            </a:r>
            <a:endParaRPr lang="en-US" sz="1600" dirty="0"/>
          </a:p>
          <a:p>
            <a:pPr marL="177292" indent="-177292" algn="l">
              <a:lnSpc>
                <a:spcPts val="2240"/>
              </a:lnSpc>
              <a:buSzPct val="100000"/>
              <a:buChar char="•"/>
            </a:pPr>
            <a:r>
              <a:rPr lang="en-US" sz="1600" dirty="0">
                <a:solidFill>
                  <a:srgbClr val="00407A"/>
                </a:solidFill>
                <a:latin typeface="Arial" pitchFamily="34" charset="0"/>
                <a:ea typeface="Arial" pitchFamily="34" charset="-122"/>
                <a:cs typeface="Arial" pitchFamily="34" charset="-120"/>
              </a:rPr>
              <a:t>Ontwerpen in de zomer, op eigen tempo (15 van 18 kozen dat)</a:t>
            </a:r>
            <a:endParaRPr lang="en-US" sz="1600" dirty="0"/>
          </a:p>
          <a:p>
            <a:pPr marL="177292" indent="-177292" algn="l">
              <a:lnSpc>
                <a:spcPts val="2240"/>
              </a:lnSpc>
              <a:buSzPct val="100000"/>
              <a:buChar char="•"/>
            </a:pPr>
            <a:r>
              <a:rPr lang="en-US" sz="1600" dirty="0">
                <a:solidFill>
                  <a:srgbClr val="00407A"/>
                </a:solidFill>
                <a:latin typeface="Arial" pitchFamily="34" charset="0"/>
                <a:ea typeface="Arial" pitchFamily="34" charset="-122"/>
                <a:cs typeface="Arial" pitchFamily="34" charset="-120"/>
              </a:rPr>
              <a:t>Dry run</a:t>
            </a:r>
            <a:endParaRPr lang="en-US" sz="1600" dirty="0"/>
          </a:p>
        </p:txBody>
      </p:sp>
      <p:sp>
        <p:nvSpPr>
          <p:cNvPr id="7" name="Shape 5"/>
          <p:cNvSpPr/>
          <p:nvPr/>
        </p:nvSpPr>
        <p:spPr>
          <a:xfrm>
            <a:off x="6197600" y="1671321"/>
            <a:ext cx="5181600" cy="2854960"/>
          </a:xfrm>
          <a:prstGeom prst="roundRect">
            <a:avLst>
              <a:gd name="adj" fmla="val 3559"/>
            </a:avLst>
          </a:prstGeom>
          <a:solidFill>
            <a:srgbClr val="F4F8FA"/>
          </a:solidFill>
          <a:ln/>
        </p:spPr>
        <p:txBody>
          <a:bodyPr/>
          <a:lstStyle/>
          <a:p>
            <a:endParaRPr lang="en-US"/>
          </a:p>
        </p:txBody>
      </p:sp>
      <p:sp>
        <p:nvSpPr>
          <p:cNvPr id="8" name="Shape 6"/>
          <p:cNvSpPr/>
          <p:nvPr/>
        </p:nvSpPr>
        <p:spPr>
          <a:xfrm>
            <a:off x="6197600" y="1671321"/>
            <a:ext cx="5181600" cy="2854960"/>
          </a:xfrm>
          <a:custGeom>
            <a:avLst/>
            <a:gdLst/>
            <a:ahLst/>
            <a:cxnLst/>
            <a:rect l="l" t="t" r="r" b="b"/>
            <a:pathLst>
              <a:path w="5181600" h="285496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1D8DB0"/>
          </a:solidFill>
          <a:ln/>
        </p:spPr>
        <p:txBody>
          <a:bodyPr/>
          <a:lstStyle/>
          <a:p>
            <a:endParaRPr lang="en-US"/>
          </a:p>
        </p:txBody>
      </p:sp>
      <p:sp>
        <p:nvSpPr>
          <p:cNvPr id="9" name="Text 7"/>
          <p:cNvSpPr/>
          <p:nvPr/>
        </p:nvSpPr>
        <p:spPr>
          <a:xfrm>
            <a:off x="6502400" y="2026921"/>
            <a:ext cx="470916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0407A"/>
                </a:solidFill>
                <a:latin typeface="Arial" pitchFamily="34" charset="0"/>
                <a:ea typeface="Arial" pitchFamily="34" charset="-122"/>
                <a:cs typeface="Arial" pitchFamily="34" charset="-120"/>
              </a:rPr>
              <a:t>Dit willen we verbeteren</a:t>
            </a:r>
            <a:endParaRPr lang="en-US" sz="2200" dirty="0"/>
          </a:p>
        </p:txBody>
      </p:sp>
      <p:sp>
        <p:nvSpPr>
          <p:cNvPr id="10" name="Text 8"/>
          <p:cNvSpPr/>
          <p:nvPr/>
        </p:nvSpPr>
        <p:spPr>
          <a:xfrm>
            <a:off x="6579108" y="2514600"/>
            <a:ext cx="4624832" cy="173228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00407A"/>
                </a:solidFill>
                <a:latin typeface="Arial" pitchFamily="34" charset="0"/>
                <a:ea typeface="Arial" pitchFamily="34" charset="-122"/>
                <a:cs typeface="Arial" pitchFamily="34" charset="-120"/>
              </a:rPr>
              <a:t>Vroeger aankondigen en starten</a:t>
            </a:r>
            <a:endParaRPr lang="en-US" sz="1600" dirty="0"/>
          </a:p>
          <a:p>
            <a:pPr marL="177292" indent="-177292" algn="l">
              <a:lnSpc>
                <a:spcPts val="2240"/>
              </a:lnSpc>
              <a:buSzPct val="100000"/>
              <a:buChar char="•"/>
            </a:pPr>
            <a:r>
              <a:rPr lang="en-US" sz="1600" dirty="0">
                <a:solidFill>
                  <a:srgbClr val="00407A"/>
                </a:solidFill>
                <a:latin typeface="Arial" pitchFamily="34" charset="0"/>
                <a:ea typeface="Arial" pitchFamily="34" charset="-122"/>
                <a:cs typeface="Arial" pitchFamily="34" charset="-120"/>
              </a:rPr>
              <a:t>Startpakket: projectstructuur, testbench-voorbeelden, VGA-simulatietool</a:t>
            </a:r>
            <a:endParaRPr lang="en-US" sz="1600" dirty="0"/>
          </a:p>
          <a:p>
            <a:pPr marL="177292" indent="-177292" algn="l">
              <a:lnSpc>
                <a:spcPts val="2240"/>
              </a:lnSpc>
              <a:buSzPct val="100000"/>
              <a:buChar char="•"/>
            </a:pPr>
            <a:r>
              <a:rPr lang="en-US" sz="1600" dirty="0">
                <a:solidFill>
                  <a:srgbClr val="00407A"/>
                </a:solidFill>
                <a:latin typeface="Arial" pitchFamily="34" charset="0"/>
                <a:ea typeface="Arial" pitchFamily="34" charset="-122"/>
                <a:cs typeface="Arial" pitchFamily="34" charset="-120"/>
              </a:rPr>
              <a:t>Per deadline duidelijk wat je oplevert</a:t>
            </a:r>
            <a:endParaRPr lang="en-US" sz="1600" dirty="0"/>
          </a:p>
          <a:p>
            <a:pPr marL="177292" indent="-177292" algn="l">
              <a:lnSpc>
                <a:spcPts val="2240"/>
              </a:lnSpc>
              <a:buSzPct val="100000"/>
              <a:buChar char="•"/>
            </a:pPr>
            <a:r>
              <a:rPr lang="en-US" sz="1600" dirty="0">
                <a:solidFill>
                  <a:srgbClr val="00407A"/>
                </a:solidFill>
                <a:latin typeface="Arial" pitchFamily="34" charset="0"/>
                <a:ea typeface="Arial" pitchFamily="34" charset="-122"/>
                <a:cs typeface="Arial" pitchFamily="34" charset="-120"/>
              </a:rPr>
              <a:t>Een tussenmoment met alle teams</a:t>
            </a:r>
            <a:endParaRPr lang="en-US" sz="1600" dirty="0"/>
          </a:p>
          <a:p>
            <a:pPr marL="177292" indent="-177292" algn="l">
              <a:lnSpc>
                <a:spcPts val="2240"/>
              </a:lnSpc>
              <a:buSzPct val="100000"/>
              <a:buChar char="•"/>
            </a:pPr>
            <a:r>
              <a:rPr lang="en-US" sz="1600" dirty="0">
                <a:solidFill>
                  <a:srgbClr val="00407A"/>
                </a:solidFill>
                <a:latin typeface="Arial" pitchFamily="34" charset="0"/>
                <a:ea typeface="Arial" pitchFamily="34" charset="-122"/>
                <a:cs typeface="Arial" pitchFamily="34" charset="-120"/>
              </a:rPr>
              <a:t>Jullie chips als voorbeelden in de intro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4F8F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407A"/>
                </a:solidFill>
                <a:latin typeface="Arial" pitchFamily="34" charset="0"/>
                <a:ea typeface="Arial" pitchFamily="34" charset="-122"/>
                <a:cs typeface="Arial" pitchFamily="34" charset="-120"/>
              </a:rPr>
              <a:t>Jullie chips opmeten</a:t>
            </a:r>
            <a:endParaRPr lang="en-US" sz="3600" dirty="0"/>
          </a:p>
        </p:txBody>
      </p:sp>
      <p:sp>
        <p:nvSpPr>
          <p:cNvPr id="3" name="Text 1"/>
          <p:cNvSpPr/>
          <p:nvPr/>
        </p:nvSpPr>
        <p:spPr>
          <a:xfrm>
            <a:off x="812800" y="1620521"/>
            <a:ext cx="457835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407A"/>
                </a:solidFill>
                <a:latin typeface="Arial" pitchFamily="34" charset="0"/>
                <a:ea typeface="Arial" pitchFamily="34" charset="-122"/>
                <a:cs typeface="Arial" pitchFamily="34" charset="-120"/>
              </a:rPr>
              <a:t>LEVERING</a:t>
            </a:r>
            <a:endParaRPr lang="en-US" sz="1200" dirty="0"/>
          </a:p>
        </p:txBody>
      </p:sp>
      <p:sp>
        <p:nvSpPr>
          <p:cNvPr id="4" name="Text 2"/>
          <p:cNvSpPr/>
          <p:nvPr/>
        </p:nvSpPr>
        <p:spPr>
          <a:xfrm>
            <a:off x="812800" y="1884682"/>
            <a:ext cx="457835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0407A"/>
                </a:solidFill>
                <a:latin typeface="Arial" pitchFamily="34" charset="0"/>
                <a:ea typeface="Arial" pitchFamily="34" charset="-122"/>
                <a:cs typeface="Arial" pitchFamily="34" charset="-120"/>
              </a:rPr>
              <a:t>Tweede helft mei 2027</a:t>
            </a:r>
            <a:endParaRPr lang="en-US" sz="2200" dirty="0"/>
          </a:p>
        </p:txBody>
      </p:sp>
      <p:sp>
        <p:nvSpPr>
          <p:cNvPr id="5" name="Text 3"/>
          <p:cNvSpPr/>
          <p:nvPr/>
        </p:nvSpPr>
        <p:spPr>
          <a:xfrm>
            <a:off x="812800" y="2423161"/>
            <a:ext cx="457835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407A"/>
                </a:solidFill>
                <a:latin typeface="Arial" pitchFamily="34" charset="0"/>
                <a:ea typeface="Arial" pitchFamily="34" charset="-122"/>
                <a:cs typeface="Arial" pitchFamily="34" charset="-120"/>
              </a:rPr>
              <a:t>WANNEER JULLIE WILLEN METEN</a:t>
            </a:r>
            <a:endParaRPr lang="en-US" sz="1200" dirty="0"/>
          </a:p>
        </p:txBody>
      </p:sp>
      <p:sp>
        <p:nvSpPr>
          <p:cNvPr id="6" name="Text 4"/>
          <p:cNvSpPr/>
          <p:nvPr/>
        </p:nvSpPr>
        <p:spPr>
          <a:xfrm>
            <a:off x="812800" y="2687321"/>
            <a:ext cx="4578350"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0407A"/>
                </a:solidFill>
                <a:latin typeface="Arial" pitchFamily="34" charset="0"/>
                <a:ea typeface="Arial" pitchFamily="34" charset="-122"/>
                <a:cs typeface="Arial" pitchFamily="34" charset="-120"/>
              </a:rPr>
              <a:t>8 × einde tweede semester</a:t>
            </a:r>
            <a:endParaRPr lang="en-US" sz="1600" dirty="0"/>
          </a:p>
          <a:p>
            <a:pPr marL="0" indent="0" algn="l">
              <a:lnSpc>
                <a:spcPts val="2240"/>
              </a:lnSpc>
              <a:buNone/>
            </a:pPr>
            <a:r>
              <a:rPr lang="en-US" sz="1600" dirty="0">
                <a:solidFill>
                  <a:srgbClr val="00407A"/>
                </a:solidFill>
                <a:latin typeface="Arial" pitchFamily="34" charset="0"/>
                <a:ea typeface="Arial" pitchFamily="34" charset="-122"/>
                <a:cs typeface="Arial" pitchFamily="34" charset="-120"/>
              </a:rPr>
              <a:t>6 × zomer 2027</a:t>
            </a:r>
            <a:endParaRPr lang="en-US" sz="1600" dirty="0"/>
          </a:p>
          <a:p>
            <a:pPr marL="0" indent="0" algn="l">
              <a:lnSpc>
                <a:spcPts val="2240"/>
              </a:lnSpc>
              <a:buNone/>
            </a:pPr>
            <a:r>
              <a:rPr lang="en-US" sz="1600" dirty="0">
                <a:solidFill>
                  <a:srgbClr val="00407A"/>
                </a:solidFill>
                <a:latin typeface="Arial" pitchFamily="34" charset="0"/>
                <a:ea typeface="Arial" pitchFamily="34" charset="-122"/>
                <a:cs typeface="Arial" pitchFamily="34" charset="-120"/>
              </a:rPr>
              <a:t>4 × eerste semester 2027-28</a:t>
            </a:r>
            <a:endParaRPr lang="en-US" sz="1600" dirty="0"/>
          </a:p>
        </p:txBody>
      </p:sp>
      <p:sp>
        <p:nvSpPr>
          <p:cNvPr id="7" name="Text 5"/>
          <p:cNvSpPr/>
          <p:nvPr/>
        </p:nvSpPr>
        <p:spPr>
          <a:xfrm>
            <a:off x="812800" y="3743961"/>
            <a:ext cx="457835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A66"/>
                </a:solidFill>
                <a:latin typeface="Arial" pitchFamily="34" charset="0"/>
                <a:ea typeface="Arial" pitchFamily="34" charset="-122"/>
                <a:cs typeface="Arial" pitchFamily="34" charset="-120"/>
              </a:rPr>
              <a:t>We plannen de meetmomenten per team en laten jullie nog weten wanneer.</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4053163487"/>
              </p:ext>
            </p:extLst>
          </p:nvPr>
        </p:nvGraphicFramePr>
        <p:xfrm>
          <a:off x="5674360" y="1630681"/>
          <a:ext cx="5704840" cy="2854960"/>
        </p:xfrm>
        <a:graphic>
          <a:graphicData uri="http://schemas.openxmlformats.org/drawingml/2006/table">
            <a:tbl>
              <a:tblPr/>
              <a:tblGrid>
                <a:gridCol w="2852420">
                  <a:extLst>
                    <a:ext uri="{9D8B030D-6E8A-4147-A177-3AD203B41FA5}">
                      <a16:colId xmlns:a16="http://schemas.microsoft.com/office/drawing/2014/main" val="20000"/>
                    </a:ext>
                  </a:extLst>
                </a:gridCol>
                <a:gridCol w="2852420">
                  <a:extLst>
                    <a:ext uri="{9D8B030D-6E8A-4147-A177-3AD203B41FA5}">
                      <a16:colId xmlns:a16="http://schemas.microsoft.com/office/drawing/2014/main" val="20001"/>
                    </a:ext>
                  </a:extLst>
                </a:gridCol>
              </a:tblGrid>
              <a:tr h="356870">
                <a:tc>
                  <a:txBody>
                    <a:bodyPr/>
                    <a:lstStyle/>
                    <a:p>
                      <a:pPr marL="0" indent="0">
                        <a:lnSpc>
                          <a:spcPts val="1820"/>
                        </a:lnSpc>
                        <a:buNone/>
                      </a:pPr>
                      <a:r>
                        <a:rPr lang="en-US" sz="1600" b="1" dirty="0">
                          <a:solidFill>
                            <a:srgbClr val="F4F8FA"/>
                          </a:solidFill>
                          <a:latin typeface="Arial" pitchFamily="34" charset="0"/>
                          <a:ea typeface="Arial" pitchFamily="34" charset="-122"/>
                          <a:cs typeface="Arial" pitchFamily="34" charset="-120"/>
                        </a:rPr>
                        <a:t>Team</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043663"/>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043663"/>
                      </a:solidFill>
                      <a:prstDash val="solid"/>
                      <a:round/>
                      <a:headEnd type="none" w="med" len="med"/>
                      <a:tailEnd type="none" w="med" len="med"/>
                    </a:lnB>
                    <a:solidFill>
                      <a:srgbClr val="00407A"/>
                    </a:solidFill>
                  </a:tcPr>
                </a:tc>
                <a:tc>
                  <a:txBody>
                    <a:bodyPr/>
                    <a:lstStyle/>
                    <a:p>
                      <a:pPr marL="0" indent="0">
                        <a:lnSpc>
                          <a:spcPts val="1820"/>
                        </a:lnSpc>
                        <a:buNone/>
                      </a:pPr>
                      <a:r>
                        <a:rPr lang="en-US" sz="1600" b="1" dirty="0">
                          <a:solidFill>
                            <a:srgbClr val="F4F8FA"/>
                          </a:solidFill>
                          <a:latin typeface="Arial" pitchFamily="34" charset="0"/>
                          <a:ea typeface="Arial" pitchFamily="34" charset="-122"/>
                          <a:cs typeface="Arial" pitchFamily="34" charset="-120"/>
                        </a:rPr>
                        <a:t>Pmods</a:t>
                      </a:r>
                      <a:endParaRPr lang="en-US" sz="1600" dirty="0">
                        <a:latin typeface="Arial" charset="0"/>
                        <a:ea typeface="Arial" charset="0"/>
                        <a:cs typeface="Arial" charset="0"/>
                      </a:endParaRPr>
                    </a:p>
                  </a:txBody>
                  <a:tcPr marL="57785" marR="57785" marT="57785" marB="57785">
                    <a:lnL w="12700" cap="flat" cmpd="sng" algn="ctr">
                      <a:solidFill>
                        <a:srgbClr val="043663"/>
                      </a:solidFill>
                      <a:prstDash val="solid"/>
                      <a:round/>
                      <a:headEnd type="none" w="med" len="med"/>
                      <a:tailEnd type="none" w="med" len="med"/>
                    </a:lnL>
                    <a:lnR w="12700" cap="flat" cmpd="sng" algn="ctr">
                      <a:solidFill>
                        <a:srgbClr val="043663"/>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043663"/>
                      </a:solidFill>
                      <a:prstDash val="solid"/>
                      <a:round/>
                      <a:headEnd type="none" w="med" len="med"/>
                      <a:tailEnd type="none" w="med" len="med"/>
                    </a:lnB>
                    <a:solidFill>
                      <a:srgbClr val="00407A"/>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Conway’s Game of Life</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043663"/>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TinyVGA</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043663"/>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SeeTheBeat</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TinyVGA</a:t>
                      </a:r>
                      <a:endParaRPr lang="en-US" sz="1600" dirty="0">
                        <a:latin typeface="Arial" charset="0"/>
                        <a:ea typeface="Arial" charset="0"/>
                        <a:cs typeface="Arial" charset="0"/>
                      </a:endParaRPr>
                    </a:p>
                  </a:txBody>
                  <a:tcPr marL="57785" marR="57785" marT="57785" marB="57785">
                    <a:lnL w="12700" cap="flat" cmpd="sng" algn="ctr">
                      <a:solidFill>
                        <a:srgbClr val="B5BFC3"/>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NeuroPong</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TinyVGA</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We Tama-Got-This</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TinyVGA, Gamepad, Audio</a:t>
                      </a:r>
                      <a:endParaRPr lang="en-US" sz="1600" dirty="0">
                        <a:latin typeface="Arial" charset="0"/>
                        <a:ea typeface="Arial" charset="0"/>
                        <a:cs typeface="Arial" charset="0"/>
                      </a:endParaRPr>
                    </a:p>
                  </a:txBody>
                  <a:tcPr marL="57785" marR="57785" marT="57785" marB="57785">
                    <a:lnL w="12700" cap="flat" cmpd="sng" algn="ctr">
                      <a:solidFill>
                        <a:srgbClr val="B5BFC3"/>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Wish.com (</a:t>
                      </a:r>
                      <a:r>
                        <a:rPr lang="en-US" sz="1600" dirty="0" err="1">
                          <a:solidFill>
                            <a:srgbClr val="00407A"/>
                          </a:solidFill>
                          <a:latin typeface="Arial" pitchFamily="34" charset="0"/>
                          <a:ea typeface="Arial" pitchFamily="34" charset="-122"/>
                          <a:cs typeface="Arial" pitchFamily="34" charset="-120"/>
                        </a:rPr>
                        <a:t>Dragonochi</a:t>
                      </a:r>
                      <a:r>
                        <a:rPr lang="en-US" sz="1600" dirty="0">
                          <a:solidFill>
                            <a:srgbClr val="00407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TinyVGA, Gamepad</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FC3"/>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Silicon Sonics</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extLst>
                  <a:ext uri="{0D108BD9-81ED-4DB2-BD59-A6C34878D82A}">
                    <a16:rowId xmlns:a16="http://schemas.microsoft.com/office/drawing/2014/main" val="10007"/>
                  </a:ext>
                </a:extLst>
              </a:tr>
              <a:tr h="356870">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Chrome Chain</a:t>
                      </a:r>
                      <a:endParaRPr lang="en-US" sz="1600" dirty="0">
                        <a:latin typeface="Arial" charset="0"/>
                        <a:ea typeface="Arial" charset="0"/>
                        <a:cs typeface="Arial" charset="0"/>
                      </a:endParaRPr>
                    </a:p>
                  </a:txBody>
                  <a:tcPr marL="57785" marR="57785" marT="57785" marB="57785">
                    <a:lnL w="12700" cap="flat" cmpd="sng" algn="ctr">
                      <a:solidFill>
                        <a:srgbClr val="C3C6C7"/>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tc>
                  <a:txBody>
                    <a:bodyPr/>
                    <a:lstStyle/>
                    <a:p>
                      <a:pPr marL="0" indent="0">
                        <a:lnSpc>
                          <a:spcPts val="1820"/>
                        </a:lnSpc>
                        <a:buNone/>
                      </a:pPr>
                      <a:r>
                        <a:rPr lang="en-US" sz="1600" dirty="0">
                          <a:solidFill>
                            <a:srgbClr val="00407A"/>
                          </a:solidFill>
                          <a:latin typeface="Arial" pitchFamily="34" charset="0"/>
                          <a:ea typeface="Arial" pitchFamily="34" charset="-122"/>
                          <a:cs typeface="Arial" pitchFamily="34" charset="-120"/>
                        </a:rPr>
                        <a:t>/ ?</a:t>
                      </a:r>
                      <a:endParaRPr lang="en-US" sz="1600" dirty="0">
                        <a:latin typeface="Arial" charset="0"/>
                        <a:ea typeface="Arial" charset="0"/>
                        <a:cs typeface="Arial" charset="0"/>
                      </a:endParaRPr>
                    </a:p>
                  </a:txBody>
                  <a:tcPr marL="57785" marR="57785" marT="57785" marB="57785">
                    <a:lnL w="12700" cap="flat" cmpd="sng" algn="ctr">
                      <a:solidFill>
                        <a:srgbClr val="B5BFC3"/>
                      </a:solidFill>
                      <a:prstDash val="solid"/>
                      <a:round/>
                      <a:headEnd type="none" w="med" len="med"/>
                      <a:tailEnd type="none" w="med" len="med"/>
                    </a:lnL>
                    <a:lnR w="12700" cap="flat" cmpd="sng" algn="ctr">
                      <a:solidFill>
                        <a:srgbClr val="B5BFC3"/>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FC3"/>
                      </a:solidFill>
                      <a:prstDash val="solid"/>
                      <a:round/>
                      <a:headEnd type="none" w="med" len="med"/>
                      <a:tailEnd type="none" w="med" len="med"/>
                    </a:lnB>
                    <a:solidFill>
                      <a:srgbClr val="E3EFF5"/>
                    </a:solidFill>
                  </a:tcPr>
                </a:tc>
                <a:extLst>
                  <a:ext uri="{0D108BD9-81ED-4DB2-BD59-A6C34878D82A}">
                    <a16:rowId xmlns:a16="http://schemas.microsoft.com/office/drawing/2014/main" val="10008"/>
                  </a:ext>
                </a:extLst>
              </a:tr>
            </a:tbl>
          </a:graphicData>
        </a:graphic>
      </p:graphicFrame>
      <p:sp>
        <p:nvSpPr>
          <p:cNvPr id="9" name="Text 6"/>
          <p:cNvSpPr/>
          <p:nvPr/>
        </p:nvSpPr>
        <p:spPr>
          <a:xfrm>
            <a:off x="5664200" y="4944111"/>
            <a:ext cx="5886450" cy="238760"/>
          </a:xfrm>
          <a:prstGeom prst="rect">
            <a:avLst/>
          </a:prstGeom>
          <a:noFill/>
          <a:ln/>
        </p:spPr>
        <p:txBody>
          <a:bodyPr wrap="square" lIns="0" tIns="0" rIns="0" bIns="0" rtlCol="0" anchor="t">
            <a:normAutofit/>
          </a:bodyPr>
          <a:lstStyle/>
          <a:p>
            <a:pPr marL="0" indent="0" algn="l">
              <a:lnSpc>
                <a:spcPts val="1680"/>
              </a:lnSpc>
              <a:buNone/>
            </a:pPr>
            <a:r>
              <a:rPr lang="en-US" b="1" dirty="0">
                <a:solidFill>
                  <a:srgbClr val="C00000"/>
                </a:solidFill>
                <a:latin typeface="Arial" pitchFamily="34" charset="0"/>
                <a:ea typeface="Arial" pitchFamily="34" charset="-122"/>
                <a:cs typeface="Arial" pitchFamily="34" charset="-120"/>
              </a:rPr>
              <a:t>Klopt jullie lijn niet? Laat het ons weten.</a:t>
            </a:r>
            <a:endParaRPr lang="en-US" b="1" dirty="0">
              <a:solidFill>
                <a:srgbClr val="C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0407A"/>
        </a:solidFill>
        <a:effectLst/>
      </p:bgPr>
    </p:bg>
    <p:spTree>
      <p:nvGrpSpPr>
        <p:cNvPr id="1" name=""/>
        <p:cNvGrpSpPr/>
        <p:nvPr/>
      </p:nvGrpSpPr>
      <p:grpSpPr>
        <a:xfrm>
          <a:off x="0" y="0"/>
          <a:ext cx="0" cy="0"/>
          <a:chOff x="0" y="0"/>
          <a:chExt cx="0" cy="0"/>
        </a:xfrm>
      </p:grpSpPr>
      <p:sp>
        <p:nvSpPr>
          <p:cNvPr id="2" name="Shape 0"/>
          <p:cNvSpPr/>
          <p:nvPr/>
        </p:nvSpPr>
        <p:spPr>
          <a:xfrm>
            <a:off x="8509000" y="3175000"/>
            <a:ext cx="2870200" cy="2870200"/>
          </a:xfrm>
          <a:prstGeom prst="rect">
            <a:avLst/>
          </a:prstGeom>
          <a:gradFill rotWithShape="1">
            <a:gsLst>
              <a:gs pos="0">
                <a:srgbClr val="0B5A93">
                  <a:alpha val="90000"/>
                </a:srgbClr>
              </a:gs>
              <a:gs pos="5000">
                <a:srgbClr val="0B5A93">
                  <a:alpha val="90000"/>
                </a:srgbClr>
              </a:gs>
              <a:gs pos="5000">
                <a:srgbClr val="0B5A93">
                  <a:alpha val="0"/>
                </a:srgbClr>
              </a:gs>
              <a:gs pos="100000">
                <a:srgbClr val="000000">
                  <a:alpha val="0"/>
                </a:srgbClr>
              </a:gs>
            </a:gsLst>
            <a:lin ang="16200000" scaled="0"/>
          </a:gradFill>
          <a:ln/>
        </p:spPr>
        <p:txBody>
          <a:bodyPr/>
          <a:lstStyle/>
          <a:p>
            <a:endParaRPr lang="en-US"/>
          </a:p>
        </p:txBody>
      </p:sp>
      <p:sp>
        <p:nvSpPr>
          <p:cNvPr id="3" name="Text 1"/>
          <p:cNvSpPr>
            <a:spLocks noGrp="1"/>
          </p:cNvSpPr>
          <p:nvPr>
            <p:ph type="title"/>
          </p:nvPr>
        </p:nvSpPr>
        <p:spPr>
          <a:xfrm>
            <a:off x="812800" y="2510789"/>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4F8FA"/>
                </a:solidFill>
                <a:latin typeface="Arial" pitchFamily="34" charset="0"/>
                <a:ea typeface="Arial" pitchFamily="34" charset="-122"/>
                <a:cs typeface="Arial" pitchFamily="34" charset="-120"/>
              </a:rPr>
              <a:t>Bedankt!</a:t>
            </a:r>
            <a:endParaRPr lang="en-US" sz="6000" dirty="0"/>
          </a:p>
        </p:txBody>
      </p:sp>
      <p:sp>
        <p:nvSpPr>
          <p:cNvPr id="4" name="Text 2"/>
          <p:cNvSpPr/>
          <p:nvPr/>
        </p:nvSpPr>
        <p:spPr>
          <a:xfrm>
            <a:off x="812800" y="3564889"/>
            <a:ext cx="7848600" cy="8077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FDDEC"/>
                </a:solidFill>
                <a:latin typeface="Arial" pitchFamily="34" charset="0"/>
                <a:ea typeface="Arial" pitchFamily="34" charset="-122"/>
                <a:cs typeface="Arial" pitchFamily="34" charset="-120"/>
              </a:rPr>
              <a:t>Voor </a:t>
            </a:r>
            <a:r>
              <a:rPr lang="en-US" sz="2200" dirty="0" err="1">
                <a:solidFill>
                  <a:srgbClr val="BFDDEC"/>
                </a:solidFill>
                <a:latin typeface="Arial" pitchFamily="34" charset="0"/>
                <a:ea typeface="Arial" pitchFamily="34" charset="-122"/>
                <a:cs typeface="Arial" pitchFamily="34" charset="-120"/>
              </a:rPr>
              <a:t>jullie</a:t>
            </a:r>
            <a:r>
              <a:rPr lang="en-US" sz="2200" dirty="0">
                <a:solidFill>
                  <a:srgbClr val="BFDDEC"/>
                </a:solidFill>
                <a:latin typeface="Arial" pitchFamily="34" charset="0"/>
                <a:ea typeface="Arial" pitchFamily="34" charset="-122"/>
                <a:cs typeface="Arial" pitchFamily="34" charset="-120"/>
              </a:rPr>
              <a:t> </a:t>
            </a:r>
            <a:r>
              <a:rPr lang="en-US" sz="2200" dirty="0" err="1">
                <a:solidFill>
                  <a:srgbClr val="BFDDEC"/>
                </a:solidFill>
                <a:latin typeface="Arial" pitchFamily="34" charset="0"/>
                <a:ea typeface="Arial" pitchFamily="34" charset="-122"/>
                <a:cs typeface="Arial" pitchFamily="34" charset="-120"/>
              </a:rPr>
              <a:t>enthusiasme</a:t>
            </a:r>
            <a:r>
              <a:rPr lang="en-US" sz="2200" dirty="0">
                <a:solidFill>
                  <a:srgbClr val="BFDDEC"/>
                </a:solidFill>
                <a:latin typeface="Arial" pitchFamily="34" charset="0"/>
                <a:ea typeface="Arial" pitchFamily="34" charset="-122"/>
                <a:cs typeface="Arial" pitchFamily="34" charset="-120"/>
              </a:rPr>
              <a:t> en </a:t>
            </a:r>
            <a:r>
              <a:rPr lang="en-US" sz="2200" dirty="0" err="1">
                <a:solidFill>
                  <a:srgbClr val="BFDDEC"/>
                </a:solidFill>
                <a:latin typeface="Arial" pitchFamily="34" charset="0"/>
                <a:ea typeface="Arial" pitchFamily="34" charset="-122"/>
                <a:cs typeface="Arial" pitchFamily="34" charset="-120"/>
              </a:rPr>
              <a:t>inzet</a:t>
            </a:r>
            <a:r>
              <a:rPr lang="en-US" sz="2200" dirty="0">
                <a:solidFill>
                  <a:srgbClr val="BFDDEC"/>
                </a:solidFill>
                <a:latin typeface="Arial" pitchFamily="34" charset="0"/>
                <a:ea typeface="Arial" pitchFamily="34" charset="-122"/>
                <a:cs typeface="Arial" pitchFamily="34" charset="-120"/>
              </a:rPr>
              <a:t> deze zomer en voor de eerlijke feedback. Tot bij het opmeten in 2027!!!</a:t>
            </a:r>
            <a:endParaRPr lang="en-US" sz="2200" dirty="0"/>
          </a:p>
        </p:txBody>
      </p:sp>
    </p:spTree>
  </p:cSld>
  <p:clrMapOvr>
    <a:masterClrMapping/>
  </p:clrMapOvr>
</p:sld>
</file>

<file path=ppt/theme/theme1.xml><?xml version="1.0" encoding="utf-8"?>
<a:theme xmlns:a="http://schemas.openxmlformats.org/drawingml/2006/main" name="TinyTapeOut 2026: jullie feedback">
  <a:themeElements>
    <a:clrScheme name="TinyTapeOut 2026: jullie feedback">
      <a:dk1>
        <a:srgbClr val="00407A"/>
      </a:dk1>
      <a:lt1>
        <a:srgbClr val="F4F8FA"/>
      </a:lt1>
      <a:dk2>
        <a:srgbClr val="3D6E9A"/>
      </a:dk2>
      <a:lt2>
        <a:srgbClr val="DCE6ED"/>
      </a:lt2>
      <a:accent1>
        <a:srgbClr val="52BDEC"/>
      </a:accent1>
      <a:accent2>
        <a:srgbClr val="0B5A93"/>
      </a:accent2>
      <a:accent3>
        <a:srgbClr val="BFDDEC"/>
      </a:accent3>
      <a:accent4>
        <a:srgbClr val="1D8DB0"/>
      </a:accent4>
      <a:accent5>
        <a:srgbClr val="4A5A66"/>
      </a:accent5>
      <a:accent6>
        <a:srgbClr val="C8D3DA"/>
      </a:accent6>
      <a:hlink>
        <a:srgbClr val="0563C1"/>
      </a:hlink>
      <a:folHlink>
        <a:srgbClr val="954F72"/>
      </a:folHlink>
    </a:clrScheme>
    <a:fontScheme name="TinyTapeOut 2026: jullie feedb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608</Words>
  <Application>Microsoft Office PowerPoint</Application>
  <PresentationFormat>Widescreen</PresentationFormat>
  <Paragraphs>96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TinyTapeOut 2026: jullie feedback</vt:lpstr>
      <vt:lpstr>Wat jullie ervan vonden</vt:lpstr>
      <vt:lpstr>De cijfers</vt:lpstr>
      <vt:lpstr>Jullie beste moment</vt:lpstr>
      <vt:lpstr>Waar jullie vastliepen</vt:lpstr>
      <vt:lpstr>Volgend jaar</vt:lpstr>
      <vt:lpstr>Jullie chips opmeten</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TinyTapeOut 2026: jullie feedback</dc:title>
  <dc:subject/>
  <dc:creator/>
  <cp:lastModifiedBy>Marian Verhelst</cp:lastModifiedBy>
  <cp:revision>1</cp:revision>
  <dcterms:created xsi:type="dcterms:W3CDTF">2026-10-14T20:01:21Z</dcterms:created>
  <dcterms:modified xsi:type="dcterms:W3CDTF">2026-10-14T20:04:01Z</dcterms:modified>
</cp:coreProperties>
</file>