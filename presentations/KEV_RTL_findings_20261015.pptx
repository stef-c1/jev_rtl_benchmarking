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8"/>
    <p:sldId id="257" r:id="rId7"/>
    <p:sldId id="258" r:id="rId6"/>
    <p:sldId id="259" r:id="rId5"/>
    <p:sldId id="260" r:id="rId4"/>
    <p:sldId id="261" r:id="rId3"/>
    <p:sldId id="262" r:id="rId2"/>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6B04C1B-7AD6-4013-AE6D-F69CCB37705D}" v="2" dt="2026-10-14T20:03:10.63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8" d="100"/>
          <a:sy n="78" d="100"/>
        </p:scale>
        <p:origin x="85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2.xml"/><Relationship Id="rId8" Type="http://schemas.openxmlformats.org/officeDocument/2006/relationships/slide" Target="slides/slide1.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6/11/relationships/changesInfo" Target="changesInfos/changesInfo1.xml"/><Relationship Id="rId15" Type="http://schemas.microsoft.com/office/2015/10/relationships/revisionInfo" Target="revisionInfo.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ian Verhelst" userId="731a6a4d-0ae0-40ab-8310-2cd6e3bb0597" providerId="ADAL" clId="{B0FF59DE-8C83-455B-9775-86E18A21BAE3}"/>
    <pc:docChg chg="custSel delSld modSld">
      <pc:chgData name="Marian Verhelst" userId="731a6a4d-0ae0-40ab-8310-2cd6e3bb0597" providerId="ADAL" clId="{B0FF59DE-8C83-455B-9775-86E18A21BAE3}" dt="2026-10-14T20:03:58.793" v="54" actId="20577"/>
      <pc:docMkLst>
        <pc:docMk/>
      </pc:docMkLst>
      <pc:sldChg chg="del">
        <pc:chgData name="Marian Verhelst" userId="731a6a4d-0ae0-40ab-8310-2cd6e3bb0597" providerId="ADAL" clId="{B0FF59DE-8C83-455B-9775-86E18A21BAE3}" dt="2026-10-14T20:01:31.973" v="0" actId="47"/>
        <pc:sldMkLst>
          <pc:docMk/>
          <pc:sldMk cId="0" sldId="257"/>
        </pc:sldMkLst>
      </pc:sldChg>
      <pc:sldChg chg="modSp mod">
        <pc:chgData name="Marian Verhelst" userId="731a6a4d-0ae0-40ab-8310-2cd6e3bb0597" providerId="ADAL" clId="{B0FF59DE-8C83-455B-9775-86E18A21BAE3}" dt="2026-10-14T20:02:06.567" v="10" actId="403"/>
        <pc:sldMkLst>
          <pc:docMk/>
          <pc:sldMk cId="0" sldId="259"/>
        </pc:sldMkLst>
        <pc:spChg chg="mod">
          <ac:chgData name="Marian Verhelst" userId="731a6a4d-0ae0-40ab-8310-2cd6e3bb0597" providerId="ADAL" clId="{B0FF59DE-8C83-455B-9775-86E18A21BAE3}" dt="2026-10-14T20:01:53.987" v="4" actId="20577"/>
          <ac:spMkLst>
            <pc:docMk/>
            <pc:sldMk cId="0" sldId="259"/>
            <ac:spMk id="7" creationId="{00000000-0000-0000-0000-000000000000}"/>
          </ac:spMkLst>
        </pc:spChg>
        <pc:spChg chg="mod">
          <ac:chgData name="Marian Verhelst" userId="731a6a4d-0ae0-40ab-8310-2cd6e3bb0597" providerId="ADAL" clId="{B0FF59DE-8C83-455B-9775-86E18A21BAE3}" dt="2026-10-14T20:02:06.567" v="10" actId="403"/>
          <ac:spMkLst>
            <pc:docMk/>
            <pc:sldMk cId="0" sldId="259"/>
            <ac:spMk id="9" creationId="{00000000-0000-0000-0000-000000000000}"/>
          </ac:spMkLst>
        </pc:spChg>
      </pc:sldChg>
      <pc:sldChg chg="modSp mod">
        <pc:chgData name="Marian Verhelst" userId="731a6a4d-0ae0-40ab-8310-2cd6e3bb0597" providerId="ADAL" clId="{B0FF59DE-8C83-455B-9775-86E18A21BAE3}" dt="2026-10-14T20:02:20.287" v="14" actId="404"/>
        <pc:sldMkLst>
          <pc:docMk/>
          <pc:sldMk cId="0" sldId="260"/>
        </pc:sldMkLst>
        <pc:spChg chg="mod">
          <ac:chgData name="Marian Verhelst" userId="731a6a4d-0ae0-40ab-8310-2cd6e3bb0597" providerId="ADAL" clId="{B0FF59DE-8C83-455B-9775-86E18A21BAE3}" dt="2026-10-14T20:02:20.287" v="14" actId="404"/>
          <ac:spMkLst>
            <pc:docMk/>
            <pc:sldMk cId="0" sldId="260"/>
            <ac:spMk id="12" creationId="{00000000-0000-0000-0000-000000000000}"/>
          </ac:spMkLst>
        </pc:spChg>
      </pc:sldChg>
      <pc:sldChg chg="modSp mod">
        <pc:chgData name="Marian Verhelst" userId="731a6a4d-0ae0-40ab-8310-2cd6e3bb0597" providerId="ADAL" clId="{B0FF59DE-8C83-455B-9775-86E18A21BAE3}" dt="2026-10-14T20:02:51.421" v="15" actId="20577"/>
        <pc:sldMkLst>
          <pc:docMk/>
          <pc:sldMk cId="0" sldId="261"/>
        </pc:sldMkLst>
        <pc:spChg chg="mod">
          <ac:chgData name="Marian Verhelst" userId="731a6a4d-0ae0-40ab-8310-2cd6e3bb0597" providerId="ADAL" clId="{B0FF59DE-8C83-455B-9775-86E18A21BAE3}" dt="2026-10-14T20:02:51.421" v="15" actId="20577"/>
          <ac:spMkLst>
            <pc:docMk/>
            <pc:sldMk cId="0" sldId="261"/>
            <ac:spMk id="6" creationId="{00000000-0000-0000-0000-000000000000}"/>
          </ac:spMkLst>
        </pc:spChg>
      </pc:sldChg>
      <pc:sldChg chg="modSp mod">
        <pc:chgData name="Marian Verhelst" userId="731a6a4d-0ae0-40ab-8310-2cd6e3bb0597" providerId="ADAL" clId="{B0FF59DE-8C83-455B-9775-86E18A21BAE3}" dt="2026-10-14T20:03:37.335" v="35" actId="20577"/>
        <pc:sldMkLst>
          <pc:docMk/>
          <pc:sldMk cId="0" sldId="262"/>
        </pc:sldMkLst>
        <pc:spChg chg="mod">
          <ac:chgData name="Marian Verhelst" userId="731a6a4d-0ae0-40ab-8310-2cd6e3bb0597" providerId="ADAL" clId="{B0FF59DE-8C83-455B-9775-86E18A21BAE3}" dt="2026-10-14T20:03:25.848" v="27" actId="207"/>
          <ac:spMkLst>
            <pc:docMk/>
            <pc:sldMk cId="0" sldId="262"/>
            <ac:spMk id="9" creationId="{00000000-0000-0000-0000-000000000000}"/>
          </ac:spMkLst>
        </pc:spChg>
        <pc:graphicFrameChg chg="mod modGraphic">
          <ac:chgData name="Marian Verhelst" userId="731a6a4d-0ae0-40ab-8310-2cd6e3bb0597" providerId="ADAL" clId="{B0FF59DE-8C83-455B-9775-86E18A21BAE3}" dt="2026-10-14T20:03:37.335" v="35" actId="20577"/>
          <ac:graphicFrameMkLst>
            <pc:docMk/>
            <pc:sldMk cId="0" sldId="262"/>
            <ac:graphicFrameMk id="8" creationId="{00000000-0000-0000-0000-000000000000}"/>
          </ac:graphicFrameMkLst>
        </pc:graphicFrameChg>
      </pc:sldChg>
      <pc:sldChg chg="modSp mod">
        <pc:chgData name="Marian Verhelst" userId="731a6a4d-0ae0-40ab-8310-2cd6e3bb0597" providerId="ADAL" clId="{B0FF59DE-8C83-455B-9775-86E18A21BAE3}" dt="2026-10-14T20:03:58.793" v="54" actId="20577"/>
        <pc:sldMkLst>
          <pc:docMk/>
          <pc:sldMk cId="0" sldId="263"/>
        </pc:sldMkLst>
        <pc:spChg chg="mod">
          <ac:chgData name="Marian Verhelst" userId="731a6a4d-0ae0-40ab-8310-2cd6e3bb0597" providerId="ADAL" clId="{B0FF59DE-8C83-455B-9775-86E18A21BAE3}" dt="2026-10-14T20:03:58.793" v="54" actId="20577"/>
          <ac:spMkLst>
            <pc:docMk/>
            <pc:sldMk cId="0" sldId="263"/>
            <ac:spMk id="4"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594147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This deck reports the completed KEV v1.0 runs of the four sizes KEV-0.8B, KEV-4B, KEV-9B, and KEV-27B (B = about a billion parameters) on dataset v1 of the JEV_RTL study. RTL means register-transfer level: source code that describes digital hardware. KEV is the open decision model of the Jev family: it returns typed answers only (a yes probability, one choice, or one level), no text. Dataset v1 has 151 designs; the test split has 123 designs and 725 questions, the development split 28 designs and 150 questions. Experiment 1 sends the questions without examples. Experiment 2 sends the same 725 test questions, one per request, each with three solved development designs before the design. Each result slide shows both experiments side by side: the light bar is the score without examples, the dark bar the score with three examples. All findings are specific to this dataset and tool flow. No Jev, base Qwen, or commercial LLM result is included.</a:t>
            </a:r>
          </a:p>
          <a:p/>
          <a:p>
            <a:r>
              <a:t>Evidence and reproducibility</a:t>
            </a:r>
          </a:p>
          <a:p>
            <a:r>
              <a:t>data/questions/dataset_v1.jsonl; data/questions/dataset_v1_fewshot3.jsonl; results/kev/*/; harness/score.py; harness/compare.py</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The deck has four parts; this copy of the overview marks part 1, The test. Part 1, The test: What KEV is, the designs, the eight questions, the five levels, the three examples, how to read the charts. Part 2, Results per question: All findings in one table; then compile and synthesis, the failure reason, the levels, and the pairs. Part 3, Conclusions: Relative questions are reliable, absolute questions are not; what KEV can and cannot do. Part 4, Appendix: Every score with the paired test, class counts, probabilities, level errors, pair orders, runs, files. The footer of every slide names its part.</a:t>
            </a:r>
          </a:p>
          <a:p/>
          <a:p>
            <a:r>
              <a:t>Evidence and reproducibility</a:t>
            </a:r>
          </a:p>
          <a:p>
            <a:r>
              <a:t>data/questions/dataset_v1.jsonl; data/questions/dataset_v1_fewshot3.jsonl; results/kev/*/; harness/score.py; harness/compare.py</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Each design gets one QuestaSim vlog -sv run (compile check) and one run of MV’s flow at 500 MHz: Design Compiler U-2022.12-SP2 with compile_ultra (synthesis, cell area, worst slack) and PrimeTime (power with the power testbench), NanGate 15 nm, typical corner, 0.8 V, 25 C. These runs give the correct answers. The model receives the state fields rtl (all source files, top module last), top, flow (a fixed text with the tool, library, and constraints), and for the power questions tb_power. The correct_answer and evidence fields stay local for scoring; the Condor client sends only the state, the model name, and the questions to /v1/systemone. The questions of one design go in up to three requests (basic, reason, performance) so that no question shows the answer of another question; a pair request holds two designs. The score of a question type is the share of its test questions with a correct answer (plain accuracy). The reference is the score of one fixed answer for every design, computed from the test labels.</a:t>
            </a:r>
          </a:p>
          <a:p/>
          <a:p>
            <a:r>
              <a:t>Evidence and reproducibility</a:t>
            </a:r>
          </a:p>
          <a:p>
            <a:r>
              <a:t>notes/README.md; notes/DATASET.md; harness/build.py; condor/kev_client.py</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The figure (presentations/src/plot_dataset_sources.py) counts the designs and the questions of dataset v1 per source dataset, both splits together. REvolution ASP-DAC 2026: LLM-written candidates of the REvolution loop for RTLLM and VerilogEval problems; these designs also form the pairs. MetRex: a public set of designs of many sizes. RTLLM v2.0: public, verified designs and ChatGPT-written files. ARES: own medium designs (v0). VerilogEval: public reference designs. A script edit of a base design (a mutant with one injected synthesis error, a trap pair of an accepted edit and a rejected twin, or a noncompile edit with one removed semicolon or one undeclared name) counts for the source of its base design. The plan ran 159 designs; 8 are excluded by the dataset rules (an unintended error class, or a twin that did not synthesize), so 151 designs remain: 123 in the test split and 28 in the development split. The split is per base design, so no edit of a test design is in the development split. Test designs per group: metrex 31 (of 40), mutant 9 (of 16), natural 17 (of 20), noncompile 8 (of 8), reference 11 (of 15), revold 28 (of 32), revolution 9 (of 10), trap 10 (of 10). The appendix lists the groups with their synthesis failures.</a:t>
            </a:r>
          </a:p>
          <a:p/>
          <a:p>
            <a:r>
              <a:t>Evidence and reproducibility</a:t>
            </a:r>
          </a:p>
          <a:p>
            <a:r>
              <a:t>presentations/src/plot_dataset_sources.py; presentations/data/dataset_v1_sources.csv; data/questions/dataset_v1.card.md; notes/DATASET.md</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The eight question types of dataset v1 (notes/README.md). Does it compile: can QuestaSim vlog -sv accept the source? Does it synthesize: can Design Compiler build a complete gate-level netlist (no error, no unresolved module, no unmapped register)? In the test split 99 designs compile and synthesize, 15 compile but fail synthesis, and 9 fail both. Why does synthesis fail: the prompt states that Design Compiler does not synthesize the module and offers ten reasons; only designs that fail synthesis with messages of one class get this question (16 test designs; 8 further test designs with an injected compile error get no reason question). Area, power, reachable frequency, and slack: the model chooses one of five levels (next slide); only designs that synthesize get these questions (92 test designs; 85 of them have a usable power value). Pairs: two REvolution candidates of one problem, with the same flow and the same power testbench; a pair counts for a metric only if the two values differ by at least 10%. Each pair is asked in both orders (A/B and B/A), so 23 area pairs give 46 questions, 22 power pairs 44, and 6 frequency pairs 12. The yes/no answer of KEV is a probability; 0.5 or more counts as yes, as in the scorer. Test questions: 123 + 123 + 16 + 92 + 85 + 92 + 92 + 46 + 44 + 12 = 725.</a:t>
            </a:r>
          </a:p>
          <a:p/>
          <a:p>
            <a:r>
              <a:t>Evidence and reproducibility</a:t>
            </a:r>
          </a:p>
          <a:p>
            <a:r>
              <a:t>notes/README.md; notes/DATASET.md; notes/synth_yesno.md; notes/synth_reason.md; harness/build.py; data/questions/dataset_v1.jsonl</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The reference synthesis uses RTL_flow_Nangate15: NanGate 15 nm, typical corner at 0.8 V and 25 C, Design Compiler compile_ultra -gate_clock, a 500 MHz target, input and output delay of 10% of the period, and 50 ps setup clock uncertainty. Area is the total cell area divided by 0.196608 µm², the area of NAND2_X1. Power is the PrimeTime total of dynamic and leakage power with the supplied power testbench; a power value counts only if the switching annotation is at least 95%. In the test split 85 of the 92 performance requests have a power label; the other 7 are excluded, not model errors. Worst slack is the smallest timing margin after synthesis at 500 MHz; a positive slack means that the netlist meets the target. Reachable frequency is the harness formula 1000 / (period in ns − slack in ns) MHz of that same netlist; it is not a new synthesis at a faster target. The example mac_int8 has 1437.97 ps of slack: 1 / (2 − 1.43797) ns = 1.779 GHz. The level ranges are lower-inclusive and upper-exclusive, except the open first and last ranges. Test labels per level 1 to 5: area 33, 28, 20, 9, 2; power 23, 37, 18, 7, 0; frequency 13, 16, 18, 45, 0; slack 0, 5, 8, 16, 63. So no test design has a negative slack (level 1), a frequency of 4 GHz or more (level 5), or a power of 10 mW or more (level 5).</a:t>
            </a:r>
          </a:p>
          <a:p/>
          <a:p>
            <a:r>
              <a:t>Evidence and reproducibility</a:t>
            </a:r>
          </a:p>
          <a:p>
            <a:r>
              <a:t>harness/build.py: AREA_EDGES_GE, POWER_EDGES_UW, SLACK_EDGES_NS, REACH_EDGES_MHZ; notes/DATASET.md; flow/RTL_flow_Nangate15/summary.sh</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Experiment 2 asks the 725 test questions of experiment 1 again. Each request holds one question; experiment 1 sent up to four questions in one request (test split: 123 basic requests with 2 questions; 10 pair requests with 1 question; 28 pair requests with 2 questions; 12 pair requests with 3 questions; 7 performance requests with 3 questions; 85 performance requests with 4 questions; 16 reason requests with 1 question). The state of each request is the state of experiment 1 with one new first field, examples; the analysis checks this for all 725 requests. Kev answers each question in its own row (the state followed by that question), and the Kev README reports that asking questions together or separately gives probabilities within 4e-6 in its fp32 tests. One question per request therefore should not change an answer by itself; the examples are the change. Rules of the example sets (harness/fewshot.py): compile and synth get the two shortest development designs that the tool rejects (with different errors or classes) and the working base design of the first one; reason gets the three shortest failed designs of three classes; each level question gets the shortest development design in each level range 1 to 2, 3, and 4 to 5, with the exact value and the level text. A pair question gets the three designs of its metric with the exact value only, no level and no solved pair (MV’s rule). A failed example also shows the first vlog or DC error (an addition that MV accepted). No example shares a base design with a test design (checked here); harness/fewshot.py also excludes an example that implements the function of a test design. Exact Kev input tokens: median 2,155, maximum 8,607. 3 requests exceed 8,192 tokens, the validated context of Kev-0.8B, 4B, and 9B (Kev README; Kev-27B: 65,536): metrex_19218:area, metrex_19218:power, metrex_19218:slack. They are scored like all others.</a:t>
            </a:r>
          </a:p>
          <a:p/>
          <a:p>
            <a:r>
              <a:t>Evidence and reproducibility</a:t>
            </a:r>
          </a:p>
          <a:p>
            <a:r>
              <a:t>data/questions/dataset_v1_fewshot3.jsonl; data/questions/dataset_v1_fewshot3.card.md; harness/fewshot.py; notes/VERIFICATION.md item 14; condor/kev_src/README.md</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Every result slide uses this chart form. One panel is one question. Each model has two bars: the light bar is the score without examples (experiment 1) and the dark bar the score with three solved examples (experiment 2). The score is plain accuracy: the share of the test questions of that type with a correct answer. For a yes/no question the label gives the score and then the correct answers on the designs where the tool says yes and on the designs where it says no; the two counts add up to the correct answers of the bar. A yes probability of 0.5 or more counts as yes, exactly as in the saved scorer. The dashed lines are the scores of a constant answer, computed from the test labels: for synthesis always yes scores 80.5% (99 of 123) and always no 19.5% (24 of 123). For a level question the label gives the score and the count of exact levels, and the dashed line is the most common level of the test labels. For a pair question the dashed line is 50%: both orders of each pair are asked, so a model that always answers A or always B is right exactly once per pair. A constant answer is a descriptive reference from the test labels, not a separate run and not a predictor chosen on the development split.</a:t>
            </a:r>
          </a:p>
          <a:p/>
          <a:p>
            <a:r>
              <a:t>Evidence and reproducibility</a:t>
            </a:r>
          </a:p>
          <a:p>
            <a:r>
              <a:t>data/questions/dataset_v1.jsonl; data/questions/dataset_v1_fewshot3.jsonl; results/kev/*/; harness/score.py; harness/compare.py</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The deck has four parts; this copy of the overview marks part 2, Results per question. Part 1, The test: What KEV is, the designs, the eight questions, the five levels, the three examples, how to read the charts. Part 2, Results per question: All findings in one table; then compile and synthesis, the failure reason, the levels, and the pairs. Part 3, Conclusions: Relative questions are reliable, absolute questions are not; what KEV can and cannot do. Part 4, Appendix: Every score with the paired test, class counts, probabilities, level errors, pair orders, runs, files. The footer of every slide names its part.</a:t>
            </a:r>
          </a:p>
          <a:p/>
          <a:p>
            <a:r>
              <a:t>Evidence and reproducibility</a:t>
            </a:r>
          </a:p>
          <a:p>
            <a:r>
              <a:t>data/questions/dataset_v1.jsonl; data/questions/dataset_v1_fewshot3.jsonl; results/kev/*/; harness/score.py; harness/compare.py</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The scores of KEV-27B, the largest size, on the ten question keys, without examples and with three examples, with the score of a constant answer. The constant answer is the most common test label of each question: Does it compile?: “yes”: 92.7%; Does it synthesize?: “yes”: 80.5%; Why does synthesis fail? (told that it fails): one reason: 31.3%; Area level: level 1: 35.9%; Power level: level 2: 43.5%; Frequency level: level 4: 48.9%; Slack level: level 5: 68.5%; Smaller area of two designs: A: 50.0%; Lower power of two designs: A: 50.0%; Higher frequency of two designs: A: 50.0%. Compile: 122 of 123 without examples, 117 with examples; the examples add 6 wrong “no” answers on designs that compile. Synthesis: 102 and 108 of 123, against 99 for always yes; the best score of any size and experiment is 9 designs above always yes. Reason: 15 and 14 of 16, when the prompt says that synthesis failed. Area: 61 and 48 of 92 exact, all 92 within one level in both experiments. Power, frequency, slack: the best exact count of any size and experiment is 39 of 85 (constant 37), 36 of 92 (constant 45), and 63 of 92 (constant 63; this count is KEV-0.8B with level 5 for every design). Pairs with examples: 41 of 46, 35 of 44, 11 of 12; KEV-27B has the highest count of the four sizes on each pair question with examples. A smaller size leads in two places without examples: KEV-9B on the area pairs (40 of 46) and KEV-4B on the exact power level (39 of 85).</a:t>
            </a:r>
          </a:p>
          <a:p/>
          <a:p>
            <a:r>
              <a:t>Evidence and reproducibility</a:t>
            </a:r>
          </a:p>
          <a:p>
            <a:r>
              <a:t>data/questions/dataset_v1.jsonl; data/questions/dataset_v1_fewshot3.jsonl; results/kev/*/; harness/score.py; harness/compare.py</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One test set of 123 designs answers both questions. Each bar is the share of the 123 designs with a correct answer; beside it the correct answers on the designs where the tool says yes and where it says no. “Yes” answers of 123 without examples: compile 4, 123, 121, 115, synthesis 123, 122, 119, 118; with examples: compile 1, 119, 117, 108, synthesis 0, 120, 118, 108 (0.8B, 4B, 9B, 27B). Compile, KEV-27B: 114 of 114 yes and 8 of 9 no without examples; with examples 108 of 114 and 9 of 9, so the examples catch the last compile error but add 6 wrong no answers (p = 0.031 within the 114 designs that compile). KEV-0.8B answers no to compile for 119 of 123 designs without examples and 122 with examples: its 9 of 9 on the compile errors is a near-constant no, not a detection. Synthesis, KEV-27B: 98 of 99 yes and 4 of 24 no without examples; 96 of 99 and 12 of 24 with examples (within the 24 failures: 8 gained, 0 lost, p = 0.0078; all 123: p = 0.11). Designs above the nearer constant answer, synthesis: without examples 0, -1, 0, 3; with examples -75, 1, 3, 9 (0.8B with examples: 0 yes answers, so it sits on the always-no line). In this test set every design that vlog rejects also fails synthesis. One design changes a score by 0.8 percentage points. The appendix gives every yes probability and the class counts.</a:t>
            </a:r>
          </a:p>
          <a:p/>
          <a:p>
            <a:r>
              <a:t>Evidence and reproducibility</a:t>
            </a:r>
          </a:p>
          <a:p>
            <a:r>
              <a:t>data/questions/dataset_v1.jsonl; data/questions/dataset_v1_fewshot3.jsonl; results/kev/*/; harness/score.py; harness/compare.py</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A derived subgroup analysis of the synthesis answers: the 24 failing test designs are split by the compile label of the same design. All bars are synthesis yes/no decisions at the 0.5 threshold; the right panel is not the separate compile answer. Failures that compile (15), answered no: without examples 0, 0, 1, 0; with examples 15, 1, 2, 4 (0.8B, 4B, 9B, 27B). Failures that do not compile (9): without examples 0, 0, 1, 4; with examples 9, 1, 2, 8. KEV-0.8B with examples gives every one of the 123 designs a synthesis probability below 0.5, so its 15 of 15 and 9 of 9 are a constant no, not a detection. Ranking (AUROC of the 99 successes against each subgroup), KEV-27B: 0.881 for the 15 and 0.980 for the 9 with examples (without examples 0.713 and 0.982). The 15 failures that compile: 5 simulation-only statements, 3 unsupported timing controls, 2 mixed assignment styles, 2 module-instance mismatches, 1 multiple driver, 1 unsupported construct, 1 asynchronous reset; 8 are mutants with one injected synthesis error, 6 are the rejected twins of the trap pairs (a wait statement, a force statement, or a $random value in a clocked block), and 1 is a natural multiple-driver failure of an LLM-written candidate. The 9 that do not compile are all illegal code: 8 injected compile errors (one removed semicolon or one undeclared name) and 1 injected illegal-code mutant. Small subgroups: no general claim.</a:t>
            </a:r>
          </a:p>
          <a:p/>
          <a:p>
            <a:r>
              <a:t>Evidence and reproducibility</a:t>
            </a:r>
          </a:p>
          <a:p>
            <a:r>
              <a:t>data/questions/dataset_v1.jsonl; data/questions/dataset_v1_fewshot3.jsonl; results/kev/*/; harness/score.py; harness/compare.py</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The ten options of the failure-reason question exactly as the model reads them (option name, then its text). Every one of the 25 reason questions in dataset v1 offers the same ten options in the same order. The columns count the reason questions whose correct answer is that option: 16 in the test split and 9 in the development split. In the test split, 8 of the ten options occur; event_list and unbounded_loop occur only in the development split, once each. The correct answer comes from the Design Compiler message IDs (and the vlog result to separate illegal_code from unsupported_construct), with the rules in notes/synth_reason.md; a design is kept only if all its messages belong to one class. 22 of the 25 failing designs are injected one-construct edits of a working design (mutants and the rejected twins of the trap pairs). The other 3 are natural failures: one MetRex design and two LLM-written candidates. 8 further test designs fail synthesis with illegal_code; they are the injected compile errors (one removed semicolon or one undeclared name) and get only the yes/no questions, by the dataset rules.</a:t>
            </a:r>
          </a:p>
          <a:p/>
          <a:p>
            <a:r>
              <a:t>Evidence and reproducibility</a:t>
            </a:r>
          </a:p>
          <a:p>
            <a:r>
              <a:t>data/questions/dataset_v1.jsonl (records with request = reason); notes/synth_reason.md; notes/DATASET.md; presentations/data/verified_metrics.json</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Left panel: correct reason choices of 16 without examples 5, 9, 11, 15, with examples 1, 10, 11, 14 (0.8B, 4B, 9B, 27B). The dashed line is the most common class, simulation_statement (5 of 16). The instruction states the failure, so this score is conditional on a known failure; it is not detection. KEV-27B without examples is wrong on the one multiple_drivers design (it chooses async_reset); with examples it is wrong on the multiple_drivers design and the async_reset design, and chooses event_list for both. event_list is one of the three example classes and the class of no test design; the models choose it 16 times with examples (7, 3, 4, 2) and 6 times without (0, 3, 3, 0). This is an observation on one example set; the cause is not tested. Right table: for each of the 16 reason-test designs, the synthesis yes/no answer of the same design (from its own request, where the prompt does not state the failure) is matched with the reason answer. Says that synthesis fails: 0, 0, 1, 0 without examples, 16, 1, 2, 5 with examples; names the reason: 5, 9, 11, 15 and 1, 10, 11, 14; both: 0, 0, 1, 0 and 1, 1, 2, 5. KEV-0.8B with examples answers no to the synthesis question for every one of the 123 designs, so its 16 of 16 carries no information. The reason subset has 16 known failures; the full synthesis test has 24 failures, because 8 noncompile designs get no reason request. These are matched saved answers, not a deployed detection-and-diagnosis pipeline.</a:t>
            </a:r>
          </a:p>
          <a:p/>
          <a:p>
            <a:r>
              <a:t>Evidence and reproducibility</a:t>
            </a:r>
          </a:p>
          <a:p>
            <a:r>
              <a:t>data/questions/dataset_v1.jsonl; data/questions/dataset_v1_fewshot3.jsonl; results/kev/*/; harness/score.py; harness/compare.py</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Exact area levels of 92: without examples 33, 33, 53, 61, with examples 2, 46, 50, 48 (0.8B, 4B, 9B, 27B); within one level: 61, 65, 83, 92 and 11, 86, 85, 92. KEV-27B: 61 to 48 exact (p = 0.029, paired McNemar test), all 92 within one level in both experiments. The dashed line is always level 1, the most common test label (33 of 92). Exact power levels of 85: without examples 23, 39, 34, 9, with examples 0, 34, 24, 36; within one level: 70, 78, 79, 55 and 7, 75, 59, 74. KEV-27B: 9 to 36 exact (p &lt; 0.001); KEV-4B has the best count without examples (39). Always level 2 scores 37 of 85; only the KEV-4B bar without examples is above it, by 2 designs. KEV-0.8B with examples chooses level 5 for all 92 area designs and all 85 power designs, so its exact scores are 2 of 92 and 0 of 85. The level ranges are decades, so a within-one answer can still be off by a factor of 10. Power depends on the synthesized design and on the stimulus of its testbench, which the model receives. The examples of the area question: 71.5 GE (level 1)  •  1,323.3 GE (level 3)  •  519,474.0 GE (level 5); of the power question: 12.48 µW (level 2)  •  300.8 µW (level 3)  •  26.2 mW (level 5).</a:t>
            </a:r>
          </a:p>
          <a:p/>
          <a:p>
            <a:r>
              <a:t>Evidence and reproducibility</a:t>
            </a:r>
          </a:p>
          <a:p>
            <a:r>
              <a:t>data/questions/dataset_v1.jsonl; data/questions/dataset_v1_fewshot3.jsonl; results/kev/*/; harness/score.py; harness/compare.py</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Exact frequency levels of 92: without examples 13, 11, 13, 13, with examples 22, 21, 15, 36 (0.8B, 4B, 9B, 27B). Exact slack levels of 92: 8, 4, 3, 30 and 63, 10, 15, 60. The constant answers are the most common test labels: frequency level 4 (45 of 92) and slack level 5 (63 of 92). KEV-27B improves with examples on both (frequency p &lt; 0.001, slack p &lt; 0.001) and stays below the constant answer. KEV-0.8B with examples chooses slack level 5 for all 92 designs; it ties the constant answer and does not beat it. Both timing levels come from the same netlist synthesized at 500 MHz, so the two questions are linked: the reachable frequency is 1 / (2 ns − slack). No test design misses the 500 MHz target, so missed timing violations are not tested. The examples of the frequency question: 612 MHz (level 1)  •  2,137 MHz (level 3)  •  3,572 MHz (level 4); of the slack question: +0.365 ns (level 2)  •  +0.962 ns (level 3)  •  +1.532 ns (level 5). Level accuracy is not a timing error in picoseconds or MHz.</a:t>
            </a:r>
          </a:p>
          <a:p/>
          <a:p>
            <a:r>
              <a:t>Evidence and reproducibility</a:t>
            </a:r>
          </a:p>
          <a:p>
            <a:r>
              <a:t>data/questions/dataset_v1.jsonl; data/questions/dataset_v1_fewshot3.jsonl; results/kev/*/; harness/score.py; harness/compare.py</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KEV-27B, frequency: tool counts at levels 1 to 5 13, 16, 18, 45, 0; chosen without examples 90, 0, 0, 0, 2; with examples 29, 1, 30, 32, 0. Power: tool 23, 37, 18, 7, 0; chosen without examples 0, 0, 54, 30, 1; with examples 0, 41, 25, 13, 6. “Closer” means a smaller sum over the five levels of |chosen count − tool count|: frequency 56 with examples against 158 without; power 46 against 120. Equal counts do not mean correct answers: a design can get a level of the right count but the wrong design; the exact scores are on the two previous slides. Without examples KEV-27B chooses the lowest frequency level for nearly every design and only the high power levels 3 to 5, although 60 of the 85 power labels are levels 1 and 2. These counts show a bias in the chosen levels, not its cause. Both charts use the same 0 to 100 scale.</a:t>
            </a:r>
          </a:p>
          <a:p/>
          <a:p>
            <a:r>
              <a:t>Evidence and reproducibility</a:t>
            </a:r>
          </a:p>
          <a:p>
            <a:r>
              <a:t>data/questions/dataset_v1.jsonl; data/questions/dataset_v1_fewshot3.jsonl; results/kev/*/; harness/score.py; harness/compare.py</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Pair inputs are two REvolution candidates of the same problem with the same flow and the same power testbench; a question is kept for a metric if the two values differ by at least 10%, so there are no ties. Each pair is sent as A/B and as B/A, so the correct letters are balanced and a constant letter scores exactly 50%. Correct answers without examples: area 22, 35, 40, 36 of 46, power 28, 25, 29, 31 of 44, frequency 8, 10, 9, 10 of 12 (0.8B, 4B, 9B, 27B); with examples: area 23, 31, 35, 41, power 24, 28, 31, 35, frequency 6, 6, 9, 11. Pairs right in both orders, KEV-27B: area 17 to 20 of 23, power 14 to 17 of 22, frequency 5 to 5 of 6 (the appendix has all sizes). Paired McNemar tests of KEV-27B: area p = 0.062, power p = 0.12, frequency p = 1: KEV-27B has the highest count with examples, but no change against experiment 1 has p &lt; 0.05. Without examples KEV-9B leads the area pairs with 40 of 46. KEV-0.8B with examples answers A for all 46 area questions and B for all 12 frequency questions; KEV-4B answers B for all 12 frequency questions. The two orders share designs and different pairs can share candidates, so the questions are not independent samples. The pair questions show the three examples of their metric with the exact values only.</a:t>
            </a:r>
          </a:p>
          <a:p/>
          <a:p>
            <a:r>
              <a:t>Evidence and reproducibility</a:t>
            </a:r>
          </a:p>
          <a:p>
            <a:r>
              <a:t>data/questions/dataset_v1.jsonl; data/questions/dataset_v1_fewshot3.jsonl; results/kev/*/; harness/score.py; harness/compare.py</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The deck has four parts; this copy of the overview marks part 3, Conclusions. Part 1, The test: What KEV is, the designs, the eight questions, the five levels, the three examples, how to read the charts. Part 2, Results per question: All findings in one table; then compile and synthesis, the failure reason, the levels, and the pairs. Part 3, Conclusions: Relative questions are reliable, absolute questions are not; what KEV can and cannot do. Part 4, Appendix: Every score with the paired test, class counts, probabilities, level errors, pair orders, runs, files. The footer of every slide names its part.</a:t>
            </a:r>
          </a:p>
          <a:p/>
          <a:p>
            <a:r>
              <a:t>Evidence and reproducibility</a:t>
            </a:r>
          </a:p>
          <a:p>
            <a:r>
              <a:t>data/questions/dataset_v1.jsonl; data/questions/dataset_v1_fewshot3.jsonl; results/kev/*/; harness/score.py; harness/compare.py</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Relative questions: with examples KEV-27B is right in 89.1%, 79.5%, and 91.7% of the area, power, and frequency pair questions; a constant letter scores 50%. Without examples 78.3%, 70.5%, and 83.3%; KEV-9B leads the area pairs without examples (40 of 46). Absolute questions: the best exact count of any size and experiment is 39 of 85 (power, KEV-4B without examples; constant 37), 36 of 92 (frequency; constant 45), and 63 of 92 (slack; this count is KEV-0.8B with level 5 for every design; constant 63). Area: KEV-27B 61 of 92 exact without examples, 48 with examples, all 92 within one level in both experiments; the area ranges are decades. Compile check: KEV-27B 122 of 123 without examples, 117 with examples. Synthesis check: the best score of any size and experiment is 9 designs above always yes; KEV-27B catches 4 then 12 of the 24 failures, and 0 then 4 of the 15 failures that compile. Failure reason: KEV-27B names 15 of 16 known failures without examples and 14 with examples, when the prompt states the failure; it flags 0 then 5 of these 16 by itself. Three examples help the relative questions and the synthesis detection, and lower the exact area level. These are observations on dataset v1 and one fixed example set.</a:t>
            </a:r>
          </a:p>
          <a:p/>
          <a:p>
            <a:r>
              <a:t>Evidence and reproducibility</a:t>
            </a:r>
          </a:p>
          <a:p>
            <a:r>
              <a:t>data/questions/dataset_v1.jsonl; data/questions/dataset_v1_fewshot3.jsonl; results/kev/*/; harness/score.py; harness/compare.py</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The deck has four parts; this copy of the overview marks part 4, Appendix. Part 1, The test: What KEV is, the designs, the eight questions, the five levels, the three examples, how to read the charts. Part 2, Results per question: All findings in one table; then compile and synthesis, the failure reason, the levels, and the pairs. Part 3, Conclusions: Relative questions are reliable, absolute questions are not; what KEV can and cannot do. Part 4, Appendix: Every score with the paired test, class counts, probabilities, level errors, pair orders, runs, files. The footer of every slide names its part.</a:t>
            </a:r>
          </a:p>
          <a:p/>
          <a:p>
            <a:r>
              <a:t>Evidence and reproducibility</a:t>
            </a:r>
          </a:p>
          <a:p>
            <a:r>
              <a:t>data/questions/dataset_v1.jsonl; data/questions/dataset_v1_fewshot3.jsonl; results/kev/*/; harness/score.py; harness/compare.py</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The complete primary table of both experiments from the saved scorer, reproduced from the raw answers. Yes/no scores use the threshold 0.5. The reason score is conditional on the prompt stating the failure. Area, power, frequency, and slack require the exact level. Pair scores count both orders of each pair as separate questions. For each size and question key the questions are matched one to one (the question ID of experiment 1 is in the field source_question_id of experiment 2). b = questions correct only without examples, c = questions correct only with examples; the exact two-sided McNemar p value is the binomial test of b against b + c with probability 0.5 (the rule of harness/compare.py; the analysis recomputes it and checks it against each compare_with_dataset_v1.json). p &lt; 0.05: 0.8B Does it synthesize?, 0.8B Area: exact level, 0.8B Power: exact level, 0.8B Slack: exact level, 9B Slack: exact level, 27B Area: exact level, 27B Power: exact level, 27B Frequency: exact level, 27B Slack: exact level. The KEV-0.8B changes with p &lt; 0.05 come with one answer for every design (synthesis no; area, power, and slack level 5). The test counts changed answers only; it says nothing about the reason for a change. No correction for the 40 tests is applied. Counts per cell: 0.8B Does it compile? 13 → 10 of 123 (p = 0.38), Does it synthesize? 99 → 24 of 123 (p &lt; 0.001), Failure reason (told) 5 → 1 of 16 (p = 0.22), Area: exact level 33 → 2 of 92 (p &lt; 0.001), Power: exact level 23 → 0 of 85 (p &lt; 0.001), Frequency: exact level 13 → 22 of 92 (p = 0.11), Slack: exact level 8 → 63 of 92 (p &lt; 0.001), Pair: smaller area 22 → 23 of 46 (p = 1), Pair: lower power 28 → 24 of 44 (p = 0.29), Pair: higher frequency 8 → 6 of 12 (p = 0.62); 4B Does it compile? 114 → 116 of 123 (p = 0.62), Does it synthesize? 98 → 100 of 123 (p = 0.5), Failure reason (told) 9 → 10 of 16 (p = 1), Area: exact level 33 → 46 of 92 (p = 0.098), Power: exact level 39 → 34 of 85 (p = 0.38), Frequency: exact level 11 → 21 of 92 (p = 0.064), Slack: exact level 4 → 10 of 92 (p = 0.11), Pair: smaller area 35 → 31 of 46 (p = 0.39), Pair: lower power 25 → 28 of 44 (p = 0.45), Pair: higher frequency 10 → 6 of 12 (p = 0.12); 9B Does it compile? 116 → 116 of 123 (p = 1), Does it synthesize? 99 → 102 of 123 (p = 0.25), Failure reason (told) 11 → 11 of 16 (p = 1), Area: exact level 53 → 50 of 92 (p = 0.76), Power: exact level 34 → 24 of 85 (p = 0.12), Frequency: exact level 13 → 15 of 92 (p = 0.85), Slack: exact level 3 → 15 of 92 (p = 0.0042), Pair: smaller area 40 → 35 of 46 (p = 0.27), Pair: lower power 29 → 31 of 44 (p = 0.82), Pair: higher frequency 9 → 9 of 12 (p = 1); 27B Does it compile? 122 → 117 of 123 (p = 0.12), Does it synthesize? 102 → 108 of 123 (p = 0.11), Failure reason (told) 15 → 14 of 16 (p = 1), Area: exact level 61 → 48 of 92 (p = 0.029), Power: exact level 9 → 36 of 85 (p &lt; 0.001), Frequency: exact level 13 → 36 of 92 (p &lt; 0.001), Slack: exact level 30 → 60 of 92 (p &lt; 0.001), Pair: smaller area 36 → 41 of 46 (p = 0.062), Pair: lower power 31 → 35 of 44 (p = 0.12), Pair: higher frequency 10 → 11 of 12 (p = 1).</a:t>
            </a:r>
          </a:p>
          <a:p/>
          <a:p>
            <a:r>
              <a:t>Evidence and reproducibility</a:t>
            </a:r>
          </a:p>
          <a:p>
            <a:r>
              <a:t>data/questions/dataset_v1.jsonl; data/questions/dataset_v1_fewshot3.jsonl; results/kev/*/; harness/score.py; harness/compare.py</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The four binary groups (compile: 114 designs that compile and 9 that do not; synthesis: 99 that synthesize and 24 that do not) with the correct answers of each size in both experiments; wrong counts are the group size minus the correct count. The all-designs rows are plain accuracy, the score of the result slides. The yes rows count the answers with a yes probability of 0.5 or more among all 123 designs: correct answers on the yes group plus wrong answers on the no group. Paired McNemar tests within each group, no examples against three examples: 0.8B compiles yes group 1 gained, 4 lost (p = 0.38); 0.8B compiles no group 0 gained, 0 lost (p = 1); 0.8B synthesizes yes group 0 gained, 99 lost (p &lt; 0.001); 0.8B synthesizes no group 24 gained, 0 lost (p &lt; 0.001); 4B compiles yes group 0 gained, 1 lost (p = 1); 4B compiles no group 3 gained, 0 lost (p = 0.25); 4B synthesizes yes group 0 gained, 0 lost (p = 1); 4B synthesizes no group 2 gained, 0 lost (p = 0.5); 9B compiles yes group 0 gained, 2 lost (p = 0.5); 9B compiles no group 2 gained, 0 lost (p = 0.5); 9B synthesizes yes group 1 gained, 0 lost (p = 1); 9B synthesizes no group 2 gained, 0 lost (p = 0.5); 27B compiles yes group 0 gained, 6 lost (p = 0.031); 27B compiles no group 1 gained, 0 lost (p = 1); 27B synthesizes yes group 0 gained, 2 lost (p = 0.5); 27B synthesizes no group 8 gained, 0 lost (p = 0.0078). KEV-0.8B answers yes to synthesis for all 123 designs without examples and no for all 123 with examples. KEV-4B answers yes to compile for all 123 designs without examples.</a:t>
            </a:r>
          </a:p>
          <a:p/>
          <a:p>
            <a:r>
              <a:t>Evidence and reproducibility</a:t>
            </a:r>
          </a:p>
          <a:p>
            <a:r>
              <a:t>data/questions/dataset_v1.jsonl; data/questions/dataset_v1_fewshot3.jsonl; results/kev/*/; harness/score.py; harness/compare.py</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Each dot is the saved noul answer (the yes probability) of one test design in experiment 1. In each model row, the upper teal dots are the designs that the tool accepts and the lower orange dots the designs that the tool rejects. The small vertical spread in each lane comes from a fixed hash of the question ID and only reduces overlap; it carries no data. A probability of 0.5 or more counts as yes, as in the saved scorer. “Yes” answers of 123: compile 4, 123, 121, 115, synthesis 123, 122, 119, 118 (0.8B, 4B, 9B, 27B). KEV-0.8B probabilities: compile 0.30 to 0.53, synthesis 0.52 to 0.74, for successes and failures alike (AUROC 0.563 and 0.490; 0.5 is chance). KEV-27B synthesis: the 9 failures that also fail vlog: 4 below 0.5 (AUROC against the successes 0.982); the 15 failures that pass vlog: 0 below 0.5, probabilities 0.60 to 0.95 (AUROC 0.713). The Kev README names no RTL training data. A search of the Kev suites (evals/) for Verilog terms finds only the C++ logging macro VLOG and the word vlog in a text about videos. Kev-27B also trained on C++ code-review questions (devtools-v1) and starts from a post-trained Qwen model whose training data is not published.</a:t>
            </a:r>
          </a:p>
          <a:p/>
          <a:p>
            <a:r>
              <a:t>Evidence and reproducibility</a:t>
            </a:r>
          </a:p>
          <a:p>
            <a:r>
              <a:t>results/kev/*/dataset_v1*__*.jsonl; presentations/src/analyse_kev.py; github.com/jaredpalmer/kev README and evals/ (commit 5e42a7a)</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Each dot is the saved noul answer (the yes probability) of one test design in experiment 2. In each model row, the upper teal dots are the designs that the tool accepts and the lower orange dots the designs that the tool rejects. The small vertical spread in each lane comes from a fixed hash of the question ID and only reduces overlap; it carries no data. A probability of 0.5 or more counts as yes, as in the saved scorer. “Yes” answers of 123: compile 1, 119, 117, 108, synthesis 0, 120, 118, 108 (0.8B, 4B, 9B, 27B). KEV-0.8B probabilities: compile 0.21 to 0.50, synthesis 0.14 to 0.49, for successes and failures alike (AUROC 0.577 and 0.566; 0.5 is chance). KEV-27B synthesis: the 9 failures that also fail vlog: 8 below 0.5 (AUROC against the successes 0.980); the 15 failures that pass vlog: 4 below 0.5, probabilities 0.20 to 0.87 (AUROC 0.881).</a:t>
            </a:r>
          </a:p>
          <a:p/>
          <a:p>
            <a:r>
              <a:t>Evidence and reproducibility</a:t>
            </a:r>
          </a:p>
          <a:p>
            <a:r>
              <a:t>results/kev/*/dataset_v1*__*.jsonl; presentations/src/analyse_kev.py; github.com/jaredpalmer/kev README and evals/ (commit 5e42a7a)</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The eight observed reason classes of the 16 test designs, with the correct answers of each size in both experiments. The scorer’s balanced accuracy weights the eight observed class recalls equally; event_list and unbounded_loop have no test design and are excluded from it. Five simulation-only designs and three timing-control designs give those classes more weight in the plain score than the one-design classes. Wrong answers with examples, per size (true class: chosen class and count): 0.8B: multiple_drivers → async_reset ×1, illegal_code → async_reset ×1, unsupported_construct → event_list ×1, timing_control → event_list ×2, simulation_statement → async_reset ×3, event_list ×1, multiple_drivers ×1, async_reset → multiple_drivers ×1, mixed_assignments → event_list ×2, instance_mismatch → multiple_drivers ×1, event_list ×1; 4B: multiple_drivers → event_list ×1, illegal_code → unbounded_loop ×1, async_reset → event_list ×1, mixed_assignments → event_list ×1, async_reset ×1, instance_mismatch → multiple_drivers ×1; 9B: multiple_drivers → event_list ×1, illegal_code → unbounded_loop ×1, async_reset → event_list ×1, mixed_assignments → event_list ×2; 27B: multiple_drivers → event_list ×1, async_reset → event_list ×1. event_list answers per size: 0, 3, 3, 0 without examples, 7, 3, 4, 2 with examples. Do not read this as a broad ten-class validation.</a:t>
            </a:r>
          </a:p>
          <a:p/>
          <a:p>
            <a:r>
              <a:t>Evidence and reproducibility</a:t>
            </a:r>
          </a:p>
          <a:p>
            <a:r>
              <a:t>notes/synth_reason.md; data/questions/dataset_v1.jsonl; presentations/data/verified_metrics.json; presentations/data/verified_metrics_fewshot3.json</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AUROC is the probability that a randomly chosen design that the tool accepts has a higher yes probability than a randomly chosen design that the tool rejects, ties counted as half. It ranges from 0 to 1; 0.5 is chance. It does not depend on the decision threshold and is not failure recall. The Brier score is the mean of (yes probability − truth)², from 0 to 1, lower is better; it measures probability error, not calibration alone. Both use all 123 test designs. KEV-27B synthesis AUROC 0.814 to 0.918; its failure recall at 0.5 is 16.7% to 50.0%. Any threshold tuning must use the development split, not these test labels; no recalibrated or alternative-threshold result has been run.</a:t>
            </a:r>
          </a:p>
          <a:p/>
          <a:p>
            <a:r>
              <a:t>Evidence and reproducibility</a:t>
            </a:r>
          </a:p>
          <a:p>
            <a:r>
              <a:t>data/questions/dataset_v1.jsonl; data/questions/dataset_v1_fewshot3.jsonl; results/kev/*/; harness/score.py; harness/compare.py</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The saved scorer computes within_one from the most likely level against the true level: the two differ by at most one. The mean absolute level error (mae_levels) uses the probability-weighted expected level, sum(k × p_k) / sum(p_k), and averages |expected − true|; so it is not the error of the most likely level and need not follow the exact score. Counts: 92 area, 85 power, 92 frequency, 92 slack. KEV-0.8B with examples gives level 5 to every design for area, power, and slack, so its within-one score is the share of true levels 4 and 5: area 12.0%, power 8.2%, slack 85.9%. All values come from the scorer and are verified against the raw answers with a tolerance of 1e-12.</a:t>
            </a:r>
          </a:p>
          <a:p/>
          <a:p>
            <a:r>
              <a:t>Evidence and reproducibility</a:t>
            </a:r>
          </a:p>
          <a:p>
            <a:r>
              <a:t>data/questions/dataset_v1.jsonl; data/questions/dataset_v1_fewshot3.jsonl; results/kev/*/; harness/score.py; harness/compare.py</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For a pair with opposite correct letters in the two orders, the two answers of a model fall into 0, 1, or 2 correct. The both-orders count is read from the paired saved answers, not estimated from percentages. One order correct equals the same letter in both orders (the scorer’s same_letter_both_orders rate times the number of pairs); it is not an accuracy measure. A consistent swap of the letter can still choose the wrong design in both orders. A model with one letter for every question has every pair in one order correct (KEV-0.8B area and frequency, KEV-4B frequency, with examples). The pairs share designs and problem families, so the questions are not independent samples. Each row triplet sums to the number of pairs (checked).</a:t>
            </a:r>
          </a:p>
          <a:p/>
          <a:p>
            <a:r>
              <a:t>Evidence and reproducibility</a:t>
            </a:r>
          </a:p>
          <a:p>
            <a:r>
              <a:t>data/questions/dataset_v1.jsonl; data/questions/dataset_v1_fewshot3.jsonl; results/kev/*/; harness/score.py; harness/compare.py</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The group counts are based on the retained basic design records only, not on requests or pair questions. All retained designs total 151 and test designs 123. The plan ran 159 designs; 8 were excluded: 4 mutants with an unintended class, 2 trap twins that did not synthesize as required, and 2 noncompile designs whose DC class was not the intended one. Twelve retained performance designs across both splits have no usable power value, leaving 98 power questions overall and 85 in the test split. The dataset also skips pairs with incompatible testbenches or with a metric difference below 10%. Some groups contain near variants; the split per base design prevents a design and its edit from being in different splits (checked in analyse_kev.py). The REvolution v0 designs are ARES.</a:t>
            </a:r>
          </a:p>
          <a:p/>
          <a:p>
            <a:r>
              <a:t>Evidence and reproducibility</a:t>
            </a:r>
          </a:p>
          <a:p>
            <a:r>
              <a:t>data/questions/dataset_v1.card.md; notes/DATASET.md; harness/build.py; presentations/data/verified_metrics.json</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Experiment 1: Condor jobs 4.0, 5.0, 6.0, 7.0 completed with return code 0; job execution seconds 125, 187, 204, 400 (setup, smoke file, and inference, without the queue wait); median server-reported model times 109.0, 201.4, 243.7, 668.3 ms over the 348 requests. KEV-0.8B ran on euler (RTX 3080 Ti); the larger sizes on aristoteles (A100-SXM4-80GB). Experiment 2: jobs 8.0, 9.0, 10.0, 11.0 on goryu, hawberry, euler, aristoteles; execution seconds 276, 599, 418, 1074; median model times 178.9, 555.2, 300.7, 1062.0 ms over the 725 requests; peak GPU memory of the Kev server 6,668, 21,736, 28,458, 74,418 MiB. Every model used the same v1.0 checkpoint revision in both experiments. The requests above 8,192 tokens are metrex_19218:area, metrex_19218:power, metrex_19218:slack; Kev-27B is validated to 65,536 tokens. No dollar cost is measured.</a:t>
            </a:r>
          </a:p>
          <a:p/>
          <a:p>
            <a:r>
              <a:t>Evidence and reproducibility</a:t>
            </a:r>
          </a:p>
          <a:p>
            <a:r>
              <a:t>results/kev/*/manifest.json; condor/logs/*.log</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Speaker notes"/>
          <p:cNvSpPr/>
          <p:nvPr>
            <p:ph type="body" idx="13"/>
          </p:nvPr>
        </p:nvSpPr>
        <p:spPr/>
        <p:txBody>
          <a:bodyPr/>
          <a:lstStyle/>
          <a:p>
            <a:r>
              <a:t>Full provenance:</a:t>
            </a:r>
          </a:p>
          <a:p>
            <a:r>
              <a:t>{</a:t>
            </a:r>
          </a:p>
          <a:p>
            <a:r>
              <a:t>  "kev-0.8b": {</a:t>
            </a:r>
          </a:p>
          <a:p>
            <a:r>
              <a:t>    "job_1": "4.0",</a:t>
            </a:r>
          </a:p>
          <a:p>
            <a:r>
              <a:t>    "job_2": "8.0",</a:t>
            </a:r>
          </a:p>
          <a:p>
            <a:r>
              <a:t>    "revision": "bf75a6a8848ea6960ff2ed108d9ed44c2941174f",</a:t>
            </a:r>
          </a:p>
          <a:p>
            <a:r>
              <a:t>    "answers_1": "results/kev/dataset_v1_kev-0.8b_20261014/dataset_v1__kev-0.8b.jsonl",</a:t>
            </a:r>
          </a:p>
          <a:p>
            <a:r>
              <a:t>    "answers_1_sha256": "c2b175aacc788e57d7b3fbc042432c9d3fac78384ae37bc976f8bf52d9c22046",</a:t>
            </a:r>
          </a:p>
          <a:p>
            <a:r>
              <a:t>    "answers_2": "results/kev/dataset_v1_fewshot3_kev-0.8b_20261016/dataset_v1_fewshot3__kev-0.8b.jsonl",</a:t>
            </a:r>
          </a:p>
          <a:p>
            <a:r>
              <a:t>    "answers_2_sha256": "8f99dca6875fb0d3e1347ceec24b5ca87e15305b713faedc4e36d029e9460fad"</a:t>
            </a:r>
          </a:p>
          <a:p>
            <a:r>
              <a:t>  },</a:t>
            </a:r>
          </a:p>
          <a:p>
            <a:r>
              <a:t>  "kev-4b": {</a:t>
            </a:r>
          </a:p>
          <a:p>
            <a:r>
              <a:t>    "job_1": "5.0",</a:t>
            </a:r>
          </a:p>
          <a:p>
            <a:r>
              <a:t>    "job_2": "9.0",</a:t>
            </a:r>
          </a:p>
          <a:p>
            <a:r>
              <a:t>    "revision": "6cfce5c2fa4b4bd64026336ab649c5ca78857d52",</a:t>
            </a:r>
          </a:p>
          <a:p>
            <a:r>
              <a:t>    "answers_1": "results/kev/dataset_v1_kev-4b_20261015/dataset_v1__kev-4b.jsonl",</a:t>
            </a:r>
          </a:p>
          <a:p>
            <a:r>
              <a:t>    "answers_1_sha256": "9f68340c80d407377a5288c970bab9a1af2a203aa6128c56a80555dece270b6e",</a:t>
            </a:r>
          </a:p>
          <a:p>
            <a:r>
              <a:t>    "answers_2": "results/kev/dataset_v1_fewshot3_kev-4b_20261016/dataset_v1_fewshot3__kev-4b.jsonl",</a:t>
            </a:r>
          </a:p>
          <a:p>
            <a:r>
              <a:t>    "answers_2_sha256": "e09c42166afd73b1e8dbde69b397e057b8de695bfddcfd6a5650bf8e664ec13f"</a:t>
            </a:r>
          </a:p>
          <a:p>
            <a:r>
              <a:t>  },</a:t>
            </a:r>
          </a:p>
          <a:p>
            <a:r>
              <a:t>  "kev-9b": {</a:t>
            </a:r>
          </a:p>
          <a:p>
            <a:r>
              <a:t>    "job_1": "6.0",</a:t>
            </a:r>
          </a:p>
          <a:p>
            <a:r>
              <a:t>    "job_2": "10.0",</a:t>
            </a:r>
          </a:p>
          <a:p>
            <a:r>
              <a:t>    "revision": "db029f08b290afd9fee4aa4bbcd9ae48602d1eb0",</a:t>
            </a:r>
          </a:p>
          <a:p>
            <a:r>
              <a:t>    "answers_1": "results/kev/dataset_v1_kev-9b_20261015/dataset_v1__kev-9b.jsonl",</a:t>
            </a:r>
          </a:p>
          <a:p>
            <a:r>
              <a:t>    "answers_1_sha256": "5c69346a7c9211caaff5f0e6067e82a5f6022519029d5cd1634697a1710fde34",</a:t>
            </a:r>
          </a:p>
          <a:p>
            <a:r>
              <a:t>    "answers_2": "results/kev/dataset_v1_fewshot3_kev-9b_20261016/dataset_v1_fewshot3__kev-9b.jsonl",</a:t>
            </a:r>
          </a:p>
          <a:p>
            <a:r>
              <a:t>    "answers_2_sha256": "b71ac8dd4a892adcfe5471e56ae757f62889a420024fa706eb2f93fea7b3cf5b"</a:t>
            </a:r>
          </a:p>
          <a:p>
            <a:r>
              <a:t>  },</a:t>
            </a:r>
          </a:p>
          <a:p>
            <a:r>
              <a:t>  "kev-27b": {</a:t>
            </a:r>
          </a:p>
          <a:p>
            <a:r>
              <a:t>    "job_1": "7.0",</a:t>
            </a:r>
          </a:p>
          <a:p>
            <a:r>
              <a:t>    "job_2": "11.0",</a:t>
            </a:r>
          </a:p>
          <a:p>
            <a:r>
              <a:t>    "revision": "af0e6d551bdc2cc724f3e9d7a8bee1cd4fb8f7bf",</a:t>
            </a:r>
          </a:p>
          <a:p>
            <a:r>
              <a:t>    "answers_1": "results/kev/dataset_v1_kev-27b_20261015/dataset_v1__kev-27b.jsonl",</a:t>
            </a:r>
          </a:p>
          <a:p>
            <a:r>
              <a:t>    "answers_1_sha256": "c643020e0b73e9627c81fb7b0429556c70969cfef7074b7e4f6fc71d1349bf19",</a:t>
            </a:r>
          </a:p>
          <a:p>
            <a:r>
              <a:t>    "answers_2": "results/kev/dataset_v1_fewshot3_kev-27b_20261016/dataset_v1_fewshot3__kev-27b.jsonl",</a:t>
            </a:r>
          </a:p>
          <a:p>
            <a:r>
              <a:t>    "answers_2_sha256": "6df2d313de200b3c7b222a8b607ea5de9f2ac53a26c6d96b4d9c357b6abf4fea"</a:t>
            </a:r>
          </a:p>
          <a:p>
            <a:r>
              <a:t>  }</a:t>
            </a:r>
          </a:p>
          <a:p>
            <a:r>
              <a:t>}</a:t>
            </a:r>
          </a:p>
          <a:p>
            <a:r>
              <a:t>The build verifies unique request IDs, HTTP 200 for every answer, the answer key of each question, no shared base design between the splits, the dataset fingerprints, the server input tokens against the builder counts (experiment 2), the smoke answers, the saved scores against freshly recomputed scores (tolerance 1e-12), and every paired comparison against compare_with_dataset_v1.json. The theme and the slide masters come from the supplied TinyTapeOut reference deck.</a:t>
            </a:r>
          </a:p>
          <a:p/>
          <a:p>
            <a:r>
              <a:t>Evidence and reproducibility</a:t>
            </a:r>
          </a:p>
          <a:p>
            <a:r>
              <a:t>data/questions/dataset_v1.jsonl; data/questions/dataset_v1_fewshot3.jsonl; results/kev/*/; harness/score.py; harness/compare.py</a:t>
            </a:r>
          </a:p>
          <a:p>
            <a:r>
              <a:t>All results use the test split: 123 designs, 725 questions. No examples = experiment 1 (Condor jobs 4.0 to 7.0); three examples = experiment 2 (Condor jobs 8.0 to 11.0).</a:t>
            </a:r>
          </a:p>
          <a:p>
            <a:r>
              <a:t>Dataset SHA-256: 96814ea63d89b98af7f87c5f6d8e5fe0f35ec710c30755c9d0723fbec4ddbe2a (dataset_v1.jsonl); 4c4d74d86c5e96e7440a7fa7716945f9212b3382ad7b6e0584e0414ca53b5f15 (dataset_v1_fewshot3.jsonl).</a:t>
            </a:r>
          </a:p>
          <a:p>
            <a:r>
              <a:t>Verified calculations: presentations/data/verified_metrics.json, verified_metrics_fewshot3.json, compare_fewshot3.csv (presentations/src/analyse_kev.py).</a:t>
            </a:r>
          </a:p>
          <a:p>
            <a:r>
              <a:t>Rebuild: /users/micas/scuycken/no_backup/miniconda3/envs/mx_env/bin/python presentations/src/build_kev_findings.py</a:t>
            </a:r>
          </a:p>
          <a:p>
            <a:r>
              <a:t>Visual style: pwp_example/TinyTapeOut 2026 jullie feedback.pptx; theme and slide masters retained. All charts and tables are editable PowerPoint objects.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4F8FA"/>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502920"/>
          </a:xfrm>
          <a:prstGeom prst="rect">
            <a:avLst/>
          </a:prstGeom>
          <a:noFill/>
          <a:ln/>
        </p:spPr>
        <p:txBody>
          <a:bodyPr wrap="square" lIns="0" tIns="0" rIns="0" bIns="0" rtlCol="0" anchor="t"/>
          <a:lstStyle>
            <a:lvl1pPr marL="0" indent="0" algn="l">
              <a:lnSpc>
                <a:spcPct val="115000"/>
              </a:lnSpc>
              <a:buNone/>
              <a:defRPr lang="en-US" sz="3600" dirty="0">
                <a:solidFill>
                  <a:srgbClr val="00407A"/>
                </a:solidFill>
                <a:latin typeface="Arial" pitchFamily="34" charset="0"/>
                <a:ea typeface="Arial" pitchFamily="34" charset="-122"/>
                <a:cs typeface="Arial"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620520"/>
            <a:ext cx="10566400" cy="4424680"/>
          </a:xfrm>
          <a:prstGeom prst="rect">
            <a:avLst/>
          </a:prstGeom>
          <a:noFill/>
          <a:ln/>
        </p:spPr>
        <p:txBody>
          <a:bodyPr wrap="square" lIns="0" tIns="0" rIns="0" bIns="0" rtlCol="0" anchor="t"/>
          <a:lstStyle>
            <a:lvl1pPr marL="0" indent="0" algn="l">
              <a:lnSpc>
                <a:spcPct val="140000"/>
              </a:lnSpc>
              <a:buNone/>
              <a:defRPr lang="en-US" sz="1600" dirty="0">
                <a:solidFill>
                  <a:srgbClr val="00407A"/>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8FA"/>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502920"/>
          </a:xfrm>
          <a:prstGeom prst="rect">
            <a:avLst/>
          </a:prstGeom>
          <a:noFill/>
          <a:ln/>
        </p:spPr>
        <p:txBody>
          <a:bodyPr wrap="square" lIns="0" tIns="0" rIns="0" bIns="0" rtlCol="0" anchor="t"/>
          <a:lstStyle>
            <a:lvl1pPr marL="0" indent="0" algn="l">
              <a:lnSpc>
                <a:spcPct val="115000"/>
              </a:lnSpc>
              <a:buNone/>
              <a:defRPr lang="en-US" sz="3600" dirty="0">
                <a:solidFill>
                  <a:srgbClr val="00407A"/>
                </a:solidFill>
                <a:latin typeface="Arial" pitchFamily="34" charset="0"/>
                <a:ea typeface="Arial" pitchFamily="34" charset="-122"/>
                <a:cs typeface="Arial"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620520"/>
            <a:ext cx="10566400" cy="4424680"/>
          </a:xfrm>
          <a:prstGeom prst="rect">
            <a:avLst/>
          </a:prstGeom>
          <a:noFill/>
          <a:ln/>
        </p:spPr>
        <p:txBody>
          <a:bodyPr wrap="square" lIns="0" tIns="0" rIns="0" bIns="0" rtlCol="0" anchor="t"/>
          <a:lstStyle>
            <a:lvl1pPr marL="0" indent="0" algn="l">
              <a:lnSpc>
                <a:spcPct val="140000"/>
              </a:lnSpc>
              <a:buNone/>
              <a:defRPr lang="en-US" sz="1600" dirty="0">
                <a:solidFill>
                  <a:srgbClr val="00407A"/>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407A"/>
        </a:solidFill>
        <a:effectLst/>
      </p:bgPr>
    </p:bg>
    <p:spTree>
      <p:nvGrpSpPr>
        <p:cNvPr id="1" name=""/>
        <p:cNvGrpSpPr/>
        <p:nvPr/>
      </p:nvGrpSpPr>
      <p:grpSpPr/>
      <p:sp>
        <p:nvSpPr>
          <p:cNvPr id="2" name="Rounded Rectangle 1"/>
          <p:cNvSpPr/>
          <p:nvPr/>
        </p:nvSpPr>
        <p:spPr>
          <a:xfrm>
            <a:off x="8549640" y="1325880"/>
            <a:ext cx="1828800" cy="1828800"/>
          </a:xfrm>
          <a:prstGeom prst="roundRect">
            <a:avLst>
              <a:gd name="adj" fmla="val 6000"/>
            </a:avLst>
          </a:prstGeom>
          <a:noFill/>
          <a:ln w="12700">
            <a:solidFill>
              <a:srgbClr val="1D8D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3816" y="1783080"/>
            <a:ext cx="9144000" cy="320040"/>
          </a:xfrm>
          <a:prstGeom prst="rect">
            <a:avLst/>
          </a:prstGeom>
          <a:noFill/>
        </p:spPr>
        <p:txBody>
          <a:bodyPr wrap="square" lIns="0" rIns="0" tIns="0" bIns="0" anchor="t">
            <a:noAutofit/>
          </a:bodyPr>
          <a:lstStyle/>
          <a:p>
            <a:pPr algn="l">
              <a:lnSpc>
                <a:spcPct val="109000"/>
              </a:lnSpc>
              <a:spcBef>
                <a:spcPts val="0"/>
              </a:spcBef>
              <a:spcAft>
                <a:spcPts val="0"/>
              </a:spcAft>
            </a:pPr>
            <a:r>
              <a:rPr sz="1600" b="1">
                <a:solidFill>
                  <a:srgbClr val="52BDEC"/>
                </a:solidFill>
                <a:latin typeface="Arial"/>
              </a:rPr>
              <a:t>JEV_RTL STUDY</a:t>
            </a:r>
          </a:p>
        </p:txBody>
      </p:sp>
      <p:sp>
        <p:nvSpPr>
          <p:cNvPr id="4" name="TextBox 3"/>
          <p:cNvSpPr txBox="1"/>
          <p:nvPr/>
        </p:nvSpPr>
        <p:spPr>
          <a:xfrm>
            <a:off x="813816" y="2331720"/>
            <a:ext cx="8321040" cy="1481328"/>
          </a:xfrm>
          <a:prstGeom prst="rect">
            <a:avLst/>
          </a:prstGeom>
          <a:noFill/>
        </p:spPr>
        <p:txBody>
          <a:bodyPr wrap="square" lIns="0" rIns="0" tIns="0" bIns="0" anchor="t">
            <a:noAutofit/>
          </a:bodyPr>
          <a:lstStyle/>
          <a:p>
            <a:pPr algn="l">
              <a:lnSpc>
                <a:spcPct val="109000"/>
              </a:lnSpc>
              <a:spcBef>
                <a:spcPts val="0"/>
              </a:spcBef>
              <a:spcAft>
                <a:spcPts val="0"/>
              </a:spcAft>
            </a:pPr>
            <a:r>
              <a:rPr sz="4300" b="1">
                <a:solidFill>
                  <a:srgbClr val="FFFFFF"/>
                </a:solidFill>
                <a:latin typeface="Arial"/>
              </a:rPr>
              <a:t>What can KEV tell us</a:t>
            </a:r>
          </a:p>
          <a:p>
            <a:pPr algn="l">
              <a:lnSpc>
                <a:spcPct val="109000"/>
              </a:lnSpc>
              <a:spcBef>
                <a:spcPts val="0"/>
              </a:spcBef>
              <a:spcAft>
                <a:spcPts val="0"/>
              </a:spcAft>
            </a:pPr>
            <a:r>
              <a:rPr sz="4300" b="1">
                <a:solidFill>
                  <a:srgbClr val="FFFFFF"/>
                </a:solidFill>
                <a:latin typeface="Arial"/>
              </a:rPr>
              <a:t>about an RTL design?</a:t>
            </a:r>
          </a:p>
        </p:txBody>
      </p:sp>
      <p:sp>
        <p:nvSpPr>
          <p:cNvPr id="5" name="TextBox 4"/>
          <p:cNvSpPr txBox="1"/>
          <p:nvPr/>
        </p:nvSpPr>
        <p:spPr>
          <a:xfrm>
            <a:off x="813816" y="4160520"/>
            <a:ext cx="9052560" cy="914400"/>
          </a:xfrm>
          <a:prstGeom prst="rect">
            <a:avLst/>
          </a:prstGeom>
          <a:noFill/>
        </p:spPr>
        <p:txBody>
          <a:bodyPr wrap="square" lIns="0" rIns="0" tIns="0" bIns="0" anchor="t">
            <a:noAutofit/>
          </a:bodyPr>
          <a:lstStyle/>
          <a:p>
            <a:pPr algn="l">
              <a:lnSpc>
                <a:spcPct val="109000"/>
              </a:lnSpc>
              <a:spcBef>
                <a:spcPts val="0"/>
              </a:spcBef>
              <a:spcAft>
                <a:spcPts val="0"/>
              </a:spcAft>
            </a:pPr>
            <a:r>
              <a:rPr sz="2300" b="0">
                <a:solidFill>
                  <a:srgbClr val="BFDDEC"/>
                </a:solidFill>
                <a:latin typeface="Arial"/>
              </a:rPr>
              <a:t>Eight questions, four model sizes, 123 test designs,</a:t>
            </a:r>
          </a:p>
          <a:p>
            <a:pPr algn="l">
              <a:lnSpc>
                <a:spcPct val="109000"/>
              </a:lnSpc>
              <a:spcBef>
                <a:spcPts val="0"/>
              </a:spcBef>
              <a:spcAft>
                <a:spcPts val="0"/>
              </a:spcAft>
            </a:pPr>
            <a:r>
              <a:rPr sz="2300" b="0">
                <a:solidFill>
                  <a:srgbClr val="BFDDEC"/>
                </a:solidFill>
                <a:latin typeface="Arial"/>
              </a:rPr>
              <a:t>without and with three solved examples</a:t>
            </a:r>
          </a:p>
        </p:txBody>
      </p:sp>
      <p:sp>
        <p:nvSpPr>
          <p:cNvPr id="6" name="TextBox 5"/>
          <p:cNvSpPr txBox="1"/>
          <p:nvPr/>
        </p:nvSpPr>
        <p:spPr>
          <a:xfrm>
            <a:off x="813816" y="5760720"/>
            <a:ext cx="10424160" cy="365760"/>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BFDDEC"/>
                </a:solidFill>
                <a:latin typeface="Arial"/>
              </a:rPr>
              <a:t>KEV v1.0: 0.8B, 4B, 9B, 27B  •  Dataset v1: 123 test designs, 725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The four parts of this deck</a:t>
            </a:r>
          </a:p>
        </p:txBody>
      </p:sp>
      <p:sp>
        <p:nvSpPr>
          <p:cNvPr id="3" name="TextBox 2"/>
          <p:cNvSpPr txBox="1"/>
          <p:nvPr/>
        </p:nvSpPr>
        <p:spPr>
          <a:xfrm>
            <a:off x="813816" y="1261872"/>
            <a:ext cx="1056132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Part 1 starts here: the test.</a:t>
            </a:r>
          </a:p>
        </p:txBody>
      </p:sp>
      <p:sp>
        <p:nvSpPr>
          <p:cNvPr id="4" name="TextBox 3"/>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1  •  THE TEST</a:t>
            </a:r>
          </a:p>
        </p:txBody>
      </p:sp>
      <p:sp>
        <p:nvSpPr>
          <p:cNvPr id="5" name="TextBox 4"/>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2</a:t>
            </a:r>
          </a:p>
        </p:txBody>
      </p:sp>
      <p:sp>
        <p:nvSpPr>
          <p:cNvPr id="6" name="Rounded Rectangle 5"/>
          <p:cNvSpPr/>
          <p:nvPr/>
        </p:nvSpPr>
        <p:spPr>
          <a:xfrm>
            <a:off x="813816" y="1828800"/>
            <a:ext cx="10561320" cy="841248"/>
          </a:xfrm>
          <a:prstGeom prst="roundRect">
            <a:avLst>
              <a:gd name="adj" fmla="val 6000"/>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984248"/>
            <a:ext cx="548640" cy="548640"/>
          </a:xfrm>
          <a:prstGeom prst="rect">
            <a:avLst/>
          </a:prstGeom>
          <a:noFill/>
        </p:spPr>
        <p:txBody>
          <a:bodyPr wrap="square" lIns="0" rIns="0" tIns="0" bIns="0" anchor="t">
            <a:noAutofit/>
          </a:bodyPr>
          <a:lstStyle/>
          <a:p>
            <a:pPr algn="l">
              <a:lnSpc>
                <a:spcPct val="109000"/>
              </a:lnSpc>
              <a:spcBef>
                <a:spcPts val="0"/>
              </a:spcBef>
              <a:spcAft>
                <a:spcPts val="0"/>
              </a:spcAft>
            </a:pPr>
            <a:r>
              <a:rPr sz="3000" b="1">
                <a:solidFill>
                  <a:srgbClr val="FFFFFF"/>
                </a:solidFill>
                <a:latin typeface="Arial"/>
              </a:rPr>
              <a:t>1</a:t>
            </a:r>
          </a:p>
        </p:txBody>
      </p:sp>
      <p:sp>
        <p:nvSpPr>
          <p:cNvPr id="8" name="TextBox 7"/>
          <p:cNvSpPr txBox="1"/>
          <p:nvPr/>
        </p:nvSpPr>
        <p:spPr>
          <a:xfrm>
            <a:off x="1737360" y="1947672"/>
            <a:ext cx="3657600" cy="365760"/>
          </a:xfrm>
          <a:prstGeom prst="rect">
            <a:avLst/>
          </a:prstGeom>
          <a:noFill/>
        </p:spPr>
        <p:txBody>
          <a:bodyPr wrap="square" lIns="0" rIns="0" tIns="0" bIns="0" anchor="t">
            <a:noAutofit/>
          </a:bodyPr>
          <a:lstStyle/>
          <a:p>
            <a:pPr algn="l">
              <a:lnSpc>
                <a:spcPct val="109000"/>
              </a:lnSpc>
              <a:spcBef>
                <a:spcPts val="0"/>
              </a:spcBef>
              <a:spcAft>
                <a:spcPts val="0"/>
              </a:spcAft>
            </a:pPr>
            <a:r>
              <a:rPr sz="2000" b="1">
                <a:solidFill>
                  <a:srgbClr val="FFFFFF"/>
                </a:solidFill>
                <a:latin typeface="Arial"/>
              </a:rPr>
              <a:t>The test</a:t>
            </a:r>
          </a:p>
        </p:txBody>
      </p:sp>
      <p:sp>
        <p:nvSpPr>
          <p:cNvPr id="9" name="TextBox 8"/>
          <p:cNvSpPr txBox="1"/>
          <p:nvPr/>
        </p:nvSpPr>
        <p:spPr>
          <a:xfrm>
            <a:off x="1737360" y="2304288"/>
            <a:ext cx="9509760" cy="320040"/>
          </a:xfrm>
          <a:prstGeom prst="rect">
            <a:avLst/>
          </a:prstGeom>
          <a:noFill/>
        </p:spPr>
        <p:txBody>
          <a:bodyPr wrap="square" lIns="0" rIns="0" tIns="0" bIns="0" anchor="t">
            <a:noAutofit/>
          </a:bodyPr>
          <a:lstStyle/>
          <a:p>
            <a:pPr algn="l">
              <a:lnSpc>
                <a:spcPct val="109000"/>
              </a:lnSpc>
              <a:spcBef>
                <a:spcPts val="0"/>
              </a:spcBef>
              <a:spcAft>
                <a:spcPts val="0"/>
              </a:spcAft>
            </a:pPr>
            <a:r>
              <a:rPr sz="1300" b="0">
                <a:solidFill>
                  <a:srgbClr val="D7E8F2"/>
                </a:solidFill>
                <a:latin typeface="Arial"/>
              </a:rPr>
              <a:t>What KEV is, the designs, the eight questions, the five levels, the three examples, how to read the charts</a:t>
            </a:r>
          </a:p>
        </p:txBody>
      </p:sp>
      <p:sp>
        <p:nvSpPr>
          <p:cNvPr id="10" name="Rounded Rectangle 9"/>
          <p:cNvSpPr/>
          <p:nvPr/>
        </p:nvSpPr>
        <p:spPr>
          <a:xfrm>
            <a:off x="813816" y="2779776"/>
            <a:ext cx="10561320" cy="841248"/>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2935224"/>
            <a:ext cx="548640" cy="548640"/>
          </a:xfrm>
          <a:prstGeom prst="rect">
            <a:avLst/>
          </a:prstGeom>
          <a:noFill/>
        </p:spPr>
        <p:txBody>
          <a:bodyPr wrap="square" lIns="0" rIns="0" tIns="0" bIns="0" anchor="t">
            <a:noAutofit/>
          </a:bodyPr>
          <a:lstStyle/>
          <a:p>
            <a:pPr algn="l">
              <a:lnSpc>
                <a:spcPct val="109000"/>
              </a:lnSpc>
              <a:spcBef>
                <a:spcPts val="0"/>
              </a:spcBef>
              <a:spcAft>
                <a:spcPts val="0"/>
              </a:spcAft>
            </a:pPr>
            <a:r>
              <a:rPr sz="3000" b="1">
                <a:solidFill>
                  <a:srgbClr val="00407A"/>
                </a:solidFill>
                <a:latin typeface="Arial"/>
              </a:rPr>
              <a:t>2</a:t>
            </a:r>
          </a:p>
        </p:txBody>
      </p:sp>
      <p:sp>
        <p:nvSpPr>
          <p:cNvPr id="12" name="TextBox 11"/>
          <p:cNvSpPr txBox="1"/>
          <p:nvPr/>
        </p:nvSpPr>
        <p:spPr>
          <a:xfrm>
            <a:off x="1737360" y="2898648"/>
            <a:ext cx="3657600" cy="365760"/>
          </a:xfrm>
          <a:prstGeom prst="rect">
            <a:avLst/>
          </a:prstGeom>
          <a:noFill/>
        </p:spPr>
        <p:txBody>
          <a:bodyPr wrap="square" lIns="0" rIns="0" tIns="0" bIns="0" anchor="t">
            <a:noAutofit/>
          </a:bodyPr>
          <a:lstStyle/>
          <a:p>
            <a:pPr algn="l">
              <a:lnSpc>
                <a:spcPct val="109000"/>
              </a:lnSpc>
              <a:spcBef>
                <a:spcPts val="0"/>
              </a:spcBef>
              <a:spcAft>
                <a:spcPts val="0"/>
              </a:spcAft>
            </a:pPr>
            <a:r>
              <a:rPr sz="2000" b="1">
                <a:solidFill>
                  <a:srgbClr val="00407A"/>
                </a:solidFill>
                <a:latin typeface="Arial"/>
              </a:rPr>
              <a:t>Results per question</a:t>
            </a:r>
          </a:p>
        </p:txBody>
      </p:sp>
      <p:sp>
        <p:nvSpPr>
          <p:cNvPr id="13" name="TextBox 12"/>
          <p:cNvSpPr txBox="1"/>
          <p:nvPr/>
        </p:nvSpPr>
        <p:spPr>
          <a:xfrm>
            <a:off x="1737360" y="3255264"/>
            <a:ext cx="9509760" cy="320040"/>
          </a:xfrm>
          <a:prstGeom prst="rect">
            <a:avLst/>
          </a:prstGeom>
          <a:noFill/>
        </p:spPr>
        <p:txBody>
          <a:bodyPr wrap="square" lIns="0" rIns="0" tIns="0" bIns="0" anchor="t">
            <a:noAutofit/>
          </a:bodyPr>
          <a:lstStyle/>
          <a:p>
            <a:pPr algn="l">
              <a:lnSpc>
                <a:spcPct val="109000"/>
              </a:lnSpc>
              <a:spcBef>
                <a:spcPts val="0"/>
              </a:spcBef>
              <a:spcAft>
                <a:spcPts val="0"/>
              </a:spcAft>
            </a:pPr>
            <a:r>
              <a:rPr sz="1300" b="0">
                <a:solidFill>
                  <a:srgbClr val="4A5A66"/>
                </a:solidFill>
                <a:latin typeface="Arial"/>
              </a:rPr>
              <a:t>All findings in one table; then compile and synthesis, the failure reason, the levels, and the pairs</a:t>
            </a:r>
          </a:p>
        </p:txBody>
      </p:sp>
      <p:sp>
        <p:nvSpPr>
          <p:cNvPr id="14" name="Rounded Rectangle 13"/>
          <p:cNvSpPr/>
          <p:nvPr/>
        </p:nvSpPr>
        <p:spPr>
          <a:xfrm>
            <a:off x="813816" y="3730752"/>
            <a:ext cx="10561320" cy="841248"/>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3886200"/>
            <a:ext cx="548640" cy="548640"/>
          </a:xfrm>
          <a:prstGeom prst="rect">
            <a:avLst/>
          </a:prstGeom>
          <a:noFill/>
        </p:spPr>
        <p:txBody>
          <a:bodyPr wrap="square" lIns="0" rIns="0" tIns="0" bIns="0" anchor="t">
            <a:noAutofit/>
          </a:bodyPr>
          <a:lstStyle/>
          <a:p>
            <a:pPr algn="l">
              <a:lnSpc>
                <a:spcPct val="109000"/>
              </a:lnSpc>
              <a:spcBef>
                <a:spcPts val="0"/>
              </a:spcBef>
              <a:spcAft>
                <a:spcPts val="0"/>
              </a:spcAft>
            </a:pPr>
            <a:r>
              <a:rPr sz="3000" b="1">
                <a:solidFill>
                  <a:srgbClr val="00407A"/>
                </a:solidFill>
                <a:latin typeface="Arial"/>
              </a:rPr>
              <a:t>3</a:t>
            </a:r>
          </a:p>
        </p:txBody>
      </p:sp>
      <p:sp>
        <p:nvSpPr>
          <p:cNvPr id="16" name="TextBox 15"/>
          <p:cNvSpPr txBox="1"/>
          <p:nvPr/>
        </p:nvSpPr>
        <p:spPr>
          <a:xfrm>
            <a:off x="1737360" y="3849624"/>
            <a:ext cx="3657600" cy="365760"/>
          </a:xfrm>
          <a:prstGeom prst="rect">
            <a:avLst/>
          </a:prstGeom>
          <a:noFill/>
        </p:spPr>
        <p:txBody>
          <a:bodyPr wrap="square" lIns="0" rIns="0" tIns="0" bIns="0" anchor="t">
            <a:noAutofit/>
          </a:bodyPr>
          <a:lstStyle/>
          <a:p>
            <a:pPr algn="l">
              <a:lnSpc>
                <a:spcPct val="109000"/>
              </a:lnSpc>
              <a:spcBef>
                <a:spcPts val="0"/>
              </a:spcBef>
              <a:spcAft>
                <a:spcPts val="0"/>
              </a:spcAft>
            </a:pPr>
            <a:r>
              <a:rPr sz="2000" b="1">
                <a:solidFill>
                  <a:srgbClr val="00407A"/>
                </a:solidFill>
                <a:latin typeface="Arial"/>
              </a:rPr>
              <a:t>Conclusions</a:t>
            </a:r>
          </a:p>
        </p:txBody>
      </p:sp>
      <p:sp>
        <p:nvSpPr>
          <p:cNvPr id="17" name="TextBox 16"/>
          <p:cNvSpPr txBox="1"/>
          <p:nvPr/>
        </p:nvSpPr>
        <p:spPr>
          <a:xfrm>
            <a:off x="1737360" y="4206240"/>
            <a:ext cx="9509760" cy="320040"/>
          </a:xfrm>
          <a:prstGeom prst="rect">
            <a:avLst/>
          </a:prstGeom>
          <a:noFill/>
        </p:spPr>
        <p:txBody>
          <a:bodyPr wrap="square" lIns="0" rIns="0" tIns="0" bIns="0" anchor="t">
            <a:noAutofit/>
          </a:bodyPr>
          <a:lstStyle/>
          <a:p>
            <a:pPr algn="l">
              <a:lnSpc>
                <a:spcPct val="109000"/>
              </a:lnSpc>
              <a:spcBef>
                <a:spcPts val="0"/>
              </a:spcBef>
              <a:spcAft>
                <a:spcPts val="0"/>
              </a:spcAft>
            </a:pPr>
            <a:r>
              <a:rPr sz="1300" b="0">
                <a:solidFill>
                  <a:srgbClr val="4A5A66"/>
                </a:solidFill>
                <a:latin typeface="Arial"/>
              </a:rPr>
              <a:t>Relative questions are reliable, absolute questions are not; what KEV can and cannot do</a:t>
            </a:r>
          </a:p>
        </p:txBody>
      </p:sp>
      <p:sp>
        <p:nvSpPr>
          <p:cNvPr id="18" name="Rounded Rectangle 17"/>
          <p:cNvSpPr/>
          <p:nvPr/>
        </p:nvSpPr>
        <p:spPr>
          <a:xfrm>
            <a:off x="813816" y="4681728"/>
            <a:ext cx="10561320" cy="841248"/>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4837176"/>
            <a:ext cx="548640" cy="548640"/>
          </a:xfrm>
          <a:prstGeom prst="rect">
            <a:avLst/>
          </a:prstGeom>
          <a:noFill/>
        </p:spPr>
        <p:txBody>
          <a:bodyPr wrap="square" lIns="0" rIns="0" tIns="0" bIns="0" anchor="t">
            <a:noAutofit/>
          </a:bodyPr>
          <a:lstStyle/>
          <a:p>
            <a:pPr algn="l">
              <a:lnSpc>
                <a:spcPct val="109000"/>
              </a:lnSpc>
              <a:spcBef>
                <a:spcPts val="0"/>
              </a:spcBef>
              <a:spcAft>
                <a:spcPts val="0"/>
              </a:spcAft>
            </a:pPr>
            <a:r>
              <a:rPr sz="3000" b="1">
                <a:solidFill>
                  <a:srgbClr val="00407A"/>
                </a:solidFill>
                <a:latin typeface="Arial"/>
              </a:rPr>
              <a:t>4</a:t>
            </a:r>
          </a:p>
        </p:txBody>
      </p:sp>
      <p:sp>
        <p:nvSpPr>
          <p:cNvPr id="20" name="TextBox 19"/>
          <p:cNvSpPr txBox="1"/>
          <p:nvPr/>
        </p:nvSpPr>
        <p:spPr>
          <a:xfrm>
            <a:off x="1737360" y="4800600"/>
            <a:ext cx="3657600" cy="365760"/>
          </a:xfrm>
          <a:prstGeom prst="rect">
            <a:avLst/>
          </a:prstGeom>
          <a:noFill/>
        </p:spPr>
        <p:txBody>
          <a:bodyPr wrap="square" lIns="0" rIns="0" tIns="0" bIns="0" anchor="t">
            <a:noAutofit/>
          </a:bodyPr>
          <a:lstStyle/>
          <a:p>
            <a:pPr algn="l">
              <a:lnSpc>
                <a:spcPct val="109000"/>
              </a:lnSpc>
              <a:spcBef>
                <a:spcPts val="0"/>
              </a:spcBef>
              <a:spcAft>
                <a:spcPts val="0"/>
              </a:spcAft>
            </a:pPr>
            <a:r>
              <a:rPr sz="2000" b="1">
                <a:solidFill>
                  <a:srgbClr val="00407A"/>
                </a:solidFill>
                <a:latin typeface="Arial"/>
              </a:rPr>
              <a:t>Appendix</a:t>
            </a:r>
          </a:p>
        </p:txBody>
      </p:sp>
      <p:sp>
        <p:nvSpPr>
          <p:cNvPr id="21" name="TextBox 20"/>
          <p:cNvSpPr txBox="1"/>
          <p:nvPr/>
        </p:nvSpPr>
        <p:spPr>
          <a:xfrm>
            <a:off x="1737360" y="5157216"/>
            <a:ext cx="9509760" cy="320040"/>
          </a:xfrm>
          <a:prstGeom prst="rect">
            <a:avLst/>
          </a:prstGeom>
          <a:noFill/>
        </p:spPr>
        <p:txBody>
          <a:bodyPr wrap="square" lIns="0" rIns="0" tIns="0" bIns="0" anchor="t">
            <a:noAutofit/>
          </a:bodyPr>
          <a:lstStyle/>
          <a:p>
            <a:pPr algn="l">
              <a:lnSpc>
                <a:spcPct val="109000"/>
              </a:lnSpc>
              <a:spcBef>
                <a:spcPts val="0"/>
              </a:spcBef>
              <a:spcAft>
                <a:spcPts val="0"/>
              </a:spcAft>
            </a:pPr>
            <a:r>
              <a:rPr sz="1300" b="0">
                <a:solidFill>
                  <a:srgbClr val="4A5A66"/>
                </a:solidFill>
                <a:latin typeface="Arial"/>
              </a:rPr>
              <a:t>Every score with the paired test, class counts, probabilities, level errors, pair orders, runs, files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The test in one picture</a:t>
            </a:r>
          </a:p>
        </p:txBody>
      </p:sp>
      <p:sp>
        <p:nvSpPr>
          <p:cNvPr id="3" name="TextBox 2"/>
          <p:cNvSpPr txBox="1"/>
          <p:nvPr/>
        </p:nvSpPr>
        <p:spPr>
          <a:xfrm>
            <a:off x="813816" y="1261872"/>
            <a:ext cx="1056132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The tools and KEV get the same RTL design. The score counts the KEV answers that agree with the tools.</a:t>
            </a:r>
          </a:p>
        </p:txBody>
      </p:sp>
      <p:sp>
        <p:nvSpPr>
          <p:cNvPr id="4" name="TextBox 3"/>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1  •  THE TEST</a:t>
            </a:r>
          </a:p>
        </p:txBody>
      </p:sp>
      <p:sp>
        <p:nvSpPr>
          <p:cNvPr id="5" name="TextBox 4"/>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3</a:t>
            </a:r>
          </a:p>
        </p:txBody>
      </p:sp>
      <p:sp>
        <p:nvSpPr>
          <p:cNvPr id="6" name="Rounded Rectangle 5"/>
          <p:cNvSpPr/>
          <p:nvPr/>
        </p:nvSpPr>
        <p:spPr>
          <a:xfrm>
            <a:off x="813816" y="2286000"/>
            <a:ext cx="2468880" cy="1417320"/>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3816" y="2286000"/>
            <a:ext cx="2468880" cy="41148"/>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 y="2414016"/>
            <a:ext cx="2011680" cy="365760"/>
          </a:xfrm>
          <a:prstGeom prst="rect">
            <a:avLst/>
          </a:prstGeom>
          <a:noFill/>
        </p:spPr>
        <p:txBody>
          <a:bodyPr wrap="square" lIns="0" rIns="0" tIns="0" bIns="0" anchor="t">
            <a:noAutofit/>
          </a:bodyPr>
          <a:lstStyle/>
          <a:p>
            <a:pPr algn="l">
              <a:lnSpc>
                <a:spcPct val="109000"/>
              </a:lnSpc>
              <a:spcBef>
                <a:spcPts val="0"/>
              </a:spcBef>
              <a:spcAft>
                <a:spcPts val="0"/>
              </a:spcAft>
            </a:pPr>
            <a:r>
              <a:rPr sz="1700" b="1">
                <a:solidFill>
                  <a:srgbClr val="00407A"/>
                </a:solidFill>
                <a:latin typeface="Arial"/>
              </a:rPr>
              <a:t>RTL design</a:t>
            </a:r>
          </a:p>
        </p:txBody>
      </p:sp>
      <p:sp>
        <p:nvSpPr>
          <p:cNvPr id="9" name="TextBox 8"/>
          <p:cNvSpPr txBox="1"/>
          <p:nvPr/>
        </p:nvSpPr>
        <p:spPr>
          <a:xfrm>
            <a:off x="1042416" y="2788920"/>
            <a:ext cx="2011680" cy="850392"/>
          </a:xfrm>
          <a:prstGeom prst="rect">
            <a:avLst/>
          </a:prstGeom>
          <a:noFill/>
        </p:spPr>
        <p:txBody>
          <a:bodyPr wrap="square" lIns="0" rIns="0" tIns="0" bIns="0" anchor="t">
            <a:noAutofit/>
          </a:bodyPr>
          <a:lstStyle/>
          <a:p>
            <a:pPr algn="l">
              <a:lnSpc>
                <a:spcPct val="109000"/>
              </a:lnSpc>
              <a:spcBef>
                <a:spcPts val="0"/>
              </a:spcBef>
              <a:spcAft>
                <a:spcPts val="0"/>
              </a:spcAft>
            </a:pPr>
            <a:r>
              <a:rPr sz="1300" b="0">
                <a:solidFill>
                  <a:srgbClr val="00407A"/>
                </a:solidFill>
                <a:latin typeface="Arial"/>
              </a:rPr>
              <a:t>Verilog source, top module, flow description. Power questions also get the testbench.</a:t>
            </a:r>
          </a:p>
        </p:txBody>
      </p:sp>
      <p:sp>
        <p:nvSpPr>
          <p:cNvPr id="10" name="Rounded Rectangle 9"/>
          <p:cNvSpPr/>
          <p:nvPr/>
        </p:nvSpPr>
        <p:spPr>
          <a:xfrm>
            <a:off x="4069080" y="1810512"/>
            <a:ext cx="3657600" cy="1188720"/>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69080" y="1810512"/>
            <a:ext cx="3657600" cy="41148"/>
          </a:xfrm>
          <a:prstGeom prst="rect">
            <a:avLst/>
          </a:prstGeom>
          <a:solidFill>
            <a:srgbClr val="1D8D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97680" y="1938528"/>
            <a:ext cx="3200400" cy="365760"/>
          </a:xfrm>
          <a:prstGeom prst="rect">
            <a:avLst/>
          </a:prstGeom>
          <a:noFill/>
        </p:spPr>
        <p:txBody>
          <a:bodyPr wrap="square" lIns="0" rIns="0" tIns="0" bIns="0" anchor="t">
            <a:noAutofit/>
          </a:bodyPr>
          <a:lstStyle/>
          <a:p>
            <a:pPr algn="l">
              <a:lnSpc>
                <a:spcPct val="109000"/>
              </a:lnSpc>
              <a:spcBef>
                <a:spcPts val="0"/>
              </a:spcBef>
              <a:spcAft>
                <a:spcPts val="0"/>
              </a:spcAft>
            </a:pPr>
            <a:r>
              <a:rPr sz="1700" b="1">
                <a:solidFill>
                  <a:srgbClr val="00407A"/>
                </a:solidFill>
                <a:latin typeface="Arial"/>
              </a:rPr>
              <a:t>Reference tools</a:t>
            </a:r>
          </a:p>
        </p:txBody>
      </p:sp>
      <p:sp>
        <p:nvSpPr>
          <p:cNvPr id="13" name="TextBox 12"/>
          <p:cNvSpPr txBox="1"/>
          <p:nvPr/>
        </p:nvSpPr>
        <p:spPr>
          <a:xfrm>
            <a:off x="4297680" y="2313432"/>
            <a:ext cx="3200400" cy="621792"/>
          </a:xfrm>
          <a:prstGeom prst="rect">
            <a:avLst/>
          </a:prstGeom>
          <a:noFill/>
        </p:spPr>
        <p:txBody>
          <a:bodyPr wrap="square" lIns="0" rIns="0" tIns="0" bIns="0" anchor="t">
            <a:noAutofit/>
          </a:bodyPr>
          <a:lstStyle/>
          <a:p>
            <a:pPr algn="l">
              <a:lnSpc>
                <a:spcPct val="109000"/>
              </a:lnSpc>
              <a:spcBef>
                <a:spcPts val="0"/>
              </a:spcBef>
              <a:spcAft>
                <a:spcPts val="0"/>
              </a:spcAft>
            </a:pPr>
            <a:r>
              <a:rPr sz="1300" b="0">
                <a:solidFill>
                  <a:srgbClr val="00407A"/>
                </a:solidFill>
                <a:latin typeface="Arial"/>
              </a:rPr>
              <a:t>QuestaSim vlog, Design Compiler, PrimeTime give the correct answer.</a:t>
            </a:r>
          </a:p>
        </p:txBody>
      </p:sp>
      <p:sp>
        <p:nvSpPr>
          <p:cNvPr id="14" name="Rounded Rectangle 13"/>
          <p:cNvSpPr/>
          <p:nvPr/>
        </p:nvSpPr>
        <p:spPr>
          <a:xfrm>
            <a:off x="4069080" y="2990088"/>
            <a:ext cx="3657600" cy="1188720"/>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069080" y="2990088"/>
            <a:ext cx="3657600" cy="41148"/>
          </a:xfrm>
          <a:prstGeom prst="rect">
            <a:avLst/>
          </a:prstGeom>
          <a:solidFill>
            <a:srgbClr val="0B5A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0" y="3118104"/>
            <a:ext cx="3200400" cy="365760"/>
          </a:xfrm>
          <a:prstGeom prst="rect">
            <a:avLst/>
          </a:prstGeom>
          <a:noFill/>
        </p:spPr>
        <p:txBody>
          <a:bodyPr wrap="square" lIns="0" rIns="0" tIns="0" bIns="0" anchor="t">
            <a:noAutofit/>
          </a:bodyPr>
          <a:lstStyle/>
          <a:p>
            <a:pPr algn="l">
              <a:lnSpc>
                <a:spcPct val="109000"/>
              </a:lnSpc>
              <a:spcBef>
                <a:spcPts val="0"/>
              </a:spcBef>
              <a:spcAft>
                <a:spcPts val="0"/>
              </a:spcAft>
            </a:pPr>
            <a:r>
              <a:rPr sz="1700" b="1">
                <a:solidFill>
                  <a:srgbClr val="00407A"/>
                </a:solidFill>
                <a:latin typeface="Arial"/>
              </a:rPr>
              <a:t>KEV 0.8B, 4B, 9B, 27B</a:t>
            </a:r>
          </a:p>
        </p:txBody>
      </p:sp>
      <p:sp>
        <p:nvSpPr>
          <p:cNvPr id="17" name="TextBox 16"/>
          <p:cNvSpPr txBox="1"/>
          <p:nvPr/>
        </p:nvSpPr>
        <p:spPr>
          <a:xfrm>
            <a:off x="4297680" y="3493008"/>
            <a:ext cx="3200400" cy="621792"/>
          </a:xfrm>
          <a:prstGeom prst="rect">
            <a:avLst/>
          </a:prstGeom>
          <a:noFill/>
        </p:spPr>
        <p:txBody>
          <a:bodyPr wrap="square" lIns="0" rIns="0" tIns="0" bIns="0" anchor="t">
            <a:noAutofit/>
          </a:bodyPr>
          <a:lstStyle/>
          <a:p>
            <a:pPr algn="l">
              <a:lnSpc>
                <a:spcPct val="109000"/>
              </a:lnSpc>
              <a:spcBef>
                <a:spcPts val="0"/>
              </a:spcBef>
              <a:spcAft>
                <a:spcPts val="0"/>
              </a:spcAft>
            </a:pPr>
            <a:r>
              <a:rPr sz="1300" b="0">
                <a:solidFill>
                  <a:srgbClr val="00407A"/>
                </a:solidFill>
                <a:latin typeface="Arial"/>
              </a:rPr>
              <a:t>One typed answer per question, no text: a yes probability, a choice, or a level.</a:t>
            </a:r>
          </a:p>
        </p:txBody>
      </p:sp>
      <p:sp>
        <p:nvSpPr>
          <p:cNvPr id="18" name="Rounded Rectangle 17"/>
          <p:cNvSpPr/>
          <p:nvPr/>
        </p:nvSpPr>
        <p:spPr>
          <a:xfrm>
            <a:off x="8503920" y="2286000"/>
            <a:ext cx="2871216" cy="1417320"/>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03920" y="2286000"/>
            <a:ext cx="2871216" cy="41148"/>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32520" y="2414016"/>
            <a:ext cx="2414016" cy="365760"/>
          </a:xfrm>
          <a:prstGeom prst="rect">
            <a:avLst/>
          </a:prstGeom>
          <a:noFill/>
        </p:spPr>
        <p:txBody>
          <a:bodyPr wrap="square" lIns="0" rIns="0" tIns="0" bIns="0" anchor="t">
            <a:noAutofit/>
          </a:bodyPr>
          <a:lstStyle/>
          <a:p>
            <a:pPr algn="l">
              <a:lnSpc>
                <a:spcPct val="109000"/>
              </a:lnSpc>
              <a:spcBef>
                <a:spcPts val="0"/>
              </a:spcBef>
              <a:spcAft>
                <a:spcPts val="0"/>
              </a:spcAft>
            </a:pPr>
            <a:r>
              <a:rPr sz="1700" b="1">
                <a:solidFill>
                  <a:srgbClr val="00407A"/>
                </a:solidFill>
                <a:latin typeface="Arial"/>
              </a:rPr>
              <a:t>Score</a:t>
            </a:r>
          </a:p>
        </p:txBody>
      </p:sp>
      <p:sp>
        <p:nvSpPr>
          <p:cNvPr id="21" name="TextBox 20"/>
          <p:cNvSpPr txBox="1"/>
          <p:nvPr/>
        </p:nvSpPr>
        <p:spPr>
          <a:xfrm>
            <a:off x="8732520" y="2788920"/>
            <a:ext cx="2414016" cy="850392"/>
          </a:xfrm>
          <a:prstGeom prst="rect">
            <a:avLst/>
          </a:prstGeom>
          <a:noFill/>
        </p:spPr>
        <p:txBody>
          <a:bodyPr wrap="square" lIns="0" rIns="0" tIns="0" bIns="0" anchor="t">
            <a:noAutofit/>
          </a:bodyPr>
          <a:lstStyle/>
          <a:p>
            <a:pPr algn="l">
              <a:lnSpc>
                <a:spcPct val="109000"/>
              </a:lnSpc>
              <a:spcBef>
                <a:spcPts val="0"/>
              </a:spcBef>
              <a:spcAft>
                <a:spcPts val="0"/>
              </a:spcAft>
            </a:pPr>
            <a:r>
              <a:rPr sz="1300" b="0">
                <a:solidFill>
                  <a:srgbClr val="00407A"/>
                </a:solidFill>
                <a:latin typeface="Arial"/>
              </a:rPr>
              <a:t>Correct answers divided by questions. Reference: the score of one fixed answer for every design.</a:t>
            </a:r>
          </a:p>
        </p:txBody>
      </p:sp>
      <p:cxnSp>
        <p:nvCxnSpPr>
          <p:cNvPr id="22" name="Connector 21"/>
          <p:cNvCxnSpPr/>
          <p:nvPr/>
        </p:nvCxnSpPr>
        <p:spPr>
          <a:xfrm flipV="1">
            <a:off x="3282696" y="2404872"/>
            <a:ext cx="786384" cy="338328"/>
          </a:xfrm>
          <a:prstGeom prst="line">
            <a:avLst/>
          </a:prstGeom>
          <a:ln w="25400">
            <a:solidFill>
              <a:srgbClr val="1D8D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282696" y="3246120"/>
            <a:ext cx="786384" cy="338328"/>
          </a:xfrm>
          <a:prstGeom prst="line">
            <a:avLst/>
          </a:prstGeom>
          <a:ln w="25400">
            <a:solidFill>
              <a:srgbClr val="1D8D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726679" y="2404872"/>
            <a:ext cx="777241" cy="338328"/>
          </a:xfrm>
          <a:prstGeom prst="line">
            <a:avLst/>
          </a:prstGeom>
          <a:ln w="25400">
            <a:solidFill>
              <a:srgbClr val="1D8D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7726679" y="3246120"/>
            <a:ext cx="777241" cy="338328"/>
          </a:xfrm>
          <a:prstGeom prst="line">
            <a:avLst/>
          </a:prstGeom>
          <a:ln w="25400">
            <a:solidFill>
              <a:srgbClr val="1D8DB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13816" y="4434840"/>
            <a:ext cx="3383280" cy="1143000"/>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3816" y="4434840"/>
            <a:ext cx="3383280" cy="41148"/>
          </a:xfrm>
          <a:prstGeom prst="rect">
            <a:avLst/>
          </a:prstGeom>
          <a:solidFill>
            <a:srgbClr val="1D8D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4562855"/>
            <a:ext cx="2926080" cy="365760"/>
          </a:xfrm>
          <a:prstGeom prst="rect">
            <a:avLst/>
          </a:prstGeom>
          <a:noFill/>
        </p:spPr>
        <p:txBody>
          <a:bodyPr wrap="square" lIns="0" rIns="0" tIns="0" bIns="0" anchor="t">
            <a:noAutofit/>
          </a:bodyPr>
          <a:lstStyle/>
          <a:p>
            <a:pPr algn="l">
              <a:lnSpc>
                <a:spcPct val="109000"/>
              </a:lnSpc>
              <a:spcBef>
                <a:spcPts val="0"/>
              </a:spcBef>
              <a:spcAft>
                <a:spcPts val="0"/>
              </a:spcAft>
            </a:pPr>
            <a:r>
              <a:rPr sz="1700" b="1">
                <a:solidFill>
                  <a:srgbClr val="00407A"/>
                </a:solidFill>
                <a:latin typeface="Arial"/>
              </a:rPr>
              <a:t>Four KEV sizes</a:t>
            </a:r>
          </a:p>
        </p:txBody>
      </p:sp>
      <p:sp>
        <p:nvSpPr>
          <p:cNvPr id="29" name="TextBox 28"/>
          <p:cNvSpPr txBox="1"/>
          <p:nvPr/>
        </p:nvSpPr>
        <p:spPr>
          <a:xfrm>
            <a:off x="1042416" y="4937759"/>
            <a:ext cx="2926080" cy="576072"/>
          </a:xfrm>
          <a:prstGeom prst="rect">
            <a:avLst/>
          </a:prstGeom>
          <a:noFill/>
        </p:spPr>
        <p:txBody>
          <a:bodyPr wrap="square" lIns="0" rIns="0" tIns="0" bIns="0" anchor="t">
            <a:noAutofit/>
          </a:bodyPr>
          <a:lstStyle/>
          <a:p>
            <a:pPr algn="l">
              <a:lnSpc>
                <a:spcPct val="109000"/>
              </a:lnSpc>
              <a:spcBef>
                <a:spcPts val="0"/>
              </a:spcBef>
              <a:spcAft>
                <a:spcPts val="0"/>
              </a:spcAft>
            </a:pPr>
            <a:r>
              <a:rPr sz="1300" b="0">
                <a:solidFill>
                  <a:srgbClr val="00407A"/>
                </a:solidFill>
                <a:latin typeface="Arial"/>
              </a:rPr>
              <a:t>KEV v1.0 with 0.8B, 4B, 9B, and 27B parameters. Each size answers every question.</a:t>
            </a:r>
          </a:p>
        </p:txBody>
      </p:sp>
      <p:sp>
        <p:nvSpPr>
          <p:cNvPr id="30" name="Rounded Rectangle 29"/>
          <p:cNvSpPr/>
          <p:nvPr/>
        </p:nvSpPr>
        <p:spPr>
          <a:xfrm>
            <a:off x="4398264" y="4434840"/>
            <a:ext cx="3383280" cy="1143000"/>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398264" y="4434840"/>
            <a:ext cx="3383280" cy="41148"/>
          </a:xfrm>
          <a:prstGeom prst="rect">
            <a:avLst/>
          </a:prstGeom>
          <a:solidFill>
            <a:srgbClr val="1D8D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26864" y="4562855"/>
            <a:ext cx="2926080" cy="365760"/>
          </a:xfrm>
          <a:prstGeom prst="rect">
            <a:avLst/>
          </a:prstGeom>
          <a:noFill/>
        </p:spPr>
        <p:txBody>
          <a:bodyPr wrap="square" lIns="0" rIns="0" tIns="0" bIns="0" anchor="t">
            <a:noAutofit/>
          </a:bodyPr>
          <a:lstStyle/>
          <a:p>
            <a:pPr algn="l">
              <a:lnSpc>
                <a:spcPct val="109000"/>
              </a:lnSpc>
              <a:spcBef>
                <a:spcPts val="0"/>
              </a:spcBef>
              <a:spcAft>
                <a:spcPts val="0"/>
              </a:spcAft>
            </a:pPr>
            <a:r>
              <a:rPr sz="1700" b="1">
                <a:solidFill>
                  <a:srgbClr val="00407A"/>
                </a:solidFill>
                <a:latin typeface="Arial"/>
              </a:rPr>
              <a:t>123 test designs</a:t>
            </a:r>
          </a:p>
        </p:txBody>
      </p:sp>
      <p:sp>
        <p:nvSpPr>
          <p:cNvPr id="33" name="TextBox 32"/>
          <p:cNvSpPr txBox="1"/>
          <p:nvPr/>
        </p:nvSpPr>
        <p:spPr>
          <a:xfrm>
            <a:off x="4626864" y="4937759"/>
            <a:ext cx="2926080" cy="576072"/>
          </a:xfrm>
          <a:prstGeom prst="rect">
            <a:avLst/>
          </a:prstGeom>
          <a:noFill/>
        </p:spPr>
        <p:txBody>
          <a:bodyPr wrap="square" lIns="0" rIns="0" tIns="0" bIns="0" anchor="t">
            <a:noAutofit/>
          </a:bodyPr>
          <a:lstStyle/>
          <a:p>
            <a:pPr algn="l">
              <a:lnSpc>
                <a:spcPct val="109000"/>
              </a:lnSpc>
              <a:spcBef>
                <a:spcPts val="0"/>
              </a:spcBef>
              <a:spcAft>
                <a:spcPts val="0"/>
              </a:spcAft>
            </a:pPr>
            <a:r>
              <a:rPr sz="1300" b="0">
                <a:solidFill>
                  <a:srgbClr val="00407A"/>
                </a:solidFill>
                <a:latin typeface="Arial"/>
              </a:rPr>
              <a:t>From 151 designs of five sources. The 28 development designs serve only as examples.</a:t>
            </a:r>
          </a:p>
        </p:txBody>
      </p:sp>
      <p:sp>
        <p:nvSpPr>
          <p:cNvPr id="34" name="Rounded Rectangle 33"/>
          <p:cNvSpPr/>
          <p:nvPr/>
        </p:nvSpPr>
        <p:spPr>
          <a:xfrm>
            <a:off x="7991856" y="4434840"/>
            <a:ext cx="3383280" cy="1143000"/>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991856" y="4434840"/>
            <a:ext cx="3383280" cy="41148"/>
          </a:xfrm>
          <a:prstGeom prst="rect">
            <a:avLst/>
          </a:prstGeom>
          <a:solidFill>
            <a:srgbClr val="1D8D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0456" y="4562855"/>
            <a:ext cx="2926080" cy="365760"/>
          </a:xfrm>
          <a:prstGeom prst="rect">
            <a:avLst/>
          </a:prstGeom>
          <a:noFill/>
        </p:spPr>
        <p:txBody>
          <a:bodyPr wrap="square" lIns="0" rIns="0" tIns="0" bIns="0" anchor="t">
            <a:noAutofit/>
          </a:bodyPr>
          <a:lstStyle/>
          <a:p>
            <a:pPr algn="l">
              <a:lnSpc>
                <a:spcPct val="109000"/>
              </a:lnSpc>
              <a:spcBef>
                <a:spcPts val="0"/>
              </a:spcBef>
              <a:spcAft>
                <a:spcPts val="0"/>
              </a:spcAft>
            </a:pPr>
            <a:r>
              <a:rPr sz="1700" b="1">
                <a:solidFill>
                  <a:srgbClr val="00407A"/>
                </a:solidFill>
                <a:latin typeface="Arial"/>
              </a:rPr>
              <a:t>Two experiments</a:t>
            </a:r>
          </a:p>
        </p:txBody>
      </p:sp>
      <p:sp>
        <p:nvSpPr>
          <p:cNvPr id="37" name="TextBox 36"/>
          <p:cNvSpPr txBox="1"/>
          <p:nvPr/>
        </p:nvSpPr>
        <p:spPr>
          <a:xfrm>
            <a:off x="8220456" y="4937759"/>
            <a:ext cx="2926080" cy="576072"/>
          </a:xfrm>
          <a:prstGeom prst="rect">
            <a:avLst/>
          </a:prstGeom>
          <a:noFill/>
        </p:spPr>
        <p:txBody>
          <a:bodyPr wrap="square" lIns="0" rIns="0" tIns="0" bIns="0" anchor="t">
            <a:noAutofit/>
          </a:bodyPr>
          <a:lstStyle/>
          <a:p>
            <a:pPr algn="l">
              <a:lnSpc>
                <a:spcPct val="109000"/>
              </a:lnSpc>
              <a:spcBef>
                <a:spcPts val="0"/>
              </a:spcBef>
              <a:spcAft>
                <a:spcPts val="0"/>
              </a:spcAft>
            </a:pPr>
            <a:r>
              <a:rPr sz="1300" b="0">
                <a:solidFill>
                  <a:srgbClr val="00407A"/>
                </a:solidFill>
                <a:latin typeface="Arial"/>
              </a:rPr>
              <a:t>Experiment 1: no examples. Experiment 2: three solved development examples before each question.</a:t>
            </a:r>
          </a:p>
        </p:txBody>
      </p:sp>
      <p:sp>
        <p:nvSpPr>
          <p:cNvPr id="38" name="Rounded Rectangle 37"/>
          <p:cNvSpPr/>
          <p:nvPr/>
        </p:nvSpPr>
        <p:spPr>
          <a:xfrm>
            <a:off x="813816" y="5715000"/>
            <a:ext cx="10561320" cy="603504"/>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87552" y="5769864"/>
            <a:ext cx="10213848" cy="493776"/>
          </a:xfrm>
          <a:prstGeom prst="rect">
            <a:avLst/>
          </a:prstGeom>
          <a:noFill/>
        </p:spPr>
        <p:txBody>
          <a:bodyPr wrap="square" lIns="0" rIns="0" tIns="0" bIns="0" anchor="ctr">
            <a:noAutofit/>
          </a:bodyPr>
          <a:lstStyle/>
          <a:p>
            <a:pPr algn="l">
              <a:lnSpc>
                <a:spcPct val="109000"/>
              </a:lnSpc>
              <a:spcBef>
                <a:spcPts val="0"/>
              </a:spcBef>
              <a:spcAft>
                <a:spcPts val="0"/>
              </a:spcAft>
            </a:pPr>
            <a:r>
              <a:rPr sz="1500" b="1">
                <a:solidFill>
                  <a:srgbClr val="00407A"/>
                </a:solidFill>
                <a:latin typeface="Arial"/>
              </a:rPr>
              <a:t>KEV never sees the tool logs. A tool run of each design gives the correct answer of every question about that design.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The designs: 151 designs from five sources</a:t>
            </a:r>
          </a:p>
        </p:txBody>
      </p:sp>
      <p:sp>
        <p:nvSpPr>
          <p:cNvPr id="3" name="TextBox 2"/>
          <p:cNvSpPr txBox="1"/>
          <p:nvPr/>
        </p:nvSpPr>
        <p:spPr>
          <a:xfrm>
            <a:off x="813816" y="1261872"/>
            <a:ext cx="1056132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875 questions on 151 designs, both splits. An edit (mutant, trap, noncompile) counts for the source of its base design.</a:t>
            </a:r>
          </a:p>
        </p:txBody>
      </p:sp>
      <p:sp>
        <p:nvSpPr>
          <p:cNvPr id="4" name="TextBox 3"/>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1  •  THE TEST</a:t>
            </a:r>
          </a:p>
        </p:txBody>
      </p:sp>
      <p:sp>
        <p:nvSpPr>
          <p:cNvPr id="5" name="TextBox 4"/>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4</a:t>
            </a:r>
          </a:p>
        </p:txBody>
      </p:sp>
      <p:pic>
        <p:nvPicPr>
          <p:cNvPr id="6" name="Picture 5" descr="dataset_v1_sources.png"/>
          <p:cNvPicPr>
            <a:picLocks noChangeAspect="1"/>
          </p:cNvPicPr>
          <p:nvPr/>
        </p:nvPicPr>
        <p:blipFill>
          <a:blip r:embed="rId2"/>
          <a:stretch>
            <a:fillRect/>
          </a:stretch>
        </p:blipFill>
        <p:spPr>
          <a:xfrm>
            <a:off x="813816" y="1828800"/>
            <a:ext cx="10561320" cy="3398825"/>
          </a:xfrm>
          <a:prstGeom prst="rect">
            <a:avLst/>
          </a:prstGeom>
        </p:spPr>
      </p:pic>
      <p:sp>
        <p:nvSpPr>
          <p:cNvPr id="7" name="Rounded Rectangle 6"/>
          <p:cNvSpPr/>
          <p:nvPr/>
        </p:nvSpPr>
        <p:spPr>
          <a:xfrm>
            <a:off x="813816" y="5715000"/>
            <a:ext cx="10561320" cy="603504"/>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5769864"/>
            <a:ext cx="10213848" cy="493776"/>
          </a:xfrm>
          <a:prstGeom prst="rect">
            <a:avLst/>
          </a:prstGeom>
          <a:noFill/>
        </p:spPr>
        <p:txBody>
          <a:bodyPr wrap="square" lIns="0" rIns="0" tIns="0" bIns="0" anchor="ctr">
            <a:noAutofit/>
          </a:bodyPr>
          <a:lstStyle/>
          <a:p>
            <a:pPr algn="l">
              <a:lnSpc>
                <a:spcPct val="109000"/>
              </a:lnSpc>
              <a:spcBef>
                <a:spcPts val="0"/>
              </a:spcBef>
              <a:spcAft>
                <a:spcPts val="0"/>
              </a:spcAft>
            </a:pPr>
            <a:r>
              <a:rPr sz="1500" b="1">
                <a:solidFill>
                  <a:srgbClr val="00407A"/>
                </a:solidFill>
                <a:latin typeface="Arial"/>
              </a:rPr>
              <a:t>Test split: 123 designs, 725 questions. Development split: 28 designs, 150 questions, used only for the examples of experiment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The eight questions</a:t>
            </a:r>
          </a:p>
        </p:txBody>
      </p:sp>
      <p:sp>
        <p:nvSpPr>
          <p:cNvPr id="3" name="TextBox 2"/>
          <p:cNvSpPr txBox="1"/>
          <p:nvPr/>
        </p:nvSpPr>
        <p:spPr>
          <a:xfrm>
            <a:off x="813816" y="1261872"/>
            <a:ext cx="1056132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A bracket marks the questions that go to the model together, in one request.</a:t>
            </a:r>
          </a:p>
        </p:txBody>
      </p:sp>
      <p:sp>
        <p:nvSpPr>
          <p:cNvPr id="4" name="TextBox 3"/>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1  •  THE TEST</a:t>
            </a:r>
          </a:p>
        </p:txBody>
      </p:sp>
      <p:sp>
        <p:nvSpPr>
          <p:cNvPr id="5" name="TextBox 4"/>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5</a:t>
            </a:r>
          </a:p>
        </p:txBody>
      </p:sp>
      <p:graphicFrame>
        <p:nvGraphicFramePr>
          <p:cNvPr id="6" name="Table 5"/>
          <p:cNvGraphicFramePr>
            <a:graphicFrameLocks noGrp="1"/>
          </p:cNvGraphicFramePr>
          <p:nvPr/>
        </p:nvGraphicFramePr>
        <p:xfrm>
          <a:off x="813816" y="1810512"/>
          <a:ext cx="9235440" cy="3831336"/>
        </p:xfrm>
        <a:graphic>
          <a:graphicData uri="http://schemas.openxmlformats.org/drawingml/2006/table">
            <a:tbl>
              <a:tblPr firstRow="1" bandRow="1">
                <a:tableStyleId>{5C22544A-7EE6-4342-B048-85BDC9FD1C3A}</a:tableStyleId>
              </a:tblPr>
              <a:tblGrid>
                <a:gridCol w="3017520"/>
                <a:gridCol w="1691640"/>
                <a:gridCol w="2148840"/>
                <a:gridCol w="2377440"/>
              </a:tblGrid>
              <a:tr h="411480">
                <a:tc>
                  <a:txBody>
                    <a:bodyPr/>
                    <a:lstStyle/>
                    <a:p>
                      <a:pPr algn="l">
                        <a:lnSpc>
                          <a:spcPct val="103000"/>
                        </a:lnSpc>
                        <a:spcBef>
                          <a:spcPts val="0"/>
                        </a:spcBef>
                        <a:spcAft>
                          <a:spcPts val="0"/>
                        </a:spcAft>
                      </a:pPr>
                      <a:r>
                        <a:rPr sz="1300" b="1">
                          <a:solidFill>
                            <a:srgbClr val="FFFFFF"/>
                          </a:solidFill>
                          <a:latin typeface="Arial"/>
                        </a:rPr>
                        <a:t>Question</a:t>
                      </a:r>
                    </a:p>
                  </a:txBody>
                  <a:tcPr marL="109728" marR="91440" marT="45720" marB="36576" anchor="ctr">
                    <a:solidFill>
                      <a:srgbClr val="00407A"/>
                    </a:solidFill>
                    <a:lnL>
                      <a:noFill/>
                    </a:lnL>
                    <a:lnR>
                      <a:noFill/>
                    </a:lnR>
                    <a:lnT>
                      <a:noFill/>
                    </a:lnT>
                    <a:lnB>
                      <a:noFill/>
                    </a:lnB>
                  </a:tcPr>
                </a:tc>
                <a:tc>
                  <a:txBody>
                    <a:bodyPr/>
                    <a:lstStyle/>
                    <a:p>
                      <a:pPr algn="l">
                        <a:lnSpc>
                          <a:spcPct val="103000"/>
                        </a:lnSpc>
                        <a:spcBef>
                          <a:spcPts val="0"/>
                        </a:spcBef>
                        <a:spcAft>
                          <a:spcPts val="0"/>
                        </a:spcAft>
                      </a:pPr>
                      <a:r>
                        <a:rPr sz="1300" b="1">
                          <a:solidFill>
                            <a:srgbClr val="FFFFFF"/>
                          </a:solidFill>
                          <a:latin typeface="Arial"/>
                        </a:rPr>
                        <a:t>KEV answers with</a:t>
                      </a:r>
                    </a:p>
                  </a:txBody>
                  <a:tcPr marL="109728" marR="91440" marT="45720" marB="36576" anchor="ctr">
                    <a:solidFill>
                      <a:srgbClr val="00407A"/>
                    </a:solidFill>
                    <a:lnL>
                      <a:noFill/>
                    </a:lnL>
                    <a:lnR>
                      <a:noFill/>
                    </a:lnR>
                    <a:lnT>
                      <a:noFill/>
                    </a:lnT>
                    <a:lnB>
                      <a:noFill/>
                    </a:lnB>
                  </a:tcPr>
                </a:tc>
                <a:tc>
                  <a:txBody>
                    <a:bodyPr/>
                    <a:lstStyle/>
                    <a:p>
                      <a:pPr algn="l">
                        <a:lnSpc>
                          <a:spcPct val="103000"/>
                        </a:lnSpc>
                        <a:spcBef>
                          <a:spcPts val="0"/>
                        </a:spcBef>
                        <a:spcAft>
                          <a:spcPts val="0"/>
                        </a:spcAft>
                      </a:pPr>
                      <a:r>
                        <a:rPr sz="1300" b="1">
                          <a:solidFill>
                            <a:srgbClr val="FFFFFF"/>
                          </a:solidFill>
                          <a:latin typeface="Arial"/>
                        </a:rPr>
                        <a:t>Correct answer from</a:t>
                      </a:r>
                    </a:p>
                  </a:txBody>
                  <a:tcPr marL="109728" marR="91440" marT="45720" marB="36576" anchor="ctr">
                    <a:solidFill>
                      <a:srgbClr val="00407A"/>
                    </a:solidFill>
                    <a:lnL>
                      <a:noFill/>
                    </a:lnL>
                    <a:lnR>
                      <a:noFill/>
                    </a:lnR>
                    <a:lnT>
                      <a:noFill/>
                    </a:lnT>
                    <a:lnB>
                      <a:noFill/>
                    </a:lnB>
                  </a:tcPr>
                </a:tc>
                <a:tc>
                  <a:txBody>
                    <a:bodyPr/>
                    <a:lstStyle/>
                    <a:p>
                      <a:pPr algn="l">
                        <a:lnSpc>
                          <a:spcPct val="103000"/>
                        </a:lnSpc>
                        <a:spcBef>
                          <a:spcPts val="0"/>
                        </a:spcBef>
                        <a:spcAft>
                          <a:spcPts val="0"/>
                        </a:spcAft>
                      </a:pPr>
                      <a:r>
                        <a:rPr sz="1300" b="1">
                          <a:solidFill>
                            <a:srgbClr val="FFFFFF"/>
                          </a:solidFill>
                          <a:latin typeface="Arial"/>
                        </a:rPr>
                        <a:t>Test designs</a:t>
                      </a:r>
                    </a:p>
                  </a:txBody>
                  <a:tcPr marL="109728" marR="91440" marT="45720" marB="36576" anchor="ctr">
                    <a:solidFill>
                      <a:srgbClr val="00407A"/>
                    </a:solidFill>
                    <a:lnL>
                      <a:noFill/>
                    </a:lnL>
                    <a:lnR>
                      <a:noFill/>
                    </a:lnR>
                    <a:lnT>
                      <a:noFill/>
                    </a:lnT>
                    <a:lnB>
                      <a:noFill/>
                    </a:lnB>
                  </a:tcPr>
                </a:tc>
              </a:tr>
              <a:tr h="384048">
                <a:tc>
                  <a:txBody>
                    <a:bodyPr/>
                    <a:lstStyle/>
                    <a:p>
                      <a:pPr algn="l">
                        <a:lnSpc>
                          <a:spcPct val="103000"/>
                        </a:lnSpc>
                        <a:spcBef>
                          <a:spcPts val="0"/>
                        </a:spcBef>
                        <a:spcAft>
                          <a:spcPts val="0"/>
                        </a:spcAft>
                      </a:pPr>
                      <a:r>
                        <a:rPr sz="1300" b="0">
                          <a:solidFill>
                            <a:srgbClr val="00407A"/>
                          </a:solidFill>
                          <a:latin typeface="Arial"/>
                        </a:rPr>
                        <a:t>Does it compile?</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300" b="0">
                          <a:solidFill>
                            <a:srgbClr val="00407A"/>
                          </a:solidFill>
                          <a:latin typeface="Arial"/>
                        </a:rPr>
                        <a:t>yes probability</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300" b="0">
                          <a:solidFill>
                            <a:srgbClr val="00407A"/>
                          </a:solidFill>
                          <a:latin typeface="Arial"/>
                        </a:rPr>
                        <a:t>QuestaSim vlog -sv</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300" b="0">
                          <a:solidFill>
                            <a:srgbClr val="00407A"/>
                          </a:solidFill>
                          <a:latin typeface="Arial"/>
                        </a:rPr>
                        <a:t>123: 114 yes, 9 no</a:t>
                      </a:r>
                    </a:p>
                  </a:txBody>
                  <a:tcPr marL="109728" marR="91440" marT="45720" marB="36576" anchor="ctr">
                    <a:solidFill>
                      <a:srgbClr val="E3EFF5"/>
                    </a:solidFill>
                    <a:lnL>
                      <a:noFill/>
                    </a:lnL>
                    <a:lnR>
                      <a:noFill/>
                    </a:lnR>
                    <a:lnT>
                      <a:noFill/>
                    </a:lnT>
                    <a:lnB>
                      <a:noFill/>
                    </a:lnB>
                  </a:tcPr>
                </a:tc>
              </a:tr>
              <a:tr h="384048">
                <a:tc>
                  <a:txBody>
                    <a:bodyPr/>
                    <a:lstStyle/>
                    <a:p>
                      <a:pPr algn="l">
                        <a:lnSpc>
                          <a:spcPct val="103000"/>
                        </a:lnSpc>
                        <a:spcBef>
                          <a:spcPts val="0"/>
                        </a:spcBef>
                        <a:spcAft>
                          <a:spcPts val="0"/>
                        </a:spcAft>
                      </a:pPr>
                      <a:r>
                        <a:rPr sz="1300" b="0">
                          <a:solidFill>
                            <a:srgbClr val="00407A"/>
                          </a:solidFill>
                          <a:latin typeface="Arial"/>
                        </a:rPr>
                        <a:t>Does it synthesize?</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300" b="0">
                          <a:solidFill>
                            <a:srgbClr val="00407A"/>
                          </a:solidFill>
                          <a:latin typeface="Arial"/>
                        </a:rPr>
                        <a:t>yes probability</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300" b="0">
                          <a:solidFill>
                            <a:srgbClr val="00407A"/>
                          </a:solidFill>
                          <a:latin typeface="Arial"/>
                        </a:rPr>
                        <a:t>Design Compiler</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300" b="0">
                          <a:solidFill>
                            <a:srgbClr val="00407A"/>
                          </a:solidFill>
                          <a:latin typeface="Arial"/>
                        </a:rPr>
                        <a:t>123: 99 yes, 24 no</a:t>
                      </a:r>
                    </a:p>
                  </a:txBody>
                  <a:tcPr marL="109728" marR="91440" marT="45720" marB="36576" anchor="ctr">
                    <a:solidFill>
                      <a:srgbClr val="FFFFFF"/>
                    </a:solidFill>
                    <a:lnL>
                      <a:noFill/>
                    </a:lnL>
                    <a:lnR>
                      <a:noFill/>
                    </a:lnR>
                    <a:lnT>
                      <a:noFill/>
                    </a:lnT>
                    <a:lnB>
                      <a:noFill/>
                    </a:lnB>
                  </a:tcPr>
                </a:tc>
              </a:tr>
              <a:tr h="384048">
                <a:tc>
                  <a:txBody>
                    <a:bodyPr/>
                    <a:lstStyle/>
                    <a:p>
                      <a:pPr algn="l">
                        <a:lnSpc>
                          <a:spcPct val="103000"/>
                        </a:lnSpc>
                        <a:spcBef>
                          <a:spcPts val="0"/>
                        </a:spcBef>
                        <a:spcAft>
                          <a:spcPts val="0"/>
                        </a:spcAft>
                      </a:pPr>
                      <a:r>
                        <a:rPr sz="1300" b="0">
                          <a:solidFill>
                            <a:srgbClr val="00407A"/>
                          </a:solidFill>
                          <a:latin typeface="Arial"/>
                        </a:rPr>
                        <a:t>Why does synthesis fail?</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300" b="0">
                          <a:solidFill>
                            <a:srgbClr val="00407A"/>
                          </a:solidFill>
                          <a:latin typeface="Arial"/>
                        </a:rPr>
                        <a:t>one of ten reasons</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300" b="0">
                          <a:solidFill>
                            <a:srgbClr val="00407A"/>
                          </a:solidFill>
                          <a:latin typeface="Arial"/>
                        </a:rPr>
                        <a:t>Design Compiler message</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300" b="0">
                          <a:solidFill>
                            <a:srgbClr val="00407A"/>
                          </a:solidFill>
                          <a:latin typeface="Arial"/>
                        </a:rPr>
                        <a:t>16, told that it fails</a:t>
                      </a:r>
                    </a:p>
                  </a:txBody>
                  <a:tcPr marL="109728" marR="91440" marT="45720" marB="36576" anchor="ctr">
                    <a:solidFill>
                      <a:srgbClr val="E3EFF5"/>
                    </a:solidFill>
                    <a:lnL>
                      <a:noFill/>
                    </a:lnL>
                    <a:lnR>
                      <a:noFill/>
                    </a:lnR>
                    <a:lnT>
                      <a:noFill/>
                    </a:lnT>
                    <a:lnB>
                      <a:noFill/>
                    </a:lnB>
                  </a:tcPr>
                </a:tc>
              </a:tr>
              <a:tr h="384048">
                <a:tc>
                  <a:txBody>
                    <a:bodyPr/>
                    <a:lstStyle/>
                    <a:p>
                      <a:pPr algn="l">
                        <a:lnSpc>
                          <a:spcPct val="103000"/>
                        </a:lnSpc>
                        <a:spcBef>
                          <a:spcPts val="0"/>
                        </a:spcBef>
                        <a:spcAft>
                          <a:spcPts val="0"/>
                        </a:spcAft>
                      </a:pPr>
                      <a:r>
                        <a:rPr sz="1300" b="0">
                          <a:solidFill>
                            <a:srgbClr val="00407A"/>
                          </a:solidFill>
                          <a:latin typeface="Arial"/>
                        </a:rPr>
                        <a:t>Area level</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300" b="0">
                          <a:solidFill>
                            <a:srgbClr val="00407A"/>
                          </a:solidFill>
                          <a:latin typeface="Arial"/>
                        </a:rPr>
                        <a:t>one of five levels</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300" b="0">
                          <a:solidFill>
                            <a:srgbClr val="00407A"/>
                          </a:solidFill>
                          <a:latin typeface="Arial"/>
                        </a:rPr>
                        <a:t>Design Compiler area</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300" b="0">
                          <a:solidFill>
                            <a:srgbClr val="00407A"/>
                          </a:solidFill>
                          <a:latin typeface="Arial"/>
                        </a:rPr>
                        <a:t>92</a:t>
                      </a:r>
                    </a:p>
                  </a:txBody>
                  <a:tcPr marL="109728" marR="91440" marT="45720" marB="36576" anchor="ctr">
                    <a:solidFill>
                      <a:srgbClr val="FFFFFF"/>
                    </a:solidFill>
                    <a:lnL>
                      <a:noFill/>
                    </a:lnL>
                    <a:lnR>
                      <a:noFill/>
                    </a:lnR>
                    <a:lnT>
                      <a:noFill/>
                    </a:lnT>
                    <a:lnB>
                      <a:noFill/>
                    </a:lnB>
                  </a:tcPr>
                </a:tc>
              </a:tr>
              <a:tr h="384048">
                <a:tc>
                  <a:txBody>
                    <a:bodyPr/>
                    <a:lstStyle/>
                    <a:p>
                      <a:pPr algn="l">
                        <a:lnSpc>
                          <a:spcPct val="103000"/>
                        </a:lnSpc>
                        <a:spcBef>
                          <a:spcPts val="0"/>
                        </a:spcBef>
                        <a:spcAft>
                          <a:spcPts val="0"/>
                        </a:spcAft>
                      </a:pPr>
                      <a:r>
                        <a:rPr sz="1300" b="0">
                          <a:solidFill>
                            <a:srgbClr val="00407A"/>
                          </a:solidFill>
                          <a:latin typeface="Arial"/>
                        </a:rPr>
                        <a:t>Power level</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300" b="0">
                          <a:solidFill>
                            <a:srgbClr val="00407A"/>
                          </a:solidFill>
                          <a:latin typeface="Arial"/>
                        </a:rPr>
                        <a:t>one of five levels</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300" b="0">
                          <a:solidFill>
                            <a:srgbClr val="00407A"/>
                          </a:solidFill>
                          <a:latin typeface="Arial"/>
                        </a:rPr>
                        <a:t>PrimeTime + testbench</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300" b="0">
                          <a:solidFill>
                            <a:srgbClr val="00407A"/>
                          </a:solidFill>
                          <a:latin typeface="Arial"/>
                        </a:rPr>
                        <a:t>85</a:t>
                      </a:r>
                    </a:p>
                  </a:txBody>
                  <a:tcPr marL="109728" marR="91440" marT="45720" marB="36576" anchor="ctr">
                    <a:solidFill>
                      <a:srgbClr val="E3EFF5"/>
                    </a:solidFill>
                    <a:lnL>
                      <a:noFill/>
                    </a:lnL>
                    <a:lnR>
                      <a:noFill/>
                    </a:lnR>
                    <a:lnT>
                      <a:noFill/>
                    </a:lnT>
                    <a:lnB>
                      <a:noFill/>
                    </a:lnB>
                  </a:tcPr>
                </a:tc>
              </a:tr>
              <a:tr h="384048">
                <a:tc>
                  <a:txBody>
                    <a:bodyPr/>
                    <a:lstStyle/>
                    <a:p>
                      <a:pPr algn="l">
                        <a:lnSpc>
                          <a:spcPct val="103000"/>
                        </a:lnSpc>
                        <a:spcBef>
                          <a:spcPts val="0"/>
                        </a:spcBef>
                        <a:spcAft>
                          <a:spcPts val="0"/>
                        </a:spcAft>
                      </a:pPr>
                      <a:r>
                        <a:rPr sz="1300" b="0">
                          <a:solidFill>
                            <a:srgbClr val="00407A"/>
                          </a:solidFill>
                          <a:latin typeface="Arial"/>
                        </a:rPr>
                        <a:t>Reachable clock frequency level</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300" b="0">
                          <a:solidFill>
                            <a:srgbClr val="00407A"/>
                          </a:solidFill>
                          <a:latin typeface="Arial"/>
                        </a:rPr>
                        <a:t>one of five levels</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300" b="0">
                          <a:solidFill>
                            <a:srgbClr val="00407A"/>
                          </a:solidFill>
                          <a:latin typeface="Arial"/>
                        </a:rPr>
                        <a:t>Design Compiler slack</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300" b="0">
                          <a:solidFill>
                            <a:srgbClr val="00407A"/>
                          </a:solidFill>
                          <a:latin typeface="Arial"/>
                        </a:rPr>
                        <a:t>92</a:t>
                      </a:r>
                    </a:p>
                  </a:txBody>
                  <a:tcPr marL="109728" marR="91440" marT="45720" marB="36576" anchor="ctr">
                    <a:solidFill>
                      <a:srgbClr val="FFFFFF"/>
                    </a:solidFill>
                    <a:lnL>
                      <a:noFill/>
                    </a:lnL>
                    <a:lnR>
                      <a:noFill/>
                    </a:lnR>
                    <a:lnT>
                      <a:noFill/>
                    </a:lnT>
                    <a:lnB>
                      <a:noFill/>
                    </a:lnB>
                  </a:tcPr>
                </a:tc>
              </a:tr>
              <a:tr h="384048">
                <a:tc>
                  <a:txBody>
                    <a:bodyPr/>
                    <a:lstStyle/>
                    <a:p>
                      <a:pPr algn="l">
                        <a:lnSpc>
                          <a:spcPct val="103000"/>
                        </a:lnSpc>
                        <a:spcBef>
                          <a:spcPts val="0"/>
                        </a:spcBef>
                        <a:spcAft>
                          <a:spcPts val="0"/>
                        </a:spcAft>
                      </a:pPr>
                      <a:r>
                        <a:rPr sz="1300" b="0">
                          <a:solidFill>
                            <a:srgbClr val="00407A"/>
                          </a:solidFill>
                          <a:latin typeface="Arial"/>
                        </a:rPr>
                        <a:t>Timing margin (slack) level</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300" b="0">
                          <a:solidFill>
                            <a:srgbClr val="00407A"/>
                          </a:solidFill>
                          <a:latin typeface="Arial"/>
                        </a:rPr>
                        <a:t>one of five levels</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300" b="0">
                          <a:solidFill>
                            <a:srgbClr val="00407A"/>
                          </a:solidFill>
                          <a:latin typeface="Arial"/>
                        </a:rPr>
                        <a:t>Design Compiler slack</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300" b="0">
                          <a:solidFill>
                            <a:srgbClr val="00407A"/>
                          </a:solidFill>
                          <a:latin typeface="Arial"/>
                        </a:rPr>
                        <a:t>92</a:t>
                      </a:r>
                    </a:p>
                  </a:txBody>
                  <a:tcPr marL="109728" marR="91440" marT="45720" marB="36576" anchor="ctr">
                    <a:solidFill>
                      <a:srgbClr val="E3EFF5"/>
                    </a:solidFill>
                    <a:lnL>
                      <a:noFill/>
                    </a:lnL>
                    <a:lnR>
                      <a:noFill/>
                    </a:lnR>
                    <a:lnT>
                      <a:noFill/>
                    </a:lnT>
                    <a:lnB>
                      <a:noFill/>
                    </a:lnB>
                  </a:tcPr>
                </a:tc>
              </a:tr>
              <a:tr h="731520">
                <a:tc>
                  <a:txBody>
                    <a:bodyPr/>
                    <a:lstStyle/>
                    <a:p>
                      <a:pPr algn="l">
                        <a:lnSpc>
                          <a:spcPct val="103000"/>
                        </a:lnSpc>
                        <a:spcBef>
                          <a:spcPts val="0"/>
                        </a:spcBef>
                        <a:spcAft>
                          <a:spcPts val="0"/>
                        </a:spcAft>
                      </a:pPr>
                      <a:r>
                        <a:rPr sz="1300" b="0">
                          <a:solidFill>
                            <a:srgbClr val="00407A"/>
                          </a:solidFill>
                          <a:latin typeface="Arial"/>
                        </a:rPr>
                        <a:t>Which of two designs has the smaller area and/or the lower power and/or the higher frequency?</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300" b="0">
                          <a:solidFill>
                            <a:srgbClr val="00407A"/>
                          </a:solidFill>
                          <a:latin typeface="Arial"/>
                        </a:rPr>
                        <a:t>A or B</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300" b="0">
                          <a:solidFill>
                            <a:srgbClr val="00407A"/>
                          </a:solidFill>
                          <a:latin typeface="Arial"/>
                        </a:rPr>
                        <a:t>the same tool runs</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300" b="0">
                          <a:solidFill>
                            <a:srgbClr val="00407A"/>
                          </a:solidFill>
                          <a:latin typeface="Arial"/>
                        </a:rPr>
                        <a:t>23, 22, and 6 pairs, each asked in both orders</a:t>
                      </a:r>
                    </a:p>
                  </a:txBody>
                  <a:tcPr marL="109728" marR="91440" marT="45720" marB="36576" anchor="ctr">
                    <a:solidFill>
                      <a:srgbClr val="FFFFFF"/>
                    </a:solidFill>
                    <a:lnL>
                      <a:noFill/>
                    </a:lnL>
                    <a:lnR>
                      <a:noFill/>
                    </a:lnR>
                    <a:lnT>
                      <a:noFill/>
                    </a:lnT>
                    <a:lnB>
                      <a:noFill/>
                    </a:lnB>
                  </a:tcPr>
                </a:tc>
              </a:tr>
            </a:tbl>
          </a:graphicData>
        </a:graphic>
      </p:graphicFrame>
      <p:sp>
        <p:nvSpPr>
          <p:cNvPr id="7" name="Right Bracket 6"/>
          <p:cNvSpPr/>
          <p:nvPr/>
        </p:nvSpPr>
        <p:spPr>
          <a:xfrm>
            <a:off x="10168128" y="2267712"/>
            <a:ext cx="146304" cy="676655"/>
          </a:xfrm>
          <a:prstGeom prst="rightBracket">
            <a:avLst/>
          </a:prstGeom>
          <a:noFill/>
          <a:ln w="22225">
            <a:solidFill>
              <a:srgbClr val="1D8D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05872" y="2487168"/>
            <a:ext cx="969264" cy="274320"/>
          </a:xfrm>
          <a:prstGeom prst="rect">
            <a:avLst/>
          </a:prstGeom>
          <a:noFill/>
        </p:spPr>
        <p:txBody>
          <a:bodyPr wrap="square" lIns="0" rIns="0" tIns="0" bIns="0" anchor="t">
            <a:noAutofit/>
          </a:bodyPr>
          <a:lstStyle/>
          <a:p>
            <a:pPr algn="l">
              <a:lnSpc>
                <a:spcPct val="109000"/>
              </a:lnSpc>
              <a:spcBef>
                <a:spcPts val="0"/>
              </a:spcBef>
              <a:spcAft>
                <a:spcPts val="0"/>
              </a:spcAft>
            </a:pPr>
            <a:r>
              <a:rPr sz="1150" b="0">
                <a:solidFill>
                  <a:srgbClr val="4A5A66"/>
                </a:solidFill>
                <a:latin typeface="Arial"/>
              </a:rPr>
              <a:t>one request</a:t>
            </a:r>
          </a:p>
        </p:txBody>
      </p:sp>
      <p:sp>
        <p:nvSpPr>
          <p:cNvPr id="9" name="Right Bracket 8"/>
          <p:cNvSpPr/>
          <p:nvPr/>
        </p:nvSpPr>
        <p:spPr>
          <a:xfrm>
            <a:off x="10168128" y="3035808"/>
            <a:ext cx="146304" cy="292607"/>
          </a:xfrm>
          <a:prstGeom prst="rightBracket">
            <a:avLst/>
          </a:prstGeom>
          <a:noFill/>
          <a:ln w="22225">
            <a:solidFill>
              <a:srgbClr val="1D8D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05872" y="3063240"/>
            <a:ext cx="969264" cy="274320"/>
          </a:xfrm>
          <a:prstGeom prst="rect">
            <a:avLst/>
          </a:prstGeom>
          <a:noFill/>
        </p:spPr>
        <p:txBody>
          <a:bodyPr wrap="square" lIns="0" rIns="0" tIns="0" bIns="0" anchor="t">
            <a:noAutofit/>
          </a:bodyPr>
          <a:lstStyle/>
          <a:p>
            <a:pPr algn="l">
              <a:lnSpc>
                <a:spcPct val="109000"/>
              </a:lnSpc>
              <a:spcBef>
                <a:spcPts val="0"/>
              </a:spcBef>
              <a:spcAft>
                <a:spcPts val="0"/>
              </a:spcAft>
            </a:pPr>
            <a:r>
              <a:rPr sz="1150" b="0">
                <a:solidFill>
                  <a:srgbClr val="4A5A66"/>
                </a:solidFill>
                <a:latin typeface="Arial"/>
              </a:rPr>
              <a:t>one request</a:t>
            </a:r>
          </a:p>
        </p:txBody>
      </p:sp>
      <p:sp>
        <p:nvSpPr>
          <p:cNvPr id="11" name="Right Bracket 10"/>
          <p:cNvSpPr/>
          <p:nvPr/>
        </p:nvSpPr>
        <p:spPr>
          <a:xfrm>
            <a:off x="10168128" y="3419856"/>
            <a:ext cx="146304" cy="1444751"/>
          </a:xfrm>
          <a:prstGeom prst="rightBracket">
            <a:avLst/>
          </a:prstGeom>
          <a:noFill/>
          <a:ln w="22225">
            <a:solidFill>
              <a:srgbClr val="1D8D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05872" y="4023360"/>
            <a:ext cx="969264" cy="274320"/>
          </a:xfrm>
          <a:prstGeom prst="rect">
            <a:avLst/>
          </a:prstGeom>
          <a:noFill/>
        </p:spPr>
        <p:txBody>
          <a:bodyPr wrap="square" lIns="0" rIns="0" tIns="0" bIns="0" anchor="t">
            <a:noAutofit/>
          </a:bodyPr>
          <a:lstStyle/>
          <a:p>
            <a:pPr algn="l">
              <a:lnSpc>
                <a:spcPct val="109000"/>
              </a:lnSpc>
              <a:spcBef>
                <a:spcPts val="0"/>
              </a:spcBef>
              <a:spcAft>
                <a:spcPts val="0"/>
              </a:spcAft>
            </a:pPr>
            <a:r>
              <a:rPr sz="1150" b="0">
                <a:solidFill>
                  <a:srgbClr val="4A5A66"/>
                </a:solidFill>
                <a:latin typeface="Arial"/>
              </a:rPr>
              <a:t>one request</a:t>
            </a:r>
          </a:p>
        </p:txBody>
      </p:sp>
      <p:sp>
        <p:nvSpPr>
          <p:cNvPr id="13" name="Right Bracket 12"/>
          <p:cNvSpPr/>
          <p:nvPr/>
        </p:nvSpPr>
        <p:spPr>
          <a:xfrm>
            <a:off x="10168128" y="4956048"/>
            <a:ext cx="146304" cy="640079"/>
          </a:xfrm>
          <a:prstGeom prst="rightBracket">
            <a:avLst/>
          </a:prstGeom>
          <a:noFill/>
          <a:ln w="22225">
            <a:solidFill>
              <a:srgbClr val="1D8D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05872" y="5157216"/>
            <a:ext cx="969264" cy="274320"/>
          </a:xfrm>
          <a:prstGeom prst="rect">
            <a:avLst/>
          </a:prstGeom>
          <a:noFill/>
        </p:spPr>
        <p:txBody>
          <a:bodyPr wrap="square" lIns="0" rIns="0" tIns="0" bIns="0" anchor="t">
            <a:noAutofit/>
          </a:bodyPr>
          <a:lstStyle/>
          <a:p>
            <a:pPr algn="l">
              <a:lnSpc>
                <a:spcPct val="109000"/>
              </a:lnSpc>
              <a:spcBef>
                <a:spcPts val="0"/>
              </a:spcBef>
              <a:spcAft>
                <a:spcPts val="0"/>
              </a:spcAft>
            </a:pPr>
            <a:r>
              <a:rPr sz="1150" b="0">
                <a:solidFill>
                  <a:srgbClr val="4A5A66"/>
                </a:solidFill>
                <a:latin typeface="Arial"/>
              </a:rPr>
              <a:t>one request</a:t>
            </a:r>
          </a:p>
        </p:txBody>
      </p:sp>
      <p:sp>
        <p:nvSpPr>
          <p:cNvPr id="15" name="Rounded Rectangle 14"/>
          <p:cNvSpPr/>
          <p:nvPr/>
        </p:nvSpPr>
        <p:spPr>
          <a:xfrm>
            <a:off x="813816" y="5715000"/>
            <a:ext cx="10561320" cy="603504"/>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7552" y="5769864"/>
            <a:ext cx="10213848" cy="493776"/>
          </a:xfrm>
          <a:prstGeom prst="rect">
            <a:avLst/>
          </a:prstGeom>
          <a:noFill/>
        </p:spPr>
        <p:txBody>
          <a:bodyPr wrap="square" lIns="0" rIns="0" tIns="0" bIns="0" anchor="ctr">
            <a:noAutofit/>
          </a:bodyPr>
          <a:lstStyle/>
          <a:p>
            <a:pPr algn="l">
              <a:lnSpc>
                <a:spcPct val="109000"/>
              </a:lnSpc>
              <a:spcBef>
                <a:spcPts val="0"/>
              </a:spcBef>
              <a:spcAft>
                <a:spcPts val="0"/>
              </a:spcAft>
            </a:pPr>
            <a:r>
              <a:rPr sz="1500" b="1">
                <a:solidFill>
                  <a:srgbClr val="00407A"/>
                </a:solidFill>
                <a:latin typeface="Arial"/>
              </a:rPr>
              <a:t>Questions in one bracket go to the model in one request. A pair request asks only the metrics in which the two designs differ by 10% or more.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The five levels of area, power, and timing</a:t>
            </a:r>
          </a:p>
        </p:txBody>
      </p:sp>
      <p:sp>
        <p:nvSpPr>
          <p:cNvPr id="3" name="TextBox 2"/>
          <p:cNvSpPr txBox="1"/>
          <p:nvPr/>
        </p:nvSpPr>
        <p:spPr>
          <a:xfrm>
            <a:off x="813816" y="1261872"/>
            <a:ext cx="1056132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The model chooses a level from the source code and the flow description, not an exact value.</a:t>
            </a:r>
          </a:p>
        </p:txBody>
      </p:sp>
      <p:sp>
        <p:nvSpPr>
          <p:cNvPr id="4" name="TextBox 3"/>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1  •  THE TEST</a:t>
            </a:r>
          </a:p>
        </p:txBody>
      </p:sp>
      <p:sp>
        <p:nvSpPr>
          <p:cNvPr id="5" name="TextBox 4"/>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6</a:t>
            </a:r>
          </a:p>
        </p:txBody>
      </p:sp>
      <p:graphicFrame>
        <p:nvGraphicFramePr>
          <p:cNvPr id="6" name="Table 5"/>
          <p:cNvGraphicFramePr>
            <a:graphicFrameLocks noGrp="1"/>
          </p:cNvGraphicFramePr>
          <p:nvPr/>
        </p:nvGraphicFramePr>
        <p:xfrm>
          <a:off x="813816" y="1810512"/>
          <a:ext cx="10561320" cy="2194560"/>
        </p:xfrm>
        <a:graphic>
          <a:graphicData uri="http://schemas.openxmlformats.org/drawingml/2006/table">
            <a:tbl>
              <a:tblPr firstRow="1" bandRow="1">
                <a:tableStyleId>{5C22544A-7EE6-4342-B048-85BDC9FD1C3A}</a:tableStyleId>
              </a:tblPr>
              <a:tblGrid>
                <a:gridCol w="2834640"/>
                <a:gridCol w="1051560"/>
                <a:gridCol w="1280160"/>
                <a:gridCol w="1691640"/>
                <a:gridCol w="1965960"/>
                <a:gridCol w="1737360"/>
              </a:tblGrid>
              <a:tr h="411480">
                <a:tc>
                  <a:txBody>
                    <a:bodyPr/>
                    <a:lstStyle/>
                    <a:p>
                      <a:pPr algn="l">
                        <a:lnSpc>
                          <a:spcPct val="103000"/>
                        </a:lnSpc>
                        <a:spcBef>
                          <a:spcPts val="0"/>
                        </a:spcBef>
                        <a:spcAft>
                          <a:spcPts val="0"/>
                        </a:spcAft>
                      </a:pPr>
                      <a:r>
                        <a:rPr sz="1400" b="1">
                          <a:solidFill>
                            <a:srgbClr val="FFFFFF"/>
                          </a:solidFill>
                          <a:latin typeface="Arial"/>
                        </a:rPr>
                        <a:t>Question</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Level 1</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Level 2</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Level 3</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Level 4</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Level 5</a:t>
                      </a:r>
                    </a:p>
                  </a:txBody>
                  <a:tcPr marL="109728" marR="91440" marT="45720" marB="36576" anchor="ctr">
                    <a:solidFill>
                      <a:srgbClr val="00407A"/>
                    </a:solidFill>
                    <a:lnL>
                      <a:noFill/>
                    </a:lnL>
                    <a:lnR>
                      <a:noFill/>
                    </a:lnR>
                    <a:lnT>
                      <a:noFill/>
                    </a:lnT>
                    <a:lnB>
                      <a:noFill/>
                    </a:lnB>
                  </a:tcPr>
                </a:tc>
              </a:tr>
              <a:tr h="445770">
                <a:tc>
                  <a:txBody>
                    <a:bodyPr/>
                    <a:lstStyle/>
                    <a:p>
                      <a:pPr algn="l">
                        <a:lnSpc>
                          <a:spcPct val="103000"/>
                        </a:lnSpc>
                        <a:spcBef>
                          <a:spcPts val="0"/>
                        </a:spcBef>
                        <a:spcAft>
                          <a:spcPts val="0"/>
                        </a:spcAft>
                      </a:pPr>
                      <a:r>
                        <a:rPr sz="1400" b="1">
                          <a:solidFill>
                            <a:srgbClr val="00407A"/>
                          </a:solidFill>
                          <a:latin typeface="Arial"/>
                        </a:rPr>
                        <a:t>Area (gate equivalents)</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below 100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100 to 1,000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1,000 to 10,000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10,000 to 100,000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100,000 or more</a:t>
                      </a:r>
                    </a:p>
                  </a:txBody>
                  <a:tcPr marL="109728" marR="91440" marT="45720" marB="36576" anchor="ctr">
                    <a:solidFill>
                      <a:srgbClr val="E3EFF5"/>
                    </a:solidFill>
                    <a:lnL>
                      <a:noFill/>
                    </a:lnL>
                    <a:lnR>
                      <a:noFill/>
                    </a:lnR>
                    <a:lnT>
                      <a:noFill/>
                    </a:lnT>
                    <a:lnB>
                      <a:noFill/>
                    </a:lnB>
                  </a:tcPr>
                </a:tc>
              </a:tr>
              <a:tr h="445770">
                <a:tc>
                  <a:txBody>
                    <a:bodyPr/>
                    <a:lstStyle/>
                    <a:p>
                      <a:pPr algn="l">
                        <a:lnSpc>
                          <a:spcPct val="103000"/>
                        </a:lnSpc>
                        <a:spcBef>
                          <a:spcPts val="0"/>
                        </a:spcBef>
                        <a:spcAft>
                          <a:spcPts val="0"/>
                        </a:spcAft>
                      </a:pPr>
                      <a:r>
                        <a:rPr sz="1400" b="1">
                          <a:solidFill>
                            <a:srgbClr val="00407A"/>
                          </a:solidFill>
                          <a:latin typeface="Arial"/>
                        </a:rPr>
                        <a:t>Power (microwatts)</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below 10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10 to 100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100 to 1,000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1,000 to 10,000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10,000 or more</a:t>
                      </a:r>
                    </a:p>
                  </a:txBody>
                  <a:tcPr marL="109728" marR="91440" marT="45720" marB="36576" anchor="ctr">
                    <a:solidFill>
                      <a:srgbClr val="FFFFFF"/>
                    </a:solidFill>
                    <a:lnL>
                      <a:noFill/>
                    </a:lnL>
                    <a:lnR>
                      <a:noFill/>
                    </a:lnR>
                    <a:lnT>
                      <a:noFill/>
                    </a:lnT>
                    <a:lnB>
                      <a:noFill/>
                    </a:lnB>
                  </a:tcPr>
                </a:tc>
              </a:tr>
              <a:tr h="445770">
                <a:tc>
                  <a:txBody>
                    <a:bodyPr/>
                    <a:lstStyle/>
                    <a:p>
                      <a:pPr algn="l">
                        <a:lnSpc>
                          <a:spcPct val="103000"/>
                        </a:lnSpc>
                        <a:spcBef>
                          <a:spcPts val="0"/>
                        </a:spcBef>
                        <a:spcAft>
                          <a:spcPts val="0"/>
                        </a:spcAft>
                      </a:pPr>
                      <a:r>
                        <a:rPr sz="1400" b="1">
                          <a:solidFill>
                            <a:srgbClr val="00407A"/>
                          </a:solidFill>
                          <a:latin typeface="Arial"/>
                        </a:rPr>
                        <a:t>Timing margin, slack (ns)</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negative</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 to 0.5</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0.5 to 1.0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1.0 to 1.5</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1.5 or more</a:t>
                      </a:r>
                    </a:p>
                  </a:txBody>
                  <a:tcPr marL="109728" marR="91440" marT="45720" marB="36576" anchor="ctr">
                    <a:solidFill>
                      <a:srgbClr val="E3EFF5"/>
                    </a:solidFill>
                    <a:lnL>
                      <a:noFill/>
                    </a:lnL>
                    <a:lnR>
                      <a:noFill/>
                    </a:lnR>
                    <a:lnT>
                      <a:noFill/>
                    </a:lnT>
                    <a:lnB>
                      <a:noFill/>
                    </a:lnB>
                  </a:tcPr>
                </a:tc>
              </a:tr>
              <a:tr h="445770">
                <a:tc>
                  <a:txBody>
                    <a:bodyPr/>
                    <a:lstStyle/>
                    <a:p>
                      <a:pPr algn="l">
                        <a:lnSpc>
                          <a:spcPct val="103000"/>
                        </a:lnSpc>
                        <a:spcBef>
                          <a:spcPts val="0"/>
                        </a:spcBef>
                        <a:spcAft>
                          <a:spcPts val="0"/>
                        </a:spcAft>
                      </a:pPr>
                      <a:r>
                        <a:rPr sz="1400" b="1">
                          <a:solidFill>
                            <a:srgbClr val="00407A"/>
                          </a:solidFill>
                          <a:latin typeface="Arial"/>
                        </a:rPr>
                        <a:t>Reachable frequency (GHz)</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below 1</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 to 2</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2 to 3</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3 to 4</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4 or more</a:t>
                      </a:r>
                    </a:p>
                  </a:txBody>
                  <a:tcPr marL="109728" marR="91440" marT="45720" marB="36576" anchor="ctr">
                    <a:solidFill>
                      <a:srgbClr val="FFFFFF"/>
                    </a:solidFill>
                    <a:lnL>
                      <a:noFill/>
                    </a:lnL>
                    <a:lnR>
                      <a:noFill/>
                    </a:lnR>
                    <a:lnT>
                      <a:noFill/>
                    </a:lnT>
                    <a:lnB>
                      <a:noFill/>
                    </a:lnB>
                  </a:tcPr>
                </a:tc>
              </a:tr>
            </a:tbl>
          </a:graphicData>
        </a:graphic>
      </p:graphicFrame>
      <p:sp>
        <p:nvSpPr>
          <p:cNvPr id="7" name="Rounded Rectangle 6"/>
          <p:cNvSpPr/>
          <p:nvPr/>
        </p:nvSpPr>
        <p:spPr>
          <a:xfrm>
            <a:off x="813816" y="4206240"/>
            <a:ext cx="5166360" cy="1371600"/>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13816" y="4206240"/>
            <a:ext cx="5166360" cy="41148"/>
          </a:xfrm>
          <a:prstGeom prst="rect">
            <a:avLst/>
          </a:prstGeom>
          <a:solidFill>
            <a:srgbClr val="1D8D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6" y="4334255"/>
            <a:ext cx="4709160" cy="365760"/>
          </a:xfrm>
          <a:prstGeom prst="rect">
            <a:avLst/>
          </a:prstGeom>
          <a:noFill/>
        </p:spPr>
        <p:txBody>
          <a:bodyPr wrap="square" lIns="0" rIns="0" tIns="0" bIns="0" anchor="t">
            <a:noAutofit/>
          </a:bodyPr>
          <a:lstStyle/>
          <a:p>
            <a:pPr algn="l">
              <a:lnSpc>
                <a:spcPct val="109000"/>
              </a:lnSpc>
              <a:spcBef>
                <a:spcPts val="0"/>
              </a:spcBef>
              <a:spcAft>
                <a:spcPts val="0"/>
              </a:spcAft>
            </a:pPr>
            <a:r>
              <a:rPr sz="1700" b="1">
                <a:solidFill>
                  <a:srgbClr val="00407A"/>
                </a:solidFill>
                <a:latin typeface="Arial"/>
              </a:rPr>
              <a:t>Units</a:t>
            </a:r>
          </a:p>
        </p:txBody>
      </p:sp>
      <p:sp>
        <p:nvSpPr>
          <p:cNvPr id="10" name="TextBox 9"/>
          <p:cNvSpPr txBox="1"/>
          <p:nvPr/>
        </p:nvSpPr>
        <p:spPr>
          <a:xfrm>
            <a:off x="1042416" y="4709159"/>
            <a:ext cx="4709160" cy="804672"/>
          </a:xfrm>
          <a:prstGeom prst="rect">
            <a:avLst/>
          </a:prstGeom>
          <a:noFill/>
        </p:spPr>
        <p:txBody>
          <a:bodyPr wrap="square" lIns="0" rIns="0" tIns="0" bIns="0" anchor="t">
            <a:noAutofit/>
          </a:bodyPr>
          <a:lstStyle/>
          <a:p>
            <a:pPr algn="l">
              <a:lnSpc>
                <a:spcPct val="109000"/>
              </a:lnSpc>
              <a:spcBef>
                <a:spcPts val="0"/>
              </a:spcBef>
              <a:spcAft>
                <a:spcPts val="0"/>
              </a:spcAft>
            </a:pPr>
            <a:r>
              <a:rPr sz="1350" b="0">
                <a:solidFill>
                  <a:srgbClr val="00407A"/>
                </a:solidFill>
                <a:latin typeface="Arial"/>
              </a:rPr>
              <a:t>1 gate equivalent (GE) = the area of one NAND2 gate = 0.196608 µm² in NanGate 15 nm.</a:t>
            </a:r>
          </a:p>
          <a:p>
            <a:pPr algn="l">
              <a:lnSpc>
                <a:spcPct val="109000"/>
              </a:lnSpc>
              <a:spcBef>
                <a:spcPts val="0"/>
              </a:spcBef>
              <a:spcAft>
                <a:spcPts val="0"/>
              </a:spcAft>
            </a:pPr>
            <a:r>
              <a:rPr sz="1350" b="0">
                <a:solidFill>
                  <a:srgbClr val="00407A"/>
                </a:solidFill>
                <a:latin typeface="Arial"/>
              </a:rPr>
              <a:t>Power = dynamic + leakage power for the testbench stimulus.</a:t>
            </a:r>
          </a:p>
        </p:txBody>
      </p:sp>
      <p:sp>
        <p:nvSpPr>
          <p:cNvPr id="11" name="Rounded Rectangle 10"/>
          <p:cNvSpPr/>
          <p:nvPr/>
        </p:nvSpPr>
        <p:spPr>
          <a:xfrm>
            <a:off x="6208776" y="4206240"/>
            <a:ext cx="5166360" cy="1371600"/>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8776" y="4206240"/>
            <a:ext cx="5166360" cy="41148"/>
          </a:xfrm>
          <a:prstGeom prst="rect">
            <a:avLst/>
          </a:prstGeom>
          <a:solidFill>
            <a:srgbClr val="1D8D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4334255"/>
            <a:ext cx="4709160" cy="365760"/>
          </a:xfrm>
          <a:prstGeom prst="rect">
            <a:avLst/>
          </a:prstGeom>
          <a:noFill/>
        </p:spPr>
        <p:txBody>
          <a:bodyPr wrap="square" lIns="0" rIns="0" tIns="0" bIns="0" anchor="t">
            <a:noAutofit/>
          </a:bodyPr>
          <a:lstStyle/>
          <a:p>
            <a:pPr algn="l">
              <a:lnSpc>
                <a:spcPct val="109000"/>
              </a:lnSpc>
              <a:spcBef>
                <a:spcPts val="0"/>
              </a:spcBef>
              <a:spcAft>
                <a:spcPts val="0"/>
              </a:spcAft>
            </a:pPr>
            <a:r>
              <a:rPr sz="1700" b="1">
                <a:solidFill>
                  <a:srgbClr val="00407A"/>
                </a:solidFill>
                <a:latin typeface="Arial"/>
              </a:rPr>
              <a:t>Reachable frequency</a:t>
            </a:r>
          </a:p>
        </p:txBody>
      </p:sp>
      <p:sp>
        <p:nvSpPr>
          <p:cNvPr id="14" name="TextBox 13"/>
          <p:cNvSpPr txBox="1"/>
          <p:nvPr/>
        </p:nvSpPr>
        <p:spPr>
          <a:xfrm>
            <a:off x="6437376" y="4709159"/>
            <a:ext cx="4709160" cy="804672"/>
          </a:xfrm>
          <a:prstGeom prst="rect">
            <a:avLst/>
          </a:prstGeom>
          <a:noFill/>
        </p:spPr>
        <p:txBody>
          <a:bodyPr wrap="square" lIns="0" rIns="0" tIns="0" bIns="0" anchor="t">
            <a:noAutofit/>
          </a:bodyPr>
          <a:lstStyle/>
          <a:p>
            <a:pPr algn="l">
              <a:lnSpc>
                <a:spcPct val="109000"/>
              </a:lnSpc>
              <a:spcBef>
                <a:spcPts val="0"/>
              </a:spcBef>
              <a:spcAft>
                <a:spcPts val="0"/>
              </a:spcAft>
            </a:pPr>
            <a:r>
              <a:rPr sz="1350" b="0">
                <a:solidFill>
                  <a:srgbClr val="00407A"/>
                </a:solidFill>
                <a:latin typeface="Arial"/>
              </a:rPr>
              <a:t>Reachable frequency = 1 / (2 ns − worst slack), from the netlist synthesized at 500 MHz.</a:t>
            </a:r>
          </a:p>
          <a:p>
            <a:pPr algn="l">
              <a:lnSpc>
                <a:spcPct val="109000"/>
              </a:lnSpc>
              <a:spcBef>
                <a:spcPts val="0"/>
              </a:spcBef>
              <a:spcAft>
                <a:spcPts val="0"/>
              </a:spcAft>
            </a:pPr>
            <a:r>
              <a:rPr sz="1350" b="0">
                <a:solidFill>
                  <a:srgbClr val="00407A"/>
                </a:solidFill>
                <a:latin typeface="Arial"/>
              </a:rPr>
              <a:t>Example: 1.438 ns of slack gives 1 / 0.562 ns = 1.78 GHz.</a:t>
            </a:r>
          </a:p>
        </p:txBody>
      </p:sp>
      <p:sp>
        <p:nvSpPr>
          <p:cNvPr id="15" name="Rounded Rectangle 14"/>
          <p:cNvSpPr/>
          <p:nvPr/>
        </p:nvSpPr>
        <p:spPr>
          <a:xfrm>
            <a:off x="813816" y="5715000"/>
            <a:ext cx="10561320" cy="603504"/>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7552" y="5769864"/>
            <a:ext cx="10213848" cy="493776"/>
          </a:xfrm>
          <a:prstGeom prst="rect">
            <a:avLst/>
          </a:prstGeom>
          <a:noFill/>
        </p:spPr>
        <p:txBody>
          <a:bodyPr wrap="square" lIns="0" rIns="0" tIns="0" bIns="0" anchor="ctr">
            <a:noAutofit/>
          </a:bodyPr>
          <a:lstStyle/>
          <a:p>
            <a:pPr algn="l">
              <a:lnSpc>
                <a:spcPct val="109000"/>
              </a:lnSpc>
              <a:spcBef>
                <a:spcPts val="0"/>
              </a:spcBef>
              <a:spcAft>
                <a:spcPts val="0"/>
              </a:spcAft>
            </a:pPr>
            <a:r>
              <a:rPr sz="1500" b="1">
                <a:solidFill>
                  <a:srgbClr val="00407A"/>
                </a:solidFill>
                <a:latin typeface="Arial"/>
              </a:rPr>
              <a:t>One level of area or power is a factor of 10. No test design misses the 500 MHz target (slack level 1), reaches 4 GHz, or uses 10 mW or more.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Experiment 2: three solved examples per question</a:t>
            </a:r>
          </a:p>
        </p:txBody>
      </p:sp>
      <p:sp>
        <p:nvSpPr>
          <p:cNvPr id="3" name="TextBox 2"/>
          <p:cNvSpPr txBox="1"/>
          <p:nvPr/>
        </p:nvSpPr>
        <p:spPr>
          <a:xfrm>
            <a:off x="813816" y="1261872"/>
            <a:ext cx="1056132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The same 725 test questions, one per request. The three examples are development designs with their tool result.</a:t>
            </a:r>
          </a:p>
        </p:txBody>
      </p:sp>
      <p:sp>
        <p:nvSpPr>
          <p:cNvPr id="4" name="TextBox 3"/>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1  •  THE TEST</a:t>
            </a:r>
          </a:p>
        </p:txBody>
      </p:sp>
      <p:sp>
        <p:nvSpPr>
          <p:cNvPr id="5" name="TextBox 4"/>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7</a:t>
            </a:r>
          </a:p>
        </p:txBody>
      </p:sp>
      <p:graphicFrame>
        <p:nvGraphicFramePr>
          <p:cNvPr id="6" name="Table 5"/>
          <p:cNvGraphicFramePr>
            <a:graphicFrameLocks noGrp="1"/>
          </p:cNvGraphicFramePr>
          <p:nvPr/>
        </p:nvGraphicFramePr>
        <p:xfrm>
          <a:off x="813816" y="1810512"/>
          <a:ext cx="10561320" cy="3703312"/>
        </p:xfrm>
        <a:graphic>
          <a:graphicData uri="http://schemas.openxmlformats.org/drawingml/2006/table">
            <a:tbl>
              <a:tblPr firstRow="1" bandRow="1">
                <a:tableStyleId>{5C22544A-7EE6-4342-B048-85BDC9FD1C3A}</a:tableStyleId>
              </a:tblPr>
              <a:tblGrid>
                <a:gridCol w="2514600"/>
                <a:gridCol w="8046720"/>
              </a:tblGrid>
              <a:tr h="411480">
                <a:tc>
                  <a:txBody>
                    <a:bodyPr/>
                    <a:lstStyle/>
                    <a:p>
                      <a:pPr algn="l">
                        <a:lnSpc>
                          <a:spcPct val="103000"/>
                        </a:lnSpc>
                        <a:spcBef>
                          <a:spcPts val="0"/>
                        </a:spcBef>
                        <a:spcAft>
                          <a:spcPts val="0"/>
                        </a:spcAft>
                      </a:pPr>
                      <a:r>
                        <a:rPr sz="1500" b="1">
                          <a:solidFill>
                            <a:srgbClr val="FFFFFF"/>
                          </a:solidFill>
                          <a:latin typeface="Arial"/>
                        </a:rPr>
                        <a:t>Question</a:t>
                      </a:r>
                    </a:p>
                  </a:txBody>
                  <a:tcPr marL="109728" marR="91440" marT="45720" marB="36576" anchor="ctr">
                    <a:solidFill>
                      <a:srgbClr val="00407A"/>
                    </a:solidFill>
                    <a:lnL>
                      <a:noFill/>
                    </a:lnL>
                    <a:lnR>
                      <a:noFill/>
                    </a:lnR>
                    <a:lnT>
                      <a:noFill/>
                    </a:lnT>
                    <a:lnB>
                      <a:noFill/>
                    </a:lnB>
                  </a:tcPr>
                </a:tc>
                <a:tc>
                  <a:txBody>
                    <a:bodyPr/>
                    <a:lstStyle/>
                    <a:p>
                      <a:pPr algn="l">
                        <a:lnSpc>
                          <a:spcPct val="103000"/>
                        </a:lnSpc>
                        <a:spcBef>
                          <a:spcPts val="0"/>
                        </a:spcBef>
                        <a:spcAft>
                          <a:spcPts val="0"/>
                        </a:spcAft>
                      </a:pPr>
                      <a:r>
                        <a:rPr sz="1500" b="1">
                          <a:solidFill>
                            <a:srgbClr val="FFFFFF"/>
                          </a:solidFill>
                          <a:latin typeface="Arial"/>
                        </a:rPr>
                        <a:t>The three examples before the design, with their tool result</a:t>
                      </a:r>
                    </a:p>
                  </a:txBody>
                  <a:tcPr marL="109728" marR="91440" marT="45720" marB="36576" anchor="ctr">
                    <a:solidFill>
                      <a:srgbClr val="00407A"/>
                    </a:solidFill>
                    <a:lnL>
                      <a:noFill/>
                    </a:lnL>
                    <a:lnR>
                      <a:noFill/>
                    </a:lnR>
                    <a:lnT>
                      <a:noFill/>
                    </a:lnT>
                    <a:lnB>
                      <a:noFill/>
                    </a:lnB>
                  </a:tcPr>
                </a:tc>
              </a:tr>
              <a:tr h="411479">
                <a:tc>
                  <a:txBody>
                    <a:bodyPr/>
                    <a:lstStyle/>
                    <a:p>
                      <a:pPr algn="l">
                        <a:lnSpc>
                          <a:spcPct val="103000"/>
                        </a:lnSpc>
                        <a:spcBef>
                          <a:spcPts val="0"/>
                        </a:spcBef>
                        <a:spcAft>
                          <a:spcPts val="0"/>
                        </a:spcAft>
                      </a:pPr>
                      <a:r>
                        <a:rPr sz="1500" b="1">
                          <a:solidFill>
                            <a:srgbClr val="00407A"/>
                          </a:solidFill>
                          <a:latin typeface="Arial"/>
                        </a:rPr>
                        <a:t>Does it compile?</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500" b="0">
                          <a:solidFill>
                            <a:srgbClr val="00407A"/>
                          </a:solidFill>
                          <a:latin typeface="Arial"/>
                        </a:rPr>
                        <a:t>1 compiles, 2 fail; each failure with its first vlog error</a:t>
                      </a:r>
                    </a:p>
                  </a:txBody>
                  <a:tcPr marL="109728" marR="91440" marT="45720" marB="36576" anchor="ctr">
                    <a:solidFill>
                      <a:srgbClr val="E3EFF5"/>
                    </a:solidFill>
                    <a:lnL>
                      <a:noFill/>
                    </a:lnL>
                    <a:lnR>
                      <a:noFill/>
                    </a:lnR>
                    <a:lnT>
                      <a:noFill/>
                    </a:lnT>
                    <a:lnB>
                      <a:noFill/>
                    </a:lnB>
                  </a:tcPr>
                </a:tc>
              </a:tr>
              <a:tr h="411479">
                <a:tc>
                  <a:txBody>
                    <a:bodyPr/>
                    <a:lstStyle/>
                    <a:p>
                      <a:pPr algn="l">
                        <a:lnSpc>
                          <a:spcPct val="103000"/>
                        </a:lnSpc>
                        <a:spcBef>
                          <a:spcPts val="0"/>
                        </a:spcBef>
                        <a:spcAft>
                          <a:spcPts val="0"/>
                        </a:spcAft>
                      </a:pPr>
                      <a:r>
                        <a:rPr sz="1500" b="1">
                          <a:solidFill>
                            <a:srgbClr val="00407A"/>
                          </a:solidFill>
                          <a:latin typeface="Arial"/>
                        </a:rPr>
                        <a:t>Does it synthesize?</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500" b="0">
                          <a:solidFill>
                            <a:srgbClr val="00407A"/>
                          </a:solidFill>
                          <a:latin typeface="Arial"/>
                        </a:rPr>
                        <a:t>1 synthesizes, 2 fail; each failure with its first DC error</a:t>
                      </a:r>
                    </a:p>
                  </a:txBody>
                  <a:tcPr marL="109728" marR="91440" marT="45720" marB="36576" anchor="ctr">
                    <a:solidFill>
                      <a:srgbClr val="FFFFFF"/>
                    </a:solidFill>
                    <a:lnL>
                      <a:noFill/>
                    </a:lnL>
                    <a:lnR>
                      <a:noFill/>
                    </a:lnR>
                    <a:lnT>
                      <a:noFill/>
                    </a:lnT>
                    <a:lnB>
                      <a:noFill/>
                    </a:lnB>
                  </a:tcPr>
                </a:tc>
              </a:tr>
              <a:tr h="411479">
                <a:tc>
                  <a:txBody>
                    <a:bodyPr/>
                    <a:lstStyle/>
                    <a:p>
                      <a:pPr algn="l">
                        <a:lnSpc>
                          <a:spcPct val="103000"/>
                        </a:lnSpc>
                        <a:spcBef>
                          <a:spcPts val="0"/>
                        </a:spcBef>
                        <a:spcAft>
                          <a:spcPts val="0"/>
                        </a:spcAft>
                      </a:pPr>
                      <a:r>
                        <a:rPr sz="1500" b="1">
                          <a:solidFill>
                            <a:srgbClr val="00407A"/>
                          </a:solidFill>
                          <a:latin typeface="Arial"/>
                        </a:rPr>
                        <a:t>Why does synthesis fail?</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500" b="0">
                          <a:solidFill>
                            <a:srgbClr val="00407A"/>
                          </a:solidFill>
                          <a:latin typeface="Arial"/>
                        </a:rPr>
                        <a:t>multiple_drivers, illegal_code and event_list; each with its first DC error</a:t>
                      </a:r>
                    </a:p>
                  </a:txBody>
                  <a:tcPr marL="109728" marR="91440" marT="45720" marB="36576" anchor="ctr">
                    <a:solidFill>
                      <a:srgbClr val="E3EFF5"/>
                    </a:solidFill>
                    <a:lnL>
                      <a:noFill/>
                    </a:lnL>
                    <a:lnR>
                      <a:noFill/>
                    </a:lnR>
                    <a:lnT>
                      <a:noFill/>
                    </a:lnT>
                    <a:lnB>
                      <a:noFill/>
                    </a:lnB>
                  </a:tcPr>
                </a:tc>
              </a:tr>
              <a:tr h="411479">
                <a:tc>
                  <a:txBody>
                    <a:bodyPr/>
                    <a:lstStyle/>
                    <a:p>
                      <a:pPr algn="l">
                        <a:lnSpc>
                          <a:spcPct val="103000"/>
                        </a:lnSpc>
                        <a:spcBef>
                          <a:spcPts val="0"/>
                        </a:spcBef>
                        <a:spcAft>
                          <a:spcPts val="0"/>
                        </a:spcAft>
                      </a:pPr>
                      <a:r>
                        <a:rPr sz="1500" b="1">
                          <a:solidFill>
                            <a:srgbClr val="00407A"/>
                          </a:solidFill>
                          <a:latin typeface="Arial"/>
                        </a:rPr>
                        <a:t>Area level</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500" b="0">
                          <a:solidFill>
                            <a:srgbClr val="00407A"/>
                          </a:solidFill>
                          <a:latin typeface="Arial"/>
                        </a:rPr>
                        <a:t>71.5 GE (level 1)  •  1,323.3 GE (level 3)  •  519,474.0 GE (level 5)</a:t>
                      </a:r>
                    </a:p>
                  </a:txBody>
                  <a:tcPr marL="109728" marR="91440" marT="45720" marB="36576" anchor="ctr">
                    <a:solidFill>
                      <a:srgbClr val="FFFFFF"/>
                    </a:solidFill>
                    <a:lnL>
                      <a:noFill/>
                    </a:lnL>
                    <a:lnR>
                      <a:noFill/>
                    </a:lnR>
                    <a:lnT>
                      <a:noFill/>
                    </a:lnT>
                    <a:lnB>
                      <a:noFill/>
                    </a:lnB>
                  </a:tcPr>
                </a:tc>
              </a:tr>
              <a:tr h="411479">
                <a:tc>
                  <a:txBody>
                    <a:bodyPr/>
                    <a:lstStyle/>
                    <a:p>
                      <a:pPr algn="l">
                        <a:lnSpc>
                          <a:spcPct val="103000"/>
                        </a:lnSpc>
                        <a:spcBef>
                          <a:spcPts val="0"/>
                        </a:spcBef>
                        <a:spcAft>
                          <a:spcPts val="0"/>
                        </a:spcAft>
                      </a:pPr>
                      <a:r>
                        <a:rPr sz="1500" b="1">
                          <a:solidFill>
                            <a:srgbClr val="00407A"/>
                          </a:solidFill>
                          <a:latin typeface="Arial"/>
                        </a:rPr>
                        <a:t>Power level</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500" b="0">
                          <a:solidFill>
                            <a:srgbClr val="00407A"/>
                          </a:solidFill>
                          <a:latin typeface="Arial"/>
                        </a:rPr>
                        <a:t>12.48 µW (level 2)  •  300.8 µW (level 3)  •  26.2 mW (level 5)</a:t>
                      </a:r>
                    </a:p>
                  </a:txBody>
                  <a:tcPr marL="109728" marR="91440" marT="45720" marB="36576" anchor="ctr">
                    <a:solidFill>
                      <a:srgbClr val="E3EFF5"/>
                    </a:solidFill>
                    <a:lnL>
                      <a:noFill/>
                    </a:lnL>
                    <a:lnR>
                      <a:noFill/>
                    </a:lnR>
                    <a:lnT>
                      <a:noFill/>
                    </a:lnT>
                    <a:lnB>
                      <a:noFill/>
                    </a:lnB>
                  </a:tcPr>
                </a:tc>
              </a:tr>
              <a:tr h="411479">
                <a:tc>
                  <a:txBody>
                    <a:bodyPr/>
                    <a:lstStyle/>
                    <a:p>
                      <a:pPr algn="l">
                        <a:lnSpc>
                          <a:spcPct val="103000"/>
                        </a:lnSpc>
                        <a:spcBef>
                          <a:spcPts val="0"/>
                        </a:spcBef>
                        <a:spcAft>
                          <a:spcPts val="0"/>
                        </a:spcAft>
                      </a:pPr>
                      <a:r>
                        <a:rPr sz="1500" b="1">
                          <a:solidFill>
                            <a:srgbClr val="00407A"/>
                          </a:solidFill>
                          <a:latin typeface="Arial"/>
                        </a:rPr>
                        <a:t>Frequency level</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500" b="0">
                          <a:solidFill>
                            <a:srgbClr val="00407A"/>
                          </a:solidFill>
                          <a:latin typeface="Arial"/>
                        </a:rPr>
                        <a:t>612 MHz (level 1)  •  2,137 MHz (level 3)  •  3,572 MHz (level 4)</a:t>
                      </a:r>
                    </a:p>
                  </a:txBody>
                  <a:tcPr marL="109728" marR="91440" marT="45720" marB="36576" anchor="ctr">
                    <a:solidFill>
                      <a:srgbClr val="FFFFFF"/>
                    </a:solidFill>
                    <a:lnL>
                      <a:noFill/>
                    </a:lnL>
                    <a:lnR>
                      <a:noFill/>
                    </a:lnR>
                    <a:lnT>
                      <a:noFill/>
                    </a:lnT>
                    <a:lnB>
                      <a:noFill/>
                    </a:lnB>
                  </a:tcPr>
                </a:tc>
              </a:tr>
              <a:tr h="411479">
                <a:tc>
                  <a:txBody>
                    <a:bodyPr/>
                    <a:lstStyle/>
                    <a:p>
                      <a:pPr algn="l">
                        <a:lnSpc>
                          <a:spcPct val="103000"/>
                        </a:lnSpc>
                        <a:spcBef>
                          <a:spcPts val="0"/>
                        </a:spcBef>
                        <a:spcAft>
                          <a:spcPts val="0"/>
                        </a:spcAft>
                      </a:pPr>
                      <a:r>
                        <a:rPr sz="1500" b="1">
                          <a:solidFill>
                            <a:srgbClr val="00407A"/>
                          </a:solidFill>
                          <a:latin typeface="Arial"/>
                        </a:rPr>
                        <a:t>Slack level</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500" b="0">
                          <a:solidFill>
                            <a:srgbClr val="00407A"/>
                          </a:solidFill>
                          <a:latin typeface="Arial"/>
                        </a:rPr>
                        <a:t>+0.365 ns (level 2)  •  +0.962 ns (level 3)  •  +1.532 ns (level 5)</a:t>
                      </a:r>
                    </a:p>
                  </a:txBody>
                  <a:tcPr marL="109728" marR="91440" marT="45720" marB="36576" anchor="ctr">
                    <a:solidFill>
                      <a:srgbClr val="E3EFF5"/>
                    </a:solidFill>
                    <a:lnL>
                      <a:noFill/>
                    </a:lnL>
                    <a:lnR>
                      <a:noFill/>
                    </a:lnR>
                    <a:lnT>
                      <a:noFill/>
                    </a:lnT>
                    <a:lnB>
                      <a:noFill/>
                    </a:lnB>
                  </a:tcPr>
                </a:tc>
              </a:tr>
              <a:tr h="411479">
                <a:tc>
                  <a:txBody>
                    <a:bodyPr/>
                    <a:lstStyle/>
                    <a:p>
                      <a:pPr algn="l">
                        <a:lnSpc>
                          <a:spcPct val="103000"/>
                        </a:lnSpc>
                        <a:spcBef>
                          <a:spcPts val="0"/>
                        </a:spcBef>
                        <a:spcAft>
                          <a:spcPts val="0"/>
                        </a:spcAft>
                      </a:pPr>
                      <a:r>
                        <a:rPr sz="1500" b="1">
                          <a:solidFill>
                            <a:srgbClr val="00407A"/>
                          </a:solidFill>
                          <a:latin typeface="Arial"/>
                        </a:rPr>
                        <a:t>Which of two designs?</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500" b="0">
                          <a:solidFill>
                            <a:srgbClr val="00407A"/>
                          </a:solidFill>
                          <a:latin typeface="Arial"/>
                        </a:rPr>
                        <a:t>The three designs of the metric (area, power, or frequency), with the exact value only</a:t>
                      </a:r>
                    </a:p>
                  </a:txBody>
                  <a:tcPr marL="109728" marR="91440" marT="45720" marB="36576" anchor="ctr">
                    <a:solidFill>
                      <a:srgbClr val="FFFFFF"/>
                    </a:solidFill>
                    <a:lnL>
                      <a:noFill/>
                    </a:lnL>
                    <a:lnR>
                      <a:noFill/>
                    </a:lnR>
                    <a:lnT>
                      <a:noFill/>
                    </a:lnT>
                    <a:lnB>
                      <a:noFill/>
                    </a:lnB>
                  </a:tcPr>
                </a:tc>
              </a:tr>
            </a:tbl>
          </a:graphicData>
        </a:graphic>
      </p:graphicFrame>
      <p:sp>
        <p:nvSpPr>
          <p:cNvPr id="7" name="Rounded Rectangle 6"/>
          <p:cNvSpPr/>
          <p:nvPr/>
        </p:nvSpPr>
        <p:spPr>
          <a:xfrm>
            <a:off x="813816" y="5715000"/>
            <a:ext cx="10561320" cy="603504"/>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5769864"/>
            <a:ext cx="10213848" cy="493776"/>
          </a:xfrm>
          <a:prstGeom prst="rect">
            <a:avLst/>
          </a:prstGeom>
          <a:noFill/>
        </p:spPr>
        <p:txBody>
          <a:bodyPr wrap="square" lIns="0" rIns="0" tIns="0" bIns="0" anchor="ctr">
            <a:noAutofit/>
          </a:bodyPr>
          <a:lstStyle/>
          <a:p>
            <a:pPr algn="l">
              <a:lnSpc>
                <a:spcPct val="109000"/>
              </a:lnSpc>
              <a:spcBef>
                <a:spcPts val="0"/>
              </a:spcBef>
              <a:spcAft>
                <a:spcPts val="0"/>
              </a:spcAft>
            </a:pPr>
            <a:r>
              <a:rPr sz="1500" b="1">
                <a:solidFill>
                  <a:srgbClr val="00407A"/>
                </a:solidFill>
                <a:latin typeface="Arial"/>
              </a:rPr>
              <a:t>All questions of one kind get the same three examples. No example shares a base design with a test design.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How to read the result charts</a:t>
            </a:r>
          </a:p>
        </p:txBody>
      </p:sp>
      <p:sp>
        <p:nvSpPr>
          <p:cNvPr id="3" name="TextBox 2"/>
          <p:cNvSpPr txBox="1"/>
          <p:nvPr/>
        </p:nvSpPr>
        <p:spPr>
          <a:xfrm>
            <a:off x="813816" y="1261872"/>
            <a:ext cx="763524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The same chart form on every result slide. The example: the synthesis question.</a:t>
            </a:r>
          </a:p>
        </p:txBody>
      </p:sp>
      <p:sp>
        <p:nvSpPr>
          <p:cNvPr id="4" name="Rectangle 3"/>
          <p:cNvSpPr/>
          <p:nvPr/>
        </p:nvSpPr>
        <p:spPr>
          <a:xfrm>
            <a:off x="8549640" y="1353312"/>
            <a:ext cx="182880" cy="182880"/>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05672" y="1298448"/>
            <a:ext cx="1097280" cy="274320"/>
          </a:xfrm>
          <a:prstGeom prst="rect">
            <a:avLst/>
          </a:prstGeom>
          <a:noFill/>
        </p:spPr>
        <p:txBody>
          <a:bodyPr wrap="square" lIns="0" rIns="0" tIns="0" bIns="0" anchor="t">
            <a:noAutofit/>
          </a:bodyPr>
          <a:lstStyle/>
          <a:p>
            <a:pPr algn="l">
              <a:lnSpc>
                <a:spcPct val="109000"/>
              </a:lnSpc>
              <a:spcBef>
                <a:spcPts val="0"/>
              </a:spcBef>
              <a:spcAft>
                <a:spcPts val="0"/>
              </a:spcAft>
            </a:pPr>
            <a:r>
              <a:rPr sz="1200" b="0">
                <a:solidFill>
                  <a:srgbClr val="4A5A66"/>
                </a:solidFill>
                <a:latin typeface="Arial"/>
              </a:rPr>
              <a:t>no examples</a:t>
            </a:r>
          </a:p>
        </p:txBody>
      </p:sp>
      <p:sp>
        <p:nvSpPr>
          <p:cNvPr id="6" name="Rectangle 5"/>
          <p:cNvSpPr/>
          <p:nvPr/>
        </p:nvSpPr>
        <p:spPr>
          <a:xfrm>
            <a:off x="9921240" y="1353312"/>
            <a:ext cx="182880" cy="182880"/>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77272" y="1298448"/>
            <a:ext cx="1280160" cy="274320"/>
          </a:xfrm>
          <a:prstGeom prst="rect">
            <a:avLst/>
          </a:prstGeom>
          <a:noFill/>
        </p:spPr>
        <p:txBody>
          <a:bodyPr wrap="square" lIns="0" rIns="0" tIns="0" bIns="0" anchor="t">
            <a:noAutofit/>
          </a:bodyPr>
          <a:lstStyle/>
          <a:p>
            <a:pPr algn="l">
              <a:lnSpc>
                <a:spcPct val="109000"/>
              </a:lnSpc>
              <a:spcBef>
                <a:spcPts val="0"/>
              </a:spcBef>
              <a:spcAft>
                <a:spcPts val="0"/>
              </a:spcAft>
            </a:pPr>
            <a:r>
              <a:rPr sz="1200" b="0">
                <a:solidFill>
                  <a:srgbClr val="4A5A66"/>
                </a:solidFill>
                <a:latin typeface="Arial"/>
              </a:rPr>
              <a:t>three examples</a:t>
            </a:r>
          </a:p>
        </p:txBody>
      </p:sp>
      <p:sp>
        <p:nvSpPr>
          <p:cNvPr id="8" name="TextBox 7"/>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1  •  THE TEST</a:t>
            </a:r>
          </a:p>
        </p:txBody>
      </p:sp>
      <p:sp>
        <p:nvSpPr>
          <p:cNvPr id="9" name="TextBox 8"/>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8</a:t>
            </a:r>
          </a:p>
        </p:txBody>
      </p:sp>
      <p:sp>
        <p:nvSpPr>
          <p:cNvPr id="10" name="Rounded Rectangle 9"/>
          <p:cNvSpPr/>
          <p:nvPr/>
        </p:nvSpPr>
        <p:spPr>
          <a:xfrm>
            <a:off x="813816" y="1828800"/>
            <a:ext cx="5166360" cy="3749039"/>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1975104"/>
            <a:ext cx="4764024" cy="365760"/>
          </a:xfrm>
          <a:prstGeom prst="rect">
            <a:avLst/>
          </a:prstGeom>
          <a:noFill/>
        </p:spPr>
        <p:txBody>
          <a:bodyPr wrap="square" lIns="0" rIns="0" tIns="0" bIns="0" anchor="t">
            <a:noAutofit/>
          </a:bodyPr>
          <a:lstStyle/>
          <a:p>
            <a:pPr algn="l">
              <a:lnSpc>
                <a:spcPct val="109000"/>
              </a:lnSpc>
              <a:spcBef>
                <a:spcPts val="0"/>
              </a:spcBef>
              <a:spcAft>
                <a:spcPts val="0"/>
              </a:spcAft>
            </a:pPr>
            <a:r>
              <a:rPr sz="1800" b="1">
                <a:solidFill>
                  <a:srgbClr val="00407A"/>
                </a:solidFill>
                <a:latin typeface="Arial"/>
              </a:rPr>
              <a:t>Does it synthesize?</a:t>
            </a:r>
          </a:p>
        </p:txBody>
      </p:sp>
      <p:sp>
        <p:nvSpPr>
          <p:cNvPr id="12" name="TextBox 11"/>
          <p:cNvSpPr txBox="1"/>
          <p:nvPr/>
        </p:nvSpPr>
        <p:spPr>
          <a:xfrm>
            <a:off x="1014984" y="2359152"/>
            <a:ext cx="4764024" cy="274320"/>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4A5A66"/>
                </a:solidFill>
                <a:latin typeface="Arial"/>
              </a:rPr>
              <a:t>The tool says “yes” for 99 of the 123 designs and “no” for 24</a:t>
            </a:r>
          </a:p>
        </p:txBody>
      </p:sp>
      <p:cxnSp>
        <p:nvCxnSpPr>
          <p:cNvPr id="13" name="Connector 12"/>
          <p:cNvCxnSpPr/>
          <p:nvPr/>
        </p:nvCxnSpPr>
        <p:spPr>
          <a:xfrm>
            <a:off x="1664208"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463040"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0</a:t>
            </a:r>
          </a:p>
        </p:txBody>
      </p:sp>
      <p:cxnSp>
        <p:nvCxnSpPr>
          <p:cNvPr id="15" name="Connector 14"/>
          <p:cNvCxnSpPr/>
          <p:nvPr/>
        </p:nvCxnSpPr>
        <p:spPr>
          <a:xfrm>
            <a:off x="2610612"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409444"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50</a:t>
            </a:r>
          </a:p>
        </p:txBody>
      </p:sp>
      <p:cxnSp>
        <p:nvCxnSpPr>
          <p:cNvPr id="17" name="Connector 16"/>
          <p:cNvCxnSpPr/>
          <p:nvPr/>
        </p:nvCxnSpPr>
        <p:spPr>
          <a:xfrm>
            <a:off x="3557016"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355848"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100</a:t>
            </a:r>
          </a:p>
        </p:txBody>
      </p:sp>
      <p:cxnSp>
        <p:nvCxnSpPr>
          <p:cNvPr id="19" name="Connector 18"/>
          <p:cNvCxnSpPr/>
          <p:nvPr/>
        </p:nvCxnSpPr>
        <p:spPr>
          <a:xfrm>
            <a:off x="2033536" y="2688336"/>
            <a:ext cx="0" cy="2416759"/>
          </a:xfrm>
          <a:prstGeom prst="line">
            <a:avLst/>
          </a:prstGeom>
          <a:ln w="15240">
            <a:solidFill>
              <a:srgbClr val="4A5A66"/>
            </a:solidFill>
            <a:prstDash val="dash"/>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187687" y="2688336"/>
            <a:ext cx="0" cy="2416759"/>
          </a:xfrm>
          <a:prstGeom prst="line">
            <a:avLst/>
          </a:prstGeom>
          <a:ln w="15240">
            <a:solidFill>
              <a:srgbClr val="4A5A66"/>
            </a:solidFill>
            <a:prstDash val="dash"/>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96696" y="2834640"/>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0.8B</a:t>
            </a:r>
          </a:p>
        </p:txBody>
      </p:sp>
      <p:sp>
        <p:nvSpPr>
          <p:cNvPr id="22" name="Rectangle 21"/>
          <p:cNvSpPr/>
          <p:nvPr/>
        </p:nvSpPr>
        <p:spPr>
          <a:xfrm>
            <a:off x="1664208" y="2743200"/>
            <a:ext cx="1523479"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48456" y="2715768"/>
            <a:ext cx="22860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80.5% · 99 of 99 yes · 0 of 24 no</a:t>
            </a:r>
          </a:p>
        </p:txBody>
      </p:sp>
      <p:sp>
        <p:nvSpPr>
          <p:cNvPr id="24" name="Rectangle 23"/>
          <p:cNvSpPr/>
          <p:nvPr/>
        </p:nvSpPr>
        <p:spPr>
          <a:xfrm>
            <a:off x="1664208" y="2991916"/>
            <a:ext cx="369328"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48456" y="2964484"/>
            <a:ext cx="22860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19.5% · 0 of 99 yes · 24 of 24 no</a:t>
            </a:r>
          </a:p>
        </p:txBody>
      </p:sp>
      <p:sp>
        <p:nvSpPr>
          <p:cNvPr id="26" name="TextBox 25"/>
          <p:cNvSpPr txBox="1"/>
          <p:nvPr/>
        </p:nvSpPr>
        <p:spPr>
          <a:xfrm>
            <a:off x="996696" y="3456432"/>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4B</a:t>
            </a:r>
          </a:p>
        </p:txBody>
      </p:sp>
      <p:sp>
        <p:nvSpPr>
          <p:cNvPr id="27" name="Rectangle 26"/>
          <p:cNvSpPr/>
          <p:nvPr/>
        </p:nvSpPr>
        <p:spPr>
          <a:xfrm>
            <a:off x="1664208" y="3364992"/>
            <a:ext cx="1508090"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48456" y="3337560"/>
            <a:ext cx="22860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79.7% · 98 of 99 yes · 0 of 24 no</a:t>
            </a:r>
          </a:p>
        </p:txBody>
      </p:sp>
      <p:sp>
        <p:nvSpPr>
          <p:cNvPr id="29" name="Rectangle 28"/>
          <p:cNvSpPr/>
          <p:nvPr/>
        </p:nvSpPr>
        <p:spPr>
          <a:xfrm>
            <a:off x="1664208" y="3613708"/>
            <a:ext cx="1538868"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48456" y="3586276"/>
            <a:ext cx="22860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81.3% · 98 of 99 yes · 2 of 24 no</a:t>
            </a:r>
          </a:p>
        </p:txBody>
      </p:sp>
      <p:sp>
        <p:nvSpPr>
          <p:cNvPr id="31" name="TextBox 30"/>
          <p:cNvSpPr txBox="1"/>
          <p:nvPr/>
        </p:nvSpPr>
        <p:spPr>
          <a:xfrm>
            <a:off x="996696" y="4078224"/>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9B</a:t>
            </a:r>
          </a:p>
        </p:txBody>
      </p:sp>
      <p:sp>
        <p:nvSpPr>
          <p:cNvPr id="32" name="Rectangle 31"/>
          <p:cNvSpPr/>
          <p:nvPr/>
        </p:nvSpPr>
        <p:spPr>
          <a:xfrm>
            <a:off x="1664208" y="3986784"/>
            <a:ext cx="1523479"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48456" y="3959352"/>
            <a:ext cx="22860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80.5% · 97 of 99 yes · 2 of 24 no</a:t>
            </a:r>
          </a:p>
        </p:txBody>
      </p:sp>
      <p:sp>
        <p:nvSpPr>
          <p:cNvPr id="34" name="Rectangle 33"/>
          <p:cNvSpPr/>
          <p:nvPr/>
        </p:nvSpPr>
        <p:spPr>
          <a:xfrm>
            <a:off x="1664208" y="4235500"/>
            <a:ext cx="1569645"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48456" y="4208068"/>
            <a:ext cx="22860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82.9% · 98 of 99 yes · 4 of 24 no</a:t>
            </a:r>
          </a:p>
        </p:txBody>
      </p:sp>
      <p:sp>
        <p:nvSpPr>
          <p:cNvPr id="36" name="TextBox 35"/>
          <p:cNvSpPr txBox="1"/>
          <p:nvPr/>
        </p:nvSpPr>
        <p:spPr>
          <a:xfrm>
            <a:off x="996696" y="4700016"/>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27B</a:t>
            </a:r>
          </a:p>
        </p:txBody>
      </p:sp>
      <p:sp>
        <p:nvSpPr>
          <p:cNvPr id="37" name="Rectangle 36"/>
          <p:cNvSpPr/>
          <p:nvPr/>
        </p:nvSpPr>
        <p:spPr>
          <a:xfrm>
            <a:off x="1664208" y="4608576"/>
            <a:ext cx="1569645"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48456" y="4581144"/>
            <a:ext cx="22860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82.9% · 98 of 99 yes · 4 of 24 no</a:t>
            </a:r>
          </a:p>
        </p:txBody>
      </p:sp>
      <p:sp>
        <p:nvSpPr>
          <p:cNvPr id="39" name="Rectangle 38"/>
          <p:cNvSpPr/>
          <p:nvPr/>
        </p:nvSpPr>
        <p:spPr>
          <a:xfrm>
            <a:off x="1664208" y="4857292"/>
            <a:ext cx="1661977"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48456" y="4829860"/>
            <a:ext cx="22860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87.8% · 96 of 99 yes · 12 of 24 no</a:t>
            </a:r>
          </a:p>
        </p:txBody>
      </p:sp>
      <p:sp>
        <p:nvSpPr>
          <p:cNvPr id="41" name="TextBox 40"/>
          <p:cNvSpPr txBox="1"/>
          <p:nvPr/>
        </p:nvSpPr>
        <p:spPr>
          <a:xfrm>
            <a:off x="996696" y="5330952"/>
            <a:ext cx="4800600" cy="210312"/>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Dashed lines: always “no” = 19.5% · always “yes” = 80.5%</a:t>
            </a:r>
          </a:p>
        </p:txBody>
      </p:sp>
      <p:sp>
        <p:nvSpPr>
          <p:cNvPr id="42" name="Rounded Rectangle 41"/>
          <p:cNvSpPr/>
          <p:nvPr/>
        </p:nvSpPr>
        <p:spPr>
          <a:xfrm>
            <a:off x="6208776" y="1828800"/>
            <a:ext cx="5166360" cy="1143000"/>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08776" y="1828800"/>
            <a:ext cx="5166360" cy="41148"/>
          </a:xfrm>
          <a:prstGeom prst="rect">
            <a:avLst/>
          </a:prstGeom>
          <a:solidFill>
            <a:srgbClr val="1D8D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37376" y="1956816"/>
            <a:ext cx="4709160" cy="365760"/>
          </a:xfrm>
          <a:prstGeom prst="rect">
            <a:avLst/>
          </a:prstGeom>
          <a:noFill/>
        </p:spPr>
        <p:txBody>
          <a:bodyPr wrap="square" lIns="0" rIns="0" tIns="0" bIns="0" anchor="t">
            <a:noAutofit/>
          </a:bodyPr>
          <a:lstStyle/>
          <a:p>
            <a:pPr algn="l">
              <a:lnSpc>
                <a:spcPct val="109000"/>
              </a:lnSpc>
              <a:spcBef>
                <a:spcPts val="0"/>
              </a:spcBef>
              <a:spcAft>
                <a:spcPts val="0"/>
              </a:spcAft>
            </a:pPr>
            <a:r>
              <a:rPr sz="1700" b="1">
                <a:solidFill>
                  <a:srgbClr val="00407A"/>
                </a:solidFill>
                <a:latin typeface="Arial"/>
              </a:rPr>
              <a:t>Two bars per model</a:t>
            </a:r>
          </a:p>
        </p:txBody>
      </p:sp>
      <p:sp>
        <p:nvSpPr>
          <p:cNvPr id="45" name="TextBox 44"/>
          <p:cNvSpPr txBox="1"/>
          <p:nvPr/>
        </p:nvSpPr>
        <p:spPr>
          <a:xfrm>
            <a:off x="6437376" y="2331720"/>
            <a:ext cx="4709160" cy="576072"/>
          </a:xfrm>
          <a:prstGeom prst="rect">
            <a:avLst/>
          </a:prstGeom>
          <a:noFill/>
        </p:spPr>
        <p:txBody>
          <a:bodyPr wrap="square" lIns="0" rIns="0" tIns="0" bIns="0" anchor="t">
            <a:noAutofit/>
          </a:bodyPr>
          <a:lstStyle/>
          <a:p>
            <a:pPr algn="l">
              <a:lnSpc>
                <a:spcPct val="109000"/>
              </a:lnSpc>
              <a:spcBef>
                <a:spcPts val="0"/>
              </a:spcBef>
              <a:spcAft>
                <a:spcPts val="0"/>
              </a:spcAft>
            </a:pPr>
            <a:r>
              <a:rPr sz="1350" b="0">
                <a:solidFill>
                  <a:srgbClr val="00407A"/>
                </a:solidFill>
                <a:latin typeface="Arial"/>
              </a:rPr>
              <a:t>Light bar: the score without examples (experiment 1).</a:t>
            </a:r>
          </a:p>
          <a:p>
            <a:pPr algn="l">
              <a:lnSpc>
                <a:spcPct val="109000"/>
              </a:lnSpc>
              <a:spcBef>
                <a:spcPts val="0"/>
              </a:spcBef>
              <a:spcAft>
                <a:spcPts val="0"/>
              </a:spcAft>
            </a:pPr>
            <a:r>
              <a:rPr sz="1350" b="0">
                <a:solidFill>
                  <a:srgbClr val="00407A"/>
                </a:solidFill>
                <a:latin typeface="Arial"/>
              </a:rPr>
              <a:t>Dark bar: the score with three solved examples (experiment 2).</a:t>
            </a:r>
          </a:p>
        </p:txBody>
      </p:sp>
      <p:sp>
        <p:nvSpPr>
          <p:cNvPr id="46" name="Rounded Rectangle 45"/>
          <p:cNvSpPr/>
          <p:nvPr/>
        </p:nvSpPr>
        <p:spPr>
          <a:xfrm>
            <a:off x="6208776" y="3127248"/>
            <a:ext cx="5166360" cy="1143000"/>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208776" y="3127248"/>
            <a:ext cx="5166360" cy="41148"/>
          </a:xfrm>
          <a:prstGeom prst="rect">
            <a:avLst/>
          </a:prstGeom>
          <a:solidFill>
            <a:srgbClr val="1D8D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37376" y="3255264"/>
            <a:ext cx="4709160" cy="365760"/>
          </a:xfrm>
          <a:prstGeom prst="rect">
            <a:avLst/>
          </a:prstGeom>
          <a:noFill/>
        </p:spPr>
        <p:txBody>
          <a:bodyPr wrap="square" lIns="0" rIns="0" tIns="0" bIns="0" anchor="t">
            <a:noAutofit/>
          </a:bodyPr>
          <a:lstStyle/>
          <a:p>
            <a:pPr algn="l">
              <a:lnSpc>
                <a:spcPct val="109000"/>
              </a:lnSpc>
              <a:spcBef>
                <a:spcPts val="0"/>
              </a:spcBef>
              <a:spcAft>
                <a:spcPts val="0"/>
              </a:spcAft>
            </a:pPr>
            <a:r>
              <a:rPr sz="1700" b="1">
                <a:solidFill>
                  <a:srgbClr val="00407A"/>
                </a:solidFill>
                <a:latin typeface="Arial"/>
              </a:rPr>
              <a:t>The label beside a bar</a:t>
            </a:r>
          </a:p>
        </p:txBody>
      </p:sp>
      <p:sp>
        <p:nvSpPr>
          <p:cNvPr id="49" name="TextBox 48"/>
          <p:cNvSpPr txBox="1"/>
          <p:nvPr/>
        </p:nvSpPr>
        <p:spPr>
          <a:xfrm>
            <a:off x="6437376" y="3630168"/>
            <a:ext cx="4709160" cy="576072"/>
          </a:xfrm>
          <a:prstGeom prst="rect">
            <a:avLst/>
          </a:prstGeom>
          <a:noFill/>
        </p:spPr>
        <p:txBody>
          <a:bodyPr wrap="square" lIns="0" rIns="0" tIns="0" bIns="0" anchor="t">
            <a:noAutofit/>
          </a:bodyPr>
          <a:lstStyle/>
          <a:p>
            <a:pPr algn="l">
              <a:lnSpc>
                <a:spcPct val="109000"/>
              </a:lnSpc>
              <a:spcBef>
                <a:spcPts val="0"/>
              </a:spcBef>
              <a:spcAft>
                <a:spcPts val="0"/>
              </a:spcAft>
            </a:pPr>
            <a:r>
              <a:rPr sz="1350" b="0">
                <a:solidFill>
                  <a:srgbClr val="00407A"/>
                </a:solidFill>
                <a:latin typeface="Arial"/>
              </a:rPr>
              <a:t>The score, then the correct answers on the designs where the tool says “yes”, and on the designs where it says “no”.</a:t>
            </a:r>
          </a:p>
        </p:txBody>
      </p:sp>
      <p:sp>
        <p:nvSpPr>
          <p:cNvPr id="50" name="Rounded Rectangle 49"/>
          <p:cNvSpPr/>
          <p:nvPr/>
        </p:nvSpPr>
        <p:spPr>
          <a:xfrm>
            <a:off x="6208776" y="4425696"/>
            <a:ext cx="5166360" cy="1152144"/>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208776" y="4425696"/>
            <a:ext cx="5166360" cy="41148"/>
          </a:xfrm>
          <a:prstGeom prst="rect">
            <a:avLst/>
          </a:prstGeom>
          <a:solidFill>
            <a:srgbClr val="1D8D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37376" y="4553712"/>
            <a:ext cx="4709160" cy="365760"/>
          </a:xfrm>
          <a:prstGeom prst="rect">
            <a:avLst/>
          </a:prstGeom>
          <a:noFill/>
        </p:spPr>
        <p:txBody>
          <a:bodyPr wrap="square" lIns="0" rIns="0" tIns="0" bIns="0" anchor="t">
            <a:noAutofit/>
          </a:bodyPr>
          <a:lstStyle/>
          <a:p>
            <a:pPr algn="l">
              <a:lnSpc>
                <a:spcPct val="109000"/>
              </a:lnSpc>
              <a:spcBef>
                <a:spcPts val="0"/>
              </a:spcBef>
              <a:spcAft>
                <a:spcPts val="0"/>
              </a:spcAft>
            </a:pPr>
            <a:r>
              <a:rPr sz="1700" b="1">
                <a:solidFill>
                  <a:srgbClr val="00407A"/>
                </a:solidFill>
                <a:latin typeface="Arial"/>
              </a:rPr>
              <a:t>The dashed lines</a:t>
            </a:r>
          </a:p>
        </p:txBody>
      </p:sp>
      <p:sp>
        <p:nvSpPr>
          <p:cNvPr id="53" name="TextBox 52"/>
          <p:cNvSpPr txBox="1"/>
          <p:nvPr/>
        </p:nvSpPr>
        <p:spPr>
          <a:xfrm>
            <a:off x="6437376" y="4928616"/>
            <a:ext cx="4709160" cy="585216"/>
          </a:xfrm>
          <a:prstGeom prst="rect">
            <a:avLst/>
          </a:prstGeom>
          <a:noFill/>
        </p:spPr>
        <p:txBody>
          <a:bodyPr wrap="square" lIns="0" rIns="0" tIns="0" bIns="0" anchor="t">
            <a:noAutofit/>
          </a:bodyPr>
          <a:lstStyle/>
          <a:p>
            <a:pPr algn="l">
              <a:lnSpc>
                <a:spcPct val="109000"/>
              </a:lnSpc>
              <a:spcBef>
                <a:spcPts val="0"/>
              </a:spcBef>
              <a:spcAft>
                <a:spcPts val="0"/>
              </a:spcAft>
            </a:pPr>
            <a:r>
              <a:rPr sz="1350" b="0">
                <a:solidFill>
                  <a:srgbClr val="00407A"/>
                </a:solidFill>
                <a:latin typeface="Arial"/>
              </a:rPr>
              <a:t>The score of a model that always answers “no”, and of one that always answers “yes”. A bar at a dashed line shows no skill.</a:t>
            </a:r>
          </a:p>
        </p:txBody>
      </p:sp>
      <p:sp>
        <p:nvSpPr>
          <p:cNvPr id="54" name="Rounded Rectangle 53"/>
          <p:cNvSpPr/>
          <p:nvPr/>
        </p:nvSpPr>
        <p:spPr>
          <a:xfrm>
            <a:off x="813816" y="5715000"/>
            <a:ext cx="10561320" cy="603504"/>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87552" y="5769864"/>
            <a:ext cx="10213848" cy="493776"/>
          </a:xfrm>
          <a:prstGeom prst="rect">
            <a:avLst/>
          </a:prstGeom>
          <a:noFill/>
        </p:spPr>
        <p:txBody>
          <a:bodyPr wrap="square" lIns="0" rIns="0" tIns="0" bIns="0" anchor="ctr">
            <a:noAutofit/>
          </a:bodyPr>
          <a:lstStyle/>
          <a:p>
            <a:pPr algn="l">
              <a:lnSpc>
                <a:spcPct val="109000"/>
              </a:lnSpc>
              <a:spcBef>
                <a:spcPts val="0"/>
              </a:spcBef>
              <a:spcAft>
                <a:spcPts val="0"/>
              </a:spcAft>
            </a:pPr>
            <a:r>
              <a:rPr sz="1500" b="1">
                <a:solidFill>
                  <a:srgbClr val="00407A"/>
                </a:solidFill>
                <a:latin typeface="Arial"/>
              </a:rPr>
              <a:t>The score is the share of the test questions with a correct answer. Each question has the same weight.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The four parts of this deck</a:t>
            </a:r>
          </a:p>
        </p:txBody>
      </p:sp>
      <p:sp>
        <p:nvSpPr>
          <p:cNvPr id="3" name="TextBox 2"/>
          <p:cNvSpPr txBox="1"/>
          <p:nvPr/>
        </p:nvSpPr>
        <p:spPr>
          <a:xfrm>
            <a:off x="813816" y="1261872"/>
            <a:ext cx="1056132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Part 2 starts here: results per question.</a:t>
            </a:r>
          </a:p>
        </p:txBody>
      </p:sp>
      <p:sp>
        <p:nvSpPr>
          <p:cNvPr id="4" name="TextBox 3"/>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2  •  RESULTS</a:t>
            </a:r>
          </a:p>
        </p:txBody>
      </p:sp>
      <p:sp>
        <p:nvSpPr>
          <p:cNvPr id="5" name="TextBox 4"/>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9</a:t>
            </a:r>
          </a:p>
        </p:txBody>
      </p:sp>
      <p:sp>
        <p:nvSpPr>
          <p:cNvPr id="6" name="Rounded Rectangle 5"/>
          <p:cNvSpPr/>
          <p:nvPr/>
        </p:nvSpPr>
        <p:spPr>
          <a:xfrm>
            <a:off x="813816" y="1828800"/>
            <a:ext cx="10561320" cy="841248"/>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984248"/>
            <a:ext cx="548640" cy="548640"/>
          </a:xfrm>
          <a:prstGeom prst="rect">
            <a:avLst/>
          </a:prstGeom>
          <a:noFill/>
        </p:spPr>
        <p:txBody>
          <a:bodyPr wrap="square" lIns="0" rIns="0" tIns="0" bIns="0" anchor="t">
            <a:noAutofit/>
          </a:bodyPr>
          <a:lstStyle/>
          <a:p>
            <a:pPr algn="l">
              <a:lnSpc>
                <a:spcPct val="109000"/>
              </a:lnSpc>
              <a:spcBef>
                <a:spcPts val="0"/>
              </a:spcBef>
              <a:spcAft>
                <a:spcPts val="0"/>
              </a:spcAft>
            </a:pPr>
            <a:r>
              <a:rPr sz="3000" b="1">
                <a:solidFill>
                  <a:srgbClr val="00407A"/>
                </a:solidFill>
                <a:latin typeface="Arial"/>
              </a:rPr>
              <a:t>1</a:t>
            </a:r>
          </a:p>
        </p:txBody>
      </p:sp>
      <p:sp>
        <p:nvSpPr>
          <p:cNvPr id="8" name="TextBox 7"/>
          <p:cNvSpPr txBox="1"/>
          <p:nvPr/>
        </p:nvSpPr>
        <p:spPr>
          <a:xfrm>
            <a:off x="1737360" y="1947672"/>
            <a:ext cx="3657600" cy="365760"/>
          </a:xfrm>
          <a:prstGeom prst="rect">
            <a:avLst/>
          </a:prstGeom>
          <a:noFill/>
        </p:spPr>
        <p:txBody>
          <a:bodyPr wrap="square" lIns="0" rIns="0" tIns="0" bIns="0" anchor="t">
            <a:noAutofit/>
          </a:bodyPr>
          <a:lstStyle/>
          <a:p>
            <a:pPr algn="l">
              <a:lnSpc>
                <a:spcPct val="109000"/>
              </a:lnSpc>
              <a:spcBef>
                <a:spcPts val="0"/>
              </a:spcBef>
              <a:spcAft>
                <a:spcPts val="0"/>
              </a:spcAft>
            </a:pPr>
            <a:r>
              <a:rPr sz="2000" b="1">
                <a:solidFill>
                  <a:srgbClr val="00407A"/>
                </a:solidFill>
                <a:latin typeface="Arial"/>
              </a:rPr>
              <a:t>The test</a:t>
            </a:r>
          </a:p>
        </p:txBody>
      </p:sp>
      <p:sp>
        <p:nvSpPr>
          <p:cNvPr id="9" name="TextBox 8"/>
          <p:cNvSpPr txBox="1"/>
          <p:nvPr/>
        </p:nvSpPr>
        <p:spPr>
          <a:xfrm>
            <a:off x="1737360" y="2304288"/>
            <a:ext cx="9509760" cy="320040"/>
          </a:xfrm>
          <a:prstGeom prst="rect">
            <a:avLst/>
          </a:prstGeom>
          <a:noFill/>
        </p:spPr>
        <p:txBody>
          <a:bodyPr wrap="square" lIns="0" rIns="0" tIns="0" bIns="0" anchor="t">
            <a:noAutofit/>
          </a:bodyPr>
          <a:lstStyle/>
          <a:p>
            <a:pPr algn="l">
              <a:lnSpc>
                <a:spcPct val="109000"/>
              </a:lnSpc>
              <a:spcBef>
                <a:spcPts val="0"/>
              </a:spcBef>
              <a:spcAft>
                <a:spcPts val="0"/>
              </a:spcAft>
            </a:pPr>
            <a:r>
              <a:rPr sz="1300" b="0">
                <a:solidFill>
                  <a:srgbClr val="4A5A66"/>
                </a:solidFill>
                <a:latin typeface="Arial"/>
              </a:rPr>
              <a:t>What KEV is, the designs, the eight questions, the five levels, the three examples, how to read the charts</a:t>
            </a:r>
          </a:p>
        </p:txBody>
      </p:sp>
      <p:sp>
        <p:nvSpPr>
          <p:cNvPr id="10" name="Rounded Rectangle 9"/>
          <p:cNvSpPr/>
          <p:nvPr/>
        </p:nvSpPr>
        <p:spPr>
          <a:xfrm>
            <a:off x="813816" y="2779776"/>
            <a:ext cx="10561320" cy="841248"/>
          </a:xfrm>
          <a:prstGeom prst="roundRect">
            <a:avLst>
              <a:gd name="adj" fmla="val 6000"/>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2935224"/>
            <a:ext cx="548640" cy="548640"/>
          </a:xfrm>
          <a:prstGeom prst="rect">
            <a:avLst/>
          </a:prstGeom>
          <a:noFill/>
        </p:spPr>
        <p:txBody>
          <a:bodyPr wrap="square" lIns="0" rIns="0" tIns="0" bIns="0" anchor="t">
            <a:noAutofit/>
          </a:bodyPr>
          <a:lstStyle/>
          <a:p>
            <a:pPr algn="l">
              <a:lnSpc>
                <a:spcPct val="109000"/>
              </a:lnSpc>
              <a:spcBef>
                <a:spcPts val="0"/>
              </a:spcBef>
              <a:spcAft>
                <a:spcPts val="0"/>
              </a:spcAft>
            </a:pPr>
            <a:r>
              <a:rPr sz="3000" b="1">
                <a:solidFill>
                  <a:srgbClr val="FFFFFF"/>
                </a:solidFill>
                <a:latin typeface="Arial"/>
              </a:rPr>
              <a:t>2</a:t>
            </a:r>
          </a:p>
        </p:txBody>
      </p:sp>
      <p:sp>
        <p:nvSpPr>
          <p:cNvPr id="12" name="TextBox 11"/>
          <p:cNvSpPr txBox="1"/>
          <p:nvPr/>
        </p:nvSpPr>
        <p:spPr>
          <a:xfrm>
            <a:off x="1737360" y="2898648"/>
            <a:ext cx="3657600" cy="365760"/>
          </a:xfrm>
          <a:prstGeom prst="rect">
            <a:avLst/>
          </a:prstGeom>
          <a:noFill/>
        </p:spPr>
        <p:txBody>
          <a:bodyPr wrap="square" lIns="0" rIns="0" tIns="0" bIns="0" anchor="t">
            <a:noAutofit/>
          </a:bodyPr>
          <a:lstStyle/>
          <a:p>
            <a:pPr algn="l">
              <a:lnSpc>
                <a:spcPct val="109000"/>
              </a:lnSpc>
              <a:spcBef>
                <a:spcPts val="0"/>
              </a:spcBef>
              <a:spcAft>
                <a:spcPts val="0"/>
              </a:spcAft>
            </a:pPr>
            <a:r>
              <a:rPr sz="2000" b="1">
                <a:solidFill>
                  <a:srgbClr val="FFFFFF"/>
                </a:solidFill>
                <a:latin typeface="Arial"/>
              </a:rPr>
              <a:t>Results per question</a:t>
            </a:r>
          </a:p>
        </p:txBody>
      </p:sp>
      <p:sp>
        <p:nvSpPr>
          <p:cNvPr id="13" name="TextBox 12"/>
          <p:cNvSpPr txBox="1"/>
          <p:nvPr/>
        </p:nvSpPr>
        <p:spPr>
          <a:xfrm>
            <a:off x="1737360" y="3255264"/>
            <a:ext cx="9509760" cy="320040"/>
          </a:xfrm>
          <a:prstGeom prst="rect">
            <a:avLst/>
          </a:prstGeom>
          <a:noFill/>
        </p:spPr>
        <p:txBody>
          <a:bodyPr wrap="square" lIns="0" rIns="0" tIns="0" bIns="0" anchor="t">
            <a:noAutofit/>
          </a:bodyPr>
          <a:lstStyle/>
          <a:p>
            <a:pPr algn="l">
              <a:lnSpc>
                <a:spcPct val="109000"/>
              </a:lnSpc>
              <a:spcBef>
                <a:spcPts val="0"/>
              </a:spcBef>
              <a:spcAft>
                <a:spcPts val="0"/>
              </a:spcAft>
            </a:pPr>
            <a:r>
              <a:rPr sz="1300" b="0">
                <a:solidFill>
                  <a:srgbClr val="D7E8F2"/>
                </a:solidFill>
                <a:latin typeface="Arial"/>
              </a:rPr>
              <a:t>All findings in one table; then compile and synthesis, the failure reason, the levels, and the pairs</a:t>
            </a:r>
          </a:p>
        </p:txBody>
      </p:sp>
      <p:sp>
        <p:nvSpPr>
          <p:cNvPr id="14" name="Rounded Rectangle 13"/>
          <p:cNvSpPr/>
          <p:nvPr/>
        </p:nvSpPr>
        <p:spPr>
          <a:xfrm>
            <a:off x="813816" y="3730752"/>
            <a:ext cx="10561320" cy="841248"/>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3886200"/>
            <a:ext cx="548640" cy="548640"/>
          </a:xfrm>
          <a:prstGeom prst="rect">
            <a:avLst/>
          </a:prstGeom>
          <a:noFill/>
        </p:spPr>
        <p:txBody>
          <a:bodyPr wrap="square" lIns="0" rIns="0" tIns="0" bIns="0" anchor="t">
            <a:noAutofit/>
          </a:bodyPr>
          <a:lstStyle/>
          <a:p>
            <a:pPr algn="l">
              <a:lnSpc>
                <a:spcPct val="109000"/>
              </a:lnSpc>
              <a:spcBef>
                <a:spcPts val="0"/>
              </a:spcBef>
              <a:spcAft>
                <a:spcPts val="0"/>
              </a:spcAft>
            </a:pPr>
            <a:r>
              <a:rPr sz="3000" b="1">
                <a:solidFill>
                  <a:srgbClr val="00407A"/>
                </a:solidFill>
                <a:latin typeface="Arial"/>
              </a:rPr>
              <a:t>3</a:t>
            </a:r>
          </a:p>
        </p:txBody>
      </p:sp>
      <p:sp>
        <p:nvSpPr>
          <p:cNvPr id="16" name="TextBox 15"/>
          <p:cNvSpPr txBox="1"/>
          <p:nvPr/>
        </p:nvSpPr>
        <p:spPr>
          <a:xfrm>
            <a:off x="1737360" y="3849624"/>
            <a:ext cx="3657600" cy="365760"/>
          </a:xfrm>
          <a:prstGeom prst="rect">
            <a:avLst/>
          </a:prstGeom>
          <a:noFill/>
        </p:spPr>
        <p:txBody>
          <a:bodyPr wrap="square" lIns="0" rIns="0" tIns="0" bIns="0" anchor="t">
            <a:noAutofit/>
          </a:bodyPr>
          <a:lstStyle/>
          <a:p>
            <a:pPr algn="l">
              <a:lnSpc>
                <a:spcPct val="109000"/>
              </a:lnSpc>
              <a:spcBef>
                <a:spcPts val="0"/>
              </a:spcBef>
              <a:spcAft>
                <a:spcPts val="0"/>
              </a:spcAft>
            </a:pPr>
            <a:r>
              <a:rPr sz="2000" b="1">
                <a:solidFill>
                  <a:srgbClr val="00407A"/>
                </a:solidFill>
                <a:latin typeface="Arial"/>
              </a:rPr>
              <a:t>Conclusions</a:t>
            </a:r>
          </a:p>
        </p:txBody>
      </p:sp>
      <p:sp>
        <p:nvSpPr>
          <p:cNvPr id="17" name="TextBox 16"/>
          <p:cNvSpPr txBox="1"/>
          <p:nvPr/>
        </p:nvSpPr>
        <p:spPr>
          <a:xfrm>
            <a:off x="1737360" y="4206240"/>
            <a:ext cx="9509760" cy="320040"/>
          </a:xfrm>
          <a:prstGeom prst="rect">
            <a:avLst/>
          </a:prstGeom>
          <a:noFill/>
        </p:spPr>
        <p:txBody>
          <a:bodyPr wrap="square" lIns="0" rIns="0" tIns="0" bIns="0" anchor="t">
            <a:noAutofit/>
          </a:bodyPr>
          <a:lstStyle/>
          <a:p>
            <a:pPr algn="l">
              <a:lnSpc>
                <a:spcPct val="109000"/>
              </a:lnSpc>
              <a:spcBef>
                <a:spcPts val="0"/>
              </a:spcBef>
              <a:spcAft>
                <a:spcPts val="0"/>
              </a:spcAft>
            </a:pPr>
            <a:r>
              <a:rPr sz="1300" b="0">
                <a:solidFill>
                  <a:srgbClr val="4A5A66"/>
                </a:solidFill>
                <a:latin typeface="Arial"/>
              </a:rPr>
              <a:t>Relative questions are reliable, absolute questions are not; what KEV can and cannot do</a:t>
            </a:r>
          </a:p>
        </p:txBody>
      </p:sp>
      <p:sp>
        <p:nvSpPr>
          <p:cNvPr id="18" name="Rounded Rectangle 17"/>
          <p:cNvSpPr/>
          <p:nvPr/>
        </p:nvSpPr>
        <p:spPr>
          <a:xfrm>
            <a:off x="813816" y="4681728"/>
            <a:ext cx="10561320" cy="841248"/>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4837176"/>
            <a:ext cx="548640" cy="548640"/>
          </a:xfrm>
          <a:prstGeom prst="rect">
            <a:avLst/>
          </a:prstGeom>
          <a:noFill/>
        </p:spPr>
        <p:txBody>
          <a:bodyPr wrap="square" lIns="0" rIns="0" tIns="0" bIns="0" anchor="t">
            <a:noAutofit/>
          </a:bodyPr>
          <a:lstStyle/>
          <a:p>
            <a:pPr algn="l">
              <a:lnSpc>
                <a:spcPct val="109000"/>
              </a:lnSpc>
              <a:spcBef>
                <a:spcPts val="0"/>
              </a:spcBef>
              <a:spcAft>
                <a:spcPts val="0"/>
              </a:spcAft>
            </a:pPr>
            <a:r>
              <a:rPr sz="3000" b="1">
                <a:solidFill>
                  <a:srgbClr val="00407A"/>
                </a:solidFill>
                <a:latin typeface="Arial"/>
              </a:rPr>
              <a:t>4</a:t>
            </a:r>
          </a:p>
        </p:txBody>
      </p:sp>
      <p:sp>
        <p:nvSpPr>
          <p:cNvPr id="20" name="TextBox 19"/>
          <p:cNvSpPr txBox="1"/>
          <p:nvPr/>
        </p:nvSpPr>
        <p:spPr>
          <a:xfrm>
            <a:off x="1737360" y="4800600"/>
            <a:ext cx="3657600" cy="365760"/>
          </a:xfrm>
          <a:prstGeom prst="rect">
            <a:avLst/>
          </a:prstGeom>
          <a:noFill/>
        </p:spPr>
        <p:txBody>
          <a:bodyPr wrap="square" lIns="0" rIns="0" tIns="0" bIns="0" anchor="t">
            <a:noAutofit/>
          </a:bodyPr>
          <a:lstStyle/>
          <a:p>
            <a:pPr algn="l">
              <a:lnSpc>
                <a:spcPct val="109000"/>
              </a:lnSpc>
              <a:spcBef>
                <a:spcPts val="0"/>
              </a:spcBef>
              <a:spcAft>
                <a:spcPts val="0"/>
              </a:spcAft>
            </a:pPr>
            <a:r>
              <a:rPr sz="2000" b="1">
                <a:solidFill>
                  <a:srgbClr val="00407A"/>
                </a:solidFill>
                <a:latin typeface="Arial"/>
              </a:rPr>
              <a:t>Appendix</a:t>
            </a:r>
          </a:p>
        </p:txBody>
      </p:sp>
      <p:sp>
        <p:nvSpPr>
          <p:cNvPr id="21" name="TextBox 20"/>
          <p:cNvSpPr txBox="1"/>
          <p:nvPr/>
        </p:nvSpPr>
        <p:spPr>
          <a:xfrm>
            <a:off x="1737360" y="5157216"/>
            <a:ext cx="9509760" cy="320040"/>
          </a:xfrm>
          <a:prstGeom prst="rect">
            <a:avLst/>
          </a:prstGeom>
          <a:noFill/>
        </p:spPr>
        <p:txBody>
          <a:bodyPr wrap="square" lIns="0" rIns="0" tIns="0" bIns="0" anchor="t">
            <a:noAutofit/>
          </a:bodyPr>
          <a:lstStyle/>
          <a:p>
            <a:pPr algn="l">
              <a:lnSpc>
                <a:spcPct val="109000"/>
              </a:lnSpc>
              <a:spcBef>
                <a:spcPts val="0"/>
              </a:spcBef>
              <a:spcAft>
                <a:spcPts val="0"/>
              </a:spcAft>
            </a:pPr>
            <a:r>
              <a:rPr sz="1300" b="0">
                <a:solidFill>
                  <a:srgbClr val="4A5A66"/>
                </a:solidFill>
                <a:latin typeface="Arial"/>
              </a:rPr>
              <a:t>Every score with the paired test, class counts, probabilities, level errors, pair orders, runs, files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The findings in one table</a:t>
            </a:r>
          </a:p>
        </p:txBody>
      </p:sp>
      <p:sp>
        <p:nvSpPr>
          <p:cNvPr id="3" name="TextBox 2"/>
          <p:cNvSpPr txBox="1"/>
          <p:nvPr/>
        </p:nvSpPr>
        <p:spPr>
          <a:xfrm>
            <a:off x="813816" y="1261872"/>
            <a:ext cx="1056132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KEV-27B, the largest size. Each score: correct answers in % (count). The other sizes are on the result slides.</a:t>
            </a:r>
          </a:p>
        </p:txBody>
      </p:sp>
      <p:sp>
        <p:nvSpPr>
          <p:cNvPr id="4" name="TextBox 3"/>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2  •  RESULTS</a:t>
            </a:r>
          </a:p>
        </p:txBody>
      </p:sp>
      <p:sp>
        <p:nvSpPr>
          <p:cNvPr id="5" name="TextBox 4"/>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10</a:t>
            </a:r>
          </a:p>
        </p:txBody>
      </p:sp>
      <p:graphicFrame>
        <p:nvGraphicFramePr>
          <p:cNvPr id="6" name="Table 5"/>
          <p:cNvGraphicFramePr>
            <a:graphicFrameLocks noGrp="1"/>
          </p:cNvGraphicFramePr>
          <p:nvPr/>
        </p:nvGraphicFramePr>
        <p:xfrm>
          <a:off x="813816" y="1810512"/>
          <a:ext cx="10561320" cy="3794760"/>
        </p:xfrm>
        <a:graphic>
          <a:graphicData uri="http://schemas.openxmlformats.org/drawingml/2006/table">
            <a:tbl>
              <a:tblPr firstRow="1" bandRow="1">
                <a:tableStyleId>{5C22544A-7EE6-4342-B048-85BDC9FD1C3A}</a:tableStyleId>
              </a:tblPr>
              <a:tblGrid>
                <a:gridCol w="2926080"/>
                <a:gridCol w="1691640"/>
                <a:gridCol w="1691640"/>
                <a:gridCol w="1691640"/>
                <a:gridCol w="2560320"/>
              </a:tblGrid>
              <a:tr h="411480">
                <a:tc>
                  <a:txBody>
                    <a:bodyPr/>
                    <a:lstStyle/>
                    <a:p>
                      <a:pPr algn="l">
                        <a:lnSpc>
                          <a:spcPct val="103000"/>
                        </a:lnSpc>
                        <a:spcBef>
                          <a:spcPts val="0"/>
                        </a:spcBef>
                        <a:spcAft>
                          <a:spcPts val="0"/>
                        </a:spcAft>
                      </a:pPr>
                      <a:r>
                        <a:rPr sz="1300" b="1">
                          <a:solidFill>
                            <a:srgbClr val="FFFFFF"/>
                          </a:solidFill>
                          <a:latin typeface="Arial"/>
                        </a:rPr>
                        <a:t>Question</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300" b="1">
                          <a:solidFill>
                            <a:srgbClr val="FFFFFF"/>
                          </a:solidFill>
                          <a:latin typeface="Arial"/>
                        </a:rPr>
                        <a:t>No examples</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300" b="1">
                          <a:solidFill>
                            <a:srgbClr val="FFFFFF"/>
                          </a:solidFill>
                          <a:latin typeface="Arial"/>
                        </a:rPr>
                        <a:t>Three examples</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300" b="1">
                          <a:solidFill>
                            <a:srgbClr val="FFFFFF"/>
                          </a:solidFill>
                          <a:latin typeface="Arial"/>
                        </a:rPr>
                        <a:t>Always the same answer</a:t>
                      </a:r>
                    </a:p>
                  </a:txBody>
                  <a:tcPr marL="109728" marR="91440" marT="45720" marB="36576" anchor="ctr">
                    <a:solidFill>
                      <a:srgbClr val="00407A"/>
                    </a:solidFill>
                    <a:lnL>
                      <a:noFill/>
                    </a:lnL>
                    <a:lnR>
                      <a:noFill/>
                    </a:lnR>
                    <a:lnT>
                      <a:noFill/>
                    </a:lnT>
                    <a:lnB>
                      <a:noFill/>
                    </a:lnB>
                  </a:tcPr>
                </a:tc>
                <a:tc>
                  <a:txBody>
                    <a:bodyPr/>
                    <a:lstStyle/>
                    <a:p>
                      <a:pPr algn="l">
                        <a:lnSpc>
                          <a:spcPct val="103000"/>
                        </a:lnSpc>
                        <a:spcBef>
                          <a:spcPts val="0"/>
                        </a:spcBef>
                        <a:spcAft>
                          <a:spcPts val="0"/>
                        </a:spcAft>
                      </a:pPr>
                      <a:r>
                        <a:rPr sz="1300" b="1">
                          <a:solidFill>
                            <a:srgbClr val="FFFFFF"/>
                          </a:solidFill>
                          <a:latin typeface="Arial"/>
                        </a:rPr>
                        <a:t>Finding</a:t>
                      </a:r>
                    </a:p>
                  </a:txBody>
                  <a:tcPr marL="109728" marR="91440" marT="45720" marB="36576" anchor="ctr">
                    <a:solidFill>
                      <a:srgbClr val="00407A"/>
                    </a:solidFill>
                    <a:lnL>
                      <a:noFill/>
                    </a:lnL>
                    <a:lnR>
                      <a:noFill/>
                    </a:lnR>
                    <a:lnT>
                      <a:noFill/>
                    </a:lnT>
                    <a:lnB>
                      <a:noFill/>
                    </a:lnB>
                  </a:tcPr>
                </a:tc>
              </a:tr>
              <a:tr h="338328">
                <a:tc>
                  <a:txBody>
                    <a:bodyPr/>
                    <a:lstStyle/>
                    <a:p>
                      <a:pPr algn="l">
                        <a:lnSpc>
                          <a:spcPct val="103000"/>
                        </a:lnSpc>
                        <a:spcBef>
                          <a:spcPts val="0"/>
                        </a:spcBef>
                        <a:spcAft>
                          <a:spcPts val="0"/>
                        </a:spcAft>
                      </a:pPr>
                      <a:r>
                        <a:rPr sz="1250" b="0">
                          <a:solidFill>
                            <a:srgbClr val="00407A"/>
                          </a:solidFill>
                          <a:latin typeface="Arial"/>
                        </a:rPr>
                        <a:t>Does it compile?</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99.2% (122 of 123)</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95.1% (117 of 123)</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“yes”: 92.7%</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250" b="0">
                          <a:solidFill>
                            <a:srgbClr val="00407A"/>
                          </a:solidFill>
                          <a:latin typeface="Arial"/>
                        </a:rPr>
                        <a:t>Reliable without examples</a:t>
                      </a:r>
                    </a:p>
                  </a:txBody>
                  <a:tcPr marL="109728" marR="91440" marT="45720" marB="36576" anchor="ctr">
                    <a:solidFill>
                      <a:srgbClr val="E3EFF5"/>
                    </a:solidFill>
                    <a:lnL>
                      <a:noFill/>
                    </a:lnL>
                    <a:lnR>
                      <a:noFill/>
                    </a:lnR>
                    <a:lnT>
                      <a:noFill/>
                    </a:lnT>
                    <a:lnB>
                      <a:noFill/>
                    </a:lnB>
                  </a:tcPr>
                </a:tc>
              </a:tr>
              <a:tr h="338328">
                <a:tc>
                  <a:txBody>
                    <a:bodyPr/>
                    <a:lstStyle/>
                    <a:p>
                      <a:pPr algn="l">
                        <a:lnSpc>
                          <a:spcPct val="103000"/>
                        </a:lnSpc>
                        <a:spcBef>
                          <a:spcPts val="0"/>
                        </a:spcBef>
                        <a:spcAft>
                          <a:spcPts val="0"/>
                        </a:spcAft>
                      </a:pPr>
                      <a:r>
                        <a:rPr sz="1250" b="0">
                          <a:solidFill>
                            <a:srgbClr val="00407A"/>
                          </a:solidFill>
                          <a:latin typeface="Arial"/>
                        </a:rPr>
                        <a:t>Does it synthesize?</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82.9% (102 of 123)</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87.8% (108 of 123)</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“yes”: 80.5%</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250" b="0">
                          <a:solidFill>
                            <a:srgbClr val="00407A"/>
                          </a:solidFill>
                          <a:latin typeface="Arial"/>
                        </a:rPr>
                        <a:t>Close to always “yes”</a:t>
                      </a:r>
                    </a:p>
                  </a:txBody>
                  <a:tcPr marL="109728" marR="91440" marT="45720" marB="36576" anchor="ctr">
                    <a:solidFill>
                      <a:srgbClr val="FFFFFF"/>
                    </a:solidFill>
                    <a:lnL>
                      <a:noFill/>
                    </a:lnL>
                    <a:lnR>
                      <a:noFill/>
                    </a:lnR>
                    <a:lnT>
                      <a:noFill/>
                    </a:lnT>
                    <a:lnB>
                      <a:noFill/>
                    </a:lnB>
                  </a:tcPr>
                </a:tc>
              </a:tr>
              <a:tr h="338328">
                <a:tc>
                  <a:txBody>
                    <a:bodyPr/>
                    <a:lstStyle/>
                    <a:p>
                      <a:pPr algn="l">
                        <a:lnSpc>
                          <a:spcPct val="103000"/>
                        </a:lnSpc>
                        <a:spcBef>
                          <a:spcPts val="0"/>
                        </a:spcBef>
                        <a:spcAft>
                          <a:spcPts val="0"/>
                        </a:spcAft>
                      </a:pPr>
                      <a:r>
                        <a:rPr sz="1250" b="0">
                          <a:solidFill>
                            <a:srgbClr val="00407A"/>
                          </a:solidFill>
                          <a:latin typeface="Arial"/>
                        </a:rPr>
                        <a:t>Why does synthesis fail? (told that it fails)</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93.8% (15 of 16)</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87.5% (14 of 16)</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one reason: 31.3%</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250" b="0">
                          <a:solidFill>
                            <a:srgbClr val="00407A"/>
                          </a:solidFill>
                          <a:latin typeface="Arial"/>
                        </a:rPr>
                        <a:t>Good, when told that it fails</a:t>
                      </a:r>
                    </a:p>
                  </a:txBody>
                  <a:tcPr marL="109728" marR="91440" marT="45720" marB="36576" anchor="ctr">
                    <a:solidFill>
                      <a:srgbClr val="E3EFF5"/>
                    </a:solidFill>
                    <a:lnL>
                      <a:noFill/>
                    </a:lnL>
                    <a:lnR>
                      <a:noFill/>
                    </a:lnR>
                    <a:lnT>
                      <a:noFill/>
                    </a:lnT>
                    <a:lnB>
                      <a:noFill/>
                    </a:lnB>
                  </a:tcPr>
                </a:tc>
              </a:tr>
              <a:tr h="338328">
                <a:tc>
                  <a:txBody>
                    <a:bodyPr/>
                    <a:lstStyle/>
                    <a:p>
                      <a:pPr algn="l">
                        <a:lnSpc>
                          <a:spcPct val="103000"/>
                        </a:lnSpc>
                        <a:spcBef>
                          <a:spcPts val="0"/>
                        </a:spcBef>
                        <a:spcAft>
                          <a:spcPts val="0"/>
                        </a:spcAft>
                      </a:pPr>
                      <a:r>
                        <a:rPr sz="1250" b="0">
                          <a:solidFill>
                            <a:srgbClr val="00407A"/>
                          </a:solidFill>
                          <a:latin typeface="Arial"/>
                        </a:rPr>
                        <a:t>Area level</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66.3% (61 of 92)</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52.2% (48 of 92)</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level 1: 35.9%</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250" b="0">
                          <a:solidFill>
                            <a:srgbClr val="00407A"/>
                          </a:solidFill>
                          <a:latin typeface="Arial"/>
                        </a:rPr>
                        <a:t>Usable; all within one level</a:t>
                      </a:r>
                    </a:p>
                  </a:txBody>
                  <a:tcPr marL="109728" marR="91440" marT="45720" marB="36576" anchor="ctr">
                    <a:solidFill>
                      <a:srgbClr val="FFFFFF"/>
                    </a:solidFill>
                    <a:lnL>
                      <a:noFill/>
                    </a:lnL>
                    <a:lnR>
                      <a:noFill/>
                    </a:lnR>
                    <a:lnT>
                      <a:noFill/>
                    </a:lnT>
                    <a:lnB>
                      <a:noFill/>
                    </a:lnB>
                  </a:tcPr>
                </a:tc>
              </a:tr>
              <a:tr h="338328">
                <a:tc>
                  <a:txBody>
                    <a:bodyPr/>
                    <a:lstStyle/>
                    <a:p>
                      <a:pPr algn="l">
                        <a:lnSpc>
                          <a:spcPct val="103000"/>
                        </a:lnSpc>
                        <a:spcBef>
                          <a:spcPts val="0"/>
                        </a:spcBef>
                        <a:spcAft>
                          <a:spcPts val="0"/>
                        </a:spcAft>
                      </a:pPr>
                      <a:r>
                        <a:rPr sz="1250" b="0">
                          <a:solidFill>
                            <a:srgbClr val="00407A"/>
                          </a:solidFill>
                          <a:latin typeface="Arial"/>
                        </a:rPr>
                        <a:t>Power level</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10.6% (9 of 85)</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42.4% (36 of 85)</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level 2: 43.5%</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250" b="0">
                          <a:solidFill>
                            <a:srgbClr val="00407A"/>
                          </a:solidFill>
                          <a:latin typeface="Arial"/>
                        </a:rPr>
                        <a:t>Close to the constant answer</a:t>
                      </a:r>
                    </a:p>
                  </a:txBody>
                  <a:tcPr marL="109728" marR="91440" marT="45720" marB="36576" anchor="ctr">
                    <a:solidFill>
                      <a:srgbClr val="E3EFF5"/>
                    </a:solidFill>
                    <a:lnL>
                      <a:noFill/>
                    </a:lnL>
                    <a:lnR>
                      <a:noFill/>
                    </a:lnR>
                    <a:lnT>
                      <a:noFill/>
                    </a:lnT>
                    <a:lnB>
                      <a:noFill/>
                    </a:lnB>
                  </a:tcPr>
                </a:tc>
              </a:tr>
              <a:tr h="338328">
                <a:tc>
                  <a:txBody>
                    <a:bodyPr/>
                    <a:lstStyle/>
                    <a:p>
                      <a:pPr algn="l">
                        <a:lnSpc>
                          <a:spcPct val="103000"/>
                        </a:lnSpc>
                        <a:spcBef>
                          <a:spcPts val="0"/>
                        </a:spcBef>
                        <a:spcAft>
                          <a:spcPts val="0"/>
                        </a:spcAft>
                      </a:pPr>
                      <a:r>
                        <a:rPr sz="1250" b="0">
                          <a:solidFill>
                            <a:srgbClr val="00407A"/>
                          </a:solidFill>
                          <a:latin typeface="Arial"/>
                        </a:rPr>
                        <a:t>Frequency level</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14.1% (13 of 92)</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39.1% (36 of 92)</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level 4: 48.9%</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250" b="0">
                          <a:solidFill>
                            <a:srgbClr val="00407A"/>
                          </a:solidFill>
                          <a:latin typeface="Arial"/>
                        </a:rPr>
                        <a:t>Below the constant answer</a:t>
                      </a:r>
                    </a:p>
                  </a:txBody>
                  <a:tcPr marL="109728" marR="91440" marT="45720" marB="36576" anchor="ctr">
                    <a:solidFill>
                      <a:srgbClr val="FFFFFF"/>
                    </a:solidFill>
                    <a:lnL>
                      <a:noFill/>
                    </a:lnL>
                    <a:lnR>
                      <a:noFill/>
                    </a:lnR>
                    <a:lnT>
                      <a:noFill/>
                    </a:lnT>
                    <a:lnB>
                      <a:noFill/>
                    </a:lnB>
                  </a:tcPr>
                </a:tc>
              </a:tr>
              <a:tr h="338328">
                <a:tc>
                  <a:txBody>
                    <a:bodyPr/>
                    <a:lstStyle/>
                    <a:p>
                      <a:pPr algn="l">
                        <a:lnSpc>
                          <a:spcPct val="103000"/>
                        </a:lnSpc>
                        <a:spcBef>
                          <a:spcPts val="0"/>
                        </a:spcBef>
                        <a:spcAft>
                          <a:spcPts val="0"/>
                        </a:spcAft>
                      </a:pPr>
                      <a:r>
                        <a:rPr sz="1250" b="0">
                          <a:solidFill>
                            <a:srgbClr val="00407A"/>
                          </a:solidFill>
                          <a:latin typeface="Arial"/>
                        </a:rPr>
                        <a:t>Slack level</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32.6% (30 of 92)</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65.2% (60 of 92)</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level 5: 68.5%</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250" b="0">
                          <a:solidFill>
                            <a:srgbClr val="00407A"/>
                          </a:solidFill>
                          <a:latin typeface="Arial"/>
                        </a:rPr>
                        <a:t>Not above the constant answer</a:t>
                      </a:r>
                    </a:p>
                  </a:txBody>
                  <a:tcPr marL="109728" marR="91440" marT="45720" marB="36576" anchor="ctr">
                    <a:solidFill>
                      <a:srgbClr val="E3EFF5"/>
                    </a:solidFill>
                    <a:lnL>
                      <a:noFill/>
                    </a:lnL>
                    <a:lnR>
                      <a:noFill/>
                    </a:lnR>
                    <a:lnT>
                      <a:noFill/>
                    </a:lnT>
                    <a:lnB>
                      <a:noFill/>
                    </a:lnB>
                  </a:tcPr>
                </a:tc>
              </a:tr>
              <a:tr h="338328">
                <a:tc>
                  <a:txBody>
                    <a:bodyPr/>
                    <a:lstStyle/>
                    <a:p>
                      <a:pPr algn="l">
                        <a:lnSpc>
                          <a:spcPct val="103000"/>
                        </a:lnSpc>
                        <a:spcBef>
                          <a:spcPts val="0"/>
                        </a:spcBef>
                        <a:spcAft>
                          <a:spcPts val="0"/>
                        </a:spcAft>
                      </a:pPr>
                      <a:r>
                        <a:rPr sz="1250" b="0">
                          <a:solidFill>
                            <a:srgbClr val="00407A"/>
                          </a:solidFill>
                          <a:latin typeface="Arial"/>
                        </a:rPr>
                        <a:t>Smaller area of two designs</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78.3% (36 of 46)</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89.1% (41 of 46)</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A: 50.0%</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250" b="0">
                          <a:solidFill>
                            <a:srgbClr val="00407A"/>
                          </a:solidFill>
                          <a:latin typeface="Arial"/>
                        </a:rPr>
                        <a:t>Good with examples</a:t>
                      </a:r>
                    </a:p>
                  </a:txBody>
                  <a:tcPr marL="109728" marR="91440" marT="45720" marB="36576" anchor="ctr">
                    <a:solidFill>
                      <a:srgbClr val="FFFFFF"/>
                    </a:solidFill>
                    <a:lnL>
                      <a:noFill/>
                    </a:lnL>
                    <a:lnR>
                      <a:noFill/>
                    </a:lnR>
                    <a:lnT>
                      <a:noFill/>
                    </a:lnT>
                    <a:lnB>
                      <a:noFill/>
                    </a:lnB>
                  </a:tcPr>
                </a:tc>
              </a:tr>
              <a:tr h="338328">
                <a:tc>
                  <a:txBody>
                    <a:bodyPr/>
                    <a:lstStyle/>
                    <a:p>
                      <a:pPr algn="l">
                        <a:lnSpc>
                          <a:spcPct val="103000"/>
                        </a:lnSpc>
                        <a:spcBef>
                          <a:spcPts val="0"/>
                        </a:spcBef>
                        <a:spcAft>
                          <a:spcPts val="0"/>
                        </a:spcAft>
                      </a:pPr>
                      <a:r>
                        <a:rPr sz="1250" b="0">
                          <a:solidFill>
                            <a:srgbClr val="00407A"/>
                          </a:solidFill>
                          <a:latin typeface="Arial"/>
                        </a:rPr>
                        <a:t>Lower power of two designs</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70.5% (31 of 44)</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79.5% (35 of 44)</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A: 50.0%</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250" b="0">
                          <a:solidFill>
                            <a:srgbClr val="00407A"/>
                          </a:solidFill>
                          <a:latin typeface="Arial"/>
                        </a:rPr>
                        <a:t>Good with examples</a:t>
                      </a:r>
                    </a:p>
                  </a:txBody>
                  <a:tcPr marL="109728" marR="91440" marT="45720" marB="36576" anchor="ctr">
                    <a:solidFill>
                      <a:srgbClr val="E3EFF5"/>
                    </a:solidFill>
                    <a:lnL>
                      <a:noFill/>
                    </a:lnL>
                    <a:lnR>
                      <a:noFill/>
                    </a:lnR>
                    <a:lnT>
                      <a:noFill/>
                    </a:lnT>
                    <a:lnB>
                      <a:noFill/>
                    </a:lnB>
                  </a:tcPr>
                </a:tc>
              </a:tr>
              <a:tr h="338328">
                <a:tc>
                  <a:txBody>
                    <a:bodyPr/>
                    <a:lstStyle/>
                    <a:p>
                      <a:pPr algn="l">
                        <a:lnSpc>
                          <a:spcPct val="103000"/>
                        </a:lnSpc>
                        <a:spcBef>
                          <a:spcPts val="0"/>
                        </a:spcBef>
                        <a:spcAft>
                          <a:spcPts val="0"/>
                        </a:spcAft>
                      </a:pPr>
                      <a:r>
                        <a:rPr sz="1250" b="0">
                          <a:solidFill>
                            <a:srgbClr val="00407A"/>
                          </a:solidFill>
                          <a:latin typeface="Arial"/>
                        </a:rPr>
                        <a:t>Higher frequency of two designs</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83.3% (10 of 12)</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91.7% (11 of 12)</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A: 50.0%</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250" b="0">
                          <a:solidFill>
                            <a:srgbClr val="00407A"/>
                          </a:solidFill>
                          <a:latin typeface="Arial"/>
                        </a:rPr>
                        <a:t>Good; only 6 pairs</a:t>
                      </a:r>
                    </a:p>
                  </a:txBody>
                  <a:tcPr marL="109728" marR="91440" marT="45720" marB="36576" anchor="ctr">
                    <a:solidFill>
                      <a:srgbClr val="FFFFFF"/>
                    </a:solidFill>
                    <a:lnL>
                      <a:noFill/>
                    </a:lnL>
                    <a:lnR>
                      <a:noFill/>
                    </a:lnR>
                    <a:lnT>
                      <a:noFill/>
                    </a:lnT>
                    <a:lnB>
                      <a:noFill/>
                    </a:lnB>
                  </a:tcPr>
                </a:tc>
              </a:tr>
            </a:tbl>
          </a:graphicData>
        </a:graphic>
      </p:graphicFrame>
      <p:sp>
        <p:nvSpPr>
          <p:cNvPr id="7" name="Rounded Rectangle 6"/>
          <p:cNvSpPr/>
          <p:nvPr/>
        </p:nvSpPr>
        <p:spPr>
          <a:xfrm>
            <a:off x="813816" y="5715000"/>
            <a:ext cx="10561320" cy="603504"/>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5769864"/>
            <a:ext cx="10213848" cy="493776"/>
          </a:xfrm>
          <a:prstGeom prst="rect">
            <a:avLst/>
          </a:prstGeom>
          <a:noFill/>
        </p:spPr>
        <p:txBody>
          <a:bodyPr wrap="square" lIns="0" rIns="0" tIns="0" bIns="0" anchor="ctr">
            <a:noAutofit/>
          </a:bodyPr>
          <a:lstStyle/>
          <a:p>
            <a:pPr algn="l">
              <a:lnSpc>
                <a:spcPct val="109000"/>
              </a:lnSpc>
              <a:spcBef>
                <a:spcPts val="0"/>
              </a:spcBef>
              <a:spcAft>
                <a:spcPts val="0"/>
              </a:spcAft>
            </a:pPr>
            <a:r>
              <a:rPr sz="1500" b="1">
                <a:solidFill>
                  <a:srgbClr val="00407A"/>
                </a:solidFill>
                <a:latin typeface="Arial"/>
              </a:rPr>
              <a:t>Relative questions (the better of two designs) are reliable. Absolute questions (the level of one design) are not, except the area level.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Yes/no checks: only the compile check is reliable</a:t>
            </a:r>
          </a:p>
        </p:txBody>
      </p:sp>
      <p:sp>
        <p:nvSpPr>
          <p:cNvPr id="3" name="TextBox 2"/>
          <p:cNvSpPr txBox="1"/>
          <p:nvPr/>
        </p:nvSpPr>
        <p:spPr>
          <a:xfrm>
            <a:off x="813816" y="1261872"/>
            <a:ext cx="763524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Compile: KEV-27B gets 122 of 123 right. Synthesis: all scores near always “yes”.</a:t>
            </a:r>
          </a:p>
        </p:txBody>
      </p:sp>
      <p:sp>
        <p:nvSpPr>
          <p:cNvPr id="4" name="Rectangle 3"/>
          <p:cNvSpPr/>
          <p:nvPr/>
        </p:nvSpPr>
        <p:spPr>
          <a:xfrm>
            <a:off x="8549640" y="1353312"/>
            <a:ext cx="182880" cy="182880"/>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05672" y="1298448"/>
            <a:ext cx="1097280" cy="274320"/>
          </a:xfrm>
          <a:prstGeom prst="rect">
            <a:avLst/>
          </a:prstGeom>
          <a:noFill/>
        </p:spPr>
        <p:txBody>
          <a:bodyPr wrap="square" lIns="0" rIns="0" tIns="0" bIns="0" anchor="t">
            <a:noAutofit/>
          </a:bodyPr>
          <a:lstStyle/>
          <a:p>
            <a:pPr algn="l">
              <a:lnSpc>
                <a:spcPct val="109000"/>
              </a:lnSpc>
              <a:spcBef>
                <a:spcPts val="0"/>
              </a:spcBef>
              <a:spcAft>
                <a:spcPts val="0"/>
              </a:spcAft>
            </a:pPr>
            <a:r>
              <a:rPr sz="1200" b="0">
                <a:solidFill>
                  <a:srgbClr val="4A5A66"/>
                </a:solidFill>
                <a:latin typeface="Arial"/>
              </a:rPr>
              <a:t>no examples</a:t>
            </a:r>
          </a:p>
        </p:txBody>
      </p:sp>
      <p:sp>
        <p:nvSpPr>
          <p:cNvPr id="6" name="Rectangle 5"/>
          <p:cNvSpPr/>
          <p:nvPr/>
        </p:nvSpPr>
        <p:spPr>
          <a:xfrm>
            <a:off x="9921240" y="1353312"/>
            <a:ext cx="182880" cy="182880"/>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77272" y="1298448"/>
            <a:ext cx="1280160" cy="274320"/>
          </a:xfrm>
          <a:prstGeom prst="rect">
            <a:avLst/>
          </a:prstGeom>
          <a:noFill/>
        </p:spPr>
        <p:txBody>
          <a:bodyPr wrap="square" lIns="0" rIns="0" tIns="0" bIns="0" anchor="t">
            <a:noAutofit/>
          </a:bodyPr>
          <a:lstStyle/>
          <a:p>
            <a:pPr algn="l">
              <a:lnSpc>
                <a:spcPct val="109000"/>
              </a:lnSpc>
              <a:spcBef>
                <a:spcPts val="0"/>
              </a:spcBef>
              <a:spcAft>
                <a:spcPts val="0"/>
              </a:spcAft>
            </a:pPr>
            <a:r>
              <a:rPr sz="1200" b="0">
                <a:solidFill>
                  <a:srgbClr val="4A5A66"/>
                </a:solidFill>
                <a:latin typeface="Arial"/>
              </a:rPr>
              <a:t>three examples</a:t>
            </a:r>
          </a:p>
        </p:txBody>
      </p:sp>
      <p:sp>
        <p:nvSpPr>
          <p:cNvPr id="8" name="TextBox 7"/>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2  •  RESULTS</a:t>
            </a:r>
          </a:p>
        </p:txBody>
      </p:sp>
      <p:sp>
        <p:nvSpPr>
          <p:cNvPr id="9" name="TextBox 8"/>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11</a:t>
            </a:r>
          </a:p>
        </p:txBody>
      </p:sp>
      <p:sp>
        <p:nvSpPr>
          <p:cNvPr id="10" name="Rounded Rectangle 9"/>
          <p:cNvSpPr/>
          <p:nvPr/>
        </p:nvSpPr>
        <p:spPr>
          <a:xfrm>
            <a:off x="813816" y="1828800"/>
            <a:ext cx="5166360" cy="3749039"/>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1975104"/>
            <a:ext cx="4764024" cy="365760"/>
          </a:xfrm>
          <a:prstGeom prst="rect">
            <a:avLst/>
          </a:prstGeom>
          <a:noFill/>
        </p:spPr>
        <p:txBody>
          <a:bodyPr wrap="square" lIns="0" rIns="0" tIns="0" bIns="0" anchor="t">
            <a:noAutofit/>
          </a:bodyPr>
          <a:lstStyle/>
          <a:p>
            <a:pPr algn="l">
              <a:lnSpc>
                <a:spcPct val="109000"/>
              </a:lnSpc>
              <a:spcBef>
                <a:spcPts val="0"/>
              </a:spcBef>
              <a:spcAft>
                <a:spcPts val="0"/>
              </a:spcAft>
            </a:pPr>
            <a:r>
              <a:rPr sz="1800" b="1">
                <a:solidFill>
                  <a:srgbClr val="00407A"/>
                </a:solidFill>
                <a:latin typeface="Arial"/>
              </a:rPr>
              <a:t>Does it compile?</a:t>
            </a:r>
          </a:p>
        </p:txBody>
      </p:sp>
      <p:sp>
        <p:nvSpPr>
          <p:cNvPr id="12" name="TextBox 11"/>
          <p:cNvSpPr txBox="1"/>
          <p:nvPr/>
        </p:nvSpPr>
        <p:spPr>
          <a:xfrm>
            <a:off x="1014984" y="2359152"/>
            <a:ext cx="4764024" cy="274320"/>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4A5A66"/>
                </a:solidFill>
                <a:latin typeface="Arial"/>
              </a:rPr>
              <a:t>The tool says “yes” for 114 of the 123 designs and “no” for 9</a:t>
            </a:r>
          </a:p>
        </p:txBody>
      </p:sp>
      <p:cxnSp>
        <p:nvCxnSpPr>
          <p:cNvPr id="13" name="Connector 12"/>
          <p:cNvCxnSpPr/>
          <p:nvPr/>
        </p:nvCxnSpPr>
        <p:spPr>
          <a:xfrm>
            <a:off x="1664208"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463040"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0</a:t>
            </a:r>
          </a:p>
        </p:txBody>
      </p:sp>
      <p:cxnSp>
        <p:nvCxnSpPr>
          <p:cNvPr id="15" name="Connector 14"/>
          <p:cNvCxnSpPr/>
          <p:nvPr/>
        </p:nvCxnSpPr>
        <p:spPr>
          <a:xfrm>
            <a:off x="2610612"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409444"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50</a:t>
            </a:r>
          </a:p>
        </p:txBody>
      </p:sp>
      <p:cxnSp>
        <p:nvCxnSpPr>
          <p:cNvPr id="17" name="Connector 16"/>
          <p:cNvCxnSpPr/>
          <p:nvPr/>
        </p:nvCxnSpPr>
        <p:spPr>
          <a:xfrm>
            <a:off x="3557016"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355848"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100</a:t>
            </a:r>
          </a:p>
        </p:txBody>
      </p:sp>
      <p:cxnSp>
        <p:nvCxnSpPr>
          <p:cNvPr id="19" name="Connector 18"/>
          <p:cNvCxnSpPr/>
          <p:nvPr/>
        </p:nvCxnSpPr>
        <p:spPr>
          <a:xfrm>
            <a:off x="1802706" y="2688336"/>
            <a:ext cx="0" cy="2416759"/>
          </a:xfrm>
          <a:prstGeom prst="line">
            <a:avLst/>
          </a:prstGeom>
          <a:ln w="15240">
            <a:solidFill>
              <a:srgbClr val="4A5A66"/>
            </a:solidFill>
            <a:prstDash val="dash"/>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18517" y="2688336"/>
            <a:ext cx="0" cy="2416759"/>
          </a:xfrm>
          <a:prstGeom prst="line">
            <a:avLst/>
          </a:prstGeom>
          <a:ln w="15240">
            <a:solidFill>
              <a:srgbClr val="4A5A66"/>
            </a:solidFill>
            <a:prstDash val="dash"/>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96696" y="2834640"/>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0.8B</a:t>
            </a:r>
          </a:p>
        </p:txBody>
      </p:sp>
      <p:sp>
        <p:nvSpPr>
          <p:cNvPr id="22" name="Rectangle 21"/>
          <p:cNvSpPr/>
          <p:nvPr/>
        </p:nvSpPr>
        <p:spPr>
          <a:xfrm>
            <a:off x="1664208" y="2743200"/>
            <a:ext cx="200052"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48456" y="2715768"/>
            <a:ext cx="22860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10.6% · 4 of 114 yes · 9 of 9 no</a:t>
            </a:r>
          </a:p>
        </p:txBody>
      </p:sp>
      <p:sp>
        <p:nvSpPr>
          <p:cNvPr id="24" name="Rectangle 23"/>
          <p:cNvSpPr/>
          <p:nvPr/>
        </p:nvSpPr>
        <p:spPr>
          <a:xfrm>
            <a:off x="1664208" y="2991916"/>
            <a:ext cx="153886"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48456" y="2964484"/>
            <a:ext cx="22860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8.1% · 1 of 114 yes · 9 of 9 no</a:t>
            </a:r>
          </a:p>
        </p:txBody>
      </p:sp>
      <p:sp>
        <p:nvSpPr>
          <p:cNvPr id="26" name="TextBox 25"/>
          <p:cNvSpPr txBox="1"/>
          <p:nvPr/>
        </p:nvSpPr>
        <p:spPr>
          <a:xfrm>
            <a:off x="996696" y="3456432"/>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4B</a:t>
            </a:r>
          </a:p>
        </p:txBody>
      </p:sp>
      <p:sp>
        <p:nvSpPr>
          <p:cNvPr id="27" name="Rectangle 26"/>
          <p:cNvSpPr/>
          <p:nvPr/>
        </p:nvSpPr>
        <p:spPr>
          <a:xfrm>
            <a:off x="1664208" y="3364992"/>
            <a:ext cx="1754309"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48456" y="3337560"/>
            <a:ext cx="22860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92.7% · 114 of 114 yes · 0 of 9 no</a:t>
            </a:r>
          </a:p>
        </p:txBody>
      </p:sp>
      <p:sp>
        <p:nvSpPr>
          <p:cNvPr id="29" name="Rectangle 28"/>
          <p:cNvSpPr/>
          <p:nvPr/>
        </p:nvSpPr>
        <p:spPr>
          <a:xfrm>
            <a:off x="1664208" y="3613708"/>
            <a:ext cx="1785087"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48456" y="3586276"/>
            <a:ext cx="22860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94.3% · 113 of 114 yes · 3 of 9 no</a:t>
            </a:r>
          </a:p>
        </p:txBody>
      </p:sp>
      <p:sp>
        <p:nvSpPr>
          <p:cNvPr id="31" name="TextBox 30"/>
          <p:cNvSpPr txBox="1"/>
          <p:nvPr/>
        </p:nvSpPr>
        <p:spPr>
          <a:xfrm>
            <a:off x="996696" y="4078224"/>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9B</a:t>
            </a:r>
          </a:p>
        </p:txBody>
      </p:sp>
      <p:sp>
        <p:nvSpPr>
          <p:cNvPr id="32" name="Rectangle 31"/>
          <p:cNvSpPr/>
          <p:nvPr/>
        </p:nvSpPr>
        <p:spPr>
          <a:xfrm>
            <a:off x="1664208" y="3986784"/>
            <a:ext cx="1785087"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48456" y="3959352"/>
            <a:ext cx="22860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94.3% · 114 of 114 yes · 2 of 9 no</a:t>
            </a:r>
          </a:p>
        </p:txBody>
      </p:sp>
      <p:sp>
        <p:nvSpPr>
          <p:cNvPr id="34" name="Rectangle 33"/>
          <p:cNvSpPr/>
          <p:nvPr/>
        </p:nvSpPr>
        <p:spPr>
          <a:xfrm>
            <a:off x="1664208" y="4235500"/>
            <a:ext cx="1785087"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48456" y="4208068"/>
            <a:ext cx="22860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94.3% · 112 of 114 yes · 4 of 9 no</a:t>
            </a:r>
          </a:p>
        </p:txBody>
      </p:sp>
      <p:sp>
        <p:nvSpPr>
          <p:cNvPr id="36" name="TextBox 35"/>
          <p:cNvSpPr txBox="1"/>
          <p:nvPr/>
        </p:nvSpPr>
        <p:spPr>
          <a:xfrm>
            <a:off x="996696" y="4700016"/>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27B</a:t>
            </a:r>
          </a:p>
        </p:txBody>
      </p:sp>
      <p:sp>
        <p:nvSpPr>
          <p:cNvPr id="37" name="Rectangle 36"/>
          <p:cNvSpPr/>
          <p:nvPr/>
        </p:nvSpPr>
        <p:spPr>
          <a:xfrm>
            <a:off x="1664208" y="4608576"/>
            <a:ext cx="1877419"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48456" y="4581144"/>
            <a:ext cx="22860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99.2% · 114 of 114 yes · 8 of 9 no</a:t>
            </a:r>
          </a:p>
        </p:txBody>
      </p:sp>
      <p:sp>
        <p:nvSpPr>
          <p:cNvPr id="39" name="Rectangle 38"/>
          <p:cNvSpPr/>
          <p:nvPr/>
        </p:nvSpPr>
        <p:spPr>
          <a:xfrm>
            <a:off x="1664208" y="4857292"/>
            <a:ext cx="1800475"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48456" y="4829860"/>
            <a:ext cx="22860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95.1% · 108 of 114 yes · 9 of 9 no</a:t>
            </a:r>
          </a:p>
        </p:txBody>
      </p:sp>
      <p:sp>
        <p:nvSpPr>
          <p:cNvPr id="41" name="TextBox 40"/>
          <p:cNvSpPr txBox="1"/>
          <p:nvPr/>
        </p:nvSpPr>
        <p:spPr>
          <a:xfrm>
            <a:off x="996696" y="5330952"/>
            <a:ext cx="4800600" cy="210312"/>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Dashed lines: always “no” = 7.3% · always “yes” = 92.7%</a:t>
            </a:r>
          </a:p>
        </p:txBody>
      </p:sp>
      <p:sp>
        <p:nvSpPr>
          <p:cNvPr id="42" name="Rounded Rectangle 41"/>
          <p:cNvSpPr/>
          <p:nvPr/>
        </p:nvSpPr>
        <p:spPr>
          <a:xfrm>
            <a:off x="6208776" y="1828800"/>
            <a:ext cx="5166360" cy="3749039"/>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9944" y="1975104"/>
            <a:ext cx="4764024" cy="365760"/>
          </a:xfrm>
          <a:prstGeom prst="rect">
            <a:avLst/>
          </a:prstGeom>
          <a:noFill/>
        </p:spPr>
        <p:txBody>
          <a:bodyPr wrap="square" lIns="0" rIns="0" tIns="0" bIns="0" anchor="t">
            <a:noAutofit/>
          </a:bodyPr>
          <a:lstStyle/>
          <a:p>
            <a:pPr algn="l">
              <a:lnSpc>
                <a:spcPct val="109000"/>
              </a:lnSpc>
              <a:spcBef>
                <a:spcPts val="0"/>
              </a:spcBef>
              <a:spcAft>
                <a:spcPts val="0"/>
              </a:spcAft>
            </a:pPr>
            <a:r>
              <a:rPr sz="1800" b="1">
                <a:solidFill>
                  <a:srgbClr val="00407A"/>
                </a:solidFill>
                <a:latin typeface="Arial"/>
              </a:rPr>
              <a:t>Does it synthesize?</a:t>
            </a:r>
          </a:p>
        </p:txBody>
      </p:sp>
      <p:sp>
        <p:nvSpPr>
          <p:cNvPr id="44" name="TextBox 43"/>
          <p:cNvSpPr txBox="1"/>
          <p:nvPr/>
        </p:nvSpPr>
        <p:spPr>
          <a:xfrm>
            <a:off x="6409944" y="2359152"/>
            <a:ext cx="4764024" cy="274320"/>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4A5A66"/>
                </a:solidFill>
                <a:latin typeface="Arial"/>
              </a:rPr>
              <a:t>The tool says “yes” for 99 of the 123 designs and “no” for 24</a:t>
            </a:r>
          </a:p>
        </p:txBody>
      </p:sp>
      <p:cxnSp>
        <p:nvCxnSpPr>
          <p:cNvPr id="45" name="Connector 44"/>
          <p:cNvCxnSpPr/>
          <p:nvPr/>
        </p:nvCxnSpPr>
        <p:spPr>
          <a:xfrm>
            <a:off x="7059168"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858000"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0</a:t>
            </a:r>
          </a:p>
        </p:txBody>
      </p:sp>
      <p:cxnSp>
        <p:nvCxnSpPr>
          <p:cNvPr id="47" name="Connector 46"/>
          <p:cNvCxnSpPr/>
          <p:nvPr/>
        </p:nvCxnSpPr>
        <p:spPr>
          <a:xfrm>
            <a:off x="8005572"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7804404"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50</a:t>
            </a:r>
          </a:p>
        </p:txBody>
      </p:sp>
      <p:cxnSp>
        <p:nvCxnSpPr>
          <p:cNvPr id="49" name="Connector 48"/>
          <p:cNvCxnSpPr/>
          <p:nvPr/>
        </p:nvCxnSpPr>
        <p:spPr>
          <a:xfrm>
            <a:off x="8951976"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750808"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100</a:t>
            </a:r>
          </a:p>
        </p:txBody>
      </p:sp>
      <p:cxnSp>
        <p:nvCxnSpPr>
          <p:cNvPr id="51" name="Connector 50"/>
          <p:cNvCxnSpPr/>
          <p:nvPr/>
        </p:nvCxnSpPr>
        <p:spPr>
          <a:xfrm>
            <a:off x="7428496" y="2688336"/>
            <a:ext cx="0" cy="2416759"/>
          </a:xfrm>
          <a:prstGeom prst="line">
            <a:avLst/>
          </a:prstGeom>
          <a:ln w="15240">
            <a:solidFill>
              <a:srgbClr val="4A5A66"/>
            </a:solidFill>
            <a:prstDash val="dash"/>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582647" y="2688336"/>
            <a:ext cx="0" cy="2416759"/>
          </a:xfrm>
          <a:prstGeom prst="line">
            <a:avLst/>
          </a:prstGeom>
          <a:ln w="15240">
            <a:solidFill>
              <a:srgbClr val="4A5A66"/>
            </a:solidFill>
            <a:prstDash val="dash"/>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391656" y="2834640"/>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0.8B</a:t>
            </a:r>
          </a:p>
        </p:txBody>
      </p:sp>
      <p:sp>
        <p:nvSpPr>
          <p:cNvPr id="54" name="Rectangle 53"/>
          <p:cNvSpPr/>
          <p:nvPr/>
        </p:nvSpPr>
        <p:spPr>
          <a:xfrm>
            <a:off x="7059168" y="2743200"/>
            <a:ext cx="1523479"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043416" y="2715768"/>
            <a:ext cx="22860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80.5% · 99 of 99 yes · 0 of 24 no</a:t>
            </a:r>
          </a:p>
        </p:txBody>
      </p:sp>
      <p:sp>
        <p:nvSpPr>
          <p:cNvPr id="56" name="Rectangle 55"/>
          <p:cNvSpPr/>
          <p:nvPr/>
        </p:nvSpPr>
        <p:spPr>
          <a:xfrm>
            <a:off x="7059168" y="2991916"/>
            <a:ext cx="369328"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043416" y="2964484"/>
            <a:ext cx="22860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19.5% · 0 of 99 yes · 24 of 24 no</a:t>
            </a:r>
          </a:p>
        </p:txBody>
      </p:sp>
      <p:sp>
        <p:nvSpPr>
          <p:cNvPr id="58" name="TextBox 57"/>
          <p:cNvSpPr txBox="1"/>
          <p:nvPr/>
        </p:nvSpPr>
        <p:spPr>
          <a:xfrm>
            <a:off x="6391656" y="3456432"/>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4B</a:t>
            </a:r>
          </a:p>
        </p:txBody>
      </p:sp>
      <p:sp>
        <p:nvSpPr>
          <p:cNvPr id="59" name="Rectangle 58"/>
          <p:cNvSpPr/>
          <p:nvPr/>
        </p:nvSpPr>
        <p:spPr>
          <a:xfrm>
            <a:off x="7059168" y="3364992"/>
            <a:ext cx="1508090"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043416" y="3337560"/>
            <a:ext cx="22860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79.7% · 98 of 99 yes · 0 of 24 no</a:t>
            </a:r>
          </a:p>
        </p:txBody>
      </p:sp>
      <p:sp>
        <p:nvSpPr>
          <p:cNvPr id="61" name="Rectangle 60"/>
          <p:cNvSpPr/>
          <p:nvPr/>
        </p:nvSpPr>
        <p:spPr>
          <a:xfrm>
            <a:off x="7059168" y="3613708"/>
            <a:ext cx="1538868"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043416" y="3586276"/>
            <a:ext cx="22860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81.3% · 98 of 99 yes · 2 of 24 no</a:t>
            </a:r>
          </a:p>
        </p:txBody>
      </p:sp>
      <p:sp>
        <p:nvSpPr>
          <p:cNvPr id="63" name="TextBox 62"/>
          <p:cNvSpPr txBox="1"/>
          <p:nvPr/>
        </p:nvSpPr>
        <p:spPr>
          <a:xfrm>
            <a:off x="6391656" y="4078224"/>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9B</a:t>
            </a:r>
          </a:p>
        </p:txBody>
      </p:sp>
      <p:sp>
        <p:nvSpPr>
          <p:cNvPr id="64" name="Rectangle 63"/>
          <p:cNvSpPr/>
          <p:nvPr/>
        </p:nvSpPr>
        <p:spPr>
          <a:xfrm>
            <a:off x="7059168" y="3986784"/>
            <a:ext cx="1523479"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043416" y="3959352"/>
            <a:ext cx="22860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80.5% · 97 of 99 yes · 2 of 24 no</a:t>
            </a:r>
          </a:p>
        </p:txBody>
      </p:sp>
      <p:sp>
        <p:nvSpPr>
          <p:cNvPr id="66" name="Rectangle 65"/>
          <p:cNvSpPr/>
          <p:nvPr/>
        </p:nvSpPr>
        <p:spPr>
          <a:xfrm>
            <a:off x="7059168" y="4235500"/>
            <a:ext cx="1569645"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043416" y="4208068"/>
            <a:ext cx="22860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82.9% · 98 of 99 yes · 4 of 24 no</a:t>
            </a:r>
          </a:p>
        </p:txBody>
      </p:sp>
      <p:sp>
        <p:nvSpPr>
          <p:cNvPr id="68" name="TextBox 67"/>
          <p:cNvSpPr txBox="1"/>
          <p:nvPr/>
        </p:nvSpPr>
        <p:spPr>
          <a:xfrm>
            <a:off x="6391656" y="4700016"/>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27B</a:t>
            </a:r>
          </a:p>
        </p:txBody>
      </p:sp>
      <p:sp>
        <p:nvSpPr>
          <p:cNvPr id="69" name="Rectangle 68"/>
          <p:cNvSpPr/>
          <p:nvPr/>
        </p:nvSpPr>
        <p:spPr>
          <a:xfrm>
            <a:off x="7059168" y="4608576"/>
            <a:ext cx="1569645"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043416" y="4581144"/>
            <a:ext cx="22860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82.9% · 98 of 99 yes · 4 of 24 no</a:t>
            </a:r>
          </a:p>
        </p:txBody>
      </p:sp>
      <p:sp>
        <p:nvSpPr>
          <p:cNvPr id="71" name="Rectangle 70"/>
          <p:cNvSpPr/>
          <p:nvPr/>
        </p:nvSpPr>
        <p:spPr>
          <a:xfrm>
            <a:off x="7059168" y="4857292"/>
            <a:ext cx="1661977"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9043416" y="4829860"/>
            <a:ext cx="22860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87.8% · 96 of 99 yes · 12 of 24 no</a:t>
            </a:r>
          </a:p>
        </p:txBody>
      </p:sp>
      <p:sp>
        <p:nvSpPr>
          <p:cNvPr id="73" name="TextBox 72"/>
          <p:cNvSpPr txBox="1"/>
          <p:nvPr/>
        </p:nvSpPr>
        <p:spPr>
          <a:xfrm>
            <a:off x="6391656" y="5330952"/>
            <a:ext cx="4800600" cy="210312"/>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Dashed lines: always “no” = 19.5% · always “yes” = 80.5%</a:t>
            </a:r>
          </a:p>
        </p:txBody>
      </p:sp>
      <p:sp>
        <p:nvSpPr>
          <p:cNvPr id="74" name="Rounded Rectangle 73"/>
          <p:cNvSpPr/>
          <p:nvPr/>
        </p:nvSpPr>
        <p:spPr>
          <a:xfrm>
            <a:off x="813816" y="5715000"/>
            <a:ext cx="10561320" cy="603504"/>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87552" y="5769864"/>
            <a:ext cx="10213848" cy="493776"/>
          </a:xfrm>
          <a:prstGeom prst="rect">
            <a:avLst/>
          </a:prstGeom>
          <a:noFill/>
        </p:spPr>
        <p:txBody>
          <a:bodyPr wrap="square" lIns="0" rIns="0" tIns="0" bIns="0" anchor="ctr">
            <a:noAutofit/>
          </a:bodyPr>
          <a:lstStyle/>
          <a:p>
            <a:pPr algn="l">
              <a:lnSpc>
                <a:spcPct val="109000"/>
              </a:lnSpc>
              <a:spcBef>
                <a:spcPts val="0"/>
              </a:spcBef>
              <a:spcAft>
                <a:spcPts val="0"/>
              </a:spcAft>
            </a:pPr>
            <a:r>
              <a:rPr sz="1500" b="1">
                <a:solidFill>
                  <a:srgbClr val="00407A"/>
                </a:solidFill>
                <a:latin typeface="Arial"/>
              </a:rPr>
              <a:t>Synthesis: the best score, KEV-27B with examples, is 9 designs above always “yes”. KEV-0.8B with examples answers “no” to every design on synthesis.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KEV misses most synthesis failures that compile</a:t>
            </a:r>
          </a:p>
        </p:txBody>
      </p:sp>
      <p:sp>
        <p:nvSpPr>
          <p:cNvPr id="3" name="TextBox 2"/>
          <p:cNvSpPr txBox="1"/>
          <p:nvPr/>
        </p:nvSpPr>
        <p:spPr>
          <a:xfrm>
            <a:off x="813816" y="1261872"/>
            <a:ext cx="763524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The 24 synthesis failures split by the compile check. Bars: failures answered “no”.</a:t>
            </a:r>
          </a:p>
        </p:txBody>
      </p:sp>
      <p:sp>
        <p:nvSpPr>
          <p:cNvPr id="4" name="Rectangle 3"/>
          <p:cNvSpPr/>
          <p:nvPr/>
        </p:nvSpPr>
        <p:spPr>
          <a:xfrm>
            <a:off x="8549640" y="1353312"/>
            <a:ext cx="182880" cy="182880"/>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05672" y="1298448"/>
            <a:ext cx="1097280" cy="274320"/>
          </a:xfrm>
          <a:prstGeom prst="rect">
            <a:avLst/>
          </a:prstGeom>
          <a:noFill/>
        </p:spPr>
        <p:txBody>
          <a:bodyPr wrap="square" lIns="0" rIns="0" tIns="0" bIns="0" anchor="t">
            <a:noAutofit/>
          </a:bodyPr>
          <a:lstStyle/>
          <a:p>
            <a:pPr algn="l">
              <a:lnSpc>
                <a:spcPct val="109000"/>
              </a:lnSpc>
              <a:spcBef>
                <a:spcPts val="0"/>
              </a:spcBef>
              <a:spcAft>
                <a:spcPts val="0"/>
              </a:spcAft>
            </a:pPr>
            <a:r>
              <a:rPr sz="1200" b="0">
                <a:solidFill>
                  <a:srgbClr val="4A5A66"/>
                </a:solidFill>
                <a:latin typeface="Arial"/>
              </a:rPr>
              <a:t>no examples</a:t>
            </a:r>
          </a:p>
        </p:txBody>
      </p:sp>
      <p:sp>
        <p:nvSpPr>
          <p:cNvPr id="6" name="Rectangle 5"/>
          <p:cNvSpPr/>
          <p:nvPr/>
        </p:nvSpPr>
        <p:spPr>
          <a:xfrm>
            <a:off x="9921240" y="1353312"/>
            <a:ext cx="182880" cy="182880"/>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77272" y="1298448"/>
            <a:ext cx="1280160" cy="274320"/>
          </a:xfrm>
          <a:prstGeom prst="rect">
            <a:avLst/>
          </a:prstGeom>
          <a:noFill/>
        </p:spPr>
        <p:txBody>
          <a:bodyPr wrap="square" lIns="0" rIns="0" tIns="0" bIns="0" anchor="t">
            <a:noAutofit/>
          </a:bodyPr>
          <a:lstStyle/>
          <a:p>
            <a:pPr algn="l">
              <a:lnSpc>
                <a:spcPct val="109000"/>
              </a:lnSpc>
              <a:spcBef>
                <a:spcPts val="0"/>
              </a:spcBef>
              <a:spcAft>
                <a:spcPts val="0"/>
              </a:spcAft>
            </a:pPr>
            <a:r>
              <a:rPr sz="1200" b="0">
                <a:solidFill>
                  <a:srgbClr val="4A5A66"/>
                </a:solidFill>
                <a:latin typeface="Arial"/>
              </a:rPr>
              <a:t>three examples</a:t>
            </a:r>
          </a:p>
        </p:txBody>
      </p:sp>
      <p:sp>
        <p:nvSpPr>
          <p:cNvPr id="8" name="TextBox 7"/>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2  •  RESULTS</a:t>
            </a:r>
          </a:p>
        </p:txBody>
      </p:sp>
      <p:sp>
        <p:nvSpPr>
          <p:cNvPr id="9" name="TextBox 8"/>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12</a:t>
            </a:r>
          </a:p>
        </p:txBody>
      </p:sp>
      <p:sp>
        <p:nvSpPr>
          <p:cNvPr id="10" name="Rounded Rectangle 9"/>
          <p:cNvSpPr/>
          <p:nvPr/>
        </p:nvSpPr>
        <p:spPr>
          <a:xfrm>
            <a:off x="813816" y="1828800"/>
            <a:ext cx="5166360" cy="310896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1975104"/>
            <a:ext cx="4764024" cy="365760"/>
          </a:xfrm>
          <a:prstGeom prst="rect">
            <a:avLst/>
          </a:prstGeom>
          <a:noFill/>
        </p:spPr>
        <p:txBody>
          <a:bodyPr wrap="square" lIns="0" rIns="0" tIns="0" bIns="0" anchor="t">
            <a:noAutofit/>
          </a:bodyPr>
          <a:lstStyle/>
          <a:p>
            <a:pPr algn="l">
              <a:lnSpc>
                <a:spcPct val="109000"/>
              </a:lnSpc>
              <a:spcBef>
                <a:spcPts val="0"/>
              </a:spcBef>
              <a:spcAft>
                <a:spcPts val="0"/>
              </a:spcAft>
            </a:pPr>
            <a:r>
              <a:rPr sz="1800" b="1">
                <a:solidFill>
                  <a:srgbClr val="00407A"/>
                </a:solidFill>
                <a:latin typeface="Arial"/>
              </a:rPr>
              <a:t>Failures whose source compiles</a:t>
            </a:r>
          </a:p>
        </p:txBody>
      </p:sp>
      <p:sp>
        <p:nvSpPr>
          <p:cNvPr id="12" name="TextBox 11"/>
          <p:cNvSpPr txBox="1"/>
          <p:nvPr/>
        </p:nvSpPr>
        <p:spPr>
          <a:xfrm>
            <a:off x="1014984" y="2359152"/>
            <a:ext cx="4764024" cy="274320"/>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4A5A66"/>
                </a:solidFill>
                <a:latin typeface="Arial"/>
              </a:rPr>
              <a:t>15 designs: only synthesis rejects them</a:t>
            </a:r>
          </a:p>
        </p:txBody>
      </p:sp>
      <p:cxnSp>
        <p:nvCxnSpPr>
          <p:cNvPr id="13" name="Connector 12"/>
          <p:cNvCxnSpPr/>
          <p:nvPr/>
        </p:nvCxnSpPr>
        <p:spPr>
          <a:xfrm>
            <a:off x="1664208" y="2688336"/>
            <a:ext cx="0" cy="197418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463040" y="468081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0</a:t>
            </a:r>
          </a:p>
        </p:txBody>
      </p:sp>
      <p:cxnSp>
        <p:nvCxnSpPr>
          <p:cNvPr id="15" name="Connector 14"/>
          <p:cNvCxnSpPr/>
          <p:nvPr/>
        </p:nvCxnSpPr>
        <p:spPr>
          <a:xfrm>
            <a:off x="3067812" y="2688336"/>
            <a:ext cx="0" cy="197418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866644" y="468081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50</a:t>
            </a:r>
          </a:p>
        </p:txBody>
      </p:sp>
      <p:cxnSp>
        <p:nvCxnSpPr>
          <p:cNvPr id="17" name="Connector 16"/>
          <p:cNvCxnSpPr/>
          <p:nvPr/>
        </p:nvCxnSpPr>
        <p:spPr>
          <a:xfrm>
            <a:off x="4471416" y="2688336"/>
            <a:ext cx="0" cy="197418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270248" y="468081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100</a:t>
            </a:r>
          </a:p>
        </p:txBody>
      </p:sp>
      <p:sp>
        <p:nvSpPr>
          <p:cNvPr id="19" name="TextBox 18"/>
          <p:cNvSpPr txBox="1"/>
          <p:nvPr/>
        </p:nvSpPr>
        <p:spPr>
          <a:xfrm>
            <a:off x="996696" y="2834640"/>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0.8B</a:t>
            </a:r>
          </a:p>
        </p:txBody>
      </p:sp>
      <p:sp>
        <p:nvSpPr>
          <p:cNvPr id="20" name="TextBox 19"/>
          <p:cNvSpPr txBox="1"/>
          <p:nvPr/>
        </p:nvSpPr>
        <p:spPr>
          <a:xfrm>
            <a:off x="4562856" y="2715768"/>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0.0% · 0 of 15</a:t>
            </a:r>
          </a:p>
        </p:txBody>
      </p:sp>
      <p:sp>
        <p:nvSpPr>
          <p:cNvPr id="21" name="Rectangle 20"/>
          <p:cNvSpPr/>
          <p:nvPr/>
        </p:nvSpPr>
        <p:spPr>
          <a:xfrm>
            <a:off x="1664208" y="2944368"/>
            <a:ext cx="2807208" cy="163677"/>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62856" y="2916936"/>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100.0% · 15 of 15</a:t>
            </a:r>
          </a:p>
        </p:txBody>
      </p:sp>
      <p:sp>
        <p:nvSpPr>
          <p:cNvPr id="23" name="TextBox 22"/>
          <p:cNvSpPr txBox="1"/>
          <p:nvPr/>
        </p:nvSpPr>
        <p:spPr>
          <a:xfrm>
            <a:off x="996696" y="3337560"/>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4B</a:t>
            </a:r>
          </a:p>
        </p:txBody>
      </p:sp>
      <p:sp>
        <p:nvSpPr>
          <p:cNvPr id="24" name="TextBox 23"/>
          <p:cNvSpPr txBox="1"/>
          <p:nvPr/>
        </p:nvSpPr>
        <p:spPr>
          <a:xfrm>
            <a:off x="4562856" y="3218688"/>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0.0% · 0 of 15</a:t>
            </a:r>
          </a:p>
        </p:txBody>
      </p:sp>
      <p:sp>
        <p:nvSpPr>
          <p:cNvPr id="25" name="Rectangle 24"/>
          <p:cNvSpPr/>
          <p:nvPr/>
        </p:nvSpPr>
        <p:spPr>
          <a:xfrm>
            <a:off x="1664208" y="3447288"/>
            <a:ext cx="187147" cy="163677"/>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62856" y="3419856"/>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6.7% · 1 of 15</a:t>
            </a:r>
          </a:p>
        </p:txBody>
      </p:sp>
      <p:sp>
        <p:nvSpPr>
          <p:cNvPr id="27" name="TextBox 26"/>
          <p:cNvSpPr txBox="1"/>
          <p:nvPr/>
        </p:nvSpPr>
        <p:spPr>
          <a:xfrm>
            <a:off x="996696" y="3840479"/>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9B</a:t>
            </a:r>
          </a:p>
        </p:txBody>
      </p:sp>
      <p:sp>
        <p:nvSpPr>
          <p:cNvPr id="28" name="Rectangle 27"/>
          <p:cNvSpPr/>
          <p:nvPr/>
        </p:nvSpPr>
        <p:spPr>
          <a:xfrm>
            <a:off x="1664208" y="3749039"/>
            <a:ext cx="187147" cy="163677"/>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62856" y="3721607"/>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6.7% · 1 of 15</a:t>
            </a:r>
          </a:p>
        </p:txBody>
      </p:sp>
      <p:sp>
        <p:nvSpPr>
          <p:cNvPr id="30" name="Rectangle 29"/>
          <p:cNvSpPr/>
          <p:nvPr/>
        </p:nvSpPr>
        <p:spPr>
          <a:xfrm>
            <a:off x="1664208" y="3950207"/>
            <a:ext cx="374294" cy="163677"/>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62856" y="3922775"/>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13.3% · 2 of 15</a:t>
            </a:r>
          </a:p>
        </p:txBody>
      </p:sp>
      <p:sp>
        <p:nvSpPr>
          <p:cNvPr id="32" name="TextBox 31"/>
          <p:cNvSpPr txBox="1"/>
          <p:nvPr/>
        </p:nvSpPr>
        <p:spPr>
          <a:xfrm>
            <a:off x="996696" y="4343400"/>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27B</a:t>
            </a:r>
          </a:p>
        </p:txBody>
      </p:sp>
      <p:sp>
        <p:nvSpPr>
          <p:cNvPr id="33" name="TextBox 32"/>
          <p:cNvSpPr txBox="1"/>
          <p:nvPr/>
        </p:nvSpPr>
        <p:spPr>
          <a:xfrm>
            <a:off x="4562856" y="4224528"/>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0.0% · 0 of 15</a:t>
            </a:r>
          </a:p>
        </p:txBody>
      </p:sp>
      <p:sp>
        <p:nvSpPr>
          <p:cNvPr id="34" name="Rectangle 33"/>
          <p:cNvSpPr/>
          <p:nvPr/>
        </p:nvSpPr>
        <p:spPr>
          <a:xfrm>
            <a:off x="1664208" y="4453128"/>
            <a:ext cx="748588" cy="163677"/>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62856" y="4425696"/>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26.7% · 4 of 15</a:t>
            </a:r>
          </a:p>
        </p:txBody>
      </p:sp>
      <p:sp>
        <p:nvSpPr>
          <p:cNvPr id="36" name="Rounded Rectangle 35"/>
          <p:cNvSpPr/>
          <p:nvPr/>
        </p:nvSpPr>
        <p:spPr>
          <a:xfrm>
            <a:off x="6208776" y="1828800"/>
            <a:ext cx="5166360" cy="310896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9944" y="1975104"/>
            <a:ext cx="4764024" cy="365760"/>
          </a:xfrm>
          <a:prstGeom prst="rect">
            <a:avLst/>
          </a:prstGeom>
          <a:noFill/>
        </p:spPr>
        <p:txBody>
          <a:bodyPr wrap="square" lIns="0" rIns="0" tIns="0" bIns="0" anchor="t">
            <a:noAutofit/>
          </a:bodyPr>
          <a:lstStyle/>
          <a:p>
            <a:pPr algn="l">
              <a:lnSpc>
                <a:spcPct val="109000"/>
              </a:lnSpc>
              <a:spcBef>
                <a:spcPts val="0"/>
              </a:spcBef>
              <a:spcAft>
                <a:spcPts val="0"/>
              </a:spcAft>
            </a:pPr>
            <a:r>
              <a:rPr sz="1800" b="1">
                <a:solidFill>
                  <a:srgbClr val="00407A"/>
                </a:solidFill>
                <a:latin typeface="Arial"/>
              </a:rPr>
              <a:t>Failures whose source does not compile</a:t>
            </a:r>
          </a:p>
        </p:txBody>
      </p:sp>
      <p:sp>
        <p:nvSpPr>
          <p:cNvPr id="38" name="TextBox 37"/>
          <p:cNvSpPr txBox="1"/>
          <p:nvPr/>
        </p:nvSpPr>
        <p:spPr>
          <a:xfrm>
            <a:off x="6409944" y="2359152"/>
            <a:ext cx="4764024" cy="274320"/>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4A5A66"/>
                </a:solidFill>
                <a:latin typeface="Arial"/>
              </a:rPr>
              <a:t>9 designs: vlog rejects them too</a:t>
            </a:r>
          </a:p>
        </p:txBody>
      </p:sp>
      <p:cxnSp>
        <p:nvCxnSpPr>
          <p:cNvPr id="39" name="Connector 38"/>
          <p:cNvCxnSpPr/>
          <p:nvPr/>
        </p:nvCxnSpPr>
        <p:spPr>
          <a:xfrm>
            <a:off x="7059168" y="2688336"/>
            <a:ext cx="0" cy="197418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0" y="468081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0</a:t>
            </a:r>
          </a:p>
        </p:txBody>
      </p:sp>
      <p:cxnSp>
        <p:nvCxnSpPr>
          <p:cNvPr id="41" name="Connector 40"/>
          <p:cNvCxnSpPr/>
          <p:nvPr/>
        </p:nvCxnSpPr>
        <p:spPr>
          <a:xfrm>
            <a:off x="8462772" y="2688336"/>
            <a:ext cx="0" cy="197418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8261604" y="468081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50</a:t>
            </a:r>
          </a:p>
        </p:txBody>
      </p:sp>
      <p:cxnSp>
        <p:nvCxnSpPr>
          <p:cNvPr id="43" name="Connector 42"/>
          <p:cNvCxnSpPr/>
          <p:nvPr/>
        </p:nvCxnSpPr>
        <p:spPr>
          <a:xfrm>
            <a:off x="9866376" y="2688336"/>
            <a:ext cx="0" cy="197418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9665208" y="468081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100</a:t>
            </a:r>
          </a:p>
        </p:txBody>
      </p:sp>
      <p:sp>
        <p:nvSpPr>
          <p:cNvPr id="45" name="TextBox 44"/>
          <p:cNvSpPr txBox="1"/>
          <p:nvPr/>
        </p:nvSpPr>
        <p:spPr>
          <a:xfrm>
            <a:off x="6391656" y="2834640"/>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0.8B</a:t>
            </a:r>
          </a:p>
        </p:txBody>
      </p:sp>
      <p:sp>
        <p:nvSpPr>
          <p:cNvPr id="46" name="TextBox 45"/>
          <p:cNvSpPr txBox="1"/>
          <p:nvPr/>
        </p:nvSpPr>
        <p:spPr>
          <a:xfrm>
            <a:off x="9957816" y="2715768"/>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0.0% · 0 of 9</a:t>
            </a:r>
          </a:p>
        </p:txBody>
      </p:sp>
      <p:sp>
        <p:nvSpPr>
          <p:cNvPr id="47" name="Rectangle 46"/>
          <p:cNvSpPr/>
          <p:nvPr/>
        </p:nvSpPr>
        <p:spPr>
          <a:xfrm>
            <a:off x="7059168" y="2944368"/>
            <a:ext cx="2807208" cy="163677"/>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57816" y="2916936"/>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100.0% · 9 of 9</a:t>
            </a:r>
          </a:p>
        </p:txBody>
      </p:sp>
      <p:sp>
        <p:nvSpPr>
          <p:cNvPr id="49" name="TextBox 48"/>
          <p:cNvSpPr txBox="1"/>
          <p:nvPr/>
        </p:nvSpPr>
        <p:spPr>
          <a:xfrm>
            <a:off x="6391656" y="3337560"/>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4B</a:t>
            </a:r>
          </a:p>
        </p:txBody>
      </p:sp>
      <p:sp>
        <p:nvSpPr>
          <p:cNvPr id="50" name="TextBox 49"/>
          <p:cNvSpPr txBox="1"/>
          <p:nvPr/>
        </p:nvSpPr>
        <p:spPr>
          <a:xfrm>
            <a:off x="9957816" y="3218688"/>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0.0% · 0 of 9</a:t>
            </a:r>
          </a:p>
        </p:txBody>
      </p:sp>
      <p:sp>
        <p:nvSpPr>
          <p:cNvPr id="51" name="Rectangle 50"/>
          <p:cNvSpPr/>
          <p:nvPr/>
        </p:nvSpPr>
        <p:spPr>
          <a:xfrm>
            <a:off x="7059168" y="3447288"/>
            <a:ext cx="311912" cy="163677"/>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957816" y="3419856"/>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11.1% · 1 of 9</a:t>
            </a:r>
          </a:p>
        </p:txBody>
      </p:sp>
      <p:sp>
        <p:nvSpPr>
          <p:cNvPr id="53" name="TextBox 52"/>
          <p:cNvSpPr txBox="1"/>
          <p:nvPr/>
        </p:nvSpPr>
        <p:spPr>
          <a:xfrm>
            <a:off x="6391656" y="3840479"/>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9B</a:t>
            </a:r>
          </a:p>
        </p:txBody>
      </p:sp>
      <p:sp>
        <p:nvSpPr>
          <p:cNvPr id="54" name="Rectangle 53"/>
          <p:cNvSpPr/>
          <p:nvPr/>
        </p:nvSpPr>
        <p:spPr>
          <a:xfrm>
            <a:off x="7059168" y="3749039"/>
            <a:ext cx="311912" cy="163677"/>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957816" y="3721607"/>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11.1% · 1 of 9</a:t>
            </a:r>
          </a:p>
        </p:txBody>
      </p:sp>
      <p:sp>
        <p:nvSpPr>
          <p:cNvPr id="56" name="Rectangle 55"/>
          <p:cNvSpPr/>
          <p:nvPr/>
        </p:nvSpPr>
        <p:spPr>
          <a:xfrm>
            <a:off x="7059168" y="3950207"/>
            <a:ext cx="623824" cy="163677"/>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957816" y="3922775"/>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22.2% · 2 of 9</a:t>
            </a:r>
          </a:p>
        </p:txBody>
      </p:sp>
      <p:sp>
        <p:nvSpPr>
          <p:cNvPr id="58" name="TextBox 57"/>
          <p:cNvSpPr txBox="1"/>
          <p:nvPr/>
        </p:nvSpPr>
        <p:spPr>
          <a:xfrm>
            <a:off x="6391656" y="4343400"/>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27B</a:t>
            </a:r>
          </a:p>
        </p:txBody>
      </p:sp>
      <p:sp>
        <p:nvSpPr>
          <p:cNvPr id="59" name="Rectangle 58"/>
          <p:cNvSpPr/>
          <p:nvPr/>
        </p:nvSpPr>
        <p:spPr>
          <a:xfrm>
            <a:off x="7059168" y="4251960"/>
            <a:ext cx="1247648" cy="163677"/>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957816" y="4224528"/>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44.4% · 4 of 9</a:t>
            </a:r>
          </a:p>
        </p:txBody>
      </p:sp>
      <p:sp>
        <p:nvSpPr>
          <p:cNvPr id="61" name="Rectangle 60"/>
          <p:cNvSpPr/>
          <p:nvPr/>
        </p:nvSpPr>
        <p:spPr>
          <a:xfrm>
            <a:off x="7059168" y="4453128"/>
            <a:ext cx="2495296" cy="163677"/>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957816" y="4425696"/>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88.9% · 8 of 9</a:t>
            </a:r>
          </a:p>
        </p:txBody>
      </p:sp>
      <p:sp>
        <p:nvSpPr>
          <p:cNvPr id="63" name="TextBox 62"/>
          <p:cNvSpPr txBox="1"/>
          <p:nvPr/>
        </p:nvSpPr>
        <p:spPr>
          <a:xfrm>
            <a:off x="859536" y="4956048"/>
            <a:ext cx="5074920" cy="731520"/>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Kinds: 5 simulation-only statements, 3 unsupported timing controls, 2 mixed assignment styles, 2 module-instance mismatches, 1 multiple driver, 1 unsupported construct, 1 asynchronous reset. Sources: 8 mutants with one injected error, 6 rejected trap twins, 1 natural failure.</a:t>
            </a:r>
          </a:p>
        </p:txBody>
      </p:sp>
      <p:sp>
        <p:nvSpPr>
          <p:cNvPr id="64" name="TextBox 63"/>
          <p:cNvSpPr txBox="1"/>
          <p:nvPr/>
        </p:nvSpPr>
        <p:spPr>
          <a:xfrm>
            <a:off x="6254496" y="4956048"/>
            <a:ext cx="5074920" cy="731520"/>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Kinds: 9 illegal code: a syntax error or an undeclared name, which vlog also rejects. Sources: 8 injected compile errors (a removed semicolon or an undeclared name), 1 injected mutant.</a:t>
            </a:r>
          </a:p>
        </p:txBody>
      </p:sp>
      <p:sp>
        <p:nvSpPr>
          <p:cNvPr id="65" name="Rounded Rectangle 64"/>
          <p:cNvSpPr/>
          <p:nvPr/>
        </p:nvSpPr>
        <p:spPr>
          <a:xfrm>
            <a:off x="813816" y="5715000"/>
            <a:ext cx="10561320" cy="603504"/>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87552" y="5769864"/>
            <a:ext cx="10213848" cy="493776"/>
          </a:xfrm>
          <a:prstGeom prst="rect">
            <a:avLst/>
          </a:prstGeom>
          <a:noFill/>
        </p:spPr>
        <p:txBody>
          <a:bodyPr wrap="square" lIns="0" rIns="0" tIns="0" bIns="0" anchor="ctr">
            <a:noAutofit/>
          </a:bodyPr>
          <a:lstStyle/>
          <a:p>
            <a:pPr algn="l">
              <a:lnSpc>
                <a:spcPct val="109000"/>
              </a:lnSpc>
              <a:spcBef>
                <a:spcPts val="0"/>
              </a:spcBef>
              <a:spcAft>
                <a:spcPts val="0"/>
              </a:spcAft>
            </a:pPr>
            <a:r>
              <a:rPr sz="1500" b="1">
                <a:solidFill>
                  <a:srgbClr val="00407A"/>
                </a:solidFill>
                <a:latin typeface="Arial"/>
              </a:rPr>
              <a:t>KEV-27B catches 4 of the 15 failures that compile with examples, 0 without; and 8 of the 9 that do not compile (4 without). KEV-0.8B’s full bars are a constant “no”.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The ten failure reasons and how often each occurs</a:t>
            </a:r>
          </a:p>
        </p:txBody>
      </p:sp>
      <p:sp>
        <p:nvSpPr>
          <p:cNvPr id="3" name="TextBox 2"/>
          <p:cNvSpPr txBox="1"/>
          <p:nvPr/>
        </p:nvSpPr>
        <p:spPr>
          <a:xfrm>
            <a:off x="813816" y="1261872"/>
            <a:ext cx="1056132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The prompt says that synthesis failed. 25 reason questions: 16 in the test split, 9 in the development split (dev).</a:t>
            </a:r>
          </a:p>
        </p:txBody>
      </p:sp>
      <p:sp>
        <p:nvSpPr>
          <p:cNvPr id="4" name="TextBox 3"/>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2  •  RESULTS</a:t>
            </a:r>
          </a:p>
        </p:txBody>
      </p:sp>
      <p:sp>
        <p:nvSpPr>
          <p:cNvPr id="5" name="TextBox 4"/>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13</a:t>
            </a:r>
          </a:p>
        </p:txBody>
      </p:sp>
      <p:graphicFrame>
        <p:nvGraphicFramePr>
          <p:cNvPr id="6" name="Table 5"/>
          <p:cNvGraphicFramePr>
            <a:graphicFrameLocks noGrp="1"/>
          </p:cNvGraphicFramePr>
          <p:nvPr/>
        </p:nvGraphicFramePr>
        <p:xfrm>
          <a:off x="813816" y="1783080"/>
          <a:ext cx="10561320" cy="3749040"/>
        </p:xfrm>
        <a:graphic>
          <a:graphicData uri="http://schemas.openxmlformats.org/drawingml/2006/table">
            <a:tbl>
              <a:tblPr firstRow="1" bandRow="1">
                <a:tableStyleId>{5C22544A-7EE6-4342-B048-85BDC9FD1C3A}</a:tableStyleId>
              </a:tblPr>
              <a:tblGrid>
                <a:gridCol w="2103120"/>
                <a:gridCol w="6995160"/>
                <a:gridCol w="640080"/>
                <a:gridCol w="822960"/>
              </a:tblGrid>
              <a:tr h="365760">
                <a:tc>
                  <a:txBody>
                    <a:bodyPr/>
                    <a:lstStyle/>
                    <a:p>
                      <a:pPr algn="l">
                        <a:lnSpc>
                          <a:spcPct val="103000"/>
                        </a:lnSpc>
                        <a:spcBef>
                          <a:spcPts val="0"/>
                        </a:spcBef>
                        <a:spcAft>
                          <a:spcPts val="0"/>
                        </a:spcAft>
                      </a:pPr>
                      <a:r>
                        <a:rPr sz="1300" b="1">
                          <a:solidFill>
                            <a:srgbClr val="FFFFFF"/>
                          </a:solidFill>
                          <a:latin typeface="Arial"/>
                        </a:rPr>
                        <a:t>Reason</a:t>
                      </a:r>
                    </a:p>
                  </a:txBody>
                  <a:tcPr marL="109728" marR="91440" marT="45720" marB="36576" anchor="ctr">
                    <a:solidFill>
                      <a:srgbClr val="00407A"/>
                    </a:solidFill>
                    <a:lnL>
                      <a:noFill/>
                    </a:lnL>
                    <a:lnR>
                      <a:noFill/>
                    </a:lnR>
                    <a:lnT>
                      <a:noFill/>
                    </a:lnT>
                    <a:lnB>
                      <a:noFill/>
                    </a:lnB>
                  </a:tcPr>
                </a:tc>
                <a:tc>
                  <a:txBody>
                    <a:bodyPr/>
                    <a:lstStyle/>
                    <a:p>
                      <a:pPr algn="l">
                        <a:lnSpc>
                          <a:spcPct val="103000"/>
                        </a:lnSpc>
                        <a:spcBef>
                          <a:spcPts val="0"/>
                        </a:spcBef>
                        <a:spcAft>
                          <a:spcPts val="0"/>
                        </a:spcAft>
                      </a:pPr>
                      <a:r>
                        <a:rPr sz="1300" b="1">
                          <a:solidFill>
                            <a:srgbClr val="FFFFFF"/>
                          </a:solidFill>
                          <a:latin typeface="Arial"/>
                        </a:rPr>
                        <a:t>Text of the option, as the model reads it</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300" b="1">
                          <a:solidFill>
                            <a:srgbClr val="FFFFFF"/>
                          </a:solidFill>
                          <a:latin typeface="Arial"/>
                        </a:rPr>
                        <a:t>Test</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300" b="1">
                          <a:solidFill>
                            <a:srgbClr val="FFFFFF"/>
                          </a:solidFill>
                          <a:latin typeface="Arial"/>
                        </a:rPr>
                        <a:t>Dev</a:t>
                      </a:r>
                    </a:p>
                  </a:txBody>
                  <a:tcPr marL="109728" marR="91440" marT="45720" marB="36576" anchor="ctr">
                    <a:solidFill>
                      <a:srgbClr val="00407A"/>
                    </a:solidFill>
                    <a:lnL>
                      <a:noFill/>
                    </a:lnL>
                    <a:lnR>
                      <a:noFill/>
                    </a:lnR>
                    <a:lnT>
                      <a:noFill/>
                    </a:lnT>
                    <a:lnB>
                      <a:noFill/>
                    </a:lnB>
                  </a:tcPr>
                </a:tc>
              </a:tr>
              <a:tr h="365760">
                <a:tc>
                  <a:txBody>
                    <a:bodyPr/>
                    <a:lstStyle/>
                    <a:p>
                      <a:pPr algn="l">
                        <a:lnSpc>
                          <a:spcPct val="103000"/>
                        </a:lnSpc>
                        <a:spcBef>
                          <a:spcPts val="0"/>
                        </a:spcBef>
                        <a:spcAft>
                          <a:spcPts val="0"/>
                        </a:spcAft>
                      </a:pPr>
                      <a:r>
                        <a:rPr sz="1050" b="1">
                          <a:solidFill>
                            <a:srgbClr val="00407A"/>
                          </a:solidFill>
                          <a:latin typeface="Arial"/>
                        </a:rPr>
                        <a:t>illegal_code</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050" b="0">
                          <a:solidFill>
                            <a:srgbClr val="00407A"/>
                          </a:solidFill>
                          <a:latin typeface="Arial"/>
                        </a:rPr>
                        <a:t>The code is not legal Verilog or SystemVerilog: a syntax error, an undeclared name, a non-constant range, or a procedural assignment to a net.</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050" b="0">
                          <a:solidFill>
                            <a:srgbClr val="00407A"/>
                          </a:solidFill>
                          <a:latin typeface="Arial"/>
                        </a:rPr>
                        <a:t>1</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050" b="0">
                          <a:solidFill>
                            <a:srgbClr val="00407A"/>
                          </a:solidFill>
                          <a:latin typeface="Arial"/>
                        </a:rPr>
                        <a:t>3</a:t>
                      </a:r>
                    </a:p>
                  </a:txBody>
                  <a:tcPr marL="109728" marR="91440" marT="45720" marB="36576" anchor="ctr">
                    <a:solidFill>
                      <a:srgbClr val="E3EFF5"/>
                    </a:solidFill>
                    <a:lnL>
                      <a:noFill/>
                    </a:lnL>
                    <a:lnR>
                      <a:noFill/>
                    </a:lnR>
                    <a:lnT>
                      <a:noFill/>
                    </a:lnT>
                    <a:lnB>
                      <a:noFill/>
                    </a:lnB>
                  </a:tcPr>
                </a:tc>
              </a:tr>
              <a:tr h="365760">
                <a:tc>
                  <a:txBody>
                    <a:bodyPr/>
                    <a:lstStyle/>
                    <a:p>
                      <a:pPr algn="l">
                        <a:lnSpc>
                          <a:spcPct val="103000"/>
                        </a:lnSpc>
                        <a:spcBef>
                          <a:spcPts val="0"/>
                        </a:spcBef>
                        <a:spcAft>
                          <a:spcPts val="0"/>
                        </a:spcAft>
                      </a:pPr>
                      <a:r>
                        <a:rPr sz="1050" b="1">
                          <a:solidFill>
                            <a:srgbClr val="00407A"/>
                          </a:solidFill>
                          <a:latin typeface="Arial"/>
                        </a:rPr>
                        <a:t>unsupported_construct</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050" b="0">
                          <a:solidFill>
                            <a:srgbClr val="00407A"/>
                          </a:solidFill>
                          <a:latin typeface="Arial"/>
                        </a:rPr>
                        <a:t>The code is legal for a simulator, but it uses a data type or construct that synthesis does not support: real, time, string, trireg, a class, a dynamic array, a DPI import, or a user-defined primitive.</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050" b="0">
                          <a:solidFill>
                            <a:srgbClr val="00407A"/>
                          </a:solidFill>
                          <a:latin typeface="Arial"/>
                        </a:rPr>
                        <a:t>1</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050" b="0">
                          <a:solidFill>
                            <a:srgbClr val="00407A"/>
                          </a:solidFill>
                          <a:latin typeface="Arial"/>
                        </a:rPr>
                        <a:t>0</a:t>
                      </a:r>
                    </a:p>
                  </a:txBody>
                  <a:tcPr marL="109728" marR="91440" marT="45720" marB="36576" anchor="ctr">
                    <a:solidFill>
                      <a:srgbClr val="FFFFFF"/>
                    </a:solidFill>
                    <a:lnL>
                      <a:noFill/>
                    </a:lnL>
                    <a:lnR>
                      <a:noFill/>
                    </a:lnR>
                    <a:lnT>
                      <a:noFill/>
                    </a:lnT>
                    <a:lnB>
                      <a:noFill/>
                    </a:lnB>
                  </a:tcPr>
                </a:tc>
              </a:tr>
              <a:tr h="365760">
                <a:tc>
                  <a:txBody>
                    <a:bodyPr/>
                    <a:lstStyle/>
                    <a:p>
                      <a:pPr algn="l">
                        <a:lnSpc>
                          <a:spcPct val="103000"/>
                        </a:lnSpc>
                        <a:spcBef>
                          <a:spcPts val="0"/>
                        </a:spcBef>
                        <a:spcAft>
                          <a:spcPts val="0"/>
                        </a:spcAft>
                      </a:pPr>
                      <a:r>
                        <a:rPr sz="1050" b="1">
                          <a:solidFill>
                            <a:srgbClr val="00407A"/>
                          </a:solidFill>
                          <a:latin typeface="Arial"/>
                        </a:rPr>
                        <a:t>timing_control</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050" b="0">
                          <a:solidFill>
                            <a:srgbClr val="00407A"/>
                          </a:solidFill>
                          <a:latin typeface="Arial"/>
                        </a:rPr>
                        <a:t>The code uses a timing control that synthesis does not support: wait, fork-join, or an event trigger (-&gt;).</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050" b="0">
                          <a:solidFill>
                            <a:srgbClr val="00407A"/>
                          </a:solidFill>
                          <a:latin typeface="Arial"/>
                        </a:rPr>
                        <a:t>3</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050" b="0">
                          <a:solidFill>
                            <a:srgbClr val="00407A"/>
                          </a:solidFill>
                          <a:latin typeface="Arial"/>
                        </a:rPr>
                        <a:t>1</a:t>
                      </a:r>
                    </a:p>
                  </a:txBody>
                  <a:tcPr marL="109728" marR="91440" marT="45720" marB="36576" anchor="ctr">
                    <a:solidFill>
                      <a:srgbClr val="E3EFF5"/>
                    </a:solidFill>
                    <a:lnL>
                      <a:noFill/>
                    </a:lnL>
                    <a:lnR>
                      <a:noFill/>
                    </a:lnR>
                    <a:lnT>
                      <a:noFill/>
                    </a:lnT>
                    <a:lnB>
                      <a:noFill/>
                    </a:lnB>
                  </a:tcPr>
                </a:tc>
              </a:tr>
              <a:tr h="365760">
                <a:tc>
                  <a:txBody>
                    <a:bodyPr/>
                    <a:lstStyle/>
                    <a:p>
                      <a:pPr algn="l">
                        <a:lnSpc>
                          <a:spcPct val="103000"/>
                        </a:lnSpc>
                        <a:spcBef>
                          <a:spcPts val="0"/>
                        </a:spcBef>
                        <a:spcAft>
                          <a:spcPts val="0"/>
                        </a:spcAft>
                      </a:pPr>
                      <a:r>
                        <a:rPr sz="1050" b="1">
                          <a:solidFill>
                            <a:srgbClr val="00407A"/>
                          </a:solidFill>
                          <a:latin typeface="Arial"/>
                        </a:rPr>
                        <a:t>simulation_statement</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050" b="0">
                          <a:solidFill>
                            <a:srgbClr val="00407A"/>
                          </a:solidFill>
                          <a:latin typeface="Arial"/>
                        </a:rPr>
                        <a:t>The code uses a statement or system function for simulation only: force-release, procedural assign-deassign, or $random.</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050" b="0">
                          <a:solidFill>
                            <a:srgbClr val="00407A"/>
                          </a:solidFill>
                          <a:latin typeface="Arial"/>
                        </a:rPr>
                        <a:t>5</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050" b="0">
                          <a:solidFill>
                            <a:srgbClr val="00407A"/>
                          </a:solidFill>
                          <a:latin typeface="Arial"/>
                        </a:rPr>
                        <a:t>1</a:t>
                      </a:r>
                    </a:p>
                  </a:txBody>
                  <a:tcPr marL="109728" marR="91440" marT="45720" marB="36576" anchor="ctr">
                    <a:solidFill>
                      <a:srgbClr val="FFFFFF"/>
                    </a:solidFill>
                    <a:lnL>
                      <a:noFill/>
                    </a:lnL>
                    <a:lnR>
                      <a:noFill/>
                    </a:lnR>
                    <a:lnT>
                      <a:noFill/>
                    </a:lnT>
                    <a:lnB>
                      <a:noFill/>
                    </a:lnB>
                  </a:tcPr>
                </a:tc>
              </a:tr>
              <a:tr h="365760">
                <a:tc>
                  <a:txBody>
                    <a:bodyPr/>
                    <a:lstStyle/>
                    <a:p>
                      <a:pPr algn="l">
                        <a:lnSpc>
                          <a:spcPct val="103000"/>
                        </a:lnSpc>
                        <a:spcBef>
                          <a:spcPts val="0"/>
                        </a:spcBef>
                        <a:spcAft>
                          <a:spcPts val="0"/>
                        </a:spcAft>
                      </a:pPr>
                      <a:r>
                        <a:rPr sz="1050" b="1">
                          <a:solidFill>
                            <a:srgbClr val="00407A"/>
                          </a:solidFill>
                          <a:latin typeface="Arial"/>
                        </a:rPr>
                        <a:t>event_list</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050" b="0">
                          <a:solidFill>
                            <a:srgbClr val="00407A"/>
                          </a:solidFill>
                          <a:latin typeface="Arial"/>
                        </a:rPr>
                        <a:t>An event list that synthesis does not support: both edges of one signal, edge and level events mixed, or different edges in one process.</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050" b="0">
                          <a:solidFill>
                            <a:srgbClr val="00407A"/>
                          </a:solidFill>
                          <a:latin typeface="Arial"/>
                        </a:rPr>
                        <a:t>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050" b="0">
                          <a:solidFill>
                            <a:srgbClr val="00407A"/>
                          </a:solidFill>
                          <a:latin typeface="Arial"/>
                        </a:rPr>
                        <a:t>1</a:t>
                      </a:r>
                    </a:p>
                  </a:txBody>
                  <a:tcPr marL="109728" marR="91440" marT="45720" marB="36576" anchor="ctr">
                    <a:solidFill>
                      <a:srgbClr val="E3EFF5"/>
                    </a:solidFill>
                    <a:lnL>
                      <a:noFill/>
                    </a:lnL>
                    <a:lnR>
                      <a:noFill/>
                    </a:lnR>
                    <a:lnT>
                      <a:noFill/>
                    </a:lnT>
                    <a:lnB>
                      <a:noFill/>
                    </a:lnB>
                  </a:tcPr>
                </a:tc>
              </a:tr>
              <a:tr h="365760">
                <a:tc>
                  <a:txBody>
                    <a:bodyPr/>
                    <a:lstStyle/>
                    <a:p>
                      <a:pPr algn="l">
                        <a:lnSpc>
                          <a:spcPct val="103000"/>
                        </a:lnSpc>
                        <a:spcBef>
                          <a:spcPts val="0"/>
                        </a:spcBef>
                        <a:spcAft>
                          <a:spcPts val="0"/>
                        </a:spcAft>
                      </a:pPr>
                      <a:r>
                        <a:rPr sz="1050" b="1">
                          <a:solidFill>
                            <a:srgbClr val="00407A"/>
                          </a:solidFill>
                          <a:latin typeface="Arial"/>
                        </a:rPr>
                        <a:t>async_reset</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050" b="0">
                          <a:solidFill>
                            <a:srgbClr val="00407A"/>
                          </a:solidFill>
                          <a:latin typeface="Arial"/>
                        </a:rPr>
                        <a:t>An asynchronous reset or set that synthesis cannot build: statements outside the reset if-else, a second edge signal without the reset template, or a reset to a non-constant value.</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050" b="0">
                          <a:solidFill>
                            <a:srgbClr val="00407A"/>
                          </a:solidFill>
                          <a:latin typeface="Arial"/>
                        </a:rPr>
                        <a:t>1</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050" b="0">
                          <a:solidFill>
                            <a:srgbClr val="00407A"/>
                          </a:solidFill>
                          <a:latin typeface="Arial"/>
                        </a:rPr>
                        <a:t>0</a:t>
                      </a:r>
                    </a:p>
                  </a:txBody>
                  <a:tcPr marL="109728" marR="91440" marT="45720" marB="36576" anchor="ctr">
                    <a:solidFill>
                      <a:srgbClr val="FFFFFF"/>
                    </a:solidFill>
                    <a:lnL>
                      <a:noFill/>
                    </a:lnL>
                    <a:lnR>
                      <a:noFill/>
                    </a:lnR>
                    <a:lnT>
                      <a:noFill/>
                    </a:lnT>
                    <a:lnB>
                      <a:noFill/>
                    </a:lnB>
                  </a:tcPr>
                </a:tc>
              </a:tr>
              <a:tr h="228600">
                <a:tc>
                  <a:txBody>
                    <a:bodyPr/>
                    <a:lstStyle/>
                    <a:p>
                      <a:pPr algn="l">
                        <a:lnSpc>
                          <a:spcPct val="103000"/>
                        </a:lnSpc>
                        <a:spcBef>
                          <a:spcPts val="0"/>
                        </a:spcBef>
                        <a:spcAft>
                          <a:spcPts val="0"/>
                        </a:spcAft>
                      </a:pPr>
                      <a:r>
                        <a:rPr sz="1050" b="1">
                          <a:solidFill>
                            <a:srgbClr val="00407A"/>
                          </a:solidFill>
                          <a:latin typeface="Arial"/>
                        </a:rPr>
                        <a:t>multiple_drivers</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050" b="0">
                          <a:solidFill>
                            <a:srgbClr val="00407A"/>
                          </a:solidFill>
                          <a:latin typeface="Arial"/>
                        </a:rPr>
                        <a:t>A signal has more than one driver, for example assignments in two always blocks.</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050" b="0">
                          <a:solidFill>
                            <a:srgbClr val="00407A"/>
                          </a:solidFill>
                          <a:latin typeface="Arial"/>
                        </a:rPr>
                        <a:t>1</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050" b="0">
                          <a:solidFill>
                            <a:srgbClr val="00407A"/>
                          </a:solidFill>
                          <a:latin typeface="Arial"/>
                        </a:rPr>
                        <a:t>2</a:t>
                      </a:r>
                    </a:p>
                  </a:txBody>
                  <a:tcPr marL="109728" marR="91440" marT="45720" marB="36576" anchor="ctr">
                    <a:solidFill>
                      <a:srgbClr val="E3EFF5"/>
                    </a:solidFill>
                    <a:lnL>
                      <a:noFill/>
                    </a:lnL>
                    <a:lnR>
                      <a:noFill/>
                    </a:lnR>
                    <a:lnT>
                      <a:noFill/>
                    </a:lnT>
                    <a:lnB>
                      <a:noFill/>
                    </a:lnB>
                  </a:tcPr>
                </a:tc>
              </a:tr>
              <a:tr h="228600">
                <a:tc>
                  <a:txBody>
                    <a:bodyPr/>
                    <a:lstStyle/>
                    <a:p>
                      <a:pPr algn="l">
                        <a:lnSpc>
                          <a:spcPct val="103000"/>
                        </a:lnSpc>
                        <a:spcBef>
                          <a:spcPts val="0"/>
                        </a:spcBef>
                        <a:spcAft>
                          <a:spcPts val="0"/>
                        </a:spcAft>
                      </a:pPr>
                      <a:r>
                        <a:rPr sz="1050" b="1">
                          <a:solidFill>
                            <a:srgbClr val="00407A"/>
                          </a:solidFill>
                          <a:latin typeface="Arial"/>
                        </a:rPr>
                        <a:t>mixed_assignments</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050" b="0">
                          <a:solidFill>
                            <a:srgbClr val="00407A"/>
                          </a:solidFill>
                          <a:latin typeface="Arial"/>
                        </a:rPr>
                        <a:t>One variable gets blocking and nonblocking assignments in the same always block.</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050" b="0">
                          <a:solidFill>
                            <a:srgbClr val="00407A"/>
                          </a:solidFill>
                          <a:latin typeface="Arial"/>
                        </a:rPr>
                        <a:t>2</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050" b="0">
                          <a:solidFill>
                            <a:srgbClr val="00407A"/>
                          </a:solidFill>
                          <a:latin typeface="Arial"/>
                        </a:rPr>
                        <a:t>0</a:t>
                      </a:r>
                    </a:p>
                  </a:txBody>
                  <a:tcPr marL="109728" marR="91440" marT="45720" marB="36576" anchor="ctr">
                    <a:solidFill>
                      <a:srgbClr val="FFFFFF"/>
                    </a:solidFill>
                    <a:lnL>
                      <a:noFill/>
                    </a:lnL>
                    <a:lnR>
                      <a:noFill/>
                    </a:lnR>
                    <a:lnT>
                      <a:noFill/>
                    </a:lnT>
                    <a:lnB>
                      <a:noFill/>
                    </a:lnB>
                  </a:tcPr>
                </a:tc>
              </a:tr>
              <a:tr h="365760">
                <a:tc>
                  <a:txBody>
                    <a:bodyPr/>
                    <a:lstStyle/>
                    <a:p>
                      <a:pPr algn="l">
                        <a:lnSpc>
                          <a:spcPct val="103000"/>
                        </a:lnSpc>
                        <a:spcBef>
                          <a:spcPts val="0"/>
                        </a:spcBef>
                        <a:spcAft>
                          <a:spcPts val="0"/>
                        </a:spcAft>
                      </a:pPr>
                      <a:r>
                        <a:rPr sz="1050" b="1">
                          <a:solidFill>
                            <a:srgbClr val="00407A"/>
                          </a:solidFill>
                          <a:latin typeface="Arial"/>
                        </a:rPr>
                        <a:t>unbounded_loop</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050" b="0">
                          <a:solidFill>
                            <a:srgbClr val="00407A"/>
                          </a:solidFill>
                          <a:latin typeface="Arial"/>
                        </a:rPr>
                        <a:t>A loop or a recursion that synthesis cannot unroll: a forever loop with no timing control, or a recursion with no constant limit.</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050" b="0">
                          <a:solidFill>
                            <a:srgbClr val="00407A"/>
                          </a:solidFill>
                          <a:latin typeface="Arial"/>
                        </a:rPr>
                        <a:t>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050" b="0">
                          <a:solidFill>
                            <a:srgbClr val="00407A"/>
                          </a:solidFill>
                          <a:latin typeface="Arial"/>
                        </a:rPr>
                        <a:t>1</a:t>
                      </a:r>
                    </a:p>
                  </a:txBody>
                  <a:tcPr marL="109728" marR="91440" marT="45720" marB="36576" anchor="ctr">
                    <a:solidFill>
                      <a:srgbClr val="E3EFF5"/>
                    </a:solidFill>
                    <a:lnL>
                      <a:noFill/>
                    </a:lnL>
                    <a:lnR>
                      <a:noFill/>
                    </a:lnR>
                    <a:lnT>
                      <a:noFill/>
                    </a:lnT>
                    <a:lnB>
                      <a:noFill/>
                    </a:lnB>
                  </a:tcPr>
                </a:tc>
              </a:tr>
              <a:tr h="365760">
                <a:tc>
                  <a:txBody>
                    <a:bodyPr/>
                    <a:lstStyle/>
                    <a:p>
                      <a:pPr algn="l">
                        <a:lnSpc>
                          <a:spcPct val="103000"/>
                        </a:lnSpc>
                        <a:spcBef>
                          <a:spcPts val="0"/>
                        </a:spcBef>
                        <a:spcAft>
                          <a:spcPts val="0"/>
                        </a:spcAft>
                      </a:pPr>
                      <a:r>
                        <a:rPr sz="1050" b="1">
                          <a:solidFill>
                            <a:srgbClr val="00407A"/>
                          </a:solidFill>
                          <a:latin typeface="Arial"/>
                        </a:rPr>
                        <a:t>instance_mismatch</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050" b="0">
                          <a:solidFill>
                            <a:srgbClr val="00407A"/>
                          </a:solidFill>
                          <a:latin typeface="Arial"/>
                        </a:rPr>
                        <a:t>A module instance does not match a module: a missing module, an unknown parameter, or an unknown port.</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050" b="0">
                          <a:solidFill>
                            <a:srgbClr val="00407A"/>
                          </a:solidFill>
                          <a:latin typeface="Arial"/>
                        </a:rPr>
                        <a:t>2</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050" b="0">
                          <a:solidFill>
                            <a:srgbClr val="00407A"/>
                          </a:solidFill>
                          <a:latin typeface="Arial"/>
                        </a:rPr>
                        <a:t>0</a:t>
                      </a:r>
                    </a:p>
                  </a:txBody>
                  <a:tcPr marL="109728" marR="91440" marT="45720" marB="36576" anchor="ctr">
                    <a:solidFill>
                      <a:srgbClr val="FFFFFF"/>
                    </a:solidFill>
                    <a:lnL>
                      <a:noFill/>
                    </a:lnL>
                    <a:lnR>
                      <a:noFill/>
                    </a:lnR>
                    <a:lnT>
                      <a:noFill/>
                    </a:lnT>
                    <a:lnB>
                      <a:noFill/>
                    </a:lnB>
                  </a:tcPr>
                </a:tc>
              </a:tr>
            </a:tbl>
          </a:graphicData>
        </a:graphic>
      </p:graphicFrame>
      <p:sp>
        <p:nvSpPr>
          <p:cNvPr id="7" name="Rounded Rectangle 6"/>
          <p:cNvSpPr/>
          <p:nvPr/>
        </p:nvSpPr>
        <p:spPr>
          <a:xfrm>
            <a:off x="813816" y="5715000"/>
            <a:ext cx="10561320" cy="603504"/>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5769864"/>
            <a:ext cx="10213848" cy="493776"/>
          </a:xfrm>
          <a:prstGeom prst="rect">
            <a:avLst/>
          </a:prstGeom>
          <a:noFill/>
        </p:spPr>
        <p:txBody>
          <a:bodyPr wrap="square" lIns="0" rIns="0" tIns="0" bIns="0" anchor="ctr">
            <a:noAutofit/>
          </a:bodyPr>
          <a:lstStyle/>
          <a:p>
            <a:pPr algn="l">
              <a:lnSpc>
                <a:spcPct val="109000"/>
              </a:lnSpc>
              <a:spcBef>
                <a:spcPts val="0"/>
              </a:spcBef>
              <a:spcAft>
                <a:spcPts val="0"/>
              </a:spcAft>
            </a:pPr>
            <a:r>
              <a:rPr sz="1500" b="1">
                <a:solidFill>
                  <a:srgbClr val="00407A"/>
                </a:solidFill>
                <a:latin typeface="Arial"/>
              </a:rPr>
              <a:t>22 of the 25 failures are injected edits. 8 more test designs with an injected compile error get no reason question.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KEV-27B names a known failure but does not detect it</a:t>
            </a:r>
          </a:p>
        </p:txBody>
      </p:sp>
      <p:sp>
        <p:nvSpPr>
          <p:cNvPr id="3" name="TextBox 2"/>
          <p:cNvSpPr txBox="1"/>
          <p:nvPr/>
        </p:nvSpPr>
        <p:spPr>
          <a:xfrm>
            <a:off x="813816" y="1261872"/>
            <a:ext cx="763524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Left: the reason question. Right: synthesis and reason answers of the 16 designs.</a:t>
            </a:r>
          </a:p>
        </p:txBody>
      </p:sp>
      <p:sp>
        <p:nvSpPr>
          <p:cNvPr id="4" name="Rectangle 3"/>
          <p:cNvSpPr/>
          <p:nvPr/>
        </p:nvSpPr>
        <p:spPr>
          <a:xfrm>
            <a:off x="8549640" y="1353312"/>
            <a:ext cx="182880" cy="182880"/>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05672" y="1298448"/>
            <a:ext cx="1097280" cy="274320"/>
          </a:xfrm>
          <a:prstGeom prst="rect">
            <a:avLst/>
          </a:prstGeom>
          <a:noFill/>
        </p:spPr>
        <p:txBody>
          <a:bodyPr wrap="square" lIns="0" rIns="0" tIns="0" bIns="0" anchor="t">
            <a:noAutofit/>
          </a:bodyPr>
          <a:lstStyle/>
          <a:p>
            <a:pPr algn="l">
              <a:lnSpc>
                <a:spcPct val="109000"/>
              </a:lnSpc>
              <a:spcBef>
                <a:spcPts val="0"/>
              </a:spcBef>
              <a:spcAft>
                <a:spcPts val="0"/>
              </a:spcAft>
            </a:pPr>
            <a:r>
              <a:rPr sz="1200" b="0">
                <a:solidFill>
                  <a:srgbClr val="4A5A66"/>
                </a:solidFill>
                <a:latin typeface="Arial"/>
              </a:rPr>
              <a:t>no examples</a:t>
            </a:r>
          </a:p>
        </p:txBody>
      </p:sp>
      <p:sp>
        <p:nvSpPr>
          <p:cNvPr id="6" name="Rectangle 5"/>
          <p:cNvSpPr/>
          <p:nvPr/>
        </p:nvSpPr>
        <p:spPr>
          <a:xfrm>
            <a:off x="9921240" y="1353312"/>
            <a:ext cx="182880" cy="182880"/>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77272" y="1298448"/>
            <a:ext cx="1280160" cy="274320"/>
          </a:xfrm>
          <a:prstGeom prst="rect">
            <a:avLst/>
          </a:prstGeom>
          <a:noFill/>
        </p:spPr>
        <p:txBody>
          <a:bodyPr wrap="square" lIns="0" rIns="0" tIns="0" bIns="0" anchor="t">
            <a:noAutofit/>
          </a:bodyPr>
          <a:lstStyle/>
          <a:p>
            <a:pPr algn="l">
              <a:lnSpc>
                <a:spcPct val="109000"/>
              </a:lnSpc>
              <a:spcBef>
                <a:spcPts val="0"/>
              </a:spcBef>
              <a:spcAft>
                <a:spcPts val="0"/>
              </a:spcAft>
            </a:pPr>
            <a:r>
              <a:rPr sz="1200" b="0">
                <a:solidFill>
                  <a:srgbClr val="4A5A66"/>
                </a:solidFill>
                <a:latin typeface="Arial"/>
              </a:rPr>
              <a:t>three examples</a:t>
            </a:r>
          </a:p>
        </p:txBody>
      </p:sp>
      <p:sp>
        <p:nvSpPr>
          <p:cNvPr id="8" name="TextBox 7"/>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2  •  RESULTS</a:t>
            </a:r>
          </a:p>
        </p:txBody>
      </p:sp>
      <p:sp>
        <p:nvSpPr>
          <p:cNvPr id="9" name="TextBox 8"/>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14</a:t>
            </a:r>
          </a:p>
        </p:txBody>
      </p:sp>
      <p:sp>
        <p:nvSpPr>
          <p:cNvPr id="10" name="Rounded Rectangle 9"/>
          <p:cNvSpPr/>
          <p:nvPr/>
        </p:nvSpPr>
        <p:spPr>
          <a:xfrm>
            <a:off x="813816" y="1828800"/>
            <a:ext cx="5166360" cy="3749039"/>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1975104"/>
            <a:ext cx="4764024" cy="365760"/>
          </a:xfrm>
          <a:prstGeom prst="rect">
            <a:avLst/>
          </a:prstGeom>
          <a:noFill/>
        </p:spPr>
        <p:txBody>
          <a:bodyPr wrap="square" lIns="0" rIns="0" tIns="0" bIns="0" anchor="t">
            <a:noAutofit/>
          </a:bodyPr>
          <a:lstStyle/>
          <a:p>
            <a:pPr algn="l">
              <a:lnSpc>
                <a:spcPct val="109000"/>
              </a:lnSpc>
              <a:spcBef>
                <a:spcPts val="0"/>
              </a:spcBef>
              <a:spcAft>
                <a:spcPts val="0"/>
              </a:spcAft>
            </a:pPr>
            <a:r>
              <a:rPr sz="1800" b="1">
                <a:solidFill>
                  <a:srgbClr val="00407A"/>
                </a:solidFill>
                <a:latin typeface="Arial"/>
              </a:rPr>
              <a:t>Why does synthesis fail?</a:t>
            </a:r>
          </a:p>
        </p:txBody>
      </p:sp>
      <p:sp>
        <p:nvSpPr>
          <p:cNvPr id="12" name="TextBox 11"/>
          <p:cNvSpPr txBox="1"/>
          <p:nvPr/>
        </p:nvSpPr>
        <p:spPr>
          <a:xfrm>
            <a:off x="1014984" y="2359152"/>
            <a:ext cx="4764024" cy="274320"/>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4A5A66"/>
                </a:solidFill>
                <a:latin typeface="Arial"/>
              </a:rPr>
              <a:t>16 designs · the prompt says that synthesis failed</a:t>
            </a:r>
          </a:p>
        </p:txBody>
      </p:sp>
      <p:cxnSp>
        <p:nvCxnSpPr>
          <p:cNvPr id="13" name="Connector 12"/>
          <p:cNvCxnSpPr/>
          <p:nvPr/>
        </p:nvCxnSpPr>
        <p:spPr>
          <a:xfrm>
            <a:off x="1664208"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463040"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0</a:t>
            </a:r>
          </a:p>
        </p:txBody>
      </p:sp>
      <p:cxnSp>
        <p:nvCxnSpPr>
          <p:cNvPr id="15" name="Connector 14"/>
          <p:cNvCxnSpPr/>
          <p:nvPr/>
        </p:nvCxnSpPr>
        <p:spPr>
          <a:xfrm>
            <a:off x="3067812"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866644"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50</a:t>
            </a:r>
          </a:p>
        </p:txBody>
      </p:sp>
      <p:cxnSp>
        <p:nvCxnSpPr>
          <p:cNvPr id="17" name="Connector 16"/>
          <p:cNvCxnSpPr/>
          <p:nvPr/>
        </p:nvCxnSpPr>
        <p:spPr>
          <a:xfrm>
            <a:off x="4471416"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270248"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100</a:t>
            </a:r>
          </a:p>
        </p:txBody>
      </p:sp>
      <p:cxnSp>
        <p:nvCxnSpPr>
          <p:cNvPr id="19" name="Connector 18"/>
          <p:cNvCxnSpPr/>
          <p:nvPr/>
        </p:nvCxnSpPr>
        <p:spPr>
          <a:xfrm>
            <a:off x="2541460" y="2688336"/>
            <a:ext cx="0" cy="2416759"/>
          </a:xfrm>
          <a:prstGeom prst="line">
            <a:avLst/>
          </a:prstGeom>
          <a:ln w="15240">
            <a:solidFill>
              <a:srgbClr val="4A5A66"/>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96696" y="2834640"/>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0.8B</a:t>
            </a:r>
          </a:p>
        </p:txBody>
      </p:sp>
      <p:sp>
        <p:nvSpPr>
          <p:cNvPr id="21" name="Rectangle 20"/>
          <p:cNvSpPr/>
          <p:nvPr/>
        </p:nvSpPr>
        <p:spPr>
          <a:xfrm>
            <a:off x="1664208" y="2743200"/>
            <a:ext cx="877252"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62856" y="2715768"/>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31.3% · 5 of 16</a:t>
            </a:r>
          </a:p>
        </p:txBody>
      </p:sp>
      <p:sp>
        <p:nvSpPr>
          <p:cNvPr id="23" name="Rectangle 22"/>
          <p:cNvSpPr/>
          <p:nvPr/>
        </p:nvSpPr>
        <p:spPr>
          <a:xfrm>
            <a:off x="1664208" y="2991916"/>
            <a:ext cx="175450"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62856" y="2964484"/>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6.3% · 1 of 16</a:t>
            </a:r>
          </a:p>
        </p:txBody>
      </p:sp>
      <p:sp>
        <p:nvSpPr>
          <p:cNvPr id="25" name="TextBox 24"/>
          <p:cNvSpPr txBox="1"/>
          <p:nvPr/>
        </p:nvSpPr>
        <p:spPr>
          <a:xfrm>
            <a:off x="996696" y="3456432"/>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4B</a:t>
            </a:r>
          </a:p>
        </p:txBody>
      </p:sp>
      <p:sp>
        <p:nvSpPr>
          <p:cNvPr id="26" name="Rectangle 25"/>
          <p:cNvSpPr/>
          <p:nvPr/>
        </p:nvSpPr>
        <p:spPr>
          <a:xfrm>
            <a:off x="1664208" y="3364992"/>
            <a:ext cx="1579054"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62856" y="3337560"/>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56.3% · 9 of 16</a:t>
            </a:r>
          </a:p>
        </p:txBody>
      </p:sp>
      <p:sp>
        <p:nvSpPr>
          <p:cNvPr id="28" name="Rectangle 27"/>
          <p:cNvSpPr/>
          <p:nvPr/>
        </p:nvSpPr>
        <p:spPr>
          <a:xfrm>
            <a:off x="1664208" y="3613708"/>
            <a:ext cx="1754505"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62856" y="3586276"/>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62.5% · 10 of 16</a:t>
            </a:r>
          </a:p>
        </p:txBody>
      </p:sp>
      <p:sp>
        <p:nvSpPr>
          <p:cNvPr id="30" name="TextBox 29"/>
          <p:cNvSpPr txBox="1"/>
          <p:nvPr/>
        </p:nvSpPr>
        <p:spPr>
          <a:xfrm>
            <a:off x="996696" y="4078224"/>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9B</a:t>
            </a:r>
          </a:p>
        </p:txBody>
      </p:sp>
      <p:sp>
        <p:nvSpPr>
          <p:cNvPr id="31" name="Rectangle 30"/>
          <p:cNvSpPr/>
          <p:nvPr/>
        </p:nvSpPr>
        <p:spPr>
          <a:xfrm>
            <a:off x="1664208" y="3986784"/>
            <a:ext cx="1929955"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62856" y="3959352"/>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68.8% · 11 of 16</a:t>
            </a:r>
          </a:p>
        </p:txBody>
      </p:sp>
      <p:sp>
        <p:nvSpPr>
          <p:cNvPr id="33" name="Rectangle 32"/>
          <p:cNvSpPr/>
          <p:nvPr/>
        </p:nvSpPr>
        <p:spPr>
          <a:xfrm>
            <a:off x="1664208" y="4235500"/>
            <a:ext cx="1929955"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62856" y="4208068"/>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68.8% · 11 of 16</a:t>
            </a:r>
          </a:p>
        </p:txBody>
      </p:sp>
      <p:sp>
        <p:nvSpPr>
          <p:cNvPr id="35" name="TextBox 34"/>
          <p:cNvSpPr txBox="1"/>
          <p:nvPr/>
        </p:nvSpPr>
        <p:spPr>
          <a:xfrm>
            <a:off x="996696" y="4700016"/>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27B</a:t>
            </a:r>
          </a:p>
        </p:txBody>
      </p:sp>
      <p:sp>
        <p:nvSpPr>
          <p:cNvPr id="36" name="Rectangle 35"/>
          <p:cNvSpPr/>
          <p:nvPr/>
        </p:nvSpPr>
        <p:spPr>
          <a:xfrm>
            <a:off x="1664208" y="4608576"/>
            <a:ext cx="2631757"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62856" y="4581144"/>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93.8% · 15 of 16</a:t>
            </a:r>
          </a:p>
        </p:txBody>
      </p:sp>
      <p:sp>
        <p:nvSpPr>
          <p:cNvPr id="38" name="Rectangle 37"/>
          <p:cNvSpPr/>
          <p:nvPr/>
        </p:nvSpPr>
        <p:spPr>
          <a:xfrm>
            <a:off x="1664208" y="4857292"/>
            <a:ext cx="2456307"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62856" y="4829860"/>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87.5% · 14 of 16</a:t>
            </a:r>
          </a:p>
        </p:txBody>
      </p:sp>
      <p:sp>
        <p:nvSpPr>
          <p:cNvPr id="40" name="TextBox 39"/>
          <p:cNvSpPr txBox="1"/>
          <p:nvPr/>
        </p:nvSpPr>
        <p:spPr>
          <a:xfrm>
            <a:off x="996696" y="5330952"/>
            <a:ext cx="4800600" cy="210312"/>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Dashed line: always simulation_statement = 31.3% (5 of 16)</a:t>
            </a:r>
          </a:p>
        </p:txBody>
      </p:sp>
      <p:graphicFrame>
        <p:nvGraphicFramePr>
          <p:cNvPr id="41" name="Table 40"/>
          <p:cNvGraphicFramePr>
            <a:graphicFrameLocks noGrp="1"/>
          </p:cNvGraphicFramePr>
          <p:nvPr/>
        </p:nvGraphicFramePr>
        <p:xfrm>
          <a:off x="6208776" y="1828800"/>
          <a:ext cx="5166360" cy="2468880"/>
        </p:xfrm>
        <a:graphic>
          <a:graphicData uri="http://schemas.openxmlformats.org/drawingml/2006/table">
            <a:tbl>
              <a:tblPr firstRow="1" bandRow="1">
                <a:tableStyleId>{5C22544A-7EE6-4342-B048-85BDC9FD1C3A}</a:tableStyleId>
              </a:tblPr>
              <a:tblGrid>
                <a:gridCol w="1325880"/>
                <a:gridCol w="1371600"/>
                <a:gridCol w="1371600"/>
                <a:gridCol w="1097280"/>
              </a:tblGrid>
              <a:tr h="566928">
                <a:tc>
                  <a:txBody>
                    <a:bodyPr/>
                    <a:lstStyle/>
                    <a:p>
                      <a:pPr algn="l">
                        <a:lnSpc>
                          <a:spcPct val="103000"/>
                        </a:lnSpc>
                        <a:spcBef>
                          <a:spcPts val="0"/>
                        </a:spcBef>
                        <a:spcAft>
                          <a:spcPts val="0"/>
                        </a:spcAft>
                      </a:pPr>
                      <a:r>
                        <a:rPr sz="1300" b="1">
                          <a:solidFill>
                            <a:srgbClr val="FFFFFF"/>
                          </a:solidFill>
                          <a:latin typeface="Arial"/>
                        </a:rPr>
                        <a:t>Model</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300" b="1">
                          <a:solidFill>
                            <a:srgbClr val="FFFFFF"/>
                          </a:solidFill>
                          <a:latin typeface="Arial"/>
                        </a:rPr>
                        <a:t>Says that</a:t>
                      </a:r>
                    </a:p>
                    <a:p>
                      <a:pPr algn="ctr">
                        <a:lnSpc>
                          <a:spcPct val="103000"/>
                        </a:lnSpc>
                        <a:spcBef>
                          <a:spcPts val="0"/>
                        </a:spcBef>
                        <a:spcAft>
                          <a:spcPts val="0"/>
                        </a:spcAft>
                      </a:pPr>
                      <a:r>
                        <a:rPr sz="1300" b="1">
                          <a:solidFill>
                            <a:srgbClr val="FFFFFF"/>
                          </a:solidFill>
                          <a:latin typeface="Arial"/>
                        </a:rPr>
                        <a:t>synthesis fails</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300" b="1">
                          <a:solidFill>
                            <a:srgbClr val="FFFFFF"/>
                          </a:solidFill>
                          <a:latin typeface="Arial"/>
                        </a:rPr>
                        <a:t>Names the</a:t>
                      </a:r>
                    </a:p>
                    <a:p>
                      <a:pPr algn="ctr">
                        <a:lnSpc>
                          <a:spcPct val="103000"/>
                        </a:lnSpc>
                        <a:spcBef>
                          <a:spcPts val="0"/>
                        </a:spcBef>
                        <a:spcAft>
                          <a:spcPts val="0"/>
                        </a:spcAft>
                      </a:pPr>
                      <a:r>
                        <a:rPr sz="1300" b="1">
                          <a:solidFill>
                            <a:srgbClr val="FFFFFF"/>
                          </a:solidFill>
                          <a:latin typeface="Arial"/>
                        </a:rPr>
                        <a:t>correct reason</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300" b="1">
                          <a:solidFill>
                            <a:srgbClr val="FFFFFF"/>
                          </a:solidFill>
                          <a:latin typeface="Arial"/>
                        </a:rPr>
                        <a:t>Both</a:t>
                      </a:r>
                    </a:p>
                  </a:txBody>
                  <a:tcPr marL="109728" marR="91440" marT="45720" marB="36576" anchor="ctr">
                    <a:solidFill>
                      <a:srgbClr val="00407A"/>
                    </a:solidFill>
                    <a:lnL>
                      <a:noFill/>
                    </a:lnL>
                    <a:lnR>
                      <a:noFill/>
                    </a:lnR>
                    <a:lnT>
                      <a:noFill/>
                    </a:lnT>
                    <a:lnB>
                      <a:noFill/>
                    </a:lnB>
                  </a:tcPr>
                </a:tc>
              </a:tr>
              <a:tr h="475488">
                <a:tc>
                  <a:txBody>
                    <a:bodyPr/>
                    <a:lstStyle/>
                    <a:p>
                      <a:pPr algn="l">
                        <a:lnSpc>
                          <a:spcPct val="103000"/>
                        </a:lnSpc>
                        <a:spcBef>
                          <a:spcPts val="0"/>
                        </a:spcBef>
                        <a:spcAft>
                          <a:spcPts val="0"/>
                        </a:spcAft>
                      </a:pPr>
                      <a:r>
                        <a:rPr sz="1500" b="0">
                          <a:solidFill>
                            <a:srgbClr val="00407A"/>
                          </a:solidFill>
                          <a:latin typeface="Arial"/>
                        </a:rPr>
                        <a:t>KEV-0.8B</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 → 16</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5 → 1</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 → 1</a:t>
                      </a:r>
                    </a:p>
                  </a:txBody>
                  <a:tcPr marL="109728" marR="91440" marT="45720" marB="36576" anchor="ctr">
                    <a:solidFill>
                      <a:srgbClr val="E3EFF5"/>
                    </a:solidFill>
                    <a:lnL>
                      <a:noFill/>
                    </a:lnL>
                    <a:lnR>
                      <a:noFill/>
                    </a:lnR>
                    <a:lnT>
                      <a:noFill/>
                    </a:lnT>
                    <a:lnB>
                      <a:noFill/>
                    </a:lnB>
                  </a:tcPr>
                </a:tc>
              </a:tr>
              <a:tr h="475488">
                <a:tc>
                  <a:txBody>
                    <a:bodyPr/>
                    <a:lstStyle/>
                    <a:p>
                      <a:pPr algn="l">
                        <a:lnSpc>
                          <a:spcPct val="103000"/>
                        </a:lnSpc>
                        <a:spcBef>
                          <a:spcPts val="0"/>
                        </a:spcBef>
                        <a:spcAft>
                          <a:spcPts val="0"/>
                        </a:spcAft>
                      </a:pPr>
                      <a:r>
                        <a:rPr sz="1500" b="0">
                          <a:solidFill>
                            <a:srgbClr val="00407A"/>
                          </a:solidFill>
                          <a:latin typeface="Arial"/>
                        </a:rPr>
                        <a:t>KEV-4B</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 → 1</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9 → 10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 → 1</a:t>
                      </a:r>
                    </a:p>
                  </a:txBody>
                  <a:tcPr marL="109728" marR="91440" marT="45720" marB="36576" anchor="ctr">
                    <a:solidFill>
                      <a:srgbClr val="FFFFFF"/>
                    </a:solidFill>
                    <a:lnL>
                      <a:noFill/>
                    </a:lnL>
                    <a:lnR>
                      <a:noFill/>
                    </a:lnR>
                    <a:lnT>
                      <a:noFill/>
                    </a:lnT>
                    <a:lnB>
                      <a:noFill/>
                    </a:lnB>
                  </a:tcPr>
                </a:tc>
              </a:tr>
              <a:tr h="475488">
                <a:tc>
                  <a:txBody>
                    <a:bodyPr/>
                    <a:lstStyle/>
                    <a:p>
                      <a:pPr algn="l">
                        <a:lnSpc>
                          <a:spcPct val="103000"/>
                        </a:lnSpc>
                        <a:spcBef>
                          <a:spcPts val="0"/>
                        </a:spcBef>
                        <a:spcAft>
                          <a:spcPts val="0"/>
                        </a:spcAft>
                      </a:pPr>
                      <a:r>
                        <a:rPr sz="1500" b="0">
                          <a:solidFill>
                            <a:srgbClr val="00407A"/>
                          </a:solidFill>
                          <a:latin typeface="Arial"/>
                        </a:rPr>
                        <a:t>KEV-9B</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 → 2</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11 → 11</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 → 2</a:t>
                      </a:r>
                    </a:p>
                  </a:txBody>
                  <a:tcPr marL="109728" marR="91440" marT="45720" marB="36576" anchor="ctr">
                    <a:solidFill>
                      <a:srgbClr val="E3EFF5"/>
                    </a:solidFill>
                    <a:lnL>
                      <a:noFill/>
                    </a:lnL>
                    <a:lnR>
                      <a:noFill/>
                    </a:lnR>
                    <a:lnT>
                      <a:noFill/>
                    </a:lnT>
                    <a:lnB>
                      <a:noFill/>
                    </a:lnB>
                  </a:tcPr>
                </a:tc>
              </a:tr>
              <a:tr h="475488">
                <a:tc>
                  <a:txBody>
                    <a:bodyPr/>
                    <a:lstStyle/>
                    <a:p>
                      <a:pPr algn="l">
                        <a:lnSpc>
                          <a:spcPct val="103000"/>
                        </a:lnSpc>
                        <a:spcBef>
                          <a:spcPts val="0"/>
                        </a:spcBef>
                        <a:spcAft>
                          <a:spcPts val="0"/>
                        </a:spcAft>
                      </a:pPr>
                      <a:r>
                        <a:rPr sz="1500" b="0">
                          <a:solidFill>
                            <a:srgbClr val="00407A"/>
                          </a:solidFill>
                          <a:latin typeface="Arial"/>
                        </a:rPr>
                        <a:t>KEV-27B</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 → 5</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15 → 14</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 → 5</a:t>
                      </a:r>
                    </a:p>
                  </a:txBody>
                  <a:tcPr marL="109728" marR="91440" marT="45720" marB="36576" anchor="ctr">
                    <a:solidFill>
                      <a:srgbClr val="FFFFFF"/>
                    </a:solidFill>
                    <a:lnL>
                      <a:noFill/>
                    </a:lnL>
                    <a:lnR>
                      <a:noFill/>
                    </a:lnR>
                    <a:lnT>
                      <a:noFill/>
                    </a:lnT>
                    <a:lnB>
                      <a:noFill/>
                    </a:lnB>
                  </a:tcPr>
                </a:tc>
              </a:tr>
            </a:tbl>
          </a:graphicData>
        </a:graphic>
      </p:graphicFrame>
      <p:sp>
        <p:nvSpPr>
          <p:cNvPr id="42" name="TextBox 41"/>
          <p:cNvSpPr txBox="1"/>
          <p:nvPr/>
        </p:nvSpPr>
        <p:spPr>
          <a:xfrm>
            <a:off x="6263640" y="4434840"/>
            <a:ext cx="5120640" cy="1097280"/>
          </a:xfrm>
          <a:prstGeom prst="rect">
            <a:avLst/>
          </a:prstGeom>
          <a:noFill/>
        </p:spPr>
        <p:txBody>
          <a:bodyPr wrap="square" lIns="0" rIns="0" tIns="0" bIns="0" anchor="t">
            <a:noAutofit/>
          </a:bodyPr>
          <a:lstStyle/>
          <a:p>
            <a:pPr algn="l">
              <a:lnSpc>
                <a:spcPct val="109000"/>
              </a:lnSpc>
              <a:spcBef>
                <a:spcPts val="0"/>
              </a:spcBef>
              <a:spcAft>
                <a:spcPts val="0"/>
              </a:spcAft>
            </a:pPr>
            <a:r>
              <a:rPr sz="1300" b="0">
                <a:solidFill>
                  <a:srgbClr val="4A5A66"/>
                </a:solidFill>
                <a:latin typeface="Arial"/>
              </a:rPr>
              <a:t>Each cell: designs of 16, no examples → three examples.</a:t>
            </a:r>
          </a:p>
          <a:p>
            <a:pPr algn="l">
              <a:lnSpc>
                <a:spcPct val="109000"/>
              </a:lnSpc>
              <a:spcBef>
                <a:spcPts val="0"/>
              </a:spcBef>
              <a:spcAft>
                <a:spcPts val="0"/>
              </a:spcAft>
            </a:pPr>
            <a:r>
              <a:rPr sz="1300" b="0">
                <a:solidFill>
                  <a:srgbClr val="4A5A66"/>
                </a:solidFill>
                <a:latin typeface="Arial"/>
              </a:rPr>
              <a:t>The synthesis answer comes from the yes/no request of the same design, where the prompt does not say that it fails.</a:t>
            </a:r>
          </a:p>
        </p:txBody>
      </p:sp>
      <p:sp>
        <p:nvSpPr>
          <p:cNvPr id="43" name="Rounded Rectangle 42"/>
          <p:cNvSpPr/>
          <p:nvPr/>
        </p:nvSpPr>
        <p:spPr>
          <a:xfrm>
            <a:off x="813816" y="5715000"/>
            <a:ext cx="10561320" cy="603504"/>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87552" y="5769864"/>
            <a:ext cx="10213848" cy="493776"/>
          </a:xfrm>
          <a:prstGeom prst="rect">
            <a:avLst/>
          </a:prstGeom>
          <a:noFill/>
        </p:spPr>
        <p:txBody>
          <a:bodyPr wrap="square" lIns="0" rIns="0" tIns="0" bIns="0" anchor="ctr">
            <a:noAutofit/>
          </a:bodyPr>
          <a:lstStyle/>
          <a:p>
            <a:pPr algn="l">
              <a:lnSpc>
                <a:spcPct val="109000"/>
              </a:lnSpc>
              <a:spcBef>
                <a:spcPts val="0"/>
              </a:spcBef>
              <a:spcAft>
                <a:spcPts val="0"/>
              </a:spcAft>
            </a:pPr>
            <a:r>
              <a:rPr sz="1500" b="1">
                <a:solidFill>
                  <a:srgbClr val="00407A"/>
                </a:solidFill>
                <a:latin typeface="Arial"/>
              </a:rPr>
              <a:t>KEV-27B names the reason for 15 of 16 known failures without examples, but it says “synthesis fails” for 0 of these 16 designs when the prompt does not tell it (5 with examples).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Area levels are usable; power levels are not</a:t>
            </a:r>
          </a:p>
        </p:txBody>
      </p:sp>
      <p:sp>
        <p:nvSpPr>
          <p:cNvPr id="3" name="TextBox 2"/>
          <p:cNvSpPr txBox="1"/>
          <p:nvPr/>
        </p:nvSpPr>
        <p:spPr>
          <a:xfrm>
            <a:off x="813816" y="1261872"/>
            <a:ext cx="763524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Bars: exact level. Dashed line: the most common level of the tool labels.</a:t>
            </a:r>
          </a:p>
        </p:txBody>
      </p:sp>
      <p:sp>
        <p:nvSpPr>
          <p:cNvPr id="4" name="Rectangle 3"/>
          <p:cNvSpPr/>
          <p:nvPr/>
        </p:nvSpPr>
        <p:spPr>
          <a:xfrm>
            <a:off x="8549640" y="1353312"/>
            <a:ext cx="182880" cy="182880"/>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05672" y="1298448"/>
            <a:ext cx="1097280" cy="274320"/>
          </a:xfrm>
          <a:prstGeom prst="rect">
            <a:avLst/>
          </a:prstGeom>
          <a:noFill/>
        </p:spPr>
        <p:txBody>
          <a:bodyPr wrap="square" lIns="0" rIns="0" tIns="0" bIns="0" anchor="t">
            <a:noAutofit/>
          </a:bodyPr>
          <a:lstStyle/>
          <a:p>
            <a:pPr algn="l">
              <a:lnSpc>
                <a:spcPct val="109000"/>
              </a:lnSpc>
              <a:spcBef>
                <a:spcPts val="0"/>
              </a:spcBef>
              <a:spcAft>
                <a:spcPts val="0"/>
              </a:spcAft>
            </a:pPr>
            <a:r>
              <a:rPr sz="1200" b="0">
                <a:solidFill>
                  <a:srgbClr val="4A5A66"/>
                </a:solidFill>
                <a:latin typeface="Arial"/>
              </a:rPr>
              <a:t>no examples</a:t>
            </a:r>
          </a:p>
        </p:txBody>
      </p:sp>
      <p:sp>
        <p:nvSpPr>
          <p:cNvPr id="6" name="Rectangle 5"/>
          <p:cNvSpPr/>
          <p:nvPr/>
        </p:nvSpPr>
        <p:spPr>
          <a:xfrm>
            <a:off x="9921240" y="1353312"/>
            <a:ext cx="182880" cy="182880"/>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77272" y="1298448"/>
            <a:ext cx="1280160" cy="274320"/>
          </a:xfrm>
          <a:prstGeom prst="rect">
            <a:avLst/>
          </a:prstGeom>
          <a:noFill/>
        </p:spPr>
        <p:txBody>
          <a:bodyPr wrap="square" lIns="0" rIns="0" tIns="0" bIns="0" anchor="t">
            <a:noAutofit/>
          </a:bodyPr>
          <a:lstStyle/>
          <a:p>
            <a:pPr algn="l">
              <a:lnSpc>
                <a:spcPct val="109000"/>
              </a:lnSpc>
              <a:spcBef>
                <a:spcPts val="0"/>
              </a:spcBef>
              <a:spcAft>
                <a:spcPts val="0"/>
              </a:spcAft>
            </a:pPr>
            <a:r>
              <a:rPr sz="1200" b="0">
                <a:solidFill>
                  <a:srgbClr val="4A5A66"/>
                </a:solidFill>
                <a:latin typeface="Arial"/>
              </a:rPr>
              <a:t>three examples</a:t>
            </a:r>
          </a:p>
        </p:txBody>
      </p:sp>
      <p:sp>
        <p:nvSpPr>
          <p:cNvPr id="8" name="TextBox 7"/>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2  •  RESULTS</a:t>
            </a:r>
          </a:p>
        </p:txBody>
      </p:sp>
      <p:sp>
        <p:nvSpPr>
          <p:cNvPr id="9" name="TextBox 8"/>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15</a:t>
            </a:r>
          </a:p>
        </p:txBody>
      </p:sp>
      <p:sp>
        <p:nvSpPr>
          <p:cNvPr id="10" name="Rounded Rectangle 9"/>
          <p:cNvSpPr/>
          <p:nvPr/>
        </p:nvSpPr>
        <p:spPr>
          <a:xfrm>
            <a:off x="813816" y="1828800"/>
            <a:ext cx="5166360" cy="3749039"/>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1975104"/>
            <a:ext cx="4764024" cy="365760"/>
          </a:xfrm>
          <a:prstGeom prst="rect">
            <a:avLst/>
          </a:prstGeom>
          <a:noFill/>
        </p:spPr>
        <p:txBody>
          <a:bodyPr wrap="square" lIns="0" rIns="0" tIns="0" bIns="0" anchor="t">
            <a:noAutofit/>
          </a:bodyPr>
          <a:lstStyle/>
          <a:p>
            <a:pPr algn="l">
              <a:lnSpc>
                <a:spcPct val="109000"/>
              </a:lnSpc>
              <a:spcBef>
                <a:spcPts val="0"/>
              </a:spcBef>
              <a:spcAft>
                <a:spcPts val="0"/>
              </a:spcAft>
            </a:pPr>
            <a:r>
              <a:rPr sz="1800" b="1">
                <a:solidFill>
                  <a:srgbClr val="00407A"/>
                </a:solidFill>
                <a:latin typeface="Arial"/>
              </a:rPr>
              <a:t>Area level</a:t>
            </a:r>
          </a:p>
        </p:txBody>
      </p:sp>
      <p:sp>
        <p:nvSpPr>
          <p:cNvPr id="12" name="TextBox 11"/>
          <p:cNvSpPr txBox="1"/>
          <p:nvPr/>
        </p:nvSpPr>
        <p:spPr>
          <a:xfrm>
            <a:off x="1014984" y="2359152"/>
            <a:ext cx="4764024" cy="274320"/>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4A5A66"/>
                </a:solidFill>
                <a:latin typeface="Arial"/>
              </a:rPr>
              <a:t>92 designs · all five levels occur</a:t>
            </a:r>
          </a:p>
        </p:txBody>
      </p:sp>
      <p:cxnSp>
        <p:nvCxnSpPr>
          <p:cNvPr id="13" name="Connector 12"/>
          <p:cNvCxnSpPr/>
          <p:nvPr/>
        </p:nvCxnSpPr>
        <p:spPr>
          <a:xfrm>
            <a:off x="1664208"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463040"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0</a:t>
            </a:r>
          </a:p>
        </p:txBody>
      </p:sp>
      <p:cxnSp>
        <p:nvCxnSpPr>
          <p:cNvPr id="15" name="Connector 14"/>
          <p:cNvCxnSpPr/>
          <p:nvPr/>
        </p:nvCxnSpPr>
        <p:spPr>
          <a:xfrm>
            <a:off x="3067812"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866644"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50</a:t>
            </a:r>
          </a:p>
        </p:txBody>
      </p:sp>
      <p:cxnSp>
        <p:nvCxnSpPr>
          <p:cNvPr id="17" name="Connector 16"/>
          <p:cNvCxnSpPr/>
          <p:nvPr/>
        </p:nvCxnSpPr>
        <p:spPr>
          <a:xfrm>
            <a:off x="4471416"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270248"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100</a:t>
            </a:r>
          </a:p>
        </p:txBody>
      </p:sp>
      <p:cxnSp>
        <p:nvCxnSpPr>
          <p:cNvPr id="19" name="Connector 18"/>
          <p:cNvCxnSpPr/>
          <p:nvPr/>
        </p:nvCxnSpPr>
        <p:spPr>
          <a:xfrm>
            <a:off x="2671141" y="2688336"/>
            <a:ext cx="0" cy="2416759"/>
          </a:xfrm>
          <a:prstGeom prst="line">
            <a:avLst/>
          </a:prstGeom>
          <a:ln w="15240">
            <a:solidFill>
              <a:srgbClr val="4A5A66"/>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96696" y="2834640"/>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0.8B</a:t>
            </a:r>
          </a:p>
        </p:txBody>
      </p:sp>
      <p:sp>
        <p:nvSpPr>
          <p:cNvPr id="21" name="Rectangle 20"/>
          <p:cNvSpPr/>
          <p:nvPr/>
        </p:nvSpPr>
        <p:spPr>
          <a:xfrm>
            <a:off x="1664208" y="2743200"/>
            <a:ext cx="1006933"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62856" y="2715768"/>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35.9% · 33 of 92</a:t>
            </a:r>
          </a:p>
        </p:txBody>
      </p:sp>
      <p:sp>
        <p:nvSpPr>
          <p:cNvPr id="23" name="Rectangle 22"/>
          <p:cNvSpPr/>
          <p:nvPr/>
        </p:nvSpPr>
        <p:spPr>
          <a:xfrm>
            <a:off x="1664208" y="2991916"/>
            <a:ext cx="61026"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62856" y="2964484"/>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2.2% · 2 of 92</a:t>
            </a:r>
          </a:p>
        </p:txBody>
      </p:sp>
      <p:sp>
        <p:nvSpPr>
          <p:cNvPr id="25" name="TextBox 24"/>
          <p:cNvSpPr txBox="1"/>
          <p:nvPr/>
        </p:nvSpPr>
        <p:spPr>
          <a:xfrm>
            <a:off x="996696" y="3456432"/>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4B</a:t>
            </a:r>
          </a:p>
        </p:txBody>
      </p:sp>
      <p:sp>
        <p:nvSpPr>
          <p:cNvPr id="26" name="Rectangle 25"/>
          <p:cNvSpPr/>
          <p:nvPr/>
        </p:nvSpPr>
        <p:spPr>
          <a:xfrm>
            <a:off x="1664208" y="3364992"/>
            <a:ext cx="1006933"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62856" y="3337560"/>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35.9% · 33 of 92</a:t>
            </a:r>
          </a:p>
        </p:txBody>
      </p:sp>
      <p:sp>
        <p:nvSpPr>
          <p:cNvPr id="28" name="Rectangle 27"/>
          <p:cNvSpPr/>
          <p:nvPr/>
        </p:nvSpPr>
        <p:spPr>
          <a:xfrm>
            <a:off x="1664208" y="3613708"/>
            <a:ext cx="1403604"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62856" y="3586276"/>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50.0% · 46 of 92</a:t>
            </a:r>
          </a:p>
        </p:txBody>
      </p:sp>
      <p:sp>
        <p:nvSpPr>
          <p:cNvPr id="30" name="TextBox 29"/>
          <p:cNvSpPr txBox="1"/>
          <p:nvPr/>
        </p:nvSpPr>
        <p:spPr>
          <a:xfrm>
            <a:off x="996696" y="4078224"/>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9B</a:t>
            </a:r>
          </a:p>
        </p:txBody>
      </p:sp>
      <p:sp>
        <p:nvSpPr>
          <p:cNvPr id="31" name="Rectangle 30"/>
          <p:cNvSpPr/>
          <p:nvPr/>
        </p:nvSpPr>
        <p:spPr>
          <a:xfrm>
            <a:off x="1664208" y="3986784"/>
            <a:ext cx="1617195"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62856" y="3959352"/>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57.6% · 53 of 92</a:t>
            </a:r>
          </a:p>
        </p:txBody>
      </p:sp>
      <p:sp>
        <p:nvSpPr>
          <p:cNvPr id="33" name="Rectangle 32"/>
          <p:cNvSpPr/>
          <p:nvPr/>
        </p:nvSpPr>
        <p:spPr>
          <a:xfrm>
            <a:off x="1664208" y="4235500"/>
            <a:ext cx="1525656"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62856" y="4208068"/>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54.3% · 50 of 92</a:t>
            </a:r>
          </a:p>
        </p:txBody>
      </p:sp>
      <p:sp>
        <p:nvSpPr>
          <p:cNvPr id="35" name="TextBox 34"/>
          <p:cNvSpPr txBox="1"/>
          <p:nvPr/>
        </p:nvSpPr>
        <p:spPr>
          <a:xfrm>
            <a:off x="996696" y="4700016"/>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27B</a:t>
            </a:r>
          </a:p>
        </p:txBody>
      </p:sp>
      <p:sp>
        <p:nvSpPr>
          <p:cNvPr id="36" name="Rectangle 35"/>
          <p:cNvSpPr/>
          <p:nvPr/>
        </p:nvSpPr>
        <p:spPr>
          <a:xfrm>
            <a:off x="1664208" y="4608576"/>
            <a:ext cx="1861300"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62856" y="4581144"/>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66.3% · 61 of 92</a:t>
            </a:r>
          </a:p>
        </p:txBody>
      </p:sp>
      <p:sp>
        <p:nvSpPr>
          <p:cNvPr id="38" name="Rectangle 37"/>
          <p:cNvSpPr/>
          <p:nvPr/>
        </p:nvSpPr>
        <p:spPr>
          <a:xfrm>
            <a:off x="1664208" y="4857292"/>
            <a:ext cx="1464630"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62856" y="4829860"/>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52.2% · 48 of 92</a:t>
            </a:r>
          </a:p>
        </p:txBody>
      </p:sp>
      <p:sp>
        <p:nvSpPr>
          <p:cNvPr id="40" name="TextBox 39"/>
          <p:cNvSpPr txBox="1"/>
          <p:nvPr/>
        </p:nvSpPr>
        <p:spPr>
          <a:xfrm>
            <a:off x="996696" y="5330952"/>
            <a:ext cx="4800600" cy="210312"/>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Dashed line: always level 1 = 35.9% (33 of 92)</a:t>
            </a:r>
          </a:p>
        </p:txBody>
      </p:sp>
      <p:sp>
        <p:nvSpPr>
          <p:cNvPr id="41" name="Rounded Rectangle 40"/>
          <p:cNvSpPr/>
          <p:nvPr/>
        </p:nvSpPr>
        <p:spPr>
          <a:xfrm>
            <a:off x="6208776" y="1828800"/>
            <a:ext cx="5166360" cy="3749039"/>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9944" y="1975104"/>
            <a:ext cx="4764024" cy="365760"/>
          </a:xfrm>
          <a:prstGeom prst="rect">
            <a:avLst/>
          </a:prstGeom>
          <a:noFill/>
        </p:spPr>
        <p:txBody>
          <a:bodyPr wrap="square" lIns="0" rIns="0" tIns="0" bIns="0" anchor="t">
            <a:noAutofit/>
          </a:bodyPr>
          <a:lstStyle/>
          <a:p>
            <a:pPr algn="l">
              <a:lnSpc>
                <a:spcPct val="109000"/>
              </a:lnSpc>
              <a:spcBef>
                <a:spcPts val="0"/>
              </a:spcBef>
              <a:spcAft>
                <a:spcPts val="0"/>
              </a:spcAft>
            </a:pPr>
            <a:r>
              <a:rPr sz="1800" b="1">
                <a:solidFill>
                  <a:srgbClr val="00407A"/>
                </a:solidFill>
                <a:latin typeface="Arial"/>
              </a:rPr>
              <a:t>Power level</a:t>
            </a:r>
          </a:p>
        </p:txBody>
      </p:sp>
      <p:sp>
        <p:nvSpPr>
          <p:cNvPr id="43" name="TextBox 42"/>
          <p:cNvSpPr txBox="1"/>
          <p:nvPr/>
        </p:nvSpPr>
        <p:spPr>
          <a:xfrm>
            <a:off x="6409944" y="2359152"/>
            <a:ext cx="4764024" cy="274320"/>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4A5A66"/>
                </a:solidFill>
                <a:latin typeface="Arial"/>
              </a:rPr>
              <a:t>85 designs · levels 1 to 4 occur</a:t>
            </a:r>
          </a:p>
        </p:txBody>
      </p:sp>
      <p:cxnSp>
        <p:nvCxnSpPr>
          <p:cNvPr id="44" name="Connector 43"/>
          <p:cNvCxnSpPr/>
          <p:nvPr/>
        </p:nvCxnSpPr>
        <p:spPr>
          <a:xfrm>
            <a:off x="7059168"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858000"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0</a:t>
            </a:r>
          </a:p>
        </p:txBody>
      </p:sp>
      <p:cxnSp>
        <p:nvCxnSpPr>
          <p:cNvPr id="46" name="Connector 45"/>
          <p:cNvCxnSpPr/>
          <p:nvPr/>
        </p:nvCxnSpPr>
        <p:spPr>
          <a:xfrm>
            <a:off x="8462772"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61604"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50</a:t>
            </a:r>
          </a:p>
        </p:txBody>
      </p:sp>
      <p:cxnSp>
        <p:nvCxnSpPr>
          <p:cNvPr id="48" name="Connector 47"/>
          <p:cNvCxnSpPr/>
          <p:nvPr/>
        </p:nvCxnSpPr>
        <p:spPr>
          <a:xfrm>
            <a:off x="9866376"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9665208"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100</a:t>
            </a:r>
          </a:p>
        </p:txBody>
      </p:sp>
      <p:cxnSp>
        <p:nvCxnSpPr>
          <p:cNvPr id="50" name="Connector 49"/>
          <p:cNvCxnSpPr/>
          <p:nvPr/>
        </p:nvCxnSpPr>
        <p:spPr>
          <a:xfrm>
            <a:off x="8281129" y="2688336"/>
            <a:ext cx="0" cy="2416759"/>
          </a:xfrm>
          <a:prstGeom prst="line">
            <a:avLst/>
          </a:prstGeom>
          <a:ln w="15240">
            <a:solidFill>
              <a:srgbClr val="4A5A66"/>
            </a:solidFill>
            <a:prstDash val="dash"/>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391656" y="2834640"/>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0.8B</a:t>
            </a:r>
          </a:p>
        </p:txBody>
      </p:sp>
      <p:sp>
        <p:nvSpPr>
          <p:cNvPr id="52" name="Rectangle 51"/>
          <p:cNvSpPr/>
          <p:nvPr/>
        </p:nvSpPr>
        <p:spPr>
          <a:xfrm>
            <a:off x="7059168" y="2743200"/>
            <a:ext cx="759597"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957816" y="2715768"/>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27.1% · 23 of 85</a:t>
            </a:r>
          </a:p>
        </p:txBody>
      </p:sp>
      <p:sp>
        <p:nvSpPr>
          <p:cNvPr id="54" name="TextBox 53"/>
          <p:cNvSpPr txBox="1"/>
          <p:nvPr/>
        </p:nvSpPr>
        <p:spPr>
          <a:xfrm>
            <a:off x="9957816" y="2964484"/>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0.0% · 0 of 85</a:t>
            </a:r>
          </a:p>
        </p:txBody>
      </p:sp>
      <p:sp>
        <p:nvSpPr>
          <p:cNvPr id="55" name="TextBox 54"/>
          <p:cNvSpPr txBox="1"/>
          <p:nvPr/>
        </p:nvSpPr>
        <p:spPr>
          <a:xfrm>
            <a:off x="6391656" y="3456432"/>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4B</a:t>
            </a:r>
          </a:p>
        </p:txBody>
      </p:sp>
      <p:sp>
        <p:nvSpPr>
          <p:cNvPr id="56" name="Rectangle 55"/>
          <p:cNvSpPr/>
          <p:nvPr/>
        </p:nvSpPr>
        <p:spPr>
          <a:xfrm>
            <a:off x="7059168" y="3364992"/>
            <a:ext cx="1288013"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957816" y="3337560"/>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45.9% · 39 of 85</a:t>
            </a:r>
          </a:p>
        </p:txBody>
      </p:sp>
      <p:sp>
        <p:nvSpPr>
          <p:cNvPr id="58" name="Rectangle 57"/>
          <p:cNvSpPr/>
          <p:nvPr/>
        </p:nvSpPr>
        <p:spPr>
          <a:xfrm>
            <a:off x="7059168" y="3613708"/>
            <a:ext cx="1122883"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957816" y="3586276"/>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40.0% · 34 of 85</a:t>
            </a:r>
          </a:p>
        </p:txBody>
      </p:sp>
      <p:sp>
        <p:nvSpPr>
          <p:cNvPr id="60" name="TextBox 59"/>
          <p:cNvSpPr txBox="1"/>
          <p:nvPr/>
        </p:nvSpPr>
        <p:spPr>
          <a:xfrm>
            <a:off x="6391656" y="4078224"/>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9B</a:t>
            </a:r>
          </a:p>
        </p:txBody>
      </p:sp>
      <p:sp>
        <p:nvSpPr>
          <p:cNvPr id="61" name="Rectangle 60"/>
          <p:cNvSpPr/>
          <p:nvPr/>
        </p:nvSpPr>
        <p:spPr>
          <a:xfrm>
            <a:off x="7059168" y="3986784"/>
            <a:ext cx="1122883"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957816" y="3959352"/>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40.0% · 34 of 85</a:t>
            </a:r>
          </a:p>
        </p:txBody>
      </p:sp>
      <p:sp>
        <p:nvSpPr>
          <p:cNvPr id="63" name="Rectangle 62"/>
          <p:cNvSpPr/>
          <p:nvPr/>
        </p:nvSpPr>
        <p:spPr>
          <a:xfrm>
            <a:off x="7059168" y="4235500"/>
            <a:ext cx="792623"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957816" y="4208068"/>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28.2% · 24 of 85</a:t>
            </a:r>
          </a:p>
        </p:txBody>
      </p:sp>
      <p:sp>
        <p:nvSpPr>
          <p:cNvPr id="65" name="TextBox 64"/>
          <p:cNvSpPr txBox="1"/>
          <p:nvPr/>
        </p:nvSpPr>
        <p:spPr>
          <a:xfrm>
            <a:off x="6391656" y="4700016"/>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27B</a:t>
            </a:r>
          </a:p>
        </p:txBody>
      </p:sp>
      <p:sp>
        <p:nvSpPr>
          <p:cNvPr id="66" name="Rectangle 65"/>
          <p:cNvSpPr/>
          <p:nvPr/>
        </p:nvSpPr>
        <p:spPr>
          <a:xfrm>
            <a:off x="7059168" y="4608576"/>
            <a:ext cx="297233"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957816" y="4581144"/>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10.6% · 9 of 85</a:t>
            </a:r>
          </a:p>
        </p:txBody>
      </p:sp>
      <p:sp>
        <p:nvSpPr>
          <p:cNvPr id="68" name="Rectangle 67"/>
          <p:cNvSpPr/>
          <p:nvPr/>
        </p:nvSpPr>
        <p:spPr>
          <a:xfrm>
            <a:off x="7059168" y="4857292"/>
            <a:ext cx="1188935"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957816" y="4829860"/>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42.4% · 36 of 85</a:t>
            </a:r>
          </a:p>
        </p:txBody>
      </p:sp>
      <p:sp>
        <p:nvSpPr>
          <p:cNvPr id="70" name="TextBox 69"/>
          <p:cNvSpPr txBox="1"/>
          <p:nvPr/>
        </p:nvSpPr>
        <p:spPr>
          <a:xfrm>
            <a:off x="6391656" y="5330952"/>
            <a:ext cx="4800600" cy="210312"/>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Dashed line: always level 2 = 43.5% (37 of 85)</a:t>
            </a:r>
          </a:p>
        </p:txBody>
      </p:sp>
      <p:sp>
        <p:nvSpPr>
          <p:cNvPr id="71" name="Rounded Rectangle 70"/>
          <p:cNvSpPr/>
          <p:nvPr/>
        </p:nvSpPr>
        <p:spPr>
          <a:xfrm>
            <a:off x="813816" y="5715000"/>
            <a:ext cx="10561320" cy="603504"/>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987552" y="5769864"/>
            <a:ext cx="10213848" cy="493776"/>
          </a:xfrm>
          <a:prstGeom prst="rect">
            <a:avLst/>
          </a:prstGeom>
          <a:noFill/>
        </p:spPr>
        <p:txBody>
          <a:bodyPr wrap="square" lIns="0" rIns="0" tIns="0" bIns="0" anchor="ctr">
            <a:noAutofit/>
          </a:bodyPr>
          <a:lstStyle/>
          <a:p>
            <a:pPr algn="l">
              <a:lnSpc>
                <a:spcPct val="109000"/>
              </a:lnSpc>
              <a:spcBef>
                <a:spcPts val="0"/>
              </a:spcBef>
              <a:spcAft>
                <a:spcPts val="0"/>
              </a:spcAft>
            </a:pPr>
            <a:r>
              <a:rPr sz="1500" b="1">
                <a:solidFill>
                  <a:srgbClr val="00407A"/>
                </a:solidFill>
                <a:latin typeface="Arial"/>
              </a:rPr>
              <a:t>Area: KEV-27B is exact for 61 of 92 designs and within one level for all 92; with examples the exact count drops to 48. Power: only KEV-4B without examples (39 of 85) is above always level 2 (37 of 85).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Timing levels: no model beats a constant answer</a:t>
            </a:r>
          </a:p>
        </p:txBody>
      </p:sp>
      <p:sp>
        <p:nvSpPr>
          <p:cNvPr id="3" name="TextBox 2"/>
          <p:cNvSpPr txBox="1"/>
          <p:nvPr/>
        </p:nvSpPr>
        <p:spPr>
          <a:xfrm>
            <a:off x="813816" y="1261872"/>
            <a:ext cx="763524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Bars: exact level. Dashed line: the most common tool level. No slack is negative.</a:t>
            </a:r>
          </a:p>
        </p:txBody>
      </p:sp>
      <p:sp>
        <p:nvSpPr>
          <p:cNvPr id="4" name="Rectangle 3"/>
          <p:cNvSpPr/>
          <p:nvPr/>
        </p:nvSpPr>
        <p:spPr>
          <a:xfrm>
            <a:off x="8549640" y="1353312"/>
            <a:ext cx="182880" cy="182880"/>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05672" y="1298448"/>
            <a:ext cx="1097280" cy="274320"/>
          </a:xfrm>
          <a:prstGeom prst="rect">
            <a:avLst/>
          </a:prstGeom>
          <a:noFill/>
        </p:spPr>
        <p:txBody>
          <a:bodyPr wrap="square" lIns="0" rIns="0" tIns="0" bIns="0" anchor="t">
            <a:noAutofit/>
          </a:bodyPr>
          <a:lstStyle/>
          <a:p>
            <a:pPr algn="l">
              <a:lnSpc>
                <a:spcPct val="109000"/>
              </a:lnSpc>
              <a:spcBef>
                <a:spcPts val="0"/>
              </a:spcBef>
              <a:spcAft>
                <a:spcPts val="0"/>
              </a:spcAft>
            </a:pPr>
            <a:r>
              <a:rPr sz="1200" b="0">
                <a:solidFill>
                  <a:srgbClr val="4A5A66"/>
                </a:solidFill>
                <a:latin typeface="Arial"/>
              </a:rPr>
              <a:t>no examples</a:t>
            </a:r>
          </a:p>
        </p:txBody>
      </p:sp>
      <p:sp>
        <p:nvSpPr>
          <p:cNvPr id="6" name="Rectangle 5"/>
          <p:cNvSpPr/>
          <p:nvPr/>
        </p:nvSpPr>
        <p:spPr>
          <a:xfrm>
            <a:off x="9921240" y="1353312"/>
            <a:ext cx="182880" cy="182880"/>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77272" y="1298448"/>
            <a:ext cx="1280160" cy="274320"/>
          </a:xfrm>
          <a:prstGeom prst="rect">
            <a:avLst/>
          </a:prstGeom>
          <a:noFill/>
        </p:spPr>
        <p:txBody>
          <a:bodyPr wrap="square" lIns="0" rIns="0" tIns="0" bIns="0" anchor="t">
            <a:noAutofit/>
          </a:bodyPr>
          <a:lstStyle/>
          <a:p>
            <a:pPr algn="l">
              <a:lnSpc>
                <a:spcPct val="109000"/>
              </a:lnSpc>
              <a:spcBef>
                <a:spcPts val="0"/>
              </a:spcBef>
              <a:spcAft>
                <a:spcPts val="0"/>
              </a:spcAft>
            </a:pPr>
            <a:r>
              <a:rPr sz="1200" b="0">
                <a:solidFill>
                  <a:srgbClr val="4A5A66"/>
                </a:solidFill>
                <a:latin typeface="Arial"/>
              </a:rPr>
              <a:t>three examples</a:t>
            </a:r>
          </a:p>
        </p:txBody>
      </p:sp>
      <p:sp>
        <p:nvSpPr>
          <p:cNvPr id="8" name="TextBox 7"/>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2  •  RESULTS</a:t>
            </a:r>
          </a:p>
        </p:txBody>
      </p:sp>
      <p:sp>
        <p:nvSpPr>
          <p:cNvPr id="9" name="TextBox 8"/>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16</a:t>
            </a:r>
          </a:p>
        </p:txBody>
      </p:sp>
      <p:sp>
        <p:nvSpPr>
          <p:cNvPr id="10" name="Rounded Rectangle 9"/>
          <p:cNvSpPr/>
          <p:nvPr/>
        </p:nvSpPr>
        <p:spPr>
          <a:xfrm>
            <a:off x="813816" y="1828800"/>
            <a:ext cx="5166360" cy="3749039"/>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1975104"/>
            <a:ext cx="4764024" cy="365760"/>
          </a:xfrm>
          <a:prstGeom prst="rect">
            <a:avLst/>
          </a:prstGeom>
          <a:noFill/>
        </p:spPr>
        <p:txBody>
          <a:bodyPr wrap="square" lIns="0" rIns="0" tIns="0" bIns="0" anchor="t">
            <a:noAutofit/>
          </a:bodyPr>
          <a:lstStyle/>
          <a:p>
            <a:pPr algn="l">
              <a:lnSpc>
                <a:spcPct val="109000"/>
              </a:lnSpc>
              <a:spcBef>
                <a:spcPts val="0"/>
              </a:spcBef>
              <a:spcAft>
                <a:spcPts val="0"/>
              </a:spcAft>
            </a:pPr>
            <a:r>
              <a:rPr sz="1800" b="1">
                <a:solidFill>
                  <a:srgbClr val="00407A"/>
                </a:solidFill>
                <a:latin typeface="Arial"/>
              </a:rPr>
              <a:t>Reachable clock frequency level</a:t>
            </a:r>
          </a:p>
        </p:txBody>
      </p:sp>
      <p:sp>
        <p:nvSpPr>
          <p:cNvPr id="12" name="TextBox 11"/>
          <p:cNvSpPr txBox="1"/>
          <p:nvPr/>
        </p:nvSpPr>
        <p:spPr>
          <a:xfrm>
            <a:off x="1014984" y="2359152"/>
            <a:ext cx="4764024" cy="274320"/>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4A5A66"/>
                </a:solidFill>
                <a:latin typeface="Arial"/>
              </a:rPr>
              <a:t>92 designs · levels 1 to 4 occur</a:t>
            </a:r>
          </a:p>
        </p:txBody>
      </p:sp>
      <p:cxnSp>
        <p:nvCxnSpPr>
          <p:cNvPr id="13" name="Connector 12"/>
          <p:cNvCxnSpPr/>
          <p:nvPr/>
        </p:nvCxnSpPr>
        <p:spPr>
          <a:xfrm>
            <a:off x="1664208"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463040"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0</a:t>
            </a:r>
          </a:p>
        </p:txBody>
      </p:sp>
      <p:cxnSp>
        <p:nvCxnSpPr>
          <p:cNvPr id="15" name="Connector 14"/>
          <p:cNvCxnSpPr/>
          <p:nvPr/>
        </p:nvCxnSpPr>
        <p:spPr>
          <a:xfrm>
            <a:off x="3067812"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866644"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50</a:t>
            </a:r>
          </a:p>
        </p:txBody>
      </p:sp>
      <p:cxnSp>
        <p:nvCxnSpPr>
          <p:cNvPr id="17" name="Connector 16"/>
          <p:cNvCxnSpPr/>
          <p:nvPr/>
        </p:nvCxnSpPr>
        <p:spPr>
          <a:xfrm>
            <a:off x="4471416"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270248"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100</a:t>
            </a:r>
          </a:p>
        </p:txBody>
      </p:sp>
      <p:cxnSp>
        <p:nvCxnSpPr>
          <p:cNvPr id="19" name="Connector 18"/>
          <p:cNvCxnSpPr/>
          <p:nvPr/>
        </p:nvCxnSpPr>
        <p:spPr>
          <a:xfrm>
            <a:off x="3037298" y="2688336"/>
            <a:ext cx="0" cy="2416759"/>
          </a:xfrm>
          <a:prstGeom prst="line">
            <a:avLst/>
          </a:prstGeom>
          <a:ln w="15240">
            <a:solidFill>
              <a:srgbClr val="4A5A66"/>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96696" y="2834640"/>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0.8B</a:t>
            </a:r>
          </a:p>
        </p:txBody>
      </p:sp>
      <p:sp>
        <p:nvSpPr>
          <p:cNvPr id="21" name="Rectangle 20"/>
          <p:cNvSpPr/>
          <p:nvPr/>
        </p:nvSpPr>
        <p:spPr>
          <a:xfrm>
            <a:off x="1664208" y="2743200"/>
            <a:ext cx="396670"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62856" y="2715768"/>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14.1% · 13 of 92</a:t>
            </a:r>
          </a:p>
        </p:txBody>
      </p:sp>
      <p:sp>
        <p:nvSpPr>
          <p:cNvPr id="23" name="Rectangle 22"/>
          <p:cNvSpPr/>
          <p:nvPr/>
        </p:nvSpPr>
        <p:spPr>
          <a:xfrm>
            <a:off x="1664208" y="2991916"/>
            <a:ext cx="671288"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62856" y="2964484"/>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23.9% · 22 of 92</a:t>
            </a:r>
          </a:p>
        </p:txBody>
      </p:sp>
      <p:sp>
        <p:nvSpPr>
          <p:cNvPr id="25" name="TextBox 24"/>
          <p:cNvSpPr txBox="1"/>
          <p:nvPr/>
        </p:nvSpPr>
        <p:spPr>
          <a:xfrm>
            <a:off x="996696" y="3456432"/>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4B</a:t>
            </a:r>
          </a:p>
        </p:txBody>
      </p:sp>
      <p:sp>
        <p:nvSpPr>
          <p:cNvPr id="26" name="Rectangle 25"/>
          <p:cNvSpPr/>
          <p:nvPr/>
        </p:nvSpPr>
        <p:spPr>
          <a:xfrm>
            <a:off x="1664208" y="3364992"/>
            <a:ext cx="335644"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62856" y="3337560"/>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12.0% · 11 of 92</a:t>
            </a:r>
          </a:p>
        </p:txBody>
      </p:sp>
      <p:sp>
        <p:nvSpPr>
          <p:cNvPr id="28" name="Rectangle 27"/>
          <p:cNvSpPr/>
          <p:nvPr/>
        </p:nvSpPr>
        <p:spPr>
          <a:xfrm>
            <a:off x="1664208" y="3613708"/>
            <a:ext cx="640775"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62856" y="3586276"/>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22.8% · 21 of 92</a:t>
            </a:r>
          </a:p>
        </p:txBody>
      </p:sp>
      <p:sp>
        <p:nvSpPr>
          <p:cNvPr id="30" name="TextBox 29"/>
          <p:cNvSpPr txBox="1"/>
          <p:nvPr/>
        </p:nvSpPr>
        <p:spPr>
          <a:xfrm>
            <a:off x="996696" y="4078224"/>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9B</a:t>
            </a:r>
          </a:p>
        </p:txBody>
      </p:sp>
      <p:sp>
        <p:nvSpPr>
          <p:cNvPr id="31" name="Rectangle 30"/>
          <p:cNvSpPr/>
          <p:nvPr/>
        </p:nvSpPr>
        <p:spPr>
          <a:xfrm>
            <a:off x="1664208" y="3986784"/>
            <a:ext cx="396670"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62856" y="3959352"/>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14.1% · 13 of 92</a:t>
            </a:r>
          </a:p>
        </p:txBody>
      </p:sp>
      <p:sp>
        <p:nvSpPr>
          <p:cNvPr id="33" name="Rectangle 32"/>
          <p:cNvSpPr/>
          <p:nvPr/>
        </p:nvSpPr>
        <p:spPr>
          <a:xfrm>
            <a:off x="1664208" y="4235500"/>
            <a:ext cx="457696"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62856" y="4208068"/>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16.3% · 15 of 92</a:t>
            </a:r>
          </a:p>
        </p:txBody>
      </p:sp>
      <p:sp>
        <p:nvSpPr>
          <p:cNvPr id="35" name="TextBox 34"/>
          <p:cNvSpPr txBox="1"/>
          <p:nvPr/>
        </p:nvSpPr>
        <p:spPr>
          <a:xfrm>
            <a:off x="996696" y="4700016"/>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27B</a:t>
            </a:r>
          </a:p>
        </p:txBody>
      </p:sp>
      <p:sp>
        <p:nvSpPr>
          <p:cNvPr id="36" name="Rectangle 35"/>
          <p:cNvSpPr/>
          <p:nvPr/>
        </p:nvSpPr>
        <p:spPr>
          <a:xfrm>
            <a:off x="1664208" y="4608576"/>
            <a:ext cx="396670"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62856" y="4581144"/>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14.1% · 13 of 92</a:t>
            </a:r>
          </a:p>
        </p:txBody>
      </p:sp>
      <p:sp>
        <p:nvSpPr>
          <p:cNvPr id="38" name="Rectangle 37"/>
          <p:cNvSpPr/>
          <p:nvPr/>
        </p:nvSpPr>
        <p:spPr>
          <a:xfrm>
            <a:off x="1664208" y="4857292"/>
            <a:ext cx="1098472"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62856" y="4829860"/>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39.1% · 36 of 92</a:t>
            </a:r>
          </a:p>
        </p:txBody>
      </p:sp>
      <p:sp>
        <p:nvSpPr>
          <p:cNvPr id="40" name="TextBox 39"/>
          <p:cNvSpPr txBox="1"/>
          <p:nvPr/>
        </p:nvSpPr>
        <p:spPr>
          <a:xfrm>
            <a:off x="996696" y="5330952"/>
            <a:ext cx="4800600" cy="210312"/>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Dashed line: always level 4 = 48.9% (45 of 92)</a:t>
            </a:r>
          </a:p>
        </p:txBody>
      </p:sp>
      <p:sp>
        <p:nvSpPr>
          <p:cNvPr id="41" name="Rounded Rectangle 40"/>
          <p:cNvSpPr/>
          <p:nvPr/>
        </p:nvSpPr>
        <p:spPr>
          <a:xfrm>
            <a:off x="6208776" y="1828800"/>
            <a:ext cx="5166360" cy="3749039"/>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9944" y="1975104"/>
            <a:ext cx="4764024" cy="365760"/>
          </a:xfrm>
          <a:prstGeom prst="rect">
            <a:avLst/>
          </a:prstGeom>
          <a:noFill/>
        </p:spPr>
        <p:txBody>
          <a:bodyPr wrap="square" lIns="0" rIns="0" tIns="0" bIns="0" anchor="t">
            <a:noAutofit/>
          </a:bodyPr>
          <a:lstStyle/>
          <a:p>
            <a:pPr algn="l">
              <a:lnSpc>
                <a:spcPct val="109000"/>
              </a:lnSpc>
              <a:spcBef>
                <a:spcPts val="0"/>
              </a:spcBef>
              <a:spcAft>
                <a:spcPts val="0"/>
              </a:spcAft>
            </a:pPr>
            <a:r>
              <a:rPr sz="1800" b="1">
                <a:solidFill>
                  <a:srgbClr val="00407A"/>
                </a:solidFill>
                <a:latin typeface="Arial"/>
              </a:rPr>
              <a:t>Timing margin (slack) level</a:t>
            </a:r>
          </a:p>
        </p:txBody>
      </p:sp>
      <p:sp>
        <p:nvSpPr>
          <p:cNvPr id="43" name="TextBox 42"/>
          <p:cNvSpPr txBox="1"/>
          <p:nvPr/>
        </p:nvSpPr>
        <p:spPr>
          <a:xfrm>
            <a:off x="6409944" y="2359152"/>
            <a:ext cx="4764024" cy="274320"/>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4A5A66"/>
                </a:solidFill>
                <a:latin typeface="Arial"/>
              </a:rPr>
              <a:t>92 designs · levels 2 to 5 occur</a:t>
            </a:r>
          </a:p>
        </p:txBody>
      </p:sp>
      <p:cxnSp>
        <p:nvCxnSpPr>
          <p:cNvPr id="44" name="Connector 43"/>
          <p:cNvCxnSpPr/>
          <p:nvPr/>
        </p:nvCxnSpPr>
        <p:spPr>
          <a:xfrm>
            <a:off x="7059168"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858000"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0</a:t>
            </a:r>
          </a:p>
        </p:txBody>
      </p:sp>
      <p:cxnSp>
        <p:nvCxnSpPr>
          <p:cNvPr id="46" name="Connector 45"/>
          <p:cNvCxnSpPr/>
          <p:nvPr/>
        </p:nvCxnSpPr>
        <p:spPr>
          <a:xfrm>
            <a:off x="8462772"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61604"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50</a:t>
            </a:r>
          </a:p>
        </p:txBody>
      </p:sp>
      <p:cxnSp>
        <p:nvCxnSpPr>
          <p:cNvPr id="48" name="Connector 47"/>
          <p:cNvCxnSpPr/>
          <p:nvPr/>
        </p:nvCxnSpPr>
        <p:spPr>
          <a:xfrm>
            <a:off x="9866376"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9665208"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100</a:t>
            </a:r>
          </a:p>
        </p:txBody>
      </p:sp>
      <p:cxnSp>
        <p:nvCxnSpPr>
          <p:cNvPr id="50" name="Connector 49"/>
          <p:cNvCxnSpPr/>
          <p:nvPr/>
        </p:nvCxnSpPr>
        <p:spPr>
          <a:xfrm>
            <a:off x="8981495" y="2688336"/>
            <a:ext cx="0" cy="2416759"/>
          </a:xfrm>
          <a:prstGeom prst="line">
            <a:avLst/>
          </a:prstGeom>
          <a:ln w="15240">
            <a:solidFill>
              <a:srgbClr val="4A5A66"/>
            </a:solidFill>
            <a:prstDash val="dash"/>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391656" y="2834640"/>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0.8B</a:t>
            </a:r>
          </a:p>
        </p:txBody>
      </p:sp>
      <p:sp>
        <p:nvSpPr>
          <p:cNvPr id="52" name="Rectangle 51"/>
          <p:cNvSpPr/>
          <p:nvPr/>
        </p:nvSpPr>
        <p:spPr>
          <a:xfrm>
            <a:off x="7059168" y="2743200"/>
            <a:ext cx="244105"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957816" y="2715768"/>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8.7% · 8 of 92</a:t>
            </a:r>
          </a:p>
        </p:txBody>
      </p:sp>
      <p:sp>
        <p:nvSpPr>
          <p:cNvPr id="54" name="Rectangle 53"/>
          <p:cNvSpPr/>
          <p:nvPr/>
        </p:nvSpPr>
        <p:spPr>
          <a:xfrm>
            <a:off x="7059168" y="2991916"/>
            <a:ext cx="1922327"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957816" y="2964484"/>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68.5% · 63 of 92</a:t>
            </a:r>
          </a:p>
        </p:txBody>
      </p:sp>
      <p:sp>
        <p:nvSpPr>
          <p:cNvPr id="56" name="TextBox 55"/>
          <p:cNvSpPr txBox="1"/>
          <p:nvPr/>
        </p:nvSpPr>
        <p:spPr>
          <a:xfrm>
            <a:off x="6391656" y="3456432"/>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4B</a:t>
            </a:r>
          </a:p>
        </p:txBody>
      </p:sp>
      <p:sp>
        <p:nvSpPr>
          <p:cNvPr id="57" name="Rectangle 56"/>
          <p:cNvSpPr/>
          <p:nvPr/>
        </p:nvSpPr>
        <p:spPr>
          <a:xfrm>
            <a:off x="7059168" y="3364992"/>
            <a:ext cx="122052"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957816" y="3337560"/>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4.3% · 4 of 92</a:t>
            </a:r>
          </a:p>
        </p:txBody>
      </p:sp>
      <p:sp>
        <p:nvSpPr>
          <p:cNvPr id="59" name="Rectangle 58"/>
          <p:cNvSpPr/>
          <p:nvPr/>
        </p:nvSpPr>
        <p:spPr>
          <a:xfrm>
            <a:off x="7059168" y="3613708"/>
            <a:ext cx="305131"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957816" y="3586276"/>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10.9% · 10 of 92</a:t>
            </a:r>
          </a:p>
        </p:txBody>
      </p:sp>
      <p:sp>
        <p:nvSpPr>
          <p:cNvPr id="61" name="TextBox 60"/>
          <p:cNvSpPr txBox="1"/>
          <p:nvPr/>
        </p:nvSpPr>
        <p:spPr>
          <a:xfrm>
            <a:off x="6391656" y="4078224"/>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9B</a:t>
            </a:r>
          </a:p>
        </p:txBody>
      </p:sp>
      <p:sp>
        <p:nvSpPr>
          <p:cNvPr id="62" name="Rectangle 61"/>
          <p:cNvSpPr/>
          <p:nvPr/>
        </p:nvSpPr>
        <p:spPr>
          <a:xfrm>
            <a:off x="7059168" y="3986784"/>
            <a:ext cx="91539"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957816" y="3959352"/>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3.3% · 3 of 92</a:t>
            </a:r>
          </a:p>
        </p:txBody>
      </p:sp>
      <p:sp>
        <p:nvSpPr>
          <p:cNvPr id="64" name="Rectangle 63"/>
          <p:cNvSpPr/>
          <p:nvPr/>
        </p:nvSpPr>
        <p:spPr>
          <a:xfrm>
            <a:off x="7059168" y="4235500"/>
            <a:ext cx="457696"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957816" y="4208068"/>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16.3% · 15 of 92</a:t>
            </a:r>
          </a:p>
        </p:txBody>
      </p:sp>
      <p:sp>
        <p:nvSpPr>
          <p:cNvPr id="66" name="TextBox 65"/>
          <p:cNvSpPr txBox="1"/>
          <p:nvPr/>
        </p:nvSpPr>
        <p:spPr>
          <a:xfrm>
            <a:off x="6391656" y="4700016"/>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27B</a:t>
            </a:r>
          </a:p>
        </p:txBody>
      </p:sp>
      <p:sp>
        <p:nvSpPr>
          <p:cNvPr id="67" name="Rectangle 66"/>
          <p:cNvSpPr/>
          <p:nvPr/>
        </p:nvSpPr>
        <p:spPr>
          <a:xfrm>
            <a:off x="7059168" y="4608576"/>
            <a:ext cx="915393"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957816" y="4581144"/>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32.6% · 30 of 92</a:t>
            </a:r>
          </a:p>
        </p:txBody>
      </p:sp>
      <p:sp>
        <p:nvSpPr>
          <p:cNvPr id="69" name="Rectangle 68"/>
          <p:cNvSpPr/>
          <p:nvPr/>
        </p:nvSpPr>
        <p:spPr>
          <a:xfrm>
            <a:off x="7059168" y="4857292"/>
            <a:ext cx="1830787"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957816" y="4829860"/>
            <a:ext cx="137160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65.2% · 60 of 92</a:t>
            </a:r>
          </a:p>
        </p:txBody>
      </p:sp>
      <p:sp>
        <p:nvSpPr>
          <p:cNvPr id="71" name="TextBox 70"/>
          <p:cNvSpPr txBox="1"/>
          <p:nvPr/>
        </p:nvSpPr>
        <p:spPr>
          <a:xfrm>
            <a:off x="6391656" y="5330952"/>
            <a:ext cx="4800600" cy="210312"/>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Dashed line: always level 5 = 68.5% (63 of 92)</a:t>
            </a:r>
          </a:p>
        </p:txBody>
      </p:sp>
      <p:sp>
        <p:nvSpPr>
          <p:cNvPr id="72" name="Rounded Rectangle 71"/>
          <p:cNvSpPr/>
          <p:nvPr/>
        </p:nvSpPr>
        <p:spPr>
          <a:xfrm>
            <a:off x="813816" y="5715000"/>
            <a:ext cx="10561320" cy="603504"/>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87552" y="5769864"/>
            <a:ext cx="10213848" cy="493776"/>
          </a:xfrm>
          <a:prstGeom prst="rect">
            <a:avLst/>
          </a:prstGeom>
          <a:noFill/>
        </p:spPr>
        <p:txBody>
          <a:bodyPr wrap="square" lIns="0" rIns="0" tIns="0" bIns="0" anchor="ctr">
            <a:noAutofit/>
          </a:bodyPr>
          <a:lstStyle/>
          <a:p>
            <a:pPr algn="l">
              <a:lnSpc>
                <a:spcPct val="109000"/>
              </a:lnSpc>
              <a:spcBef>
                <a:spcPts val="0"/>
              </a:spcBef>
              <a:spcAft>
                <a:spcPts val="0"/>
              </a:spcAft>
            </a:pPr>
            <a:r>
              <a:rPr sz="1500" b="1">
                <a:solidFill>
                  <a:srgbClr val="00407A"/>
                </a:solidFill>
                <a:latin typeface="Arial"/>
              </a:rPr>
              <a:t>With examples KEV-27B reaches 36 of 92 (frequency) and 60 of 92 (slack); the constant answers score 45 and 63. KEV-0.8B’s 63 of 92 is level 5 for every design.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KEV-27B’s chosen levels do not match the tool’s levels</a:t>
            </a:r>
          </a:p>
        </p:txBody>
      </p:sp>
      <p:sp>
        <p:nvSpPr>
          <p:cNvPr id="3" name="TextBox 2"/>
          <p:cNvSpPr txBox="1"/>
          <p:nvPr/>
        </p:nvSpPr>
        <p:spPr>
          <a:xfrm>
            <a:off x="813816" y="1261872"/>
            <a:ext cx="1056132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Designs at each level: the tool, then KEV-27B without and with examples. Equal counts are not correct answers.</a:t>
            </a:r>
          </a:p>
        </p:txBody>
      </p:sp>
      <p:sp>
        <p:nvSpPr>
          <p:cNvPr id="4" name="TextBox 3"/>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2  •  RESULTS</a:t>
            </a:r>
          </a:p>
        </p:txBody>
      </p:sp>
      <p:sp>
        <p:nvSpPr>
          <p:cNvPr id="5" name="TextBox 4"/>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17</a:t>
            </a:r>
          </a:p>
        </p:txBody>
      </p:sp>
      <p:sp>
        <p:nvSpPr>
          <p:cNvPr id="6" name="Rounded Rectangle 5"/>
          <p:cNvSpPr/>
          <p:nvPr/>
        </p:nvSpPr>
        <p:spPr>
          <a:xfrm>
            <a:off x="813816" y="1828800"/>
            <a:ext cx="5166360" cy="3749039"/>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4984" y="1975104"/>
            <a:ext cx="4764024" cy="365760"/>
          </a:xfrm>
          <a:prstGeom prst="rect">
            <a:avLst/>
          </a:prstGeom>
          <a:noFill/>
        </p:spPr>
        <p:txBody>
          <a:bodyPr wrap="square" lIns="0" rIns="0" tIns="0" bIns="0" anchor="t">
            <a:noAutofit/>
          </a:bodyPr>
          <a:lstStyle/>
          <a:p>
            <a:pPr algn="l">
              <a:lnSpc>
                <a:spcPct val="109000"/>
              </a:lnSpc>
              <a:spcBef>
                <a:spcPts val="0"/>
              </a:spcBef>
              <a:spcAft>
                <a:spcPts val="0"/>
              </a:spcAft>
            </a:pPr>
            <a:r>
              <a:rPr sz="1800" b="1">
                <a:solidFill>
                  <a:srgbClr val="00407A"/>
                </a:solidFill>
                <a:latin typeface="Arial"/>
              </a:rPr>
              <a:t>Reachable clock frequency level</a:t>
            </a:r>
          </a:p>
        </p:txBody>
      </p:sp>
      <p:sp>
        <p:nvSpPr>
          <p:cNvPr id="8" name="TextBox 7"/>
          <p:cNvSpPr txBox="1"/>
          <p:nvPr/>
        </p:nvSpPr>
        <p:spPr>
          <a:xfrm>
            <a:off x="1014984" y="2359152"/>
            <a:ext cx="4764024" cy="274320"/>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4A5A66"/>
                </a:solidFill>
                <a:latin typeface="Arial"/>
              </a:rPr>
              <a:t>92 designs · counts at each level</a:t>
            </a:r>
          </a:p>
        </p:txBody>
      </p:sp>
      <p:cxnSp>
        <p:nvCxnSpPr>
          <p:cNvPr id="9" name="Connector 8"/>
          <p:cNvCxnSpPr/>
          <p:nvPr/>
        </p:nvCxnSpPr>
        <p:spPr>
          <a:xfrm>
            <a:off x="1389888" y="4663440"/>
            <a:ext cx="4270248" cy="0"/>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77824" y="4562855"/>
            <a:ext cx="411480" cy="210312"/>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0</a:t>
            </a:r>
          </a:p>
        </p:txBody>
      </p:sp>
      <p:cxnSp>
        <p:nvCxnSpPr>
          <p:cNvPr id="11" name="Connector 10"/>
          <p:cNvCxnSpPr/>
          <p:nvPr/>
        </p:nvCxnSpPr>
        <p:spPr>
          <a:xfrm>
            <a:off x="1389888" y="4229100"/>
            <a:ext cx="4270248" cy="0"/>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77824" y="4128515"/>
            <a:ext cx="411480" cy="210312"/>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25</a:t>
            </a:r>
          </a:p>
        </p:txBody>
      </p:sp>
      <p:cxnSp>
        <p:nvCxnSpPr>
          <p:cNvPr id="13" name="Connector 12"/>
          <p:cNvCxnSpPr/>
          <p:nvPr/>
        </p:nvCxnSpPr>
        <p:spPr>
          <a:xfrm>
            <a:off x="1389888" y="3794760"/>
            <a:ext cx="4270248" cy="0"/>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77824" y="3694176"/>
            <a:ext cx="411480" cy="210312"/>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50</a:t>
            </a:r>
          </a:p>
        </p:txBody>
      </p:sp>
      <p:cxnSp>
        <p:nvCxnSpPr>
          <p:cNvPr id="15" name="Connector 14"/>
          <p:cNvCxnSpPr/>
          <p:nvPr/>
        </p:nvCxnSpPr>
        <p:spPr>
          <a:xfrm>
            <a:off x="1389888" y="3360420"/>
            <a:ext cx="4270248" cy="0"/>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77824" y="3259836"/>
            <a:ext cx="411480" cy="210312"/>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75</a:t>
            </a:r>
          </a:p>
        </p:txBody>
      </p:sp>
      <p:cxnSp>
        <p:nvCxnSpPr>
          <p:cNvPr id="17" name="Connector 16"/>
          <p:cNvCxnSpPr/>
          <p:nvPr/>
        </p:nvCxnSpPr>
        <p:spPr>
          <a:xfrm>
            <a:off x="1389888" y="2926080"/>
            <a:ext cx="4270248" cy="0"/>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77824" y="2825496"/>
            <a:ext cx="411480" cy="210312"/>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100</a:t>
            </a:r>
          </a:p>
        </p:txBody>
      </p:sp>
      <p:sp>
        <p:nvSpPr>
          <p:cNvPr id="19" name="Rectangle 18"/>
          <p:cNvSpPr/>
          <p:nvPr/>
        </p:nvSpPr>
        <p:spPr>
          <a:xfrm>
            <a:off x="1481328" y="4437583"/>
            <a:ext cx="192024" cy="225856"/>
          </a:xfrm>
          <a:prstGeom prst="rect">
            <a:avLst/>
          </a:prstGeom>
          <a:solidFill>
            <a:srgbClr val="B5B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17320" y="4218127"/>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13</a:t>
            </a:r>
          </a:p>
        </p:txBody>
      </p:sp>
      <p:sp>
        <p:nvSpPr>
          <p:cNvPr id="21" name="Rectangle 20"/>
          <p:cNvSpPr/>
          <p:nvPr/>
        </p:nvSpPr>
        <p:spPr>
          <a:xfrm>
            <a:off x="1719072" y="3099816"/>
            <a:ext cx="192024" cy="1563624"/>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655064" y="2880360"/>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90</a:t>
            </a:r>
          </a:p>
        </p:txBody>
      </p:sp>
      <p:sp>
        <p:nvSpPr>
          <p:cNvPr id="23" name="Rectangle 22"/>
          <p:cNvSpPr/>
          <p:nvPr/>
        </p:nvSpPr>
        <p:spPr>
          <a:xfrm>
            <a:off x="1956816" y="4159605"/>
            <a:ext cx="192024" cy="503834"/>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892808" y="3940149"/>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29</a:t>
            </a:r>
          </a:p>
        </p:txBody>
      </p:sp>
      <p:sp>
        <p:nvSpPr>
          <p:cNvPr id="25" name="TextBox 24"/>
          <p:cNvSpPr txBox="1"/>
          <p:nvPr/>
        </p:nvSpPr>
        <p:spPr>
          <a:xfrm>
            <a:off x="1645920" y="4736592"/>
            <a:ext cx="365760" cy="228600"/>
          </a:xfrm>
          <a:prstGeom prst="rect">
            <a:avLst/>
          </a:prstGeom>
          <a:noFill/>
        </p:spPr>
        <p:txBody>
          <a:bodyPr wrap="square" lIns="0" rIns="0" tIns="0" bIns="0" anchor="t">
            <a:noAutofit/>
          </a:bodyPr>
          <a:lstStyle/>
          <a:p>
            <a:pPr algn="ctr">
              <a:lnSpc>
                <a:spcPct val="109000"/>
              </a:lnSpc>
              <a:spcBef>
                <a:spcPts val="0"/>
              </a:spcBef>
              <a:spcAft>
                <a:spcPts val="0"/>
              </a:spcAft>
            </a:pPr>
            <a:r>
              <a:rPr sz="1300" b="0">
                <a:solidFill>
                  <a:srgbClr val="00407A"/>
                </a:solidFill>
                <a:latin typeface="Arial"/>
              </a:rPr>
              <a:t>1</a:t>
            </a:r>
          </a:p>
        </p:txBody>
      </p:sp>
      <p:sp>
        <p:nvSpPr>
          <p:cNvPr id="26" name="Rectangle 25"/>
          <p:cNvSpPr/>
          <p:nvPr/>
        </p:nvSpPr>
        <p:spPr>
          <a:xfrm>
            <a:off x="2335377" y="4385462"/>
            <a:ext cx="192024" cy="277977"/>
          </a:xfrm>
          <a:prstGeom prst="rect">
            <a:avLst/>
          </a:prstGeom>
          <a:solidFill>
            <a:srgbClr val="B5B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71369" y="4166006"/>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16</a:t>
            </a:r>
          </a:p>
        </p:txBody>
      </p:sp>
      <p:sp>
        <p:nvSpPr>
          <p:cNvPr id="28" name="TextBox 27"/>
          <p:cNvSpPr txBox="1"/>
          <p:nvPr/>
        </p:nvSpPr>
        <p:spPr>
          <a:xfrm>
            <a:off x="2509113" y="4443983"/>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0</a:t>
            </a:r>
          </a:p>
        </p:txBody>
      </p:sp>
      <p:sp>
        <p:nvSpPr>
          <p:cNvPr id="29" name="Rectangle 28"/>
          <p:cNvSpPr/>
          <p:nvPr/>
        </p:nvSpPr>
        <p:spPr>
          <a:xfrm>
            <a:off x="2810865" y="4646066"/>
            <a:ext cx="192024" cy="17373"/>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746857" y="4426610"/>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1</a:t>
            </a:r>
          </a:p>
        </p:txBody>
      </p:sp>
      <p:sp>
        <p:nvSpPr>
          <p:cNvPr id="31" name="TextBox 30"/>
          <p:cNvSpPr txBox="1"/>
          <p:nvPr/>
        </p:nvSpPr>
        <p:spPr>
          <a:xfrm>
            <a:off x="2499969" y="4736592"/>
            <a:ext cx="365760" cy="228600"/>
          </a:xfrm>
          <a:prstGeom prst="rect">
            <a:avLst/>
          </a:prstGeom>
          <a:noFill/>
        </p:spPr>
        <p:txBody>
          <a:bodyPr wrap="square" lIns="0" rIns="0" tIns="0" bIns="0" anchor="t">
            <a:noAutofit/>
          </a:bodyPr>
          <a:lstStyle/>
          <a:p>
            <a:pPr algn="ctr">
              <a:lnSpc>
                <a:spcPct val="109000"/>
              </a:lnSpc>
              <a:spcBef>
                <a:spcPts val="0"/>
              </a:spcBef>
              <a:spcAft>
                <a:spcPts val="0"/>
              </a:spcAft>
            </a:pPr>
            <a:r>
              <a:rPr sz="1300" b="0">
                <a:solidFill>
                  <a:srgbClr val="00407A"/>
                </a:solidFill>
                <a:latin typeface="Arial"/>
              </a:rPr>
              <a:t>2</a:t>
            </a:r>
          </a:p>
        </p:txBody>
      </p:sp>
      <p:sp>
        <p:nvSpPr>
          <p:cNvPr id="32" name="Rectangle 31"/>
          <p:cNvSpPr/>
          <p:nvPr/>
        </p:nvSpPr>
        <p:spPr>
          <a:xfrm>
            <a:off x="3189427" y="4350715"/>
            <a:ext cx="192024" cy="312724"/>
          </a:xfrm>
          <a:prstGeom prst="rect">
            <a:avLst/>
          </a:prstGeom>
          <a:solidFill>
            <a:srgbClr val="B5B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125419" y="4131259"/>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18</a:t>
            </a:r>
          </a:p>
        </p:txBody>
      </p:sp>
      <p:sp>
        <p:nvSpPr>
          <p:cNvPr id="34" name="TextBox 33"/>
          <p:cNvSpPr txBox="1"/>
          <p:nvPr/>
        </p:nvSpPr>
        <p:spPr>
          <a:xfrm>
            <a:off x="3363163" y="4443983"/>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0</a:t>
            </a:r>
          </a:p>
        </p:txBody>
      </p:sp>
      <p:sp>
        <p:nvSpPr>
          <p:cNvPr id="35" name="Rectangle 34"/>
          <p:cNvSpPr/>
          <p:nvPr/>
        </p:nvSpPr>
        <p:spPr>
          <a:xfrm>
            <a:off x="3664915" y="4142232"/>
            <a:ext cx="192024" cy="521207"/>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00907" y="3922776"/>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30</a:t>
            </a:r>
          </a:p>
        </p:txBody>
      </p:sp>
      <p:sp>
        <p:nvSpPr>
          <p:cNvPr id="37" name="TextBox 36"/>
          <p:cNvSpPr txBox="1"/>
          <p:nvPr/>
        </p:nvSpPr>
        <p:spPr>
          <a:xfrm>
            <a:off x="3354019" y="4736592"/>
            <a:ext cx="365760" cy="228600"/>
          </a:xfrm>
          <a:prstGeom prst="rect">
            <a:avLst/>
          </a:prstGeom>
          <a:noFill/>
        </p:spPr>
        <p:txBody>
          <a:bodyPr wrap="square" lIns="0" rIns="0" tIns="0" bIns="0" anchor="t">
            <a:noAutofit/>
          </a:bodyPr>
          <a:lstStyle/>
          <a:p>
            <a:pPr algn="ctr">
              <a:lnSpc>
                <a:spcPct val="109000"/>
              </a:lnSpc>
              <a:spcBef>
                <a:spcPts val="0"/>
              </a:spcBef>
              <a:spcAft>
                <a:spcPts val="0"/>
              </a:spcAft>
            </a:pPr>
            <a:r>
              <a:rPr sz="1300" b="0">
                <a:solidFill>
                  <a:srgbClr val="00407A"/>
                </a:solidFill>
                <a:latin typeface="Arial"/>
              </a:rPr>
              <a:t>3</a:t>
            </a:r>
          </a:p>
        </p:txBody>
      </p:sp>
      <p:sp>
        <p:nvSpPr>
          <p:cNvPr id="38" name="Rectangle 37"/>
          <p:cNvSpPr/>
          <p:nvPr/>
        </p:nvSpPr>
        <p:spPr>
          <a:xfrm>
            <a:off x="4043476" y="3881628"/>
            <a:ext cx="192024" cy="781812"/>
          </a:xfrm>
          <a:prstGeom prst="rect">
            <a:avLst/>
          </a:prstGeom>
          <a:solidFill>
            <a:srgbClr val="B5B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979468" y="3662172"/>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45</a:t>
            </a:r>
          </a:p>
        </p:txBody>
      </p:sp>
      <p:sp>
        <p:nvSpPr>
          <p:cNvPr id="40" name="TextBox 39"/>
          <p:cNvSpPr txBox="1"/>
          <p:nvPr/>
        </p:nvSpPr>
        <p:spPr>
          <a:xfrm>
            <a:off x="4217212" y="4443983"/>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0</a:t>
            </a:r>
          </a:p>
        </p:txBody>
      </p:sp>
      <p:sp>
        <p:nvSpPr>
          <p:cNvPr id="41" name="Rectangle 40"/>
          <p:cNvSpPr/>
          <p:nvPr/>
        </p:nvSpPr>
        <p:spPr>
          <a:xfrm>
            <a:off x="4518964" y="4107484"/>
            <a:ext cx="192024" cy="555955"/>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54956" y="3888028"/>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32</a:t>
            </a:r>
          </a:p>
        </p:txBody>
      </p:sp>
      <p:sp>
        <p:nvSpPr>
          <p:cNvPr id="43" name="TextBox 42"/>
          <p:cNvSpPr txBox="1"/>
          <p:nvPr/>
        </p:nvSpPr>
        <p:spPr>
          <a:xfrm>
            <a:off x="4208068" y="4736592"/>
            <a:ext cx="365760" cy="228600"/>
          </a:xfrm>
          <a:prstGeom prst="rect">
            <a:avLst/>
          </a:prstGeom>
          <a:noFill/>
        </p:spPr>
        <p:txBody>
          <a:bodyPr wrap="square" lIns="0" rIns="0" tIns="0" bIns="0" anchor="t">
            <a:noAutofit/>
          </a:bodyPr>
          <a:lstStyle/>
          <a:p>
            <a:pPr algn="ctr">
              <a:lnSpc>
                <a:spcPct val="109000"/>
              </a:lnSpc>
              <a:spcBef>
                <a:spcPts val="0"/>
              </a:spcBef>
              <a:spcAft>
                <a:spcPts val="0"/>
              </a:spcAft>
            </a:pPr>
            <a:r>
              <a:rPr sz="1300" b="0">
                <a:solidFill>
                  <a:srgbClr val="00407A"/>
                </a:solidFill>
                <a:latin typeface="Arial"/>
              </a:rPr>
              <a:t>4</a:t>
            </a:r>
          </a:p>
        </p:txBody>
      </p:sp>
      <p:sp>
        <p:nvSpPr>
          <p:cNvPr id="44" name="TextBox 43"/>
          <p:cNvSpPr txBox="1"/>
          <p:nvPr/>
        </p:nvSpPr>
        <p:spPr>
          <a:xfrm>
            <a:off x="4833518" y="4443983"/>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0</a:t>
            </a:r>
          </a:p>
        </p:txBody>
      </p:sp>
      <p:sp>
        <p:nvSpPr>
          <p:cNvPr id="45" name="Rectangle 44"/>
          <p:cNvSpPr/>
          <p:nvPr/>
        </p:nvSpPr>
        <p:spPr>
          <a:xfrm>
            <a:off x="5135270" y="4628692"/>
            <a:ext cx="192024" cy="34747"/>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071262" y="4409236"/>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2</a:t>
            </a:r>
          </a:p>
        </p:txBody>
      </p:sp>
      <p:sp>
        <p:nvSpPr>
          <p:cNvPr id="47" name="TextBox 46"/>
          <p:cNvSpPr txBox="1"/>
          <p:nvPr/>
        </p:nvSpPr>
        <p:spPr>
          <a:xfrm>
            <a:off x="5309006" y="4443983"/>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0</a:t>
            </a:r>
          </a:p>
        </p:txBody>
      </p:sp>
      <p:sp>
        <p:nvSpPr>
          <p:cNvPr id="48" name="TextBox 47"/>
          <p:cNvSpPr txBox="1"/>
          <p:nvPr/>
        </p:nvSpPr>
        <p:spPr>
          <a:xfrm>
            <a:off x="5062118" y="4736592"/>
            <a:ext cx="365760" cy="228600"/>
          </a:xfrm>
          <a:prstGeom prst="rect">
            <a:avLst/>
          </a:prstGeom>
          <a:noFill/>
        </p:spPr>
        <p:txBody>
          <a:bodyPr wrap="square" lIns="0" rIns="0" tIns="0" bIns="0" anchor="t">
            <a:noAutofit/>
          </a:bodyPr>
          <a:lstStyle/>
          <a:p>
            <a:pPr algn="ctr">
              <a:lnSpc>
                <a:spcPct val="109000"/>
              </a:lnSpc>
              <a:spcBef>
                <a:spcPts val="0"/>
              </a:spcBef>
              <a:spcAft>
                <a:spcPts val="0"/>
              </a:spcAft>
            </a:pPr>
            <a:r>
              <a:rPr sz="1300" b="0">
                <a:solidFill>
                  <a:srgbClr val="00407A"/>
                </a:solidFill>
                <a:latin typeface="Arial"/>
              </a:rPr>
              <a:t>5</a:t>
            </a:r>
          </a:p>
        </p:txBody>
      </p:sp>
      <p:sp>
        <p:nvSpPr>
          <p:cNvPr id="49" name="TextBox 48"/>
          <p:cNvSpPr txBox="1"/>
          <p:nvPr/>
        </p:nvSpPr>
        <p:spPr>
          <a:xfrm>
            <a:off x="1014984" y="5120640"/>
            <a:ext cx="548640" cy="256032"/>
          </a:xfrm>
          <a:prstGeom prst="rect">
            <a:avLst/>
          </a:prstGeom>
          <a:noFill/>
        </p:spPr>
        <p:txBody>
          <a:bodyPr wrap="square" lIns="0" rIns="0" tIns="0" bIns="0" anchor="t">
            <a:noAutofit/>
          </a:bodyPr>
          <a:lstStyle/>
          <a:p>
            <a:pPr algn="l">
              <a:lnSpc>
                <a:spcPct val="109000"/>
              </a:lnSpc>
              <a:spcBef>
                <a:spcPts val="0"/>
              </a:spcBef>
              <a:spcAft>
                <a:spcPts val="0"/>
              </a:spcAft>
            </a:pPr>
            <a:r>
              <a:rPr sz="1200" b="0">
                <a:solidFill>
                  <a:srgbClr val="4A5A66"/>
                </a:solidFill>
                <a:latin typeface="Arial"/>
              </a:rPr>
              <a:t>Level</a:t>
            </a:r>
          </a:p>
        </p:txBody>
      </p:sp>
      <p:sp>
        <p:nvSpPr>
          <p:cNvPr id="50" name="Rectangle 49"/>
          <p:cNvSpPr/>
          <p:nvPr/>
        </p:nvSpPr>
        <p:spPr>
          <a:xfrm>
            <a:off x="1728216" y="5166359"/>
            <a:ext cx="164592" cy="164592"/>
          </a:xfrm>
          <a:prstGeom prst="rect">
            <a:avLst/>
          </a:prstGeom>
          <a:solidFill>
            <a:srgbClr val="B5B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956816" y="5120640"/>
            <a:ext cx="502920" cy="256032"/>
          </a:xfrm>
          <a:prstGeom prst="rect">
            <a:avLst/>
          </a:prstGeom>
          <a:noFill/>
        </p:spPr>
        <p:txBody>
          <a:bodyPr wrap="square" lIns="0" rIns="0" tIns="0" bIns="0" anchor="t">
            <a:noAutofit/>
          </a:bodyPr>
          <a:lstStyle/>
          <a:p>
            <a:pPr algn="l">
              <a:lnSpc>
                <a:spcPct val="109000"/>
              </a:lnSpc>
              <a:spcBef>
                <a:spcPts val="0"/>
              </a:spcBef>
              <a:spcAft>
                <a:spcPts val="0"/>
              </a:spcAft>
            </a:pPr>
            <a:r>
              <a:rPr sz="1200" b="0">
                <a:solidFill>
                  <a:srgbClr val="00407A"/>
                </a:solidFill>
                <a:latin typeface="Arial"/>
              </a:rPr>
              <a:t>tool</a:t>
            </a:r>
          </a:p>
        </p:txBody>
      </p:sp>
      <p:sp>
        <p:nvSpPr>
          <p:cNvPr id="52" name="Rectangle 51"/>
          <p:cNvSpPr/>
          <p:nvPr/>
        </p:nvSpPr>
        <p:spPr>
          <a:xfrm>
            <a:off x="2551176" y="5166359"/>
            <a:ext cx="164592" cy="16459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779776" y="5120640"/>
            <a:ext cx="1005840" cy="256032"/>
          </a:xfrm>
          <a:prstGeom prst="rect">
            <a:avLst/>
          </a:prstGeom>
          <a:noFill/>
        </p:spPr>
        <p:txBody>
          <a:bodyPr wrap="square" lIns="0" rIns="0" tIns="0" bIns="0" anchor="t">
            <a:noAutofit/>
          </a:bodyPr>
          <a:lstStyle/>
          <a:p>
            <a:pPr algn="l">
              <a:lnSpc>
                <a:spcPct val="109000"/>
              </a:lnSpc>
              <a:spcBef>
                <a:spcPts val="0"/>
              </a:spcBef>
              <a:spcAft>
                <a:spcPts val="0"/>
              </a:spcAft>
            </a:pPr>
            <a:r>
              <a:rPr sz="1200" b="0">
                <a:solidFill>
                  <a:srgbClr val="00407A"/>
                </a:solidFill>
                <a:latin typeface="Arial"/>
              </a:rPr>
              <a:t>no examples</a:t>
            </a:r>
          </a:p>
        </p:txBody>
      </p:sp>
      <p:sp>
        <p:nvSpPr>
          <p:cNvPr id="54" name="Rectangle 53"/>
          <p:cNvSpPr/>
          <p:nvPr/>
        </p:nvSpPr>
        <p:spPr>
          <a:xfrm>
            <a:off x="3877056" y="5166359"/>
            <a:ext cx="164592" cy="16459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105656" y="5120640"/>
            <a:ext cx="1188720" cy="256032"/>
          </a:xfrm>
          <a:prstGeom prst="rect">
            <a:avLst/>
          </a:prstGeom>
          <a:noFill/>
        </p:spPr>
        <p:txBody>
          <a:bodyPr wrap="square" lIns="0" rIns="0" tIns="0" bIns="0" anchor="t">
            <a:noAutofit/>
          </a:bodyPr>
          <a:lstStyle/>
          <a:p>
            <a:pPr algn="l">
              <a:lnSpc>
                <a:spcPct val="109000"/>
              </a:lnSpc>
              <a:spcBef>
                <a:spcPts val="0"/>
              </a:spcBef>
              <a:spcAft>
                <a:spcPts val="0"/>
              </a:spcAft>
            </a:pPr>
            <a:r>
              <a:rPr sz="1200" b="0">
                <a:solidFill>
                  <a:srgbClr val="00407A"/>
                </a:solidFill>
                <a:latin typeface="Arial"/>
              </a:rPr>
              <a:t>three examples</a:t>
            </a:r>
          </a:p>
        </p:txBody>
      </p:sp>
      <p:sp>
        <p:nvSpPr>
          <p:cNvPr id="56" name="Rounded Rectangle 55"/>
          <p:cNvSpPr/>
          <p:nvPr/>
        </p:nvSpPr>
        <p:spPr>
          <a:xfrm>
            <a:off x="6208776" y="1828800"/>
            <a:ext cx="5166360" cy="3749039"/>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09944" y="1975104"/>
            <a:ext cx="4764024" cy="365760"/>
          </a:xfrm>
          <a:prstGeom prst="rect">
            <a:avLst/>
          </a:prstGeom>
          <a:noFill/>
        </p:spPr>
        <p:txBody>
          <a:bodyPr wrap="square" lIns="0" rIns="0" tIns="0" bIns="0" anchor="t">
            <a:noAutofit/>
          </a:bodyPr>
          <a:lstStyle/>
          <a:p>
            <a:pPr algn="l">
              <a:lnSpc>
                <a:spcPct val="109000"/>
              </a:lnSpc>
              <a:spcBef>
                <a:spcPts val="0"/>
              </a:spcBef>
              <a:spcAft>
                <a:spcPts val="0"/>
              </a:spcAft>
            </a:pPr>
            <a:r>
              <a:rPr sz="1800" b="1">
                <a:solidFill>
                  <a:srgbClr val="00407A"/>
                </a:solidFill>
                <a:latin typeface="Arial"/>
              </a:rPr>
              <a:t>Power level</a:t>
            </a:r>
          </a:p>
        </p:txBody>
      </p:sp>
      <p:sp>
        <p:nvSpPr>
          <p:cNvPr id="58" name="TextBox 57"/>
          <p:cNvSpPr txBox="1"/>
          <p:nvPr/>
        </p:nvSpPr>
        <p:spPr>
          <a:xfrm>
            <a:off x="6409944" y="2359152"/>
            <a:ext cx="4764024" cy="274320"/>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4A5A66"/>
                </a:solidFill>
                <a:latin typeface="Arial"/>
              </a:rPr>
              <a:t>85 designs · counts at each level</a:t>
            </a:r>
          </a:p>
        </p:txBody>
      </p:sp>
      <p:cxnSp>
        <p:nvCxnSpPr>
          <p:cNvPr id="59" name="Connector 58"/>
          <p:cNvCxnSpPr/>
          <p:nvPr/>
        </p:nvCxnSpPr>
        <p:spPr>
          <a:xfrm>
            <a:off x="6784848" y="4663440"/>
            <a:ext cx="4270248" cy="0"/>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6272784" y="4562855"/>
            <a:ext cx="411480" cy="210312"/>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0</a:t>
            </a:r>
          </a:p>
        </p:txBody>
      </p:sp>
      <p:cxnSp>
        <p:nvCxnSpPr>
          <p:cNvPr id="61" name="Connector 60"/>
          <p:cNvCxnSpPr/>
          <p:nvPr/>
        </p:nvCxnSpPr>
        <p:spPr>
          <a:xfrm>
            <a:off x="6784848" y="4229100"/>
            <a:ext cx="4270248" cy="0"/>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6272784" y="4128515"/>
            <a:ext cx="411480" cy="210312"/>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25</a:t>
            </a:r>
          </a:p>
        </p:txBody>
      </p:sp>
      <p:cxnSp>
        <p:nvCxnSpPr>
          <p:cNvPr id="63" name="Connector 62"/>
          <p:cNvCxnSpPr/>
          <p:nvPr/>
        </p:nvCxnSpPr>
        <p:spPr>
          <a:xfrm>
            <a:off x="6784848" y="3794760"/>
            <a:ext cx="4270248" cy="0"/>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6272784" y="3694176"/>
            <a:ext cx="411480" cy="210312"/>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50</a:t>
            </a:r>
          </a:p>
        </p:txBody>
      </p:sp>
      <p:cxnSp>
        <p:nvCxnSpPr>
          <p:cNvPr id="65" name="Connector 64"/>
          <p:cNvCxnSpPr/>
          <p:nvPr/>
        </p:nvCxnSpPr>
        <p:spPr>
          <a:xfrm>
            <a:off x="6784848" y="3360420"/>
            <a:ext cx="4270248" cy="0"/>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6272784" y="3259836"/>
            <a:ext cx="411480" cy="210312"/>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75</a:t>
            </a:r>
          </a:p>
        </p:txBody>
      </p:sp>
      <p:cxnSp>
        <p:nvCxnSpPr>
          <p:cNvPr id="67" name="Connector 66"/>
          <p:cNvCxnSpPr/>
          <p:nvPr/>
        </p:nvCxnSpPr>
        <p:spPr>
          <a:xfrm>
            <a:off x="6784848" y="2926080"/>
            <a:ext cx="4270248" cy="0"/>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6272784" y="2825496"/>
            <a:ext cx="411480" cy="210312"/>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100</a:t>
            </a:r>
          </a:p>
        </p:txBody>
      </p:sp>
      <p:sp>
        <p:nvSpPr>
          <p:cNvPr id="69" name="Rectangle 68"/>
          <p:cNvSpPr/>
          <p:nvPr/>
        </p:nvSpPr>
        <p:spPr>
          <a:xfrm>
            <a:off x="6876288" y="4263847"/>
            <a:ext cx="192024" cy="399592"/>
          </a:xfrm>
          <a:prstGeom prst="rect">
            <a:avLst/>
          </a:prstGeom>
          <a:solidFill>
            <a:srgbClr val="B5B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812279" y="4044391"/>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23</a:t>
            </a:r>
          </a:p>
        </p:txBody>
      </p:sp>
      <p:sp>
        <p:nvSpPr>
          <p:cNvPr id="71" name="TextBox 70"/>
          <p:cNvSpPr txBox="1"/>
          <p:nvPr/>
        </p:nvSpPr>
        <p:spPr>
          <a:xfrm>
            <a:off x="7050023" y="4443983"/>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0</a:t>
            </a:r>
          </a:p>
        </p:txBody>
      </p:sp>
      <p:sp>
        <p:nvSpPr>
          <p:cNvPr id="72" name="TextBox 71"/>
          <p:cNvSpPr txBox="1"/>
          <p:nvPr/>
        </p:nvSpPr>
        <p:spPr>
          <a:xfrm>
            <a:off x="7287767" y="4443983"/>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0</a:t>
            </a:r>
          </a:p>
        </p:txBody>
      </p:sp>
      <p:sp>
        <p:nvSpPr>
          <p:cNvPr id="73" name="TextBox 72"/>
          <p:cNvSpPr txBox="1"/>
          <p:nvPr/>
        </p:nvSpPr>
        <p:spPr>
          <a:xfrm>
            <a:off x="7040879" y="4736592"/>
            <a:ext cx="365760" cy="228600"/>
          </a:xfrm>
          <a:prstGeom prst="rect">
            <a:avLst/>
          </a:prstGeom>
          <a:noFill/>
        </p:spPr>
        <p:txBody>
          <a:bodyPr wrap="square" lIns="0" rIns="0" tIns="0" bIns="0" anchor="t">
            <a:noAutofit/>
          </a:bodyPr>
          <a:lstStyle/>
          <a:p>
            <a:pPr algn="ctr">
              <a:lnSpc>
                <a:spcPct val="109000"/>
              </a:lnSpc>
              <a:spcBef>
                <a:spcPts val="0"/>
              </a:spcBef>
              <a:spcAft>
                <a:spcPts val="0"/>
              </a:spcAft>
            </a:pPr>
            <a:r>
              <a:rPr sz="1300" b="0">
                <a:solidFill>
                  <a:srgbClr val="00407A"/>
                </a:solidFill>
                <a:latin typeface="Arial"/>
              </a:rPr>
              <a:t>1</a:t>
            </a:r>
          </a:p>
        </p:txBody>
      </p:sp>
      <p:sp>
        <p:nvSpPr>
          <p:cNvPr id="74" name="Rectangle 73"/>
          <p:cNvSpPr/>
          <p:nvPr/>
        </p:nvSpPr>
        <p:spPr>
          <a:xfrm>
            <a:off x="7730337" y="4020616"/>
            <a:ext cx="192024" cy="642823"/>
          </a:xfrm>
          <a:prstGeom prst="rect">
            <a:avLst/>
          </a:prstGeom>
          <a:solidFill>
            <a:srgbClr val="B5B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666329" y="3801160"/>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37</a:t>
            </a:r>
          </a:p>
        </p:txBody>
      </p:sp>
      <p:sp>
        <p:nvSpPr>
          <p:cNvPr id="76" name="TextBox 75"/>
          <p:cNvSpPr txBox="1"/>
          <p:nvPr/>
        </p:nvSpPr>
        <p:spPr>
          <a:xfrm>
            <a:off x="7904073" y="4443983"/>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0</a:t>
            </a:r>
          </a:p>
        </p:txBody>
      </p:sp>
      <p:sp>
        <p:nvSpPr>
          <p:cNvPr id="77" name="Rectangle 76"/>
          <p:cNvSpPr/>
          <p:nvPr/>
        </p:nvSpPr>
        <p:spPr>
          <a:xfrm>
            <a:off x="8205825" y="3951122"/>
            <a:ext cx="192024" cy="712317"/>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141817" y="3731666"/>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41</a:t>
            </a:r>
          </a:p>
        </p:txBody>
      </p:sp>
      <p:sp>
        <p:nvSpPr>
          <p:cNvPr id="79" name="TextBox 78"/>
          <p:cNvSpPr txBox="1"/>
          <p:nvPr/>
        </p:nvSpPr>
        <p:spPr>
          <a:xfrm>
            <a:off x="7894929" y="4736592"/>
            <a:ext cx="365760" cy="228600"/>
          </a:xfrm>
          <a:prstGeom prst="rect">
            <a:avLst/>
          </a:prstGeom>
          <a:noFill/>
        </p:spPr>
        <p:txBody>
          <a:bodyPr wrap="square" lIns="0" rIns="0" tIns="0" bIns="0" anchor="t">
            <a:noAutofit/>
          </a:bodyPr>
          <a:lstStyle/>
          <a:p>
            <a:pPr algn="ctr">
              <a:lnSpc>
                <a:spcPct val="109000"/>
              </a:lnSpc>
              <a:spcBef>
                <a:spcPts val="0"/>
              </a:spcBef>
              <a:spcAft>
                <a:spcPts val="0"/>
              </a:spcAft>
            </a:pPr>
            <a:r>
              <a:rPr sz="1300" b="0">
                <a:solidFill>
                  <a:srgbClr val="00407A"/>
                </a:solidFill>
                <a:latin typeface="Arial"/>
              </a:rPr>
              <a:t>2</a:t>
            </a:r>
          </a:p>
        </p:txBody>
      </p:sp>
      <p:sp>
        <p:nvSpPr>
          <p:cNvPr id="80" name="Rectangle 79"/>
          <p:cNvSpPr/>
          <p:nvPr/>
        </p:nvSpPr>
        <p:spPr>
          <a:xfrm>
            <a:off x="8584387" y="4350715"/>
            <a:ext cx="192024" cy="312724"/>
          </a:xfrm>
          <a:prstGeom prst="rect">
            <a:avLst/>
          </a:prstGeom>
          <a:solidFill>
            <a:srgbClr val="B5B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520379" y="4131259"/>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18</a:t>
            </a:r>
          </a:p>
        </p:txBody>
      </p:sp>
      <p:sp>
        <p:nvSpPr>
          <p:cNvPr id="82" name="Rectangle 81"/>
          <p:cNvSpPr/>
          <p:nvPr/>
        </p:nvSpPr>
        <p:spPr>
          <a:xfrm>
            <a:off x="8822131" y="3725265"/>
            <a:ext cx="192024" cy="938174"/>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758123" y="3505809"/>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54</a:t>
            </a:r>
          </a:p>
        </p:txBody>
      </p:sp>
      <p:sp>
        <p:nvSpPr>
          <p:cNvPr id="84" name="Rectangle 83"/>
          <p:cNvSpPr/>
          <p:nvPr/>
        </p:nvSpPr>
        <p:spPr>
          <a:xfrm>
            <a:off x="9059875" y="4229100"/>
            <a:ext cx="192024" cy="434340"/>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995867" y="4009644"/>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25</a:t>
            </a:r>
          </a:p>
        </p:txBody>
      </p:sp>
      <p:sp>
        <p:nvSpPr>
          <p:cNvPr id="86" name="TextBox 85"/>
          <p:cNvSpPr txBox="1"/>
          <p:nvPr/>
        </p:nvSpPr>
        <p:spPr>
          <a:xfrm>
            <a:off x="8748979" y="4736592"/>
            <a:ext cx="365760" cy="228600"/>
          </a:xfrm>
          <a:prstGeom prst="rect">
            <a:avLst/>
          </a:prstGeom>
          <a:noFill/>
        </p:spPr>
        <p:txBody>
          <a:bodyPr wrap="square" lIns="0" rIns="0" tIns="0" bIns="0" anchor="t">
            <a:noAutofit/>
          </a:bodyPr>
          <a:lstStyle/>
          <a:p>
            <a:pPr algn="ctr">
              <a:lnSpc>
                <a:spcPct val="109000"/>
              </a:lnSpc>
              <a:spcBef>
                <a:spcPts val="0"/>
              </a:spcBef>
              <a:spcAft>
                <a:spcPts val="0"/>
              </a:spcAft>
            </a:pPr>
            <a:r>
              <a:rPr sz="1300" b="0">
                <a:solidFill>
                  <a:srgbClr val="00407A"/>
                </a:solidFill>
                <a:latin typeface="Arial"/>
              </a:rPr>
              <a:t>3</a:t>
            </a:r>
          </a:p>
        </p:txBody>
      </p:sp>
      <p:sp>
        <p:nvSpPr>
          <p:cNvPr id="87" name="Rectangle 86"/>
          <p:cNvSpPr/>
          <p:nvPr/>
        </p:nvSpPr>
        <p:spPr>
          <a:xfrm>
            <a:off x="9438436" y="4541824"/>
            <a:ext cx="192024" cy="121615"/>
          </a:xfrm>
          <a:prstGeom prst="rect">
            <a:avLst/>
          </a:prstGeom>
          <a:solidFill>
            <a:srgbClr val="B5B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374428" y="4322368"/>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7</a:t>
            </a:r>
          </a:p>
        </p:txBody>
      </p:sp>
      <p:sp>
        <p:nvSpPr>
          <p:cNvPr id="89" name="Rectangle 88"/>
          <p:cNvSpPr/>
          <p:nvPr/>
        </p:nvSpPr>
        <p:spPr>
          <a:xfrm>
            <a:off x="9676180" y="4142232"/>
            <a:ext cx="192024" cy="521207"/>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612172" y="3922776"/>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30</a:t>
            </a:r>
          </a:p>
        </p:txBody>
      </p:sp>
      <p:sp>
        <p:nvSpPr>
          <p:cNvPr id="91" name="Rectangle 90"/>
          <p:cNvSpPr/>
          <p:nvPr/>
        </p:nvSpPr>
        <p:spPr>
          <a:xfrm>
            <a:off x="9913924" y="4437583"/>
            <a:ext cx="192024" cy="225856"/>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849916" y="4218127"/>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13</a:t>
            </a:r>
          </a:p>
        </p:txBody>
      </p:sp>
      <p:sp>
        <p:nvSpPr>
          <p:cNvPr id="93" name="TextBox 92"/>
          <p:cNvSpPr txBox="1"/>
          <p:nvPr/>
        </p:nvSpPr>
        <p:spPr>
          <a:xfrm>
            <a:off x="9603028" y="4736592"/>
            <a:ext cx="365760" cy="228600"/>
          </a:xfrm>
          <a:prstGeom prst="rect">
            <a:avLst/>
          </a:prstGeom>
          <a:noFill/>
        </p:spPr>
        <p:txBody>
          <a:bodyPr wrap="square" lIns="0" rIns="0" tIns="0" bIns="0" anchor="t">
            <a:noAutofit/>
          </a:bodyPr>
          <a:lstStyle/>
          <a:p>
            <a:pPr algn="ctr">
              <a:lnSpc>
                <a:spcPct val="109000"/>
              </a:lnSpc>
              <a:spcBef>
                <a:spcPts val="0"/>
              </a:spcBef>
              <a:spcAft>
                <a:spcPts val="0"/>
              </a:spcAft>
            </a:pPr>
            <a:r>
              <a:rPr sz="1300" b="0">
                <a:solidFill>
                  <a:srgbClr val="00407A"/>
                </a:solidFill>
                <a:latin typeface="Arial"/>
              </a:rPr>
              <a:t>4</a:t>
            </a:r>
          </a:p>
        </p:txBody>
      </p:sp>
      <p:sp>
        <p:nvSpPr>
          <p:cNvPr id="94" name="TextBox 93"/>
          <p:cNvSpPr txBox="1"/>
          <p:nvPr/>
        </p:nvSpPr>
        <p:spPr>
          <a:xfrm>
            <a:off x="10228478" y="4443983"/>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0</a:t>
            </a:r>
          </a:p>
        </p:txBody>
      </p:sp>
      <p:sp>
        <p:nvSpPr>
          <p:cNvPr id="95" name="Rectangle 94"/>
          <p:cNvSpPr/>
          <p:nvPr/>
        </p:nvSpPr>
        <p:spPr>
          <a:xfrm>
            <a:off x="10530230" y="4646066"/>
            <a:ext cx="192024" cy="17373"/>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10466222" y="4426610"/>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1</a:t>
            </a:r>
          </a:p>
        </p:txBody>
      </p:sp>
      <p:sp>
        <p:nvSpPr>
          <p:cNvPr id="97" name="Rectangle 96"/>
          <p:cNvSpPr/>
          <p:nvPr/>
        </p:nvSpPr>
        <p:spPr>
          <a:xfrm>
            <a:off x="10767974" y="4559198"/>
            <a:ext cx="192024" cy="104241"/>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0703966" y="4339742"/>
            <a:ext cx="320040" cy="201168"/>
          </a:xfrm>
          <a:prstGeom prst="rect">
            <a:avLst/>
          </a:prstGeom>
          <a:noFill/>
        </p:spPr>
        <p:txBody>
          <a:bodyPr wrap="square" lIns="0" rIns="0" tIns="0" bIns="0" anchor="t">
            <a:noAutofit/>
          </a:bodyPr>
          <a:lstStyle/>
          <a:p>
            <a:pPr algn="ctr">
              <a:lnSpc>
                <a:spcPct val="109000"/>
              </a:lnSpc>
              <a:spcBef>
                <a:spcPts val="0"/>
              </a:spcBef>
              <a:spcAft>
                <a:spcPts val="0"/>
              </a:spcAft>
            </a:pPr>
            <a:r>
              <a:rPr sz="1050" b="0">
                <a:solidFill>
                  <a:srgbClr val="00407A"/>
                </a:solidFill>
                <a:latin typeface="Arial"/>
              </a:rPr>
              <a:t>6</a:t>
            </a:r>
          </a:p>
        </p:txBody>
      </p:sp>
      <p:sp>
        <p:nvSpPr>
          <p:cNvPr id="99" name="TextBox 98"/>
          <p:cNvSpPr txBox="1"/>
          <p:nvPr/>
        </p:nvSpPr>
        <p:spPr>
          <a:xfrm>
            <a:off x="10457078" y="4736592"/>
            <a:ext cx="365760" cy="228600"/>
          </a:xfrm>
          <a:prstGeom prst="rect">
            <a:avLst/>
          </a:prstGeom>
          <a:noFill/>
        </p:spPr>
        <p:txBody>
          <a:bodyPr wrap="square" lIns="0" rIns="0" tIns="0" bIns="0" anchor="t">
            <a:noAutofit/>
          </a:bodyPr>
          <a:lstStyle/>
          <a:p>
            <a:pPr algn="ctr">
              <a:lnSpc>
                <a:spcPct val="109000"/>
              </a:lnSpc>
              <a:spcBef>
                <a:spcPts val="0"/>
              </a:spcBef>
              <a:spcAft>
                <a:spcPts val="0"/>
              </a:spcAft>
            </a:pPr>
            <a:r>
              <a:rPr sz="1300" b="0">
                <a:solidFill>
                  <a:srgbClr val="00407A"/>
                </a:solidFill>
                <a:latin typeface="Arial"/>
              </a:rPr>
              <a:t>5</a:t>
            </a:r>
          </a:p>
        </p:txBody>
      </p:sp>
      <p:sp>
        <p:nvSpPr>
          <p:cNvPr id="100" name="TextBox 99"/>
          <p:cNvSpPr txBox="1"/>
          <p:nvPr/>
        </p:nvSpPr>
        <p:spPr>
          <a:xfrm>
            <a:off x="6409944" y="5120640"/>
            <a:ext cx="548640" cy="256032"/>
          </a:xfrm>
          <a:prstGeom prst="rect">
            <a:avLst/>
          </a:prstGeom>
          <a:noFill/>
        </p:spPr>
        <p:txBody>
          <a:bodyPr wrap="square" lIns="0" rIns="0" tIns="0" bIns="0" anchor="t">
            <a:noAutofit/>
          </a:bodyPr>
          <a:lstStyle/>
          <a:p>
            <a:pPr algn="l">
              <a:lnSpc>
                <a:spcPct val="109000"/>
              </a:lnSpc>
              <a:spcBef>
                <a:spcPts val="0"/>
              </a:spcBef>
              <a:spcAft>
                <a:spcPts val="0"/>
              </a:spcAft>
            </a:pPr>
            <a:r>
              <a:rPr sz="1200" b="0">
                <a:solidFill>
                  <a:srgbClr val="4A5A66"/>
                </a:solidFill>
                <a:latin typeface="Arial"/>
              </a:rPr>
              <a:t>Level</a:t>
            </a:r>
          </a:p>
        </p:txBody>
      </p:sp>
      <p:sp>
        <p:nvSpPr>
          <p:cNvPr id="101" name="Rectangle 100"/>
          <p:cNvSpPr/>
          <p:nvPr/>
        </p:nvSpPr>
        <p:spPr>
          <a:xfrm>
            <a:off x="7123176" y="5166359"/>
            <a:ext cx="164592" cy="164592"/>
          </a:xfrm>
          <a:prstGeom prst="rect">
            <a:avLst/>
          </a:prstGeom>
          <a:solidFill>
            <a:srgbClr val="B5BF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351775" y="5120640"/>
            <a:ext cx="502920" cy="256032"/>
          </a:xfrm>
          <a:prstGeom prst="rect">
            <a:avLst/>
          </a:prstGeom>
          <a:noFill/>
        </p:spPr>
        <p:txBody>
          <a:bodyPr wrap="square" lIns="0" rIns="0" tIns="0" bIns="0" anchor="t">
            <a:noAutofit/>
          </a:bodyPr>
          <a:lstStyle/>
          <a:p>
            <a:pPr algn="l">
              <a:lnSpc>
                <a:spcPct val="109000"/>
              </a:lnSpc>
              <a:spcBef>
                <a:spcPts val="0"/>
              </a:spcBef>
              <a:spcAft>
                <a:spcPts val="0"/>
              </a:spcAft>
            </a:pPr>
            <a:r>
              <a:rPr sz="1200" b="0">
                <a:solidFill>
                  <a:srgbClr val="00407A"/>
                </a:solidFill>
                <a:latin typeface="Arial"/>
              </a:rPr>
              <a:t>tool</a:t>
            </a:r>
          </a:p>
        </p:txBody>
      </p:sp>
      <p:sp>
        <p:nvSpPr>
          <p:cNvPr id="103" name="Rectangle 102"/>
          <p:cNvSpPr/>
          <p:nvPr/>
        </p:nvSpPr>
        <p:spPr>
          <a:xfrm>
            <a:off x="7946136" y="5166359"/>
            <a:ext cx="164592" cy="16459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8174736" y="5120640"/>
            <a:ext cx="1005840" cy="256032"/>
          </a:xfrm>
          <a:prstGeom prst="rect">
            <a:avLst/>
          </a:prstGeom>
          <a:noFill/>
        </p:spPr>
        <p:txBody>
          <a:bodyPr wrap="square" lIns="0" rIns="0" tIns="0" bIns="0" anchor="t">
            <a:noAutofit/>
          </a:bodyPr>
          <a:lstStyle/>
          <a:p>
            <a:pPr algn="l">
              <a:lnSpc>
                <a:spcPct val="109000"/>
              </a:lnSpc>
              <a:spcBef>
                <a:spcPts val="0"/>
              </a:spcBef>
              <a:spcAft>
                <a:spcPts val="0"/>
              </a:spcAft>
            </a:pPr>
            <a:r>
              <a:rPr sz="1200" b="0">
                <a:solidFill>
                  <a:srgbClr val="00407A"/>
                </a:solidFill>
                <a:latin typeface="Arial"/>
              </a:rPr>
              <a:t>no examples</a:t>
            </a:r>
          </a:p>
        </p:txBody>
      </p:sp>
      <p:sp>
        <p:nvSpPr>
          <p:cNvPr id="105" name="Rectangle 104"/>
          <p:cNvSpPr/>
          <p:nvPr/>
        </p:nvSpPr>
        <p:spPr>
          <a:xfrm>
            <a:off x="9272016" y="5166359"/>
            <a:ext cx="164592" cy="16459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9500616" y="5120640"/>
            <a:ext cx="1188720" cy="256032"/>
          </a:xfrm>
          <a:prstGeom prst="rect">
            <a:avLst/>
          </a:prstGeom>
          <a:noFill/>
        </p:spPr>
        <p:txBody>
          <a:bodyPr wrap="square" lIns="0" rIns="0" tIns="0" bIns="0" anchor="t">
            <a:noAutofit/>
          </a:bodyPr>
          <a:lstStyle/>
          <a:p>
            <a:pPr algn="l">
              <a:lnSpc>
                <a:spcPct val="109000"/>
              </a:lnSpc>
              <a:spcBef>
                <a:spcPts val="0"/>
              </a:spcBef>
              <a:spcAft>
                <a:spcPts val="0"/>
              </a:spcAft>
            </a:pPr>
            <a:r>
              <a:rPr sz="1200" b="0">
                <a:solidFill>
                  <a:srgbClr val="00407A"/>
                </a:solidFill>
                <a:latin typeface="Arial"/>
              </a:rPr>
              <a:t>three examples</a:t>
            </a:r>
          </a:p>
        </p:txBody>
      </p:sp>
      <p:sp>
        <p:nvSpPr>
          <p:cNvPr id="107" name="Rounded Rectangle 106"/>
          <p:cNvSpPr/>
          <p:nvPr/>
        </p:nvSpPr>
        <p:spPr>
          <a:xfrm>
            <a:off x="813816" y="5715000"/>
            <a:ext cx="10561320" cy="603504"/>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987552" y="5769864"/>
            <a:ext cx="10213848" cy="493776"/>
          </a:xfrm>
          <a:prstGeom prst="rect">
            <a:avLst/>
          </a:prstGeom>
          <a:noFill/>
        </p:spPr>
        <p:txBody>
          <a:bodyPr wrap="square" lIns="0" rIns="0" tIns="0" bIns="0" anchor="ctr">
            <a:noAutofit/>
          </a:bodyPr>
          <a:lstStyle/>
          <a:p>
            <a:pPr algn="l">
              <a:lnSpc>
                <a:spcPct val="109000"/>
              </a:lnSpc>
              <a:spcBef>
                <a:spcPts val="0"/>
              </a:spcBef>
              <a:spcAft>
                <a:spcPts val="0"/>
              </a:spcAft>
            </a:pPr>
            <a:r>
              <a:rPr sz="1500" b="1">
                <a:solidFill>
                  <a:srgbClr val="00407A"/>
                </a:solidFill>
                <a:latin typeface="Arial"/>
              </a:rPr>
              <a:t>Without examples KEV-27B puts 90 of 92 designs in frequency level 1 and no design in power level 1 or 2. With examples the counts come closer to the tool’s, but the exact scores stay below the constant answer.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Relative questions: KEV-27B picks the better design</a:t>
            </a:r>
          </a:p>
        </p:txBody>
      </p:sp>
      <p:sp>
        <p:nvSpPr>
          <p:cNvPr id="3" name="TextBox 2"/>
          <p:cNvSpPr txBox="1"/>
          <p:nvPr/>
        </p:nvSpPr>
        <p:spPr>
          <a:xfrm>
            <a:off x="813816" y="1261872"/>
            <a:ext cx="763524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Two designs of one problem, A and B, asked in both orders. Always A scores 50%.</a:t>
            </a:r>
          </a:p>
        </p:txBody>
      </p:sp>
      <p:sp>
        <p:nvSpPr>
          <p:cNvPr id="4" name="Rectangle 3"/>
          <p:cNvSpPr/>
          <p:nvPr/>
        </p:nvSpPr>
        <p:spPr>
          <a:xfrm>
            <a:off x="8549640" y="1353312"/>
            <a:ext cx="182880" cy="182880"/>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05672" y="1298448"/>
            <a:ext cx="1097280" cy="274320"/>
          </a:xfrm>
          <a:prstGeom prst="rect">
            <a:avLst/>
          </a:prstGeom>
          <a:noFill/>
        </p:spPr>
        <p:txBody>
          <a:bodyPr wrap="square" lIns="0" rIns="0" tIns="0" bIns="0" anchor="t">
            <a:noAutofit/>
          </a:bodyPr>
          <a:lstStyle/>
          <a:p>
            <a:pPr algn="l">
              <a:lnSpc>
                <a:spcPct val="109000"/>
              </a:lnSpc>
              <a:spcBef>
                <a:spcPts val="0"/>
              </a:spcBef>
              <a:spcAft>
                <a:spcPts val="0"/>
              </a:spcAft>
            </a:pPr>
            <a:r>
              <a:rPr sz="1200" b="0">
                <a:solidFill>
                  <a:srgbClr val="4A5A66"/>
                </a:solidFill>
                <a:latin typeface="Arial"/>
              </a:rPr>
              <a:t>no examples</a:t>
            </a:r>
          </a:p>
        </p:txBody>
      </p:sp>
      <p:sp>
        <p:nvSpPr>
          <p:cNvPr id="6" name="Rectangle 5"/>
          <p:cNvSpPr/>
          <p:nvPr/>
        </p:nvSpPr>
        <p:spPr>
          <a:xfrm>
            <a:off x="9921240" y="1353312"/>
            <a:ext cx="182880" cy="182880"/>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77272" y="1298448"/>
            <a:ext cx="1280160" cy="274320"/>
          </a:xfrm>
          <a:prstGeom prst="rect">
            <a:avLst/>
          </a:prstGeom>
          <a:noFill/>
        </p:spPr>
        <p:txBody>
          <a:bodyPr wrap="square" lIns="0" rIns="0" tIns="0" bIns="0" anchor="t">
            <a:noAutofit/>
          </a:bodyPr>
          <a:lstStyle/>
          <a:p>
            <a:pPr algn="l">
              <a:lnSpc>
                <a:spcPct val="109000"/>
              </a:lnSpc>
              <a:spcBef>
                <a:spcPts val="0"/>
              </a:spcBef>
              <a:spcAft>
                <a:spcPts val="0"/>
              </a:spcAft>
            </a:pPr>
            <a:r>
              <a:rPr sz="1200" b="0">
                <a:solidFill>
                  <a:srgbClr val="4A5A66"/>
                </a:solidFill>
                <a:latin typeface="Arial"/>
              </a:rPr>
              <a:t>three examples</a:t>
            </a:r>
          </a:p>
        </p:txBody>
      </p:sp>
      <p:sp>
        <p:nvSpPr>
          <p:cNvPr id="8" name="TextBox 7"/>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2  •  RESULTS</a:t>
            </a:r>
          </a:p>
        </p:txBody>
      </p:sp>
      <p:sp>
        <p:nvSpPr>
          <p:cNvPr id="9" name="TextBox 8"/>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18</a:t>
            </a:r>
          </a:p>
        </p:txBody>
      </p:sp>
      <p:sp>
        <p:nvSpPr>
          <p:cNvPr id="10" name="Rounded Rectangle 9"/>
          <p:cNvSpPr/>
          <p:nvPr/>
        </p:nvSpPr>
        <p:spPr>
          <a:xfrm>
            <a:off x="813816" y="1828800"/>
            <a:ext cx="3383280" cy="3749039"/>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1975104"/>
            <a:ext cx="2980944" cy="365760"/>
          </a:xfrm>
          <a:prstGeom prst="rect">
            <a:avLst/>
          </a:prstGeom>
          <a:noFill/>
        </p:spPr>
        <p:txBody>
          <a:bodyPr wrap="square" lIns="0" rIns="0" tIns="0" bIns="0" anchor="t">
            <a:noAutofit/>
          </a:bodyPr>
          <a:lstStyle/>
          <a:p>
            <a:pPr algn="l">
              <a:lnSpc>
                <a:spcPct val="109000"/>
              </a:lnSpc>
              <a:spcBef>
                <a:spcPts val="0"/>
              </a:spcBef>
              <a:spcAft>
                <a:spcPts val="0"/>
              </a:spcAft>
            </a:pPr>
            <a:r>
              <a:rPr sz="1800" b="1">
                <a:solidFill>
                  <a:srgbClr val="00407A"/>
                </a:solidFill>
                <a:latin typeface="Arial"/>
              </a:rPr>
              <a:t>Smaller area</a:t>
            </a:r>
          </a:p>
        </p:txBody>
      </p:sp>
      <p:sp>
        <p:nvSpPr>
          <p:cNvPr id="12" name="TextBox 11"/>
          <p:cNvSpPr txBox="1"/>
          <p:nvPr/>
        </p:nvSpPr>
        <p:spPr>
          <a:xfrm>
            <a:off x="1014984" y="2359152"/>
            <a:ext cx="2980944" cy="274320"/>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4A5A66"/>
                </a:solidFill>
                <a:latin typeface="Arial"/>
              </a:rPr>
              <a:t>23 pairs · 46 questions</a:t>
            </a:r>
          </a:p>
        </p:txBody>
      </p:sp>
      <p:cxnSp>
        <p:nvCxnSpPr>
          <p:cNvPr id="13" name="Connector 12"/>
          <p:cNvCxnSpPr/>
          <p:nvPr/>
        </p:nvCxnSpPr>
        <p:spPr>
          <a:xfrm>
            <a:off x="1664208"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463040"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0</a:t>
            </a:r>
          </a:p>
        </p:txBody>
      </p:sp>
      <p:cxnSp>
        <p:nvCxnSpPr>
          <p:cNvPr id="15" name="Connector 14"/>
          <p:cNvCxnSpPr/>
          <p:nvPr/>
        </p:nvCxnSpPr>
        <p:spPr>
          <a:xfrm>
            <a:off x="2199132"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997964"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50</a:t>
            </a:r>
          </a:p>
        </p:txBody>
      </p:sp>
      <p:cxnSp>
        <p:nvCxnSpPr>
          <p:cNvPr id="17" name="Connector 16"/>
          <p:cNvCxnSpPr/>
          <p:nvPr/>
        </p:nvCxnSpPr>
        <p:spPr>
          <a:xfrm>
            <a:off x="2734056"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532888"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100</a:t>
            </a:r>
          </a:p>
        </p:txBody>
      </p:sp>
      <p:cxnSp>
        <p:nvCxnSpPr>
          <p:cNvPr id="19" name="Connector 18"/>
          <p:cNvCxnSpPr/>
          <p:nvPr/>
        </p:nvCxnSpPr>
        <p:spPr>
          <a:xfrm>
            <a:off x="2199132" y="2688336"/>
            <a:ext cx="0" cy="2416759"/>
          </a:xfrm>
          <a:prstGeom prst="line">
            <a:avLst/>
          </a:prstGeom>
          <a:ln w="15240">
            <a:solidFill>
              <a:srgbClr val="4A5A66"/>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96696" y="2834640"/>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0.8B</a:t>
            </a:r>
          </a:p>
        </p:txBody>
      </p:sp>
      <p:sp>
        <p:nvSpPr>
          <p:cNvPr id="21" name="Rectangle 20"/>
          <p:cNvSpPr/>
          <p:nvPr/>
        </p:nvSpPr>
        <p:spPr>
          <a:xfrm>
            <a:off x="1664208" y="2743200"/>
            <a:ext cx="511666"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25496" y="2715768"/>
            <a:ext cx="132588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47.8% · 22 of 46</a:t>
            </a:r>
          </a:p>
        </p:txBody>
      </p:sp>
      <p:sp>
        <p:nvSpPr>
          <p:cNvPr id="23" name="Rectangle 22"/>
          <p:cNvSpPr/>
          <p:nvPr/>
        </p:nvSpPr>
        <p:spPr>
          <a:xfrm>
            <a:off x="1664208" y="2991916"/>
            <a:ext cx="534924"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25496" y="2964484"/>
            <a:ext cx="132588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50.0% · 23 of 46</a:t>
            </a:r>
          </a:p>
        </p:txBody>
      </p:sp>
      <p:sp>
        <p:nvSpPr>
          <p:cNvPr id="25" name="TextBox 24"/>
          <p:cNvSpPr txBox="1"/>
          <p:nvPr/>
        </p:nvSpPr>
        <p:spPr>
          <a:xfrm>
            <a:off x="996696" y="3456432"/>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4B</a:t>
            </a:r>
          </a:p>
        </p:txBody>
      </p:sp>
      <p:sp>
        <p:nvSpPr>
          <p:cNvPr id="26" name="Rectangle 25"/>
          <p:cNvSpPr/>
          <p:nvPr/>
        </p:nvSpPr>
        <p:spPr>
          <a:xfrm>
            <a:off x="1664208" y="3364992"/>
            <a:ext cx="814014"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25496" y="3337560"/>
            <a:ext cx="132588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76.1% · 35 of 46</a:t>
            </a:r>
          </a:p>
        </p:txBody>
      </p:sp>
      <p:sp>
        <p:nvSpPr>
          <p:cNvPr id="28" name="Rectangle 27"/>
          <p:cNvSpPr/>
          <p:nvPr/>
        </p:nvSpPr>
        <p:spPr>
          <a:xfrm>
            <a:off x="1664208" y="3613708"/>
            <a:ext cx="720984"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825496" y="3586276"/>
            <a:ext cx="132588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67.4% · 31 of 46</a:t>
            </a:r>
          </a:p>
        </p:txBody>
      </p:sp>
      <p:sp>
        <p:nvSpPr>
          <p:cNvPr id="30" name="TextBox 29"/>
          <p:cNvSpPr txBox="1"/>
          <p:nvPr/>
        </p:nvSpPr>
        <p:spPr>
          <a:xfrm>
            <a:off x="996696" y="4078224"/>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9B</a:t>
            </a:r>
          </a:p>
        </p:txBody>
      </p:sp>
      <p:sp>
        <p:nvSpPr>
          <p:cNvPr id="31" name="Rectangle 30"/>
          <p:cNvSpPr/>
          <p:nvPr/>
        </p:nvSpPr>
        <p:spPr>
          <a:xfrm>
            <a:off x="1664208" y="3986784"/>
            <a:ext cx="930302"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25496" y="3959352"/>
            <a:ext cx="132588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87.0% · 40 of 46</a:t>
            </a:r>
          </a:p>
        </p:txBody>
      </p:sp>
      <p:sp>
        <p:nvSpPr>
          <p:cNvPr id="33" name="Rectangle 32"/>
          <p:cNvSpPr/>
          <p:nvPr/>
        </p:nvSpPr>
        <p:spPr>
          <a:xfrm>
            <a:off x="1664208" y="4235500"/>
            <a:ext cx="814014"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825496" y="4208068"/>
            <a:ext cx="132588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76.1% · 35 of 46</a:t>
            </a:r>
          </a:p>
        </p:txBody>
      </p:sp>
      <p:sp>
        <p:nvSpPr>
          <p:cNvPr id="35" name="TextBox 34"/>
          <p:cNvSpPr txBox="1"/>
          <p:nvPr/>
        </p:nvSpPr>
        <p:spPr>
          <a:xfrm>
            <a:off x="996696" y="4700016"/>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27B</a:t>
            </a:r>
          </a:p>
        </p:txBody>
      </p:sp>
      <p:sp>
        <p:nvSpPr>
          <p:cNvPr id="36" name="Rectangle 35"/>
          <p:cNvSpPr/>
          <p:nvPr/>
        </p:nvSpPr>
        <p:spPr>
          <a:xfrm>
            <a:off x="1664208" y="4608576"/>
            <a:ext cx="837272"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25496" y="4581144"/>
            <a:ext cx="132588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78.3% · 36 of 46</a:t>
            </a:r>
          </a:p>
        </p:txBody>
      </p:sp>
      <p:sp>
        <p:nvSpPr>
          <p:cNvPr id="38" name="Rectangle 37"/>
          <p:cNvSpPr/>
          <p:nvPr/>
        </p:nvSpPr>
        <p:spPr>
          <a:xfrm>
            <a:off x="1664208" y="4857292"/>
            <a:ext cx="953560"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825496" y="4829860"/>
            <a:ext cx="132588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89.1% · 41 of 46</a:t>
            </a:r>
          </a:p>
        </p:txBody>
      </p:sp>
      <p:sp>
        <p:nvSpPr>
          <p:cNvPr id="40" name="TextBox 39"/>
          <p:cNvSpPr txBox="1"/>
          <p:nvPr/>
        </p:nvSpPr>
        <p:spPr>
          <a:xfrm>
            <a:off x="996696" y="5330952"/>
            <a:ext cx="3017520" cy="210312"/>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Dashed line: always A = 50%</a:t>
            </a:r>
          </a:p>
        </p:txBody>
      </p:sp>
      <p:sp>
        <p:nvSpPr>
          <p:cNvPr id="41" name="Rounded Rectangle 40"/>
          <p:cNvSpPr/>
          <p:nvPr/>
        </p:nvSpPr>
        <p:spPr>
          <a:xfrm>
            <a:off x="4398264" y="1828800"/>
            <a:ext cx="3383280" cy="3749039"/>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99431" y="1975104"/>
            <a:ext cx="2980944" cy="365760"/>
          </a:xfrm>
          <a:prstGeom prst="rect">
            <a:avLst/>
          </a:prstGeom>
          <a:noFill/>
        </p:spPr>
        <p:txBody>
          <a:bodyPr wrap="square" lIns="0" rIns="0" tIns="0" bIns="0" anchor="t">
            <a:noAutofit/>
          </a:bodyPr>
          <a:lstStyle/>
          <a:p>
            <a:pPr algn="l">
              <a:lnSpc>
                <a:spcPct val="109000"/>
              </a:lnSpc>
              <a:spcBef>
                <a:spcPts val="0"/>
              </a:spcBef>
              <a:spcAft>
                <a:spcPts val="0"/>
              </a:spcAft>
            </a:pPr>
            <a:r>
              <a:rPr sz="1800" b="1">
                <a:solidFill>
                  <a:srgbClr val="00407A"/>
                </a:solidFill>
                <a:latin typeface="Arial"/>
              </a:rPr>
              <a:t>Lower power</a:t>
            </a:r>
          </a:p>
        </p:txBody>
      </p:sp>
      <p:sp>
        <p:nvSpPr>
          <p:cNvPr id="43" name="TextBox 42"/>
          <p:cNvSpPr txBox="1"/>
          <p:nvPr/>
        </p:nvSpPr>
        <p:spPr>
          <a:xfrm>
            <a:off x="4599431" y="2359152"/>
            <a:ext cx="2980944" cy="274320"/>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4A5A66"/>
                </a:solidFill>
                <a:latin typeface="Arial"/>
              </a:rPr>
              <a:t>22 pairs · 44 questions</a:t>
            </a:r>
          </a:p>
        </p:txBody>
      </p:sp>
      <p:cxnSp>
        <p:nvCxnSpPr>
          <p:cNvPr id="44" name="Connector 43"/>
          <p:cNvCxnSpPr/>
          <p:nvPr/>
        </p:nvCxnSpPr>
        <p:spPr>
          <a:xfrm>
            <a:off x="5248655"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047488"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0</a:t>
            </a:r>
          </a:p>
        </p:txBody>
      </p:sp>
      <p:cxnSp>
        <p:nvCxnSpPr>
          <p:cNvPr id="46" name="Connector 45"/>
          <p:cNvCxnSpPr/>
          <p:nvPr/>
        </p:nvCxnSpPr>
        <p:spPr>
          <a:xfrm>
            <a:off x="5783579"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5582412"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50</a:t>
            </a:r>
          </a:p>
        </p:txBody>
      </p:sp>
      <p:cxnSp>
        <p:nvCxnSpPr>
          <p:cNvPr id="48" name="Connector 47"/>
          <p:cNvCxnSpPr/>
          <p:nvPr/>
        </p:nvCxnSpPr>
        <p:spPr>
          <a:xfrm>
            <a:off x="6318503"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6117336"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100</a:t>
            </a:r>
          </a:p>
        </p:txBody>
      </p:sp>
      <p:cxnSp>
        <p:nvCxnSpPr>
          <p:cNvPr id="50" name="Connector 49"/>
          <p:cNvCxnSpPr/>
          <p:nvPr/>
        </p:nvCxnSpPr>
        <p:spPr>
          <a:xfrm>
            <a:off x="5783579" y="2688336"/>
            <a:ext cx="0" cy="2416759"/>
          </a:xfrm>
          <a:prstGeom prst="line">
            <a:avLst/>
          </a:prstGeom>
          <a:ln w="15240">
            <a:solidFill>
              <a:srgbClr val="4A5A66"/>
            </a:solidFill>
            <a:prstDash val="dash"/>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4581144" y="2834640"/>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0.8B</a:t>
            </a:r>
          </a:p>
        </p:txBody>
      </p:sp>
      <p:sp>
        <p:nvSpPr>
          <p:cNvPr id="52" name="Rectangle 51"/>
          <p:cNvSpPr/>
          <p:nvPr/>
        </p:nvSpPr>
        <p:spPr>
          <a:xfrm>
            <a:off x="5248655" y="2743200"/>
            <a:ext cx="680812"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9943" y="2715768"/>
            <a:ext cx="132588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63.6% · 28 of 44</a:t>
            </a:r>
          </a:p>
        </p:txBody>
      </p:sp>
      <p:sp>
        <p:nvSpPr>
          <p:cNvPr id="54" name="Rectangle 53"/>
          <p:cNvSpPr/>
          <p:nvPr/>
        </p:nvSpPr>
        <p:spPr>
          <a:xfrm>
            <a:off x="5248655" y="2991916"/>
            <a:ext cx="583553"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9943" y="2964484"/>
            <a:ext cx="132588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54.5% · 24 of 44</a:t>
            </a:r>
          </a:p>
        </p:txBody>
      </p:sp>
      <p:sp>
        <p:nvSpPr>
          <p:cNvPr id="56" name="TextBox 55"/>
          <p:cNvSpPr txBox="1"/>
          <p:nvPr/>
        </p:nvSpPr>
        <p:spPr>
          <a:xfrm>
            <a:off x="4581144" y="3456432"/>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4B</a:t>
            </a:r>
          </a:p>
        </p:txBody>
      </p:sp>
      <p:sp>
        <p:nvSpPr>
          <p:cNvPr id="57" name="Rectangle 56"/>
          <p:cNvSpPr/>
          <p:nvPr/>
        </p:nvSpPr>
        <p:spPr>
          <a:xfrm>
            <a:off x="5248655" y="3364992"/>
            <a:ext cx="607868"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09943" y="3337560"/>
            <a:ext cx="132588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56.8% · 25 of 44</a:t>
            </a:r>
          </a:p>
        </p:txBody>
      </p:sp>
      <p:sp>
        <p:nvSpPr>
          <p:cNvPr id="59" name="Rectangle 58"/>
          <p:cNvSpPr/>
          <p:nvPr/>
        </p:nvSpPr>
        <p:spPr>
          <a:xfrm>
            <a:off x="5248655" y="3613708"/>
            <a:ext cx="680812"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09943" y="3586276"/>
            <a:ext cx="132588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63.6% · 28 of 44</a:t>
            </a:r>
          </a:p>
        </p:txBody>
      </p:sp>
      <p:sp>
        <p:nvSpPr>
          <p:cNvPr id="61" name="TextBox 60"/>
          <p:cNvSpPr txBox="1"/>
          <p:nvPr/>
        </p:nvSpPr>
        <p:spPr>
          <a:xfrm>
            <a:off x="4581144" y="4078224"/>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9B</a:t>
            </a:r>
          </a:p>
        </p:txBody>
      </p:sp>
      <p:sp>
        <p:nvSpPr>
          <p:cNvPr id="62" name="Rectangle 61"/>
          <p:cNvSpPr/>
          <p:nvPr/>
        </p:nvSpPr>
        <p:spPr>
          <a:xfrm>
            <a:off x="5248655" y="3986784"/>
            <a:ext cx="705127"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409943" y="3959352"/>
            <a:ext cx="132588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65.9% · 29 of 44</a:t>
            </a:r>
          </a:p>
        </p:txBody>
      </p:sp>
      <p:sp>
        <p:nvSpPr>
          <p:cNvPr id="64" name="Rectangle 63"/>
          <p:cNvSpPr/>
          <p:nvPr/>
        </p:nvSpPr>
        <p:spPr>
          <a:xfrm>
            <a:off x="5248655" y="4235500"/>
            <a:ext cx="753756"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409943" y="4208068"/>
            <a:ext cx="132588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70.5% · 31 of 44</a:t>
            </a:r>
          </a:p>
        </p:txBody>
      </p:sp>
      <p:sp>
        <p:nvSpPr>
          <p:cNvPr id="66" name="TextBox 65"/>
          <p:cNvSpPr txBox="1"/>
          <p:nvPr/>
        </p:nvSpPr>
        <p:spPr>
          <a:xfrm>
            <a:off x="4581144" y="4700016"/>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27B</a:t>
            </a:r>
          </a:p>
        </p:txBody>
      </p:sp>
      <p:sp>
        <p:nvSpPr>
          <p:cNvPr id="67" name="Rectangle 66"/>
          <p:cNvSpPr/>
          <p:nvPr/>
        </p:nvSpPr>
        <p:spPr>
          <a:xfrm>
            <a:off x="5248655" y="4608576"/>
            <a:ext cx="753756"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409943" y="4581144"/>
            <a:ext cx="132588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70.5% · 31 of 44</a:t>
            </a:r>
          </a:p>
        </p:txBody>
      </p:sp>
      <p:sp>
        <p:nvSpPr>
          <p:cNvPr id="69" name="Rectangle 68"/>
          <p:cNvSpPr/>
          <p:nvPr/>
        </p:nvSpPr>
        <p:spPr>
          <a:xfrm>
            <a:off x="5248655" y="4857292"/>
            <a:ext cx="851015"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409943" y="4829860"/>
            <a:ext cx="132588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79.5% · 35 of 44</a:t>
            </a:r>
          </a:p>
        </p:txBody>
      </p:sp>
      <p:sp>
        <p:nvSpPr>
          <p:cNvPr id="71" name="TextBox 70"/>
          <p:cNvSpPr txBox="1"/>
          <p:nvPr/>
        </p:nvSpPr>
        <p:spPr>
          <a:xfrm>
            <a:off x="4581144" y="5330952"/>
            <a:ext cx="3017520" cy="210312"/>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Dashed line: always A = 50%</a:t>
            </a:r>
          </a:p>
        </p:txBody>
      </p:sp>
      <p:sp>
        <p:nvSpPr>
          <p:cNvPr id="72" name="Rounded Rectangle 71"/>
          <p:cNvSpPr/>
          <p:nvPr/>
        </p:nvSpPr>
        <p:spPr>
          <a:xfrm>
            <a:off x="7991856" y="1828800"/>
            <a:ext cx="3383280" cy="3749039"/>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193024" y="1975104"/>
            <a:ext cx="2980944" cy="365760"/>
          </a:xfrm>
          <a:prstGeom prst="rect">
            <a:avLst/>
          </a:prstGeom>
          <a:noFill/>
        </p:spPr>
        <p:txBody>
          <a:bodyPr wrap="square" lIns="0" rIns="0" tIns="0" bIns="0" anchor="t">
            <a:noAutofit/>
          </a:bodyPr>
          <a:lstStyle/>
          <a:p>
            <a:pPr algn="l">
              <a:lnSpc>
                <a:spcPct val="109000"/>
              </a:lnSpc>
              <a:spcBef>
                <a:spcPts val="0"/>
              </a:spcBef>
              <a:spcAft>
                <a:spcPts val="0"/>
              </a:spcAft>
            </a:pPr>
            <a:r>
              <a:rPr sz="1800" b="1">
                <a:solidFill>
                  <a:srgbClr val="00407A"/>
                </a:solidFill>
                <a:latin typeface="Arial"/>
              </a:rPr>
              <a:t>Higher frequency</a:t>
            </a:r>
          </a:p>
        </p:txBody>
      </p:sp>
      <p:sp>
        <p:nvSpPr>
          <p:cNvPr id="74" name="TextBox 73"/>
          <p:cNvSpPr txBox="1"/>
          <p:nvPr/>
        </p:nvSpPr>
        <p:spPr>
          <a:xfrm>
            <a:off x="8193024" y="2359152"/>
            <a:ext cx="2980944" cy="274320"/>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4A5A66"/>
                </a:solidFill>
                <a:latin typeface="Arial"/>
              </a:rPr>
              <a:t>6 pairs · 12 questions</a:t>
            </a:r>
          </a:p>
        </p:txBody>
      </p:sp>
      <p:cxnSp>
        <p:nvCxnSpPr>
          <p:cNvPr id="75" name="Connector 74"/>
          <p:cNvCxnSpPr/>
          <p:nvPr/>
        </p:nvCxnSpPr>
        <p:spPr>
          <a:xfrm>
            <a:off x="8842248"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8641080"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0</a:t>
            </a:r>
          </a:p>
        </p:txBody>
      </p:sp>
      <p:cxnSp>
        <p:nvCxnSpPr>
          <p:cNvPr id="77" name="Connector 76"/>
          <p:cNvCxnSpPr/>
          <p:nvPr/>
        </p:nvCxnSpPr>
        <p:spPr>
          <a:xfrm>
            <a:off x="9377172"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9176004"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50</a:t>
            </a:r>
          </a:p>
        </p:txBody>
      </p:sp>
      <p:cxnSp>
        <p:nvCxnSpPr>
          <p:cNvPr id="79" name="Connector 78"/>
          <p:cNvCxnSpPr/>
          <p:nvPr/>
        </p:nvCxnSpPr>
        <p:spPr>
          <a:xfrm>
            <a:off x="9912096" y="2688336"/>
            <a:ext cx="0" cy="2416759"/>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9710928" y="5123383"/>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100</a:t>
            </a:r>
          </a:p>
        </p:txBody>
      </p:sp>
      <p:cxnSp>
        <p:nvCxnSpPr>
          <p:cNvPr id="81" name="Connector 80"/>
          <p:cNvCxnSpPr/>
          <p:nvPr/>
        </p:nvCxnSpPr>
        <p:spPr>
          <a:xfrm>
            <a:off x="9377172" y="2688336"/>
            <a:ext cx="0" cy="2416759"/>
          </a:xfrm>
          <a:prstGeom prst="line">
            <a:avLst/>
          </a:prstGeom>
          <a:ln w="15240">
            <a:solidFill>
              <a:srgbClr val="4A5A66"/>
            </a:solidFill>
            <a:prstDash val="dash"/>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8174736" y="2834640"/>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0.8B</a:t>
            </a:r>
          </a:p>
        </p:txBody>
      </p:sp>
      <p:sp>
        <p:nvSpPr>
          <p:cNvPr id="83" name="Rectangle 82"/>
          <p:cNvSpPr/>
          <p:nvPr/>
        </p:nvSpPr>
        <p:spPr>
          <a:xfrm>
            <a:off x="8842248" y="2743200"/>
            <a:ext cx="713232"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003536" y="2715768"/>
            <a:ext cx="132588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66.7% · 8 of 12</a:t>
            </a:r>
          </a:p>
        </p:txBody>
      </p:sp>
      <p:sp>
        <p:nvSpPr>
          <p:cNvPr id="85" name="Rectangle 84"/>
          <p:cNvSpPr/>
          <p:nvPr/>
        </p:nvSpPr>
        <p:spPr>
          <a:xfrm>
            <a:off x="8842248" y="2991916"/>
            <a:ext cx="534924"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0003536" y="2964484"/>
            <a:ext cx="132588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50.0% · 6 of 12</a:t>
            </a:r>
          </a:p>
        </p:txBody>
      </p:sp>
      <p:sp>
        <p:nvSpPr>
          <p:cNvPr id="87" name="TextBox 86"/>
          <p:cNvSpPr txBox="1"/>
          <p:nvPr/>
        </p:nvSpPr>
        <p:spPr>
          <a:xfrm>
            <a:off x="8174736" y="3456432"/>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4B</a:t>
            </a:r>
          </a:p>
        </p:txBody>
      </p:sp>
      <p:sp>
        <p:nvSpPr>
          <p:cNvPr id="88" name="Rectangle 87"/>
          <p:cNvSpPr/>
          <p:nvPr/>
        </p:nvSpPr>
        <p:spPr>
          <a:xfrm>
            <a:off x="8842248" y="3364992"/>
            <a:ext cx="891540"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0003536" y="3337560"/>
            <a:ext cx="132588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83.3% · 10 of 12</a:t>
            </a:r>
          </a:p>
        </p:txBody>
      </p:sp>
      <p:sp>
        <p:nvSpPr>
          <p:cNvPr id="90" name="Rectangle 89"/>
          <p:cNvSpPr/>
          <p:nvPr/>
        </p:nvSpPr>
        <p:spPr>
          <a:xfrm>
            <a:off x="8842248" y="3613708"/>
            <a:ext cx="534924"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003536" y="3586276"/>
            <a:ext cx="132588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50.0% · 6 of 12</a:t>
            </a:r>
          </a:p>
        </p:txBody>
      </p:sp>
      <p:sp>
        <p:nvSpPr>
          <p:cNvPr id="92" name="TextBox 91"/>
          <p:cNvSpPr txBox="1"/>
          <p:nvPr/>
        </p:nvSpPr>
        <p:spPr>
          <a:xfrm>
            <a:off x="8174736" y="4078224"/>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9B</a:t>
            </a:r>
          </a:p>
        </p:txBody>
      </p:sp>
      <p:sp>
        <p:nvSpPr>
          <p:cNvPr id="93" name="Rectangle 92"/>
          <p:cNvSpPr/>
          <p:nvPr/>
        </p:nvSpPr>
        <p:spPr>
          <a:xfrm>
            <a:off x="8842248" y="3986784"/>
            <a:ext cx="802386"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0003536" y="3959352"/>
            <a:ext cx="132588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75.0% · 9 of 12</a:t>
            </a:r>
          </a:p>
        </p:txBody>
      </p:sp>
      <p:sp>
        <p:nvSpPr>
          <p:cNvPr id="95" name="Rectangle 94"/>
          <p:cNvSpPr/>
          <p:nvPr/>
        </p:nvSpPr>
        <p:spPr>
          <a:xfrm>
            <a:off x="8842248" y="4235500"/>
            <a:ext cx="802386"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10003536" y="4208068"/>
            <a:ext cx="132588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75.0% · 9 of 12</a:t>
            </a:r>
          </a:p>
        </p:txBody>
      </p:sp>
      <p:sp>
        <p:nvSpPr>
          <p:cNvPr id="97" name="TextBox 96"/>
          <p:cNvSpPr txBox="1"/>
          <p:nvPr/>
        </p:nvSpPr>
        <p:spPr>
          <a:xfrm>
            <a:off x="8174736" y="4700016"/>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27B</a:t>
            </a:r>
          </a:p>
        </p:txBody>
      </p:sp>
      <p:sp>
        <p:nvSpPr>
          <p:cNvPr id="98" name="Rectangle 97"/>
          <p:cNvSpPr/>
          <p:nvPr/>
        </p:nvSpPr>
        <p:spPr>
          <a:xfrm>
            <a:off x="8842248" y="4608576"/>
            <a:ext cx="891540" cy="202082"/>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003536" y="4581144"/>
            <a:ext cx="132588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83.3% · 10 of 12</a:t>
            </a:r>
          </a:p>
        </p:txBody>
      </p:sp>
      <p:sp>
        <p:nvSpPr>
          <p:cNvPr id="100" name="Rectangle 99"/>
          <p:cNvSpPr/>
          <p:nvPr/>
        </p:nvSpPr>
        <p:spPr>
          <a:xfrm>
            <a:off x="8842248" y="4857292"/>
            <a:ext cx="980694" cy="202082"/>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0003536" y="4829860"/>
            <a:ext cx="1325880" cy="274320"/>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00407A"/>
                </a:solidFill>
                <a:latin typeface="Arial"/>
              </a:rPr>
              <a:t>91.7% · 11 of 12</a:t>
            </a:r>
          </a:p>
        </p:txBody>
      </p:sp>
      <p:sp>
        <p:nvSpPr>
          <p:cNvPr id="102" name="TextBox 101"/>
          <p:cNvSpPr txBox="1"/>
          <p:nvPr/>
        </p:nvSpPr>
        <p:spPr>
          <a:xfrm>
            <a:off x="8174736" y="5330952"/>
            <a:ext cx="3017520" cy="210312"/>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Dashed line: always A = 50%</a:t>
            </a:r>
          </a:p>
        </p:txBody>
      </p:sp>
      <p:sp>
        <p:nvSpPr>
          <p:cNvPr id="103" name="Rounded Rectangle 102"/>
          <p:cNvSpPr/>
          <p:nvPr/>
        </p:nvSpPr>
        <p:spPr>
          <a:xfrm>
            <a:off x="813816" y="5715000"/>
            <a:ext cx="10561320" cy="603504"/>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987552" y="5769864"/>
            <a:ext cx="10213848" cy="493776"/>
          </a:xfrm>
          <a:prstGeom prst="rect">
            <a:avLst/>
          </a:prstGeom>
          <a:noFill/>
        </p:spPr>
        <p:txBody>
          <a:bodyPr wrap="square" lIns="0" rIns="0" tIns="0" bIns="0" anchor="ctr">
            <a:noAutofit/>
          </a:bodyPr>
          <a:lstStyle/>
          <a:p>
            <a:pPr algn="l">
              <a:lnSpc>
                <a:spcPct val="109000"/>
              </a:lnSpc>
              <a:spcBef>
                <a:spcPts val="0"/>
              </a:spcBef>
              <a:spcAft>
                <a:spcPts val="0"/>
              </a:spcAft>
            </a:pPr>
            <a:r>
              <a:rPr sz="1500" b="1">
                <a:solidFill>
                  <a:srgbClr val="00407A"/>
                </a:solidFill>
                <a:latin typeface="Arial"/>
              </a:rPr>
              <a:t>With examples KEV-27B is right for 41 of 46 area, 35 of 44 power, and 11 of 12 frequency questions, and for 20 of 23 area pairs in both orders (17 without).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The four parts of this deck</a:t>
            </a:r>
          </a:p>
        </p:txBody>
      </p:sp>
      <p:sp>
        <p:nvSpPr>
          <p:cNvPr id="3" name="TextBox 2"/>
          <p:cNvSpPr txBox="1"/>
          <p:nvPr/>
        </p:nvSpPr>
        <p:spPr>
          <a:xfrm>
            <a:off x="813816" y="1261872"/>
            <a:ext cx="1056132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Part 3 starts here: conclusions.</a:t>
            </a:r>
          </a:p>
        </p:txBody>
      </p:sp>
      <p:sp>
        <p:nvSpPr>
          <p:cNvPr id="4" name="TextBox 3"/>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3  •  CONCLUSIONS</a:t>
            </a:r>
          </a:p>
        </p:txBody>
      </p:sp>
      <p:sp>
        <p:nvSpPr>
          <p:cNvPr id="5" name="TextBox 4"/>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19</a:t>
            </a:r>
          </a:p>
        </p:txBody>
      </p:sp>
      <p:sp>
        <p:nvSpPr>
          <p:cNvPr id="6" name="Rounded Rectangle 5"/>
          <p:cNvSpPr/>
          <p:nvPr/>
        </p:nvSpPr>
        <p:spPr>
          <a:xfrm>
            <a:off x="813816" y="1828800"/>
            <a:ext cx="10561320" cy="841248"/>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984248"/>
            <a:ext cx="548640" cy="548640"/>
          </a:xfrm>
          <a:prstGeom prst="rect">
            <a:avLst/>
          </a:prstGeom>
          <a:noFill/>
        </p:spPr>
        <p:txBody>
          <a:bodyPr wrap="square" lIns="0" rIns="0" tIns="0" bIns="0" anchor="t">
            <a:noAutofit/>
          </a:bodyPr>
          <a:lstStyle/>
          <a:p>
            <a:pPr algn="l">
              <a:lnSpc>
                <a:spcPct val="109000"/>
              </a:lnSpc>
              <a:spcBef>
                <a:spcPts val="0"/>
              </a:spcBef>
              <a:spcAft>
                <a:spcPts val="0"/>
              </a:spcAft>
            </a:pPr>
            <a:r>
              <a:rPr sz="3000" b="1">
                <a:solidFill>
                  <a:srgbClr val="00407A"/>
                </a:solidFill>
                <a:latin typeface="Arial"/>
              </a:rPr>
              <a:t>1</a:t>
            </a:r>
          </a:p>
        </p:txBody>
      </p:sp>
      <p:sp>
        <p:nvSpPr>
          <p:cNvPr id="8" name="TextBox 7"/>
          <p:cNvSpPr txBox="1"/>
          <p:nvPr/>
        </p:nvSpPr>
        <p:spPr>
          <a:xfrm>
            <a:off x="1737360" y="1947672"/>
            <a:ext cx="3657600" cy="365760"/>
          </a:xfrm>
          <a:prstGeom prst="rect">
            <a:avLst/>
          </a:prstGeom>
          <a:noFill/>
        </p:spPr>
        <p:txBody>
          <a:bodyPr wrap="square" lIns="0" rIns="0" tIns="0" bIns="0" anchor="t">
            <a:noAutofit/>
          </a:bodyPr>
          <a:lstStyle/>
          <a:p>
            <a:pPr algn="l">
              <a:lnSpc>
                <a:spcPct val="109000"/>
              </a:lnSpc>
              <a:spcBef>
                <a:spcPts val="0"/>
              </a:spcBef>
              <a:spcAft>
                <a:spcPts val="0"/>
              </a:spcAft>
            </a:pPr>
            <a:r>
              <a:rPr sz="2000" b="1">
                <a:solidFill>
                  <a:srgbClr val="00407A"/>
                </a:solidFill>
                <a:latin typeface="Arial"/>
              </a:rPr>
              <a:t>The test</a:t>
            </a:r>
          </a:p>
        </p:txBody>
      </p:sp>
      <p:sp>
        <p:nvSpPr>
          <p:cNvPr id="9" name="TextBox 8"/>
          <p:cNvSpPr txBox="1"/>
          <p:nvPr/>
        </p:nvSpPr>
        <p:spPr>
          <a:xfrm>
            <a:off x="1737360" y="2304288"/>
            <a:ext cx="9509760" cy="320040"/>
          </a:xfrm>
          <a:prstGeom prst="rect">
            <a:avLst/>
          </a:prstGeom>
          <a:noFill/>
        </p:spPr>
        <p:txBody>
          <a:bodyPr wrap="square" lIns="0" rIns="0" tIns="0" bIns="0" anchor="t">
            <a:noAutofit/>
          </a:bodyPr>
          <a:lstStyle/>
          <a:p>
            <a:pPr algn="l">
              <a:lnSpc>
                <a:spcPct val="109000"/>
              </a:lnSpc>
              <a:spcBef>
                <a:spcPts val="0"/>
              </a:spcBef>
              <a:spcAft>
                <a:spcPts val="0"/>
              </a:spcAft>
            </a:pPr>
            <a:r>
              <a:rPr sz="1300" b="0">
                <a:solidFill>
                  <a:srgbClr val="4A5A66"/>
                </a:solidFill>
                <a:latin typeface="Arial"/>
              </a:rPr>
              <a:t>What KEV is, the designs, the eight questions, the five levels, the three examples, how to read the charts</a:t>
            </a:r>
          </a:p>
        </p:txBody>
      </p:sp>
      <p:sp>
        <p:nvSpPr>
          <p:cNvPr id="10" name="Rounded Rectangle 9"/>
          <p:cNvSpPr/>
          <p:nvPr/>
        </p:nvSpPr>
        <p:spPr>
          <a:xfrm>
            <a:off x="813816" y="2779776"/>
            <a:ext cx="10561320" cy="841248"/>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2935224"/>
            <a:ext cx="548640" cy="548640"/>
          </a:xfrm>
          <a:prstGeom prst="rect">
            <a:avLst/>
          </a:prstGeom>
          <a:noFill/>
        </p:spPr>
        <p:txBody>
          <a:bodyPr wrap="square" lIns="0" rIns="0" tIns="0" bIns="0" anchor="t">
            <a:noAutofit/>
          </a:bodyPr>
          <a:lstStyle/>
          <a:p>
            <a:pPr algn="l">
              <a:lnSpc>
                <a:spcPct val="109000"/>
              </a:lnSpc>
              <a:spcBef>
                <a:spcPts val="0"/>
              </a:spcBef>
              <a:spcAft>
                <a:spcPts val="0"/>
              </a:spcAft>
            </a:pPr>
            <a:r>
              <a:rPr sz="3000" b="1">
                <a:solidFill>
                  <a:srgbClr val="00407A"/>
                </a:solidFill>
                <a:latin typeface="Arial"/>
              </a:rPr>
              <a:t>2</a:t>
            </a:r>
          </a:p>
        </p:txBody>
      </p:sp>
      <p:sp>
        <p:nvSpPr>
          <p:cNvPr id="12" name="TextBox 11"/>
          <p:cNvSpPr txBox="1"/>
          <p:nvPr/>
        </p:nvSpPr>
        <p:spPr>
          <a:xfrm>
            <a:off x="1737360" y="2898648"/>
            <a:ext cx="3657600" cy="365760"/>
          </a:xfrm>
          <a:prstGeom prst="rect">
            <a:avLst/>
          </a:prstGeom>
          <a:noFill/>
        </p:spPr>
        <p:txBody>
          <a:bodyPr wrap="square" lIns="0" rIns="0" tIns="0" bIns="0" anchor="t">
            <a:noAutofit/>
          </a:bodyPr>
          <a:lstStyle/>
          <a:p>
            <a:pPr algn="l">
              <a:lnSpc>
                <a:spcPct val="109000"/>
              </a:lnSpc>
              <a:spcBef>
                <a:spcPts val="0"/>
              </a:spcBef>
              <a:spcAft>
                <a:spcPts val="0"/>
              </a:spcAft>
            </a:pPr>
            <a:r>
              <a:rPr sz="2000" b="1">
                <a:solidFill>
                  <a:srgbClr val="00407A"/>
                </a:solidFill>
                <a:latin typeface="Arial"/>
              </a:rPr>
              <a:t>Results per question</a:t>
            </a:r>
          </a:p>
        </p:txBody>
      </p:sp>
      <p:sp>
        <p:nvSpPr>
          <p:cNvPr id="13" name="TextBox 12"/>
          <p:cNvSpPr txBox="1"/>
          <p:nvPr/>
        </p:nvSpPr>
        <p:spPr>
          <a:xfrm>
            <a:off x="1737360" y="3255264"/>
            <a:ext cx="9509760" cy="320040"/>
          </a:xfrm>
          <a:prstGeom prst="rect">
            <a:avLst/>
          </a:prstGeom>
          <a:noFill/>
        </p:spPr>
        <p:txBody>
          <a:bodyPr wrap="square" lIns="0" rIns="0" tIns="0" bIns="0" anchor="t">
            <a:noAutofit/>
          </a:bodyPr>
          <a:lstStyle/>
          <a:p>
            <a:pPr algn="l">
              <a:lnSpc>
                <a:spcPct val="109000"/>
              </a:lnSpc>
              <a:spcBef>
                <a:spcPts val="0"/>
              </a:spcBef>
              <a:spcAft>
                <a:spcPts val="0"/>
              </a:spcAft>
            </a:pPr>
            <a:r>
              <a:rPr sz="1300" b="0">
                <a:solidFill>
                  <a:srgbClr val="4A5A66"/>
                </a:solidFill>
                <a:latin typeface="Arial"/>
              </a:rPr>
              <a:t>All findings in one table; then compile and synthesis, the failure reason, the levels, and the pairs</a:t>
            </a:r>
          </a:p>
        </p:txBody>
      </p:sp>
      <p:sp>
        <p:nvSpPr>
          <p:cNvPr id="14" name="Rounded Rectangle 13"/>
          <p:cNvSpPr/>
          <p:nvPr/>
        </p:nvSpPr>
        <p:spPr>
          <a:xfrm>
            <a:off x="813816" y="3730752"/>
            <a:ext cx="10561320" cy="841248"/>
          </a:xfrm>
          <a:prstGeom prst="roundRect">
            <a:avLst>
              <a:gd name="adj" fmla="val 6000"/>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3886200"/>
            <a:ext cx="548640" cy="548640"/>
          </a:xfrm>
          <a:prstGeom prst="rect">
            <a:avLst/>
          </a:prstGeom>
          <a:noFill/>
        </p:spPr>
        <p:txBody>
          <a:bodyPr wrap="square" lIns="0" rIns="0" tIns="0" bIns="0" anchor="t">
            <a:noAutofit/>
          </a:bodyPr>
          <a:lstStyle/>
          <a:p>
            <a:pPr algn="l">
              <a:lnSpc>
                <a:spcPct val="109000"/>
              </a:lnSpc>
              <a:spcBef>
                <a:spcPts val="0"/>
              </a:spcBef>
              <a:spcAft>
                <a:spcPts val="0"/>
              </a:spcAft>
            </a:pPr>
            <a:r>
              <a:rPr sz="3000" b="1">
                <a:solidFill>
                  <a:srgbClr val="FFFFFF"/>
                </a:solidFill>
                <a:latin typeface="Arial"/>
              </a:rPr>
              <a:t>3</a:t>
            </a:r>
          </a:p>
        </p:txBody>
      </p:sp>
      <p:sp>
        <p:nvSpPr>
          <p:cNvPr id="16" name="TextBox 15"/>
          <p:cNvSpPr txBox="1"/>
          <p:nvPr/>
        </p:nvSpPr>
        <p:spPr>
          <a:xfrm>
            <a:off x="1737360" y="3849624"/>
            <a:ext cx="3657600" cy="365760"/>
          </a:xfrm>
          <a:prstGeom prst="rect">
            <a:avLst/>
          </a:prstGeom>
          <a:noFill/>
        </p:spPr>
        <p:txBody>
          <a:bodyPr wrap="square" lIns="0" rIns="0" tIns="0" bIns="0" anchor="t">
            <a:noAutofit/>
          </a:bodyPr>
          <a:lstStyle/>
          <a:p>
            <a:pPr algn="l">
              <a:lnSpc>
                <a:spcPct val="109000"/>
              </a:lnSpc>
              <a:spcBef>
                <a:spcPts val="0"/>
              </a:spcBef>
              <a:spcAft>
                <a:spcPts val="0"/>
              </a:spcAft>
            </a:pPr>
            <a:r>
              <a:rPr sz="2000" b="1">
                <a:solidFill>
                  <a:srgbClr val="FFFFFF"/>
                </a:solidFill>
                <a:latin typeface="Arial"/>
              </a:rPr>
              <a:t>Conclusions</a:t>
            </a:r>
          </a:p>
        </p:txBody>
      </p:sp>
      <p:sp>
        <p:nvSpPr>
          <p:cNvPr id="17" name="TextBox 16"/>
          <p:cNvSpPr txBox="1"/>
          <p:nvPr/>
        </p:nvSpPr>
        <p:spPr>
          <a:xfrm>
            <a:off x="1737360" y="4206240"/>
            <a:ext cx="9509760" cy="320040"/>
          </a:xfrm>
          <a:prstGeom prst="rect">
            <a:avLst/>
          </a:prstGeom>
          <a:noFill/>
        </p:spPr>
        <p:txBody>
          <a:bodyPr wrap="square" lIns="0" rIns="0" tIns="0" bIns="0" anchor="t">
            <a:noAutofit/>
          </a:bodyPr>
          <a:lstStyle/>
          <a:p>
            <a:pPr algn="l">
              <a:lnSpc>
                <a:spcPct val="109000"/>
              </a:lnSpc>
              <a:spcBef>
                <a:spcPts val="0"/>
              </a:spcBef>
              <a:spcAft>
                <a:spcPts val="0"/>
              </a:spcAft>
            </a:pPr>
            <a:r>
              <a:rPr sz="1300" b="0">
                <a:solidFill>
                  <a:srgbClr val="D7E8F2"/>
                </a:solidFill>
                <a:latin typeface="Arial"/>
              </a:rPr>
              <a:t>Relative questions are reliable, absolute questions are not; what KEV can and cannot do</a:t>
            </a:r>
          </a:p>
        </p:txBody>
      </p:sp>
      <p:sp>
        <p:nvSpPr>
          <p:cNvPr id="18" name="Rounded Rectangle 17"/>
          <p:cNvSpPr/>
          <p:nvPr/>
        </p:nvSpPr>
        <p:spPr>
          <a:xfrm>
            <a:off x="813816" y="4681728"/>
            <a:ext cx="10561320" cy="841248"/>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4837176"/>
            <a:ext cx="548640" cy="548640"/>
          </a:xfrm>
          <a:prstGeom prst="rect">
            <a:avLst/>
          </a:prstGeom>
          <a:noFill/>
        </p:spPr>
        <p:txBody>
          <a:bodyPr wrap="square" lIns="0" rIns="0" tIns="0" bIns="0" anchor="t">
            <a:noAutofit/>
          </a:bodyPr>
          <a:lstStyle/>
          <a:p>
            <a:pPr algn="l">
              <a:lnSpc>
                <a:spcPct val="109000"/>
              </a:lnSpc>
              <a:spcBef>
                <a:spcPts val="0"/>
              </a:spcBef>
              <a:spcAft>
                <a:spcPts val="0"/>
              </a:spcAft>
            </a:pPr>
            <a:r>
              <a:rPr sz="3000" b="1">
                <a:solidFill>
                  <a:srgbClr val="00407A"/>
                </a:solidFill>
                <a:latin typeface="Arial"/>
              </a:rPr>
              <a:t>4</a:t>
            </a:r>
          </a:p>
        </p:txBody>
      </p:sp>
      <p:sp>
        <p:nvSpPr>
          <p:cNvPr id="20" name="TextBox 19"/>
          <p:cNvSpPr txBox="1"/>
          <p:nvPr/>
        </p:nvSpPr>
        <p:spPr>
          <a:xfrm>
            <a:off x="1737360" y="4800600"/>
            <a:ext cx="3657600" cy="365760"/>
          </a:xfrm>
          <a:prstGeom prst="rect">
            <a:avLst/>
          </a:prstGeom>
          <a:noFill/>
        </p:spPr>
        <p:txBody>
          <a:bodyPr wrap="square" lIns="0" rIns="0" tIns="0" bIns="0" anchor="t">
            <a:noAutofit/>
          </a:bodyPr>
          <a:lstStyle/>
          <a:p>
            <a:pPr algn="l">
              <a:lnSpc>
                <a:spcPct val="109000"/>
              </a:lnSpc>
              <a:spcBef>
                <a:spcPts val="0"/>
              </a:spcBef>
              <a:spcAft>
                <a:spcPts val="0"/>
              </a:spcAft>
            </a:pPr>
            <a:r>
              <a:rPr sz="2000" b="1">
                <a:solidFill>
                  <a:srgbClr val="00407A"/>
                </a:solidFill>
                <a:latin typeface="Arial"/>
              </a:rPr>
              <a:t>Appendix</a:t>
            </a:r>
          </a:p>
        </p:txBody>
      </p:sp>
      <p:sp>
        <p:nvSpPr>
          <p:cNvPr id="21" name="TextBox 20"/>
          <p:cNvSpPr txBox="1"/>
          <p:nvPr/>
        </p:nvSpPr>
        <p:spPr>
          <a:xfrm>
            <a:off x="1737360" y="5157216"/>
            <a:ext cx="9509760" cy="320040"/>
          </a:xfrm>
          <a:prstGeom prst="rect">
            <a:avLst/>
          </a:prstGeom>
          <a:noFill/>
        </p:spPr>
        <p:txBody>
          <a:bodyPr wrap="square" lIns="0" rIns="0" tIns="0" bIns="0" anchor="t">
            <a:noAutofit/>
          </a:bodyPr>
          <a:lstStyle/>
          <a:p>
            <a:pPr algn="l">
              <a:lnSpc>
                <a:spcPct val="109000"/>
              </a:lnSpc>
              <a:spcBef>
                <a:spcPts val="0"/>
              </a:spcBef>
              <a:spcAft>
                <a:spcPts val="0"/>
              </a:spcAft>
            </a:pPr>
            <a:r>
              <a:rPr sz="1300" b="0">
                <a:solidFill>
                  <a:srgbClr val="4A5A66"/>
                </a:solidFill>
                <a:latin typeface="Arial"/>
              </a:rPr>
              <a:t>Every score with the paired test, class counts, probabilities, level errors, pair orders, runs, files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Relative questions work; absolute questions do not</a:t>
            </a:r>
          </a:p>
        </p:txBody>
      </p:sp>
      <p:sp>
        <p:nvSpPr>
          <p:cNvPr id="3" name="TextBox 2"/>
          <p:cNvSpPr txBox="1"/>
          <p:nvPr/>
        </p:nvSpPr>
        <p:spPr>
          <a:xfrm>
            <a:off x="813816" y="1261872"/>
            <a:ext cx="1056132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KEV-27B with three examples, unless stated. All numbers are on the result slides.</a:t>
            </a:r>
          </a:p>
        </p:txBody>
      </p:sp>
      <p:sp>
        <p:nvSpPr>
          <p:cNvPr id="4" name="TextBox 3"/>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3  •  CONCLUSIONS</a:t>
            </a:r>
          </a:p>
        </p:txBody>
      </p:sp>
      <p:sp>
        <p:nvSpPr>
          <p:cNvPr id="5" name="TextBox 4"/>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20</a:t>
            </a:r>
          </a:p>
        </p:txBody>
      </p:sp>
      <p:sp>
        <p:nvSpPr>
          <p:cNvPr id="6" name="Rounded Rectangle 5"/>
          <p:cNvSpPr/>
          <p:nvPr/>
        </p:nvSpPr>
        <p:spPr>
          <a:xfrm>
            <a:off x="813816" y="1828800"/>
            <a:ext cx="5166360" cy="2240280"/>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3816" y="1828800"/>
            <a:ext cx="5166360" cy="41148"/>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 y="2057400"/>
            <a:ext cx="4709160" cy="658368"/>
          </a:xfrm>
          <a:prstGeom prst="rect">
            <a:avLst/>
          </a:prstGeom>
          <a:noFill/>
        </p:spPr>
        <p:txBody>
          <a:bodyPr wrap="square" lIns="0" rIns="0" tIns="0" bIns="0" anchor="t">
            <a:noAutofit/>
          </a:bodyPr>
          <a:lstStyle/>
          <a:p>
            <a:pPr algn="l">
              <a:lnSpc>
                <a:spcPct val="109000"/>
              </a:lnSpc>
              <a:spcBef>
                <a:spcPts val="0"/>
              </a:spcBef>
              <a:spcAft>
                <a:spcPts val="0"/>
              </a:spcAft>
            </a:pPr>
            <a:r>
              <a:rPr sz="2100" b="1">
                <a:solidFill>
                  <a:srgbClr val="00407A"/>
                </a:solidFill>
                <a:latin typeface="Arial"/>
              </a:rPr>
              <a:t>Relative questions: reliable</a:t>
            </a:r>
          </a:p>
        </p:txBody>
      </p:sp>
      <p:sp>
        <p:nvSpPr>
          <p:cNvPr id="9" name="TextBox 8"/>
          <p:cNvSpPr txBox="1"/>
          <p:nvPr/>
        </p:nvSpPr>
        <p:spPr>
          <a:xfrm>
            <a:off x="1042416" y="2788920"/>
            <a:ext cx="4709160" cy="1143000"/>
          </a:xfrm>
          <a:prstGeom prst="rect">
            <a:avLst/>
          </a:prstGeom>
          <a:noFill/>
        </p:spPr>
        <p:txBody>
          <a:bodyPr wrap="square" lIns="0" rIns="0" tIns="0" bIns="0" anchor="t">
            <a:noAutofit/>
          </a:bodyPr>
          <a:lstStyle/>
          <a:p>
            <a:pPr algn="l">
              <a:lnSpc>
                <a:spcPct val="109000"/>
              </a:lnSpc>
              <a:spcBef>
                <a:spcPts val="0"/>
              </a:spcBef>
              <a:spcAft>
                <a:spcPts val="0"/>
              </a:spcAft>
            </a:pPr>
            <a:r>
              <a:rPr sz="1350" b="0">
                <a:solidFill>
                  <a:srgbClr val="00407A"/>
                </a:solidFill>
                <a:latin typeface="Arial"/>
              </a:rPr>
              <a:t>Which of two designs is better? KEV-27B picks the right one in 41 of 46 area, 35 of 44 power, and 11 of 12 frequency questions; chance is 50%. 20 of 23 area pairs are right in both orders. Without examples: 36, 31, and 10.</a:t>
            </a:r>
          </a:p>
        </p:txBody>
      </p:sp>
      <p:sp>
        <p:nvSpPr>
          <p:cNvPr id="10" name="Rounded Rectangle 9"/>
          <p:cNvSpPr/>
          <p:nvPr/>
        </p:nvSpPr>
        <p:spPr>
          <a:xfrm>
            <a:off x="6208776" y="1828800"/>
            <a:ext cx="5166360" cy="2240280"/>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08776" y="1828800"/>
            <a:ext cx="5166360" cy="41148"/>
          </a:xfrm>
          <a:prstGeom prst="rect">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37376" y="2057400"/>
            <a:ext cx="4709160" cy="658368"/>
          </a:xfrm>
          <a:prstGeom prst="rect">
            <a:avLst/>
          </a:prstGeom>
          <a:noFill/>
        </p:spPr>
        <p:txBody>
          <a:bodyPr wrap="square" lIns="0" rIns="0" tIns="0" bIns="0" anchor="t">
            <a:noAutofit/>
          </a:bodyPr>
          <a:lstStyle/>
          <a:p>
            <a:pPr algn="l">
              <a:lnSpc>
                <a:spcPct val="109000"/>
              </a:lnSpc>
              <a:spcBef>
                <a:spcPts val="0"/>
              </a:spcBef>
              <a:spcAft>
                <a:spcPts val="0"/>
              </a:spcAft>
            </a:pPr>
            <a:r>
              <a:rPr sz="2100" b="1">
                <a:solidFill>
                  <a:srgbClr val="00407A"/>
                </a:solidFill>
                <a:latin typeface="Arial"/>
              </a:rPr>
              <a:t>Absolute questions: not reliable</a:t>
            </a:r>
          </a:p>
        </p:txBody>
      </p:sp>
      <p:sp>
        <p:nvSpPr>
          <p:cNvPr id="13" name="TextBox 12"/>
          <p:cNvSpPr txBox="1"/>
          <p:nvPr/>
        </p:nvSpPr>
        <p:spPr>
          <a:xfrm>
            <a:off x="6437376" y="2788920"/>
            <a:ext cx="4709160" cy="1143000"/>
          </a:xfrm>
          <a:prstGeom prst="rect">
            <a:avLst/>
          </a:prstGeom>
          <a:noFill/>
        </p:spPr>
        <p:txBody>
          <a:bodyPr wrap="square" lIns="0" rIns="0" tIns="0" bIns="0" anchor="t">
            <a:noAutofit/>
          </a:bodyPr>
          <a:lstStyle/>
          <a:p>
            <a:pPr algn="l">
              <a:lnSpc>
                <a:spcPct val="109000"/>
              </a:lnSpc>
              <a:spcBef>
                <a:spcPts val="0"/>
              </a:spcBef>
              <a:spcAft>
                <a:spcPts val="0"/>
              </a:spcAft>
            </a:pPr>
            <a:r>
              <a:rPr sz="1350" b="0">
                <a:solidFill>
                  <a:srgbClr val="00407A"/>
                </a:solidFill>
                <a:latin typeface="Arial"/>
              </a:rPr>
              <a:t>Which level has one design? Power 36 of 85, frequency 36 of 92, slack 60 of 92: none above the constant answers 37, 45, and 63. Area is the exception: 61 of 92 exact without examples, and all 92 within one level.</a:t>
            </a:r>
          </a:p>
        </p:txBody>
      </p:sp>
      <p:sp>
        <p:nvSpPr>
          <p:cNvPr id="14" name="Rounded Rectangle 13"/>
          <p:cNvSpPr/>
          <p:nvPr/>
        </p:nvSpPr>
        <p:spPr>
          <a:xfrm>
            <a:off x="813816" y="4251960"/>
            <a:ext cx="3383280" cy="1325880"/>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3816" y="4251960"/>
            <a:ext cx="3383280" cy="41148"/>
          </a:xfrm>
          <a:prstGeom prst="rect">
            <a:avLst/>
          </a:prstGeom>
          <a:solidFill>
            <a:srgbClr val="1D8D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6" y="4379976"/>
            <a:ext cx="2926080" cy="365760"/>
          </a:xfrm>
          <a:prstGeom prst="rect">
            <a:avLst/>
          </a:prstGeom>
          <a:noFill/>
        </p:spPr>
        <p:txBody>
          <a:bodyPr wrap="square" lIns="0" rIns="0" tIns="0" bIns="0" anchor="t">
            <a:noAutofit/>
          </a:bodyPr>
          <a:lstStyle/>
          <a:p>
            <a:pPr algn="l">
              <a:lnSpc>
                <a:spcPct val="109000"/>
              </a:lnSpc>
              <a:spcBef>
                <a:spcPts val="0"/>
              </a:spcBef>
              <a:spcAft>
                <a:spcPts val="0"/>
              </a:spcAft>
            </a:pPr>
            <a:r>
              <a:rPr sz="1700" b="1">
                <a:solidFill>
                  <a:srgbClr val="00407A"/>
                </a:solidFill>
                <a:latin typeface="Arial"/>
              </a:rPr>
              <a:t>Compile check: reliable</a:t>
            </a:r>
          </a:p>
        </p:txBody>
      </p:sp>
      <p:sp>
        <p:nvSpPr>
          <p:cNvPr id="17" name="TextBox 16"/>
          <p:cNvSpPr txBox="1"/>
          <p:nvPr/>
        </p:nvSpPr>
        <p:spPr>
          <a:xfrm>
            <a:off x="1042416" y="4754880"/>
            <a:ext cx="2926080" cy="758952"/>
          </a:xfrm>
          <a:prstGeom prst="rect">
            <a:avLst/>
          </a:prstGeom>
          <a:noFill/>
        </p:spPr>
        <p:txBody>
          <a:bodyPr wrap="square" lIns="0" rIns="0" tIns="0" bIns="0" anchor="t">
            <a:noAutofit/>
          </a:bodyPr>
          <a:lstStyle/>
          <a:p>
            <a:pPr algn="l">
              <a:lnSpc>
                <a:spcPct val="109000"/>
              </a:lnSpc>
              <a:spcBef>
                <a:spcPts val="0"/>
              </a:spcBef>
              <a:spcAft>
                <a:spcPts val="0"/>
              </a:spcAft>
            </a:pPr>
            <a:r>
              <a:rPr sz="1350" b="0">
                <a:solidFill>
                  <a:srgbClr val="00407A"/>
                </a:solidFill>
                <a:latin typeface="Arial"/>
              </a:rPr>
              <a:t>KEV-27B gets 122 of 123 designs right without examples.</a:t>
            </a:r>
          </a:p>
        </p:txBody>
      </p:sp>
      <p:sp>
        <p:nvSpPr>
          <p:cNvPr id="18" name="Rounded Rectangle 17"/>
          <p:cNvSpPr/>
          <p:nvPr/>
        </p:nvSpPr>
        <p:spPr>
          <a:xfrm>
            <a:off x="4398264" y="4251960"/>
            <a:ext cx="3383280" cy="1325880"/>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98264" y="4251960"/>
            <a:ext cx="3383280" cy="41148"/>
          </a:xfrm>
          <a:prstGeom prst="rect">
            <a:avLst/>
          </a:prstGeom>
          <a:solidFill>
            <a:srgbClr val="1D8D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26864" y="4379976"/>
            <a:ext cx="2926080" cy="365760"/>
          </a:xfrm>
          <a:prstGeom prst="rect">
            <a:avLst/>
          </a:prstGeom>
          <a:noFill/>
        </p:spPr>
        <p:txBody>
          <a:bodyPr wrap="square" lIns="0" rIns="0" tIns="0" bIns="0" anchor="t">
            <a:noAutofit/>
          </a:bodyPr>
          <a:lstStyle/>
          <a:p>
            <a:pPr algn="l">
              <a:lnSpc>
                <a:spcPct val="109000"/>
              </a:lnSpc>
              <a:spcBef>
                <a:spcPts val="0"/>
              </a:spcBef>
              <a:spcAft>
                <a:spcPts val="0"/>
              </a:spcAft>
            </a:pPr>
            <a:r>
              <a:rPr sz="1700" b="1">
                <a:solidFill>
                  <a:srgbClr val="00407A"/>
                </a:solidFill>
                <a:latin typeface="Arial"/>
              </a:rPr>
              <a:t>Synthesis check: weak</a:t>
            </a:r>
          </a:p>
        </p:txBody>
      </p:sp>
      <p:sp>
        <p:nvSpPr>
          <p:cNvPr id="21" name="TextBox 20"/>
          <p:cNvSpPr txBox="1"/>
          <p:nvPr/>
        </p:nvSpPr>
        <p:spPr>
          <a:xfrm>
            <a:off x="4626864" y="4754880"/>
            <a:ext cx="2926080" cy="758952"/>
          </a:xfrm>
          <a:prstGeom prst="rect">
            <a:avLst/>
          </a:prstGeom>
          <a:noFill/>
        </p:spPr>
        <p:txBody>
          <a:bodyPr wrap="square" lIns="0" rIns="0" tIns="0" bIns="0" anchor="t">
            <a:noAutofit/>
          </a:bodyPr>
          <a:lstStyle/>
          <a:p>
            <a:pPr algn="l">
              <a:lnSpc>
                <a:spcPct val="109000"/>
              </a:lnSpc>
              <a:spcBef>
                <a:spcPts val="0"/>
              </a:spcBef>
              <a:spcAft>
                <a:spcPts val="0"/>
              </a:spcAft>
            </a:pPr>
            <a:r>
              <a:rPr sz="1350" b="0">
                <a:solidFill>
                  <a:srgbClr val="00407A"/>
                </a:solidFill>
                <a:latin typeface="Arial"/>
              </a:rPr>
              <a:t>At best 12 of 24 failures caught, and 4 of the 15 that compile. All scores near always “yes”.</a:t>
            </a:r>
          </a:p>
        </p:txBody>
      </p:sp>
      <p:sp>
        <p:nvSpPr>
          <p:cNvPr id="22" name="Rounded Rectangle 21"/>
          <p:cNvSpPr/>
          <p:nvPr/>
        </p:nvSpPr>
        <p:spPr>
          <a:xfrm>
            <a:off x="7991856" y="4251960"/>
            <a:ext cx="3383280" cy="1325880"/>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91856" y="4251960"/>
            <a:ext cx="3383280" cy="41148"/>
          </a:xfrm>
          <a:prstGeom prst="rect">
            <a:avLst/>
          </a:prstGeom>
          <a:solidFill>
            <a:srgbClr val="1D8D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0456" y="4379976"/>
            <a:ext cx="2926080" cy="365760"/>
          </a:xfrm>
          <a:prstGeom prst="rect">
            <a:avLst/>
          </a:prstGeom>
          <a:noFill/>
        </p:spPr>
        <p:txBody>
          <a:bodyPr wrap="square" lIns="0" rIns="0" tIns="0" bIns="0" anchor="t">
            <a:noAutofit/>
          </a:bodyPr>
          <a:lstStyle/>
          <a:p>
            <a:pPr algn="l">
              <a:lnSpc>
                <a:spcPct val="109000"/>
              </a:lnSpc>
              <a:spcBef>
                <a:spcPts val="0"/>
              </a:spcBef>
              <a:spcAft>
                <a:spcPts val="0"/>
              </a:spcAft>
            </a:pPr>
            <a:r>
              <a:rPr sz="1700" b="1">
                <a:solidFill>
                  <a:srgbClr val="00407A"/>
                </a:solidFill>
                <a:latin typeface="Arial"/>
              </a:rPr>
              <a:t>Failure reason: good</a:t>
            </a:r>
          </a:p>
        </p:txBody>
      </p:sp>
      <p:sp>
        <p:nvSpPr>
          <p:cNvPr id="25" name="TextBox 24"/>
          <p:cNvSpPr txBox="1"/>
          <p:nvPr/>
        </p:nvSpPr>
        <p:spPr>
          <a:xfrm>
            <a:off x="8220456" y="4754880"/>
            <a:ext cx="2926080" cy="758952"/>
          </a:xfrm>
          <a:prstGeom prst="rect">
            <a:avLst/>
          </a:prstGeom>
          <a:noFill/>
        </p:spPr>
        <p:txBody>
          <a:bodyPr wrap="square" lIns="0" rIns="0" tIns="0" bIns="0" anchor="t">
            <a:noAutofit/>
          </a:bodyPr>
          <a:lstStyle/>
          <a:p>
            <a:pPr algn="l">
              <a:lnSpc>
                <a:spcPct val="109000"/>
              </a:lnSpc>
              <a:spcBef>
                <a:spcPts val="0"/>
              </a:spcBef>
              <a:spcAft>
                <a:spcPts val="0"/>
              </a:spcAft>
            </a:pPr>
            <a:r>
              <a:rPr sz="1350" b="0">
                <a:solidFill>
                  <a:srgbClr val="00407A"/>
                </a:solidFill>
                <a:latin typeface="Arial"/>
              </a:rPr>
              <a:t>Told that synthesis failed, KEV-27B names the reason for 15 of 16 designs. By itself it flags 0 of them.</a:t>
            </a:r>
          </a:p>
        </p:txBody>
      </p:sp>
      <p:sp>
        <p:nvSpPr>
          <p:cNvPr id="26" name="Rounded Rectangle 25"/>
          <p:cNvSpPr/>
          <p:nvPr/>
        </p:nvSpPr>
        <p:spPr>
          <a:xfrm>
            <a:off x="813816" y="5715000"/>
            <a:ext cx="10561320" cy="603504"/>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7552" y="5769864"/>
            <a:ext cx="10213848" cy="493776"/>
          </a:xfrm>
          <a:prstGeom prst="rect">
            <a:avLst/>
          </a:prstGeom>
          <a:noFill/>
        </p:spPr>
        <p:txBody>
          <a:bodyPr wrap="square" lIns="0" rIns="0" tIns="0" bIns="0" anchor="ctr">
            <a:noAutofit/>
          </a:bodyPr>
          <a:lstStyle/>
          <a:p>
            <a:pPr algn="l">
              <a:lnSpc>
                <a:spcPct val="109000"/>
              </a:lnSpc>
              <a:spcBef>
                <a:spcPts val="0"/>
              </a:spcBef>
              <a:spcAft>
                <a:spcPts val="0"/>
              </a:spcAft>
            </a:pPr>
            <a:r>
              <a:rPr sz="1500" b="1">
                <a:solidFill>
                  <a:srgbClr val="00407A"/>
                </a:solidFill>
                <a:latin typeface="Arial"/>
              </a:rPr>
              <a:t>KEV can compare two designs and screen compile errors. It cannot replace the tools for the absolute cost of a design or for synthesis.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The four parts of this deck</a:t>
            </a:r>
          </a:p>
        </p:txBody>
      </p:sp>
      <p:sp>
        <p:nvSpPr>
          <p:cNvPr id="3" name="TextBox 2"/>
          <p:cNvSpPr txBox="1"/>
          <p:nvPr/>
        </p:nvSpPr>
        <p:spPr>
          <a:xfrm>
            <a:off x="813816" y="1261872"/>
            <a:ext cx="1056132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Part 4 starts here: appendix.</a:t>
            </a:r>
          </a:p>
        </p:txBody>
      </p:sp>
      <p:sp>
        <p:nvSpPr>
          <p:cNvPr id="4" name="TextBox 3"/>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4  •  APPENDIX</a:t>
            </a:r>
          </a:p>
        </p:txBody>
      </p:sp>
      <p:sp>
        <p:nvSpPr>
          <p:cNvPr id="5" name="TextBox 4"/>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21</a:t>
            </a:r>
          </a:p>
        </p:txBody>
      </p:sp>
      <p:sp>
        <p:nvSpPr>
          <p:cNvPr id="6" name="Rounded Rectangle 5"/>
          <p:cNvSpPr/>
          <p:nvPr/>
        </p:nvSpPr>
        <p:spPr>
          <a:xfrm>
            <a:off x="813816" y="1828800"/>
            <a:ext cx="10561320" cy="841248"/>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984248"/>
            <a:ext cx="548640" cy="548640"/>
          </a:xfrm>
          <a:prstGeom prst="rect">
            <a:avLst/>
          </a:prstGeom>
          <a:noFill/>
        </p:spPr>
        <p:txBody>
          <a:bodyPr wrap="square" lIns="0" rIns="0" tIns="0" bIns="0" anchor="t">
            <a:noAutofit/>
          </a:bodyPr>
          <a:lstStyle/>
          <a:p>
            <a:pPr algn="l">
              <a:lnSpc>
                <a:spcPct val="109000"/>
              </a:lnSpc>
              <a:spcBef>
                <a:spcPts val="0"/>
              </a:spcBef>
              <a:spcAft>
                <a:spcPts val="0"/>
              </a:spcAft>
            </a:pPr>
            <a:r>
              <a:rPr sz="3000" b="1">
                <a:solidFill>
                  <a:srgbClr val="00407A"/>
                </a:solidFill>
                <a:latin typeface="Arial"/>
              </a:rPr>
              <a:t>1</a:t>
            </a:r>
          </a:p>
        </p:txBody>
      </p:sp>
      <p:sp>
        <p:nvSpPr>
          <p:cNvPr id="8" name="TextBox 7"/>
          <p:cNvSpPr txBox="1"/>
          <p:nvPr/>
        </p:nvSpPr>
        <p:spPr>
          <a:xfrm>
            <a:off x="1737360" y="1947672"/>
            <a:ext cx="3657600" cy="365760"/>
          </a:xfrm>
          <a:prstGeom prst="rect">
            <a:avLst/>
          </a:prstGeom>
          <a:noFill/>
        </p:spPr>
        <p:txBody>
          <a:bodyPr wrap="square" lIns="0" rIns="0" tIns="0" bIns="0" anchor="t">
            <a:noAutofit/>
          </a:bodyPr>
          <a:lstStyle/>
          <a:p>
            <a:pPr algn="l">
              <a:lnSpc>
                <a:spcPct val="109000"/>
              </a:lnSpc>
              <a:spcBef>
                <a:spcPts val="0"/>
              </a:spcBef>
              <a:spcAft>
                <a:spcPts val="0"/>
              </a:spcAft>
            </a:pPr>
            <a:r>
              <a:rPr sz="2000" b="1">
                <a:solidFill>
                  <a:srgbClr val="00407A"/>
                </a:solidFill>
                <a:latin typeface="Arial"/>
              </a:rPr>
              <a:t>The test</a:t>
            </a:r>
          </a:p>
        </p:txBody>
      </p:sp>
      <p:sp>
        <p:nvSpPr>
          <p:cNvPr id="9" name="TextBox 8"/>
          <p:cNvSpPr txBox="1"/>
          <p:nvPr/>
        </p:nvSpPr>
        <p:spPr>
          <a:xfrm>
            <a:off x="1737360" y="2304288"/>
            <a:ext cx="9509760" cy="320040"/>
          </a:xfrm>
          <a:prstGeom prst="rect">
            <a:avLst/>
          </a:prstGeom>
          <a:noFill/>
        </p:spPr>
        <p:txBody>
          <a:bodyPr wrap="square" lIns="0" rIns="0" tIns="0" bIns="0" anchor="t">
            <a:noAutofit/>
          </a:bodyPr>
          <a:lstStyle/>
          <a:p>
            <a:pPr algn="l">
              <a:lnSpc>
                <a:spcPct val="109000"/>
              </a:lnSpc>
              <a:spcBef>
                <a:spcPts val="0"/>
              </a:spcBef>
              <a:spcAft>
                <a:spcPts val="0"/>
              </a:spcAft>
            </a:pPr>
            <a:r>
              <a:rPr sz="1300" b="0">
                <a:solidFill>
                  <a:srgbClr val="4A5A66"/>
                </a:solidFill>
                <a:latin typeface="Arial"/>
              </a:rPr>
              <a:t>What KEV is, the designs, the eight questions, the five levels, the three examples, how to read the charts</a:t>
            </a:r>
          </a:p>
        </p:txBody>
      </p:sp>
      <p:sp>
        <p:nvSpPr>
          <p:cNvPr id="10" name="Rounded Rectangle 9"/>
          <p:cNvSpPr/>
          <p:nvPr/>
        </p:nvSpPr>
        <p:spPr>
          <a:xfrm>
            <a:off x="813816" y="2779776"/>
            <a:ext cx="10561320" cy="841248"/>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2935224"/>
            <a:ext cx="548640" cy="548640"/>
          </a:xfrm>
          <a:prstGeom prst="rect">
            <a:avLst/>
          </a:prstGeom>
          <a:noFill/>
        </p:spPr>
        <p:txBody>
          <a:bodyPr wrap="square" lIns="0" rIns="0" tIns="0" bIns="0" anchor="t">
            <a:noAutofit/>
          </a:bodyPr>
          <a:lstStyle/>
          <a:p>
            <a:pPr algn="l">
              <a:lnSpc>
                <a:spcPct val="109000"/>
              </a:lnSpc>
              <a:spcBef>
                <a:spcPts val="0"/>
              </a:spcBef>
              <a:spcAft>
                <a:spcPts val="0"/>
              </a:spcAft>
            </a:pPr>
            <a:r>
              <a:rPr sz="3000" b="1">
                <a:solidFill>
                  <a:srgbClr val="00407A"/>
                </a:solidFill>
                <a:latin typeface="Arial"/>
              </a:rPr>
              <a:t>2</a:t>
            </a:r>
          </a:p>
        </p:txBody>
      </p:sp>
      <p:sp>
        <p:nvSpPr>
          <p:cNvPr id="12" name="TextBox 11"/>
          <p:cNvSpPr txBox="1"/>
          <p:nvPr/>
        </p:nvSpPr>
        <p:spPr>
          <a:xfrm>
            <a:off x="1737360" y="2898648"/>
            <a:ext cx="3657600" cy="365760"/>
          </a:xfrm>
          <a:prstGeom prst="rect">
            <a:avLst/>
          </a:prstGeom>
          <a:noFill/>
        </p:spPr>
        <p:txBody>
          <a:bodyPr wrap="square" lIns="0" rIns="0" tIns="0" bIns="0" anchor="t">
            <a:noAutofit/>
          </a:bodyPr>
          <a:lstStyle/>
          <a:p>
            <a:pPr algn="l">
              <a:lnSpc>
                <a:spcPct val="109000"/>
              </a:lnSpc>
              <a:spcBef>
                <a:spcPts val="0"/>
              </a:spcBef>
              <a:spcAft>
                <a:spcPts val="0"/>
              </a:spcAft>
            </a:pPr>
            <a:r>
              <a:rPr sz="2000" b="1">
                <a:solidFill>
                  <a:srgbClr val="00407A"/>
                </a:solidFill>
                <a:latin typeface="Arial"/>
              </a:rPr>
              <a:t>Results per question</a:t>
            </a:r>
          </a:p>
        </p:txBody>
      </p:sp>
      <p:sp>
        <p:nvSpPr>
          <p:cNvPr id="13" name="TextBox 12"/>
          <p:cNvSpPr txBox="1"/>
          <p:nvPr/>
        </p:nvSpPr>
        <p:spPr>
          <a:xfrm>
            <a:off x="1737360" y="3255264"/>
            <a:ext cx="9509760" cy="320040"/>
          </a:xfrm>
          <a:prstGeom prst="rect">
            <a:avLst/>
          </a:prstGeom>
          <a:noFill/>
        </p:spPr>
        <p:txBody>
          <a:bodyPr wrap="square" lIns="0" rIns="0" tIns="0" bIns="0" anchor="t">
            <a:noAutofit/>
          </a:bodyPr>
          <a:lstStyle/>
          <a:p>
            <a:pPr algn="l">
              <a:lnSpc>
                <a:spcPct val="109000"/>
              </a:lnSpc>
              <a:spcBef>
                <a:spcPts val="0"/>
              </a:spcBef>
              <a:spcAft>
                <a:spcPts val="0"/>
              </a:spcAft>
            </a:pPr>
            <a:r>
              <a:rPr sz="1300" b="0">
                <a:solidFill>
                  <a:srgbClr val="4A5A66"/>
                </a:solidFill>
                <a:latin typeface="Arial"/>
              </a:rPr>
              <a:t>All findings in one table; then compile and synthesis, the failure reason, the levels, and the pairs</a:t>
            </a:r>
          </a:p>
        </p:txBody>
      </p:sp>
      <p:sp>
        <p:nvSpPr>
          <p:cNvPr id="14" name="Rounded Rectangle 13"/>
          <p:cNvSpPr/>
          <p:nvPr/>
        </p:nvSpPr>
        <p:spPr>
          <a:xfrm>
            <a:off x="813816" y="3730752"/>
            <a:ext cx="10561320" cy="841248"/>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3886200"/>
            <a:ext cx="548640" cy="548640"/>
          </a:xfrm>
          <a:prstGeom prst="rect">
            <a:avLst/>
          </a:prstGeom>
          <a:noFill/>
        </p:spPr>
        <p:txBody>
          <a:bodyPr wrap="square" lIns="0" rIns="0" tIns="0" bIns="0" anchor="t">
            <a:noAutofit/>
          </a:bodyPr>
          <a:lstStyle/>
          <a:p>
            <a:pPr algn="l">
              <a:lnSpc>
                <a:spcPct val="109000"/>
              </a:lnSpc>
              <a:spcBef>
                <a:spcPts val="0"/>
              </a:spcBef>
              <a:spcAft>
                <a:spcPts val="0"/>
              </a:spcAft>
            </a:pPr>
            <a:r>
              <a:rPr sz="3000" b="1">
                <a:solidFill>
                  <a:srgbClr val="00407A"/>
                </a:solidFill>
                <a:latin typeface="Arial"/>
              </a:rPr>
              <a:t>3</a:t>
            </a:r>
          </a:p>
        </p:txBody>
      </p:sp>
      <p:sp>
        <p:nvSpPr>
          <p:cNvPr id="16" name="TextBox 15"/>
          <p:cNvSpPr txBox="1"/>
          <p:nvPr/>
        </p:nvSpPr>
        <p:spPr>
          <a:xfrm>
            <a:off x="1737360" y="3849624"/>
            <a:ext cx="3657600" cy="365760"/>
          </a:xfrm>
          <a:prstGeom prst="rect">
            <a:avLst/>
          </a:prstGeom>
          <a:noFill/>
        </p:spPr>
        <p:txBody>
          <a:bodyPr wrap="square" lIns="0" rIns="0" tIns="0" bIns="0" anchor="t">
            <a:noAutofit/>
          </a:bodyPr>
          <a:lstStyle/>
          <a:p>
            <a:pPr algn="l">
              <a:lnSpc>
                <a:spcPct val="109000"/>
              </a:lnSpc>
              <a:spcBef>
                <a:spcPts val="0"/>
              </a:spcBef>
              <a:spcAft>
                <a:spcPts val="0"/>
              </a:spcAft>
            </a:pPr>
            <a:r>
              <a:rPr sz="2000" b="1">
                <a:solidFill>
                  <a:srgbClr val="00407A"/>
                </a:solidFill>
                <a:latin typeface="Arial"/>
              </a:rPr>
              <a:t>Conclusions</a:t>
            </a:r>
          </a:p>
        </p:txBody>
      </p:sp>
      <p:sp>
        <p:nvSpPr>
          <p:cNvPr id="17" name="TextBox 16"/>
          <p:cNvSpPr txBox="1"/>
          <p:nvPr/>
        </p:nvSpPr>
        <p:spPr>
          <a:xfrm>
            <a:off x="1737360" y="4206240"/>
            <a:ext cx="9509760" cy="320040"/>
          </a:xfrm>
          <a:prstGeom prst="rect">
            <a:avLst/>
          </a:prstGeom>
          <a:noFill/>
        </p:spPr>
        <p:txBody>
          <a:bodyPr wrap="square" lIns="0" rIns="0" tIns="0" bIns="0" anchor="t">
            <a:noAutofit/>
          </a:bodyPr>
          <a:lstStyle/>
          <a:p>
            <a:pPr algn="l">
              <a:lnSpc>
                <a:spcPct val="109000"/>
              </a:lnSpc>
              <a:spcBef>
                <a:spcPts val="0"/>
              </a:spcBef>
              <a:spcAft>
                <a:spcPts val="0"/>
              </a:spcAft>
            </a:pPr>
            <a:r>
              <a:rPr sz="1300" b="0">
                <a:solidFill>
                  <a:srgbClr val="4A5A66"/>
                </a:solidFill>
                <a:latin typeface="Arial"/>
              </a:rPr>
              <a:t>Relative questions are reliable, absolute questions are not; what KEV can and cannot do</a:t>
            </a:r>
          </a:p>
        </p:txBody>
      </p:sp>
      <p:sp>
        <p:nvSpPr>
          <p:cNvPr id="18" name="Rounded Rectangle 17"/>
          <p:cNvSpPr/>
          <p:nvPr/>
        </p:nvSpPr>
        <p:spPr>
          <a:xfrm>
            <a:off x="813816" y="4681728"/>
            <a:ext cx="10561320" cy="841248"/>
          </a:xfrm>
          <a:prstGeom prst="roundRect">
            <a:avLst>
              <a:gd name="adj" fmla="val 6000"/>
            </a:avLst>
          </a:prstGeom>
          <a:solidFill>
            <a:srgbClr val="0040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4837176"/>
            <a:ext cx="548640" cy="548640"/>
          </a:xfrm>
          <a:prstGeom prst="rect">
            <a:avLst/>
          </a:prstGeom>
          <a:noFill/>
        </p:spPr>
        <p:txBody>
          <a:bodyPr wrap="square" lIns="0" rIns="0" tIns="0" bIns="0" anchor="t">
            <a:noAutofit/>
          </a:bodyPr>
          <a:lstStyle/>
          <a:p>
            <a:pPr algn="l">
              <a:lnSpc>
                <a:spcPct val="109000"/>
              </a:lnSpc>
              <a:spcBef>
                <a:spcPts val="0"/>
              </a:spcBef>
              <a:spcAft>
                <a:spcPts val="0"/>
              </a:spcAft>
            </a:pPr>
            <a:r>
              <a:rPr sz="3000" b="1">
                <a:solidFill>
                  <a:srgbClr val="FFFFFF"/>
                </a:solidFill>
                <a:latin typeface="Arial"/>
              </a:rPr>
              <a:t>4</a:t>
            </a:r>
          </a:p>
        </p:txBody>
      </p:sp>
      <p:sp>
        <p:nvSpPr>
          <p:cNvPr id="20" name="TextBox 19"/>
          <p:cNvSpPr txBox="1"/>
          <p:nvPr/>
        </p:nvSpPr>
        <p:spPr>
          <a:xfrm>
            <a:off x="1737360" y="4800600"/>
            <a:ext cx="3657600" cy="365760"/>
          </a:xfrm>
          <a:prstGeom prst="rect">
            <a:avLst/>
          </a:prstGeom>
          <a:noFill/>
        </p:spPr>
        <p:txBody>
          <a:bodyPr wrap="square" lIns="0" rIns="0" tIns="0" bIns="0" anchor="t">
            <a:noAutofit/>
          </a:bodyPr>
          <a:lstStyle/>
          <a:p>
            <a:pPr algn="l">
              <a:lnSpc>
                <a:spcPct val="109000"/>
              </a:lnSpc>
              <a:spcBef>
                <a:spcPts val="0"/>
              </a:spcBef>
              <a:spcAft>
                <a:spcPts val="0"/>
              </a:spcAft>
            </a:pPr>
            <a:r>
              <a:rPr sz="2000" b="1">
                <a:solidFill>
                  <a:srgbClr val="FFFFFF"/>
                </a:solidFill>
                <a:latin typeface="Arial"/>
              </a:rPr>
              <a:t>Appendix</a:t>
            </a:r>
          </a:p>
        </p:txBody>
      </p:sp>
      <p:sp>
        <p:nvSpPr>
          <p:cNvPr id="21" name="TextBox 20"/>
          <p:cNvSpPr txBox="1"/>
          <p:nvPr/>
        </p:nvSpPr>
        <p:spPr>
          <a:xfrm>
            <a:off x="1737360" y="5157216"/>
            <a:ext cx="9509760" cy="320040"/>
          </a:xfrm>
          <a:prstGeom prst="rect">
            <a:avLst/>
          </a:prstGeom>
          <a:noFill/>
        </p:spPr>
        <p:txBody>
          <a:bodyPr wrap="square" lIns="0" rIns="0" tIns="0" bIns="0" anchor="t">
            <a:noAutofit/>
          </a:bodyPr>
          <a:lstStyle/>
          <a:p>
            <a:pPr algn="l">
              <a:lnSpc>
                <a:spcPct val="109000"/>
              </a:lnSpc>
              <a:spcBef>
                <a:spcPts val="0"/>
              </a:spcBef>
              <a:spcAft>
                <a:spcPts val="0"/>
              </a:spcAft>
            </a:pPr>
            <a:r>
              <a:rPr sz="1300" b="0">
                <a:solidFill>
                  <a:srgbClr val="D7E8F2"/>
                </a:solidFill>
                <a:latin typeface="Arial"/>
              </a:rPr>
              <a:t>Every score with the paired test, class counts, probabilities, level errors, pair orders, runs, files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Every score, without and with three examples</a:t>
            </a:r>
          </a:p>
        </p:txBody>
      </p:sp>
      <p:sp>
        <p:nvSpPr>
          <p:cNvPr id="3" name="TextBox 2"/>
          <p:cNvSpPr txBox="1"/>
          <p:nvPr/>
        </p:nvSpPr>
        <p:spPr>
          <a:xfrm>
            <a:off x="813816" y="1261872"/>
            <a:ext cx="1056132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Each cell: correct answers in %, no examples → three examples. Bold: p &lt; 0.05 (9 of 40 changes).</a:t>
            </a:r>
          </a:p>
        </p:txBody>
      </p:sp>
      <p:sp>
        <p:nvSpPr>
          <p:cNvPr id="4" name="TextBox 3"/>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4  •  APPENDIX</a:t>
            </a:r>
          </a:p>
        </p:txBody>
      </p:sp>
      <p:sp>
        <p:nvSpPr>
          <p:cNvPr id="5" name="TextBox 4"/>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22</a:t>
            </a:r>
          </a:p>
        </p:txBody>
      </p:sp>
      <p:graphicFrame>
        <p:nvGraphicFramePr>
          <p:cNvPr id="6" name="Table 5"/>
          <p:cNvGraphicFramePr>
            <a:graphicFrameLocks noGrp="1"/>
          </p:cNvGraphicFramePr>
          <p:nvPr/>
        </p:nvGraphicFramePr>
        <p:xfrm>
          <a:off x="813816" y="1810512"/>
          <a:ext cx="10561320" cy="3931910"/>
        </p:xfrm>
        <a:graphic>
          <a:graphicData uri="http://schemas.openxmlformats.org/drawingml/2006/table">
            <a:tbl>
              <a:tblPr firstRow="1" bandRow="1">
                <a:tableStyleId>{5C22544A-7EE6-4342-B048-85BDC9FD1C3A}</a:tableStyleId>
              </a:tblPr>
              <a:tblGrid>
                <a:gridCol w="2377440"/>
                <a:gridCol w="594360"/>
                <a:gridCol w="1600200"/>
                <a:gridCol w="1600200"/>
                <a:gridCol w="1600200"/>
                <a:gridCol w="1600200"/>
                <a:gridCol w="1188720"/>
              </a:tblGrid>
              <a:tr h="411480">
                <a:tc>
                  <a:txBody>
                    <a:bodyPr/>
                    <a:lstStyle/>
                    <a:p>
                      <a:pPr algn="l">
                        <a:lnSpc>
                          <a:spcPct val="103000"/>
                        </a:lnSpc>
                        <a:spcBef>
                          <a:spcPts val="0"/>
                        </a:spcBef>
                        <a:spcAft>
                          <a:spcPts val="0"/>
                        </a:spcAft>
                      </a:pPr>
                      <a:r>
                        <a:rPr sz="1300" b="1">
                          <a:solidFill>
                            <a:srgbClr val="FFFFFF"/>
                          </a:solidFill>
                          <a:latin typeface="Arial"/>
                        </a:rPr>
                        <a:t>Question</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300" b="1">
                          <a:solidFill>
                            <a:srgbClr val="FFFFFF"/>
                          </a:solidFill>
                          <a:latin typeface="Arial"/>
                        </a:rPr>
                        <a:t>n</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300" b="1">
                          <a:solidFill>
                            <a:srgbClr val="FFFFFF"/>
                          </a:solidFill>
                          <a:latin typeface="Arial"/>
                        </a:rPr>
                        <a:t>0.8B</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300" b="1">
                          <a:solidFill>
                            <a:srgbClr val="FFFFFF"/>
                          </a:solidFill>
                          <a:latin typeface="Arial"/>
                        </a:rPr>
                        <a:t>4B</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300" b="1">
                          <a:solidFill>
                            <a:srgbClr val="FFFFFF"/>
                          </a:solidFill>
                          <a:latin typeface="Arial"/>
                        </a:rPr>
                        <a:t>9B</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300" b="1">
                          <a:solidFill>
                            <a:srgbClr val="FFFFFF"/>
                          </a:solidFill>
                          <a:latin typeface="Arial"/>
                        </a:rPr>
                        <a:t>27B</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300" b="1">
                          <a:solidFill>
                            <a:srgbClr val="FFFFFF"/>
                          </a:solidFill>
                          <a:latin typeface="Arial"/>
                        </a:rPr>
                        <a:t>Constant</a:t>
                      </a:r>
                    </a:p>
                  </a:txBody>
                  <a:tcPr marL="109728" marR="91440" marT="45720" marB="36576" anchor="ctr">
                    <a:solidFill>
                      <a:srgbClr val="00407A"/>
                    </a:solidFill>
                    <a:lnL>
                      <a:noFill/>
                    </a:lnL>
                    <a:lnR>
                      <a:noFill/>
                    </a:lnR>
                    <a:lnT>
                      <a:noFill/>
                    </a:lnT>
                    <a:lnB>
                      <a:noFill/>
                    </a:lnB>
                  </a:tcPr>
                </a:tc>
              </a:tr>
              <a:tr h="352043">
                <a:tc>
                  <a:txBody>
                    <a:bodyPr/>
                    <a:lstStyle/>
                    <a:p>
                      <a:pPr algn="l">
                        <a:lnSpc>
                          <a:spcPct val="103000"/>
                        </a:lnSpc>
                        <a:spcBef>
                          <a:spcPts val="0"/>
                        </a:spcBef>
                        <a:spcAft>
                          <a:spcPts val="0"/>
                        </a:spcAft>
                      </a:pPr>
                      <a:r>
                        <a:rPr sz="1250" b="0">
                          <a:solidFill>
                            <a:srgbClr val="00407A"/>
                          </a:solidFill>
                          <a:latin typeface="Arial"/>
                        </a:rPr>
                        <a:t>Does it compile?</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123</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10.6% → 8.1%</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92.7% → 94.3%</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94.3% → 94.3%</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99.2% → 95.1%</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92.7%</a:t>
                      </a:r>
                    </a:p>
                  </a:txBody>
                  <a:tcPr marL="109728" marR="91440" marT="45720" marB="36576" anchor="ctr">
                    <a:solidFill>
                      <a:srgbClr val="E3EFF5"/>
                    </a:solidFill>
                    <a:lnL>
                      <a:noFill/>
                    </a:lnL>
                    <a:lnR>
                      <a:noFill/>
                    </a:lnR>
                    <a:lnT>
                      <a:noFill/>
                    </a:lnT>
                    <a:lnB>
                      <a:noFill/>
                    </a:lnB>
                  </a:tcPr>
                </a:tc>
              </a:tr>
              <a:tr h="352043">
                <a:tc>
                  <a:txBody>
                    <a:bodyPr/>
                    <a:lstStyle/>
                    <a:p>
                      <a:pPr algn="l">
                        <a:lnSpc>
                          <a:spcPct val="103000"/>
                        </a:lnSpc>
                        <a:spcBef>
                          <a:spcPts val="0"/>
                        </a:spcBef>
                        <a:spcAft>
                          <a:spcPts val="0"/>
                        </a:spcAft>
                      </a:pPr>
                      <a:r>
                        <a:rPr sz="1250" b="0">
                          <a:solidFill>
                            <a:srgbClr val="00407A"/>
                          </a:solidFill>
                          <a:latin typeface="Arial"/>
                        </a:rPr>
                        <a:t>Does it synthesize?</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123</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1">
                          <a:solidFill>
                            <a:srgbClr val="00407A"/>
                          </a:solidFill>
                          <a:latin typeface="Arial"/>
                        </a:rPr>
                        <a:t>80.5% → 19.5%</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79.7% → 81.3%</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80.5% → 82.9%</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82.9% → 87.8%</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80.5%</a:t>
                      </a:r>
                    </a:p>
                  </a:txBody>
                  <a:tcPr marL="109728" marR="91440" marT="45720" marB="36576" anchor="ctr">
                    <a:solidFill>
                      <a:srgbClr val="FFFFFF"/>
                    </a:solidFill>
                    <a:lnL>
                      <a:noFill/>
                    </a:lnL>
                    <a:lnR>
                      <a:noFill/>
                    </a:lnR>
                    <a:lnT>
                      <a:noFill/>
                    </a:lnT>
                    <a:lnB>
                      <a:noFill/>
                    </a:lnB>
                  </a:tcPr>
                </a:tc>
              </a:tr>
              <a:tr h="352043">
                <a:tc>
                  <a:txBody>
                    <a:bodyPr/>
                    <a:lstStyle/>
                    <a:p>
                      <a:pPr algn="l">
                        <a:lnSpc>
                          <a:spcPct val="103000"/>
                        </a:lnSpc>
                        <a:spcBef>
                          <a:spcPts val="0"/>
                        </a:spcBef>
                        <a:spcAft>
                          <a:spcPts val="0"/>
                        </a:spcAft>
                      </a:pPr>
                      <a:r>
                        <a:rPr sz="1250" b="0">
                          <a:solidFill>
                            <a:srgbClr val="00407A"/>
                          </a:solidFill>
                          <a:latin typeface="Arial"/>
                        </a:rPr>
                        <a:t>Failure reason (told)</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16</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31.3% → 6.3%</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56.3% → 62.5%</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68.8% → 68.8%</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93.8% → 87.5%</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31.3%</a:t>
                      </a:r>
                    </a:p>
                  </a:txBody>
                  <a:tcPr marL="109728" marR="91440" marT="45720" marB="36576" anchor="ctr">
                    <a:solidFill>
                      <a:srgbClr val="E3EFF5"/>
                    </a:solidFill>
                    <a:lnL>
                      <a:noFill/>
                    </a:lnL>
                    <a:lnR>
                      <a:noFill/>
                    </a:lnR>
                    <a:lnT>
                      <a:noFill/>
                    </a:lnT>
                    <a:lnB>
                      <a:noFill/>
                    </a:lnB>
                  </a:tcPr>
                </a:tc>
              </a:tr>
              <a:tr h="352043">
                <a:tc>
                  <a:txBody>
                    <a:bodyPr/>
                    <a:lstStyle/>
                    <a:p>
                      <a:pPr algn="l">
                        <a:lnSpc>
                          <a:spcPct val="103000"/>
                        </a:lnSpc>
                        <a:spcBef>
                          <a:spcPts val="0"/>
                        </a:spcBef>
                        <a:spcAft>
                          <a:spcPts val="0"/>
                        </a:spcAft>
                      </a:pPr>
                      <a:r>
                        <a:rPr sz="1250" b="0">
                          <a:solidFill>
                            <a:srgbClr val="00407A"/>
                          </a:solidFill>
                          <a:latin typeface="Arial"/>
                        </a:rPr>
                        <a:t>Area: exact level</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92</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1">
                          <a:solidFill>
                            <a:srgbClr val="00407A"/>
                          </a:solidFill>
                          <a:latin typeface="Arial"/>
                        </a:rPr>
                        <a:t>35.9% → 2.2%</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35.9% → 50.0%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57.6% → 54.3%</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1">
                          <a:solidFill>
                            <a:srgbClr val="00407A"/>
                          </a:solidFill>
                          <a:latin typeface="Arial"/>
                        </a:rPr>
                        <a:t>66.3% → 52.2%</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35.9%</a:t>
                      </a:r>
                    </a:p>
                  </a:txBody>
                  <a:tcPr marL="109728" marR="91440" marT="45720" marB="36576" anchor="ctr">
                    <a:solidFill>
                      <a:srgbClr val="FFFFFF"/>
                    </a:solidFill>
                    <a:lnL>
                      <a:noFill/>
                    </a:lnL>
                    <a:lnR>
                      <a:noFill/>
                    </a:lnR>
                    <a:lnT>
                      <a:noFill/>
                    </a:lnT>
                    <a:lnB>
                      <a:noFill/>
                    </a:lnB>
                  </a:tcPr>
                </a:tc>
              </a:tr>
              <a:tr h="352043">
                <a:tc>
                  <a:txBody>
                    <a:bodyPr/>
                    <a:lstStyle/>
                    <a:p>
                      <a:pPr algn="l">
                        <a:lnSpc>
                          <a:spcPct val="103000"/>
                        </a:lnSpc>
                        <a:spcBef>
                          <a:spcPts val="0"/>
                        </a:spcBef>
                        <a:spcAft>
                          <a:spcPts val="0"/>
                        </a:spcAft>
                      </a:pPr>
                      <a:r>
                        <a:rPr sz="1250" b="0">
                          <a:solidFill>
                            <a:srgbClr val="00407A"/>
                          </a:solidFill>
                          <a:latin typeface="Arial"/>
                        </a:rPr>
                        <a:t>Power: exact level</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85</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1">
                          <a:solidFill>
                            <a:srgbClr val="00407A"/>
                          </a:solidFill>
                          <a:latin typeface="Arial"/>
                        </a:rPr>
                        <a:t>27.1% → 0.0%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45.9% → 40.0%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40.0% → 28.2%</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1">
                          <a:solidFill>
                            <a:srgbClr val="00407A"/>
                          </a:solidFill>
                          <a:latin typeface="Arial"/>
                        </a:rPr>
                        <a:t>10.6% → 42.4%</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43.5%</a:t>
                      </a:r>
                    </a:p>
                  </a:txBody>
                  <a:tcPr marL="109728" marR="91440" marT="45720" marB="36576" anchor="ctr">
                    <a:solidFill>
                      <a:srgbClr val="E3EFF5"/>
                    </a:solidFill>
                    <a:lnL>
                      <a:noFill/>
                    </a:lnL>
                    <a:lnR>
                      <a:noFill/>
                    </a:lnR>
                    <a:lnT>
                      <a:noFill/>
                    </a:lnT>
                    <a:lnB>
                      <a:noFill/>
                    </a:lnB>
                  </a:tcPr>
                </a:tc>
              </a:tr>
              <a:tr h="352043">
                <a:tc>
                  <a:txBody>
                    <a:bodyPr/>
                    <a:lstStyle/>
                    <a:p>
                      <a:pPr algn="l">
                        <a:lnSpc>
                          <a:spcPct val="103000"/>
                        </a:lnSpc>
                        <a:spcBef>
                          <a:spcPts val="0"/>
                        </a:spcBef>
                        <a:spcAft>
                          <a:spcPts val="0"/>
                        </a:spcAft>
                      </a:pPr>
                      <a:r>
                        <a:rPr sz="1250" b="0">
                          <a:solidFill>
                            <a:srgbClr val="00407A"/>
                          </a:solidFill>
                          <a:latin typeface="Arial"/>
                        </a:rPr>
                        <a:t>Frequency: exact level</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92</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14.1% → 23.9%</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12.0% → 22.8%</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14.1% → 16.3%</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1">
                          <a:solidFill>
                            <a:srgbClr val="00407A"/>
                          </a:solidFill>
                          <a:latin typeface="Arial"/>
                        </a:rPr>
                        <a:t>14.1% → 39.1%</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48.9%</a:t>
                      </a:r>
                    </a:p>
                  </a:txBody>
                  <a:tcPr marL="109728" marR="91440" marT="45720" marB="36576" anchor="ctr">
                    <a:solidFill>
                      <a:srgbClr val="FFFFFF"/>
                    </a:solidFill>
                    <a:lnL>
                      <a:noFill/>
                    </a:lnL>
                    <a:lnR>
                      <a:noFill/>
                    </a:lnR>
                    <a:lnT>
                      <a:noFill/>
                    </a:lnT>
                    <a:lnB>
                      <a:noFill/>
                    </a:lnB>
                  </a:tcPr>
                </a:tc>
              </a:tr>
              <a:tr h="352043">
                <a:tc>
                  <a:txBody>
                    <a:bodyPr/>
                    <a:lstStyle/>
                    <a:p>
                      <a:pPr algn="l">
                        <a:lnSpc>
                          <a:spcPct val="103000"/>
                        </a:lnSpc>
                        <a:spcBef>
                          <a:spcPts val="0"/>
                        </a:spcBef>
                        <a:spcAft>
                          <a:spcPts val="0"/>
                        </a:spcAft>
                      </a:pPr>
                      <a:r>
                        <a:rPr sz="1250" b="0">
                          <a:solidFill>
                            <a:srgbClr val="00407A"/>
                          </a:solidFill>
                          <a:latin typeface="Arial"/>
                        </a:rPr>
                        <a:t>Slack: exact level</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92</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1">
                          <a:solidFill>
                            <a:srgbClr val="00407A"/>
                          </a:solidFill>
                          <a:latin typeface="Arial"/>
                        </a:rPr>
                        <a:t>8.7% → 68.5%</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4.3% → 10.9%</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1">
                          <a:solidFill>
                            <a:srgbClr val="00407A"/>
                          </a:solidFill>
                          <a:latin typeface="Arial"/>
                        </a:rPr>
                        <a:t>3.3% → 16.3%</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1">
                          <a:solidFill>
                            <a:srgbClr val="00407A"/>
                          </a:solidFill>
                          <a:latin typeface="Arial"/>
                        </a:rPr>
                        <a:t>32.6% → 65.2%</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68.5%</a:t>
                      </a:r>
                    </a:p>
                  </a:txBody>
                  <a:tcPr marL="109728" marR="91440" marT="45720" marB="36576" anchor="ctr">
                    <a:solidFill>
                      <a:srgbClr val="E3EFF5"/>
                    </a:solidFill>
                    <a:lnL>
                      <a:noFill/>
                    </a:lnL>
                    <a:lnR>
                      <a:noFill/>
                    </a:lnR>
                    <a:lnT>
                      <a:noFill/>
                    </a:lnT>
                    <a:lnB>
                      <a:noFill/>
                    </a:lnB>
                  </a:tcPr>
                </a:tc>
              </a:tr>
              <a:tr h="352043">
                <a:tc>
                  <a:txBody>
                    <a:bodyPr/>
                    <a:lstStyle/>
                    <a:p>
                      <a:pPr algn="l">
                        <a:lnSpc>
                          <a:spcPct val="103000"/>
                        </a:lnSpc>
                        <a:spcBef>
                          <a:spcPts val="0"/>
                        </a:spcBef>
                        <a:spcAft>
                          <a:spcPts val="0"/>
                        </a:spcAft>
                      </a:pPr>
                      <a:r>
                        <a:rPr sz="1250" b="0">
                          <a:solidFill>
                            <a:srgbClr val="00407A"/>
                          </a:solidFill>
                          <a:latin typeface="Arial"/>
                        </a:rPr>
                        <a:t>Pair: smaller area</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46</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47.8% → 50.0%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76.1% → 67.4%</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87.0% → 76.1%</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78.3% → 89.1%</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50.0%</a:t>
                      </a:r>
                    </a:p>
                  </a:txBody>
                  <a:tcPr marL="109728" marR="91440" marT="45720" marB="36576" anchor="ctr">
                    <a:solidFill>
                      <a:srgbClr val="FFFFFF"/>
                    </a:solidFill>
                    <a:lnL>
                      <a:noFill/>
                    </a:lnL>
                    <a:lnR>
                      <a:noFill/>
                    </a:lnR>
                    <a:lnT>
                      <a:noFill/>
                    </a:lnT>
                    <a:lnB>
                      <a:noFill/>
                    </a:lnB>
                  </a:tcPr>
                </a:tc>
              </a:tr>
              <a:tr h="352043">
                <a:tc>
                  <a:txBody>
                    <a:bodyPr/>
                    <a:lstStyle/>
                    <a:p>
                      <a:pPr algn="l">
                        <a:lnSpc>
                          <a:spcPct val="103000"/>
                        </a:lnSpc>
                        <a:spcBef>
                          <a:spcPts val="0"/>
                        </a:spcBef>
                        <a:spcAft>
                          <a:spcPts val="0"/>
                        </a:spcAft>
                      </a:pPr>
                      <a:r>
                        <a:rPr sz="1250" b="0">
                          <a:solidFill>
                            <a:srgbClr val="00407A"/>
                          </a:solidFill>
                          <a:latin typeface="Arial"/>
                        </a:rPr>
                        <a:t>Pair: lower power</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44</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63.6% → 54.5%</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56.8% → 63.6%</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65.9% → 70.5%</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70.5% → 79.5%</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50.0%</a:t>
                      </a:r>
                    </a:p>
                  </a:txBody>
                  <a:tcPr marL="109728" marR="91440" marT="45720" marB="36576" anchor="ctr">
                    <a:solidFill>
                      <a:srgbClr val="E3EFF5"/>
                    </a:solidFill>
                    <a:lnL>
                      <a:noFill/>
                    </a:lnL>
                    <a:lnR>
                      <a:noFill/>
                    </a:lnR>
                    <a:lnT>
                      <a:noFill/>
                    </a:lnT>
                    <a:lnB>
                      <a:noFill/>
                    </a:lnB>
                  </a:tcPr>
                </a:tc>
              </a:tr>
              <a:tr h="352043">
                <a:tc>
                  <a:txBody>
                    <a:bodyPr/>
                    <a:lstStyle/>
                    <a:p>
                      <a:pPr algn="l">
                        <a:lnSpc>
                          <a:spcPct val="103000"/>
                        </a:lnSpc>
                        <a:spcBef>
                          <a:spcPts val="0"/>
                        </a:spcBef>
                        <a:spcAft>
                          <a:spcPts val="0"/>
                        </a:spcAft>
                      </a:pPr>
                      <a:r>
                        <a:rPr sz="1250" b="0">
                          <a:solidFill>
                            <a:srgbClr val="00407A"/>
                          </a:solidFill>
                          <a:latin typeface="Arial"/>
                        </a:rPr>
                        <a:t>Pair: higher frequency</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12</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66.7% → 50.0%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83.3% → 50.0%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75.0% → 75.0%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83.3% → 91.7%</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250" b="0">
                          <a:solidFill>
                            <a:srgbClr val="00407A"/>
                          </a:solidFill>
                          <a:latin typeface="Arial"/>
                        </a:rPr>
                        <a:t>50.0%</a:t>
                      </a:r>
                    </a:p>
                  </a:txBody>
                  <a:tcPr marL="109728" marR="91440" marT="45720" marB="36576" anchor="ctr">
                    <a:solidFill>
                      <a:srgbClr val="FFFFFF"/>
                    </a:solidFill>
                    <a:lnL>
                      <a:noFill/>
                    </a:lnL>
                    <a:lnR>
                      <a:noFill/>
                    </a:lnR>
                    <a:lnT>
                      <a:noFill/>
                    </a:lnT>
                    <a:lnB>
                      <a:noFill/>
                    </a:lnB>
                  </a:tcPr>
                </a:tc>
              </a:tr>
            </a:tbl>
          </a:graphicData>
        </a:graphic>
      </p:graphicFrame>
      <p:sp>
        <p:nvSpPr>
          <p:cNvPr id="7" name="TextBox 6"/>
          <p:cNvSpPr txBox="1"/>
          <p:nvPr/>
        </p:nvSpPr>
        <p:spPr>
          <a:xfrm>
            <a:off x="868680" y="5852160"/>
            <a:ext cx="10424160" cy="457200"/>
          </a:xfrm>
          <a:prstGeom prst="rect">
            <a:avLst/>
          </a:prstGeom>
          <a:noFill/>
        </p:spPr>
        <p:txBody>
          <a:bodyPr wrap="square" lIns="0" rIns="0" tIns="0" bIns="0" anchor="t">
            <a:noAutofit/>
          </a:bodyPr>
          <a:lstStyle/>
          <a:p>
            <a:pPr algn="l">
              <a:lnSpc>
                <a:spcPct val="109000"/>
              </a:lnSpc>
              <a:spcBef>
                <a:spcPts val="0"/>
              </a:spcBef>
              <a:spcAft>
                <a:spcPts val="0"/>
              </a:spcAft>
            </a:pPr>
            <a:r>
              <a:rPr sz="1200" b="0">
                <a:solidFill>
                  <a:srgbClr val="4A5A66"/>
                </a:solidFill>
                <a:latin typeface="Arial"/>
              </a:rPr>
              <a:t>Constant: the score of the most common test label (always “yes”, one level, one reason, or one letter). The p value is the exact two-sided McNemar test on the paired questions; with 40 tests about 2 fall below 0.05 by chance.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Yes/no checks: correct answers per tool outcome</a:t>
            </a:r>
          </a:p>
        </p:txBody>
      </p:sp>
      <p:sp>
        <p:nvSpPr>
          <p:cNvPr id="3" name="TextBox 2"/>
          <p:cNvSpPr txBox="1"/>
          <p:nvPr/>
        </p:nvSpPr>
        <p:spPr>
          <a:xfrm>
            <a:off x="813816" y="1261872"/>
            <a:ext cx="1056132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Each cell: designs of the group with a correct answer, no examples → three examples. “Yes” answers: of 123.</a:t>
            </a:r>
          </a:p>
        </p:txBody>
      </p:sp>
      <p:sp>
        <p:nvSpPr>
          <p:cNvPr id="4" name="TextBox 3"/>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4  •  APPENDIX</a:t>
            </a:r>
          </a:p>
        </p:txBody>
      </p:sp>
      <p:sp>
        <p:nvSpPr>
          <p:cNvPr id="5" name="TextBox 4"/>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23</a:t>
            </a:r>
          </a:p>
        </p:txBody>
      </p:sp>
      <p:graphicFrame>
        <p:nvGraphicFramePr>
          <p:cNvPr id="6" name="Table 5"/>
          <p:cNvGraphicFramePr>
            <a:graphicFrameLocks noGrp="1"/>
          </p:cNvGraphicFramePr>
          <p:nvPr/>
        </p:nvGraphicFramePr>
        <p:xfrm>
          <a:off x="813816" y="1810512"/>
          <a:ext cx="10561320" cy="3749032"/>
        </p:xfrm>
        <a:graphic>
          <a:graphicData uri="http://schemas.openxmlformats.org/drawingml/2006/table">
            <a:tbl>
              <a:tblPr firstRow="1" bandRow="1">
                <a:tableStyleId>{5C22544A-7EE6-4342-B048-85BDC9FD1C3A}</a:tableStyleId>
              </a:tblPr>
              <a:tblGrid>
                <a:gridCol w="3108960"/>
                <a:gridCol w="1051560"/>
                <a:gridCol w="1600200"/>
                <a:gridCol w="1600200"/>
                <a:gridCol w="1600200"/>
                <a:gridCol w="1600200"/>
              </a:tblGrid>
              <a:tr h="411480">
                <a:tc>
                  <a:txBody>
                    <a:bodyPr/>
                    <a:lstStyle/>
                    <a:p>
                      <a:pPr algn="l">
                        <a:lnSpc>
                          <a:spcPct val="103000"/>
                        </a:lnSpc>
                        <a:spcBef>
                          <a:spcPts val="0"/>
                        </a:spcBef>
                        <a:spcAft>
                          <a:spcPts val="0"/>
                        </a:spcAft>
                      </a:pPr>
                      <a:r>
                        <a:rPr sz="1400" b="1">
                          <a:solidFill>
                            <a:srgbClr val="FFFFFF"/>
                          </a:solidFill>
                          <a:latin typeface="Arial"/>
                        </a:rPr>
                        <a:t>Group</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Designs</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0.8B</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4B</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9B</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27B</a:t>
                      </a:r>
                    </a:p>
                  </a:txBody>
                  <a:tcPr marL="109728" marR="91440" marT="45720" marB="36576" anchor="ctr">
                    <a:solidFill>
                      <a:srgbClr val="00407A"/>
                    </a:solidFill>
                    <a:lnL>
                      <a:noFill/>
                    </a:lnL>
                    <a:lnR>
                      <a:noFill/>
                    </a:lnR>
                    <a:lnT>
                      <a:noFill/>
                    </a:lnT>
                    <a:lnB>
                      <a:noFill/>
                    </a:lnB>
                  </a:tcPr>
                </a:tc>
              </a:tr>
              <a:tr h="417194">
                <a:tc>
                  <a:txBody>
                    <a:bodyPr/>
                    <a:lstStyle/>
                    <a:p>
                      <a:pPr algn="l">
                        <a:lnSpc>
                          <a:spcPct val="103000"/>
                        </a:lnSpc>
                        <a:spcBef>
                          <a:spcPts val="0"/>
                        </a:spcBef>
                        <a:spcAft>
                          <a:spcPts val="0"/>
                        </a:spcAft>
                      </a:pPr>
                      <a:r>
                        <a:rPr sz="1500" b="0">
                          <a:solidFill>
                            <a:srgbClr val="00407A"/>
                          </a:solidFill>
                          <a:latin typeface="Arial"/>
                        </a:rPr>
                        <a:t>Compile: the tool says “yes”</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114</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4 → 1</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114 → 113</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114 → 112</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114 → 108</a:t>
                      </a:r>
                    </a:p>
                  </a:txBody>
                  <a:tcPr marL="109728" marR="91440" marT="45720" marB="36576" anchor="ctr">
                    <a:solidFill>
                      <a:srgbClr val="E3EFF5"/>
                    </a:solidFill>
                    <a:lnL>
                      <a:noFill/>
                    </a:lnL>
                    <a:lnR>
                      <a:noFill/>
                    </a:lnR>
                    <a:lnT>
                      <a:noFill/>
                    </a:lnT>
                    <a:lnB>
                      <a:noFill/>
                    </a:lnB>
                  </a:tcPr>
                </a:tc>
              </a:tr>
              <a:tr h="417194">
                <a:tc>
                  <a:txBody>
                    <a:bodyPr/>
                    <a:lstStyle/>
                    <a:p>
                      <a:pPr algn="l">
                        <a:lnSpc>
                          <a:spcPct val="103000"/>
                        </a:lnSpc>
                        <a:spcBef>
                          <a:spcPts val="0"/>
                        </a:spcBef>
                        <a:spcAft>
                          <a:spcPts val="0"/>
                        </a:spcAft>
                      </a:pPr>
                      <a:r>
                        <a:rPr sz="1500" b="0">
                          <a:solidFill>
                            <a:srgbClr val="00407A"/>
                          </a:solidFill>
                          <a:latin typeface="Arial"/>
                        </a:rPr>
                        <a:t>Compile: the tool says “no”</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9</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9 → 9</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 → 3</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2 → 4</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8 → 9</a:t>
                      </a:r>
                    </a:p>
                  </a:txBody>
                  <a:tcPr marL="109728" marR="91440" marT="45720" marB="36576" anchor="ctr">
                    <a:solidFill>
                      <a:srgbClr val="FFFFFF"/>
                    </a:solidFill>
                    <a:lnL>
                      <a:noFill/>
                    </a:lnL>
                    <a:lnR>
                      <a:noFill/>
                    </a:lnR>
                    <a:lnT>
                      <a:noFill/>
                    </a:lnT>
                    <a:lnB>
                      <a:noFill/>
                    </a:lnB>
                  </a:tcPr>
                </a:tc>
              </a:tr>
              <a:tr h="417194">
                <a:tc>
                  <a:txBody>
                    <a:bodyPr/>
                    <a:lstStyle/>
                    <a:p>
                      <a:pPr algn="l">
                        <a:lnSpc>
                          <a:spcPct val="103000"/>
                        </a:lnSpc>
                        <a:spcBef>
                          <a:spcPts val="0"/>
                        </a:spcBef>
                        <a:spcAft>
                          <a:spcPts val="0"/>
                        </a:spcAft>
                      </a:pPr>
                      <a:r>
                        <a:rPr sz="1500" b="0">
                          <a:solidFill>
                            <a:srgbClr val="00407A"/>
                          </a:solidFill>
                          <a:latin typeface="Arial"/>
                        </a:rPr>
                        <a:t>Compile: all designs</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123</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13 → 10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114 → 116</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116 → 116</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122 → 117</a:t>
                      </a:r>
                    </a:p>
                  </a:txBody>
                  <a:tcPr marL="109728" marR="91440" marT="45720" marB="36576" anchor="ctr">
                    <a:solidFill>
                      <a:srgbClr val="E3EFF5"/>
                    </a:solidFill>
                    <a:lnL>
                      <a:noFill/>
                    </a:lnL>
                    <a:lnR>
                      <a:noFill/>
                    </a:lnR>
                    <a:lnT>
                      <a:noFill/>
                    </a:lnT>
                    <a:lnB>
                      <a:noFill/>
                    </a:lnB>
                  </a:tcPr>
                </a:tc>
              </a:tr>
              <a:tr h="417194">
                <a:tc>
                  <a:txBody>
                    <a:bodyPr/>
                    <a:lstStyle/>
                    <a:p>
                      <a:pPr algn="l">
                        <a:lnSpc>
                          <a:spcPct val="103000"/>
                        </a:lnSpc>
                        <a:spcBef>
                          <a:spcPts val="0"/>
                        </a:spcBef>
                        <a:spcAft>
                          <a:spcPts val="0"/>
                        </a:spcAft>
                      </a:pPr>
                      <a:r>
                        <a:rPr sz="1500" b="0">
                          <a:solidFill>
                            <a:srgbClr val="00407A"/>
                          </a:solidFill>
                          <a:latin typeface="Arial"/>
                        </a:rPr>
                        <a:t>Compile: “yes” answers</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123</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4 → 1</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123 → 119</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121 → 117</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115 → 108</a:t>
                      </a:r>
                    </a:p>
                  </a:txBody>
                  <a:tcPr marL="109728" marR="91440" marT="45720" marB="36576" anchor="ctr">
                    <a:solidFill>
                      <a:srgbClr val="FFFFFF"/>
                    </a:solidFill>
                    <a:lnL>
                      <a:noFill/>
                    </a:lnL>
                    <a:lnR>
                      <a:noFill/>
                    </a:lnR>
                    <a:lnT>
                      <a:noFill/>
                    </a:lnT>
                    <a:lnB>
                      <a:noFill/>
                    </a:lnB>
                  </a:tcPr>
                </a:tc>
              </a:tr>
              <a:tr h="417194">
                <a:tc>
                  <a:txBody>
                    <a:bodyPr/>
                    <a:lstStyle/>
                    <a:p>
                      <a:pPr algn="l">
                        <a:lnSpc>
                          <a:spcPct val="103000"/>
                        </a:lnSpc>
                        <a:spcBef>
                          <a:spcPts val="0"/>
                        </a:spcBef>
                        <a:spcAft>
                          <a:spcPts val="0"/>
                        </a:spcAft>
                      </a:pPr>
                      <a:r>
                        <a:rPr sz="1500" b="0">
                          <a:solidFill>
                            <a:srgbClr val="00407A"/>
                          </a:solidFill>
                          <a:latin typeface="Arial"/>
                        </a:rPr>
                        <a:t>Synthesis: the tool says “yes”</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99</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99 → 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98 → 98</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97 → 98</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98 → 96</a:t>
                      </a:r>
                    </a:p>
                  </a:txBody>
                  <a:tcPr marL="109728" marR="91440" marT="45720" marB="36576" anchor="ctr">
                    <a:solidFill>
                      <a:srgbClr val="E3EFF5"/>
                    </a:solidFill>
                    <a:lnL>
                      <a:noFill/>
                    </a:lnL>
                    <a:lnR>
                      <a:noFill/>
                    </a:lnR>
                    <a:lnT>
                      <a:noFill/>
                    </a:lnT>
                    <a:lnB>
                      <a:noFill/>
                    </a:lnB>
                  </a:tcPr>
                </a:tc>
              </a:tr>
              <a:tr h="417194">
                <a:tc>
                  <a:txBody>
                    <a:bodyPr/>
                    <a:lstStyle/>
                    <a:p>
                      <a:pPr algn="l">
                        <a:lnSpc>
                          <a:spcPct val="103000"/>
                        </a:lnSpc>
                        <a:spcBef>
                          <a:spcPts val="0"/>
                        </a:spcBef>
                        <a:spcAft>
                          <a:spcPts val="0"/>
                        </a:spcAft>
                      </a:pPr>
                      <a:r>
                        <a:rPr sz="1500" b="0">
                          <a:solidFill>
                            <a:srgbClr val="00407A"/>
                          </a:solidFill>
                          <a:latin typeface="Arial"/>
                        </a:rPr>
                        <a:t>Synthesis: the tool says “no”</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24</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 → 24</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 → 2</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2 → 4</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4 → 12</a:t>
                      </a:r>
                    </a:p>
                  </a:txBody>
                  <a:tcPr marL="109728" marR="91440" marT="45720" marB="36576" anchor="ctr">
                    <a:solidFill>
                      <a:srgbClr val="FFFFFF"/>
                    </a:solidFill>
                    <a:lnL>
                      <a:noFill/>
                    </a:lnL>
                    <a:lnR>
                      <a:noFill/>
                    </a:lnR>
                    <a:lnT>
                      <a:noFill/>
                    </a:lnT>
                    <a:lnB>
                      <a:noFill/>
                    </a:lnB>
                  </a:tcPr>
                </a:tc>
              </a:tr>
              <a:tr h="417194">
                <a:tc>
                  <a:txBody>
                    <a:bodyPr/>
                    <a:lstStyle/>
                    <a:p>
                      <a:pPr algn="l">
                        <a:lnSpc>
                          <a:spcPct val="103000"/>
                        </a:lnSpc>
                        <a:spcBef>
                          <a:spcPts val="0"/>
                        </a:spcBef>
                        <a:spcAft>
                          <a:spcPts val="0"/>
                        </a:spcAft>
                      </a:pPr>
                      <a:r>
                        <a:rPr sz="1500" b="0">
                          <a:solidFill>
                            <a:srgbClr val="00407A"/>
                          </a:solidFill>
                          <a:latin typeface="Arial"/>
                        </a:rPr>
                        <a:t>Synthesis: all designs</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123</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99 → 24</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98 → 100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99 → 102</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102 → 108</a:t>
                      </a:r>
                    </a:p>
                  </a:txBody>
                  <a:tcPr marL="109728" marR="91440" marT="45720" marB="36576" anchor="ctr">
                    <a:solidFill>
                      <a:srgbClr val="E3EFF5"/>
                    </a:solidFill>
                    <a:lnL>
                      <a:noFill/>
                    </a:lnL>
                    <a:lnR>
                      <a:noFill/>
                    </a:lnR>
                    <a:lnT>
                      <a:noFill/>
                    </a:lnT>
                    <a:lnB>
                      <a:noFill/>
                    </a:lnB>
                  </a:tcPr>
                </a:tc>
              </a:tr>
              <a:tr h="417194">
                <a:tc>
                  <a:txBody>
                    <a:bodyPr/>
                    <a:lstStyle/>
                    <a:p>
                      <a:pPr algn="l">
                        <a:lnSpc>
                          <a:spcPct val="103000"/>
                        </a:lnSpc>
                        <a:spcBef>
                          <a:spcPts val="0"/>
                        </a:spcBef>
                        <a:spcAft>
                          <a:spcPts val="0"/>
                        </a:spcAft>
                      </a:pPr>
                      <a:r>
                        <a:rPr sz="1500" b="0">
                          <a:solidFill>
                            <a:srgbClr val="00407A"/>
                          </a:solidFill>
                          <a:latin typeface="Arial"/>
                        </a:rPr>
                        <a:t>Synthesis: “yes” answers</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123</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123 → 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122 → 120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119 → 118</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118 → 108</a:t>
                      </a:r>
                    </a:p>
                  </a:txBody>
                  <a:tcPr marL="109728" marR="91440" marT="45720" marB="36576" anchor="ctr">
                    <a:solidFill>
                      <a:srgbClr val="FFFFFF"/>
                    </a:solidFill>
                    <a:lnL>
                      <a:noFill/>
                    </a:lnL>
                    <a:lnR>
                      <a:noFill/>
                    </a:lnR>
                    <a:lnT>
                      <a:noFill/>
                    </a:lnT>
                    <a:lnB>
                      <a:noFill/>
                    </a:lnB>
                  </a:tcPr>
                </a:tc>
              </a:tr>
            </a:tbl>
          </a:graphicData>
        </a:graphic>
      </p:graphicFrame>
      <p:sp>
        <p:nvSpPr>
          <p:cNvPr id="7" name="TextBox 6"/>
          <p:cNvSpPr txBox="1"/>
          <p:nvPr/>
        </p:nvSpPr>
        <p:spPr>
          <a:xfrm>
            <a:off x="868680" y="5715000"/>
            <a:ext cx="10424160" cy="274320"/>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4A5A66"/>
                </a:solidFill>
                <a:latin typeface="Arial"/>
              </a:rPr>
              <a:t>“All designs” is the score of the result slides. The paired tests within each group are in the speaker notes.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Yes probability of every design, no examples</a:t>
            </a:r>
          </a:p>
        </p:txBody>
      </p:sp>
      <p:sp>
        <p:nvSpPr>
          <p:cNvPr id="3" name="TextBox 2"/>
          <p:cNvSpPr txBox="1"/>
          <p:nvPr/>
        </p:nvSpPr>
        <p:spPr>
          <a:xfrm>
            <a:off x="813816" y="1261872"/>
            <a:ext cx="1056132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Each dot is one test design. 0.5 or more counts as “yes”. Teal: the tool says “yes”; orange: it says “no”.</a:t>
            </a:r>
          </a:p>
        </p:txBody>
      </p:sp>
      <p:sp>
        <p:nvSpPr>
          <p:cNvPr id="4" name="TextBox 3"/>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4  •  APPENDIX</a:t>
            </a:r>
          </a:p>
        </p:txBody>
      </p:sp>
      <p:sp>
        <p:nvSpPr>
          <p:cNvPr id="5" name="TextBox 4"/>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24</a:t>
            </a:r>
          </a:p>
        </p:txBody>
      </p:sp>
      <p:sp>
        <p:nvSpPr>
          <p:cNvPr id="6" name="Rounded Rectangle 5"/>
          <p:cNvSpPr/>
          <p:nvPr/>
        </p:nvSpPr>
        <p:spPr>
          <a:xfrm>
            <a:off x="813816" y="1819656"/>
            <a:ext cx="5166360" cy="3730752"/>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4984" y="1984248"/>
            <a:ext cx="4764024" cy="502920"/>
          </a:xfrm>
          <a:prstGeom prst="rect">
            <a:avLst/>
          </a:prstGeom>
          <a:noFill/>
        </p:spPr>
        <p:txBody>
          <a:bodyPr wrap="square" lIns="0" rIns="0" tIns="0" bIns="0" anchor="t">
            <a:noAutofit/>
          </a:bodyPr>
          <a:lstStyle/>
          <a:p>
            <a:pPr algn="l">
              <a:lnSpc>
                <a:spcPct val="109000"/>
              </a:lnSpc>
              <a:spcBef>
                <a:spcPts val="0"/>
              </a:spcBef>
              <a:spcAft>
                <a:spcPts val="0"/>
              </a:spcAft>
            </a:pPr>
            <a:r>
              <a:rPr sz="1800" b="1">
                <a:solidFill>
                  <a:srgbClr val="00407A"/>
                </a:solidFill>
                <a:latin typeface="Arial"/>
              </a:rPr>
              <a:t>Does it compile?</a:t>
            </a:r>
          </a:p>
        </p:txBody>
      </p:sp>
      <p:sp>
        <p:nvSpPr>
          <p:cNvPr id="8" name="TextBox 7"/>
          <p:cNvSpPr txBox="1"/>
          <p:nvPr/>
        </p:nvSpPr>
        <p:spPr>
          <a:xfrm>
            <a:off x="1014984" y="2432304"/>
            <a:ext cx="4764024" cy="274320"/>
          </a:xfrm>
          <a:prstGeom prst="rect">
            <a:avLst/>
          </a:prstGeom>
          <a:noFill/>
        </p:spPr>
        <p:txBody>
          <a:bodyPr wrap="square" lIns="0" rIns="0" tIns="0" bIns="0">
            <a:noAutofit/>
          </a:bodyPr>
          <a:lstStyle/>
          <a:p>
            <a:r>
              <a:rPr sz="1250">
                <a:solidFill>
                  <a:srgbClr val="1D8DB0"/>
                </a:solidFill>
                <a:latin typeface="Arial"/>
              </a:rPr>
              <a:t>●</a:t>
            </a:r>
            <a:r>
              <a:rPr sz="1250">
                <a:solidFill>
                  <a:srgbClr val="4A5A66"/>
                </a:solidFill>
                <a:latin typeface="Arial"/>
              </a:rPr>
              <a:t> vlog accepts: 114</a:t>
            </a:r>
            <a:r>
              <a:rPr sz="1250">
                <a:solidFill>
                  <a:srgbClr val="E97132"/>
                </a:solidFill>
                <a:latin typeface="Arial"/>
              </a:rPr>
              <a:t>      ●</a:t>
            </a:r>
            <a:r>
              <a:rPr sz="1250">
                <a:solidFill>
                  <a:srgbClr val="4A5A66"/>
                </a:solidFill>
                <a:latin typeface="Arial"/>
              </a:rPr>
              <a:t> vlog rejects: 9</a:t>
            </a:r>
          </a:p>
        </p:txBody>
      </p:sp>
      <p:cxnSp>
        <p:nvCxnSpPr>
          <p:cNvPr id="9" name="Connector 8"/>
          <p:cNvCxnSpPr/>
          <p:nvPr/>
        </p:nvCxnSpPr>
        <p:spPr>
          <a:xfrm>
            <a:off x="1664208" y="2825496"/>
            <a:ext cx="0" cy="1947672"/>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463040" y="4764024"/>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0</a:t>
            </a:r>
          </a:p>
        </p:txBody>
      </p:sp>
      <p:cxnSp>
        <p:nvCxnSpPr>
          <p:cNvPr id="11" name="Connector 10"/>
          <p:cNvCxnSpPr/>
          <p:nvPr/>
        </p:nvCxnSpPr>
        <p:spPr>
          <a:xfrm>
            <a:off x="3172968" y="2825496"/>
            <a:ext cx="0" cy="1947672"/>
          </a:xfrm>
          <a:prstGeom prst="line">
            <a:avLst/>
          </a:prstGeom>
          <a:ln w="15240">
            <a:solidFill>
              <a:srgbClr val="4A5A66"/>
            </a:solidFill>
            <a:prstDash val="dash"/>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971800" y="4764024"/>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0.5</a:t>
            </a:r>
          </a:p>
        </p:txBody>
      </p:sp>
      <p:cxnSp>
        <p:nvCxnSpPr>
          <p:cNvPr id="13" name="Connector 12"/>
          <p:cNvCxnSpPr/>
          <p:nvPr/>
        </p:nvCxnSpPr>
        <p:spPr>
          <a:xfrm>
            <a:off x="4681728" y="2825496"/>
            <a:ext cx="0" cy="1947672"/>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480560" y="4764024"/>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1</a:t>
            </a:r>
          </a:p>
        </p:txBody>
      </p:sp>
      <p:sp>
        <p:nvSpPr>
          <p:cNvPr id="15" name="TextBox 14"/>
          <p:cNvSpPr txBox="1"/>
          <p:nvPr/>
        </p:nvSpPr>
        <p:spPr>
          <a:xfrm>
            <a:off x="996696" y="2921508"/>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0.8B</a:t>
            </a:r>
          </a:p>
        </p:txBody>
      </p:sp>
      <p:sp>
        <p:nvSpPr>
          <p:cNvPr id="16" name="Oval 15"/>
          <p:cNvSpPr/>
          <p:nvPr/>
        </p:nvSpPr>
        <p:spPr>
          <a:xfrm>
            <a:off x="2868737" y="291800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936028" y="297577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808689" y="297422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020820" y="292998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830415" y="296960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803861" y="296082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884127" y="296039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869341" y="293938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772780" y="290284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859383" y="291540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2839468" y="295537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2993663" y="293670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050090" y="296056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942667" y="295557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2811103" y="298376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2805370" y="297275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2773987" y="297659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2837959" y="296545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810801" y="289015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874773" y="295108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817440" y="296845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075438" y="298230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931200" y="295269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2975859" y="289830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2796015" y="292494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2837355" y="294611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2781229" y="290494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2806577" y="288853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2920941" y="289811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2849727" y="295020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2741700" y="295585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2916113" y="293702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2779721" y="296036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2863909" y="291251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3009354" y="294498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3015691" y="293747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2939951" y="294606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2816534" y="297609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2960772" y="294987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2892274" y="295156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2899516" y="295391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2802956" y="293391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2846106" y="290463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870850" y="297240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853046" y="296905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843089" y="288969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3045262" y="292756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2915207" y="293015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2642122" y="295166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2689799" y="288650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2547372" y="289884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2883523" y="296449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2763728" y="297326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2859081" y="297873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2860590" y="290831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3029270" y="294195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2940856" y="295815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2892274" y="297455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2928786" y="293464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2828906" y="292683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2803861" y="298054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2855460" y="292985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2832225" y="291089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3005431" y="289271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2895292" y="292839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2850029" y="288603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3104708" y="295875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944477" y="297542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673504" y="295666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826492" y="295628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96499" y="293274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2968617" y="289593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27521" y="298197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150574" y="297521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074834" y="296512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3055824" y="291610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2851839" y="291432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3024743" y="297538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2823475" y="294194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2829811" y="292374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2792394" y="298409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2738381" y="296354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2831320" y="296813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2912793" y="292190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817440" y="293699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3060048" y="289630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2869944" y="296777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2850029" y="298324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2855460" y="291959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2667167" y="297420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2619490" y="289429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745321" y="292751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682858" y="293365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710921" y="296913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50632" y="295287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2847917" y="291434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2765538" y="290014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902534" y="288562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35970" y="288791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006638" y="295404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2755882" y="298335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2873867" y="294864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2992758" y="294884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2737777" y="290980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3088715" y="293723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2926372" y="290812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2855460" y="297637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2767349" y="294717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2620999" y="289238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2647252" y="288494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2794808" y="292769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2830113" y="289868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3147858" y="291599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2862702" y="290672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2773384" y="3120320"/>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775194" y="318613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885636" y="3108348"/>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3027459" y="313097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784850" y="316517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2773082" y="3123745"/>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2555821" y="3117265"/>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2986421" y="318044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027761" y="3174278"/>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4800600" y="2866644"/>
            <a:ext cx="1005840" cy="429768"/>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00407A"/>
                </a:solidFill>
                <a:latin typeface="Arial"/>
              </a:rPr>
              <a:t>4 of 123</a:t>
            </a:r>
          </a:p>
          <a:p>
            <a:pPr algn="l">
              <a:lnSpc>
                <a:spcPct val="109000"/>
              </a:lnSpc>
              <a:spcBef>
                <a:spcPts val="0"/>
              </a:spcBef>
              <a:spcAft>
                <a:spcPts val="0"/>
              </a:spcAft>
            </a:pPr>
            <a:r>
              <a:rPr sz="1250" b="0">
                <a:solidFill>
                  <a:srgbClr val="00407A"/>
                </a:solidFill>
                <a:latin typeface="Arial"/>
              </a:rPr>
              <a:t>are “yes”</a:t>
            </a:r>
          </a:p>
        </p:txBody>
      </p:sp>
      <p:sp>
        <p:nvSpPr>
          <p:cNvPr id="140" name="TextBox 139"/>
          <p:cNvSpPr txBox="1"/>
          <p:nvPr/>
        </p:nvSpPr>
        <p:spPr>
          <a:xfrm>
            <a:off x="996696" y="3424427"/>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4B</a:t>
            </a:r>
          </a:p>
        </p:txBody>
      </p:sp>
      <p:sp>
        <p:nvSpPr>
          <p:cNvPr id="141" name="Oval 140"/>
          <p:cNvSpPr/>
          <p:nvPr/>
        </p:nvSpPr>
        <p:spPr>
          <a:xfrm>
            <a:off x="4401939" y="342092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219681" y="347869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452634" y="347714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3970132" y="343290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4344607" y="34725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4432115" y="346374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4370255" y="346331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4420950" y="344230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4340382" y="340576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Oval 149"/>
          <p:cNvSpPr/>
          <p:nvPr/>
        </p:nvSpPr>
        <p:spPr>
          <a:xfrm>
            <a:off x="4373575" y="341832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Oval 150"/>
          <p:cNvSpPr/>
          <p:nvPr/>
        </p:nvSpPr>
        <p:spPr>
          <a:xfrm>
            <a:off x="4312621" y="345829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Oval 151"/>
          <p:cNvSpPr/>
          <p:nvPr/>
        </p:nvSpPr>
        <p:spPr>
          <a:xfrm>
            <a:off x="4348831" y="343962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Oval 152"/>
          <p:cNvSpPr/>
          <p:nvPr/>
        </p:nvSpPr>
        <p:spPr>
          <a:xfrm>
            <a:off x="4235674" y="346348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Oval 153"/>
          <p:cNvSpPr/>
          <p:nvPr/>
        </p:nvSpPr>
        <p:spPr>
          <a:xfrm>
            <a:off x="4213646" y="345849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Oval 154"/>
          <p:cNvSpPr/>
          <p:nvPr/>
        </p:nvSpPr>
        <p:spPr>
          <a:xfrm>
            <a:off x="4234165" y="348668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Oval 155"/>
          <p:cNvSpPr/>
          <p:nvPr/>
        </p:nvSpPr>
        <p:spPr>
          <a:xfrm>
            <a:off x="4140019" y="347567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Oval 156"/>
          <p:cNvSpPr/>
          <p:nvPr/>
        </p:nvSpPr>
        <p:spPr>
          <a:xfrm>
            <a:off x="3856070" y="347951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Oval 157"/>
          <p:cNvSpPr/>
          <p:nvPr/>
        </p:nvSpPr>
        <p:spPr>
          <a:xfrm>
            <a:off x="4293007" y="346837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Oval 158"/>
          <p:cNvSpPr/>
          <p:nvPr/>
        </p:nvSpPr>
        <p:spPr>
          <a:xfrm>
            <a:off x="4189506" y="339307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Oval 159"/>
          <p:cNvSpPr/>
          <p:nvPr/>
        </p:nvSpPr>
        <p:spPr>
          <a:xfrm>
            <a:off x="4266754" y="345400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3993971" y="347137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Oval 161"/>
          <p:cNvSpPr/>
          <p:nvPr/>
        </p:nvSpPr>
        <p:spPr>
          <a:xfrm>
            <a:off x="4346417" y="348522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Oval 162"/>
          <p:cNvSpPr/>
          <p:nvPr/>
        </p:nvSpPr>
        <p:spPr>
          <a:xfrm>
            <a:off x="4371161" y="345561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Oval 163"/>
          <p:cNvSpPr/>
          <p:nvPr/>
        </p:nvSpPr>
        <p:spPr>
          <a:xfrm>
            <a:off x="4253477" y="340122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Oval 164"/>
          <p:cNvSpPr/>
          <p:nvPr/>
        </p:nvSpPr>
        <p:spPr>
          <a:xfrm>
            <a:off x="4312319" y="342786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Oval 165"/>
          <p:cNvSpPr/>
          <p:nvPr/>
        </p:nvSpPr>
        <p:spPr>
          <a:xfrm>
            <a:off x="4275807" y="344903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Oval 166"/>
          <p:cNvSpPr/>
          <p:nvPr/>
        </p:nvSpPr>
        <p:spPr>
          <a:xfrm>
            <a:off x="4332536" y="340786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Oval 167"/>
          <p:cNvSpPr/>
          <p:nvPr/>
        </p:nvSpPr>
        <p:spPr>
          <a:xfrm>
            <a:off x="4159331" y="339145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Oval 168"/>
          <p:cNvSpPr/>
          <p:nvPr/>
        </p:nvSpPr>
        <p:spPr>
          <a:xfrm>
            <a:off x="4304473" y="340103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Oval 169"/>
          <p:cNvSpPr/>
          <p:nvPr/>
        </p:nvSpPr>
        <p:spPr>
          <a:xfrm>
            <a:off x="4217871" y="34531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Oval 170"/>
          <p:cNvSpPr/>
          <p:nvPr/>
        </p:nvSpPr>
        <p:spPr>
          <a:xfrm>
            <a:off x="4362108" y="345877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Oval 171"/>
          <p:cNvSpPr/>
          <p:nvPr/>
        </p:nvSpPr>
        <p:spPr>
          <a:xfrm>
            <a:off x="4285463" y="343994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Oval 172"/>
          <p:cNvSpPr/>
          <p:nvPr/>
        </p:nvSpPr>
        <p:spPr>
          <a:xfrm>
            <a:off x="3727825" y="346328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Oval 173"/>
          <p:cNvSpPr/>
          <p:nvPr/>
        </p:nvSpPr>
        <p:spPr>
          <a:xfrm>
            <a:off x="3989746" y="341543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Oval 174"/>
          <p:cNvSpPr/>
          <p:nvPr/>
        </p:nvSpPr>
        <p:spPr>
          <a:xfrm>
            <a:off x="4252874" y="344790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Oval 175"/>
          <p:cNvSpPr/>
          <p:nvPr/>
        </p:nvSpPr>
        <p:spPr>
          <a:xfrm>
            <a:off x="4047984" y="344039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Oval 176"/>
          <p:cNvSpPr/>
          <p:nvPr/>
        </p:nvSpPr>
        <p:spPr>
          <a:xfrm>
            <a:off x="4178643" y="344898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Oval 177"/>
          <p:cNvSpPr/>
          <p:nvPr/>
        </p:nvSpPr>
        <p:spPr>
          <a:xfrm>
            <a:off x="3923964" y="347901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Oval 178"/>
          <p:cNvSpPr/>
          <p:nvPr/>
        </p:nvSpPr>
        <p:spPr>
          <a:xfrm>
            <a:off x="4151183" y="345279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Oval 179"/>
          <p:cNvSpPr/>
          <p:nvPr/>
        </p:nvSpPr>
        <p:spPr>
          <a:xfrm>
            <a:off x="4180453" y="345448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Oval 180"/>
          <p:cNvSpPr/>
          <p:nvPr/>
        </p:nvSpPr>
        <p:spPr>
          <a:xfrm>
            <a:off x="4222699" y="345683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Oval 181"/>
          <p:cNvSpPr/>
          <p:nvPr/>
        </p:nvSpPr>
        <p:spPr>
          <a:xfrm>
            <a:off x="4351849" y="343683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Oval 182"/>
          <p:cNvSpPr/>
          <p:nvPr/>
        </p:nvSpPr>
        <p:spPr>
          <a:xfrm>
            <a:off x="4189808" y="340755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Oval 183"/>
          <p:cNvSpPr/>
          <p:nvPr/>
        </p:nvSpPr>
        <p:spPr>
          <a:xfrm>
            <a:off x="4023542" y="34753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Oval 184"/>
          <p:cNvSpPr/>
          <p:nvPr/>
        </p:nvSpPr>
        <p:spPr>
          <a:xfrm>
            <a:off x="4423062" y="347197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Oval 185"/>
          <p:cNvSpPr/>
          <p:nvPr/>
        </p:nvSpPr>
        <p:spPr>
          <a:xfrm>
            <a:off x="4328312" y="339261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Oval 186"/>
          <p:cNvSpPr/>
          <p:nvPr/>
        </p:nvSpPr>
        <p:spPr>
          <a:xfrm>
            <a:off x="4295119" y="343048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Oval 187"/>
          <p:cNvSpPr/>
          <p:nvPr/>
        </p:nvSpPr>
        <p:spPr>
          <a:xfrm>
            <a:off x="4161745" y="343307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Oval 188"/>
          <p:cNvSpPr/>
          <p:nvPr/>
        </p:nvSpPr>
        <p:spPr>
          <a:xfrm>
            <a:off x="4336157" y="345458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Oval 189"/>
          <p:cNvSpPr/>
          <p:nvPr/>
        </p:nvSpPr>
        <p:spPr>
          <a:xfrm>
            <a:off x="4433925" y="338942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Oval 190"/>
          <p:cNvSpPr/>
          <p:nvPr/>
        </p:nvSpPr>
        <p:spPr>
          <a:xfrm>
            <a:off x="4023241" y="340176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Oval 191"/>
          <p:cNvSpPr/>
          <p:nvPr/>
        </p:nvSpPr>
        <p:spPr>
          <a:xfrm>
            <a:off x="4315638" y="346741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Oval 192"/>
          <p:cNvSpPr/>
          <p:nvPr/>
        </p:nvSpPr>
        <p:spPr>
          <a:xfrm>
            <a:off x="4335856" y="347618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Oval 193"/>
          <p:cNvSpPr/>
          <p:nvPr/>
        </p:nvSpPr>
        <p:spPr>
          <a:xfrm>
            <a:off x="4090531" y="348165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Oval 194"/>
          <p:cNvSpPr/>
          <p:nvPr/>
        </p:nvSpPr>
        <p:spPr>
          <a:xfrm>
            <a:off x="4289084" y="341123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Oval 195"/>
          <p:cNvSpPr/>
          <p:nvPr/>
        </p:nvSpPr>
        <p:spPr>
          <a:xfrm>
            <a:off x="4312017" y="344487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Oval 196"/>
          <p:cNvSpPr/>
          <p:nvPr/>
        </p:nvSpPr>
        <p:spPr>
          <a:xfrm>
            <a:off x="4455349" y="346107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Oval 197"/>
          <p:cNvSpPr/>
          <p:nvPr/>
        </p:nvSpPr>
        <p:spPr>
          <a:xfrm>
            <a:off x="4361806" y="347747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Oval 198"/>
          <p:cNvSpPr/>
          <p:nvPr/>
        </p:nvSpPr>
        <p:spPr>
          <a:xfrm>
            <a:off x="4352150" y="343756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Oval 199"/>
          <p:cNvSpPr/>
          <p:nvPr/>
        </p:nvSpPr>
        <p:spPr>
          <a:xfrm>
            <a:off x="4210930" y="342975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Oval 200"/>
          <p:cNvSpPr/>
          <p:nvPr/>
        </p:nvSpPr>
        <p:spPr>
          <a:xfrm>
            <a:off x="4280635" y="348346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Oval 201"/>
          <p:cNvSpPr/>
          <p:nvPr/>
        </p:nvSpPr>
        <p:spPr>
          <a:xfrm>
            <a:off x="4171099" y="343277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Oval 202"/>
          <p:cNvSpPr/>
          <p:nvPr/>
        </p:nvSpPr>
        <p:spPr>
          <a:xfrm>
            <a:off x="3964701" y="341381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Oval 203"/>
          <p:cNvSpPr/>
          <p:nvPr/>
        </p:nvSpPr>
        <p:spPr>
          <a:xfrm>
            <a:off x="4388361" y="339563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Oval 204"/>
          <p:cNvSpPr/>
          <p:nvPr/>
        </p:nvSpPr>
        <p:spPr>
          <a:xfrm>
            <a:off x="4490654" y="343131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Oval 205"/>
          <p:cNvSpPr/>
          <p:nvPr/>
        </p:nvSpPr>
        <p:spPr>
          <a:xfrm>
            <a:off x="4291196" y="338895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Oval 206"/>
          <p:cNvSpPr/>
          <p:nvPr/>
        </p:nvSpPr>
        <p:spPr>
          <a:xfrm>
            <a:off x="4423967" y="346167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Oval 207"/>
          <p:cNvSpPr/>
          <p:nvPr/>
        </p:nvSpPr>
        <p:spPr>
          <a:xfrm>
            <a:off x="4344908" y="347834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Oval 208"/>
          <p:cNvSpPr/>
          <p:nvPr/>
        </p:nvSpPr>
        <p:spPr>
          <a:xfrm>
            <a:off x="4343098" y="345958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Oval 209"/>
          <p:cNvSpPr/>
          <p:nvPr/>
        </p:nvSpPr>
        <p:spPr>
          <a:xfrm>
            <a:off x="4313526" y="345920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Oval 210"/>
          <p:cNvSpPr/>
          <p:nvPr/>
        </p:nvSpPr>
        <p:spPr>
          <a:xfrm>
            <a:off x="4212439" y="343566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Oval 211"/>
          <p:cNvSpPr/>
          <p:nvPr/>
        </p:nvSpPr>
        <p:spPr>
          <a:xfrm>
            <a:off x="4245934" y="339885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Oval 212"/>
          <p:cNvSpPr/>
          <p:nvPr/>
        </p:nvSpPr>
        <p:spPr>
          <a:xfrm>
            <a:off x="4307793" y="348489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Oval 213"/>
          <p:cNvSpPr/>
          <p:nvPr/>
        </p:nvSpPr>
        <p:spPr>
          <a:xfrm>
            <a:off x="4298137" y="347813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Oval 214"/>
          <p:cNvSpPr/>
          <p:nvPr/>
        </p:nvSpPr>
        <p:spPr>
          <a:xfrm>
            <a:off x="4369350" y="346804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Oval 215"/>
          <p:cNvSpPr/>
          <p:nvPr/>
        </p:nvSpPr>
        <p:spPr>
          <a:xfrm>
            <a:off x="4180453" y="341902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Oval 216"/>
          <p:cNvSpPr/>
          <p:nvPr/>
        </p:nvSpPr>
        <p:spPr>
          <a:xfrm>
            <a:off x="4184376" y="341724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Oval 217"/>
          <p:cNvSpPr/>
          <p:nvPr/>
        </p:nvSpPr>
        <p:spPr>
          <a:xfrm>
            <a:off x="4379911" y="347830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Oval 218"/>
          <p:cNvSpPr/>
          <p:nvPr/>
        </p:nvSpPr>
        <p:spPr>
          <a:xfrm>
            <a:off x="4238692" y="344486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Oval 219"/>
          <p:cNvSpPr/>
          <p:nvPr/>
        </p:nvSpPr>
        <p:spPr>
          <a:xfrm>
            <a:off x="4295119" y="342666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Oval 220"/>
          <p:cNvSpPr/>
          <p:nvPr/>
        </p:nvSpPr>
        <p:spPr>
          <a:xfrm>
            <a:off x="4102903" y="348701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Oval 221"/>
          <p:cNvSpPr/>
          <p:nvPr/>
        </p:nvSpPr>
        <p:spPr>
          <a:xfrm>
            <a:off x="4044967" y="346646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Oval 222"/>
          <p:cNvSpPr/>
          <p:nvPr/>
        </p:nvSpPr>
        <p:spPr>
          <a:xfrm>
            <a:off x="4296024" y="347105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Oval 223"/>
          <p:cNvSpPr/>
          <p:nvPr/>
        </p:nvSpPr>
        <p:spPr>
          <a:xfrm>
            <a:off x="4228130" y="342482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Oval 224"/>
          <p:cNvSpPr/>
          <p:nvPr/>
        </p:nvSpPr>
        <p:spPr>
          <a:xfrm>
            <a:off x="3932715" y="343991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Oval 225"/>
          <p:cNvSpPr/>
          <p:nvPr/>
        </p:nvSpPr>
        <p:spPr>
          <a:xfrm>
            <a:off x="4226621" y="339922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Oval 226"/>
          <p:cNvSpPr/>
          <p:nvPr/>
        </p:nvSpPr>
        <p:spPr>
          <a:xfrm>
            <a:off x="4249856" y="347069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Oval 227"/>
          <p:cNvSpPr/>
          <p:nvPr/>
        </p:nvSpPr>
        <p:spPr>
          <a:xfrm>
            <a:off x="3984013" y="348616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Oval 228"/>
          <p:cNvSpPr/>
          <p:nvPr/>
        </p:nvSpPr>
        <p:spPr>
          <a:xfrm>
            <a:off x="3991255" y="342251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Oval 229"/>
          <p:cNvSpPr/>
          <p:nvPr/>
        </p:nvSpPr>
        <p:spPr>
          <a:xfrm>
            <a:off x="4265547" y="347712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Oval 230"/>
          <p:cNvSpPr/>
          <p:nvPr/>
        </p:nvSpPr>
        <p:spPr>
          <a:xfrm>
            <a:off x="4194938" y="339721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Oval 231"/>
          <p:cNvSpPr/>
          <p:nvPr/>
        </p:nvSpPr>
        <p:spPr>
          <a:xfrm>
            <a:off x="3706401" y="343043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Oval 232"/>
          <p:cNvSpPr/>
          <p:nvPr/>
        </p:nvSpPr>
        <p:spPr>
          <a:xfrm>
            <a:off x="4274298" y="343657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Oval 233"/>
          <p:cNvSpPr/>
          <p:nvPr/>
        </p:nvSpPr>
        <p:spPr>
          <a:xfrm>
            <a:off x="4226320" y="347205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Oval 234"/>
          <p:cNvSpPr/>
          <p:nvPr/>
        </p:nvSpPr>
        <p:spPr>
          <a:xfrm>
            <a:off x="3893789" y="345579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Oval 235"/>
          <p:cNvSpPr/>
          <p:nvPr/>
        </p:nvSpPr>
        <p:spPr>
          <a:xfrm>
            <a:off x="3756190" y="341726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Oval 236"/>
          <p:cNvSpPr/>
          <p:nvPr/>
        </p:nvSpPr>
        <p:spPr>
          <a:xfrm>
            <a:off x="4165969" y="340306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Oval 237"/>
          <p:cNvSpPr/>
          <p:nvPr/>
        </p:nvSpPr>
        <p:spPr>
          <a:xfrm>
            <a:off x="4027767" y="338854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Oval 238"/>
          <p:cNvSpPr/>
          <p:nvPr/>
        </p:nvSpPr>
        <p:spPr>
          <a:xfrm>
            <a:off x="4066995" y="339083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Oval 239"/>
          <p:cNvSpPr/>
          <p:nvPr/>
        </p:nvSpPr>
        <p:spPr>
          <a:xfrm>
            <a:off x="3975262" y="345696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Oval 240"/>
          <p:cNvSpPr/>
          <p:nvPr/>
        </p:nvSpPr>
        <p:spPr>
          <a:xfrm>
            <a:off x="4404353" y="348627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Oval 241"/>
          <p:cNvSpPr/>
          <p:nvPr/>
        </p:nvSpPr>
        <p:spPr>
          <a:xfrm>
            <a:off x="4522942" y="345156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Oval 242"/>
          <p:cNvSpPr/>
          <p:nvPr/>
        </p:nvSpPr>
        <p:spPr>
          <a:xfrm>
            <a:off x="4186488" y="345176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Oval 243"/>
          <p:cNvSpPr/>
          <p:nvPr/>
        </p:nvSpPr>
        <p:spPr>
          <a:xfrm>
            <a:off x="4517209" y="341272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Oval 244"/>
          <p:cNvSpPr/>
          <p:nvPr/>
        </p:nvSpPr>
        <p:spPr>
          <a:xfrm>
            <a:off x="4455349" y="344015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Oval 245"/>
          <p:cNvSpPr/>
          <p:nvPr/>
        </p:nvSpPr>
        <p:spPr>
          <a:xfrm>
            <a:off x="4204292" y="341104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Oval 246"/>
          <p:cNvSpPr/>
          <p:nvPr/>
        </p:nvSpPr>
        <p:spPr>
          <a:xfrm>
            <a:off x="3868442" y="347929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Oval 247"/>
          <p:cNvSpPr/>
          <p:nvPr/>
        </p:nvSpPr>
        <p:spPr>
          <a:xfrm>
            <a:off x="4376894" y="345009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Oval 248"/>
          <p:cNvSpPr/>
          <p:nvPr/>
        </p:nvSpPr>
        <p:spPr>
          <a:xfrm>
            <a:off x="4446900" y="339530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Oval 249"/>
          <p:cNvSpPr/>
          <p:nvPr/>
        </p:nvSpPr>
        <p:spPr>
          <a:xfrm>
            <a:off x="4412199" y="338786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Oval 250"/>
          <p:cNvSpPr/>
          <p:nvPr/>
        </p:nvSpPr>
        <p:spPr>
          <a:xfrm>
            <a:off x="4262530" y="343061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Oval 251"/>
          <p:cNvSpPr/>
          <p:nvPr/>
        </p:nvSpPr>
        <p:spPr>
          <a:xfrm>
            <a:off x="4323484" y="340160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Oval 252"/>
          <p:cNvSpPr/>
          <p:nvPr/>
        </p:nvSpPr>
        <p:spPr>
          <a:xfrm>
            <a:off x="4320768" y="341891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Oval 253"/>
          <p:cNvSpPr/>
          <p:nvPr/>
        </p:nvSpPr>
        <p:spPr>
          <a:xfrm>
            <a:off x="4256193" y="340964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Oval 254"/>
          <p:cNvSpPr/>
          <p:nvPr/>
        </p:nvSpPr>
        <p:spPr>
          <a:xfrm>
            <a:off x="4307189" y="3623240"/>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Oval 255"/>
          <p:cNvSpPr/>
          <p:nvPr/>
        </p:nvSpPr>
        <p:spPr>
          <a:xfrm>
            <a:off x="3968020" y="368905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Oval 256"/>
          <p:cNvSpPr/>
          <p:nvPr/>
        </p:nvSpPr>
        <p:spPr>
          <a:xfrm>
            <a:off x="3869045" y="3611268"/>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Oval 257"/>
          <p:cNvSpPr/>
          <p:nvPr/>
        </p:nvSpPr>
        <p:spPr>
          <a:xfrm>
            <a:off x="4292705" y="363389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Oval 258"/>
          <p:cNvSpPr/>
          <p:nvPr/>
        </p:nvSpPr>
        <p:spPr>
          <a:xfrm>
            <a:off x="3152988" y="366809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Oval 259"/>
          <p:cNvSpPr/>
          <p:nvPr/>
        </p:nvSpPr>
        <p:spPr>
          <a:xfrm>
            <a:off x="3815334" y="3626665"/>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Oval 260"/>
          <p:cNvSpPr/>
          <p:nvPr/>
        </p:nvSpPr>
        <p:spPr>
          <a:xfrm>
            <a:off x="3815635" y="3620185"/>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Oval 261"/>
          <p:cNvSpPr/>
          <p:nvPr/>
        </p:nvSpPr>
        <p:spPr>
          <a:xfrm>
            <a:off x="4328010" y="368336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Oval 262"/>
          <p:cNvSpPr/>
          <p:nvPr/>
        </p:nvSpPr>
        <p:spPr>
          <a:xfrm>
            <a:off x="3976167" y="3677198"/>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TextBox 263"/>
          <p:cNvSpPr txBox="1"/>
          <p:nvPr/>
        </p:nvSpPr>
        <p:spPr>
          <a:xfrm>
            <a:off x="4800600" y="3369563"/>
            <a:ext cx="1005840" cy="429768"/>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00407A"/>
                </a:solidFill>
                <a:latin typeface="Arial"/>
              </a:rPr>
              <a:t>123 of 123</a:t>
            </a:r>
          </a:p>
          <a:p>
            <a:pPr algn="l">
              <a:lnSpc>
                <a:spcPct val="109000"/>
              </a:lnSpc>
              <a:spcBef>
                <a:spcPts val="0"/>
              </a:spcBef>
              <a:spcAft>
                <a:spcPts val="0"/>
              </a:spcAft>
            </a:pPr>
            <a:r>
              <a:rPr sz="1250" b="0">
                <a:solidFill>
                  <a:srgbClr val="00407A"/>
                </a:solidFill>
                <a:latin typeface="Arial"/>
              </a:rPr>
              <a:t>are “yes”</a:t>
            </a:r>
          </a:p>
        </p:txBody>
      </p:sp>
      <p:sp>
        <p:nvSpPr>
          <p:cNvPr id="265" name="TextBox 264"/>
          <p:cNvSpPr txBox="1"/>
          <p:nvPr/>
        </p:nvSpPr>
        <p:spPr>
          <a:xfrm>
            <a:off x="996696" y="3927348"/>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9B</a:t>
            </a:r>
          </a:p>
        </p:txBody>
      </p:sp>
      <p:sp>
        <p:nvSpPr>
          <p:cNvPr id="266" name="Oval 265"/>
          <p:cNvSpPr/>
          <p:nvPr/>
        </p:nvSpPr>
        <p:spPr>
          <a:xfrm>
            <a:off x="4357582" y="392384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Oval 266"/>
          <p:cNvSpPr/>
          <p:nvPr/>
        </p:nvSpPr>
        <p:spPr>
          <a:xfrm>
            <a:off x="4262228" y="398161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Oval 267"/>
          <p:cNvSpPr/>
          <p:nvPr/>
        </p:nvSpPr>
        <p:spPr>
          <a:xfrm>
            <a:off x="4210025" y="398006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Oval 268"/>
          <p:cNvSpPr/>
          <p:nvPr/>
        </p:nvSpPr>
        <p:spPr>
          <a:xfrm>
            <a:off x="4073331" y="39358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Oval 269"/>
          <p:cNvSpPr/>
          <p:nvPr/>
        </p:nvSpPr>
        <p:spPr>
          <a:xfrm>
            <a:off x="4286972" y="397544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Oval 270"/>
          <p:cNvSpPr/>
          <p:nvPr/>
        </p:nvSpPr>
        <p:spPr>
          <a:xfrm>
            <a:off x="4341287" y="396666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Oval 271"/>
          <p:cNvSpPr/>
          <p:nvPr/>
        </p:nvSpPr>
        <p:spPr>
          <a:xfrm>
            <a:off x="4175324" y="396623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Oval 272"/>
          <p:cNvSpPr/>
          <p:nvPr/>
        </p:nvSpPr>
        <p:spPr>
          <a:xfrm>
            <a:off x="4264340" y="39452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Oval 273"/>
          <p:cNvSpPr/>
          <p:nvPr/>
        </p:nvSpPr>
        <p:spPr>
          <a:xfrm>
            <a:off x="4234165" y="390868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Oval 274"/>
          <p:cNvSpPr/>
          <p:nvPr/>
        </p:nvSpPr>
        <p:spPr>
          <a:xfrm>
            <a:off x="4267962" y="392124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Oval 275"/>
          <p:cNvSpPr/>
          <p:nvPr/>
        </p:nvSpPr>
        <p:spPr>
          <a:xfrm>
            <a:off x="4207913" y="396121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Oval 276"/>
          <p:cNvSpPr/>
          <p:nvPr/>
        </p:nvSpPr>
        <p:spPr>
          <a:xfrm>
            <a:off x="4296326" y="394254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Oval 277"/>
          <p:cNvSpPr/>
          <p:nvPr/>
        </p:nvSpPr>
        <p:spPr>
          <a:xfrm>
            <a:off x="4186790" y="396640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Oval 278"/>
          <p:cNvSpPr/>
          <p:nvPr/>
        </p:nvSpPr>
        <p:spPr>
          <a:xfrm>
            <a:off x="4229941" y="396141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Oval 279"/>
          <p:cNvSpPr/>
          <p:nvPr/>
        </p:nvSpPr>
        <p:spPr>
          <a:xfrm>
            <a:off x="4149675" y="398960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Oval 280"/>
          <p:cNvSpPr/>
          <p:nvPr/>
        </p:nvSpPr>
        <p:spPr>
          <a:xfrm>
            <a:off x="4055830" y="397859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Oval 281"/>
          <p:cNvSpPr/>
          <p:nvPr/>
        </p:nvSpPr>
        <p:spPr>
          <a:xfrm>
            <a:off x="4180755" y="398243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Oval 282"/>
          <p:cNvSpPr/>
          <p:nvPr/>
        </p:nvSpPr>
        <p:spPr>
          <a:xfrm>
            <a:off x="4032293" y="397129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Oval 283"/>
          <p:cNvSpPr/>
          <p:nvPr/>
        </p:nvSpPr>
        <p:spPr>
          <a:xfrm>
            <a:off x="4174117" y="389599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Oval 284"/>
          <p:cNvSpPr/>
          <p:nvPr/>
        </p:nvSpPr>
        <p:spPr>
          <a:xfrm>
            <a:off x="4276712" y="395692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Oval 285"/>
          <p:cNvSpPr/>
          <p:nvPr/>
        </p:nvSpPr>
        <p:spPr>
          <a:xfrm>
            <a:off x="4136096" y="397429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Oval 286"/>
          <p:cNvSpPr/>
          <p:nvPr/>
        </p:nvSpPr>
        <p:spPr>
          <a:xfrm>
            <a:off x="4178945" y="398814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Oval 287"/>
          <p:cNvSpPr/>
          <p:nvPr/>
        </p:nvSpPr>
        <p:spPr>
          <a:xfrm>
            <a:off x="4256797" y="395853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Oval 288"/>
          <p:cNvSpPr/>
          <p:nvPr/>
        </p:nvSpPr>
        <p:spPr>
          <a:xfrm>
            <a:off x="4223000" y="390414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Oval 289"/>
          <p:cNvSpPr/>
          <p:nvPr/>
        </p:nvSpPr>
        <p:spPr>
          <a:xfrm>
            <a:off x="4104412" y="393078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Oval 290"/>
          <p:cNvSpPr/>
          <p:nvPr/>
        </p:nvSpPr>
        <p:spPr>
          <a:xfrm>
            <a:off x="4118594" y="395195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Oval 291"/>
          <p:cNvSpPr/>
          <p:nvPr/>
        </p:nvSpPr>
        <p:spPr>
          <a:xfrm>
            <a:off x="4224811" y="391078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Oval 292"/>
          <p:cNvSpPr/>
          <p:nvPr/>
        </p:nvSpPr>
        <p:spPr>
          <a:xfrm>
            <a:off x="4044665" y="389437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Oval 293"/>
          <p:cNvSpPr/>
          <p:nvPr/>
        </p:nvSpPr>
        <p:spPr>
          <a:xfrm>
            <a:off x="4138812" y="390395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Oval 294"/>
          <p:cNvSpPr/>
          <p:nvPr/>
        </p:nvSpPr>
        <p:spPr>
          <a:xfrm>
            <a:off x="4122819" y="395604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Oval 295"/>
          <p:cNvSpPr/>
          <p:nvPr/>
        </p:nvSpPr>
        <p:spPr>
          <a:xfrm>
            <a:off x="4177436" y="396169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Oval 296"/>
          <p:cNvSpPr/>
          <p:nvPr/>
        </p:nvSpPr>
        <p:spPr>
          <a:xfrm>
            <a:off x="4254684" y="394286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Oval 297"/>
          <p:cNvSpPr/>
          <p:nvPr/>
        </p:nvSpPr>
        <p:spPr>
          <a:xfrm>
            <a:off x="3933620" y="396620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Oval 298"/>
          <p:cNvSpPr/>
          <p:nvPr/>
        </p:nvSpPr>
        <p:spPr>
          <a:xfrm>
            <a:off x="4043458" y="391835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Oval 299"/>
          <p:cNvSpPr/>
          <p:nvPr/>
        </p:nvSpPr>
        <p:spPr>
          <a:xfrm>
            <a:off x="4242614" y="395082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Oval 300"/>
          <p:cNvSpPr/>
          <p:nvPr/>
        </p:nvSpPr>
        <p:spPr>
          <a:xfrm>
            <a:off x="3890772" y="394331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Oval 301"/>
          <p:cNvSpPr/>
          <p:nvPr/>
        </p:nvSpPr>
        <p:spPr>
          <a:xfrm>
            <a:off x="4056132" y="395190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Oval 302"/>
          <p:cNvSpPr/>
          <p:nvPr/>
        </p:nvSpPr>
        <p:spPr>
          <a:xfrm>
            <a:off x="4047079" y="398193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Oval 303"/>
          <p:cNvSpPr/>
          <p:nvPr/>
        </p:nvSpPr>
        <p:spPr>
          <a:xfrm>
            <a:off x="4178643" y="395571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Oval 304"/>
          <p:cNvSpPr/>
          <p:nvPr/>
        </p:nvSpPr>
        <p:spPr>
          <a:xfrm>
            <a:off x="4051002" y="395740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Oval 305"/>
          <p:cNvSpPr/>
          <p:nvPr/>
        </p:nvSpPr>
        <p:spPr>
          <a:xfrm>
            <a:off x="4181660" y="395975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Oval 306"/>
          <p:cNvSpPr/>
          <p:nvPr/>
        </p:nvSpPr>
        <p:spPr>
          <a:xfrm>
            <a:off x="4242011" y="393975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Oval 307"/>
          <p:cNvSpPr/>
          <p:nvPr/>
        </p:nvSpPr>
        <p:spPr>
          <a:xfrm>
            <a:off x="4203387" y="391047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Oval 308"/>
          <p:cNvSpPr/>
          <p:nvPr/>
        </p:nvSpPr>
        <p:spPr>
          <a:xfrm>
            <a:off x="4205801" y="397824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Oval 309"/>
          <p:cNvSpPr/>
          <p:nvPr/>
        </p:nvSpPr>
        <p:spPr>
          <a:xfrm>
            <a:off x="4325294" y="397489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Oval 310"/>
          <p:cNvSpPr/>
          <p:nvPr/>
        </p:nvSpPr>
        <p:spPr>
          <a:xfrm>
            <a:off x="4263737" y="389553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Oval 311"/>
          <p:cNvSpPr/>
          <p:nvPr/>
        </p:nvSpPr>
        <p:spPr>
          <a:xfrm>
            <a:off x="4277618" y="393340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Oval 312"/>
          <p:cNvSpPr/>
          <p:nvPr/>
        </p:nvSpPr>
        <p:spPr>
          <a:xfrm>
            <a:off x="3992462" y="393599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Oval 313"/>
          <p:cNvSpPr/>
          <p:nvPr/>
        </p:nvSpPr>
        <p:spPr>
          <a:xfrm>
            <a:off x="4248046" y="395750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Oval 314"/>
          <p:cNvSpPr/>
          <p:nvPr/>
        </p:nvSpPr>
        <p:spPr>
          <a:xfrm>
            <a:off x="4330424" y="389234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Oval 315"/>
          <p:cNvSpPr/>
          <p:nvPr/>
        </p:nvSpPr>
        <p:spPr>
          <a:xfrm>
            <a:off x="3675924" y="390468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Oval 316"/>
          <p:cNvSpPr/>
          <p:nvPr/>
        </p:nvSpPr>
        <p:spPr>
          <a:xfrm>
            <a:off x="4185583" y="397033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Oval 317"/>
          <p:cNvSpPr/>
          <p:nvPr/>
        </p:nvSpPr>
        <p:spPr>
          <a:xfrm>
            <a:off x="4205499" y="397910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Oval 318"/>
          <p:cNvSpPr/>
          <p:nvPr/>
        </p:nvSpPr>
        <p:spPr>
          <a:xfrm>
            <a:off x="3998497" y="398457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Oval 319"/>
          <p:cNvSpPr/>
          <p:nvPr/>
        </p:nvSpPr>
        <p:spPr>
          <a:xfrm>
            <a:off x="4100791" y="391415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Oval 320"/>
          <p:cNvSpPr/>
          <p:nvPr/>
        </p:nvSpPr>
        <p:spPr>
          <a:xfrm>
            <a:off x="4202783" y="394779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Oval 321"/>
          <p:cNvSpPr/>
          <p:nvPr/>
        </p:nvSpPr>
        <p:spPr>
          <a:xfrm>
            <a:off x="4378403" y="396399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Oval 322"/>
          <p:cNvSpPr/>
          <p:nvPr/>
        </p:nvSpPr>
        <p:spPr>
          <a:xfrm>
            <a:off x="4260418" y="398039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Oval 323"/>
          <p:cNvSpPr/>
          <p:nvPr/>
        </p:nvSpPr>
        <p:spPr>
          <a:xfrm>
            <a:off x="4208516" y="394048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Oval 324"/>
          <p:cNvSpPr/>
          <p:nvPr/>
        </p:nvSpPr>
        <p:spPr>
          <a:xfrm>
            <a:off x="4205499" y="393267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Oval 325"/>
          <p:cNvSpPr/>
          <p:nvPr/>
        </p:nvSpPr>
        <p:spPr>
          <a:xfrm>
            <a:off x="4212439" y="398638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Oval 326"/>
          <p:cNvSpPr/>
          <p:nvPr/>
        </p:nvSpPr>
        <p:spPr>
          <a:xfrm>
            <a:off x="4156917" y="393569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Oval 327"/>
          <p:cNvSpPr/>
          <p:nvPr/>
        </p:nvSpPr>
        <p:spPr>
          <a:xfrm>
            <a:off x="4107429" y="391673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Oval 328"/>
          <p:cNvSpPr/>
          <p:nvPr/>
        </p:nvSpPr>
        <p:spPr>
          <a:xfrm>
            <a:off x="4277014" y="389855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Oval 329"/>
          <p:cNvSpPr/>
          <p:nvPr/>
        </p:nvSpPr>
        <p:spPr>
          <a:xfrm>
            <a:off x="4375083" y="393423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Oval 330"/>
          <p:cNvSpPr/>
          <p:nvPr/>
        </p:nvSpPr>
        <p:spPr>
          <a:xfrm>
            <a:off x="4035914" y="389187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3998195" y="396459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Oval 332"/>
          <p:cNvSpPr/>
          <p:nvPr/>
        </p:nvSpPr>
        <p:spPr>
          <a:xfrm>
            <a:off x="4216362" y="398126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Oval 333"/>
          <p:cNvSpPr/>
          <p:nvPr/>
        </p:nvSpPr>
        <p:spPr>
          <a:xfrm>
            <a:off x="4169892" y="396250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Oval 334"/>
          <p:cNvSpPr/>
          <p:nvPr/>
        </p:nvSpPr>
        <p:spPr>
          <a:xfrm>
            <a:off x="4193429" y="396212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Oval 335"/>
          <p:cNvSpPr/>
          <p:nvPr/>
        </p:nvSpPr>
        <p:spPr>
          <a:xfrm>
            <a:off x="3986729" y="393858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Oval 336"/>
          <p:cNvSpPr/>
          <p:nvPr/>
        </p:nvSpPr>
        <p:spPr>
          <a:xfrm>
            <a:off x="4197955" y="390177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Oval 337"/>
          <p:cNvSpPr/>
          <p:nvPr/>
        </p:nvSpPr>
        <p:spPr>
          <a:xfrm>
            <a:off x="4229941" y="398781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4188299" y="398105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Oval 339"/>
          <p:cNvSpPr/>
          <p:nvPr/>
        </p:nvSpPr>
        <p:spPr>
          <a:xfrm>
            <a:off x="4255590" y="397096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Oval 340"/>
          <p:cNvSpPr/>
          <p:nvPr/>
        </p:nvSpPr>
        <p:spPr>
          <a:xfrm>
            <a:off x="4224811" y="392194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Oval 341"/>
          <p:cNvSpPr/>
          <p:nvPr/>
        </p:nvSpPr>
        <p:spPr>
          <a:xfrm>
            <a:off x="4009360" y="392016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Oval 342"/>
          <p:cNvSpPr/>
          <p:nvPr/>
        </p:nvSpPr>
        <p:spPr>
          <a:xfrm>
            <a:off x="4280032" y="39812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Oval 343"/>
          <p:cNvSpPr/>
          <p:nvPr/>
        </p:nvSpPr>
        <p:spPr>
          <a:xfrm>
            <a:off x="4048588" y="394778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Oval 344"/>
          <p:cNvSpPr/>
          <p:nvPr/>
        </p:nvSpPr>
        <p:spPr>
          <a:xfrm>
            <a:off x="4028974" y="392958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4056735" y="398993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Oval 346"/>
          <p:cNvSpPr/>
          <p:nvPr/>
        </p:nvSpPr>
        <p:spPr>
          <a:xfrm>
            <a:off x="3955346" y="396938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Oval 347"/>
          <p:cNvSpPr/>
          <p:nvPr/>
        </p:nvSpPr>
        <p:spPr>
          <a:xfrm>
            <a:off x="4260116" y="397397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Oval 348"/>
          <p:cNvSpPr/>
          <p:nvPr/>
        </p:nvSpPr>
        <p:spPr>
          <a:xfrm>
            <a:off x="4196748" y="392774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Oval 349"/>
          <p:cNvSpPr/>
          <p:nvPr/>
        </p:nvSpPr>
        <p:spPr>
          <a:xfrm>
            <a:off x="4052209" y="394283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Oval 350"/>
          <p:cNvSpPr/>
          <p:nvPr/>
        </p:nvSpPr>
        <p:spPr>
          <a:xfrm>
            <a:off x="4174117" y="390214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Oval 351"/>
          <p:cNvSpPr/>
          <p:nvPr/>
        </p:nvSpPr>
        <p:spPr>
          <a:xfrm>
            <a:off x="4247744" y="397361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4038932" y="398908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Oval 353"/>
          <p:cNvSpPr/>
          <p:nvPr/>
        </p:nvSpPr>
        <p:spPr>
          <a:xfrm>
            <a:off x="4038630" y="392543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Oval 354"/>
          <p:cNvSpPr/>
          <p:nvPr/>
        </p:nvSpPr>
        <p:spPr>
          <a:xfrm>
            <a:off x="4177134" y="398004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Oval 355"/>
          <p:cNvSpPr/>
          <p:nvPr/>
        </p:nvSpPr>
        <p:spPr>
          <a:xfrm>
            <a:off x="3762225" y="390013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Oval 356"/>
          <p:cNvSpPr/>
          <p:nvPr/>
        </p:nvSpPr>
        <p:spPr>
          <a:xfrm>
            <a:off x="3272482" y="393335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Oval 357"/>
          <p:cNvSpPr/>
          <p:nvPr/>
        </p:nvSpPr>
        <p:spPr>
          <a:xfrm>
            <a:off x="4272186" y="393949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Oval 358"/>
          <p:cNvSpPr/>
          <p:nvPr/>
        </p:nvSpPr>
        <p:spPr>
          <a:xfrm>
            <a:off x="3927887" y="397497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4063072" y="395871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Oval 360"/>
          <p:cNvSpPr/>
          <p:nvPr/>
        </p:nvSpPr>
        <p:spPr>
          <a:xfrm>
            <a:off x="4028672" y="392018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Oval 361"/>
          <p:cNvSpPr/>
          <p:nvPr/>
        </p:nvSpPr>
        <p:spPr>
          <a:xfrm>
            <a:off x="4151787" y="390598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Oval 362"/>
          <p:cNvSpPr/>
          <p:nvPr/>
        </p:nvSpPr>
        <p:spPr>
          <a:xfrm>
            <a:off x="4118594" y="389146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Oval 363"/>
          <p:cNvSpPr/>
          <p:nvPr/>
        </p:nvSpPr>
        <p:spPr>
          <a:xfrm>
            <a:off x="4045570" y="389375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Oval 364"/>
          <p:cNvSpPr/>
          <p:nvPr/>
        </p:nvSpPr>
        <p:spPr>
          <a:xfrm>
            <a:off x="3965002" y="395988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Oval 365"/>
          <p:cNvSpPr/>
          <p:nvPr/>
        </p:nvSpPr>
        <p:spPr>
          <a:xfrm>
            <a:off x="4358789" y="398919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Oval 366"/>
          <p:cNvSpPr/>
          <p:nvPr/>
        </p:nvSpPr>
        <p:spPr>
          <a:xfrm>
            <a:off x="4341891" y="395448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Oval 367"/>
          <p:cNvSpPr/>
          <p:nvPr/>
        </p:nvSpPr>
        <p:spPr>
          <a:xfrm>
            <a:off x="4139717" y="395468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Oval 368"/>
          <p:cNvSpPr/>
          <p:nvPr/>
        </p:nvSpPr>
        <p:spPr>
          <a:xfrm>
            <a:off x="4420950" y="391564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Oval 369"/>
          <p:cNvSpPr/>
          <p:nvPr/>
        </p:nvSpPr>
        <p:spPr>
          <a:xfrm>
            <a:off x="4337063" y="394307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Oval 370"/>
          <p:cNvSpPr/>
          <p:nvPr/>
        </p:nvSpPr>
        <p:spPr>
          <a:xfrm>
            <a:off x="4149373" y="391396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Oval 371"/>
          <p:cNvSpPr/>
          <p:nvPr/>
        </p:nvSpPr>
        <p:spPr>
          <a:xfrm>
            <a:off x="3960778" y="398221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Oval 372"/>
          <p:cNvSpPr/>
          <p:nvPr/>
        </p:nvSpPr>
        <p:spPr>
          <a:xfrm>
            <a:off x="4321673" y="395301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Oval 373"/>
          <p:cNvSpPr/>
          <p:nvPr/>
        </p:nvSpPr>
        <p:spPr>
          <a:xfrm>
            <a:off x="4365729" y="389822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Oval 374"/>
          <p:cNvSpPr/>
          <p:nvPr/>
        </p:nvSpPr>
        <p:spPr>
          <a:xfrm>
            <a:off x="4369954" y="389078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Oval 375"/>
          <p:cNvSpPr/>
          <p:nvPr/>
        </p:nvSpPr>
        <p:spPr>
          <a:xfrm>
            <a:off x="4070012" y="393353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Oval 376"/>
          <p:cNvSpPr/>
          <p:nvPr/>
        </p:nvSpPr>
        <p:spPr>
          <a:xfrm>
            <a:off x="4215457" y="390452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Oval 377"/>
          <p:cNvSpPr/>
          <p:nvPr/>
        </p:nvSpPr>
        <p:spPr>
          <a:xfrm>
            <a:off x="4226018" y="392183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Oval 378"/>
          <p:cNvSpPr/>
          <p:nvPr/>
        </p:nvSpPr>
        <p:spPr>
          <a:xfrm>
            <a:off x="4190411" y="391256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Oval 379"/>
          <p:cNvSpPr/>
          <p:nvPr/>
        </p:nvSpPr>
        <p:spPr>
          <a:xfrm>
            <a:off x="4181359" y="4126160"/>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Oval 380"/>
          <p:cNvSpPr/>
          <p:nvPr/>
        </p:nvSpPr>
        <p:spPr>
          <a:xfrm>
            <a:off x="4123121" y="419197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Oval 381"/>
          <p:cNvSpPr/>
          <p:nvPr/>
        </p:nvSpPr>
        <p:spPr>
          <a:xfrm>
            <a:off x="2768556" y="4114188"/>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Oval 382"/>
          <p:cNvSpPr/>
          <p:nvPr/>
        </p:nvSpPr>
        <p:spPr>
          <a:xfrm>
            <a:off x="4261021" y="413681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Oval 383"/>
          <p:cNvSpPr/>
          <p:nvPr/>
        </p:nvSpPr>
        <p:spPr>
          <a:xfrm>
            <a:off x="2639708" y="417101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Oval 384"/>
          <p:cNvSpPr/>
          <p:nvPr/>
        </p:nvSpPr>
        <p:spPr>
          <a:xfrm>
            <a:off x="4168987" y="4129585"/>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Oval 385"/>
          <p:cNvSpPr/>
          <p:nvPr/>
        </p:nvSpPr>
        <p:spPr>
          <a:xfrm>
            <a:off x="3594451" y="4123105"/>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Oval 386"/>
          <p:cNvSpPr/>
          <p:nvPr/>
        </p:nvSpPr>
        <p:spPr>
          <a:xfrm>
            <a:off x="4245934" y="418628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Oval 387"/>
          <p:cNvSpPr/>
          <p:nvPr/>
        </p:nvSpPr>
        <p:spPr>
          <a:xfrm>
            <a:off x="3708815" y="4180118"/>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4800600" y="3872483"/>
            <a:ext cx="1005840" cy="429768"/>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00407A"/>
                </a:solidFill>
                <a:latin typeface="Arial"/>
              </a:rPr>
              <a:t>121 of 123</a:t>
            </a:r>
          </a:p>
          <a:p>
            <a:pPr algn="l">
              <a:lnSpc>
                <a:spcPct val="109000"/>
              </a:lnSpc>
              <a:spcBef>
                <a:spcPts val="0"/>
              </a:spcBef>
              <a:spcAft>
                <a:spcPts val="0"/>
              </a:spcAft>
            </a:pPr>
            <a:r>
              <a:rPr sz="1250" b="0">
                <a:solidFill>
                  <a:srgbClr val="00407A"/>
                </a:solidFill>
                <a:latin typeface="Arial"/>
              </a:rPr>
              <a:t>are “yes”</a:t>
            </a:r>
          </a:p>
        </p:txBody>
      </p:sp>
      <p:sp>
        <p:nvSpPr>
          <p:cNvPr id="390" name="TextBox 389"/>
          <p:cNvSpPr txBox="1"/>
          <p:nvPr/>
        </p:nvSpPr>
        <p:spPr>
          <a:xfrm>
            <a:off x="996696" y="4430268"/>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27B</a:t>
            </a:r>
          </a:p>
        </p:txBody>
      </p:sp>
      <p:sp>
        <p:nvSpPr>
          <p:cNvPr id="391" name="Oval 390"/>
          <p:cNvSpPr/>
          <p:nvPr/>
        </p:nvSpPr>
        <p:spPr>
          <a:xfrm>
            <a:off x="4537426" y="442676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2" name="Oval 391"/>
          <p:cNvSpPr/>
          <p:nvPr/>
        </p:nvSpPr>
        <p:spPr>
          <a:xfrm>
            <a:off x="4063977" y="448453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3" name="Oval 392"/>
          <p:cNvSpPr/>
          <p:nvPr/>
        </p:nvSpPr>
        <p:spPr>
          <a:xfrm>
            <a:off x="3632774" y="448298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4" name="Oval 393"/>
          <p:cNvSpPr/>
          <p:nvPr/>
        </p:nvSpPr>
        <p:spPr>
          <a:xfrm>
            <a:off x="4150580" y="443874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5" name="Oval 394"/>
          <p:cNvSpPr/>
          <p:nvPr/>
        </p:nvSpPr>
        <p:spPr>
          <a:xfrm>
            <a:off x="4513286" y="447836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6" name="Oval 395"/>
          <p:cNvSpPr/>
          <p:nvPr/>
        </p:nvSpPr>
        <p:spPr>
          <a:xfrm>
            <a:off x="3308994" y="446958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Oval 396"/>
          <p:cNvSpPr/>
          <p:nvPr/>
        </p:nvSpPr>
        <p:spPr>
          <a:xfrm>
            <a:off x="4487033" y="446915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8" name="Oval 397"/>
          <p:cNvSpPr/>
          <p:nvPr/>
        </p:nvSpPr>
        <p:spPr>
          <a:xfrm>
            <a:off x="4438753" y="444814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9" name="Oval 398"/>
          <p:cNvSpPr/>
          <p:nvPr/>
        </p:nvSpPr>
        <p:spPr>
          <a:xfrm>
            <a:off x="4072426" y="441160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0" name="Oval 399"/>
          <p:cNvSpPr/>
          <p:nvPr/>
        </p:nvSpPr>
        <p:spPr>
          <a:xfrm>
            <a:off x="4520528" y="442416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1" name="Oval 400"/>
          <p:cNvSpPr/>
          <p:nvPr/>
        </p:nvSpPr>
        <p:spPr>
          <a:xfrm>
            <a:off x="4162952" y="446413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2" name="Oval 401"/>
          <p:cNvSpPr/>
          <p:nvPr/>
        </p:nvSpPr>
        <p:spPr>
          <a:xfrm>
            <a:off x="4309603" y="444546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Oval 402"/>
          <p:cNvSpPr/>
          <p:nvPr/>
        </p:nvSpPr>
        <p:spPr>
          <a:xfrm>
            <a:off x="4351245" y="446932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Oval 403"/>
          <p:cNvSpPr/>
          <p:nvPr/>
        </p:nvSpPr>
        <p:spPr>
          <a:xfrm>
            <a:off x="4185281" y="446433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Oval 404"/>
          <p:cNvSpPr/>
          <p:nvPr/>
        </p:nvSpPr>
        <p:spPr>
          <a:xfrm>
            <a:off x="4154503" y="44925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Oval 405"/>
          <p:cNvSpPr/>
          <p:nvPr/>
        </p:nvSpPr>
        <p:spPr>
          <a:xfrm>
            <a:off x="4137906" y="448151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Oval 406"/>
          <p:cNvSpPr/>
          <p:nvPr/>
        </p:nvSpPr>
        <p:spPr>
          <a:xfrm>
            <a:off x="4375687" y="448535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Oval 407"/>
          <p:cNvSpPr/>
          <p:nvPr/>
        </p:nvSpPr>
        <p:spPr>
          <a:xfrm>
            <a:off x="4259512" y="447421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Oval 408"/>
          <p:cNvSpPr/>
          <p:nvPr/>
        </p:nvSpPr>
        <p:spPr>
          <a:xfrm>
            <a:off x="4462290" y="439891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Oval 409"/>
          <p:cNvSpPr/>
          <p:nvPr/>
        </p:nvSpPr>
        <p:spPr>
          <a:xfrm>
            <a:off x="4358789" y="445984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Oval 410"/>
          <p:cNvSpPr/>
          <p:nvPr/>
        </p:nvSpPr>
        <p:spPr>
          <a:xfrm>
            <a:off x="4035914" y="447721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Oval 411"/>
          <p:cNvSpPr/>
          <p:nvPr/>
        </p:nvSpPr>
        <p:spPr>
          <a:xfrm>
            <a:off x="4185583" y="449106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Oval 412"/>
          <p:cNvSpPr/>
          <p:nvPr/>
        </p:nvSpPr>
        <p:spPr>
          <a:xfrm>
            <a:off x="4435434" y="446145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Oval 413"/>
          <p:cNvSpPr/>
          <p:nvPr/>
        </p:nvSpPr>
        <p:spPr>
          <a:xfrm>
            <a:off x="4414613" y="440706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Oval 414"/>
          <p:cNvSpPr/>
          <p:nvPr/>
        </p:nvSpPr>
        <p:spPr>
          <a:xfrm>
            <a:off x="4122215" y="443370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Oval 415"/>
          <p:cNvSpPr/>
          <p:nvPr/>
        </p:nvSpPr>
        <p:spPr>
          <a:xfrm>
            <a:off x="4346115" y="445487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Oval 416"/>
          <p:cNvSpPr/>
          <p:nvPr/>
        </p:nvSpPr>
        <p:spPr>
          <a:xfrm>
            <a:off x="4466816" y="441370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Oval 417"/>
          <p:cNvSpPr/>
          <p:nvPr/>
        </p:nvSpPr>
        <p:spPr>
          <a:xfrm>
            <a:off x="4143640" y="439729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Oval 418"/>
          <p:cNvSpPr/>
          <p:nvPr/>
        </p:nvSpPr>
        <p:spPr>
          <a:xfrm>
            <a:off x="4309603" y="440687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Oval 419"/>
          <p:cNvSpPr/>
          <p:nvPr/>
        </p:nvSpPr>
        <p:spPr>
          <a:xfrm>
            <a:off x="3905256" y="445896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Oval 420"/>
          <p:cNvSpPr/>
          <p:nvPr/>
        </p:nvSpPr>
        <p:spPr>
          <a:xfrm>
            <a:off x="4248348" y="446461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2" name="Oval 421"/>
          <p:cNvSpPr/>
          <p:nvPr/>
        </p:nvSpPr>
        <p:spPr>
          <a:xfrm>
            <a:off x="4466213" y="444578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Oval 422"/>
          <p:cNvSpPr/>
          <p:nvPr/>
        </p:nvSpPr>
        <p:spPr>
          <a:xfrm>
            <a:off x="4400129" y="446912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4" name="Oval 423"/>
          <p:cNvSpPr/>
          <p:nvPr/>
        </p:nvSpPr>
        <p:spPr>
          <a:xfrm>
            <a:off x="4393490" y="442127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Oval 424"/>
          <p:cNvSpPr/>
          <p:nvPr/>
        </p:nvSpPr>
        <p:spPr>
          <a:xfrm>
            <a:off x="4270074" y="445374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Oval 425"/>
          <p:cNvSpPr/>
          <p:nvPr/>
        </p:nvSpPr>
        <p:spPr>
          <a:xfrm>
            <a:off x="3944785" y="444623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7" name="Oval 426"/>
          <p:cNvSpPr/>
          <p:nvPr/>
        </p:nvSpPr>
        <p:spPr>
          <a:xfrm>
            <a:off x="4424571" y="445482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Oval 427"/>
          <p:cNvSpPr/>
          <p:nvPr/>
        </p:nvSpPr>
        <p:spPr>
          <a:xfrm>
            <a:off x="4233864" y="448485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9" name="Oval 428"/>
          <p:cNvSpPr/>
          <p:nvPr/>
        </p:nvSpPr>
        <p:spPr>
          <a:xfrm>
            <a:off x="4157822" y="445863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0" name="Oval 429"/>
          <p:cNvSpPr/>
          <p:nvPr/>
        </p:nvSpPr>
        <p:spPr>
          <a:xfrm>
            <a:off x="3793607" y="446032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1" name="Oval 430"/>
          <p:cNvSpPr/>
          <p:nvPr/>
        </p:nvSpPr>
        <p:spPr>
          <a:xfrm>
            <a:off x="4445995" y="446267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2" name="Oval 431"/>
          <p:cNvSpPr/>
          <p:nvPr/>
        </p:nvSpPr>
        <p:spPr>
          <a:xfrm>
            <a:off x="4304473" y="444267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3" name="Oval 432"/>
          <p:cNvSpPr/>
          <p:nvPr/>
        </p:nvSpPr>
        <p:spPr>
          <a:xfrm>
            <a:off x="4033500" y="441339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4" name="Oval 433"/>
          <p:cNvSpPr/>
          <p:nvPr/>
        </p:nvSpPr>
        <p:spPr>
          <a:xfrm>
            <a:off x="4527468" y="448116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5" name="Oval 434"/>
          <p:cNvSpPr/>
          <p:nvPr/>
        </p:nvSpPr>
        <p:spPr>
          <a:xfrm>
            <a:off x="4545272" y="447781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6" name="Oval 435"/>
          <p:cNvSpPr/>
          <p:nvPr/>
        </p:nvSpPr>
        <p:spPr>
          <a:xfrm>
            <a:off x="4491861" y="439845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7" name="Oval 436"/>
          <p:cNvSpPr/>
          <p:nvPr/>
        </p:nvSpPr>
        <p:spPr>
          <a:xfrm>
            <a:off x="4544668" y="44363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Oval 437"/>
          <p:cNvSpPr/>
          <p:nvPr/>
        </p:nvSpPr>
        <p:spPr>
          <a:xfrm>
            <a:off x="4278221" y="443891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9" name="Oval 438"/>
          <p:cNvSpPr/>
          <p:nvPr/>
        </p:nvSpPr>
        <p:spPr>
          <a:xfrm>
            <a:off x="4507553" y="446042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0" name="Oval 439"/>
          <p:cNvSpPr/>
          <p:nvPr/>
        </p:nvSpPr>
        <p:spPr>
          <a:xfrm>
            <a:off x="4525054" y="439526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Oval 440"/>
          <p:cNvSpPr/>
          <p:nvPr/>
        </p:nvSpPr>
        <p:spPr>
          <a:xfrm>
            <a:off x="4286067" y="440760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Oval 441"/>
          <p:cNvSpPr/>
          <p:nvPr/>
        </p:nvSpPr>
        <p:spPr>
          <a:xfrm>
            <a:off x="4356677" y="447325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Oval 442"/>
          <p:cNvSpPr/>
          <p:nvPr/>
        </p:nvSpPr>
        <p:spPr>
          <a:xfrm>
            <a:off x="4573033" y="448202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Oval 443"/>
          <p:cNvSpPr/>
          <p:nvPr/>
        </p:nvSpPr>
        <p:spPr>
          <a:xfrm>
            <a:off x="4236278" y="448749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Oval 444"/>
          <p:cNvSpPr/>
          <p:nvPr/>
        </p:nvSpPr>
        <p:spPr>
          <a:xfrm>
            <a:off x="4420648" y="441707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Oval 445"/>
          <p:cNvSpPr/>
          <p:nvPr/>
        </p:nvSpPr>
        <p:spPr>
          <a:xfrm>
            <a:off x="4530184" y="445071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Oval 446"/>
          <p:cNvSpPr/>
          <p:nvPr/>
        </p:nvSpPr>
        <p:spPr>
          <a:xfrm>
            <a:off x="4589026" y="446691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Oval 447"/>
          <p:cNvSpPr/>
          <p:nvPr/>
        </p:nvSpPr>
        <p:spPr>
          <a:xfrm>
            <a:off x="4551910" y="448331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Oval 448"/>
          <p:cNvSpPr/>
          <p:nvPr/>
        </p:nvSpPr>
        <p:spPr>
          <a:xfrm>
            <a:off x="4495784" y="444340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Oval 449"/>
          <p:cNvSpPr/>
          <p:nvPr/>
        </p:nvSpPr>
        <p:spPr>
          <a:xfrm>
            <a:off x="4552212" y="443559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Oval 450"/>
          <p:cNvSpPr/>
          <p:nvPr/>
        </p:nvSpPr>
        <p:spPr>
          <a:xfrm>
            <a:off x="4530787" y="448930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Oval 451"/>
          <p:cNvSpPr/>
          <p:nvPr/>
        </p:nvSpPr>
        <p:spPr>
          <a:xfrm>
            <a:off x="4570921" y="443861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Oval 452"/>
          <p:cNvSpPr/>
          <p:nvPr/>
        </p:nvSpPr>
        <p:spPr>
          <a:xfrm>
            <a:off x="4560359" y="441965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Oval 453"/>
          <p:cNvSpPr/>
          <p:nvPr/>
        </p:nvSpPr>
        <p:spPr>
          <a:xfrm>
            <a:off x="4535012" y="440147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Oval 454"/>
          <p:cNvSpPr/>
          <p:nvPr/>
        </p:nvSpPr>
        <p:spPr>
          <a:xfrm>
            <a:off x="4617994" y="443715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Oval 455"/>
          <p:cNvSpPr/>
          <p:nvPr/>
        </p:nvSpPr>
        <p:spPr>
          <a:xfrm>
            <a:off x="4576956" y="439479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Oval 456"/>
          <p:cNvSpPr/>
          <p:nvPr/>
        </p:nvSpPr>
        <p:spPr>
          <a:xfrm>
            <a:off x="4229639" y="446751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Oval 457"/>
          <p:cNvSpPr/>
          <p:nvPr/>
        </p:nvSpPr>
        <p:spPr>
          <a:xfrm>
            <a:off x="4595664" y="448418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Oval 458"/>
          <p:cNvSpPr/>
          <p:nvPr/>
        </p:nvSpPr>
        <p:spPr>
          <a:xfrm>
            <a:off x="4573335" y="446542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Oval 459"/>
          <p:cNvSpPr/>
          <p:nvPr/>
        </p:nvSpPr>
        <p:spPr>
          <a:xfrm>
            <a:off x="4537124" y="446504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Oval 460"/>
          <p:cNvSpPr/>
          <p:nvPr/>
        </p:nvSpPr>
        <p:spPr>
          <a:xfrm>
            <a:off x="4049493" y="444150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Oval 461"/>
          <p:cNvSpPr/>
          <p:nvPr/>
        </p:nvSpPr>
        <p:spPr>
          <a:xfrm>
            <a:off x="4520226" y="440469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Oval 462"/>
          <p:cNvSpPr/>
          <p:nvPr/>
        </p:nvSpPr>
        <p:spPr>
          <a:xfrm>
            <a:off x="4582991" y="449073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Oval 463"/>
          <p:cNvSpPr/>
          <p:nvPr/>
        </p:nvSpPr>
        <p:spPr>
          <a:xfrm>
            <a:off x="4540142" y="448397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Oval 464"/>
          <p:cNvSpPr/>
          <p:nvPr/>
        </p:nvSpPr>
        <p:spPr>
          <a:xfrm>
            <a:off x="4537426" y="447388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Oval 465"/>
          <p:cNvSpPr/>
          <p:nvPr/>
        </p:nvSpPr>
        <p:spPr>
          <a:xfrm>
            <a:off x="3660836" y="442486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Oval 466"/>
          <p:cNvSpPr/>
          <p:nvPr/>
        </p:nvSpPr>
        <p:spPr>
          <a:xfrm>
            <a:off x="3551904" y="442308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Oval 467"/>
          <p:cNvSpPr/>
          <p:nvPr/>
        </p:nvSpPr>
        <p:spPr>
          <a:xfrm>
            <a:off x="4574843" y="448414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Oval 468"/>
          <p:cNvSpPr/>
          <p:nvPr/>
        </p:nvSpPr>
        <p:spPr>
          <a:xfrm>
            <a:off x="4059149" y="445070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Oval 469"/>
          <p:cNvSpPr/>
          <p:nvPr/>
        </p:nvSpPr>
        <p:spPr>
          <a:xfrm>
            <a:off x="3611651" y="443250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Oval 470"/>
          <p:cNvSpPr/>
          <p:nvPr/>
        </p:nvSpPr>
        <p:spPr>
          <a:xfrm>
            <a:off x="3936034" y="449285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Oval 471"/>
          <p:cNvSpPr/>
          <p:nvPr/>
        </p:nvSpPr>
        <p:spPr>
          <a:xfrm>
            <a:off x="3940259" y="447230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Oval 472"/>
          <p:cNvSpPr/>
          <p:nvPr/>
        </p:nvSpPr>
        <p:spPr>
          <a:xfrm>
            <a:off x="4468928" y="447689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Oval 473"/>
          <p:cNvSpPr/>
          <p:nvPr/>
        </p:nvSpPr>
        <p:spPr>
          <a:xfrm>
            <a:off x="4426985" y="443066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Oval 474"/>
          <p:cNvSpPr/>
          <p:nvPr/>
        </p:nvSpPr>
        <p:spPr>
          <a:xfrm>
            <a:off x="4163555" y="444575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6" name="Oval 475"/>
          <p:cNvSpPr/>
          <p:nvPr/>
        </p:nvSpPr>
        <p:spPr>
          <a:xfrm>
            <a:off x="3958364" y="440506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7" name="Oval 476"/>
          <p:cNvSpPr/>
          <p:nvPr/>
        </p:nvSpPr>
        <p:spPr>
          <a:xfrm>
            <a:off x="4203990" y="447653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Oval 477"/>
          <p:cNvSpPr/>
          <p:nvPr/>
        </p:nvSpPr>
        <p:spPr>
          <a:xfrm>
            <a:off x="4238993" y="449200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Oval 478"/>
          <p:cNvSpPr/>
          <p:nvPr/>
        </p:nvSpPr>
        <p:spPr>
          <a:xfrm>
            <a:off x="4354564" y="442835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Oval 479"/>
          <p:cNvSpPr/>
          <p:nvPr/>
        </p:nvSpPr>
        <p:spPr>
          <a:xfrm>
            <a:off x="4502121" y="448296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Oval 480"/>
          <p:cNvSpPr/>
          <p:nvPr/>
        </p:nvSpPr>
        <p:spPr>
          <a:xfrm>
            <a:off x="4176531" y="440305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Oval 481"/>
          <p:cNvSpPr/>
          <p:nvPr/>
        </p:nvSpPr>
        <p:spPr>
          <a:xfrm>
            <a:off x="4466514" y="443627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Oval 482"/>
          <p:cNvSpPr/>
          <p:nvPr/>
        </p:nvSpPr>
        <p:spPr>
          <a:xfrm>
            <a:off x="4482205" y="444241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Oval 483"/>
          <p:cNvSpPr/>
          <p:nvPr/>
        </p:nvSpPr>
        <p:spPr>
          <a:xfrm>
            <a:off x="4306284" y="447789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Oval 484"/>
          <p:cNvSpPr/>
          <p:nvPr/>
        </p:nvSpPr>
        <p:spPr>
          <a:xfrm>
            <a:off x="3936034" y="446163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Oval 485"/>
          <p:cNvSpPr/>
          <p:nvPr/>
        </p:nvSpPr>
        <p:spPr>
          <a:xfrm>
            <a:off x="3594149" y="442310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Oval 486"/>
          <p:cNvSpPr/>
          <p:nvPr/>
        </p:nvSpPr>
        <p:spPr>
          <a:xfrm>
            <a:off x="4441771" y="440890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Oval 487"/>
          <p:cNvSpPr/>
          <p:nvPr/>
        </p:nvSpPr>
        <p:spPr>
          <a:xfrm>
            <a:off x="4132777" y="439438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Oval 488"/>
          <p:cNvSpPr/>
          <p:nvPr/>
        </p:nvSpPr>
        <p:spPr>
          <a:xfrm>
            <a:off x="4476170" y="439667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Oval 489"/>
          <p:cNvSpPr/>
          <p:nvPr/>
        </p:nvSpPr>
        <p:spPr>
          <a:xfrm>
            <a:off x="4364522" y="446280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Oval 490"/>
          <p:cNvSpPr/>
          <p:nvPr/>
        </p:nvSpPr>
        <p:spPr>
          <a:xfrm>
            <a:off x="4573335" y="449211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Oval 491"/>
          <p:cNvSpPr/>
          <p:nvPr/>
        </p:nvSpPr>
        <p:spPr>
          <a:xfrm>
            <a:off x="4611657" y="445740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3" name="Oval 492"/>
          <p:cNvSpPr/>
          <p:nvPr/>
        </p:nvSpPr>
        <p:spPr>
          <a:xfrm>
            <a:off x="4089023" y="445760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4" name="Oval 493"/>
          <p:cNvSpPr/>
          <p:nvPr/>
        </p:nvSpPr>
        <p:spPr>
          <a:xfrm>
            <a:off x="4589327" y="441856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5" name="Oval 494"/>
          <p:cNvSpPr/>
          <p:nvPr/>
        </p:nvSpPr>
        <p:spPr>
          <a:xfrm>
            <a:off x="4554022" y="444599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6" name="Oval 495"/>
          <p:cNvSpPr/>
          <p:nvPr/>
        </p:nvSpPr>
        <p:spPr>
          <a:xfrm>
            <a:off x="4529279" y="441688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7" name="Oval 496"/>
          <p:cNvSpPr/>
          <p:nvPr/>
        </p:nvSpPr>
        <p:spPr>
          <a:xfrm>
            <a:off x="4344305" y="448513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8" name="Oval 497"/>
          <p:cNvSpPr/>
          <p:nvPr/>
        </p:nvSpPr>
        <p:spPr>
          <a:xfrm>
            <a:off x="4555833" y="445593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9" name="Oval 498"/>
          <p:cNvSpPr/>
          <p:nvPr/>
        </p:nvSpPr>
        <p:spPr>
          <a:xfrm>
            <a:off x="4572429" y="440114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570619" y="439370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529279" y="443645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4528373" y="440744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4262530" y="442475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Oval 503"/>
          <p:cNvSpPr/>
          <p:nvPr/>
        </p:nvSpPr>
        <p:spPr>
          <a:xfrm>
            <a:off x="4290593" y="441548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Oval 504"/>
          <p:cNvSpPr/>
          <p:nvPr/>
        </p:nvSpPr>
        <p:spPr>
          <a:xfrm>
            <a:off x="2718163" y="4629080"/>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Oval 505"/>
          <p:cNvSpPr/>
          <p:nvPr/>
        </p:nvSpPr>
        <p:spPr>
          <a:xfrm>
            <a:off x="3685882" y="469489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Oval 506"/>
          <p:cNvSpPr/>
          <p:nvPr/>
        </p:nvSpPr>
        <p:spPr>
          <a:xfrm>
            <a:off x="2469520" y="4617108"/>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Oval 507"/>
          <p:cNvSpPr/>
          <p:nvPr/>
        </p:nvSpPr>
        <p:spPr>
          <a:xfrm>
            <a:off x="2714844" y="463973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Oval 508"/>
          <p:cNvSpPr/>
          <p:nvPr/>
        </p:nvSpPr>
        <p:spPr>
          <a:xfrm>
            <a:off x="2612852" y="467393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Oval 509"/>
          <p:cNvSpPr/>
          <p:nvPr/>
        </p:nvSpPr>
        <p:spPr>
          <a:xfrm>
            <a:off x="2921544" y="4632505"/>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Oval 510"/>
          <p:cNvSpPr/>
          <p:nvPr/>
        </p:nvSpPr>
        <p:spPr>
          <a:xfrm>
            <a:off x="2357570" y="4626025"/>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Oval 511"/>
          <p:cNvSpPr/>
          <p:nvPr/>
        </p:nvSpPr>
        <p:spPr>
          <a:xfrm>
            <a:off x="2384426" y="468920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Oval 512"/>
          <p:cNvSpPr/>
          <p:nvPr/>
        </p:nvSpPr>
        <p:spPr>
          <a:xfrm>
            <a:off x="3105311" y="4683038"/>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TextBox 513"/>
          <p:cNvSpPr txBox="1"/>
          <p:nvPr/>
        </p:nvSpPr>
        <p:spPr>
          <a:xfrm>
            <a:off x="4800600" y="4375404"/>
            <a:ext cx="1005840" cy="429768"/>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00407A"/>
                </a:solidFill>
                <a:latin typeface="Arial"/>
              </a:rPr>
              <a:t>115 of 123</a:t>
            </a:r>
          </a:p>
          <a:p>
            <a:pPr algn="l">
              <a:lnSpc>
                <a:spcPct val="109000"/>
              </a:lnSpc>
              <a:spcBef>
                <a:spcPts val="0"/>
              </a:spcBef>
              <a:spcAft>
                <a:spcPts val="0"/>
              </a:spcAft>
            </a:pPr>
            <a:r>
              <a:rPr sz="1250" b="0">
                <a:solidFill>
                  <a:srgbClr val="00407A"/>
                </a:solidFill>
                <a:latin typeface="Arial"/>
              </a:rPr>
              <a:t>are “yes”</a:t>
            </a:r>
          </a:p>
        </p:txBody>
      </p:sp>
      <p:sp>
        <p:nvSpPr>
          <p:cNvPr id="515" name="TextBox 514"/>
          <p:cNvSpPr txBox="1"/>
          <p:nvPr/>
        </p:nvSpPr>
        <p:spPr>
          <a:xfrm>
            <a:off x="996696" y="5029200"/>
            <a:ext cx="4800600" cy="219456"/>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4A5A66"/>
                </a:solidFill>
                <a:latin typeface="Arial"/>
              </a:rPr>
              <a:t>Yes probability of each design • dashed line: the 0.5 threshold</a:t>
            </a:r>
          </a:p>
        </p:txBody>
      </p:sp>
      <p:sp>
        <p:nvSpPr>
          <p:cNvPr id="516" name="Rounded Rectangle 515"/>
          <p:cNvSpPr/>
          <p:nvPr/>
        </p:nvSpPr>
        <p:spPr>
          <a:xfrm>
            <a:off x="6208776" y="1819656"/>
            <a:ext cx="5166360" cy="3730752"/>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TextBox 516"/>
          <p:cNvSpPr txBox="1"/>
          <p:nvPr/>
        </p:nvSpPr>
        <p:spPr>
          <a:xfrm>
            <a:off x="6409944" y="1984248"/>
            <a:ext cx="4764024" cy="502920"/>
          </a:xfrm>
          <a:prstGeom prst="rect">
            <a:avLst/>
          </a:prstGeom>
          <a:noFill/>
        </p:spPr>
        <p:txBody>
          <a:bodyPr wrap="square" lIns="0" rIns="0" tIns="0" bIns="0" anchor="t">
            <a:noAutofit/>
          </a:bodyPr>
          <a:lstStyle/>
          <a:p>
            <a:pPr algn="l">
              <a:lnSpc>
                <a:spcPct val="109000"/>
              </a:lnSpc>
              <a:spcBef>
                <a:spcPts val="0"/>
              </a:spcBef>
              <a:spcAft>
                <a:spcPts val="0"/>
              </a:spcAft>
            </a:pPr>
            <a:r>
              <a:rPr sz="1800" b="1">
                <a:solidFill>
                  <a:srgbClr val="00407A"/>
                </a:solidFill>
                <a:latin typeface="Arial"/>
              </a:rPr>
              <a:t>Does it synthesize?</a:t>
            </a:r>
          </a:p>
        </p:txBody>
      </p:sp>
      <p:sp>
        <p:nvSpPr>
          <p:cNvPr id="518" name="TextBox 517"/>
          <p:cNvSpPr txBox="1"/>
          <p:nvPr/>
        </p:nvSpPr>
        <p:spPr>
          <a:xfrm>
            <a:off x="6409944" y="2432304"/>
            <a:ext cx="4764024" cy="274320"/>
          </a:xfrm>
          <a:prstGeom prst="rect">
            <a:avLst/>
          </a:prstGeom>
          <a:noFill/>
        </p:spPr>
        <p:txBody>
          <a:bodyPr wrap="square" lIns="0" rIns="0" tIns="0" bIns="0">
            <a:noAutofit/>
          </a:bodyPr>
          <a:lstStyle/>
          <a:p>
            <a:r>
              <a:rPr sz="1250">
                <a:solidFill>
                  <a:srgbClr val="1D8DB0"/>
                </a:solidFill>
                <a:latin typeface="Arial"/>
              </a:rPr>
              <a:t>●</a:t>
            </a:r>
            <a:r>
              <a:rPr sz="1250">
                <a:solidFill>
                  <a:srgbClr val="4A5A66"/>
                </a:solidFill>
                <a:latin typeface="Arial"/>
              </a:rPr>
              <a:t> tool synthesizes: 99</a:t>
            </a:r>
            <a:r>
              <a:rPr sz="1250">
                <a:solidFill>
                  <a:srgbClr val="E97132"/>
                </a:solidFill>
                <a:latin typeface="Arial"/>
              </a:rPr>
              <a:t>      ●</a:t>
            </a:r>
            <a:r>
              <a:rPr sz="1250">
                <a:solidFill>
                  <a:srgbClr val="4A5A66"/>
                </a:solidFill>
                <a:latin typeface="Arial"/>
              </a:rPr>
              <a:t> tool fails: 24</a:t>
            </a:r>
          </a:p>
        </p:txBody>
      </p:sp>
      <p:cxnSp>
        <p:nvCxnSpPr>
          <p:cNvPr id="519" name="Connector 518"/>
          <p:cNvCxnSpPr/>
          <p:nvPr/>
        </p:nvCxnSpPr>
        <p:spPr>
          <a:xfrm>
            <a:off x="7059168" y="2825496"/>
            <a:ext cx="0" cy="1947672"/>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520" name="TextBox 519"/>
          <p:cNvSpPr txBox="1"/>
          <p:nvPr/>
        </p:nvSpPr>
        <p:spPr>
          <a:xfrm>
            <a:off x="6858000" y="4764024"/>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0</a:t>
            </a:r>
          </a:p>
        </p:txBody>
      </p:sp>
      <p:cxnSp>
        <p:nvCxnSpPr>
          <p:cNvPr id="521" name="Connector 520"/>
          <p:cNvCxnSpPr/>
          <p:nvPr/>
        </p:nvCxnSpPr>
        <p:spPr>
          <a:xfrm>
            <a:off x="8567928" y="2825496"/>
            <a:ext cx="0" cy="1947672"/>
          </a:xfrm>
          <a:prstGeom prst="line">
            <a:avLst/>
          </a:prstGeom>
          <a:ln w="15240">
            <a:solidFill>
              <a:srgbClr val="4A5A66"/>
            </a:solidFill>
            <a:prstDash val="dash"/>
          </a:ln>
        </p:spPr>
        <p:style>
          <a:lnRef idx="2">
            <a:schemeClr val="accent1"/>
          </a:lnRef>
          <a:fillRef idx="0">
            <a:schemeClr val="accent1"/>
          </a:fillRef>
          <a:effectRef idx="1">
            <a:schemeClr val="accent1"/>
          </a:effectRef>
          <a:fontRef idx="minor">
            <a:schemeClr val="tx1"/>
          </a:fontRef>
        </p:style>
      </p:cxnSp>
      <p:sp>
        <p:nvSpPr>
          <p:cNvPr id="522" name="TextBox 521"/>
          <p:cNvSpPr txBox="1"/>
          <p:nvPr/>
        </p:nvSpPr>
        <p:spPr>
          <a:xfrm>
            <a:off x="8366759" y="4764024"/>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0.5</a:t>
            </a:r>
          </a:p>
        </p:txBody>
      </p:sp>
      <p:cxnSp>
        <p:nvCxnSpPr>
          <p:cNvPr id="523" name="Connector 522"/>
          <p:cNvCxnSpPr/>
          <p:nvPr/>
        </p:nvCxnSpPr>
        <p:spPr>
          <a:xfrm>
            <a:off x="10076688" y="2825496"/>
            <a:ext cx="0" cy="1947672"/>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524" name="TextBox 523"/>
          <p:cNvSpPr txBox="1"/>
          <p:nvPr/>
        </p:nvSpPr>
        <p:spPr>
          <a:xfrm>
            <a:off x="9875519" y="4764024"/>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1</a:t>
            </a:r>
          </a:p>
        </p:txBody>
      </p:sp>
      <p:sp>
        <p:nvSpPr>
          <p:cNvPr id="525" name="TextBox 524"/>
          <p:cNvSpPr txBox="1"/>
          <p:nvPr/>
        </p:nvSpPr>
        <p:spPr>
          <a:xfrm>
            <a:off x="6391656" y="2921508"/>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0.8B</a:t>
            </a:r>
          </a:p>
        </p:txBody>
      </p:sp>
      <p:sp>
        <p:nvSpPr>
          <p:cNvPr id="526" name="Oval 525"/>
          <p:cNvSpPr/>
          <p:nvPr/>
        </p:nvSpPr>
        <p:spPr>
          <a:xfrm>
            <a:off x="8878065" y="291800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Oval 526"/>
          <p:cNvSpPr/>
          <p:nvPr/>
        </p:nvSpPr>
        <p:spPr>
          <a:xfrm>
            <a:off x="8979151" y="297577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8" name="Oval 527"/>
          <p:cNvSpPr/>
          <p:nvPr/>
        </p:nvSpPr>
        <p:spPr>
          <a:xfrm>
            <a:off x="8912464" y="297422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Oval 528"/>
          <p:cNvSpPr/>
          <p:nvPr/>
        </p:nvSpPr>
        <p:spPr>
          <a:xfrm>
            <a:off x="8889833" y="292998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Oval 529"/>
          <p:cNvSpPr/>
          <p:nvPr/>
        </p:nvSpPr>
        <p:spPr>
          <a:xfrm>
            <a:off x="8850002" y="296960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Oval 530"/>
          <p:cNvSpPr/>
          <p:nvPr/>
        </p:nvSpPr>
        <p:spPr>
          <a:xfrm>
            <a:off x="8964064" y="296082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2" name="Oval 531"/>
          <p:cNvSpPr/>
          <p:nvPr/>
        </p:nvSpPr>
        <p:spPr>
          <a:xfrm>
            <a:off x="8915482" y="296039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Oval 532"/>
          <p:cNvSpPr/>
          <p:nvPr/>
        </p:nvSpPr>
        <p:spPr>
          <a:xfrm>
            <a:off x="8996653" y="293938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4" name="Oval 533"/>
          <p:cNvSpPr/>
          <p:nvPr/>
        </p:nvSpPr>
        <p:spPr>
          <a:xfrm>
            <a:off x="8840647" y="290284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Oval 534"/>
          <p:cNvSpPr/>
          <p:nvPr/>
        </p:nvSpPr>
        <p:spPr>
          <a:xfrm>
            <a:off x="8922724" y="291540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Oval 535"/>
          <p:cNvSpPr/>
          <p:nvPr/>
        </p:nvSpPr>
        <p:spPr>
          <a:xfrm>
            <a:off x="8967383" y="295537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7" name="Oval 536"/>
          <p:cNvSpPr/>
          <p:nvPr/>
        </p:nvSpPr>
        <p:spPr>
          <a:xfrm>
            <a:off x="9068168" y="293670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Oval 537"/>
          <p:cNvSpPr/>
          <p:nvPr/>
        </p:nvSpPr>
        <p:spPr>
          <a:xfrm>
            <a:off x="9061228" y="296056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Oval 538"/>
          <p:cNvSpPr/>
          <p:nvPr/>
        </p:nvSpPr>
        <p:spPr>
          <a:xfrm>
            <a:off x="8940527" y="295557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Oval 539"/>
          <p:cNvSpPr/>
          <p:nvPr/>
        </p:nvSpPr>
        <p:spPr>
          <a:xfrm>
            <a:off x="8980962" y="298376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1" name="Oval 540"/>
          <p:cNvSpPr/>
          <p:nvPr/>
        </p:nvSpPr>
        <p:spPr>
          <a:xfrm>
            <a:off x="8966176" y="297275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Oval 541"/>
          <p:cNvSpPr/>
          <p:nvPr/>
        </p:nvSpPr>
        <p:spPr>
          <a:xfrm>
            <a:off x="8807153" y="297659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Oval 542"/>
          <p:cNvSpPr/>
          <p:nvPr/>
        </p:nvSpPr>
        <p:spPr>
          <a:xfrm>
            <a:off x="9115543" y="296545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4" name="Oval 543"/>
          <p:cNvSpPr/>
          <p:nvPr/>
        </p:nvSpPr>
        <p:spPr>
          <a:xfrm>
            <a:off x="8979453" y="289015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Oval 544"/>
          <p:cNvSpPr/>
          <p:nvPr/>
        </p:nvSpPr>
        <p:spPr>
          <a:xfrm>
            <a:off x="9066961" y="295108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Oval 545"/>
          <p:cNvSpPr/>
          <p:nvPr/>
        </p:nvSpPr>
        <p:spPr>
          <a:xfrm>
            <a:off x="8742276" y="296845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Oval 546"/>
          <p:cNvSpPr/>
          <p:nvPr/>
        </p:nvSpPr>
        <p:spPr>
          <a:xfrm>
            <a:off x="9051572" y="298230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Oval 547"/>
          <p:cNvSpPr/>
          <p:nvPr/>
        </p:nvSpPr>
        <p:spPr>
          <a:xfrm>
            <a:off x="8845174" y="295269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Oval 548"/>
          <p:cNvSpPr/>
          <p:nvPr/>
        </p:nvSpPr>
        <p:spPr>
          <a:xfrm>
            <a:off x="8859658" y="289830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Oval 549"/>
          <p:cNvSpPr/>
          <p:nvPr/>
        </p:nvSpPr>
        <p:spPr>
          <a:xfrm>
            <a:off x="8690978" y="292494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Oval 550"/>
          <p:cNvSpPr/>
          <p:nvPr/>
        </p:nvSpPr>
        <p:spPr>
          <a:xfrm>
            <a:off x="9010534" y="294611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Oval 551"/>
          <p:cNvSpPr/>
          <p:nvPr/>
        </p:nvSpPr>
        <p:spPr>
          <a:xfrm>
            <a:off x="8684943" y="290494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3" name="Oval 552"/>
          <p:cNvSpPr/>
          <p:nvPr/>
        </p:nvSpPr>
        <p:spPr>
          <a:xfrm>
            <a:off x="9046442" y="288853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Oval 553"/>
          <p:cNvSpPr/>
          <p:nvPr/>
        </p:nvSpPr>
        <p:spPr>
          <a:xfrm>
            <a:off x="9002990" y="289811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5" name="Oval 554"/>
          <p:cNvSpPr/>
          <p:nvPr/>
        </p:nvSpPr>
        <p:spPr>
          <a:xfrm>
            <a:off x="8927552" y="295020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Oval 555"/>
          <p:cNvSpPr/>
          <p:nvPr/>
        </p:nvSpPr>
        <p:spPr>
          <a:xfrm>
            <a:off x="8971004" y="295585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7" name="Oval 556"/>
          <p:cNvSpPr/>
          <p:nvPr/>
        </p:nvSpPr>
        <p:spPr>
          <a:xfrm>
            <a:off x="9015060" y="293702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Oval 557"/>
          <p:cNvSpPr/>
          <p:nvPr/>
        </p:nvSpPr>
        <p:spPr>
          <a:xfrm>
            <a:off x="8971909" y="296036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Oval 558"/>
          <p:cNvSpPr/>
          <p:nvPr/>
        </p:nvSpPr>
        <p:spPr>
          <a:xfrm>
            <a:off x="8924233" y="291251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Oval 559"/>
          <p:cNvSpPr/>
          <p:nvPr/>
        </p:nvSpPr>
        <p:spPr>
          <a:xfrm>
            <a:off x="9103172" y="294498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1" name="Oval 560"/>
          <p:cNvSpPr/>
          <p:nvPr/>
        </p:nvSpPr>
        <p:spPr>
          <a:xfrm>
            <a:off x="9187662" y="293747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Oval 561"/>
          <p:cNvSpPr/>
          <p:nvPr/>
        </p:nvSpPr>
        <p:spPr>
          <a:xfrm>
            <a:off x="9162315" y="294606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Oval 562"/>
          <p:cNvSpPr/>
          <p:nvPr/>
        </p:nvSpPr>
        <p:spPr>
          <a:xfrm>
            <a:off x="9026527" y="297609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Oval 563"/>
          <p:cNvSpPr/>
          <p:nvPr/>
        </p:nvSpPr>
        <p:spPr>
          <a:xfrm>
            <a:off x="9102568" y="294987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Oval 564"/>
          <p:cNvSpPr/>
          <p:nvPr/>
        </p:nvSpPr>
        <p:spPr>
          <a:xfrm>
            <a:off x="8749216" y="295156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Oval 565"/>
          <p:cNvSpPr/>
          <p:nvPr/>
        </p:nvSpPr>
        <p:spPr>
          <a:xfrm>
            <a:off x="8945657" y="295391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7" name="Oval 566"/>
          <p:cNvSpPr/>
          <p:nvPr/>
        </p:nvSpPr>
        <p:spPr>
          <a:xfrm>
            <a:off x="8881082" y="293391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Oval 567"/>
          <p:cNvSpPr/>
          <p:nvPr/>
        </p:nvSpPr>
        <p:spPr>
          <a:xfrm>
            <a:off x="8938717" y="290463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9" name="Oval 568"/>
          <p:cNvSpPr/>
          <p:nvPr/>
        </p:nvSpPr>
        <p:spPr>
          <a:xfrm>
            <a:off x="8900998" y="297240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Oval 569"/>
          <p:cNvSpPr/>
          <p:nvPr/>
        </p:nvSpPr>
        <p:spPr>
          <a:xfrm>
            <a:off x="8800816" y="296905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Oval 570"/>
          <p:cNvSpPr/>
          <p:nvPr/>
        </p:nvSpPr>
        <p:spPr>
          <a:xfrm>
            <a:off x="8894359" y="288969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2" name="Oval 571"/>
          <p:cNvSpPr/>
          <p:nvPr/>
        </p:nvSpPr>
        <p:spPr>
          <a:xfrm>
            <a:off x="9146624" y="292756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Oval 572"/>
          <p:cNvSpPr/>
          <p:nvPr/>
        </p:nvSpPr>
        <p:spPr>
          <a:xfrm>
            <a:off x="9078730" y="293015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Oval 573"/>
          <p:cNvSpPr/>
          <p:nvPr/>
        </p:nvSpPr>
        <p:spPr>
          <a:xfrm>
            <a:off x="8706368" y="295166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Oval 574"/>
          <p:cNvSpPr/>
          <p:nvPr/>
        </p:nvSpPr>
        <p:spPr>
          <a:xfrm>
            <a:off x="8628214" y="288650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6" name="Oval 575"/>
          <p:cNvSpPr/>
          <p:nvPr/>
        </p:nvSpPr>
        <p:spPr>
          <a:xfrm>
            <a:off x="8843967" y="289884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Oval 576"/>
          <p:cNvSpPr/>
          <p:nvPr/>
        </p:nvSpPr>
        <p:spPr>
          <a:xfrm>
            <a:off x="8929966" y="296449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8" name="Oval 577"/>
          <p:cNvSpPr/>
          <p:nvPr/>
        </p:nvSpPr>
        <p:spPr>
          <a:xfrm>
            <a:off x="8812584" y="297326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Oval 578"/>
          <p:cNvSpPr/>
          <p:nvPr/>
        </p:nvSpPr>
        <p:spPr>
          <a:xfrm>
            <a:off x="9042218" y="297873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0" name="Oval 579"/>
          <p:cNvSpPr/>
          <p:nvPr/>
        </p:nvSpPr>
        <p:spPr>
          <a:xfrm>
            <a:off x="8929061" y="290831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Oval 580"/>
          <p:cNvSpPr/>
          <p:nvPr/>
        </p:nvSpPr>
        <p:spPr>
          <a:xfrm>
            <a:off x="8985488" y="295815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Oval 581"/>
          <p:cNvSpPr/>
          <p:nvPr/>
        </p:nvSpPr>
        <p:spPr>
          <a:xfrm>
            <a:off x="8870219" y="297455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3" name="Oval 582"/>
          <p:cNvSpPr/>
          <p:nvPr/>
        </p:nvSpPr>
        <p:spPr>
          <a:xfrm>
            <a:off x="9003895" y="293464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4" name="Oval 583"/>
          <p:cNvSpPr/>
          <p:nvPr/>
        </p:nvSpPr>
        <p:spPr>
          <a:xfrm>
            <a:off x="8875349" y="292683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Oval 584"/>
          <p:cNvSpPr/>
          <p:nvPr/>
        </p:nvSpPr>
        <p:spPr>
          <a:xfrm>
            <a:off x="8958029" y="298054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6" name="Oval 585"/>
          <p:cNvSpPr/>
          <p:nvPr/>
        </p:nvSpPr>
        <p:spPr>
          <a:xfrm>
            <a:off x="8959538" y="292985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7" name="Oval 586"/>
          <p:cNvSpPr/>
          <p:nvPr/>
        </p:nvSpPr>
        <p:spPr>
          <a:xfrm>
            <a:off x="8930268" y="291089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Oval 587"/>
          <p:cNvSpPr/>
          <p:nvPr/>
        </p:nvSpPr>
        <p:spPr>
          <a:xfrm>
            <a:off x="9049158" y="289271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9" name="Oval 588"/>
          <p:cNvSpPr/>
          <p:nvPr/>
        </p:nvSpPr>
        <p:spPr>
          <a:xfrm>
            <a:off x="8852717" y="292839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0" name="Oval 589"/>
          <p:cNvSpPr/>
          <p:nvPr/>
        </p:nvSpPr>
        <p:spPr>
          <a:xfrm>
            <a:off x="8841854" y="288603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1" name="Oval 590"/>
          <p:cNvSpPr/>
          <p:nvPr/>
        </p:nvSpPr>
        <p:spPr>
          <a:xfrm>
            <a:off x="9159297" y="295875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Oval 591"/>
          <p:cNvSpPr/>
          <p:nvPr/>
        </p:nvSpPr>
        <p:spPr>
          <a:xfrm>
            <a:off x="8996050" y="297542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3" name="Oval 592"/>
          <p:cNvSpPr/>
          <p:nvPr/>
        </p:nvSpPr>
        <p:spPr>
          <a:xfrm>
            <a:off x="8805041" y="295666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4" name="Oval 593"/>
          <p:cNvSpPr/>
          <p:nvPr/>
        </p:nvSpPr>
        <p:spPr>
          <a:xfrm>
            <a:off x="9015362" y="295628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5" name="Oval 594"/>
          <p:cNvSpPr/>
          <p:nvPr/>
        </p:nvSpPr>
        <p:spPr>
          <a:xfrm>
            <a:off x="9047046" y="293274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6" name="Oval 595"/>
          <p:cNvSpPr/>
          <p:nvPr/>
        </p:nvSpPr>
        <p:spPr>
          <a:xfrm>
            <a:off x="8902808" y="289593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7" name="Oval 596"/>
          <p:cNvSpPr/>
          <p:nvPr/>
        </p:nvSpPr>
        <p:spPr>
          <a:xfrm>
            <a:off x="9094119" y="298197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8" name="Oval 597"/>
          <p:cNvSpPr/>
          <p:nvPr/>
        </p:nvSpPr>
        <p:spPr>
          <a:xfrm>
            <a:off x="9119768" y="297521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9" name="Oval 598"/>
          <p:cNvSpPr/>
          <p:nvPr/>
        </p:nvSpPr>
        <p:spPr>
          <a:xfrm>
            <a:off x="9133648" y="296512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0" name="Oval 599"/>
          <p:cNvSpPr/>
          <p:nvPr/>
        </p:nvSpPr>
        <p:spPr>
          <a:xfrm>
            <a:off x="8933285" y="291610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1" name="Oval 600"/>
          <p:cNvSpPr/>
          <p:nvPr/>
        </p:nvSpPr>
        <p:spPr>
          <a:xfrm>
            <a:off x="8862072" y="291432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2" name="Oval 601"/>
          <p:cNvSpPr/>
          <p:nvPr/>
        </p:nvSpPr>
        <p:spPr>
          <a:xfrm>
            <a:off x="8896471" y="297538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3" name="Oval 602"/>
          <p:cNvSpPr/>
          <p:nvPr/>
        </p:nvSpPr>
        <p:spPr>
          <a:xfrm>
            <a:off x="8888022" y="294194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4" name="Oval 603"/>
          <p:cNvSpPr/>
          <p:nvPr/>
        </p:nvSpPr>
        <p:spPr>
          <a:xfrm>
            <a:off x="8932380" y="298324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5" name="Oval 604"/>
          <p:cNvSpPr/>
          <p:nvPr/>
        </p:nvSpPr>
        <p:spPr>
          <a:xfrm>
            <a:off x="8740466" y="297420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6" name="Oval 605"/>
          <p:cNvSpPr/>
          <p:nvPr/>
        </p:nvSpPr>
        <p:spPr>
          <a:xfrm>
            <a:off x="8599849" y="293365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Oval 606"/>
          <p:cNvSpPr/>
          <p:nvPr/>
        </p:nvSpPr>
        <p:spPr>
          <a:xfrm>
            <a:off x="8916085" y="295287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Oval 607"/>
          <p:cNvSpPr/>
          <p:nvPr/>
        </p:nvSpPr>
        <p:spPr>
          <a:xfrm>
            <a:off x="9022906" y="288562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9" name="Oval 608"/>
          <p:cNvSpPr/>
          <p:nvPr/>
        </p:nvSpPr>
        <p:spPr>
          <a:xfrm>
            <a:off x="9007516" y="288791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Oval 609"/>
          <p:cNvSpPr/>
          <p:nvPr/>
        </p:nvSpPr>
        <p:spPr>
          <a:xfrm>
            <a:off x="9028035" y="295404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Oval 610"/>
          <p:cNvSpPr/>
          <p:nvPr/>
        </p:nvSpPr>
        <p:spPr>
          <a:xfrm>
            <a:off x="8815300" y="298335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2" name="Oval 611"/>
          <p:cNvSpPr/>
          <p:nvPr/>
        </p:nvSpPr>
        <p:spPr>
          <a:xfrm>
            <a:off x="8713911" y="294864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Oval 612"/>
          <p:cNvSpPr/>
          <p:nvPr/>
        </p:nvSpPr>
        <p:spPr>
          <a:xfrm>
            <a:off x="9056098" y="294884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Oval 613"/>
          <p:cNvSpPr/>
          <p:nvPr/>
        </p:nvSpPr>
        <p:spPr>
          <a:xfrm>
            <a:off x="8863279" y="290980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5" name="Oval 614"/>
          <p:cNvSpPr/>
          <p:nvPr/>
        </p:nvSpPr>
        <p:spPr>
          <a:xfrm>
            <a:off x="8980962" y="293723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6" name="Oval 615"/>
          <p:cNvSpPr/>
          <p:nvPr/>
        </p:nvSpPr>
        <p:spPr>
          <a:xfrm>
            <a:off x="9029846" y="290812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7" name="Oval 616"/>
          <p:cNvSpPr/>
          <p:nvPr/>
        </p:nvSpPr>
        <p:spPr>
          <a:xfrm>
            <a:off x="8961952" y="297637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8" name="Oval 617"/>
          <p:cNvSpPr/>
          <p:nvPr/>
        </p:nvSpPr>
        <p:spPr>
          <a:xfrm>
            <a:off x="8944450" y="294717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9" name="Oval 618"/>
          <p:cNvSpPr/>
          <p:nvPr/>
        </p:nvSpPr>
        <p:spPr>
          <a:xfrm>
            <a:off x="8748915" y="289238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0" name="Oval 619"/>
          <p:cNvSpPr/>
          <p:nvPr/>
        </p:nvSpPr>
        <p:spPr>
          <a:xfrm>
            <a:off x="8706971" y="288494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1" name="Oval 620"/>
          <p:cNvSpPr/>
          <p:nvPr/>
        </p:nvSpPr>
        <p:spPr>
          <a:xfrm>
            <a:off x="8916085" y="292769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2" name="Oval 621"/>
          <p:cNvSpPr/>
          <p:nvPr/>
        </p:nvSpPr>
        <p:spPr>
          <a:xfrm>
            <a:off x="8939622" y="289868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3" name="Oval 622"/>
          <p:cNvSpPr/>
          <p:nvPr/>
        </p:nvSpPr>
        <p:spPr>
          <a:xfrm>
            <a:off x="9264609" y="291599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4" name="Oval 623"/>
          <p:cNvSpPr/>
          <p:nvPr/>
        </p:nvSpPr>
        <p:spPr>
          <a:xfrm>
            <a:off x="9079635" y="290672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5" name="Oval 624"/>
          <p:cNvSpPr/>
          <p:nvPr/>
        </p:nvSpPr>
        <p:spPr>
          <a:xfrm>
            <a:off x="9031656" y="314312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6" name="Oval 625"/>
          <p:cNvSpPr/>
          <p:nvPr/>
        </p:nvSpPr>
        <p:spPr>
          <a:xfrm>
            <a:off x="8837328" y="3120320"/>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7" name="Oval 626"/>
          <p:cNvSpPr/>
          <p:nvPr/>
        </p:nvSpPr>
        <p:spPr>
          <a:xfrm>
            <a:off x="9117656" y="312491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8" name="Oval 627"/>
          <p:cNvSpPr/>
          <p:nvPr/>
        </p:nvSpPr>
        <p:spPr>
          <a:xfrm>
            <a:off x="8972513" y="318525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9" name="Oval 628"/>
          <p:cNvSpPr/>
          <p:nvPr/>
        </p:nvSpPr>
        <p:spPr>
          <a:xfrm>
            <a:off x="8928759" y="316471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0" name="Oval 629"/>
          <p:cNvSpPr/>
          <p:nvPr/>
        </p:nvSpPr>
        <p:spPr>
          <a:xfrm>
            <a:off x="8930569" y="3169304"/>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1" name="Oval 630"/>
          <p:cNvSpPr/>
          <p:nvPr/>
        </p:nvSpPr>
        <p:spPr>
          <a:xfrm>
            <a:off x="8943243" y="3123071"/>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2" name="Oval 631"/>
          <p:cNvSpPr/>
          <p:nvPr/>
        </p:nvSpPr>
        <p:spPr>
          <a:xfrm>
            <a:off x="9009327" y="3138160"/>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Oval 632"/>
          <p:cNvSpPr/>
          <p:nvPr/>
        </p:nvSpPr>
        <p:spPr>
          <a:xfrm>
            <a:off x="9053382" y="3097474"/>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4" name="Oval 633"/>
          <p:cNvSpPr/>
          <p:nvPr/>
        </p:nvSpPr>
        <p:spPr>
          <a:xfrm>
            <a:off x="9047046" y="3168944"/>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5" name="Oval 634"/>
          <p:cNvSpPr/>
          <p:nvPr/>
        </p:nvSpPr>
        <p:spPr>
          <a:xfrm>
            <a:off x="8928759" y="3120767"/>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6" name="Oval 635"/>
          <p:cNvSpPr/>
          <p:nvPr/>
        </p:nvSpPr>
        <p:spPr>
          <a:xfrm>
            <a:off x="8669252" y="3095465"/>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7" name="Oval 636"/>
          <p:cNvSpPr/>
          <p:nvPr/>
        </p:nvSpPr>
        <p:spPr>
          <a:xfrm>
            <a:off x="8873840" y="312868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8" name="Oval 637"/>
          <p:cNvSpPr/>
          <p:nvPr/>
        </p:nvSpPr>
        <p:spPr>
          <a:xfrm>
            <a:off x="8607393" y="3170301"/>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Oval 638"/>
          <p:cNvSpPr/>
          <p:nvPr/>
        </p:nvSpPr>
        <p:spPr>
          <a:xfrm>
            <a:off x="8912464" y="311551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0" name="Oval 639"/>
          <p:cNvSpPr/>
          <p:nvPr/>
        </p:nvSpPr>
        <p:spPr>
          <a:xfrm>
            <a:off x="8922724" y="310131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1" name="Oval 640"/>
          <p:cNvSpPr/>
          <p:nvPr/>
        </p:nvSpPr>
        <p:spPr>
          <a:xfrm>
            <a:off x="8669856" y="318613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Oval 641"/>
          <p:cNvSpPr/>
          <p:nvPr/>
        </p:nvSpPr>
        <p:spPr>
          <a:xfrm>
            <a:off x="9058512" y="3108348"/>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3" name="Oval 642"/>
          <p:cNvSpPr/>
          <p:nvPr/>
        </p:nvSpPr>
        <p:spPr>
          <a:xfrm>
            <a:off x="9111017" y="313097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4" name="Oval 643"/>
          <p:cNvSpPr/>
          <p:nvPr/>
        </p:nvSpPr>
        <p:spPr>
          <a:xfrm>
            <a:off x="8974625" y="316517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5" name="Oval 644"/>
          <p:cNvSpPr/>
          <p:nvPr/>
        </p:nvSpPr>
        <p:spPr>
          <a:xfrm>
            <a:off x="8804739" y="3123745"/>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Oval 645"/>
          <p:cNvSpPr/>
          <p:nvPr/>
        </p:nvSpPr>
        <p:spPr>
          <a:xfrm>
            <a:off x="8860563" y="3117265"/>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Oval 646"/>
          <p:cNvSpPr/>
          <p:nvPr/>
        </p:nvSpPr>
        <p:spPr>
          <a:xfrm>
            <a:off x="9066056" y="318044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8" name="Oval 647"/>
          <p:cNvSpPr/>
          <p:nvPr/>
        </p:nvSpPr>
        <p:spPr>
          <a:xfrm>
            <a:off x="9187964" y="3174278"/>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9" name="TextBox 648"/>
          <p:cNvSpPr txBox="1"/>
          <p:nvPr/>
        </p:nvSpPr>
        <p:spPr>
          <a:xfrm>
            <a:off x="10195560" y="2866644"/>
            <a:ext cx="1005840" cy="429768"/>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00407A"/>
                </a:solidFill>
                <a:latin typeface="Arial"/>
              </a:rPr>
              <a:t>123 of 123</a:t>
            </a:r>
          </a:p>
          <a:p>
            <a:pPr algn="l">
              <a:lnSpc>
                <a:spcPct val="109000"/>
              </a:lnSpc>
              <a:spcBef>
                <a:spcPts val="0"/>
              </a:spcBef>
              <a:spcAft>
                <a:spcPts val="0"/>
              </a:spcAft>
            </a:pPr>
            <a:r>
              <a:rPr sz="1250" b="0">
                <a:solidFill>
                  <a:srgbClr val="00407A"/>
                </a:solidFill>
                <a:latin typeface="Arial"/>
              </a:rPr>
              <a:t>are “yes”</a:t>
            </a:r>
          </a:p>
        </p:txBody>
      </p:sp>
      <p:sp>
        <p:nvSpPr>
          <p:cNvPr id="650" name="TextBox 649"/>
          <p:cNvSpPr txBox="1"/>
          <p:nvPr/>
        </p:nvSpPr>
        <p:spPr>
          <a:xfrm>
            <a:off x="6391656" y="3424427"/>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4B</a:t>
            </a:r>
          </a:p>
        </p:txBody>
      </p:sp>
      <p:sp>
        <p:nvSpPr>
          <p:cNvPr id="651" name="Oval 650"/>
          <p:cNvSpPr/>
          <p:nvPr/>
        </p:nvSpPr>
        <p:spPr>
          <a:xfrm>
            <a:off x="9683441" y="342092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2" name="Oval 651"/>
          <p:cNvSpPr/>
          <p:nvPr/>
        </p:nvSpPr>
        <p:spPr>
          <a:xfrm>
            <a:off x="9570887" y="347869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3" name="Oval 652"/>
          <p:cNvSpPr/>
          <p:nvPr/>
        </p:nvSpPr>
        <p:spPr>
          <a:xfrm>
            <a:off x="9641195" y="347714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Oval 653"/>
          <p:cNvSpPr/>
          <p:nvPr/>
        </p:nvSpPr>
        <p:spPr>
          <a:xfrm>
            <a:off x="8214814" y="343290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Oval 654"/>
          <p:cNvSpPr/>
          <p:nvPr/>
        </p:nvSpPr>
        <p:spPr>
          <a:xfrm>
            <a:off x="9414881" y="34725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6" name="Oval 655"/>
          <p:cNvSpPr/>
          <p:nvPr/>
        </p:nvSpPr>
        <p:spPr>
          <a:xfrm>
            <a:off x="9583259" y="346374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7" name="Oval 656"/>
          <p:cNvSpPr/>
          <p:nvPr/>
        </p:nvSpPr>
        <p:spPr>
          <a:xfrm>
            <a:off x="9705469" y="346331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Oval 657"/>
          <p:cNvSpPr/>
          <p:nvPr/>
        </p:nvSpPr>
        <p:spPr>
          <a:xfrm>
            <a:off x="9340650" y="344230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Oval 658"/>
          <p:cNvSpPr/>
          <p:nvPr/>
        </p:nvSpPr>
        <p:spPr>
          <a:xfrm>
            <a:off x="9530754" y="340576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Oval 659"/>
          <p:cNvSpPr/>
          <p:nvPr/>
        </p:nvSpPr>
        <p:spPr>
          <a:xfrm>
            <a:off x="9566663" y="341832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1" name="Oval 660"/>
          <p:cNvSpPr/>
          <p:nvPr/>
        </p:nvSpPr>
        <p:spPr>
          <a:xfrm>
            <a:off x="9565757" y="345829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2" name="Oval 661"/>
          <p:cNvSpPr/>
          <p:nvPr/>
        </p:nvSpPr>
        <p:spPr>
          <a:xfrm>
            <a:off x="9414278" y="343962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Oval 662"/>
          <p:cNvSpPr/>
          <p:nvPr/>
        </p:nvSpPr>
        <p:spPr>
          <a:xfrm>
            <a:off x="9197922" y="346348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Oval 663"/>
          <p:cNvSpPr/>
          <p:nvPr/>
        </p:nvSpPr>
        <p:spPr>
          <a:xfrm>
            <a:off x="9644515" y="345849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5" name="Oval 664"/>
          <p:cNvSpPr/>
          <p:nvPr/>
        </p:nvSpPr>
        <p:spPr>
          <a:xfrm>
            <a:off x="9425141" y="348668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6" name="Oval 665"/>
          <p:cNvSpPr/>
          <p:nvPr/>
        </p:nvSpPr>
        <p:spPr>
          <a:xfrm>
            <a:off x="9453506" y="347567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Oval 666"/>
          <p:cNvSpPr/>
          <p:nvPr/>
        </p:nvSpPr>
        <p:spPr>
          <a:xfrm>
            <a:off x="9330391" y="347951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Oval 667"/>
          <p:cNvSpPr/>
          <p:nvPr/>
        </p:nvSpPr>
        <p:spPr>
          <a:xfrm>
            <a:off x="9479456" y="346837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9" name="Oval 668"/>
          <p:cNvSpPr/>
          <p:nvPr/>
        </p:nvSpPr>
        <p:spPr>
          <a:xfrm>
            <a:off x="9500881" y="339307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Oval 669"/>
          <p:cNvSpPr/>
          <p:nvPr/>
        </p:nvSpPr>
        <p:spPr>
          <a:xfrm>
            <a:off x="9522909" y="345400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Oval 670"/>
          <p:cNvSpPr/>
          <p:nvPr/>
        </p:nvSpPr>
        <p:spPr>
          <a:xfrm>
            <a:off x="9166841" y="347137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2" name="Oval 671"/>
          <p:cNvSpPr/>
          <p:nvPr/>
        </p:nvSpPr>
        <p:spPr>
          <a:xfrm>
            <a:off x="9290560" y="348522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3" name="Oval 672"/>
          <p:cNvSpPr/>
          <p:nvPr/>
        </p:nvSpPr>
        <p:spPr>
          <a:xfrm>
            <a:off x="9545540" y="345561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Oval 673"/>
          <p:cNvSpPr/>
          <p:nvPr/>
        </p:nvSpPr>
        <p:spPr>
          <a:xfrm>
            <a:off x="9225683" y="340122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Oval 674"/>
          <p:cNvSpPr/>
          <p:nvPr/>
        </p:nvSpPr>
        <p:spPr>
          <a:xfrm>
            <a:off x="9384103" y="342786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6" name="Oval 675"/>
          <p:cNvSpPr/>
          <p:nvPr/>
        </p:nvSpPr>
        <p:spPr>
          <a:xfrm>
            <a:off x="9464972" y="344903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7" name="Oval 676"/>
          <p:cNvSpPr/>
          <p:nvPr/>
        </p:nvSpPr>
        <p:spPr>
          <a:xfrm>
            <a:off x="9410053" y="340786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Oval 677"/>
          <p:cNvSpPr/>
          <p:nvPr/>
        </p:nvSpPr>
        <p:spPr>
          <a:xfrm>
            <a:off x="9213311" y="339145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Oval 678"/>
          <p:cNvSpPr/>
          <p:nvPr/>
        </p:nvSpPr>
        <p:spPr>
          <a:xfrm>
            <a:off x="9493337" y="340103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0" name="Oval 679"/>
          <p:cNvSpPr/>
          <p:nvPr/>
        </p:nvSpPr>
        <p:spPr>
          <a:xfrm>
            <a:off x="9442944" y="34531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1" name="Oval 680"/>
          <p:cNvSpPr/>
          <p:nvPr/>
        </p:nvSpPr>
        <p:spPr>
          <a:xfrm>
            <a:off x="9420313" y="345877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Oval 681"/>
          <p:cNvSpPr/>
          <p:nvPr/>
        </p:nvSpPr>
        <p:spPr>
          <a:xfrm>
            <a:off x="9455618" y="343994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Oval 682"/>
          <p:cNvSpPr/>
          <p:nvPr/>
        </p:nvSpPr>
        <p:spPr>
          <a:xfrm>
            <a:off x="9330994" y="346328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4" name="Oval 683"/>
          <p:cNvSpPr/>
          <p:nvPr/>
        </p:nvSpPr>
        <p:spPr>
          <a:xfrm>
            <a:off x="9369317" y="341543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5" name="Oval 684"/>
          <p:cNvSpPr/>
          <p:nvPr/>
        </p:nvSpPr>
        <p:spPr>
          <a:xfrm>
            <a:off x="9243184" y="344790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6" name="Oval 685"/>
          <p:cNvSpPr/>
          <p:nvPr/>
        </p:nvSpPr>
        <p:spPr>
          <a:xfrm>
            <a:off x="9280903" y="344039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7" name="Oval 686"/>
          <p:cNvSpPr/>
          <p:nvPr/>
        </p:nvSpPr>
        <p:spPr>
          <a:xfrm>
            <a:off x="9345177" y="344898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8" name="Oval 687"/>
          <p:cNvSpPr/>
          <p:nvPr/>
        </p:nvSpPr>
        <p:spPr>
          <a:xfrm>
            <a:off x="9250728" y="347901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9" name="Oval 688"/>
          <p:cNvSpPr/>
          <p:nvPr/>
        </p:nvSpPr>
        <p:spPr>
          <a:xfrm>
            <a:off x="9506312" y="345279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0" name="Oval 689"/>
          <p:cNvSpPr/>
          <p:nvPr/>
        </p:nvSpPr>
        <p:spPr>
          <a:xfrm>
            <a:off x="9433892" y="345448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1" name="Oval 690"/>
          <p:cNvSpPr/>
          <p:nvPr/>
        </p:nvSpPr>
        <p:spPr>
          <a:xfrm>
            <a:off x="9506916" y="345683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2" name="Oval 691"/>
          <p:cNvSpPr/>
          <p:nvPr/>
        </p:nvSpPr>
        <p:spPr>
          <a:xfrm>
            <a:off x="9694907" y="343683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3" name="Oval 692"/>
          <p:cNvSpPr/>
          <p:nvPr/>
        </p:nvSpPr>
        <p:spPr>
          <a:xfrm>
            <a:off x="9407338" y="340755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4" name="Oval 693"/>
          <p:cNvSpPr/>
          <p:nvPr/>
        </p:nvSpPr>
        <p:spPr>
          <a:xfrm>
            <a:off x="9490923" y="34753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5" name="Oval 694"/>
          <p:cNvSpPr/>
          <p:nvPr/>
        </p:nvSpPr>
        <p:spPr>
          <a:xfrm>
            <a:off x="9582354" y="347197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6" name="Oval 695"/>
          <p:cNvSpPr/>
          <p:nvPr/>
        </p:nvSpPr>
        <p:spPr>
          <a:xfrm>
            <a:off x="9656585" y="339261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7" name="Oval 696"/>
          <p:cNvSpPr/>
          <p:nvPr/>
        </p:nvSpPr>
        <p:spPr>
          <a:xfrm>
            <a:off x="9697623" y="343048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8" name="Oval 697"/>
          <p:cNvSpPr/>
          <p:nvPr/>
        </p:nvSpPr>
        <p:spPr>
          <a:xfrm>
            <a:off x="9388931" y="343307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9" name="Oval 698"/>
          <p:cNvSpPr/>
          <p:nvPr/>
        </p:nvSpPr>
        <p:spPr>
          <a:xfrm>
            <a:off x="9397078" y="345458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0" name="Oval 699"/>
          <p:cNvSpPr/>
          <p:nvPr/>
        </p:nvSpPr>
        <p:spPr>
          <a:xfrm>
            <a:off x="9569378" y="338942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1" name="Oval 700"/>
          <p:cNvSpPr/>
          <p:nvPr/>
        </p:nvSpPr>
        <p:spPr>
          <a:xfrm>
            <a:off x="8981867" y="340176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2" name="Oval 701"/>
          <p:cNvSpPr/>
          <p:nvPr/>
        </p:nvSpPr>
        <p:spPr>
          <a:xfrm>
            <a:off x="9594726" y="346741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3" name="Oval 702"/>
          <p:cNvSpPr/>
          <p:nvPr/>
        </p:nvSpPr>
        <p:spPr>
          <a:xfrm>
            <a:off x="9624297" y="347618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4" name="Oval 703"/>
          <p:cNvSpPr/>
          <p:nvPr/>
        </p:nvSpPr>
        <p:spPr>
          <a:xfrm>
            <a:off x="9434797" y="348165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5" name="Oval 704"/>
          <p:cNvSpPr/>
          <p:nvPr/>
        </p:nvSpPr>
        <p:spPr>
          <a:xfrm>
            <a:off x="9556705" y="341123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6" name="Oval 705"/>
          <p:cNvSpPr/>
          <p:nvPr/>
        </p:nvSpPr>
        <p:spPr>
          <a:xfrm>
            <a:off x="9629427" y="346107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7" name="Oval 706"/>
          <p:cNvSpPr/>
          <p:nvPr/>
        </p:nvSpPr>
        <p:spPr>
          <a:xfrm>
            <a:off x="9657792" y="347747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8" name="Oval 707"/>
          <p:cNvSpPr/>
          <p:nvPr/>
        </p:nvSpPr>
        <p:spPr>
          <a:xfrm>
            <a:off x="9674086" y="343756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9" name="Oval 708"/>
          <p:cNvSpPr/>
          <p:nvPr/>
        </p:nvSpPr>
        <p:spPr>
          <a:xfrm>
            <a:off x="9665637" y="342975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0" name="Oval 709"/>
          <p:cNvSpPr/>
          <p:nvPr/>
        </p:nvSpPr>
        <p:spPr>
          <a:xfrm>
            <a:off x="9665034" y="348346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1" name="Oval 710"/>
          <p:cNvSpPr/>
          <p:nvPr/>
        </p:nvSpPr>
        <p:spPr>
          <a:xfrm>
            <a:off x="9593820" y="343277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2" name="Oval 711"/>
          <p:cNvSpPr/>
          <p:nvPr/>
        </p:nvSpPr>
        <p:spPr>
          <a:xfrm>
            <a:off x="9616150" y="341381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3" name="Oval 712"/>
          <p:cNvSpPr/>
          <p:nvPr/>
        </p:nvSpPr>
        <p:spPr>
          <a:xfrm>
            <a:off x="9602571" y="339563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4" name="Oval 713"/>
          <p:cNvSpPr/>
          <p:nvPr/>
        </p:nvSpPr>
        <p:spPr>
          <a:xfrm>
            <a:off x="9496053" y="343131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5" name="Oval 714"/>
          <p:cNvSpPr/>
          <p:nvPr/>
        </p:nvSpPr>
        <p:spPr>
          <a:xfrm>
            <a:off x="9314700" y="338895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6" name="Oval 715"/>
          <p:cNvSpPr/>
          <p:nvPr/>
        </p:nvSpPr>
        <p:spPr>
          <a:xfrm>
            <a:off x="9605589" y="346167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7" name="Oval 716"/>
          <p:cNvSpPr/>
          <p:nvPr/>
        </p:nvSpPr>
        <p:spPr>
          <a:xfrm>
            <a:off x="9670164" y="347834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8" name="Oval 717"/>
          <p:cNvSpPr/>
          <p:nvPr/>
        </p:nvSpPr>
        <p:spPr>
          <a:xfrm>
            <a:off x="9706977" y="345958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9" name="Oval 718"/>
          <p:cNvSpPr/>
          <p:nvPr/>
        </p:nvSpPr>
        <p:spPr>
          <a:xfrm>
            <a:off x="9583259" y="345920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0" name="Oval 719"/>
          <p:cNvSpPr/>
          <p:nvPr/>
        </p:nvSpPr>
        <p:spPr>
          <a:xfrm>
            <a:off x="9508424" y="343566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1" name="Oval 720"/>
          <p:cNvSpPr/>
          <p:nvPr/>
        </p:nvSpPr>
        <p:spPr>
          <a:xfrm>
            <a:off x="9603778" y="339885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2" name="Oval 721"/>
          <p:cNvSpPr/>
          <p:nvPr/>
        </p:nvSpPr>
        <p:spPr>
          <a:xfrm>
            <a:off x="9577224" y="348489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3" name="Oval 722"/>
          <p:cNvSpPr/>
          <p:nvPr/>
        </p:nvSpPr>
        <p:spPr>
          <a:xfrm>
            <a:off x="9677104" y="347813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4" name="Oval 723"/>
          <p:cNvSpPr/>
          <p:nvPr/>
        </p:nvSpPr>
        <p:spPr>
          <a:xfrm>
            <a:off x="9725384" y="346804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5" name="Oval 724"/>
          <p:cNvSpPr/>
          <p:nvPr/>
        </p:nvSpPr>
        <p:spPr>
          <a:xfrm>
            <a:off x="9544936" y="341902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6" name="Oval 725"/>
          <p:cNvSpPr/>
          <p:nvPr/>
        </p:nvSpPr>
        <p:spPr>
          <a:xfrm>
            <a:off x="9286939" y="341724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7" name="Oval 726"/>
          <p:cNvSpPr/>
          <p:nvPr/>
        </p:nvSpPr>
        <p:spPr>
          <a:xfrm>
            <a:off x="9598045" y="347830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8" name="Oval 727"/>
          <p:cNvSpPr/>
          <p:nvPr/>
        </p:nvSpPr>
        <p:spPr>
          <a:xfrm>
            <a:off x="9045537" y="344486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9" name="Oval 728"/>
          <p:cNvSpPr/>
          <p:nvPr/>
        </p:nvSpPr>
        <p:spPr>
          <a:xfrm>
            <a:off x="9339142" y="348616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0" name="Oval 729"/>
          <p:cNvSpPr/>
          <p:nvPr/>
        </p:nvSpPr>
        <p:spPr>
          <a:xfrm>
            <a:off x="9424537" y="347712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1" name="Oval 730"/>
          <p:cNvSpPr/>
          <p:nvPr/>
        </p:nvSpPr>
        <p:spPr>
          <a:xfrm>
            <a:off x="9324658" y="343657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2" name="Oval 731"/>
          <p:cNvSpPr/>
          <p:nvPr/>
        </p:nvSpPr>
        <p:spPr>
          <a:xfrm>
            <a:off x="9462256" y="345579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3" name="Oval 732"/>
          <p:cNvSpPr/>
          <p:nvPr/>
        </p:nvSpPr>
        <p:spPr>
          <a:xfrm>
            <a:off x="9396173" y="338854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4" name="Oval 733"/>
          <p:cNvSpPr/>
          <p:nvPr/>
        </p:nvSpPr>
        <p:spPr>
          <a:xfrm>
            <a:off x="9419408" y="339083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5" name="Oval 734"/>
          <p:cNvSpPr/>
          <p:nvPr/>
        </p:nvSpPr>
        <p:spPr>
          <a:xfrm>
            <a:off x="9069677" y="345696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6" name="Oval 735"/>
          <p:cNvSpPr/>
          <p:nvPr/>
        </p:nvSpPr>
        <p:spPr>
          <a:xfrm>
            <a:off x="9706977" y="348627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7" name="Oval 736"/>
          <p:cNvSpPr/>
          <p:nvPr/>
        </p:nvSpPr>
        <p:spPr>
          <a:xfrm>
            <a:off x="9686156" y="345156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8" name="Oval 737"/>
          <p:cNvSpPr/>
          <p:nvPr/>
        </p:nvSpPr>
        <p:spPr>
          <a:xfrm>
            <a:off x="9586578" y="345176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9" name="Oval 738"/>
          <p:cNvSpPr/>
          <p:nvPr/>
        </p:nvSpPr>
        <p:spPr>
          <a:xfrm>
            <a:off x="9728100" y="341272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0" name="Oval 739"/>
          <p:cNvSpPr/>
          <p:nvPr/>
        </p:nvSpPr>
        <p:spPr>
          <a:xfrm>
            <a:off x="9757973" y="344015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1" name="Oval 740"/>
          <p:cNvSpPr/>
          <p:nvPr/>
        </p:nvSpPr>
        <p:spPr>
          <a:xfrm>
            <a:off x="9530754" y="341104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2" name="Oval 741"/>
          <p:cNvSpPr/>
          <p:nvPr/>
        </p:nvSpPr>
        <p:spPr>
          <a:xfrm>
            <a:off x="9146624" y="347929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3" name="Oval 742"/>
          <p:cNvSpPr/>
          <p:nvPr/>
        </p:nvSpPr>
        <p:spPr>
          <a:xfrm>
            <a:off x="9752844" y="345009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4" name="Oval 743"/>
          <p:cNvSpPr/>
          <p:nvPr/>
        </p:nvSpPr>
        <p:spPr>
          <a:xfrm>
            <a:off x="9631841" y="339530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5" name="Oval 744"/>
          <p:cNvSpPr/>
          <p:nvPr/>
        </p:nvSpPr>
        <p:spPr>
          <a:xfrm>
            <a:off x="9638178" y="338786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6" name="Oval 745"/>
          <p:cNvSpPr/>
          <p:nvPr/>
        </p:nvSpPr>
        <p:spPr>
          <a:xfrm>
            <a:off x="9634859" y="343061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7" name="Oval 746"/>
          <p:cNvSpPr/>
          <p:nvPr/>
        </p:nvSpPr>
        <p:spPr>
          <a:xfrm>
            <a:off x="9588691" y="340160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8" name="Oval 747"/>
          <p:cNvSpPr/>
          <p:nvPr/>
        </p:nvSpPr>
        <p:spPr>
          <a:xfrm>
            <a:off x="9738963" y="341891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9" name="Oval 748"/>
          <p:cNvSpPr/>
          <p:nvPr/>
        </p:nvSpPr>
        <p:spPr>
          <a:xfrm>
            <a:off x="9629427" y="340964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0" name="Oval 749"/>
          <p:cNvSpPr/>
          <p:nvPr/>
        </p:nvSpPr>
        <p:spPr>
          <a:xfrm>
            <a:off x="9703960" y="364604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1" name="Oval 750"/>
          <p:cNvSpPr/>
          <p:nvPr/>
        </p:nvSpPr>
        <p:spPr>
          <a:xfrm>
            <a:off x="9505709" y="3623240"/>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2" name="Oval 751"/>
          <p:cNvSpPr/>
          <p:nvPr/>
        </p:nvSpPr>
        <p:spPr>
          <a:xfrm>
            <a:off x="9489414" y="362783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3" name="Oval 752"/>
          <p:cNvSpPr/>
          <p:nvPr/>
        </p:nvSpPr>
        <p:spPr>
          <a:xfrm>
            <a:off x="9430572" y="368817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4" name="Oval 753"/>
          <p:cNvSpPr/>
          <p:nvPr/>
        </p:nvSpPr>
        <p:spPr>
          <a:xfrm>
            <a:off x="9334012" y="366763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5" name="Oval 754"/>
          <p:cNvSpPr/>
          <p:nvPr/>
        </p:nvSpPr>
        <p:spPr>
          <a:xfrm>
            <a:off x="9643308" y="3672224"/>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6" name="Oval 755"/>
          <p:cNvSpPr/>
          <p:nvPr/>
        </p:nvSpPr>
        <p:spPr>
          <a:xfrm>
            <a:off x="9510838" y="3625991"/>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7" name="Oval 756"/>
          <p:cNvSpPr/>
          <p:nvPr/>
        </p:nvSpPr>
        <p:spPr>
          <a:xfrm>
            <a:off x="9255858" y="3641080"/>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8" name="Oval 757"/>
          <p:cNvSpPr/>
          <p:nvPr/>
        </p:nvSpPr>
        <p:spPr>
          <a:xfrm>
            <a:off x="9207879" y="3600394"/>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9" name="Oval 758"/>
          <p:cNvSpPr/>
          <p:nvPr/>
        </p:nvSpPr>
        <p:spPr>
          <a:xfrm>
            <a:off x="9477344" y="3671864"/>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0" name="Oval 759"/>
          <p:cNvSpPr/>
          <p:nvPr/>
        </p:nvSpPr>
        <p:spPr>
          <a:xfrm>
            <a:off x="9366903" y="3623687"/>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1" name="Oval 760"/>
          <p:cNvSpPr/>
          <p:nvPr/>
        </p:nvSpPr>
        <p:spPr>
          <a:xfrm>
            <a:off x="9225079" y="3598385"/>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2" name="Oval 761"/>
          <p:cNvSpPr/>
          <p:nvPr/>
        </p:nvSpPr>
        <p:spPr>
          <a:xfrm>
            <a:off x="9038295" y="363160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3" name="Oval 762"/>
          <p:cNvSpPr/>
          <p:nvPr/>
        </p:nvSpPr>
        <p:spPr>
          <a:xfrm>
            <a:off x="9434797" y="3673221"/>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4" name="Oval 763"/>
          <p:cNvSpPr/>
          <p:nvPr/>
        </p:nvSpPr>
        <p:spPr>
          <a:xfrm>
            <a:off x="9097740" y="361843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5" name="Oval 764"/>
          <p:cNvSpPr/>
          <p:nvPr/>
        </p:nvSpPr>
        <p:spPr>
          <a:xfrm>
            <a:off x="9372334" y="360423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6" name="Oval 765"/>
          <p:cNvSpPr/>
          <p:nvPr/>
        </p:nvSpPr>
        <p:spPr>
          <a:xfrm>
            <a:off x="9156582" y="368905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7" name="Oval 766"/>
          <p:cNvSpPr/>
          <p:nvPr/>
        </p:nvSpPr>
        <p:spPr>
          <a:xfrm>
            <a:off x="9317717" y="3611268"/>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8" name="Oval 767"/>
          <p:cNvSpPr/>
          <p:nvPr/>
        </p:nvSpPr>
        <p:spPr>
          <a:xfrm>
            <a:off x="9696416" y="363389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9" name="Oval 768"/>
          <p:cNvSpPr/>
          <p:nvPr/>
        </p:nvSpPr>
        <p:spPr>
          <a:xfrm>
            <a:off x="9167746" y="366809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0" name="Oval 769"/>
          <p:cNvSpPr/>
          <p:nvPr/>
        </p:nvSpPr>
        <p:spPr>
          <a:xfrm>
            <a:off x="9336426" y="3626665"/>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1" name="Oval 770"/>
          <p:cNvSpPr/>
          <p:nvPr/>
        </p:nvSpPr>
        <p:spPr>
          <a:xfrm>
            <a:off x="8907938" y="3620185"/>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2" name="Oval 771"/>
          <p:cNvSpPr/>
          <p:nvPr/>
        </p:nvSpPr>
        <p:spPr>
          <a:xfrm>
            <a:off x="9398587" y="368336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3" name="Oval 772"/>
          <p:cNvSpPr/>
          <p:nvPr/>
        </p:nvSpPr>
        <p:spPr>
          <a:xfrm>
            <a:off x="9222062" y="3677198"/>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4" name="TextBox 773"/>
          <p:cNvSpPr txBox="1"/>
          <p:nvPr/>
        </p:nvSpPr>
        <p:spPr>
          <a:xfrm>
            <a:off x="10195560" y="3369563"/>
            <a:ext cx="1005840" cy="429768"/>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00407A"/>
                </a:solidFill>
                <a:latin typeface="Arial"/>
              </a:rPr>
              <a:t>122 of 123</a:t>
            </a:r>
          </a:p>
          <a:p>
            <a:pPr algn="l">
              <a:lnSpc>
                <a:spcPct val="109000"/>
              </a:lnSpc>
              <a:spcBef>
                <a:spcPts val="0"/>
              </a:spcBef>
              <a:spcAft>
                <a:spcPts val="0"/>
              </a:spcAft>
            </a:pPr>
            <a:r>
              <a:rPr sz="1250" b="0">
                <a:solidFill>
                  <a:srgbClr val="00407A"/>
                </a:solidFill>
                <a:latin typeface="Arial"/>
              </a:rPr>
              <a:t>are “yes”</a:t>
            </a:r>
          </a:p>
        </p:txBody>
      </p:sp>
      <p:sp>
        <p:nvSpPr>
          <p:cNvPr id="775" name="TextBox 774"/>
          <p:cNvSpPr txBox="1"/>
          <p:nvPr/>
        </p:nvSpPr>
        <p:spPr>
          <a:xfrm>
            <a:off x="6391656" y="3927348"/>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9B</a:t>
            </a:r>
          </a:p>
        </p:txBody>
      </p:sp>
      <p:sp>
        <p:nvSpPr>
          <p:cNvPr id="776" name="Oval 775"/>
          <p:cNvSpPr/>
          <p:nvPr/>
        </p:nvSpPr>
        <p:spPr>
          <a:xfrm>
            <a:off x="9604683" y="392384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7" name="Oval 776"/>
          <p:cNvSpPr/>
          <p:nvPr/>
        </p:nvSpPr>
        <p:spPr>
          <a:xfrm>
            <a:off x="9616753" y="398161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8" name="Oval 777"/>
          <p:cNvSpPr/>
          <p:nvPr/>
        </p:nvSpPr>
        <p:spPr>
          <a:xfrm>
            <a:off x="9727496" y="398006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9" name="Oval 778"/>
          <p:cNvSpPr/>
          <p:nvPr/>
        </p:nvSpPr>
        <p:spPr>
          <a:xfrm>
            <a:off x="8296588" y="39358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0" name="Oval 779"/>
          <p:cNvSpPr/>
          <p:nvPr/>
        </p:nvSpPr>
        <p:spPr>
          <a:xfrm>
            <a:off x="9538298" y="397544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1" name="Oval 780"/>
          <p:cNvSpPr/>
          <p:nvPr/>
        </p:nvSpPr>
        <p:spPr>
          <a:xfrm>
            <a:off x="9747714" y="396666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2" name="Oval 781"/>
          <p:cNvSpPr/>
          <p:nvPr/>
        </p:nvSpPr>
        <p:spPr>
          <a:xfrm>
            <a:off x="9536487" y="396623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3" name="Oval 782"/>
          <p:cNvSpPr/>
          <p:nvPr/>
        </p:nvSpPr>
        <p:spPr>
          <a:xfrm>
            <a:off x="9588389" y="39452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4" name="Oval 783"/>
          <p:cNvSpPr/>
          <p:nvPr/>
        </p:nvSpPr>
        <p:spPr>
          <a:xfrm>
            <a:off x="9648136" y="390868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5" name="Oval 784"/>
          <p:cNvSpPr/>
          <p:nvPr/>
        </p:nvSpPr>
        <p:spPr>
          <a:xfrm>
            <a:off x="9609210" y="392124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6" name="Oval 785"/>
          <p:cNvSpPr/>
          <p:nvPr/>
        </p:nvSpPr>
        <p:spPr>
          <a:xfrm>
            <a:off x="9628220" y="396121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7" name="Oval 786"/>
          <p:cNvSpPr/>
          <p:nvPr/>
        </p:nvSpPr>
        <p:spPr>
          <a:xfrm>
            <a:off x="9613434" y="394254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8" name="Oval 787"/>
          <p:cNvSpPr/>
          <p:nvPr/>
        </p:nvSpPr>
        <p:spPr>
          <a:xfrm>
            <a:off x="9444151" y="396640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9" name="Oval 788"/>
          <p:cNvSpPr/>
          <p:nvPr/>
        </p:nvSpPr>
        <p:spPr>
          <a:xfrm>
            <a:off x="9629125" y="396141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0" name="Oval 789"/>
          <p:cNvSpPr/>
          <p:nvPr/>
        </p:nvSpPr>
        <p:spPr>
          <a:xfrm>
            <a:off x="9600459" y="398960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1" name="Oval 790"/>
          <p:cNvSpPr/>
          <p:nvPr/>
        </p:nvSpPr>
        <p:spPr>
          <a:xfrm>
            <a:off x="9528642" y="397859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2" name="Oval 791"/>
          <p:cNvSpPr/>
          <p:nvPr/>
        </p:nvSpPr>
        <p:spPr>
          <a:xfrm>
            <a:off x="9594726" y="398243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3" name="Oval 792"/>
          <p:cNvSpPr/>
          <p:nvPr/>
        </p:nvSpPr>
        <p:spPr>
          <a:xfrm>
            <a:off x="9573603" y="397129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4" name="Oval 793"/>
          <p:cNvSpPr/>
          <p:nvPr/>
        </p:nvSpPr>
        <p:spPr>
          <a:xfrm>
            <a:off x="9592312" y="389599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5" name="Oval 794"/>
          <p:cNvSpPr/>
          <p:nvPr/>
        </p:nvSpPr>
        <p:spPr>
          <a:xfrm>
            <a:off x="9639687" y="395692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6" name="Oval 795"/>
          <p:cNvSpPr/>
          <p:nvPr/>
        </p:nvSpPr>
        <p:spPr>
          <a:xfrm>
            <a:off x="9472516" y="397429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7" name="Oval 796"/>
          <p:cNvSpPr/>
          <p:nvPr/>
        </p:nvSpPr>
        <p:spPr>
          <a:xfrm>
            <a:off x="9589294" y="398814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8" name="Oval 797"/>
          <p:cNvSpPr/>
          <p:nvPr/>
        </p:nvSpPr>
        <p:spPr>
          <a:xfrm>
            <a:off x="9372938" y="395853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9" name="Oval 798"/>
          <p:cNvSpPr/>
          <p:nvPr/>
        </p:nvSpPr>
        <p:spPr>
          <a:xfrm>
            <a:off x="9537996" y="390414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0" name="Oval 799"/>
          <p:cNvSpPr/>
          <p:nvPr/>
        </p:nvSpPr>
        <p:spPr>
          <a:xfrm>
            <a:off x="9499975" y="393078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1" name="Oval 800"/>
          <p:cNvSpPr/>
          <p:nvPr/>
        </p:nvSpPr>
        <p:spPr>
          <a:xfrm>
            <a:off x="9553084" y="395195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2" name="Oval 801"/>
          <p:cNvSpPr/>
          <p:nvPr/>
        </p:nvSpPr>
        <p:spPr>
          <a:xfrm>
            <a:off x="9602269" y="391078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3" name="Oval 802"/>
          <p:cNvSpPr/>
          <p:nvPr/>
        </p:nvSpPr>
        <p:spPr>
          <a:xfrm>
            <a:off x="9617055" y="389437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4" name="Oval 803"/>
          <p:cNvSpPr/>
          <p:nvPr/>
        </p:nvSpPr>
        <p:spPr>
          <a:xfrm>
            <a:off x="9547652" y="390395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5" name="Oval 804"/>
          <p:cNvSpPr/>
          <p:nvPr/>
        </p:nvSpPr>
        <p:spPr>
          <a:xfrm>
            <a:off x="9577224" y="395604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6" name="Oval 805"/>
          <p:cNvSpPr/>
          <p:nvPr/>
        </p:nvSpPr>
        <p:spPr>
          <a:xfrm>
            <a:off x="9563042" y="396169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7" name="Oval 806"/>
          <p:cNvSpPr/>
          <p:nvPr/>
        </p:nvSpPr>
        <p:spPr>
          <a:xfrm>
            <a:off x="9672578" y="394286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8" name="Oval 807"/>
          <p:cNvSpPr/>
          <p:nvPr/>
        </p:nvSpPr>
        <p:spPr>
          <a:xfrm>
            <a:off x="9509933" y="396620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9" name="Oval 808"/>
          <p:cNvSpPr/>
          <p:nvPr/>
        </p:nvSpPr>
        <p:spPr>
          <a:xfrm>
            <a:off x="9373843" y="391835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0" name="Oval 809"/>
          <p:cNvSpPr/>
          <p:nvPr/>
        </p:nvSpPr>
        <p:spPr>
          <a:xfrm>
            <a:off x="9610115" y="395082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1" name="Oval 810"/>
          <p:cNvSpPr/>
          <p:nvPr/>
        </p:nvSpPr>
        <p:spPr>
          <a:xfrm>
            <a:off x="9350306" y="394331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2" name="Oval 811"/>
          <p:cNvSpPr/>
          <p:nvPr/>
        </p:nvSpPr>
        <p:spPr>
          <a:xfrm>
            <a:off x="9490621" y="395190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3" name="Oval 812"/>
          <p:cNvSpPr/>
          <p:nvPr/>
        </p:nvSpPr>
        <p:spPr>
          <a:xfrm>
            <a:off x="9398889" y="398193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4" name="Oval 813"/>
          <p:cNvSpPr/>
          <p:nvPr/>
        </p:nvSpPr>
        <p:spPr>
          <a:xfrm>
            <a:off x="9566059" y="395571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5" name="Oval 814"/>
          <p:cNvSpPr/>
          <p:nvPr/>
        </p:nvSpPr>
        <p:spPr>
          <a:xfrm>
            <a:off x="9609210" y="395740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6" name="Oval 815"/>
          <p:cNvSpPr/>
          <p:nvPr/>
        </p:nvSpPr>
        <p:spPr>
          <a:xfrm>
            <a:off x="9595027" y="395975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7" name="Oval 816"/>
          <p:cNvSpPr/>
          <p:nvPr/>
        </p:nvSpPr>
        <p:spPr>
          <a:xfrm>
            <a:off x="9668957" y="393975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8" name="Oval 817"/>
          <p:cNvSpPr/>
          <p:nvPr/>
        </p:nvSpPr>
        <p:spPr>
          <a:xfrm>
            <a:off x="9598950" y="391047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9" name="Oval 818"/>
          <p:cNvSpPr/>
          <p:nvPr/>
        </p:nvSpPr>
        <p:spPr>
          <a:xfrm>
            <a:off x="9655076" y="397824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0" name="Oval 819"/>
          <p:cNvSpPr/>
          <p:nvPr/>
        </p:nvSpPr>
        <p:spPr>
          <a:xfrm>
            <a:off x="9719047" y="397489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1" name="Oval 820"/>
          <p:cNvSpPr/>
          <p:nvPr/>
        </p:nvSpPr>
        <p:spPr>
          <a:xfrm>
            <a:off x="9658395" y="389553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2" name="Oval 821"/>
          <p:cNvSpPr/>
          <p:nvPr/>
        </p:nvSpPr>
        <p:spPr>
          <a:xfrm>
            <a:off x="9668353" y="393340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3" name="Oval 822"/>
          <p:cNvSpPr/>
          <p:nvPr/>
        </p:nvSpPr>
        <p:spPr>
          <a:xfrm>
            <a:off x="8782107" y="393599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4" name="Oval 823"/>
          <p:cNvSpPr/>
          <p:nvPr/>
        </p:nvSpPr>
        <p:spPr>
          <a:xfrm>
            <a:off x="9560326" y="395750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5" name="Oval 824"/>
          <p:cNvSpPr/>
          <p:nvPr/>
        </p:nvSpPr>
        <p:spPr>
          <a:xfrm>
            <a:off x="9692795" y="389234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6" name="Oval 825"/>
          <p:cNvSpPr/>
          <p:nvPr/>
        </p:nvSpPr>
        <p:spPr>
          <a:xfrm>
            <a:off x="9357247" y="390468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7" name="Oval 826"/>
          <p:cNvSpPr/>
          <p:nvPr/>
        </p:nvSpPr>
        <p:spPr>
          <a:xfrm>
            <a:off x="9608908" y="397033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8" name="Oval 827"/>
          <p:cNvSpPr/>
          <p:nvPr/>
        </p:nvSpPr>
        <p:spPr>
          <a:xfrm>
            <a:off x="9571491" y="397910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9" name="Oval 828"/>
          <p:cNvSpPr/>
          <p:nvPr/>
        </p:nvSpPr>
        <p:spPr>
          <a:xfrm>
            <a:off x="9468593" y="398457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0" name="Oval 829"/>
          <p:cNvSpPr/>
          <p:nvPr/>
        </p:nvSpPr>
        <p:spPr>
          <a:xfrm>
            <a:off x="9523814" y="391415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1" name="Oval 830"/>
          <p:cNvSpPr/>
          <p:nvPr/>
        </p:nvSpPr>
        <p:spPr>
          <a:xfrm>
            <a:off x="9713918" y="396399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2" name="Oval 831"/>
          <p:cNvSpPr/>
          <p:nvPr/>
        </p:nvSpPr>
        <p:spPr>
          <a:xfrm>
            <a:off x="9661111" y="398039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3" name="Oval 832"/>
          <p:cNvSpPr/>
          <p:nvPr/>
        </p:nvSpPr>
        <p:spPr>
          <a:xfrm>
            <a:off x="9656585" y="394048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4" name="Oval 833"/>
          <p:cNvSpPr/>
          <p:nvPr/>
        </p:nvSpPr>
        <p:spPr>
          <a:xfrm>
            <a:off x="9611020" y="393267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5" name="Oval 834"/>
          <p:cNvSpPr/>
          <p:nvPr/>
        </p:nvSpPr>
        <p:spPr>
          <a:xfrm>
            <a:off x="9611322" y="398638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6" name="Oval 835"/>
          <p:cNvSpPr/>
          <p:nvPr/>
        </p:nvSpPr>
        <p:spPr>
          <a:xfrm>
            <a:off x="9600761" y="393569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7" name="Oval 836"/>
          <p:cNvSpPr/>
          <p:nvPr/>
        </p:nvSpPr>
        <p:spPr>
          <a:xfrm>
            <a:off x="9644213" y="391673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8" name="Oval 837"/>
          <p:cNvSpPr/>
          <p:nvPr/>
        </p:nvSpPr>
        <p:spPr>
          <a:xfrm>
            <a:off x="9670164" y="389855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9" name="Oval 838"/>
          <p:cNvSpPr/>
          <p:nvPr/>
        </p:nvSpPr>
        <p:spPr>
          <a:xfrm>
            <a:off x="9666844" y="393423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0" name="Oval 839"/>
          <p:cNvSpPr/>
          <p:nvPr/>
        </p:nvSpPr>
        <p:spPr>
          <a:xfrm>
            <a:off x="9496656" y="389187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1" name="Oval 840"/>
          <p:cNvSpPr/>
          <p:nvPr/>
        </p:nvSpPr>
        <p:spPr>
          <a:xfrm>
            <a:off x="9562438" y="396459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2" name="Oval 841"/>
          <p:cNvSpPr/>
          <p:nvPr/>
        </p:nvSpPr>
        <p:spPr>
          <a:xfrm>
            <a:off x="9668353" y="398126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3" name="Oval 842"/>
          <p:cNvSpPr/>
          <p:nvPr/>
        </p:nvSpPr>
        <p:spPr>
          <a:xfrm>
            <a:off x="9674388" y="396250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4" name="Oval 843"/>
          <p:cNvSpPr/>
          <p:nvPr/>
        </p:nvSpPr>
        <p:spPr>
          <a:xfrm>
            <a:off x="9671974" y="396212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5" name="Oval 844"/>
          <p:cNvSpPr/>
          <p:nvPr/>
        </p:nvSpPr>
        <p:spPr>
          <a:xfrm>
            <a:off x="9505105" y="393858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6" name="Oval 845"/>
          <p:cNvSpPr/>
          <p:nvPr/>
        </p:nvSpPr>
        <p:spPr>
          <a:xfrm>
            <a:off x="9655679" y="390177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7" name="Oval 846"/>
          <p:cNvSpPr/>
          <p:nvPr/>
        </p:nvSpPr>
        <p:spPr>
          <a:xfrm>
            <a:off x="9676802" y="398781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8" name="Oval 847"/>
          <p:cNvSpPr/>
          <p:nvPr/>
        </p:nvSpPr>
        <p:spPr>
          <a:xfrm>
            <a:off x="9655076" y="398105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9" name="Oval 848"/>
          <p:cNvSpPr/>
          <p:nvPr/>
        </p:nvSpPr>
        <p:spPr>
          <a:xfrm>
            <a:off x="9657792" y="397096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0" name="Oval 849"/>
          <p:cNvSpPr/>
          <p:nvPr/>
        </p:nvSpPr>
        <p:spPr>
          <a:xfrm>
            <a:off x="9648739" y="392194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1" name="Oval 850"/>
          <p:cNvSpPr/>
          <p:nvPr/>
        </p:nvSpPr>
        <p:spPr>
          <a:xfrm>
            <a:off x="9286637" y="392016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2" name="Oval 851"/>
          <p:cNvSpPr/>
          <p:nvPr/>
        </p:nvSpPr>
        <p:spPr>
          <a:xfrm>
            <a:off x="9674992" y="39812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3" name="Oval 852"/>
          <p:cNvSpPr/>
          <p:nvPr/>
        </p:nvSpPr>
        <p:spPr>
          <a:xfrm>
            <a:off x="8923327" y="394778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4" name="Oval 853"/>
          <p:cNvSpPr/>
          <p:nvPr/>
        </p:nvSpPr>
        <p:spPr>
          <a:xfrm>
            <a:off x="9329184" y="398908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5" name="Oval 854"/>
          <p:cNvSpPr/>
          <p:nvPr/>
        </p:nvSpPr>
        <p:spPr>
          <a:xfrm>
            <a:off x="9538298" y="398004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6" name="Oval 855"/>
          <p:cNvSpPr/>
          <p:nvPr/>
        </p:nvSpPr>
        <p:spPr>
          <a:xfrm>
            <a:off x="9665637" y="393949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7" name="Oval 856"/>
          <p:cNvSpPr/>
          <p:nvPr/>
        </p:nvSpPr>
        <p:spPr>
          <a:xfrm>
            <a:off x="9586880" y="395871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8" name="Oval 857"/>
          <p:cNvSpPr/>
          <p:nvPr/>
        </p:nvSpPr>
        <p:spPr>
          <a:xfrm>
            <a:off x="9577827" y="389146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9" name="Oval 858"/>
          <p:cNvSpPr/>
          <p:nvPr/>
        </p:nvSpPr>
        <p:spPr>
          <a:xfrm>
            <a:off x="9490319" y="389375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0" name="Oval 859"/>
          <p:cNvSpPr/>
          <p:nvPr/>
        </p:nvSpPr>
        <p:spPr>
          <a:xfrm>
            <a:off x="8939018" y="395988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1" name="Oval 860"/>
          <p:cNvSpPr/>
          <p:nvPr/>
        </p:nvSpPr>
        <p:spPr>
          <a:xfrm>
            <a:off x="9708184" y="398919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2" name="Oval 861"/>
          <p:cNvSpPr/>
          <p:nvPr/>
        </p:nvSpPr>
        <p:spPr>
          <a:xfrm>
            <a:off x="9641799" y="395448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3" name="Oval 862"/>
          <p:cNvSpPr/>
          <p:nvPr/>
        </p:nvSpPr>
        <p:spPr>
          <a:xfrm>
            <a:off x="9687363" y="395468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4" name="Oval 863"/>
          <p:cNvSpPr/>
          <p:nvPr/>
        </p:nvSpPr>
        <p:spPr>
          <a:xfrm>
            <a:off x="9748921" y="391564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5" name="Oval 864"/>
          <p:cNvSpPr/>
          <p:nvPr/>
        </p:nvSpPr>
        <p:spPr>
          <a:xfrm>
            <a:off x="9667750" y="394307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6" name="Oval 865"/>
          <p:cNvSpPr/>
          <p:nvPr/>
        </p:nvSpPr>
        <p:spPr>
          <a:xfrm>
            <a:off x="9681932" y="391396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7" name="Oval 866"/>
          <p:cNvSpPr/>
          <p:nvPr/>
        </p:nvSpPr>
        <p:spPr>
          <a:xfrm>
            <a:off x="8509625" y="398221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8" name="Oval 867"/>
          <p:cNvSpPr/>
          <p:nvPr/>
        </p:nvSpPr>
        <p:spPr>
          <a:xfrm>
            <a:off x="9687062" y="395301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9" name="Oval 868"/>
          <p:cNvSpPr/>
          <p:nvPr/>
        </p:nvSpPr>
        <p:spPr>
          <a:xfrm>
            <a:off x="9748619" y="389822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0" name="Oval 869"/>
          <p:cNvSpPr/>
          <p:nvPr/>
        </p:nvSpPr>
        <p:spPr>
          <a:xfrm>
            <a:off x="9737152" y="389078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1" name="Oval 870"/>
          <p:cNvSpPr/>
          <p:nvPr/>
        </p:nvSpPr>
        <p:spPr>
          <a:xfrm>
            <a:off x="9565154" y="393353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2" name="Oval 871"/>
          <p:cNvSpPr/>
          <p:nvPr/>
        </p:nvSpPr>
        <p:spPr>
          <a:xfrm>
            <a:off x="9722970" y="390452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3" name="Oval 872"/>
          <p:cNvSpPr/>
          <p:nvPr/>
        </p:nvSpPr>
        <p:spPr>
          <a:xfrm>
            <a:off x="9698528" y="392183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4" name="Oval 873"/>
          <p:cNvSpPr/>
          <p:nvPr/>
        </p:nvSpPr>
        <p:spPr>
          <a:xfrm>
            <a:off x="9623392" y="391256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5" name="Oval 874"/>
          <p:cNvSpPr/>
          <p:nvPr/>
        </p:nvSpPr>
        <p:spPr>
          <a:xfrm>
            <a:off x="9643006" y="414896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6" name="Oval 875"/>
          <p:cNvSpPr/>
          <p:nvPr/>
        </p:nvSpPr>
        <p:spPr>
          <a:xfrm>
            <a:off x="9608304" y="4126160"/>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7" name="Oval 876"/>
          <p:cNvSpPr/>
          <p:nvPr/>
        </p:nvSpPr>
        <p:spPr>
          <a:xfrm>
            <a:off x="9564852" y="413075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8" name="Oval 877"/>
          <p:cNvSpPr/>
          <p:nvPr/>
        </p:nvSpPr>
        <p:spPr>
          <a:xfrm>
            <a:off x="9493337" y="419109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9" name="Oval 878"/>
          <p:cNvSpPr/>
          <p:nvPr/>
        </p:nvSpPr>
        <p:spPr>
          <a:xfrm>
            <a:off x="9333710" y="417055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0" name="Oval 879"/>
          <p:cNvSpPr/>
          <p:nvPr/>
        </p:nvSpPr>
        <p:spPr>
          <a:xfrm>
            <a:off x="9655981" y="4175144"/>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1" name="Oval 880"/>
          <p:cNvSpPr/>
          <p:nvPr/>
        </p:nvSpPr>
        <p:spPr>
          <a:xfrm>
            <a:off x="9609210" y="4128911"/>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2" name="Oval 881"/>
          <p:cNvSpPr/>
          <p:nvPr/>
        </p:nvSpPr>
        <p:spPr>
          <a:xfrm>
            <a:off x="9394966" y="4144000"/>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3" name="Oval 882"/>
          <p:cNvSpPr/>
          <p:nvPr/>
        </p:nvSpPr>
        <p:spPr>
          <a:xfrm>
            <a:off x="9446565" y="4103314"/>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4" name="Oval 883"/>
          <p:cNvSpPr/>
          <p:nvPr/>
        </p:nvSpPr>
        <p:spPr>
          <a:xfrm>
            <a:off x="9591406" y="4174784"/>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5" name="Oval 884"/>
          <p:cNvSpPr/>
          <p:nvPr/>
        </p:nvSpPr>
        <p:spPr>
          <a:xfrm>
            <a:off x="9308966" y="4126607"/>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6" name="Oval 885"/>
          <p:cNvSpPr/>
          <p:nvPr/>
        </p:nvSpPr>
        <p:spPr>
          <a:xfrm>
            <a:off x="8639379" y="4101305"/>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7" name="Oval 886"/>
          <p:cNvSpPr/>
          <p:nvPr/>
        </p:nvSpPr>
        <p:spPr>
          <a:xfrm>
            <a:off x="8085664" y="413452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8" name="Oval 887"/>
          <p:cNvSpPr/>
          <p:nvPr/>
        </p:nvSpPr>
        <p:spPr>
          <a:xfrm>
            <a:off x="9559421" y="4176141"/>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9" name="Oval 888"/>
          <p:cNvSpPr/>
          <p:nvPr/>
        </p:nvSpPr>
        <p:spPr>
          <a:xfrm>
            <a:off x="9450488" y="412135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0" name="Oval 889"/>
          <p:cNvSpPr/>
          <p:nvPr/>
        </p:nvSpPr>
        <p:spPr>
          <a:xfrm>
            <a:off x="9515667" y="410715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1" name="Oval 890"/>
          <p:cNvSpPr/>
          <p:nvPr/>
        </p:nvSpPr>
        <p:spPr>
          <a:xfrm>
            <a:off x="9458635" y="419197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2" name="Oval 891"/>
          <p:cNvSpPr/>
          <p:nvPr/>
        </p:nvSpPr>
        <p:spPr>
          <a:xfrm>
            <a:off x="8347585" y="4114188"/>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3" name="Oval 892"/>
          <p:cNvSpPr/>
          <p:nvPr/>
        </p:nvSpPr>
        <p:spPr>
          <a:xfrm>
            <a:off x="9673483" y="413681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4" name="Oval 893"/>
          <p:cNvSpPr/>
          <p:nvPr/>
        </p:nvSpPr>
        <p:spPr>
          <a:xfrm>
            <a:off x="9210897" y="417101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5" name="Oval 894"/>
          <p:cNvSpPr/>
          <p:nvPr/>
        </p:nvSpPr>
        <p:spPr>
          <a:xfrm>
            <a:off x="9595631" y="4129585"/>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6" name="Oval 895"/>
          <p:cNvSpPr/>
          <p:nvPr/>
        </p:nvSpPr>
        <p:spPr>
          <a:xfrm>
            <a:off x="9102870" y="4123105"/>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7" name="Oval 896"/>
          <p:cNvSpPr/>
          <p:nvPr/>
        </p:nvSpPr>
        <p:spPr>
          <a:xfrm>
            <a:off x="9585673" y="418628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8" name="Oval 897"/>
          <p:cNvSpPr/>
          <p:nvPr/>
        </p:nvSpPr>
        <p:spPr>
          <a:xfrm>
            <a:off x="9159599" y="4180118"/>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9" name="TextBox 898"/>
          <p:cNvSpPr txBox="1"/>
          <p:nvPr/>
        </p:nvSpPr>
        <p:spPr>
          <a:xfrm>
            <a:off x="10195560" y="3872483"/>
            <a:ext cx="1005840" cy="429768"/>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00407A"/>
                </a:solidFill>
                <a:latin typeface="Arial"/>
              </a:rPr>
              <a:t>119 of 123</a:t>
            </a:r>
          </a:p>
          <a:p>
            <a:pPr algn="l">
              <a:lnSpc>
                <a:spcPct val="109000"/>
              </a:lnSpc>
              <a:spcBef>
                <a:spcPts val="0"/>
              </a:spcBef>
              <a:spcAft>
                <a:spcPts val="0"/>
              </a:spcAft>
            </a:pPr>
            <a:r>
              <a:rPr sz="1250" b="0">
                <a:solidFill>
                  <a:srgbClr val="00407A"/>
                </a:solidFill>
                <a:latin typeface="Arial"/>
              </a:rPr>
              <a:t>are “yes”</a:t>
            </a:r>
          </a:p>
        </p:txBody>
      </p:sp>
      <p:sp>
        <p:nvSpPr>
          <p:cNvPr id="900" name="TextBox 899"/>
          <p:cNvSpPr txBox="1"/>
          <p:nvPr/>
        </p:nvSpPr>
        <p:spPr>
          <a:xfrm>
            <a:off x="6391656" y="4430268"/>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27B</a:t>
            </a:r>
          </a:p>
        </p:txBody>
      </p:sp>
      <p:sp>
        <p:nvSpPr>
          <p:cNvPr id="901" name="Oval 900"/>
          <p:cNvSpPr/>
          <p:nvPr/>
        </p:nvSpPr>
        <p:spPr>
          <a:xfrm>
            <a:off x="9882899" y="442676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 name="Oval 901"/>
          <p:cNvSpPr/>
          <p:nvPr/>
        </p:nvSpPr>
        <p:spPr>
          <a:xfrm>
            <a:off x="9590501" y="448453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 name="Oval 902"/>
          <p:cNvSpPr/>
          <p:nvPr/>
        </p:nvSpPr>
        <p:spPr>
          <a:xfrm>
            <a:off x="9668655" y="448298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 name="Oval 903"/>
          <p:cNvSpPr/>
          <p:nvPr/>
        </p:nvSpPr>
        <p:spPr>
          <a:xfrm>
            <a:off x="8443240" y="443874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 name="Oval 904"/>
          <p:cNvSpPr/>
          <p:nvPr/>
        </p:nvSpPr>
        <p:spPr>
          <a:xfrm>
            <a:off x="9809271" y="447836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 name="Oval 905"/>
          <p:cNvSpPr/>
          <p:nvPr/>
        </p:nvSpPr>
        <p:spPr>
          <a:xfrm>
            <a:off x="8929362" y="446958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 name="Oval 906"/>
          <p:cNvSpPr/>
          <p:nvPr/>
        </p:nvSpPr>
        <p:spPr>
          <a:xfrm>
            <a:off x="9664129" y="446915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 name="Oval 907"/>
          <p:cNvSpPr/>
          <p:nvPr/>
        </p:nvSpPr>
        <p:spPr>
          <a:xfrm>
            <a:off x="9841860" y="444814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 name="Oval 908"/>
          <p:cNvSpPr/>
          <p:nvPr/>
        </p:nvSpPr>
        <p:spPr>
          <a:xfrm>
            <a:off x="9486095" y="441160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0" name="Oval 909"/>
          <p:cNvSpPr/>
          <p:nvPr/>
        </p:nvSpPr>
        <p:spPr>
          <a:xfrm>
            <a:off x="9845481" y="442416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1" name="Oval 910"/>
          <p:cNvSpPr/>
          <p:nvPr/>
        </p:nvSpPr>
        <p:spPr>
          <a:xfrm>
            <a:off x="9729910" y="446413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2" name="Oval 911"/>
          <p:cNvSpPr/>
          <p:nvPr/>
        </p:nvSpPr>
        <p:spPr>
          <a:xfrm>
            <a:off x="9627013" y="444546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Oval 912"/>
          <p:cNvSpPr/>
          <p:nvPr/>
        </p:nvSpPr>
        <p:spPr>
          <a:xfrm>
            <a:off x="9797201" y="446932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4" name="Oval 913"/>
          <p:cNvSpPr/>
          <p:nvPr/>
        </p:nvSpPr>
        <p:spPr>
          <a:xfrm>
            <a:off x="9730212" y="446433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Oval 914"/>
          <p:cNvSpPr/>
          <p:nvPr/>
        </p:nvSpPr>
        <p:spPr>
          <a:xfrm>
            <a:off x="9586276" y="44925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6" name="Oval 915"/>
          <p:cNvSpPr/>
          <p:nvPr/>
        </p:nvSpPr>
        <p:spPr>
          <a:xfrm>
            <a:off x="9669560" y="448151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Oval 916"/>
          <p:cNvSpPr/>
          <p:nvPr/>
        </p:nvSpPr>
        <p:spPr>
          <a:xfrm>
            <a:off x="9697623" y="448535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8" name="Oval 917"/>
          <p:cNvSpPr/>
          <p:nvPr/>
        </p:nvSpPr>
        <p:spPr>
          <a:xfrm>
            <a:off x="9736549" y="447421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9" name="Oval 918"/>
          <p:cNvSpPr/>
          <p:nvPr/>
        </p:nvSpPr>
        <p:spPr>
          <a:xfrm>
            <a:off x="9834015" y="439891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0" name="Oval 919"/>
          <p:cNvSpPr/>
          <p:nvPr/>
        </p:nvSpPr>
        <p:spPr>
          <a:xfrm>
            <a:off x="9767328" y="445984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 name="Oval 920"/>
          <p:cNvSpPr/>
          <p:nvPr/>
        </p:nvSpPr>
        <p:spPr>
          <a:xfrm>
            <a:off x="9584466" y="447721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2" name="Oval 921"/>
          <p:cNvSpPr/>
          <p:nvPr/>
        </p:nvSpPr>
        <p:spPr>
          <a:xfrm>
            <a:off x="9709391" y="449106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3" name="Oval 922"/>
          <p:cNvSpPr/>
          <p:nvPr/>
        </p:nvSpPr>
        <p:spPr>
          <a:xfrm>
            <a:off x="9577827" y="446145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4" name="Oval 923"/>
          <p:cNvSpPr/>
          <p:nvPr/>
        </p:nvSpPr>
        <p:spPr>
          <a:xfrm>
            <a:off x="9684346" y="440706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5" name="Oval 924"/>
          <p:cNvSpPr/>
          <p:nvPr/>
        </p:nvSpPr>
        <p:spPr>
          <a:xfrm>
            <a:off x="9351513" y="443370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Oval 925"/>
          <p:cNvSpPr/>
          <p:nvPr/>
        </p:nvSpPr>
        <p:spPr>
          <a:xfrm>
            <a:off x="9765215" y="445487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7" name="Oval 926"/>
          <p:cNvSpPr/>
          <p:nvPr/>
        </p:nvSpPr>
        <p:spPr>
          <a:xfrm>
            <a:off x="9394362" y="441370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8" name="Oval 927"/>
          <p:cNvSpPr/>
          <p:nvPr/>
        </p:nvSpPr>
        <p:spPr>
          <a:xfrm>
            <a:off x="9722065" y="439729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9" name="Oval 928"/>
          <p:cNvSpPr/>
          <p:nvPr/>
        </p:nvSpPr>
        <p:spPr>
          <a:xfrm>
            <a:off x="9666543" y="440687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0" name="Oval 929"/>
          <p:cNvSpPr/>
          <p:nvPr/>
        </p:nvSpPr>
        <p:spPr>
          <a:xfrm>
            <a:off x="9477344" y="445896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1" name="Oval 930"/>
          <p:cNvSpPr/>
          <p:nvPr/>
        </p:nvSpPr>
        <p:spPr>
          <a:xfrm>
            <a:off x="9664129" y="446461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2" name="Oval 931"/>
          <p:cNvSpPr/>
          <p:nvPr/>
        </p:nvSpPr>
        <p:spPr>
          <a:xfrm>
            <a:off x="9833713" y="444578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3" name="Oval 932"/>
          <p:cNvSpPr/>
          <p:nvPr/>
        </p:nvSpPr>
        <p:spPr>
          <a:xfrm>
            <a:off x="9746205" y="446912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Oval 933"/>
          <p:cNvSpPr/>
          <p:nvPr/>
        </p:nvSpPr>
        <p:spPr>
          <a:xfrm>
            <a:off x="9734437" y="442127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5" name="Oval 934"/>
          <p:cNvSpPr/>
          <p:nvPr/>
        </p:nvSpPr>
        <p:spPr>
          <a:xfrm>
            <a:off x="9443548" y="445374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6" name="Oval 935"/>
          <p:cNvSpPr/>
          <p:nvPr/>
        </p:nvSpPr>
        <p:spPr>
          <a:xfrm>
            <a:off x="9353022" y="444623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Oval 936"/>
          <p:cNvSpPr/>
          <p:nvPr/>
        </p:nvSpPr>
        <p:spPr>
          <a:xfrm>
            <a:off x="9728703" y="445482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8" name="Oval 937"/>
          <p:cNvSpPr/>
          <p:nvPr/>
        </p:nvSpPr>
        <p:spPr>
          <a:xfrm>
            <a:off x="9789959" y="448485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9" name="Oval 938"/>
          <p:cNvSpPr/>
          <p:nvPr/>
        </p:nvSpPr>
        <p:spPr>
          <a:xfrm>
            <a:off x="9471912" y="445863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Oval 939"/>
          <p:cNvSpPr/>
          <p:nvPr/>
        </p:nvSpPr>
        <p:spPr>
          <a:xfrm>
            <a:off x="9624297" y="446032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1" name="Oval 940"/>
          <p:cNvSpPr/>
          <p:nvPr/>
        </p:nvSpPr>
        <p:spPr>
          <a:xfrm>
            <a:off x="9874751" y="446267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2" name="Oval 941"/>
          <p:cNvSpPr/>
          <p:nvPr/>
        </p:nvSpPr>
        <p:spPr>
          <a:xfrm>
            <a:off x="9878372" y="444267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3" name="Oval 942"/>
          <p:cNvSpPr/>
          <p:nvPr/>
        </p:nvSpPr>
        <p:spPr>
          <a:xfrm>
            <a:off x="9479758" y="441339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4" name="Oval 943"/>
          <p:cNvSpPr/>
          <p:nvPr/>
        </p:nvSpPr>
        <p:spPr>
          <a:xfrm>
            <a:off x="9867208" y="448116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5" name="Oval 944"/>
          <p:cNvSpPr/>
          <p:nvPr/>
        </p:nvSpPr>
        <p:spPr>
          <a:xfrm>
            <a:off x="9465576" y="447781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6" name="Oval 945"/>
          <p:cNvSpPr/>
          <p:nvPr/>
        </p:nvSpPr>
        <p:spPr>
          <a:xfrm>
            <a:off x="9881088" y="439845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7" name="Oval 946"/>
          <p:cNvSpPr/>
          <p:nvPr/>
        </p:nvSpPr>
        <p:spPr>
          <a:xfrm>
            <a:off x="9876260" y="44363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8" name="Oval 947"/>
          <p:cNvSpPr/>
          <p:nvPr/>
        </p:nvSpPr>
        <p:spPr>
          <a:xfrm>
            <a:off x="9609511" y="443891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9" name="Oval 948"/>
          <p:cNvSpPr/>
          <p:nvPr/>
        </p:nvSpPr>
        <p:spPr>
          <a:xfrm>
            <a:off x="9894969" y="446042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Oval 949"/>
          <p:cNvSpPr/>
          <p:nvPr/>
        </p:nvSpPr>
        <p:spPr>
          <a:xfrm>
            <a:off x="9890744" y="439526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 name="Oval 950"/>
          <p:cNvSpPr/>
          <p:nvPr/>
        </p:nvSpPr>
        <p:spPr>
          <a:xfrm>
            <a:off x="9718746" y="440760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Oval 951"/>
          <p:cNvSpPr/>
          <p:nvPr/>
        </p:nvSpPr>
        <p:spPr>
          <a:xfrm>
            <a:off x="9811987" y="447325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3" name="Oval 952"/>
          <p:cNvSpPr/>
          <p:nvPr/>
        </p:nvSpPr>
        <p:spPr>
          <a:xfrm>
            <a:off x="9840050" y="448202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4" name="Oval 953"/>
          <p:cNvSpPr/>
          <p:nvPr/>
        </p:nvSpPr>
        <p:spPr>
          <a:xfrm>
            <a:off x="9708486" y="448749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Oval 954"/>
          <p:cNvSpPr/>
          <p:nvPr/>
        </p:nvSpPr>
        <p:spPr>
          <a:xfrm>
            <a:off x="9704563" y="441707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6" name="Oval 955"/>
          <p:cNvSpPr/>
          <p:nvPr/>
        </p:nvSpPr>
        <p:spPr>
          <a:xfrm>
            <a:off x="9895874" y="446691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7" name="Oval 956"/>
          <p:cNvSpPr/>
          <p:nvPr/>
        </p:nvSpPr>
        <p:spPr>
          <a:xfrm>
            <a:off x="9863587" y="448331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Oval 957"/>
          <p:cNvSpPr/>
          <p:nvPr/>
        </p:nvSpPr>
        <p:spPr>
          <a:xfrm>
            <a:off x="9823755" y="444340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9" name="Oval 958"/>
          <p:cNvSpPr/>
          <p:nvPr/>
        </p:nvSpPr>
        <p:spPr>
          <a:xfrm>
            <a:off x="9881692" y="443559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 name="Oval 959"/>
          <p:cNvSpPr/>
          <p:nvPr/>
        </p:nvSpPr>
        <p:spPr>
          <a:xfrm>
            <a:off x="9873544" y="448930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Oval 960"/>
          <p:cNvSpPr/>
          <p:nvPr/>
        </p:nvSpPr>
        <p:spPr>
          <a:xfrm>
            <a:off x="9863587" y="443861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2" name="Oval 961"/>
          <p:cNvSpPr/>
          <p:nvPr/>
        </p:nvSpPr>
        <p:spPr>
          <a:xfrm>
            <a:off x="9870225" y="441965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Oval 962"/>
          <p:cNvSpPr/>
          <p:nvPr/>
        </p:nvSpPr>
        <p:spPr>
          <a:xfrm>
            <a:off x="9879278" y="440147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4" name="Oval 963"/>
          <p:cNvSpPr/>
          <p:nvPr/>
        </p:nvSpPr>
        <p:spPr>
          <a:xfrm>
            <a:off x="9930877" y="443715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Oval 964"/>
          <p:cNvSpPr/>
          <p:nvPr/>
        </p:nvSpPr>
        <p:spPr>
          <a:xfrm>
            <a:off x="9878372" y="439479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6" name="Oval 965"/>
          <p:cNvSpPr/>
          <p:nvPr/>
        </p:nvSpPr>
        <p:spPr>
          <a:xfrm>
            <a:off x="9780303" y="446751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Oval 966"/>
          <p:cNvSpPr/>
          <p:nvPr/>
        </p:nvSpPr>
        <p:spPr>
          <a:xfrm>
            <a:off x="9931179" y="448418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8" name="Oval 967"/>
          <p:cNvSpPr/>
          <p:nvPr/>
        </p:nvSpPr>
        <p:spPr>
          <a:xfrm>
            <a:off x="9915186" y="446542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Oval 968"/>
          <p:cNvSpPr/>
          <p:nvPr/>
        </p:nvSpPr>
        <p:spPr>
          <a:xfrm>
            <a:off x="9872036" y="446504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0" name="Oval 969"/>
          <p:cNvSpPr/>
          <p:nvPr/>
        </p:nvSpPr>
        <p:spPr>
          <a:xfrm>
            <a:off x="9652058" y="444150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Oval 970"/>
          <p:cNvSpPr/>
          <p:nvPr/>
        </p:nvSpPr>
        <p:spPr>
          <a:xfrm>
            <a:off x="9870829" y="440469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 name="Oval 971"/>
          <p:cNvSpPr/>
          <p:nvPr/>
        </p:nvSpPr>
        <p:spPr>
          <a:xfrm>
            <a:off x="9901607" y="449073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Oval 972"/>
          <p:cNvSpPr/>
          <p:nvPr/>
        </p:nvSpPr>
        <p:spPr>
          <a:xfrm>
            <a:off x="9885313" y="448397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4" name="Oval 973"/>
          <p:cNvSpPr/>
          <p:nvPr/>
        </p:nvSpPr>
        <p:spPr>
          <a:xfrm>
            <a:off x="9894365" y="447388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Oval 974"/>
          <p:cNvSpPr/>
          <p:nvPr/>
        </p:nvSpPr>
        <p:spPr>
          <a:xfrm>
            <a:off x="9459239" y="442486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 name="Oval 975"/>
          <p:cNvSpPr/>
          <p:nvPr/>
        </p:nvSpPr>
        <p:spPr>
          <a:xfrm>
            <a:off x="9358152" y="442308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Oval 976"/>
          <p:cNvSpPr/>
          <p:nvPr/>
        </p:nvSpPr>
        <p:spPr>
          <a:xfrm>
            <a:off x="9909755" y="448414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 name="Oval 977"/>
          <p:cNvSpPr/>
          <p:nvPr/>
        </p:nvSpPr>
        <p:spPr>
          <a:xfrm>
            <a:off x="9479456" y="445070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Oval 978"/>
          <p:cNvSpPr/>
          <p:nvPr/>
        </p:nvSpPr>
        <p:spPr>
          <a:xfrm>
            <a:off x="9632143" y="449200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0" name="Oval 979"/>
          <p:cNvSpPr/>
          <p:nvPr/>
        </p:nvSpPr>
        <p:spPr>
          <a:xfrm>
            <a:off x="9872941" y="448296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Oval 980"/>
          <p:cNvSpPr/>
          <p:nvPr/>
        </p:nvSpPr>
        <p:spPr>
          <a:xfrm>
            <a:off x="9856948" y="444241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2" name="Oval 981"/>
          <p:cNvSpPr/>
          <p:nvPr/>
        </p:nvSpPr>
        <p:spPr>
          <a:xfrm>
            <a:off x="9683441" y="446163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Oval 982"/>
          <p:cNvSpPr/>
          <p:nvPr/>
        </p:nvSpPr>
        <p:spPr>
          <a:xfrm>
            <a:off x="9686760" y="439438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4" name="Oval 983"/>
          <p:cNvSpPr/>
          <p:nvPr/>
        </p:nvSpPr>
        <p:spPr>
          <a:xfrm>
            <a:off x="9707581" y="439667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Oval 984"/>
          <p:cNvSpPr/>
          <p:nvPr/>
        </p:nvSpPr>
        <p:spPr>
          <a:xfrm>
            <a:off x="9490319" y="446280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6" name="Oval 985"/>
          <p:cNvSpPr/>
          <p:nvPr/>
        </p:nvSpPr>
        <p:spPr>
          <a:xfrm>
            <a:off x="9879278" y="449211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Oval 986"/>
          <p:cNvSpPr/>
          <p:nvPr/>
        </p:nvSpPr>
        <p:spPr>
          <a:xfrm>
            <a:off x="9885614" y="445740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8" name="Oval 987"/>
          <p:cNvSpPr/>
          <p:nvPr/>
        </p:nvSpPr>
        <p:spPr>
          <a:xfrm>
            <a:off x="9747110" y="445760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Oval 988"/>
          <p:cNvSpPr/>
          <p:nvPr/>
        </p:nvSpPr>
        <p:spPr>
          <a:xfrm>
            <a:off x="9929369" y="441856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0" name="Oval 989"/>
          <p:cNvSpPr/>
          <p:nvPr/>
        </p:nvSpPr>
        <p:spPr>
          <a:xfrm>
            <a:off x="9894667" y="444599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Oval 990"/>
          <p:cNvSpPr/>
          <p:nvPr/>
        </p:nvSpPr>
        <p:spPr>
          <a:xfrm>
            <a:off x="9911867" y="441688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2" name="Oval 991"/>
          <p:cNvSpPr/>
          <p:nvPr/>
        </p:nvSpPr>
        <p:spPr>
          <a:xfrm>
            <a:off x="9590501" y="448513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Oval 992"/>
          <p:cNvSpPr/>
          <p:nvPr/>
        </p:nvSpPr>
        <p:spPr>
          <a:xfrm>
            <a:off x="9910962" y="445593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4" name="Oval 993"/>
          <p:cNvSpPr/>
          <p:nvPr/>
        </p:nvSpPr>
        <p:spPr>
          <a:xfrm>
            <a:off x="9916695" y="440114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5" name="Oval 994"/>
          <p:cNvSpPr/>
          <p:nvPr/>
        </p:nvSpPr>
        <p:spPr>
          <a:xfrm>
            <a:off x="9906134" y="439370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6" name="Oval 995"/>
          <p:cNvSpPr/>
          <p:nvPr/>
        </p:nvSpPr>
        <p:spPr>
          <a:xfrm>
            <a:off x="9849706" y="443645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7" name="Oval 996"/>
          <p:cNvSpPr/>
          <p:nvPr/>
        </p:nvSpPr>
        <p:spPr>
          <a:xfrm>
            <a:off x="9834920" y="440744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8" name="Oval 997"/>
          <p:cNvSpPr/>
          <p:nvPr/>
        </p:nvSpPr>
        <p:spPr>
          <a:xfrm>
            <a:off x="9815306" y="442475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9" name="Oval 998"/>
          <p:cNvSpPr/>
          <p:nvPr/>
        </p:nvSpPr>
        <p:spPr>
          <a:xfrm>
            <a:off x="9702753" y="441548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Oval 999"/>
          <p:cNvSpPr/>
          <p:nvPr/>
        </p:nvSpPr>
        <p:spPr>
          <a:xfrm>
            <a:off x="9886821" y="465188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1" name="Oval 1000"/>
          <p:cNvSpPr/>
          <p:nvPr/>
        </p:nvSpPr>
        <p:spPr>
          <a:xfrm>
            <a:off x="9101965" y="4629080"/>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2" name="Oval 1001"/>
          <p:cNvSpPr/>
          <p:nvPr/>
        </p:nvSpPr>
        <p:spPr>
          <a:xfrm>
            <a:off x="9365998" y="463367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3" name="Oval 1002"/>
          <p:cNvSpPr/>
          <p:nvPr/>
        </p:nvSpPr>
        <p:spPr>
          <a:xfrm>
            <a:off x="9459541" y="469401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4" name="Oval 1003"/>
          <p:cNvSpPr/>
          <p:nvPr/>
        </p:nvSpPr>
        <p:spPr>
          <a:xfrm>
            <a:off x="9479758" y="467347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5" name="Oval 1004"/>
          <p:cNvSpPr/>
          <p:nvPr/>
        </p:nvSpPr>
        <p:spPr>
          <a:xfrm>
            <a:off x="9859362" y="4678064"/>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6" name="Oval 1005"/>
          <p:cNvSpPr/>
          <p:nvPr/>
        </p:nvSpPr>
        <p:spPr>
          <a:xfrm>
            <a:off x="9862380" y="4631831"/>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7" name="Oval 1006"/>
          <p:cNvSpPr/>
          <p:nvPr/>
        </p:nvSpPr>
        <p:spPr>
          <a:xfrm>
            <a:off x="9760689" y="4646920"/>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8" name="Oval 1007"/>
          <p:cNvSpPr/>
          <p:nvPr/>
        </p:nvSpPr>
        <p:spPr>
          <a:xfrm>
            <a:off x="9713616" y="4606234"/>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9" name="Oval 1008"/>
          <p:cNvSpPr/>
          <p:nvPr/>
        </p:nvSpPr>
        <p:spPr>
          <a:xfrm>
            <a:off x="9640290" y="4677704"/>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0" name="Oval 1009"/>
          <p:cNvSpPr/>
          <p:nvPr/>
        </p:nvSpPr>
        <p:spPr>
          <a:xfrm>
            <a:off x="9674992" y="4629527"/>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1" name="Oval 1010"/>
          <p:cNvSpPr/>
          <p:nvPr/>
        </p:nvSpPr>
        <p:spPr>
          <a:xfrm>
            <a:off x="9341254" y="4604225"/>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2" name="Oval 1011"/>
          <p:cNvSpPr/>
          <p:nvPr/>
        </p:nvSpPr>
        <p:spPr>
          <a:xfrm>
            <a:off x="9655679" y="463744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3" name="Oval 1012"/>
          <p:cNvSpPr/>
          <p:nvPr/>
        </p:nvSpPr>
        <p:spPr>
          <a:xfrm>
            <a:off x="9572396" y="4679061"/>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4" name="Oval 1013"/>
          <p:cNvSpPr/>
          <p:nvPr/>
        </p:nvSpPr>
        <p:spPr>
          <a:xfrm>
            <a:off x="8837932" y="462427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5" name="Oval 1014"/>
          <p:cNvSpPr/>
          <p:nvPr/>
        </p:nvSpPr>
        <p:spPr>
          <a:xfrm>
            <a:off x="9283016" y="461007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6" name="Oval 1015"/>
          <p:cNvSpPr/>
          <p:nvPr/>
        </p:nvSpPr>
        <p:spPr>
          <a:xfrm>
            <a:off x="9450488" y="469489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7" name="Oval 1016"/>
          <p:cNvSpPr/>
          <p:nvPr/>
        </p:nvSpPr>
        <p:spPr>
          <a:xfrm>
            <a:off x="8201235" y="4617108"/>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8" name="Oval 1017"/>
          <p:cNvSpPr/>
          <p:nvPr/>
        </p:nvSpPr>
        <p:spPr>
          <a:xfrm>
            <a:off x="9270946" y="463973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9" name="Oval 1018"/>
          <p:cNvSpPr/>
          <p:nvPr/>
        </p:nvSpPr>
        <p:spPr>
          <a:xfrm>
            <a:off x="8405219" y="467393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0" name="Oval 1019"/>
          <p:cNvSpPr/>
          <p:nvPr/>
        </p:nvSpPr>
        <p:spPr>
          <a:xfrm>
            <a:off x="9274868" y="4632505"/>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1" name="Oval 1020"/>
          <p:cNvSpPr/>
          <p:nvPr/>
        </p:nvSpPr>
        <p:spPr>
          <a:xfrm>
            <a:off x="8107390" y="4626025"/>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2" name="Oval 1021"/>
          <p:cNvSpPr/>
          <p:nvPr/>
        </p:nvSpPr>
        <p:spPr>
          <a:xfrm>
            <a:off x="8529239" y="468920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3" name="Oval 1022"/>
          <p:cNvSpPr/>
          <p:nvPr/>
        </p:nvSpPr>
        <p:spPr>
          <a:xfrm>
            <a:off x="9028035" y="4683038"/>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4" name="TextBox 1023"/>
          <p:cNvSpPr txBox="1"/>
          <p:nvPr/>
        </p:nvSpPr>
        <p:spPr>
          <a:xfrm>
            <a:off x="10195560" y="4375404"/>
            <a:ext cx="1005840" cy="429768"/>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00407A"/>
                </a:solidFill>
                <a:latin typeface="Arial"/>
              </a:rPr>
              <a:t>118 of 123</a:t>
            </a:r>
          </a:p>
          <a:p>
            <a:pPr algn="l">
              <a:lnSpc>
                <a:spcPct val="109000"/>
              </a:lnSpc>
              <a:spcBef>
                <a:spcPts val="0"/>
              </a:spcBef>
              <a:spcAft>
                <a:spcPts val="0"/>
              </a:spcAft>
            </a:pPr>
            <a:r>
              <a:rPr sz="1250" b="0">
                <a:solidFill>
                  <a:srgbClr val="00407A"/>
                </a:solidFill>
                <a:latin typeface="Arial"/>
              </a:rPr>
              <a:t>are “yes”</a:t>
            </a:r>
          </a:p>
        </p:txBody>
      </p:sp>
      <p:sp>
        <p:nvSpPr>
          <p:cNvPr id="1025" name="TextBox 1024"/>
          <p:cNvSpPr txBox="1"/>
          <p:nvPr/>
        </p:nvSpPr>
        <p:spPr>
          <a:xfrm>
            <a:off x="6391656" y="5029200"/>
            <a:ext cx="4800600" cy="219456"/>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4A5A66"/>
                </a:solidFill>
                <a:latin typeface="Arial"/>
              </a:rPr>
              <a:t>Yes probability of each design • dashed line: the 0.5 threshold</a:t>
            </a:r>
          </a:p>
        </p:txBody>
      </p:sp>
      <p:sp>
        <p:nvSpPr>
          <p:cNvPr id="1026" name="Rounded Rectangle 1025"/>
          <p:cNvSpPr/>
          <p:nvPr/>
        </p:nvSpPr>
        <p:spPr>
          <a:xfrm>
            <a:off x="813816" y="5715000"/>
            <a:ext cx="10561320" cy="603504"/>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7" name="TextBox 1026"/>
          <p:cNvSpPr txBox="1"/>
          <p:nvPr/>
        </p:nvSpPr>
        <p:spPr>
          <a:xfrm>
            <a:off x="987552" y="5769864"/>
            <a:ext cx="10213848" cy="493776"/>
          </a:xfrm>
          <a:prstGeom prst="rect">
            <a:avLst/>
          </a:prstGeom>
          <a:noFill/>
        </p:spPr>
        <p:txBody>
          <a:bodyPr wrap="square" lIns="0" rIns="0" tIns="0" bIns="0" anchor="ctr">
            <a:noAutofit/>
          </a:bodyPr>
          <a:lstStyle/>
          <a:p>
            <a:pPr algn="l">
              <a:lnSpc>
                <a:spcPct val="109000"/>
              </a:lnSpc>
              <a:spcBef>
                <a:spcPts val="0"/>
              </a:spcBef>
              <a:spcAft>
                <a:spcPts val="0"/>
              </a:spcAft>
            </a:pPr>
            <a:r>
              <a:rPr sz="1500" b="1">
                <a:solidFill>
                  <a:srgbClr val="00407A"/>
                </a:solidFill>
                <a:latin typeface="Arial"/>
              </a:rPr>
              <a:t>Only KEV-27B’s compile answers are right for most designs of both groups: 114 of 114 and 8 of 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Yes probability of every design, three examples</a:t>
            </a:r>
          </a:p>
        </p:txBody>
      </p:sp>
      <p:sp>
        <p:nvSpPr>
          <p:cNvPr id="3" name="TextBox 2"/>
          <p:cNvSpPr txBox="1"/>
          <p:nvPr/>
        </p:nvSpPr>
        <p:spPr>
          <a:xfrm>
            <a:off x="813816" y="1261872"/>
            <a:ext cx="1056132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Each dot is one test design. 0.5 or more counts as “yes”. Teal: the tool says “yes”; orange: it says “no”.</a:t>
            </a:r>
          </a:p>
        </p:txBody>
      </p:sp>
      <p:sp>
        <p:nvSpPr>
          <p:cNvPr id="4" name="TextBox 3"/>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4  •  APPENDIX</a:t>
            </a:r>
          </a:p>
        </p:txBody>
      </p:sp>
      <p:sp>
        <p:nvSpPr>
          <p:cNvPr id="5" name="TextBox 4"/>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25</a:t>
            </a:r>
          </a:p>
        </p:txBody>
      </p:sp>
      <p:sp>
        <p:nvSpPr>
          <p:cNvPr id="6" name="Rounded Rectangle 5"/>
          <p:cNvSpPr/>
          <p:nvPr/>
        </p:nvSpPr>
        <p:spPr>
          <a:xfrm>
            <a:off x="813816" y="1819656"/>
            <a:ext cx="5166360" cy="3730752"/>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4984" y="1984248"/>
            <a:ext cx="4764024" cy="502920"/>
          </a:xfrm>
          <a:prstGeom prst="rect">
            <a:avLst/>
          </a:prstGeom>
          <a:noFill/>
        </p:spPr>
        <p:txBody>
          <a:bodyPr wrap="square" lIns="0" rIns="0" tIns="0" bIns="0" anchor="t">
            <a:noAutofit/>
          </a:bodyPr>
          <a:lstStyle/>
          <a:p>
            <a:pPr algn="l">
              <a:lnSpc>
                <a:spcPct val="109000"/>
              </a:lnSpc>
              <a:spcBef>
                <a:spcPts val="0"/>
              </a:spcBef>
              <a:spcAft>
                <a:spcPts val="0"/>
              </a:spcAft>
            </a:pPr>
            <a:r>
              <a:rPr sz="1800" b="1">
                <a:solidFill>
                  <a:srgbClr val="00407A"/>
                </a:solidFill>
                <a:latin typeface="Arial"/>
              </a:rPr>
              <a:t>Does it compile?</a:t>
            </a:r>
          </a:p>
        </p:txBody>
      </p:sp>
      <p:sp>
        <p:nvSpPr>
          <p:cNvPr id="8" name="TextBox 7"/>
          <p:cNvSpPr txBox="1"/>
          <p:nvPr/>
        </p:nvSpPr>
        <p:spPr>
          <a:xfrm>
            <a:off x="1014984" y="2432304"/>
            <a:ext cx="4764024" cy="274320"/>
          </a:xfrm>
          <a:prstGeom prst="rect">
            <a:avLst/>
          </a:prstGeom>
          <a:noFill/>
        </p:spPr>
        <p:txBody>
          <a:bodyPr wrap="square" lIns="0" rIns="0" tIns="0" bIns="0">
            <a:noAutofit/>
          </a:bodyPr>
          <a:lstStyle/>
          <a:p>
            <a:r>
              <a:rPr sz="1250">
                <a:solidFill>
                  <a:srgbClr val="1D8DB0"/>
                </a:solidFill>
                <a:latin typeface="Arial"/>
              </a:rPr>
              <a:t>●</a:t>
            </a:r>
            <a:r>
              <a:rPr sz="1250">
                <a:solidFill>
                  <a:srgbClr val="4A5A66"/>
                </a:solidFill>
                <a:latin typeface="Arial"/>
              </a:rPr>
              <a:t> vlog accepts: 114</a:t>
            </a:r>
            <a:r>
              <a:rPr sz="1250">
                <a:solidFill>
                  <a:srgbClr val="E97132"/>
                </a:solidFill>
                <a:latin typeface="Arial"/>
              </a:rPr>
              <a:t>      ●</a:t>
            </a:r>
            <a:r>
              <a:rPr sz="1250">
                <a:solidFill>
                  <a:srgbClr val="4A5A66"/>
                </a:solidFill>
                <a:latin typeface="Arial"/>
              </a:rPr>
              <a:t> vlog rejects: 9</a:t>
            </a:r>
          </a:p>
        </p:txBody>
      </p:sp>
      <p:cxnSp>
        <p:nvCxnSpPr>
          <p:cNvPr id="9" name="Connector 8"/>
          <p:cNvCxnSpPr/>
          <p:nvPr/>
        </p:nvCxnSpPr>
        <p:spPr>
          <a:xfrm>
            <a:off x="1664208" y="2825496"/>
            <a:ext cx="0" cy="1947672"/>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463040" y="4764024"/>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0</a:t>
            </a:r>
          </a:p>
        </p:txBody>
      </p:sp>
      <p:cxnSp>
        <p:nvCxnSpPr>
          <p:cNvPr id="11" name="Connector 10"/>
          <p:cNvCxnSpPr/>
          <p:nvPr/>
        </p:nvCxnSpPr>
        <p:spPr>
          <a:xfrm>
            <a:off x="3172968" y="2825496"/>
            <a:ext cx="0" cy="1947672"/>
          </a:xfrm>
          <a:prstGeom prst="line">
            <a:avLst/>
          </a:prstGeom>
          <a:ln w="15240">
            <a:solidFill>
              <a:srgbClr val="4A5A66"/>
            </a:solidFill>
            <a:prstDash val="dash"/>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971800" y="4764024"/>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0.5</a:t>
            </a:r>
          </a:p>
        </p:txBody>
      </p:sp>
      <p:cxnSp>
        <p:nvCxnSpPr>
          <p:cNvPr id="13" name="Connector 12"/>
          <p:cNvCxnSpPr/>
          <p:nvPr/>
        </p:nvCxnSpPr>
        <p:spPr>
          <a:xfrm>
            <a:off x="4681728" y="2825496"/>
            <a:ext cx="0" cy="1947672"/>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480560" y="4764024"/>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1</a:t>
            </a:r>
          </a:p>
        </p:txBody>
      </p:sp>
      <p:sp>
        <p:nvSpPr>
          <p:cNvPr id="15" name="TextBox 14"/>
          <p:cNvSpPr txBox="1"/>
          <p:nvPr/>
        </p:nvSpPr>
        <p:spPr>
          <a:xfrm>
            <a:off x="996696" y="2921508"/>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0.8B</a:t>
            </a:r>
          </a:p>
        </p:txBody>
      </p:sp>
      <p:sp>
        <p:nvSpPr>
          <p:cNvPr id="16" name="Oval 15"/>
          <p:cNvSpPr/>
          <p:nvPr/>
        </p:nvSpPr>
        <p:spPr>
          <a:xfrm>
            <a:off x="2748037" y="292009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855159" y="294865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543449" y="296088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595954" y="296963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803257" y="290225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482193" y="297344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731742" y="293561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732647" y="290409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700360" y="297598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804464" y="294439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2400720" y="295708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2596859" y="293589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2748942" y="295335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781229" y="288719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2420938" y="295781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2550691" y="290363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2605006" y="291197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2537716" y="29222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545561" y="291216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613757" y="292514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448699" y="291818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410678" y="292841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478874" y="294018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2524438" y="295234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2525645" y="296592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2691911" y="294201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2469821" y="296443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2701567" y="289608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2767651" y="296543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2458053" y="293081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2437836" y="289988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2656908" y="295798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2661132" y="298238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2557631" y="289490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2490340" y="292459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2502712" y="296436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2371450" y="290598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2432706" y="296280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2460769" y="290318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2657511" y="298221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2615869" y="294777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2934821" y="294286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2626732" y="295995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752865" y="292051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905853" y="293341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394685" y="292474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408867" y="293014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2980687" y="297553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2808387" y="297318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2697946" y="295871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2611645" y="295797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2633371" y="296393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2288770" y="290004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2391064" y="295975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2286054" y="29287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2700662" y="293217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2737475" y="292908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2751959" y="293349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2645139" y="289831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2252258" y="289355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2323472" y="294437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2406755" y="295307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2357268" y="290672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2719370" y="292419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2782135" y="292360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2696135" y="294911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3080266" y="291262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3020820" y="296822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782738" y="289767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688290" y="289721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83825" y="298097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2547070" y="294626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2668072" y="296718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2796921" y="290120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2779721" y="297711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2826794" y="298299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2893783" y="296163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659020" y="298091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2354552" y="291661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2564270" y="294867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2563968" y="298462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2944779" y="293293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2410980" y="296961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2642122" y="290237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433913" y="289965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2698851" y="297465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2634880" y="291734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2538923" y="297951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2537716" y="296019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2881109" y="291894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2867832" y="293718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694928" y="290858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694928" y="295145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705490" y="291646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904948" y="295284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2756486" y="289514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2507842" y="295288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515989" y="29717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2842183" y="293327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2607118" y="292915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2734458" y="290153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2859685" y="298060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2470123" y="289216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2618585" y="288502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2633673" y="294590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2759202" y="294270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2840976" y="292250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2637595" y="290305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2288468" y="297043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2767349" y="290654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3149669" y="289132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2735665" y="291643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2482797" y="290556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2967410" y="290403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2722086" y="312496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493358" y="3087351"/>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963789" y="311523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375675" y="3105188"/>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648459" y="314054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2621603" y="313758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2537716" y="312301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2571512" y="312401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2491547" y="315267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4800600" y="2866644"/>
            <a:ext cx="1005840" cy="429768"/>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00407A"/>
                </a:solidFill>
                <a:latin typeface="Arial"/>
              </a:rPr>
              <a:t>1 of 123</a:t>
            </a:r>
          </a:p>
          <a:p>
            <a:pPr algn="l">
              <a:lnSpc>
                <a:spcPct val="109000"/>
              </a:lnSpc>
              <a:spcBef>
                <a:spcPts val="0"/>
              </a:spcBef>
              <a:spcAft>
                <a:spcPts val="0"/>
              </a:spcAft>
            </a:pPr>
            <a:r>
              <a:rPr sz="1250" b="0">
                <a:solidFill>
                  <a:srgbClr val="00407A"/>
                </a:solidFill>
                <a:latin typeface="Arial"/>
              </a:rPr>
              <a:t>are “yes”</a:t>
            </a:r>
          </a:p>
        </p:txBody>
      </p:sp>
      <p:sp>
        <p:nvSpPr>
          <p:cNvPr id="140" name="TextBox 139"/>
          <p:cNvSpPr txBox="1"/>
          <p:nvPr/>
        </p:nvSpPr>
        <p:spPr>
          <a:xfrm>
            <a:off x="996696" y="3424427"/>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4B</a:t>
            </a:r>
          </a:p>
        </p:txBody>
      </p:sp>
      <p:sp>
        <p:nvSpPr>
          <p:cNvPr id="141" name="Oval 140"/>
          <p:cNvSpPr/>
          <p:nvPr/>
        </p:nvSpPr>
        <p:spPr>
          <a:xfrm>
            <a:off x="4453237" y="342301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333442" y="345157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455651" y="346380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3417624" y="347255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4213043" y="340517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4361505" y="347636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4337666" y="343853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4430908" y="340701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4200973" y="347890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Oval 149"/>
          <p:cNvSpPr/>
          <p:nvPr/>
        </p:nvSpPr>
        <p:spPr>
          <a:xfrm>
            <a:off x="4390775" y="344731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Oval 150"/>
          <p:cNvSpPr/>
          <p:nvPr/>
        </p:nvSpPr>
        <p:spPr>
          <a:xfrm>
            <a:off x="4221492" y="346000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Oval 151"/>
          <p:cNvSpPr/>
          <p:nvPr/>
        </p:nvSpPr>
        <p:spPr>
          <a:xfrm>
            <a:off x="4275505" y="343881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Oval 152"/>
          <p:cNvSpPr/>
          <p:nvPr/>
        </p:nvSpPr>
        <p:spPr>
          <a:xfrm>
            <a:off x="3956252" y="345627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Oval 153"/>
          <p:cNvSpPr/>
          <p:nvPr/>
        </p:nvSpPr>
        <p:spPr>
          <a:xfrm>
            <a:off x="4291800" y="339011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Oval 154"/>
          <p:cNvSpPr/>
          <p:nvPr/>
        </p:nvSpPr>
        <p:spPr>
          <a:xfrm>
            <a:off x="4324087" y="346073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Oval 155"/>
          <p:cNvSpPr/>
          <p:nvPr/>
        </p:nvSpPr>
        <p:spPr>
          <a:xfrm>
            <a:off x="4076952" y="340655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Oval 156"/>
          <p:cNvSpPr/>
          <p:nvPr/>
        </p:nvSpPr>
        <p:spPr>
          <a:xfrm>
            <a:off x="3936638" y="341489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Oval 157"/>
          <p:cNvSpPr/>
          <p:nvPr/>
        </p:nvSpPr>
        <p:spPr>
          <a:xfrm>
            <a:off x="4261625" y="342514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Oval 158"/>
          <p:cNvSpPr/>
          <p:nvPr/>
        </p:nvSpPr>
        <p:spPr>
          <a:xfrm>
            <a:off x="4176229" y="341508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Oval 159"/>
          <p:cNvSpPr/>
          <p:nvPr/>
        </p:nvSpPr>
        <p:spPr>
          <a:xfrm>
            <a:off x="4188299" y="342806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3956252" y="342110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Oval 161"/>
          <p:cNvSpPr/>
          <p:nvPr/>
        </p:nvSpPr>
        <p:spPr>
          <a:xfrm>
            <a:off x="4174117" y="343133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Oval 162"/>
          <p:cNvSpPr/>
          <p:nvPr/>
        </p:nvSpPr>
        <p:spPr>
          <a:xfrm>
            <a:off x="4248951" y="344310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Oval 163"/>
          <p:cNvSpPr/>
          <p:nvPr/>
        </p:nvSpPr>
        <p:spPr>
          <a:xfrm>
            <a:off x="4387154" y="345526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Oval 164"/>
          <p:cNvSpPr/>
          <p:nvPr/>
        </p:nvSpPr>
        <p:spPr>
          <a:xfrm>
            <a:off x="4187997" y="346884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Oval 165"/>
          <p:cNvSpPr/>
          <p:nvPr/>
        </p:nvSpPr>
        <p:spPr>
          <a:xfrm>
            <a:off x="4068202" y="344493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Oval 166"/>
          <p:cNvSpPr/>
          <p:nvPr/>
        </p:nvSpPr>
        <p:spPr>
          <a:xfrm>
            <a:off x="4078461" y="346735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Oval 167"/>
          <p:cNvSpPr/>
          <p:nvPr/>
        </p:nvSpPr>
        <p:spPr>
          <a:xfrm>
            <a:off x="4013283" y="339900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Oval 168"/>
          <p:cNvSpPr/>
          <p:nvPr/>
        </p:nvSpPr>
        <p:spPr>
          <a:xfrm>
            <a:off x="4163254" y="346835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Oval 169"/>
          <p:cNvSpPr/>
          <p:nvPr/>
        </p:nvSpPr>
        <p:spPr>
          <a:xfrm>
            <a:off x="4252874" y="343373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Oval 170"/>
          <p:cNvSpPr/>
          <p:nvPr/>
        </p:nvSpPr>
        <p:spPr>
          <a:xfrm>
            <a:off x="4203688" y="340280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Oval 171"/>
          <p:cNvSpPr/>
          <p:nvPr/>
        </p:nvSpPr>
        <p:spPr>
          <a:xfrm>
            <a:off x="4414915" y="346090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Oval 172"/>
          <p:cNvSpPr/>
          <p:nvPr/>
        </p:nvSpPr>
        <p:spPr>
          <a:xfrm>
            <a:off x="4084496" y="348530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Oval 173"/>
          <p:cNvSpPr/>
          <p:nvPr/>
        </p:nvSpPr>
        <p:spPr>
          <a:xfrm>
            <a:off x="4037121" y="339782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Oval 174"/>
          <p:cNvSpPr/>
          <p:nvPr/>
        </p:nvSpPr>
        <p:spPr>
          <a:xfrm>
            <a:off x="4070314" y="342751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Oval 175"/>
          <p:cNvSpPr/>
          <p:nvPr/>
        </p:nvSpPr>
        <p:spPr>
          <a:xfrm>
            <a:off x="4233562" y="346728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Oval 176"/>
          <p:cNvSpPr/>
          <p:nvPr/>
        </p:nvSpPr>
        <p:spPr>
          <a:xfrm>
            <a:off x="4179850" y="340890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Oval 177"/>
          <p:cNvSpPr/>
          <p:nvPr/>
        </p:nvSpPr>
        <p:spPr>
          <a:xfrm>
            <a:off x="4159633" y="346572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Oval 178"/>
          <p:cNvSpPr/>
          <p:nvPr/>
        </p:nvSpPr>
        <p:spPr>
          <a:xfrm>
            <a:off x="4050398" y="340610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Oval 179"/>
          <p:cNvSpPr/>
          <p:nvPr/>
        </p:nvSpPr>
        <p:spPr>
          <a:xfrm>
            <a:off x="4101093" y="348513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Oval 180"/>
          <p:cNvSpPr/>
          <p:nvPr/>
        </p:nvSpPr>
        <p:spPr>
          <a:xfrm>
            <a:off x="4234769" y="345069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Oval 181"/>
          <p:cNvSpPr/>
          <p:nvPr/>
        </p:nvSpPr>
        <p:spPr>
          <a:xfrm>
            <a:off x="4397413" y="344578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Oval 182"/>
          <p:cNvSpPr/>
          <p:nvPr/>
        </p:nvSpPr>
        <p:spPr>
          <a:xfrm>
            <a:off x="4232053" y="346287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Oval 183"/>
          <p:cNvSpPr/>
          <p:nvPr/>
        </p:nvSpPr>
        <p:spPr>
          <a:xfrm>
            <a:off x="4067900" y="342343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Oval 184"/>
          <p:cNvSpPr/>
          <p:nvPr/>
        </p:nvSpPr>
        <p:spPr>
          <a:xfrm>
            <a:off x="4111352" y="343633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Oval 185"/>
          <p:cNvSpPr/>
          <p:nvPr/>
        </p:nvSpPr>
        <p:spPr>
          <a:xfrm>
            <a:off x="4270677" y="342766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Oval 186"/>
          <p:cNvSpPr/>
          <p:nvPr/>
        </p:nvSpPr>
        <p:spPr>
          <a:xfrm>
            <a:off x="4271884" y="343306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Oval 187"/>
          <p:cNvSpPr/>
          <p:nvPr/>
        </p:nvSpPr>
        <p:spPr>
          <a:xfrm>
            <a:off x="4220285" y="347845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Oval 188"/>
          <p:cNvSpPr/>
          <p:nvPr/>
        </p:nvSpPr>
        <p:spPr>
          <a:xfrm>
            <a:off x="4323484" y="347610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Oval 189"/>
          <p:cNvSpPr/>
          <p:nvPr/>
        </p:nvSpPr>
        <p:spPr>
          <a:xfrm>
            <a:off x="4418536" y="346163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Oval 190"/>
          <p:cNvSpPr/>
          <p:nvPr/>
        </p:nvSpPr>
        <p:spPr>
          <a:xfrm>
            <a:off x="4114973" y="346089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Oval 191"/>
          <p:cNvSpPr/>
          <p:nvPr/>
        </p:nvSpPr>
        <p:spPr>
          <a:xfrm>
            <a:off x="4390171" y="346685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Oval 192"/>
          <p:cNvSpPr/>
          <p:nvPr/>
        </p:nvSpPr>
        <p:spPr>
          <a:xfrm>
            <a:off x="4389266" y="340296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Oval 193"/>
          <p:cNvSpPr/>
          <p:nvPr/>
        </p:nvSpPr>
        <p:spPr>
          <a:xfrm>
            <a:off x="4274298" y="346267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Oval 194"/>
          <p:cNvSpPr/>
          <p:nvPr/>
        </p:nvSpPr>
        <p:spPr>
          <a:xfrm>
            <a:off x="4235372" y="343164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Oval 195"/>
          <p:cNvSpPr/>
          <p:nvPr/>
        </p:nvSpPr>
        <p:spPr>
          <a:xfrm>
            <a:off x="4426985" y="343509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Oval 196"/>
          <p:cNvSpPr/>
          <p:nvPr/>
        </p:nvSpPr>
        <p:spPr>
          <a:xfrm>
            <a:off x="4479490" y="343200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Oval 197"/>
          <p:cNvSpPr/>
          <p:nvPr/>
        </p:nvSpPr>
        <p:spPr>
          <a:xfrm>
            <a:off x="4442374" y="343641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Oval 198"/>
          <p:cNvSpPr/>
          <p:nvPr/>
        </p:nvSpPr>
        <p:spPr>
          <a:xfrm>
            <a:off x="4388059" y="340123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Oval 199"/>
          <p:cNvSpPr/>
          <p:nvPr/>
        </p:nvSpPr>
        <p:spPr>
          <a:xfrm>
            <a:off x="4367841" y="339647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Oval 200"/>
          <p:cNvSpPr/>
          <p:nvPr/>
        </p:nvSpPr>
        <p:spPr>
          <a:xfrm>
            <a:off x="4440865" y="344729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Oval 201"/>
          <p:cNvSpPr/>
          <p:nvPr/>
        </p:nvSpPr>
        <p:spPr>
          <a:xfrm>
            <a:off x="4355771" y="345599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Oval 202"/>
          <p:cNvSpPr/>
          <p:nvPr/>
        </p:nvSpPr>
        <p:spPr>
          <a:xfrm>
            <a:off x="4329821" y="340964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Oval 203"/>
          <p:cNvSpPr/>
          <p:nvPr/>
        </p:nvSpPr>
        <p:spPr>
          <a:xfrm>
            <a:off x="4446900" y="342711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Oval 204"/>
          <p:cNvSpPr/>
          <p:nvPr/>
        </p:nvSpPr>
        <p:spPr>
          <a:xfrm>
            <a:off x="4428192" y="342652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Oval 205"/>
          <p:cNvSpPr/>
          <p:nvPr/>
        </p:nvSpPr>
        <p:spPr>
          <a:xfrm>
            <a:off x="4332536" y="345203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Oval 206"/>
          <p:cNvSpPr/>
          <p:nvPr/>
        </p:nvSpPr>
        <p:spPr>
          <a:xfrm>
            <a:off x="4430606" y="341554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Oval 207"/>
          <p:cNvSpPr/>
          <p:nvPr/>
        </p:nvSpPr>
        <p:spPr>
          <a:xfrm>
            <a:off x="4397413" y="347114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Oval 208"/>
          <p:cNvSpPr/>
          <p:nvPr/>
        </p:nvSpPr>
        <p:spPr>
          <a:xfrm>
            <a:off x="4426985" y="340059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Oval 209"/>
          <p:cNvSpPr/>
          <p:nvPr/>
        </p:nvSpPr>
        <p:spPr>
          <a:xfrm>
            <a:off x="4369350" y="340013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Oval 210"/>
          <p:cNvSpPr/>
          <p:nvPr/>
        </p:nvSpPr>
        <p:spPr>
          <a:xfrm>
            <a:off x="4369954" y="348389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Oval 211"/>
          <p:cNvSpPr/>
          <p:nvPr/>
        </p:nvSpPr>
        <p:spPr>
          <a:xfrm>
            <a:off x="4356978" y="344918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Oval 212"/>
          <p:cNvSpPr/>
          <p:nvPr/>
        </p:nvSpPr>
        <p:spPr>
          <a:xfrm>
            <a:off x="4392585" y="347010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Oval 213"/>
          <p:cNvSpPr/>
          <p:nvPr/>
        </p:nvSpPr>
        <p:spPr>
          <a:xfrm>
            <a:off x="4418838" y="340412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Oval 214"/>
          <p:cNvSpPr/>
          <p:nvPr/>
        </p:nvSpPr>
        <p:spPr>
          <a:xfrm>
            <a:off x="4453841" y="348003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Oval 215"/>
          <p:cNvSpPr/>
          <p:nvPr/>
        </p:nvSpPr>
        <p:spPr>
          <a:xfrm>
            <a:off x="4207611" y="348591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Oval 216"/>
          <p:cNvSpPr/>
          <p:nvPr/>
        </p:nvSpPr>
        <p:spPr>
          <a:xfrm>
            <a:off x="4324389" y="346455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Oval 217"/>
          <p:cNvSpPr/>
          <p:nvPr/>
        </p:nvSpPr>
        <p:spPr>
          <a:xfrm>
            <a:off x="4459574" y="348383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Oval 218"/>
          <p:cNvSpPr/>
          <p:nvPr/>
        </p:nvSpPr>
        <p:spPr>
          <a:xfrm>
            <a:off x="4219681" y="341953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Oval 219"/>
          <p:cNvSpPr/>
          <p:nvPr/>
        </p:nvSpPr>
        <p:spPr>
          <a:xfrm>
            <a:off x="4230846" y="345159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Oval 220"/>
          <p:cNvSpPr/>
          <p:nvPr/>
        </p:nvSpPr>
        <p:spPr>
          <a:xfrm>
            <a:off x="4084195" y="348754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Oval 221"/>
          <p:cNvSpPr/>
          <p:nvPr/>
        </p:nvSpPr>
        <p:spPr>
          <a:xfrm>
            <a:off x="4006946" y="343585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Oval 222"/>
          <p:cNvSpPr/>
          <p:nvPr/>
        </p:nvSpPr>
        <p:spPr>
          <a:xfrm>
            <a:off x="4136699" y="347253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Oval 223"/>
          <p:cNvSpPr/>
          <p:nvPr/>
        </p:nvSpPr>
        <p:spPr>
          <a:xfrm>
            <a:off x="4224207" y="340529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Oval 224"/>
          <p:cNvSpPr/>
          <p:nvPr/>
        </p:nvSpPr>
        <p:spPr>
          <a:xfrm>
            <a:off x="4157520" y="340257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Oval 225"/>
          <p:cNvSpPr/>
          <p:nvPr/>
        </p:nvSpPr>
        <p:spPr>
          <a:xfrm>
            <a:off x="3949915" y="347757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Oval 226"/>
          <p:cNvSpPr/>
          <p:nvPr/>
        </p:nvSpPr>
        <p:spPr>
          <a:xfrm>
            <a:off x="4197653" y="342026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Oval 227"/>
          <p:cNvSpPr/>
          <p:nvPr/>
        </p:nvSpPr>
        <p:spPr>
          <a:xfrm>
            <a:off x="4059753" y="348243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Oval 228"/>
          <p:cNvSpPr/>
          <p:nvPr/>
        </p:nvSpPr>
        <p:spPr>
          <a:xfrm>
            <a:off x="4060960" y="346311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Oval 229"/>
          <p:cNvSpPr/>
          <p:nvPr/>
        </p:nvSpPr>
        <p:spPr>
          <a:xfrm>
            <a:off x="4280333" y="342186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Oval 230"/>
          <p:cNvSpPr/>
          <p:nvPr/>
        </p:nvSpPr>
        <p:spPr>
          <a:xfrm>
            <a:off x="3608633" y="344010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Oval 231"/>
          <p:cNvSpPr/>
          <p:nvPr/>
        </p:nvSpPr>
        <p:spPr>
          <a:xfrm>
            <a:off x="2533189" y="341150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Oval 232"/>
          <p:cNvSpPr/>
          <p:nvPr/>
        </p:nvSpPr>
        <p:spPr>
          <a:xfrm>
            <a:off x="4319259" y="345437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Oval 233"/>
          <p:cNvSpPr/>
          <p:nvPr/>
        </p:nvSpPr>
        <p:spPr>
          <a:xfrm>
            <a:off x="4294817" y="341938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Oval 234"/>
          <p:cNvSpPr/>
          <p:nvPr/>
        </p:nvSpPr>
        <p:spPr>
          <a:xfrm>
            <a:off x="4092040" y="345576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Oval 235"/>
          <p:cNvSpPr/>
          <p:nvPr/>
        </p:nvSpPr>
        <p:spPr>
          <a:xfrm>
            <a:off x="3564879" y="339806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Oval 236"/>
          <p:cNvSpPr/>
          <p:nvPr/>
        </p:nvSpPr>
        <p:spPr>
          <a:xfrm>
            <a:off x="4130966" y="345580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Oval 237"/>
          <p:cNvSpPr/>
          <p:nvPr/>
        </p:nvSpPr>
        <p:spPr>
          <a:xfrm>
            <a:off x="4313828" y="347464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Oval 238"/>
          <p:cNvSpPr/>
          <p:nvPr/>
        </p:nvSpPr>
        <p:spPr>
          <a:xfrm>
            <a:off x="4339477" y="343619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Oval 239"/>
          <p:cNvSpPr/>
          <p:nvPr/>
        </p:nvSpPr>
        <p:spPr>
          <a:xfrm>
            <a:off x="4294214" y="343207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Oval 240"/>
          <p:cNvSpPr/>
          <p:nvPr/>
        </p:nvSpPr>
        <p:spPr>
          <a:xfrm>
            <a:off x="4443581" y="340445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Oval 241"/>
          <p:cNvSpPr/>
          <p:nvPr/>
        </p:nvSpPr>
        <p:spPr>
          <a:xfrm>
            <a:off x="4508156" y="348352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Oval 242"/>
          <p:cNvSpPr/>
          <p:nvPr/>
        </p:nvSpPr>
        <p:spPr>
          <a:xfrm>
            <a:off x="4356677" y="339508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Oval 243"/>
          <p:cNvSpPr/>
          <p:nvPr/>
        </p:nvSpPr>
        <p:spPr>
          <a:xfrm>
            <a:off x="4455953" y="338794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Oval 244"/>
          <p:cNvSpPr/>
          <p:nvPr/>
        </p:nvSpPr>
        <p:spPr>
          <a:xfrm>
            <a:off x="4497595" y="344882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Oval 245"/>
          <p:cNvSpPr/>
          <p:nvPr/>
        </p:nvSpPr>
        <p:spPr>
          <a:xfrm>
            <a:off x="4280635" y="344562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Oval 246"/>
          <p:cNvSpPr/>
          <p:nvPr/>
        </p:nvSpPr>
        <p:spPr>
          <a:xfrm>
            <a:off x="4368143" y="342542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Oval 247"/>
          <p:cNvSpPr/>
          <p:nvPr/>
        </p:nvSpPr>
        <p:spPr>
          <a:xfrm>
            <a:off x="4442676" y="340597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Oval 248"/>
          <p:cNvSpPr/>
          <p:nvPr/>
        </p:nvSpPr>
        <p:spPr>
          <a:xfrm>
            <a:off x="3723601" y="347335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Oval 249"/>
          <p:cNvSpPr/>
          <p:nvPr/>
        </p:nvSpPr>
        <p:spPr>
          <a:xfrm>
            <a:off x="4364220" y="340946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Oval 250"/>
          <p:cNvSpPr/>
          <p:nvPr/>
        </p:nvSpPr>
        <p:spPr>
          <a:xfrm>
            <a:off x="4434227" y="339424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Oval 251"/>
          <p:cNvSpPr/>
          <p:nvPr/>
        </p:nvSpPr>
        <p:spPr>
          <a:xfrm>
            <a:off x="4340382" y="341935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Oval 252"/>
          <p:cNvSpPr/>
          <p:nvPr/>
        </p:nvSpPr>
        <p:spPr>
          <a:xfrm>
            <a:off x="4294214" y="340848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Oval 253"/>
          <p:cNvSpPr/>
          <p:nvPr/>
        </p:nvSpPr>
        <p:spPr>
          <a:xfrm>
            <a:off x="4356677" y="340695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Oval 254"/>
          <p:cNvSpPr/>
          <p:nvPr/>
        </p:nvSpPr>
        <p:spPr>
          <a:xfrm>
            <a:off x="4150882" y="362788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Oval 255"/>
          <p:cNvSpPr/>
          <p:nvPr/>
        </p:nvSpPr>
        <p:spPr>
          <a:xfrm>
            <a:off x="3797832" y="3590271"/>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Oval 256"/>
          <p:cNvSpPr/>
          <p:nvPr/>
        </p:nvSpPr>
        <p:spPr>
          <a:xfrm>
            <a:off x="2136385" y="361815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Oval 257"/>
          <p:cNvSpPr/>
          <p:nvPr/>
        </p:nvSpPr>
        <p:spPr>
          <a:xfrm>
            <a:off x="4261021" y="3608108"/>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Oval 258"/>
          <p:cNvSpPr/>
          <p:nvPr/>
        </p:nvSpPr>
        <p:spPr>
          <a:xfrm>
            <a:off x="2904344" y="364346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Oval 259"/>
          <p:cNvSpPr/>
          <p:nvPr/>
        </p:nvSpPr>
        <p:spPr>
          <a:xfrm>
            <a:off x="3890168" y="364050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Oval 260"/>
          <p:cNvSpPr/>
          <p:nvPr/>
        </p:nvSpPr>
        <p:spPr>
          <a:xfrm>
            <a:off x="1889250" y="362593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Oval 261"/>
          <p:cNvSpPr/>
          <p:nvPr/>
        </p:nvSpPr>
        <p:spPr>
          <a:xfrm>
            <a:off x="4206404" y="362693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Oval 262"/>
          <p:cNvSpPr/>
          <p:nvPr/>
        </p:nvSpPr>
        <p:spPr>
          <a:xfrm>
            <a:off x="3753776" y="365559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TextBox 263"/>
          <p:cNvSpPr txBox="1"/>
          <p:nvPr/>
        </p:nvSpPr>
        <p:spPr>
          <a:xfrm>
            <a:off x="4800600" y="3369563"/>
            <a:ext cx="1005840" cy="429768"/>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00407A"/>
                </a:solidFill>
                <a:latin typeface="Arial"/>
              </a:rPr>
              <a:t>119 of 123</a:t>
            </a:r>
          </a:p>
          <a:p>
            <a:pPr algn="l">
              <a:lnSpc>
                <a:spcPct val="109000"/>
              </a:lnSpc>
              <a:spcBef>
                <a:spcPts val="0"/>
              </a:spcBef>
              <a:spcAft>
                <a:spcPts val="0"/>
              </a:spcAft>
            </a:pPr>
            <a:r>
              <a:rPr sz="1250" b="0">
                <a:solidFill>
                  <a:srgbClr val="00407A"/>
                </a:solidFill>
                <a:latin typeface="Arial"/>
              </a:rPr>
              <a:t>are “yes”</a:t>
            </a:r>
          </a:p>
        </p:txBody>
      </p:sp>
      <p:sp>
        <p:nvSpPr>
          <p:cNvPr id="265" name="TextBox 264"/>
          <p:cNvSpPr txBox="1"/>
          <p:nvPr/>
        </p:nvSpPr>
        <p:spPr>
          <a:xfrm>
            <a:off x="996696" y="3927348"/>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9B</a:t>
            </a:r>
          </a:p>
        </p:txBody>
      </p:sp>
      <p:sp>
        <p:nvSpPr>
          <p:cNvPr id="266" name="Oval 265"/>
          <p:cNvSpPr/>
          <p:nvPr/>
        </p:nvSpPr>
        <p:spPr>
          <a:xfrm>
            <a:off x="4439357" y="392593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Oval 266"/>
          <p:cNvSpPr/>
          <p:nvPr/>
        </p:nvSpPr>
        <p:spPr>
          <a:xfrm>
            <a:off x="4350038" y="395449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Oval 267"/>
          <p:cNvSpPr/>
          <p:nvPr/>
        </p:nvSpPr>
        <p:spPr>
          <a:xfrm>
            <a:off x="4441469" y="396672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Oval 268"/>
          <p:cNvSpPr/>
          <p:nvPr/>
        </p:nvSpPr>
        <p:spPr>
          <a:xfrm>
            <a:off x="4025051" y="397547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Oval 269"/>
          <p:cNvSpPr/>
          <p:nvPr/>
        </p:nvSpPr>
        <p:spPr>
          <a:xfrm>
            <a:off x="4219681" y="390809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Oval 270"/>
          <p:cNvSpPr/>
          <p:nvPr/>
        </p:nvSpPr>
        <p:spPr>
          <a:xfrm>
            <a:off x="4470135" y="397928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Oval 271"/>
          <p:cNvSpPr/>
          <p:nvPr/>
        </p:nvSpPr>
        <p:spPr>
          <a:xfrm>
            <a:off x="4311414" y="394145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Oval 272"/>
          <p:cNvSpPr/>
          <p:nvPr/>
        </p:nvSpPr>
        <p:spPr>
          <a:xfrm>
            <a:off x="4426683" y="390993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Oval 273"/>
          <p:cNvSpPr/>
          <p:nvPr/>
        </p:nvSpPr>
        <p:spPr>
          <a:xfrm>
            <a:off x="3872666" y="398182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Oval 274"/>
          <p:cNvSpPr/>
          <p:nvPr/>
        </p:nvSpPr>
        <p:spPr>
          <a:xfrm>
            <a:off x="4320768" y="395023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Oval 275"/>
          <p:cNvSpPr/>
          <p:nvPr/>
        </p:nvSpPr>
        <p:spPr>
          <a:xfrm>
            <a:off x="4256495" y="396292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Oval 276"/>
          <p:cNvSpPr/>
          <p:nvPr/>
        </p:nvSpPr>
        <p:spPr>
          <a:xfrm>
            <a:off x="4352150" y="394173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Oval 277"/>
          <p:cNvSpPr/>
          <p:nvPr/>
        </p:nvSpPr>
        <p:spPr>
          <a:xfrm>
            <a:off x="4314431" y="395919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Oval 278"/>
          <p:cNvSpPr/>
          <p:nvPr/>
        </p:nvSpPr>
        <p:spPr>
          <a:xfrm>
            <a:off x="4285765" y="389303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Oval 279"/>
          <p:cNvSpPr/>
          <p:nvPr/>
        </p:nvSpPr>
        <p:spPr>
          <a:xfrm>
            <a:off x="4337968" y="396365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Oval 280"/>
          <p:cNvSpPr/>
          <p:nvPr/>
        </p:nvSpPr>
        <p:spPr>
          <a:xfrm>
            <a:off x="4164461" y="390947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Oval 281"/>
          <p:cNvSpPr/>
          <p:nvPr/>
        </p:nvSpPr>
        <p:spPr>
          <a:xfrm>
            <a:off x="4125233" y="391781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Oval 282"/>
          <p:cNvSpPr/>
          <p:nvPr/>
        </p:nvSpPr>
        <p:spPr>
          <a:xfrm>
            <a:off x="4047381" y="392806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Oval 283"/>
          <p:cNvSpPr/>
          <p:nvPr/>
        </p:nvSpPr>
        <p:spPr>
          <a:xfrm>
            <a:off x="4152390" y="391800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Oval 284"/>
          <p:cNvSpPr/>
          <p:nvPr/>
        </p:nvSpPr>
        <p:spPr>
          <a:xfrm>
            <a:off x="4345814" y="393098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Oval 285"/>
          <p:cNvSpPr/>
          <p:nvPr/>
        </p:nvSpPr>
        <p:spPr>
          <a:xfrm>
            <a:off x="4163254" y="392402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Oval 286"/>
          <p:cNvSpPr/>
          <p:nvPr/>
        </p:nvSpPr>
        <p:spPr>
          <a:xfrm>
            <a:off x="4314733" y="393425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Oval 287"/>
          <p:cNvSpPr/>
          <p:nvPr/>
        </p:nvSpPr>
        <p:spPr>
          <a:xfrm>
            <a:off x="4355470" y="394602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Oval 288"/>
          <p:cNvSpPr/>
          <p:nvPr/>
        </p:nvSpPr>
        <p:spPr>
          <a:xfrm>
            <a:off x="4211232" y="395818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Oval 289"/>
          <p:cNvSpPr/>
          <p:nvPr/>
        </p:nvSpPr>
        <p:spPr>
          <a:xfrm>
            <a:off x="4065486" y="397176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Oval 290"/>
          <p:cNvSpPr/>
          <p:nvPr/>
        </p:nvSpPr>
        <p:spPr>
          <a:xfrm>
            <a:off x="4144847" y="394785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Oval 291"/>
          <p:cNvSpPr/>
          <p:nvPr/>
        </p:nvSpPr>
        <p:spPr>
          <a:xfrm>
            <a:off x="4342192" y="397027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Oval 292"/>
          <p:cNvSpPr/>
          <p:nvPr/>
        </p:nvSpPr>
        <p:spPr>
          <a:xfrm>
            <a:off x="3822274" y="390192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Oval 293"/>
          <p:cNvSpPr/>
          <p:nvPr/>
        </p:nvSpPr>
        <p:spPr>
          <a:xfrm>
            <a:off x="4245028" y="397127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Oval 294"/>
          <p:cNvSpPr/>
          <p:nvPr/>
        </p:nvSpPr>
        <p:spPr>
          <a:xfrm>
            <a:off x="4276712" y="393665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Oval 295"/>
          <p:cNvSpPr/>
          <p:nvPr/>
        </p:nvSpPr>
        <p:spPr>
          <a:xfrm>
            <a:off x="4272186" y="390572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Oval 296"/>
          <p:cNvSpPr/>
          <p:nvPr/>
        </p:nvSpPr>
        <p:spPr>
          <a:xfrm>
            <a:off x="4413708" y="396382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Oval 297"/>
          <p:cNvSpPr/>
          <p:nvPr/>
        </p:nvSpPr>
        <p:spPr>
          <a:xfrm>
            <a:off x="4172306" y="398822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Oval 298"/>
          <p:cNvSpPr/>
          <p:nvPr/>
        </p:nvSpPr>
        <p:spPr>
          <a:xfrm>
            <a:off x="4178945" y="390074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Oval 299"/>
          <p:cNvSpPr/>
          <p:nvPr/>
        </p:nvSpPr>
        <p:spPr>
          <a:xfrm>
            <a:off x="4335554" y="393043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Oval 300"/>
          <p:cNvSpPr/>
          <p:nvPr/>
        </p:nvSpPr>
        <p:spPr>
          <a:xfrm>
            <a:off x="4063977" y="397020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Oval 301"/>
          <p:cNvSpPr/>
          <p:nvPr/>
        </p:nvSpPr>
        <p:spPr>
          <a:xfrm>
            <a:off x="4172608" y="391182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Oval 302"/>
          <p:cNvSpPr/>
          <p:nvPr/>
        </p:nvSpPr>
        <p:spPr>
          <a:xfrm>
            <a:off x="4252572" y="396864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Oval 303"/>
          <p:cNvSpPr/>
          <p:nvPr/>
        </p:nvSpPr>
        <p:spPr>
          <a:xfrm>
            <a:off x="4256193" y="39090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Oval 304"/>
          <p:cNvSpPr/>
          <p:nvPr/>
        </p:nvSpPr>
        <p:spPr>
          <a:xfrm>
            <a:off x="4187394" y="398805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Oval 305"/>
          <p:cNvSpPr/>
          <p:nvPr/>
        </p:nvSpPr>
        <p:spPr>
          <a:xfrm>
            <a:off x="4252874" y="395361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Oval 306"/>
          <p:cNvSpPr/>
          <p:nvPr/>
        </p:nvSpPr>
        <p:spPr>
          <a:xfrm>
            <a:off x="4455953" y="394870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Oval 307"/>
          <p:cNvSpPr/>
          <p:nvPr/>
        </p:nvSpPr>
        <p:spPr>
          <a:xfrm>
            <a:off x="4340382" y="396579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Oval 308"/>
          <p:cNvSpPr/>
          <p:nvPr/>
        </p:nvSpPr>
        <p:spPr>
          <a:xfrm>
            <a:off x="4302059" y="392635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Oval 309"/>
          <p:cNvSpPr/>
          <p:nvPr/>
        </p:nvSpPr>
        <p:spPr>
          <a:xfrm>
            <a:off x="4293610" y="393925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Oval 310"/>
          <p:cNvSpPr/>
          <p:nvPr/>
        </p:nvSpPr>
        <p:spPr>
          <a:xfrm>
            <a:off x="4312923" y="393058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Oval 311"/>
          <p:cNvSpPr/>
          <p:nvPr/>
        </p:nvSpPr>
        <p:spPr>
          <a:xfrm>
            <a:off x="4224509" y="393598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Oval 312"/>
          <p:cNvSpPr/>
          <p:nvPr/>
        </p:nvSpPr>
        <p:spPr>
          <a:xfrm>
            <a:off x="3975866" y="398137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Oval 313"/>
          <p:cNvSpPr/>
          <p:nvPr/>
        </p:nvSpPr>
        <p:spPr>
          <a:xfrm>
            <a:off x="4319561" y="397902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Oval 314"/>
          <p:cNvSpPr/>
          <p:nvPr/>
        </p:nvSpPr>
        <p:spPr>
          <a:xfrm>
            <a:off x="4412199" y="396455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Oval 315"/>
          <p:cNvSpPr/>
          <p:nvPr/>
        </p:nvSpPr>
        <p:spPr>
          <a:xfrm>
            <a:off x="3749853" y="396381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Oval 316"/>
          <p:cNvSpPr/>
          <p:nvPr/>
        </p:nvSpPr>
        <p:spPr>
          <a:xfrm>
            <a:off x="4270074" y="396977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Oval 317"/>
          <p:cNvSpPr/>
          <p:nvPr/>
        </p:nvSpPr>
        <p:spPr>
          <a:xfrm>
            <a:off x="4350642" y="390588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Oval 318"/>
          <p:cNvSpPr/>
          <p:nvPr/>
        </p:nvSpPr>
        <p:spPr>
          <a:xfrm>
            <a:off x="4258909" y="396559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Oval 319"/>
          <p:cNvSpPr/>
          <p:nvPr/>
        </p:nvSpPr>
        <p:spPr>
          <a:xfrm>
            <a:off x="3944182" y="393456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Oval 320"/>
          <p:cNvSpPr/>
          <p:nvPr/>
        </p:nvSpPr>
        <p:spPr>
          <a:xfrm>
            <a:off x="4417932" y="393801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Oval 321"/>
          <p:cNvSpPr/>
          <p:nvPr/>
        </p:nvSpPr>
        <p:spPr>
          <a:xfrm>
            <a:off x="4477981" y="393492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Oval 322"/>
          <p:cNvSpPr/>
          <p:nvPr/>
        </p:nvSpPr>
        <p:spPr>
          <a:xfrm>
            <a:off x="4419139" y="393933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Oval 323"/>
          <p:cNvSpPr/>
          <p:nvPr/>
        </p:nvSpPr>
        <p:spPr>
          <a:xfrm>
            <a:off x="4377196" y="390415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Oval 324"/>
          <p:cNvSpPr/>
          <p:nvPr/>
        </p:nvSpPr>
        <p:spPr>
          <a:xfrm>
            <a:off x="4377196" y="389939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Oval 325"/>
          <p:cNvSpPr/>
          <p:nvPr/>
        </p:nvSpPr>
        <p:spPr>
          <a:xfrm>
            <a:off x="4433020" y="395021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Oval 326"/>
          <p:cNvSpPr/>
          <p:nvPr/>
        </p:nvSpPr>
        <p:spPr>
          <a:xfrm>
            <a:off x="4417630" y="395891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Oval 327"/>
          <p:cNvSpPr/>
          <p:nvPr/>
        </p:nvSpPr>
        <p:spPr>
          <a:xfrm>
            <a:off x="4438150" y="391256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Oval 328"/>
          <p:cNvSpPr/>
          <p:nvPr/>
        </p:nvSpPr>
        <p:spPr>
          <a:xfrm>
            <a:off x="4487033" y="393003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Oval 329"/>
          <p:cNvSpPr/>
          <p:nvPr/>
        </p:nvSpPr>
        <p:spPr>
          <a:xfrm>
            <a:off x="4500009" y="392944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Oval 330"/>
          <p:cNvSpPr/>
          <p:nvPr/>
        </p:nvSpPr>
        <p:spPr>
          <a:xfrm>
            <a:off x="4456557" y="395495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4437546" y="391846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Oval 332"/>
          <p:cNvSpPr/>
          <p:nvPr/>
        </p:nvSpPr>
        <p:spPr>
          <a:xfrm>
            <a:off x="4446900" y="397406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Oval 333"/>
          <p:cNvSpPr/>
          <p:nvPr/>
        </p:nvSpPr>
        <p:spPr>
          <a:xfrm>
            <a:off x="4458971" y="390351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Oval 334"/>
          <p:cNvSpPr/>
          <p:nvPr/>
        </p:nvSpPr>
        <p:spPr>
          <a:xfrm>
            <a:off x="4387757" y="390305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Oval 335"/>
          <p:cNvSpPr/>
          <p:nvPr/>
        </p:nvSpPr>
        <p:spPr>
          <a:xfrm>
            <a:off x="4185583" y="398681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Oval 336"/>
          <p:cNvSpPr/>
          <p:nvPr/>
        </p:nvSpPr>
        <p:spPr>
          <a:xfrm>
            <a:off x="4410690" y="395210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Oval 337"/>
          <p:cNvSpPr/>
          <p:nvPr/>
        </p:nvSpPr>
        <p:spPr>
          <a:xfrm>
            <a:off x="4439658" y="397302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4391982" y="390704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Oval 339"/>
          <p:cNvSpPr/>
          <p:nvPr/>
        </p:nvSpPr>
        <p:spPr>
          <a:xfrm>
            <a:off x="4432416" y="398295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Oval 340"/>
          <p:cNvSpPr/>
          <p:nvPr/>
        </p:nvSpPr>
        <p:spPr>
          <a:xfrm>
            <a:off x="4315940" y="398883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Oval 341"/>
          <p:cNvSpPr/>
          <p:nvPr/>
        </p:nvSpPr>
        <p:spPr>
          <a:xfrm>
            <a:off x="4205499" y="396747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Oval 342"/>
          <p:cNvSpPr/>
          <p:nvPr/>
        </p:nvSpPr>
        <p:spPr>
          <a:xfrm>
            <a:off x="4451427" y="398675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Oval 343"/>
          <p:cNvSpPr/>
          <p:nvPr/>
        </p:nvSpPr>
        <p:spPr>
          <a:xfrm>
            <a:off x="4065486" y="392245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Oval 344"/>
          <p:cNvSpPr/>
          <p:nvPr/>
        </p:nvSpPr>
        <p:spPr>
          <a:xfrm>
            <a:off x="3909178" y="395451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4138510" y="399046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Oval 346"/>
          <p:cNvSpPr/>
          <p:nvPr/>
        </p:nvSpPr>
        <p:spPr>
          <a:xfrm>
            <a:off x="4290593" y="393877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Oval 347"/>
          <p:cNvSpPr/>
          <p:nvPr/>
        </p:nvSpPr>
        <p:spPr>
          <a:xfrm>
            <a:off x="4163857" y="397545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Oval 348"/>
          <p:cNvSpPr/>
          <p:nvPr/>
        </p:nvSpPr>
        <p:spPr>
          <a:xfrm>
            <a:off x="4251969" y="390821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Oval 349"/>
          <p:cNvSpPr/>
          <p:nvPr/>
        </p:nvSpPr>
        <p:spPr>
          <a:xfrm>
            <a:off x="4249253" y="390549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Oval 350"/>
          <p:cNvSpPr/>
          <p:nvPr/>
        </p:nvSpPr>
        <p:spPr>
          <a:xfrm>
            <a:off x="4311716" y="398049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Oval 351"/>
          <p:cNvSpPr/>
          <p:nvPr/>
        </p:nvSpPr>
        <p:spPr>
          <a:xfrm>
            <a:off x="4294214" y="392318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4173815" y="398535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Oval 353"/>
          <p:cNvSpPr/>
          <p:nvPr/>
        </p:nvSpPr>
        <p:spPr>
          <a:xfrm>
            <a:off x="4161141" y="396603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Oval 354"/>
          <p:cNvSpPr/>
          <p:nvPr/>
        </p:nvSpPr>
        <p:spPr>
          <a:xfrm>
            <a:off x="3535006" y="392478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Oval 355"/>
          <p:cNvSpPr/>
          <p:nvPr/>
        </p:nvSpPr>
        <p:spPr>
          <a:xfrm>
            <a:off x="1966499" y="394302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Oval 356"/>
          <p:cNvSpPr/>
          <p:nvPr/>
        </p:nvSpPr>
        <p:spPr>
          <a:xfrm>
            <a:off x="2064870" y="39144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Oval 357"/>
          <p:cNvSpPr/>
          <p:nvPr/>
        </p:nvSpPr>
        <p:spPr>
          <a:xfrm>
            <a:off x="4355771" y="395729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Oval 358"/>
          <p:cNvSpPr/>
          <p:nvPr/>
        </p:nvSpPr>
        <p:spPr>
          <a:xfrm>
            <a:off x="3860295" y="392230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3840982" y="395868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Oval 360"/>
          <p:cNvSpPr/>
          <p:nvPr/>
        </p:nvSpPr>
        <p:spPr>
          <a:xfrm>
            <a:off x="3962588" y="390098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Oval 361"/>
          <p:cNvSpPr/>
          <p:nvPr/>
        </p:nvSpPr>
        <p:spPr>
          <a:xfrm>
            <a:off x="4042251" y="395872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Oval 362"/>
          <p:cNvSpPr/>
          <p:nvPr/>
        </p:nvSpPr>
        <p:spPr>
          <a:xfrm>
            <a:off x="4362712" y="397756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Oval 363"/>
          <p:cNvSpPr/>
          <p:nvPr/>
        </p:nvSpPr>
        <p:spPr>
          <a:xfrm>
            <a:off x="4281842" y="393911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Oval 364"/>
          <p:cNvSpPr/>
          <p:nvPr/>
        </p:nvSpPr>
        <p:spPr>
          <a:xfrm>
            <a:off x="4270979" y="393499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Oval 365"/>
          <p:cNvSpPr/>
          <p:nvPr/>
        </p:nvSpPr>
        <p:spPr>
          <a:xfrm>
            <a:off x="4469532" y="390737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Oval 366"/>
          <p:cNvSpPr/>
          <p:nvPr/>
        </p:nvSpPr>
        <p:spPr>
          <a:xfrm>
            <a:off x="4302965" y="398644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Oval 367"/>
          <p:cNvSpPr/>
          <p:nvPr/>
        </p:nvSpPr>
        <p:spPr>
          <a:xfrm>
            <a:off x="4376894" y="389800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Oval 368"/>
          <p:cNvSpPr/>
          <p:nvPr/>
        </p:nvSpPr>
        <p:spPr>
          <a:xfrm>
            <a:off x="4495784" y="389086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Oval 369"/>
          <p:cNvSpPr/>
          <p:nvPr/>
        </p:nvSpPr>
        <p:spPr>
          <a:xfrm>
            <a:off x="4480998" y="395174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Oval 370"/>
          <p:cNvSpPr/>
          <p:nvPr/>
        </p:nvSpPr>
        <p:spPr>
          <a:xfrm>
            <a:off x="4327708" y="394854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Oval 371"/>
          <p:cNvSpPr/>
          <p:nvPr/>
        </p:nvSpPr>
        <p:spPr>
          <a:xfrm>
            <a:off x="4116180" y="392834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Oval 372"/>
          <p:cNvSpPr/>
          <p:nvPr/>
        </p:nvSpPr>
        <p:spPr>
          <a:xfrm>
            <a:off x="4456255" y="390889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Oval 373"/>
          <p:cNvSpPr/>
          <p:nvPr/>
        </p:nvSpPr>
        <p:spPr>
          <a:xfrm>
            <a:off x="4445995" y="397627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Oval 374"/>
          <p:cNvSpPr/>
          <p:nvPr/>
        </p:nvSpPr>
        <p:spPr>
          <a:xfrm>
            <a:off x="4276712" y="391238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Oval 375"/>
          <p:cNvSpPr/>
          <p:nvPr/>
        </p:nvSpPr>
        <p:spPr>
          <a:xfrm>
            <a:off x="4235976" y="389716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Oval 376"/>
          <p:cNvSpPr/>
          <p:nvPr/>
        </p:nvSpPr>
        <p:spPr>
          <a:xfrm>
            <a:off x="4362108" y="392227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Oval 377"/>
          <p:cNvSpPr/>
          <p:nvPr/>
        </p:nvSpPr>
        <p:spPr>
          <a:xfrm>
            <a:off x="4314431" y="391140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Oval 378"/>
          <p:cNvSpPr/>
          <p:nvPr/>
        </p:nvSpPr>
        <p:spPr>
          <a:xfrm>
            <a:off x="4215758" y="390987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Oval 379"/>
          <p:cNvSpPr/>
          <p:nvPr/>
        </p:nvSpPr>
        <p:spPr>
          <a:xfrm>
            <a:off x="3552508" y="413080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Oval 380"/>
          <p:cNvSpPr/>
          <p:nvPr/>
        </p:nvSpPr>
        <p:spPr>
          <a:xfrm>
            <a:off x="4044665" y="4093191"/>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Oval 381"/>
          <p:cNvSpPr/>
          <p:nvPr/>
        </p:nvSpPr>
        <p:spPr>
          <a:xfrm>
            <a:off x="1744108" y="412107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Oval 382"/>
          <p:cNvSpPr/>
          <p:nvPr/>
        </p:nvSpPr>
        <p:spPr>
          <a:xfrm>
            <a:off x="4182867" y="4111028"/>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Oval 383"/>
          <p:cNvSpPr/>
          <p:nvPr/>
        </p:nvSpPr>
        <p:spPr>
          <a:xfrm>
            <a:off x="2099572" y="414638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Oval 384"/>
          <p:cNvSpPr/>
          <p:nvPr/>
        </p:nvSpPr>
        <p:spPr>
          <a:xfrm>
            <a:off x="4134889" y="414342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Oval 385"/>
          <p:cNvSpPr/>
          <p:nvPr/>
        </p:nvSpPr>
        <p:spPr>
          <a:xfrm>
            <a:off x="1818339" y="412885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Oval 386"/>
          <p:cNvSpPr/>
          <p:nvPr/>
        </p:nvSpPr>
        <p:spPr>
          <a:xfrm>
            <a:off x="4294214" y="412985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Oval 387"/>
          <p:cNvSpPr/>
          <p:nvPr/>
        </p:nvSpPr>
        <p:spPr>
          <a:xfrm>
            <a:off x="2480986" y="415851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4800600" y="3872483"/>
            <a:ext cx="1005840" cy="429768"/>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00407A"/>
                </a:solidFill>
                <a:latin typeface="Arial"/>
              </a:rPr>
              <a:t>117 of 123</a:t>
            </a:r>
          </a:p>
          <a:p>
            <a:pPr algn="l">
              <a:lnSpc>
                <a:spcPct val="109000"/>
              </a:lnSpc>
              <a:spcBef>
                <a:spcPts val="0"/>
              </a:spcBef>
              <a:spcAft>
                <a:spcPts val="0"/>
              </a:spcAft>
            </a:pPr>
            <a:r>
              <a:rPr sz="1250" b="0">
                <a:solidFill>
                  <a:srgbClr val="00407A"/>
                </a:solidFill>
                <a:latin typeface="Arial"/>
              </a:rPr>
              <a:t>are “yes”</a:t>
            </a:r>
          </a:p>
        </p:txBody>
      </p:sp>
      <p:sp>
        <p:nvSpPr>
          <p:cNvPr id="390" name="TextBox 389"/>
          <p:cNvSpPr txBox="1"/>
          <p:nvPr/>
        </p:nvSpPr>
        <p:spPr>
          <a:xfrm>
            <a:off x="996696" y="4430268"/>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27B</a:t>
            </a:r>
          </a:p>
        </p:txBody>
      </p:sp>
      <p:sp>
        <p:nvSpPr>
          <p:cNvPr id="391" name="Oval 390"/>
          <p:cNvSpPr/>
          <p:nvPr/>
        </p:nvSpPr>
        <p:spPr>
          <a:xfrm>
            <a:off x="4575749" y="442885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2" name="Oval 391"/>
          <p:cNvSpPr/>
          <p:nvPr/>
        </p:nvSpPr>
        <p:spPr>
          <a:xfrm>
            <a:off x="3890772" y="445741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3" name="Oval 392"/>
          <p:cNvSpPr/>
          <p:nvPr/>
        </p:nvSpPr>
        <p:spPr>
          <a:xfrm>
            <a:off x="3683166" y="446964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4" name="Oval 393"/>
          <p:cNvSpPr/>
          <p:nvPr/>
        </p:nvSpPr>
        <p:spPr>
          <a:xfrm>
            <a:off x="3608935" y="447839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5" name="Oval 394"/>
          <p:cNvSpPr/>
          <p:nvPr/>
        </p:nvSpPr>
        <p:spPr>
          <a:xfrm>
            <a:off x="4253477" y="441101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6" name="Oval 395"/>
          <p:cNvSpPr/>
          <p:nvPr/>
        </p:nvSpPr>
        <p:spPr>
          <a:xfrm>
            <a:off x="3446593" y="448220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Oval 396"/>
          <p:cNvSpPr/>
          <p:nvPr/>
        </p:nvSpPr>
        <p:spPr>
          <a:xfrm>
            <a:off x="4474360" y="444437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8" name="Oval 397"/>
          <p:cNvSpPr/>
          <p:nvPr/>
        </p:nvSpPr>
        <p:spPr>
          <a:xfrm>
            <a:off x="4259512" y="441285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9" name="Oval 398"/>
          <p:cNvSpPr/>
          <p:nvPr/>
        </p:nvSpPr>
        <p:spPr>
          <a:xfrm>
            <a:off x="3702177" y="448474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0" name="Oval 399"/>
          <p:cNvSpPr/>
          <p:nvPr/>
        </p:nvSpPr>
        <p:spPr>
          <a:xfrm>
            <a:off x="4407974" y="445315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1" name="Oval 400"/>
          <p:cNvSpPr/>
          <p:nvPr/>
        </p:nvSpPr>
        <p:spPr>
          <a:xfrm>
            <a:off x="3724204" y="446584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2" name="Oval 401"/>
          <p:cNvSpPr/>
          <p:nvPr/>
        </p:nvSpPr>
        <p:spPr>
          <a:xfrm>
            <a:off x="3171998" y="444465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Oval 402"/>
          <p:cNvSpPr/>
          <p:nvPr/>
        </p:nvSpPr>
        <p:spPr>
          <a:xfrm>
            <a:off x="4491861" y="446211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Oval 403"/>
          <p:cNvSpPr/>
          <p:nvPr/>
        </p:nvSpPr>
        <p:spPr>
          <a:xfrm>
            <a:off x="3673510" y="439595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Oval 404"/>
          <p:cNvSpPr/>
          <p:nvPr/>
        </p:nvSpPr>
        <p:spPr>
          <a:xfrm>
            <a:off x="3393484" y="446657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Oval 405"/>
          <p:cNvSpPr/>
          <p:nvPr/>
        </p:nvSpPr>
        <p:spPr>
          <a:xfrm>
            <a:off x="1991243" y="441239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Oval 406"/>
          <p:cNvSpPr/>
          <p:nvPr/>
        </p:nvSpPr>
        <p:spPr>
          <a:xfrm>
            <a:off x="4167780" y="442073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Oval 407"/>
          <p:cNvSpPr/>
          <p:nvPr/>
        </p:nvSpPr>
        <p:spPr>
          <a:xfrm>
            <a:off x="3709117" y="443098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Oval 408"/>
          <p:cNvSpPr/>
          <p:nvPr/>
        </p:nvSpPr>
        <p:spPr>
          <a:xfrm>
            <a:off x="4143640" y="442092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Oval 409"/>
          <p:cNvSpPr/>
          <p:nvPr/>
        </p:nvSpPr>
        <p:spPr>
          <a:xfrm>
            <a:off x="4016602" y="443390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Oval 410"/>
          <p:cNvSpPr/>
          <p:nvPr/>
        </p:nvSpPr>
        <p:spPr>
          <a:xfrm>
            <a:off x="4018413" y="442694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Oval 411"/>
          <p:cNvSpPr/>
          <p:nvPr/>
        </p:nvSpPr>
        <p:spPr>
          <a:xfrm>
            <a:off x="3763432" y="443717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Oval 412"/>
          <p:cNvSpPr/>
          <p:nvPr/>
        </p:nvSpPr>
        <p:spPr>
          <a:xfrm>
            <a:off x="4529580" y="444894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Oval 413"/>
          <p:cNvSpPr/>
          <p:nvPr/>
        </p:nvSpPr>
        <p:spPr>
          <a:xfrm>
            <a:off x="4467118" y="446110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Oval 414"/>
          <p:cNvSpPr/>
          <p:nvPr/>
        </p:nvSpPr>
        <p:spPr>
          <a:xfrm>
            <a:off x="3870856" y="447468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Oval 415"/>
          <p:cNvSpPr/>
          <p:nvPr/>
        </p:nvSpPr>
        <p:spPr>
          <a:xfrm>
            <a:off x="4271583" y="445077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Oval 416"/>
          <p:cNvSpPr/>
          <p:nvPr/>
        </p:nvSpPr>
        <p:spPr>
          <a:xfrm>
            <a:off x="4457764" y="447319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Oval 417"/>
          <p:cNvSpPr/>
          <p:nvPr/>
        </p:nvSpPr>
        <p:spPr>
          <a:xfrm>
            <a:off x="3343695" y="440484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Oval 418"/>
          <p:cNvSpPr/>
          <p:nvPr/>
        </p:nvSpPr>
        <p:spPr>
          <a:xfrm>
            <a:off x="4317751" y="447419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Oval 419"/>
          <p:cNvSpPr/>
          <p:nvPr/>
        </p:nvSpPr>
        <p:spPr>
          <a:xfrm>
            <a:off x="3920041" y="443957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Oval 420"/>
          <p:cNvSpPr/>
          <p:nvPr/>
        </p:nvSpPr>
        <p:spPr>
          <a:xfrm>
            <a:off x="3611651" y="440864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2" name="Oval 421"/>
          <p:cNvSpPr/>
          <p:nvPr/>
        </p:nvSpPr>
        <p:spPr>
          <a:xfrm>
            <a:off x="4336459" y="446674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Oval 422"/>
          <p:cNvSpPr/>
          <p:nvPr/>
        </p:nvSpPr>
        <p:spPr>
          <a:xfrm>
            <a:off x="4041949" y="449114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4" name="Oval 423"/>
          <p:cNvSpPr/>
          <p:nvPr/>
        </p:nvSpPr>
        <p:spPr>
          <a:xfrm>
            <a:off x="4133682" y="440366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Oval 424"/>
          <p:cNvSpPr/>
          <p:nvPr/>
        </p:nvSpPr>
        <p:spPr>
          <a:xfrm>
            <a:off x="3520824" y="443335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Oval 425"/>
          <p:cNvSpPr/>
          <p:nvPr/>
        </p:nvSpPr>
        <p:spPr>
          <a:xfrm>
            <a:off x="3478578" y="447312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7" name="Oval 426"/>
          <p:cNvSpPr/>
          <p:nvPr/>
        </p:nvSpPr>
        <p:spPr>
          <a:xfrm>
            <a:off x="4181359" y="441474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Oval 427"/>
          <p:cNvSpPr/>
          <p:nvPr/>
        </p:nvSpPr>
        <p:spPr>
          <a:xfrm>
            <a:off x="3709117" y="447156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9" name="Oval 428"/>
          <p:cNvSpPr/>
          <p:nvPr/>
        </p:nvSpPr>
        <p:spPr>
          <a:xfrm>
            <a:off x="3652086" y="441194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0" name="Oval 429"/>
          <p:cNvSpPr/>
          <p:nvPr/>
        </p:nvSpPr>
        <p:spPr>
          <a:xfrm>
            <a:off x="3492459" y="449097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1" name="Oval 430"/>
          <p:cNvSpPr/>
          <p:nvPr/>
        </p:nvSpPr>
        <p:spPr>
          <a:xfrm>
            <a:off x="4240804" y="445653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2" name="Oval 431"/>
          <p:cNvSpPr/>
          <p:nvPr/>
        </p:nvSpPr>
        <p:spPr>
          <a:xfrm>
            <a:off x="2827096" y="445162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3" name="Oval 432"/>
          <p:cNvSpPr/>
          <p:nvPr/>
        </p:nvSpPr>
        <p:spPr>
          <a:xfrm>
            <a:off x="3976469" y="446871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4" name="Oval 433"/>
          <p:cNvSpPr/>
          <p:nvPr/>
        </p:nvSpPr>
        <p:spPr>
          <a:xfrm>
            <a:off x="4438451" y="442927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5" name="Oval 434"/>
          <p:cNvSpPr/>
          <p:nvPr/>
        </p:nvSpPr>
        <p:spPr>
          <a:xfrm>
            <a:off x="4553117" y="444217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6" name="Oval 435"/>
          <p:cNvSpPr/>
          <p:nvPr/>
        </p:nvSpPr>
        <p:spPr>
          <a:xfrm>
            <a:off x="4250158" y="443350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7" name="Oval 436"/>
          <p:cNvSpPr/>
          <p:nvPr/>
        </p:nvSpPr>
        <p:spPr>
          <a:xfrm>
            <a:off x="4303266" y="443890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Oval 437"/>
          <p:cNvSpPr/>
          <p:nvPr/>
        </p:nvSpPr>
        <p:spPr>
          <a:xfrm>
            <a:off x="3169584" y="448429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9" name="Oval 438"/>
          <p:cNvSpPr/>
          <p:nvPr/>
        </p:nvSpPr>
        <p:spPr>
          <a:xfrm>
            <a:off x="4052812" y="448194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0" name="Oval 439"/>
          <p:cNvSpPr/>
          <p:nvPr/>
        </p:nvSpPr>
        <p:spPr>
          <a:xfrm>
            <a:off x="4408578" y="446747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Oval 440"/>
          <p:cNvSpPr/>
          <p:nvPr/>
        </p:nvSpPr>
        <p:spPr>
          <a:xfrm>
            <a:off x="3543757" y="446673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Oval 441"/>
          <p:cNvSpPr/>
          <p:nvPr/>
        </p:nvSpPr>
        <p:spPr>
          <a:xfrm>
            <a:off x="4375385" y="447269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Oval 442"/>
          <p:cNvSpPr/>
          <p:nvPr/>
        </p:nvSpPr>
        <p:spPr>
          <a:xfrm>
            <a:off x="4550100" y="440880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Oval 443"/>
          <p:cNvSpPr/>
          <p:nvPr/>
        </p:nvSpPr>
        <p:spPr>
          <a:xfrm>
            <a:off x="3978883" y="446851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Oval 444"/>
          <p:cNvSpPr/>
          <p:nvPr/>
        </p:nvSpPr>
        <p:spPr>
          <a:xfrm>
            <a:off x="4300852" y="443748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Oval 445"/>
          <p:cNvSpPr/>
          <p:nvPr/>
        </p:nvSpPr>
        <p:spPr>
          <a:xfrm>
            <a:off x="4504837" y="444093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Oval 446"/>
          <p:cNvSpPr/>
          <p:nvPr/>
        </p:nvSpPr>
        <p:spPr>
          <a:xfrm>
            <a:off x="4568205" y="443784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Oval 447"/>
          <p:cNvSpPr/>
          <p:nvPr/>
        </p:nvSpPr>
        <p:spPr>
          <a:xfrm>
            <a:off x="4507854" y="444225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Oval 448"/>
          <p:cNvSpPr/>
          <p:nvPr/>
        </p:nvSpPr>
        <p:spPr>
          <a:xfrm>
            <a:off x="4284256" y="440707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Oval 449"/>
          <p:cNvSpPr/>
          <p:nvPr/>
        </p:nvSpPr>
        <p:spPr>
          <a:xfrm>
            <a:off x="4544668" y="440231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Oval 450"/>
          <p:cNvSpPr/>
          <p:nvPr/>
        </p:nvSpPr>
        <p:spPr>
          <a:xfrm>
            <a:off x="4525658" y="445313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Oval 451"/>
          <p:cNvSpPr/>
          <p:nvPr/>
        </p:nvSpPr>
        <p:spPr>
          <a:xfrm>
            <a:off x="4504837" y="446183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Oval 452"/>
          <p:cNvSpPr/>
          <p:nvPr/>
        </p:nvSpPr>
        <p:spPr>
          <a:xfrm>
            <a:off x="4522640" y="441548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Oval 453"/>
          <p:cNvSpPr/>
          <p:nvPr/>
        </p:nvSpPr>
        <p:spPr>
          <a:xfrm>
            <a:off x="4065184" y="443295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Oval 454"/>
          <p:cNvSpPr/>
          <p:nvPr/>
        </p:nvSpPr>
        <p:spPr>
          <a:xfrm>
            <a:off x="4606829" y="443236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Oval 455"/>
          <p:cNvSpPr/>
          <p:nvPr/>
        </p:nvSpPr>
        <p:spPr>
          <a:xfrm>
            <a:off x="4355168" y="445787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Oval 456"/>
          <p:cNvSpPr/>
          <p:nvPr/>
        </p:nvSpPr>
        <p:spPr>
          <a:xfrm>
            <a:off x="3744724" y="442138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Oval 457"/>
          <p:cNvSpPr/>
          <p:nvPr/>
        </p:nvSpPr>
        <p:spPr>
          <a:xfrm>
            <a:off x="4549194" y="447698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Oval 458"/>
          <p:cNvSpPr/>
          <p:nvPr/>
        </p:nvSpPr>
        <p:spPr>
          <a:xfrm>
            <a:off x="4521735" y="440643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Oval 459"/>
          <p:cNvSpPr/>
          <p:nvPr/>
        </p:nvSpPr>
        <p:spPr>
          <a:xfrm>
            <a:off x="4416725" y="440597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Oval 460"/>
          <p:cNvSpPr/>
          <p:nvPr/>
        </p:nvSpPr>
        <p:spPr>
          <a:xfrm>
            <a:off x="4083591" y="448973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Oval 461"/>
          <p:cNvSpPr/>
          <p:nvPr/>
        </p:nvSpPr>
        <p:spPr>
          <a:xfrm>
            <a:off x="4435132" y="445502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Oval 462"/>
          <p:cNvSpPr/>
          <p:nvPr/>
        </p:nvSpPr>
        <p:spPr>
          <a:xfrm>
            <a:off x="4510872" y="447594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Oval 463"/>
          <p:cNvSpPr/>
          <p:nvPr/>
        </p:nvSpPr>
        <p:spPr>
          <a:xfrm>
            <a:off x="4556436" y="440996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Oval 464"/>
          <p:cNvSpPr/>
          <p:nvPr/>
        </p:nvSpPr>
        <p:spPr>
          <a:xfrm>
            <a:off x="4506949" y="448587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Oval 465"/>
          <p:cNvSpPr/>
          <p:nvPr/>
        </p:nvSpPr>
        <p:spPr>
          <a:xfrm>
            <a:off x="4407371" y="449175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Oval 466"/>
          <p:cNvSpPr/>
          <p:nvPr/>
        </p:nvSpPr>
        <p:spPr>
          <a:xfrm>
            <a:off x="3327099" y="447039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Oval 467"/>
          <p:cNvSpPr/>
          <p:nvPr/>
        </p:nvSpPr>
        <p:spPr>
          <a:xfrm>
            <a:off x="4570921" y="448967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Oval 468"/>
          <p:cNvSpPr/>
          <p:nvPr/>
        </p:nvSpPr>
        <p:spPr>
          <a:xfrm>
            <a:off x="3818351" y="442537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Oval 469"/>
          <p:cNvSpPr/>
          <p:nvPr/>
        </p:nvSpPr>
        <p:spPr>
          <a:xfrm>
            <a:off x="2482495" y="445743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Oval 470"/>
          <p:cNvSpPr/>
          <p:nvPr/>
        </p:nvSpPr>
        <p:spPr>
          <a:xfrm>
            <a:off x="2015383" y="449338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Oval 471"/>
          <p:cNvSpPr/>
          <p:nvPr/>
        </p:nvSpPr>
        <p:spPr>
          <a:xfrm>
            <a:off x="2826190" y="444169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Oval 472"/>
          <p:cNvSpPr/>
          <p:nvPr/>
        </p:nvSpPr>
        <p:spPr>
          <a:xfrm>
            <a:off x="4072124" y="447837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Oval 473"/>
          <p:cNvSpPr/>
          <p:nvPr/>
        </p:nvSpPr>
        <p:spPr>
          <a:xfrm>
            <a:off x="4124629" y="441113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Oval 474"/>
          <p:cNvSpPr/>
          <p:nvPr/>
        </p:nvSpPr>
        <p:spPr>
          <a:xfrm>
            <a:off x="3588416" y="440841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6" name="Oval 475"/>
          <p:cNvSpPr/>
          <p:nvPr/>
        </p:nvSpPr>
        <p:spPr>
          <a:xfrm>
            <a:off x="4185583" y="448341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7" name="Oval 476"/>
          <p:cNvSpPr/>
          <p:nvPr/>
        </p:nvSpPr>
        <p:spPr>
          <a:xfrm>
            <a:off x="3562465" y="442610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Oval 477"/>
          <p:cNvSpPr/>
          <p:nvPr/>
        </p:nvSpPr>
        <p:spPr>
          <a:xfrm>
            <a:off x="3882021" y="448827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Oval 478"/>
          <p:cNvSpPr/>
          <p:nvPr/>
        </p:nvSpPr>
        <p:spPr>
          <a:xfrm>
            <a:off x="3914912" y="446895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Oval 479"/>
          <p:cNvSpPr/>
          <p:nvPr/>
        </p:nvSpPr>
        <p:spPr>
          <a:xfrm>
            <a:off x="3950518" y="442770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Oval 480"/>
          <p:cNvSpPr/>
          <p:nvPr/>
        </p:nvSpPr>
        <p:spPr>
          <a:xfrm>
            <a:off x="3423358" y="444594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Oval 481"/>
          <p:cNvSpPr/>
          <p:nvPr/>
        </p:nvSpPr>
        <p:spPr>
          <a:xfrm>
            <a:off x="4336157" y="441734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Oval 482"/>
          <p:cNvSpPr/>
          <p:nvPr/>
        </p:nvSpPr>
        <p:spPr>
          <a:xfrm>
            <a:off x="4243821" y="446021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Oval 483"/>
          <p:cNvSpPr/>
          <p:nvPr/>
        </p:nvSpPr>
        <p:spPr>
          <a:xfrm>
            <a:off x="3970736" y="442522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Oval 484"/>
          <p:cNvSpPr/>
          <p:nvPr/>
        </p:nvSpPr>
        <p:spPr>
          <a:xfrm>
            <a:off x="4217267" y="446160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Oval 485"/>
          <p:cNvSpPr/>
          <p:nvPr/>
        </p:nvSpPr>
        <p:spPr>
          <a:xfrm>
            <a:off x="2792092" y="440390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Oval 486"/>
          <p:cNvSpPr/>
          <p:nvPr/>
        </p:nvSpPr>
        <p:spPr>
          <a:xfrm>
            <a:off x="4076349" y="446164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Oval 487"/>
          <p:cNvSpPr/>
          <p:nvPr/>
        </p:nvSpPr>
        <p:spPr>
          <a:xfrm>
            <a:off x="4122517" y="448048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Oval 488"/>
          <p:cNvSpPr/>
          <p:nvPr/>
        </p:nvSpPr>
        <p:spPr>
          <a:xfrm>
            <a:off x="4187394" y="444203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Oval 489"/>
          <p:cNvSpPr/>
          <p:nvPr/>
        </p:nvSpPr>
        <p:spPr>
          <a:xfrm>
            <a:off x="4067296" y="443791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Oval 490"/>
          <p:cNvSpPr/>
          <p:nvPr/>
        </p:nvSpPr>
        <p:spPr>
          <a:xfrm>
            <a:off x="4450220" y="441029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Oval 491"/>
          <p:cNvSpPr/>
          <p:nvPr/>
        </p:nvSpPr>
        <p:spPr>
          <a:xfrm>
            <a:off x="4568808" y="448936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3" name="Oval 492"/>
          <p:cNvSpPr/>
          <p:nvPr/>
        </p:nvSpPr>
        <p:spPr>
          <a:xfrm>
            <a:off x="4201878" y="44009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4" name="Oval 493"/>
          <p:cNvSpPr/>
          <p:nvPr/>
        </p:nvSpPr>
        <p:spPr>
          <a:xfrm>
            <a:off x="4135191" y="439378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5" name="Oval 494"/>
          <p:cNvSpPr/>
          <p:nvPr/>
        </p:nvSpPr>
        <p:spPr>
          <a:xfrm>
            <a:off x="4509967" y="445466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6" name="Oval 495"/>
          <p:cNvSpPr/>
          <p:nvPr/>
        </p:nvSpPr>
        <p:spPr>
          <a:xfrm>
            <a:off x="4496991" y="445146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7" name="Oval 496"/>
          <p:cNvSpPr/>
          <p:nvPr/>
        </p:nvSpPr>
        <p:spPr>
          <a:xfrm>
            <a:off x="3959873" y="443126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8" name="Oval 497"/>
          <p:cNvSpPr/>
          <p:nvPr/>
        </p:nvSpPr>
        <p:spPr>
          <a:xfrm>
            <a:off x="4587819" y="441181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9" name="Oval 498"/>
          <p:cNvSpPr/>
          <p:nvPr/>
        </p:nvSpPr>
        <p:spPr>
          <a:xfrm>
            <a:off x="4549496" y="447919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522640" y="441530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461686" y="440008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4410690" y="442519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4261926" y="441432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Oval 503"/>
          <p:cNvSpPr/>
          <p:nvPr/>
        </p:nvSpPr>
        <p:spPr>
          <a:xfrm>
            <a:off x="4068805" y="441279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Oval 504"/>
          <p:cNvSpPr/>
          <p:nvPr/>
        </p:nvSpPr>
        <p:spPr>
          <a:xfrm>
            <a:off x="2171389" y="463372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Oval 505"/>
          <p:cNvSpPr/>
          <p:nvPr/>
        </p:nvSpPr>
        <p:spPr>
          <a:xfrm>
            <a:off x="3001810" y="4596111"/>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Oval 506"/>
          <p:cNvSpPr/>
          <p:nvPr/>
        </p:nvSpPr>
        <p:spPr>
          <a:xfrm>
            <a:off x="1760402" y="462399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Oval 507"/>
          <p:cNvSpPr/>
          <p:nvPr/>
        </p:nvSpPr>
        <p:spPr>
          <a:xfrm>
            <a:off x="2014176" y="4613948"/>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Oval 508"/>
          <p:cNvSpPr/>
          <p:nvPr/>
        </p:nvSpPr>
        <p:spPr>
          <a:xfrm>
            <a:off x="1690396" y="464930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Oval 509"/>
          <p:cNvSpPr/>
          <p:nvPr/>
        </p:nvSpPr>
        <p:spPr>
          <a:xfrm>
            <a:off x="2389254" y="464634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Oval 510"/>
          <p:cNvSpPr/>
          <p:nvPr/>
        </p:nvSpPr>
        <p:spPr>
          <a:xfrm>
            <a:off x="1709708" y="463177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Oval 511"/>
          <p:cNvSpPr/>
          <p:nvPr/>
        </p:nvSpPr>
        <p:spPr>
          <a:xfrm>
            <a:off x="1938738" y="463277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Oval 512"/>
          <p:cNvSpPr/>
          <p:nvPr/>
        </p:nvSpPr>
        <p:spPr>
          <a:xfrm>
            <a:off x="1930289" y="466143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TextBox 513"/>
          <p:cNvSpPr txBox="1"/>
          <p:nvPr/>
        </p:nvSpPr>
        <p:spPr>
          <a:xfrm>
            <a:off x="4800600" y="4375404"/>
            <a:ext cx="1005840" cy="429768"/>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00407A"/>
                </a:solidFill>
                <a:latin typeface="Arial"/>
              </a:rPr>
              <a:t>108 of 123</a:t>
            </a:r>
          </a:p>
          <a:p>
            <a:pPr algn="l">
              <a:lnSpc>
                <a:spcPct val="109000"/>
              </a:lnSpc>
              <a:spcBef>
                <a:spcPts val="0"/>
              </a:spcBef>
              <a:spcAft>
                <a:spcPts val="0"/>
              </a:spcAft>
            </a:pPr>
            <a:r>
              <a:rPr sz="1250" b="0">
                <a:solidFill>
                  <a:srgbClr val="00407A"/>
                </a:solidFill>
                <a:latin typeface="Arial"/>
              </a:rPr>
              <a:t>are “yes”</a:t>
            </a:r>
          </a:p>
        </p:txBody>
      </p:sp>
      <p:sp>
        <p:nvSpPr>
          <p:cNvPr id="515" name="TextBox 514"/>
          <p:cNvSpPr txBox="1"/>
          <p:nvPr/>
        </p:nvSpPr>
        <p:spPr>
          <a:xfrm>
            <a:off x="996696" y="5029200"/>
            <a:ext cx="4800600" cy="219456"/>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4A5A66"/>
                </a:solidFill>
                <a:latin typeface="Arial"/>
              </a:rPr>
              <a:t>Yes probability of each design • dashed line: the 0.5 threshold</a:t>
            </a:r>
          </a:p>
        </p:txBody>
      </p:sp>
      <p:sp>
        <p:nvSpPr>
          <p:cNvPr id="516" name="Rounded Rectangle 515"/>
          <p:cNvSpPr/>
          <p:nvPr/>
        </p:nvSpPr>
        <p:spPr>
          <a:xfrm>
            <a:off x="6208776" y="1819656"/>
            <a:ext cx="5166360" cy="3730752"/>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TextBox 516"/>
          <p:cNvSpPr txBox="1"/>
          <p:nvPr/>
        </p:nvSpPr>
        <p:spPr>
          <a:xfrm>
            <a:off x="6409944" y="1984248"/>
            <a:ext cx="4764024" cy="502920"/>
          </a:xfrm>
          <a:prstGeom prst="rect">
            <a:avLst/>
          </a:prstGeom>
          <a:noFill/>
        </p:spPr>
        <p:txBody>
          <a:bodyPr wrap="square" lIns="0" rIns="0" tIns="0" bIns="0" anchor="t">
            <a:noAutofit/>
          </a:bodyPr>
          <a:lstStyle/>
          <a:p>
            <a:pPr algn="l">
              <a:lnSpc>
                <a:spcPct val="109000"/>
              </a:lnSpc>
              <a:spcBef>
                <a:spcPts val="0"/>
              </a:spcBef>
              <a:spcAft>
                <a:spcPts val="0"/>
              </a:spcAft>
            </a:pPr>
            <a:r>
              <a:rPr sz="1800" b="1">
                <a:solidFill>
                  <a:srgbClr val="00407A"/>
                </a:solidFill>
                <a:latin typeface="Arial"/>
              </a:rPr>
              <a:t>Does it synthesize?</a:t>
            </a:r>
          </a:p>
        </p:txBody>
      </p:sp>
      <p:sp>
        <p:nvSpPr>
          <p:cNvPr id="518" name="TextBox 517"/>
          <p:cNvSpPr txBox="1"/>
          <p:nvPr/>
        </p:nvSpPr>
        <p:spPr>
          <a:xfrm>
            <a:off x="6409944" y="2432304"/>
            <a:ext cx="4764024" cy="274320"/>
          </a:xfrm>
          <a:prstGeom prst="rect">
            <a:avLst/>
          </a:prstGeom>
          <a:noFill/>
        </p:spPr>
        <p:txBody>
          <a:bodyPr wrap="square" lIns="0" rIns="0" tIns="0" bIns="0">
            <a:noAutofit/>
          </a:bodyPr>
          <a:lstStyle/>
          <a:p>
            <a:r>
              <a:rPr sz="1250">
                <a:solidFill>
                  <a:srgbClr val="1D8DB0"/>
                </a:solidFill>
                <a:latin typeface="Arial"/>
              </a:rPr>
              <a:t>●</a:t>
            </a:r>
            <a:r>
              <a:rPr sz="1250">
                <a:solidFill>
                  <a:srgbClr val="4A5A66"/>
                </a:solidFill>
                <a:latin typeface="Arial"/>
              </a:rPr>
              <a:t> tool synthesizes: 99</a:t>
            </a:r>
            <a:r>
              <a:rPr sz="1250">
                <a:solidFill>
                  <a:srgbClr val="E97132"/>
                </a:solidFill>
                <a:latin typeface="Arial"/>
              </a:rPr>
              <a:t>      ●</a:t>
            </a:r>
            <a:r>
              <a:rPr sz="1250">
                <a:solidFill>
                  <a:srgbClr val="4A5A66"/>
                </a:solidFill>
                <a:latin typeface="Arial"/>
              </a:rPr>
              <a:t> tool fails: 24</a:t>
            </a:r>
          </a:p>
        </p:txBody>
      </p:sp>
      <p:cxnSp>
        <p:nvCxnSpPr>
          <p:cNvPr id="519" name="Connector 518"/>
          <p:cNvCxnSpPr/>
          <p:nvPr/>
        </p:nvCxnSpPr>
        <p:spPr>
          <a:xfrm>
            <a:off x="7059168" y="2825496"/>
            <a:ext cx="0" cy="1947672"/>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520" name="TextBox 519"/>
          <p:cNvSpPr txBox="1"/>
          <p:nvPr/>
        </p:nvSpPr>
        <p:spPr>
          <a:xfrm>
            <a:off x="6858000" y="4764024"/>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0</a:t>
            </a:r>
          </a:p>
        </p:txBody>
      </p:sp>
      <p:cxnSp>
        <p:nvCxnSpPr>
          <p:cNvPr id="521" name="Connector 520"/>
          <p:cNvCxnSpPr/>
          <p:nvPr/>
        </p:nvCxnSpPr>
        <p:spPr>
          <a:xfrm>
            <a:off x="8567928" y="2825496"/>
            <a:ext cx="0" cy="1947672"/>
          </a:xfrm>
          <a:prstGeom prst="line">
            <a:avLst/>
          </a:prstGeom>
          <a:ln w="15240">
            <a:solidFill>
              <a:srgbClr val="4A5A66"/>
            </a:solidFill>
            <a:prstDash val="dash"/>
          </a:ln>
        </p:spPr>
        <p:style>
          <a:lnRef idx="2">
            <a:schemeClr val="accent1"/>
          </a:lnRef>
          <a:fillRef idx="0">
            <a:schemeClr val="accent1"/>
          </a:fillRef>
          <a:effectRef idx="1">
            <a:schemeClr val="accent1"/>
          </a:effectRef>
          <a:fontRef idx="minor">
            <a:schemeClr val="tx1"/>
          </a:fontRef>
        </p:style>
      </p:cxnSp>
      <p:sp>
        <p:nvSpPr>
          <p:cNvPr id="522" name="TextBox 521"/>
          <p:cNvSpPr txBox="1"/>
          <p:nvPr/>
        </p:nvSpPr>
        <p:spPr>
          <a:xfrm>
            <a:off x="8366759" y="4764024"/>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0.5</a:t>
            </a:r>
          </a:p>
        </p:txBody>
      </p:sp>
      <p:cxnSp>
        <p:nvCxnSpPr>
          <p:cNvPr id="523" name="Connector 522"/>
          <p:cNvCxnSpPr/>
          <p:nvPr/>
        </p:nvCxnSpPr>
        <p:spPr>
          <a:xfrm>
            <a:off x="10076688" y="2825496"/>
            <a:ext cx="0" cy="1947672"/>
          </a:xfrm>
          <a:prstGeom prst="line">
            <a:avLst/>
          </a:prstGeom>
          <a:ln w="8255">
            <a:solidFill>
              <a:srgbClr val="C8D3DA"/>
            </a:solidFill>
          </a:ln>
        </p:spPr>
        <p:style>
          <a:lnRef idx="2">
            <a:schemeClr val="accent1"/>
          </a:lnRef>
          <a:fillRef idx="0">
            <a:schemeClr val="accent1"/>
          </a:fillRef>
          <a:effectRef idx="1">
            <a:schemeClr val="accent1"/>
          </a:effectRef>
          <a:fontRef idx="minor">
            <a:schemeClr val="tx1"/>
          </a:fontRef>
        </p:style>
      </p:cxnSp>
      <p:sp>
        <p:nvSpPr>
          <p:cNvPr id="524" name="TextBox 523"/>
          <p:cNvSpPr txBox="1"/>
          <p:nvPr/>
        </p:nvSpPr>
        <p:spPr>
          <a:xfrm>
            <a:off x="9875519" y="4764024"/>
            <a:ext cx="402336" cy="201168"/>
          </a:xfrm>
          <a:prstGeom prst="rect">
            <a:avLst/>
          </a:prstGeom>
          <a:noFill/>
        </p:spPr>
        <p:txBody>
          <a:bodyPr wrap="square" lIns="0" rIns="0" tIns="0" bIns="0" anchor="t">
            <a:noAutofit/>
          </a:bodyPr>
          <a:lstStyle/>
          <a:p>
            <a:pPr algn="ctr">
              <a:lnSpc>
                <a:spcPct val="109000"/>
              </a:lnSpc>
              <a:spcBef>
                <a:spcPts val="0"/>
              </a:spcBef>
              <a:spcAft>
                <a:spcPts val="0"/>
              </a:spcAft>
            </a:pPr>
            <a:r>
              <a:rPr sz="1100" b="0">
                <a:solidFill>
                  <a:srgbClr val="4A5A66"/>
                </a:solidFill>
                <a:latin typeface="Arial"/>
              </a:rPr>
              <a:t>1</a:t>
            </a:r>
          </a:p>
        </p:txBody>
      </p:sp>
      <p:sp>
        <p:nvSpPr>
          <p:cNvPr id="525" name="TextBox 524"/>
          <p:cNvSpPr txBox="1"/>
          <p:nvPr/>
        </p:nvSpPr>
        <p:spPr>
          <a:xfrm>
            <a:off x="6391656" y="2921508"/>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0.8B</a:t>
            </a:r>
          </a:p>
        </p:txBody>
      </p:sp>
      <p:sp>
        <p:nvSpPr>
          <p:cNvPr id="526" name="Oval 525"/>
          <p:cNvSpPr/>
          <p:nvPr/>
        </p:nvSpPr>
        <p:spPr>
          <a:xfrm>
            <a:off x="7709681" y="290228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Oval 526"/>
          <p:cNvSpPr/>
          <p:nvPr/>
        </p:nvSpPr>
        <p:spPr>
          <a:xfrm>
            <a:off x="7731709" y="296961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8" name="Oval 527"/>
          <p:cNvSpPr/>
          <p:nvPr/>
        </p:nvSpPr>
        <p:spPr>
          <a:xfrm>
            <a:off x="7976731" y="291667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Oval 528"/>
          <p:cNvSpPr/>
          <p:nvPr/>
        </p:nvSpPr>
        <p:spPr>
          <a:xfrm>
            <a:off x="7877153" y="292829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Oval 529"/>
          <p:cNvSpPr/>
          <p:nvPr/>
        </p:nvSpPr>
        <p:spPr>
          <a:xfrm>
            <a:off x="7769729" y="288518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Oval 530"/>
          <p:cNvSpPr/>
          <p:nvPr/>
        </p:nvSpPr>
        <p:spPr>
          <a:xfrm>
            <a:off x="8078120" y="295580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2" name="Oval 531"/>
          <p:cNvSpPr/>
          <p:nvPr/>
        </p:nvSpPr>
        <p:spPr>
          <a:xfrm>
            <a:off x="7959531" y="295104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Oval 532"/>
          <p:cNvSpPr/>
          <p:nvPr/>
        </p:nvSpPr>
        <p:spPr>
          <a:xfrm>
            <a:off x="8168344" y="291412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4" name="Oval 533"/>
          <p:cNvSpPr/>
          <p:nvPr/>
        </p:nvSpPr>
        <p:spPr>
          <a:xfrm>
            <a:off x="7857841" y="289701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Oval 534"/>
          <p:cNvSpPr/>
          <p:nvPr/>
        </p:nvSpPr>
        <p:spPr>
          <a:xfrm>
            <a:off x="7736235" y="295645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Oval 535"/>
          <p:cNvSpPr/>
          <p:nvPr/>
        </p:nvSpPr>
        <p:spPr>
          <a:xfrm>
            <a:off x="7489704" y="289535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7" name="Oval 536"/>
          <p:cNvSpPr/>
          <p:nvPr/>
        </p:nvSpPr>
        <p:spPr>
          <a:xfrm>
            <a:off x="7998457" y="293679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Oval 537"/>
          <p:cNvSpPr/>
          <p:nvPr/>
        </p:nvSpPr>
        <p:spPr>
          <a:xfrm>
            <a:off x="8035271" y="291585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Oval 538"/>
          <p:cNvSpPr/>
          <p:nvPr/>
        </p:nvSpPr>
        <p:spPr>
          <a:xfrm>
            <a:off x="7703646" y="295841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Oval 539"/>
          <p:cNvSpPr/>
          <p:nvPr/>
        </p:nvSpPr>
        <p:spPr>
          <a:xfrm>
            <a:off x="7455606" y="291938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1" name="Oval 540"/>
          <p:cNvSpPr/>
          <p:nvPr/>
        </p:nvSpPr>
        <p:spPr>
          <a:xfrm>
            <a:off x="7544924" y="295389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Oval 541"/>
          <p:cNvSpPr/>
          <p:nvPr/>
        </p:nvSpPr>
        <p:spPr>
          <a:xfrm>
            <a:off x="7831287" y="292686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Oval 542"/>
          <p:cNvSpPr/>
          <p:nvPr/>
        </p:nvSpPr>
        <p:spPr>
          <a:xfrm>
            <a:off x="7766410" y="295361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4" name="Oval 543"/>
          <p:cNvSpPr/>
          <p:nvPr/>
        </p:nvSpPr>
        <p:spPr>
          <a:xfrm>
            <a:off x="7812276" y="289314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Oval 544"/>
          <p:cNvSpPr/>
          <p:nvPr/>
        </p:nvSpPr>
        <p:spPr>
          <a:xfrm>
            <a:off x="7596826" y="292446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Oval 545"/>
          <p:cNvSpPr/>
          <p:nvPr/>
        </p:nvSpPr>
        <p:spPr>
          <a:xfrm>
            <a:off x="7898276" y="288779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Oval 546"/>
          <p:cNvSpPr/>
          <p:nvPr/>
        </p:nvSpPr>
        <p:spPr>
          <a:xfrm>
            <a:off x="7534966" y="295034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Oval 547"/>
          <p:cNvSpPr/>
          <p:nvPr/>
        </p:nvSpPr>
        <p:spPr>
          <a:xfrm>
            <a:off x="7914570" y="293257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Oval 548"/>
          <p:cNvSpPr/>
          <p:nvPr/>
        </p:nvSpPr>
        <p:spPr>
          <a:xfrm>
            <a:off x="7808655" y="297889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Oval 549"/>
          <p:cNvSpPr/>
          <p:nvPr/>
        </p:nvSpPr>
        <p:spPr>
          <a:xfrm>
            <a:off x="7736235" y="296438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Oval 550"/>
          <p:cNvSpPr/>
          <p:nvPr/>
        </p:nvSpPr>
        <p:spPr>
          <a:xfrm>
            <a:off x="7576910" y="295648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Oval 551"/>
          <p:cNvSpPr/>
          <p:nvPr/>
        </p:nvSpPr>
        <p:spPr>
          <a:xfrm>
            <a:off x="7822838" y="290967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3" name="Oval 552"/>
          <p:cNvSpPr/>
          <p:nvPr/>
        </p:nvSpPr>
        <p:spPr>
          <a:xfrm>
            <a:off x="7617043" y="298028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Oval 553"/>
          <p:cNvSpPr/>
          <p:nvPr/>
        </p:nvSpPr>
        <p:spPr>
          <a:xfrm>
            <a:off x="8059713" y="297955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5" name="Oval 554"/>
          <p:cNvSpPr/>
          <p:nvPr/>
        </p:nvSpPr>
        <p:spPr>
          <a:xfrm>
            <a:off x="7481255" y="298362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Oval 555"/>
          <p:cNvSpPr/>
          <p:nvPr/>
        </p:nvSpPr>
        <p:spPr>
          <a:xfrm>
            <a:off x="7600447" y="291647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7" name="Oval 556"/>
          <p:cNvSpPr/>
          <p:nvPr/>
        </p:nvSpPr>
        <p:spPr>
          <a:xfrm>
            <a:off x="7791456" y="291314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Oval 557"/>
          <p:cNvSpPr/>
          <p:nvPr/>
        </p:nvSpPr>
        <p:spPr>
          <a:xfrm>
            <a:off x="7737140" y="292479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Oval 558"/>
          <p:cNvSpPr/>
          <p:nvPr/>
        </p:nvSpPr>
        <p:spPr>
          <a:xfrm>
            <a:off x="7659892" y="289384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Oval 559"/>
          <p:cNvSpPr/>
          <p:nvPr/>
        </p:nvSpPr>
        <p:spPr>
          <a:xfrm>
            <a:off x="7540096" y="295918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1" name="Oval 560"/>
          <p:cNvSpPr/>
          <p:nvPr/>
        </p:nvSpPr>
        <p:spPr>
          <a:xfrm>
            <a:off x="7476427" y="295876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Oval 561"/>
          <p:cNvSpPr/>
          <p:nvPr/>
        </p:nvSpPr>
        <p:spPr>
          <a:xfrm>
            <a:off x="7717828" y="295762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Oval 562"/>
          <p:cNvSpPr/>
          <p:nvPr/>
        </p:nvSpPr>
        <p:spPr>
          <a:xfrm>
            <a:off x="7703948" y="298199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Oval 563"/>
          <p:cNvSpPr/>
          <p:nvPr/>
        </p:nvSpPr>
        <p:spPr>
          <a:xfrm>
            <a:off x="7634243" y="298428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Oval 564"/>
          <p:cNvSpPr/>
          <p:nvPr/>
        </p:nvSpPr>
        <p:spPr>
          <a:xfrm>
            <a:off x="7953195" y="294453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Oval 565"/>
          <p:cNvSpPr/>
          <p:nvPr/>
        </p:nvSpPr>
        <p:spPr>
          <a:xfrm>
            <a:off x="7713000" y="293987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7" name="Oval 566"/>
          <p:cNvSpPr/>
          <p:nvPr/>
        </p:nvSpPr>
        <p:spPr>
          <a:xfrm>
            <a:off x="8144204" y="293895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Oval 567"/>
          <p:cNvSpPr/>
          <p:nvPr/>
        </p:nvSpPr>
        <p:spPr>
          <a:xfrm>
            <a:off x="8342153" y="291785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9" name="Oval 568"/>
          <p:cNvSpPr/>
          <p:nvPr/>
        </p:nvSpPr>
        <p:spPr>
          <a:xfrm>
            <a:off x="7666229" y="297078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Oval 569"/>
          <p:cNvSpPr/>
          <p:nvPr/>
        </p:nvSpPr>
        <p:spPr>
          <a:xfrm>
            <a:off x="8324350" y="296716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Oval 570"/>
          <p:cNvSpPr/>
          <p:nvPr/>
        </p:nvSpPr>
        <p:spPr>
          <a:xfrm>
            <a:off x="7836417" y="289980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2" name="Oval 571"/>
          <p:cNvSpPr/>
          <p:nvPr/>
        </p:nvSpPr>
        <p:spPr>
          <a:xfrm>
            <a:off x="8144807" y="288705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Oval 572"/>
          <p:cNvSpPr/>
          <p:nvPr/>
        </p:nvSpPr>
        <p:spPr>
          <a:xfrm>
            <a:off x="8377156" y="292498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Oval 573"/>
          <p:cNvSpPr/>
          <p:nvPr/>
        </p:nvSpPr>
        <p:spPr>
          <a:xfrm>
            <a:off x="8203045" y="290628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Oval 574"/>
          <p:cNvSpPr/>
          <p:nvPr/>
        </p:nvSpPr>
        <p:spPr>
          <a:xfrm>
            <a:off x="8114632" y="289454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6" name="Oval 575"/>
          <p:cNvSpPr/>
          <p:nvPr/>
        </p:nvSpPr>
        <p:spPr>
          <a:xfrm>
            <a:off x="8029236" y="295170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Oval 576"/>
          <p:cNvSpPr/>
          <p:nvPr/>
        </p:nvSpPr>
        <p:spPr>
          <a:xfrm>
            <a:off x="7962549" y="293663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8" name="Oval 577"/>
          <p:cNvSpPr/>
          <p:nvPr/>
        </p:nvSpPr>
        <p:spPr>
          <a:xfrm>
            <a:off x="7869006" y="295282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Oval 578"/>
          <p:cNvSpPr/>
          <p:nvPr/>
        </p:nvSpPr>
        <p:spPr>
          <a:xfrm>
            <a:off x="7869911" y="295565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0" name="Oval 579"/>
          <p:cNvSpPr/>
          <p:nvPr/>
        </p:nvSpPr>
        <p:spPr>
          <a:xfrm>
            <a:off x="7872627" y="296171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Oval 580"/>
          <p:cNvSpPr/>
          <p:nvPr/>
        </p:nvSpPr>
        <p:spPr>
          <a:xfrm>
            <a:off x="8259473" y="292242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Oval 581"/>
          <p:cNvSpPr/>
          <p:nvPr/>
        </p:nvSpPr>
        <p:spPr>
          <a:xfrm>
            <a:off x="7818312" y="293860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3" name="Oval 582"/>
          <p:cNvSpPr/>
          <p:nvPr/>
        </p:nvSpPr>
        <p:spPr>
          <a:xfrm>
            <a:off x="7966774" y="296817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4" name="Oval 583"/>
          <p:cNvSpPr/>
          <p:nvPr/>
        </p:nvSpPr>
        <p:spPr>
          <a:xfrm>
            <a:off x="7689765" y="290454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Oval 584"/>
          <p:cNvSpPr/>
          <p:nvPr/>
        </p:nvSpPr>
        <p:spPr>
          <a:xfrm>
            <a:off x="7773652" y="298184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6" name="Oval 585"/>
          <p:cNvSpPr/>
          <p:nvPr/>
        </p:nvSpPr>
        <p:spPr>
          <a:xfrm>
            <a:off x="7854824" y="293759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7" name="Oval 586"/>
          <p:cNvSpPr/>
          <p:nvPr/>
        </p:nvSpPr>
        <p:spPr>
          <a:xfrm>
            <a:off x="7590489" y="297280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Oval 587"/>
          <p:cNvSpPr/>
          <p:nvPr/>
        </p:nvSpPr>
        <p:spPr>
          <a:xfrm>
            <a:off x="8152049" y="292989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9" name="Oval 588"/>
          <p:cNvSpPr/>
          <p:nvPr/>
        </p:nvSpPr>
        <p:spPr>
          <a:xfrm>
            <a:off x="8514755" y="297608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0" name="Oval 589"/>
          <p:cNvSpPr/>
          <p:nvPr/>
        </p:nvSpPr>
        <p:spPr>
          <a:xfrm>
            <a:off x="8191881" y="291416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1" name="Oval 590"/>
          <p:cNvSpPr/>
          <p:nvPr/>
        </p:nvSpPr>
        <p:spPr>
          <a:xfrm>
            <a:off x="8487296" y="295231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Oval 591"/>
          <p:cNvSpPr/>
          <p:nvPr/>
        </p:nvSpPr>
        <p:spPr>
          <a:xfrm>
            <a:off x="8344567" y="298338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3" name="Oval 592"/>
          <p:cNvSpPr/>
          <p:nvPr/>
        </p:nvSpPr>
        <p:spPr>
          <a:xfrm>
            <a:off x="8106786" y="29296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4" name="Oval 593"/>
          <p:cNvSpPr/>
          <p:nvPr/>
        </p:nvSpPr>
        <p:spPr>
          <a:xfrm>
            <a:off x="8009321" y="289626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5" name="Oval 594"/>
          <p:cNvSpPr/>
          <p:nvPr/>
        </p:nvSpPr>
        <p:spPr>
          <a:xfrm>
            <a:off x="8178603" y="295293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6" name="Oval 595"/>
          <p:cNvSpPr/>
          <p:nvPr/>
        </p:nvSpPr>
        <p:spPr>
          <a:xfrm>
            <a:off x="8002380" y="298498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7" name="Oval 596"/>
          <p:cNvSpPr/>
          <p:nvPr/>
        </p:nvSpPr>
        <p:spPr>
          <a:xfrm>
            <a:off x="8005096" y="294258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8" name="Oval 597"/>
          <p:cNvSpPr/>
          <p:nvPr/>
        </p:nvSpPr>
        <p:spPr>
          <a:xfrm>
            <a:off x="8196709" y="29710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9" name="Oval 598"/>
          <p:cNvSpPr/>
          <p:nvPr/>
        </p:nvSpPr>
        <p:spPr>
          <a:xfrm>
            <a:off x="8107390" y="295985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0" name="Oval 599"/>
          <p:cNvSpPr/>
          <p:nvPr/>
        </p:nvSpPr>
        <p:spPr>
          <a:xfrm>
            <a:off x="8216624" y="291808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1" name="Oval 600"/>
          <p:cNvSpPr/>
          <p:nvPr/>
        </p:nvSpPr>
        <p:spPr>
          <a:xfrm>
            <a:off x="8230807" y="291924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2" name="Oval 601"/>
          <p:cNvSpPr/>
          <p:nvPr/>
        </p:nvSpPr>
        <p:spPr>
          <a:xfrm>
            <a:off x="8281501" y="288582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3" name="Oval 602"/>
          <p:cNvSpPr/>
          <p:nvPr/>
        </p:nvSpPr>
        <p:spPr>
          <a:xfrm>
            <a:off x="8042212" y="288776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4" name="Oval 603"/>
          <p:cNvSpPr/>
          <p:nvPr/>
        </p:nvSpPr>
        <p:spPr>
          <a:xfrm>
            <a:off x="7607689" y="291339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5" name="Oval 604"/>
          <p:cNvSpPr/>
          <p:nvPr/>
        </p:nvSpPr>
        <p:spPr>
          <a:xfrm>
            <a:off x="8276371" y="294226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6" name="Oval 605"/>
          <p:cNvSpPr/>
          <p:nvPr/>
        </p:nvSpPr>
        <p:spPr>
          <a:xfrm>
            <a:off x="8084759" y="296014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Oval 606"/>
          <p:cNvSpPr/>
          <p:nvPr/>
        </p:nvSpPr>
        <p:spPr>
          <a:xfrm>
            <a:off x="7822234" y="289667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Oval 607"/>
          <p:cNvSpPr/>
          <p:nvPr/>
        </p:nvSpPr>
        <p:spPr>
          <a:xfrm>
            <a:off x="7925132" y="289216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9" name="Oval 608"/>
          <p:cNvSpPr/>
          <p:nvPr/>
        </p:nvSpPr>
        <p:spPr>
          <a:xfrm>
            <a:off x="7932676" y="290421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Oval 609"/>
          <p:cNvSpPr/>
          <p:nvPr/>
        </p:nvSpPr>
        <p:spPr>
          <a:xfrm>
            <a:off x="7969188" y="294284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Oval 610"/>
          <p:cNvSpPr/>
          <p:nvPr/>
        </p:nvSpPr>
        <p:spPr>
          <a:xfrm>
            <a:off x="7934788" y="296476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2" name="Oval 611"/>
          <p:cNvSpPr/>
          <p:nvPr/>
        </p:nvSpPr>
        <p:spPr>
          <a:xfrm>
            <a:off x="8418496" y="291391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Oval 612"/>
          <p:cNvSpPr/>
          <p:nvPr/>
        </p:nvSpPr>
        <p:spPr>
          <a:xfrm>
            <a:off x="8032857" y="292980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Oval 613"/>
          <p:cNvSpPr/>
          <p:nvPr/>
        </p:nvSpPr>
        <p:spPr>
          <a:xfrm>
            <a:off x="8423928" y="296411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5" name="Oval 614"/>
          <p:cNvSpPr/>
          <p:nvPr/>
        </p:nvSpPr>
        <p:spPr>
          <a:xfrm>
            <a:off x="8316806" y="296877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6" name="Oval 615"/>
          <p:cNvSpPr/>
          <p:nvPr/>
        </p:nvSpPr>
        <p:spPr>
          <a:xfrm>
            <a:off x="7981861" y="296517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7" name="Oval 616"/>
          <p:cNvSpPr/>
          <p:nvPr/>
        </p:nvSpPr>
        <p:spPr>
          <a:xfrm>
            <a:off x="8023503" y="289472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8" name="Oval 617"/>
          <p:cNvSpPr/>
          <p:nvPr/>
        </p:nvSpPr>
        <p:spPr>
          <a:xfrm>
            <a:off x="7561521" y="294343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9" name="Oval 618"/>
          <p:cNvSpPr/>
          <p:nvPr/>
        </p:nvSpPr>
        <p:spPr>
          <a:xfrm>
            <a:off x="8128211" y="295808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0" name="Oval 619"/>
          <p:cNvSpPr/>
          <p:nvPr/>
        </p:nvSpPr>
        <p:spPr>
          <a:xfrm>
            <a:off x="8095320" y="29298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1" name="Oval 620"/>
          <p:cNvSpPr/>
          <p:nvPr/>
        </p:nvSpPr>
        <p:spPr>
          <a:xfrm>
            <a:off x="8109502" y="297534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2" name="Oval 621"/>
          <p:cNvSpPr/>
          <p:nvPr/>
        </p:nvSpPr>
        <p:spPr>
          <a:xfrm>
            <a:off x="7745891" y="297079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3" name="Oval 622"/>
          <p:cNvSpPr/>
          <p:nvPr/>
        </p:nvSpPr>
        <p:spPr>
          <a:xfrm>
            <a:off x="7844262" y="298026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4" name="Oval 623"/>
          <p:cNvSpPr/>
          <p:nvPr/>
        </p:nvSpPr>
        <p:spPr>
          <a:xfrm>
            <a:off x="7892543" y="290407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5" name="Oval 624"/>
          <p:cNvSpPr/>
          <p:nvPr/>
        </p:nvSpPr>
        <p:spPr>
          <a:xfrm>
            <a:off x="8117348" y="3152555"/>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6" name="Oval 625"/>
          <p:cNvSpPr/>
          <p:nvPr/>
        </p:nvSpPr>
        <p:spPr>
          <a:xfrm>
            <a:off x="7873532" y="313664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7" name="Oval 626"/>
          <p:cNvSpPr/>
          <p:nvPr/>
        </p:nvSpPr>
        <p:spPr>
          <a:xfrm>
            <a:off x="7766712" y="3152657"/>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8" name="Oval 627"/>
          <p:cNvSpPr/>
          <p:nvPr/>
        </p:nvSpPr>
        <p:spPr>
          <a:xfrm>
            <a:off x="7550356" y="309064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9" name="Oval 628"/>
          <p:cNvSpPr/>
          <p:nvPr/>
        </p:nvSpPr>
        <p:spPr>
          <a:xfrm>
            <a:off x="8191579" y="318405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0" name="Oval 629"/>
          <p:cNvSpPr/>
          <p:nvPr/>
        </p:nvSpPr>
        <p:spPr>
          <a:xfrm>
            <a:off x="7828571" y="3112790"/>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1" name="Oval 630"/>
          <p:cNvSpPr/>
          <p:nvPr/>
        </p:nvSpPr>
        <p:spPr>
          <a:xfrm>
            <a:off x="7719940" y="315322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2" name="Oval 631"/>
          <p:cNvSpPr/>
          <p:nvPr/>
        </p:nvSpPr>
        <p:spPr>
          <a:xfrm>
            <a:off x="7711491" y="309476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Oval 632"/>
          <p:cNvSpPr/>
          <p:nvPr/>
        </p:nvSpPr>
        <p:spPr>
          <a:xfrm>
            <a:off x="8018675" y="3115627"/>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4" name="Oval 633"/>
          <p:cNvSpPr/>
          <p:nvPr/>
        </p:nvSpPr>
        <p:spPr>
          <a:xfrm>
            <a:off x="7595317" y="310912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5" name="Oval 634"/>
          <p:cNvSpPr/>
          <p:nvPr/>
        </p:nvSpPr>
        <p:spPr>
          <a:xfrm>
            <a:off x="7601352" y="312185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6" name="Oval 635"/>
          <p:cNvSpPr/>
          <p:nvPr/>
        </p:nvSpPr>
        <p:spPr>
          <a:xfrm>
            <a:off x="8261585" y="317453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7" name="Oval 636"/>
          <p:cNvSpPr/>
          <p:nvPr/>
        </p:nvSpPr>
        <p:spPr>
          <a:xfrm>
            <a:off x="7631225" y="3162851"/>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8" name="Oval 637"/>
          <p:cNvSpPr/>
          <p:nvPr/>
        </p:nvSpPr>
        <p:spPr>
          <a:xfrm>
            <a:off x="8113425" y="3129648"/>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Oval 638"/>
          <p:cNvSpPr/>
          <p:nvPr/>
        </p:nvSpPr>
        <p:spPr>
          <a:xfrm>
            <a:off x="7692481" y="310964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0" name="Oval 639"/>
          <p:cNvSpPr/>
          <p:nvPr/>
        </p:nvSpPr>
        <p:spPr>
          <a:xfrm>
            <a:off x="7795077" y="3176570"/>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1" name="Oval 640"/>
          <p:cNvSpPr/>
          <p:nvPr/>
        </p:nvSpPr>
        <p:spPr>
          <a:xfrm>
            <a:off x="7964359" y="316927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Oval 641"/>
          <p:cNvSpPr/>
          <p:nvPr/>
        </p:nvSpPr>
        <p:spPr>
          <a:xfrm>
            <a:off x="8386812" y="3126717"/>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3" name="Oval 642"/>
          <p:cNvSpPr/>
          <p:nvPr/>
        </p:nvSpPr>
        <p:spPr>
          <a:xfrm>
            <a:off x="8127607" y="318490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4" name="Oval 643"/>
          <p:cNvSpPr/>
          <p:nvPr/>
        </p:nvSpPr>
        <p:spPr>
          <a:xfrm>
            <a:off x="7722656" y="316466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5" name="Oval 644"/>
          <p:cNvSpPr/>
          <p:nvPr/>
        </p:nvSpPr>
        <p:spPr>
          <a:xfrm>
            <a:off x="7794775" y="317104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Oval 645"/>
          <p:cNvSpPr/>
          <p:nvPr/>
        </p:nvSpPr>
        <p:spPr>
          <a:xfrm>
            <a:off x="7968282" y="313190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Oval 646"/>
          <p:cNvSpPr/>
          <p:nvPr/>
        </p:nvSpPr>
        <p:spPr>
          <a:xfrm>
            <a:off x="7990008" y="3108207"/>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8" name="Oval 647"/>
          <p:cNvSpPr/>
          <p:nvPr/>
        </p:nvSpPr>
        <p:spPr>
          <a:xfrm>
            <a:off x="7482462" y="3096997"/>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9" name="TextBox 648"/>
          <p:cNvSpPr txBox="1"/>
          <p:nvPr/>
        </p:nvSpPr>
        <p:spPr>
          <a:xfrm>
            <a:off x="10195560" y="2866644"/>
            <a:ext cx="1005840" cy="429768"/>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00407A"/>
                </a:solidFill>
                <a:latin typeface="Arial"/>
              </a:rPr>
              <a:t>0 of 123</a:t>
            </a:r>
          </a:p>
          <a:p>
            <a:pPr algn="l">
              <a:lnSpc>
                <a:spcPct val="109000"/>
              </a:lnSpc>
              <a:spcBef>
                <a:spcPts val="0"/>
              </a:spcBef>
              <a:spcAft>
                <a:spcPts val="0"/>
              </a:spcAft>
            </a:pPr>
            <a:r>
              <a:rPr sz="1250" b="0">
                <a:solidFill>
                  <a:srgbClr val="00407A"/>
                </a:solidFill>
                <a:latin typeface="Arial"/>
              </a:rPr>
              <a:t>are “yes”</a:t>
            </a:r>
          </a:p>
        </p:txBody>
      </p:sp>
      <p:sp>
        <p:nvSpPr>
          <p:cNvPr id="650" name="TextBox 649"/>
          <p:cNvSpPr txBox="1"/>
          <p:nvPr/>
        </p:nvSpPr>
        <p:spPr>
          <a:xfrm>
            <a:off x="6391656" y="3424427"/>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4B</a:t>
            </a:r>
          </a:p>
        </p:txBody>
      </p:sp>
      <p:sp>
        <p:nvSpPr>
          <p:cNvPr id="651" name="Oval 650"/>
          <p:cNvSpPr/>
          <p:nvPr/>
        </p:nvSpPr>
        <p:spPr>
          <a:xfrm>
            <a:off x="9760689" y="340520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2" name="Oval 651"/>
          <p:cNvSpPr/>
          <p:nvPr/>
        </p:nvSpPr>
        <p:spPr>
          <a:xfrm>
            <a:off x="9463463" y="347253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3" name="Oval 652"/>
          <p:cNvSpPr/>
          <p:nvPr/>
        </p:nvSpPr>
        <p:spPr>
          <a:xfrm>
            <a:off x="9752542" y="341959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Oval 653"/>
          <p:cNvSpPr/>
          <p:nvPr/>
        </p:nvSpPr>
        <p:spPr>
          <a:xfrm>
            <a:off x="7533458" y="343121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Oval 654"/>
          <p:cNvSpPr/>
          <p:nvPr/>
        </p:nvSpPr>
        <p:spPr>
          <a:xfrm>
            <a:off x="9380482" y="338810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6" name="Oval 655"/>
          <p:cNvSpPr/>
          <p:nvPr/>
        </p:nvSpPr>
        <p:spPr>
          <a:xfrm>
            <a:off x="9676802" y="345872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7" name="Oval 656"/>
          <p:cNvSpPr/>
          <p:nvPr/>
        </p:nvSpPr>
        <p:spPr>
          <a:xfrm>
            <a:off x="9569982" y="345396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Oval 657"/>
          <p:cNvSpPr/>
          <p:nvPr/>
        </p:nvSpPr>
        <p:spPr>
          <a:xfrm>
            <a:off x="9660206" y="341704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Oval 658"/>
          <p:cNvSpPr/>
          <p:nvPr/>
        </p:nvSpPr>
        <p:spPr>
          <a:xfrm>
            <a:off x="9113733" y="339993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Oval 659"/>
          <p:cNvSpPr/>
          <p:nvPr/>
        </p:nvSpPr>
        <p:spPr>
          <a:xfrm>
            <a:off x="9584768" y="345937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1" name="Oval 660"/>
          <p:cNvSpPr/>
          <p:nvPr/>
        </p:nvSpPr>
        <p:spPr>
          <a:xfrm>
            <a:off x="9380482" y="339827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2" name="Oval 661"/>
          <p:cNvSpPr/>
          <p:nvPr/>
        </p:nvSpPr>
        <p:spPr>
          <a:xfrm>
            <a:off x="9249823" y="343971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Oval 662"/>
          <p:cNvSpPr/>
          <p:nvPr/>
        </p:nvSpPr>
        <p:spPr>
          <a:xfrm>
            <a:off x="8692487" y="341877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Oval 663"/>
          <p:cNvSpPr/>
          <p:nvPr/>
        </p:nvSpPr>
        <p:spPr>
          <a:xfrm>
            <a:off x="9494544" y="346133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5" name="Oval 664"/>
          <p:cNvSpPr/>
          <p:nvPr/>
        </p:nvSpPr>
        <p:spPr>
          <a:xfrm>
            <a:off x="9365998" y="342230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6" name="Oval 665"/>
          <p:cNvSpPr/>
          <p:nvPr/>
        </p:nvSpPr>
        <p:spPr>
          <a:xfrm>
            <a:off x="9130329" y="345681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Oval 666"/>
          <p:cNvSpPr/>
          <p:nvPr/>
        </p:nvSpPr>
        <p:spPr>
          <a:xfrm>
            <a:off x="9052477" y="342978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Oval 667"/>
          <p:cNvSpPr/>
          <p:nvPr/>
        </p:nvSpPr>
        <p:spPr>
          <a:xfrm>
            <a:off x="9445057" y="345653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9" name="Oval 668"/>
          <p:cNvSpPr/>
          <p:nvPr/>
        </p:nvSpPr>
        <p:spPr>
          <a:xfrm>
            <a:off x="9303233" y="339606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Oval 669"/>
          <p:cNvSpPr/>
          <p:nvPr/>
        </p:nvSpPr>
        <p:spPr>
          <a:xfrm>
            <a:off x="9441436" y="342738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Oval 670"/>
          <p:cNvSpPr/>
          <p:nvPr/>
        </p:nvSpPr>
        <p:spPr>
          <a:xfrm>
            <a:off x="8832500" y="339071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2" name="Oval 671"/>
          <p:cNvSpPr/>
          <p:nvPr/>
        </p:nvSpPr>
        <p:spPr>
          <a:xfrm>
            <a:off x="9270946" y="345326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3" name="Oval 672"/>
          <p:cNvSpPr/>
          <p:nvPr/>
        </p:nvSpPr>
        <p:spPr>
          <a:xfrm>
            <a:off x="9507821" y="343549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Oval 673"/>
          <p:cNvSpPr/>
          <p:nvPr/>
        </p:nvSpPr>
        <p:spPr>
          <a:xfrm>
            <a:off x="9500277" y="348181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Oval 674"/>
          <p:cNvSpPr/>
          <p:nvPr/>
        </p:nvSpPr>
        <p:spPr>
          <a:xfrm>
            <a:off x="9192792" y="346730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6" name="Oval 675"/>
          <p:cNvSpPr/>
          <p:nvPr/>
        </p:nvSpPr>
        <p:spPr>
          <a:xfrm>
            <a:off x="9329184" y="345940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7" name="Oval 676"/>
          <p:cNvSpPr/>
          <p:nvPr/>
        </p:nvSpPr>
        <p:spPr>
          <a:xfrm>
            <a:off x="9328279" y="341259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Oval 677"/>
          <p:cNvSpPr/>
          <p:nvPr/>
        </p:nvSpPr>
        <p:spPr>
          <a:xfrm>
            <a:off x="9201543" y="348320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Oval 678"/>
          <p:cNvSpPr/>
          <p:nvPr/>
        </p:nvSpPr>
        <p:spPr>
          <a:xfrm>
            <a:off x="9483379" y="348247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0" name="Oval 679"/>
          <p:cNvSpPr/>
          <p:nvPr/>
        </p:nvSpPr>
        <p:spPr>
          <a:xfrm>
            <a:off x="9508424" y="348654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1" name="Oval 680"/>
          <p:cNvSpPr/>
          <p:nvPr/>
        </p:nvSpPr>
        <p:spPr>
          <a:xfrm>
            <a:off x="9166539" y="341939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Oval 681"/>
          <p:cNvSpPr/>
          <p:nvPr/>
        </p:nvSpPr>
        <p:spPr>
          <a:xfrm>
            <a:off x="9711805" y="341606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Oval 682"/>
          <p:cNvSpPr/>
          <p:nvPr/>
        </p:nvSpPr>
        <p:spPr>
          <a:xfrm>
            <a:off x="9272153" y="342771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4" name="Oval 683"/>
          <p:cNvSpPr/>
          <p:nvPr/>
        </p:nvSpPr>
        <p:spPr>
          <a:xfrm>
            <a:off x="9269437" y="339676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5" name="Oval 684"/>
          <p:cNvSpPr/>
          <p:nvPr/>
        </p:nvSpPr>
        <p:spPr>
          <a:xfrm>
            <a:off x="9327072" y="346210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6" name="Oval 685"/>
          <p:cNvSpPr/>
          <p:nvPr/>
        </p:nvSpPr>
        <p:spPr>
          <a:xfrm>
            <a:off x="9070281" y="346168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7" name="Oval 686"/>
          <p:cNvSpPr/>
          <p:nvPr/>
        </p:nvSpPr>
        <p:spPr>
          <a:xfrm>
            <a:off x="9353626" y="346054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8" name="Oval 687"/>
          <p:cNvSpPr/>
          <p:nvPr/>
        </p:nvSpPr>
        <p:spPr>
          <a:xfrm>
            <a:off x="9238658" y="348491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9" name="Oval 688"/>
          <p:cNvSpPr/>
          <p:nvPr/>
        </p:nvSpPr>
        <p:spPr>
          <a:xfrm>
            <a:off x="9237451" y="348720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0" name="Oval 689"/>
          <p:cNvSpPr/>
          <p:nvPr/>
        </p:nvSpPr>
        <p:spPr>
          <a:xfrm>
            <a:off x="9416994" y="344745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1" name="Oval 690"/>
          <p:cNvSpPr/>
          <p:nvPr/>
        </p:nvSpPr>
        <p:spPr>
          <a:xfrm>
            <a:off x="9571491" y="344279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2" name="Oval 691"/>
          <p:cNvSpPr/>
          <p:nvPr/>
        </p:nvSpPr>
        <p:spPr>
          <a:xfrm>
            <a:off x="9749826" y="344187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3" name="Oval 692"/>
          <p:cNvSpPr/>
          <p:nvPr/>
        </p:nvSpPr>
        <p:spPr>
          <a:xfrm>
            <a:off x="9462860" y="342077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4" name="Oval 693"/>
          <p:cNvSpPr/>
          <p:nvPr/>
        </p:nvSpPr>
        <p:spPr>
          <a:xfrm>
            <a:off x="9596838" y="347370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5" name="Oval 694"/>
          <p:cNvSpPr/>
          <p:nvPr/>
        </p:nvSpPr>
        <p:spPr>
          <a:xfrm>
            <a:off x="9623995" y="347008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6" name="Oval 695"/>
          <p:cNvSpPr/>
          <p:nvPr/>
        </p:nvSpPr>
        <p:spPr>
          <a:xfrm>
            <a:off x="9591406" y="340272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7" name="Oval 696"/>
          <p:cNvSpPr/>
          <p:nvPr/>
        </p:nvSpPr>
        <p:spPr>
          <a:xfrm>
            <a:off x="9609210" y="338997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8" name="Oval 697"/>
          <p:cNvSpPr/>
          <p:nvPr/>
        </p:nvSpPr>
        <p:spPr>
          <a:xfrm>
            <a:off x="9383801" y="342790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9" name="Oval 698"/>
          <p:cNvSpPr/>
          <p:nvPr/>
        </p:nvSpPr>
        <p:spPr>
          <a:xfrm>
            <a:off x="9572698" y="340920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0" name="Oval 699"/>
          <p:cNvSpPr/>
          <p:nvPr/>
        </p:nvSpPr>
        <p:spPr>
          <a:xfrm>
            <a:off x="9649946" y="339746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1" name="Oval 700"/>
          <p:cNvSpPr/>
          <p:nvPr/>
        </p:nvSpPr>
        <p:spPr>
          <a:xfrm>
            <a:off x="8994541" y="345462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2" name="Oval 701"/>
          <p:cNvSpPr/>
          <p:nvPr/>
        </p:nvSpPr>
        <p:spPr>
          <a:xfrm>
            <a:off x="9599855" y="343955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3" name="Oval 702"/>
          <p:cNvSpPr/>
          <p:nvPr/>
        </p:nvSpPr>
        <p:spPr>
          <a:xfrm>
            <a:off x="9635160" y="345574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4" name="Oval 703"/>
          <p:cNvSpPr/>
          <p:nvPr/>
        </p:nvSpPr>
        <p:spPr>
          <a:xfrm>
            <a:off x="9415183" y="345857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5" name="Oval 704"/>
          <p:cNvSpPr/>
          <p:nvPr/>
        </p:nvSpPr>
        <p:spPr>
          <a:xfrm>
            <a:off x="9613434" y="346463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6" name="Oval 705"/>
          <p:cNvSpPr/>
          <p:nvPr/>
        </p:nvSpPr>
        <p:spPr>
          <a:xfrm>
            <a:off x="9768535" y="342534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7" name="Oval 706"/>
          <p:cNvSpPr/>
          <p:nvPr/>
        </p:nvSpPr>
        <p:spPr>
          <a:xfrm>
            <a:off x="9704563" y="344152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8" name="Oval 707"/>
          <p:cNvSpPr/>
          <p:nvPr/>
        </p:nvSpPr>
        <p:spPr>
          <a:xfrm>
            <a:off x="9676500" y="347109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9" name="Oval 708"/>
          <p:cNvSpPr/>
          <p:nvPr/>
        </p:nvSpPr>
        <p:spPr>
          <a:xfrm>
            <a:off x="9551877" y="340746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0" name="Oval 709"/>
          <p:cNvSpPr/>
          <p:nvPr/>
        </p:nvSpPr>
        <p:spPr>
          <a:xfrm>
            <a:off x="9690381" y="348476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1" name="Oval 710"/>
          <p:cNvSpPr/>
          <p:nvPr/>
        </p:nvSpPr>
        <p:spPr>
          <a:xfrm>
            <a:off x="9578129" y="344051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2" name="Oval 711"/>
          <p:cNvSpPr/>
          <p:nvPr/>
        </p:nvSpPr>
        <p:spPr>
          <a:xfrm>
            <a:off x="9560024" y="347572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3" name="Oval 712"/>
          <p:cNvSpPr/>
          <p:nvPr/>
        </p:nvSpPr>
        <p:spPr>
          <a:xfrm>
            <a:off x="9693097" y="343281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4" name="Oval 713"/>
          <p:cNvSpPr/>
          <p:nvPr/>
        </p:nvSpPr>
        <p:spPr>
          <a:xfrm>
            <a:off x="9782717" y="347900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5" name="Oval 714"/>
          <p:cNvSpPr/>
          <p:nvPr/>
        </p:nvSpPr>
        <p:spPr>
          <a:xfrm>
            <a:off x="9604985" y="341708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6" name="Oval 715"/>
          <p:cNvSpPr/>
          <p:nvPr/>
        </p:nvSpPr>
        <p:spPr>
          <a:xfrm>
            <a:off x="9697925" y="345523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7" name="Oval 716"/>
          <p:cNvSpPr/>
          <p:nvPr/>
        </p:nvSpPr>
        <p:spPr>
          <a:xfrm>
            <a:off x="9700339" y="348630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8" name="Oval 717"/>
          <p:cNvSpPr/>
          <p:nvPr/>
        </p:nvSpPr>
        <p:spPr>
          <a:xfrm>
            <a:off x="9603778" y="343254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9" name="Oval 718"/>
          <p:cNvSpPr/>
          <p:nvPr/>
        </p:nvSpPr>
        <p:spPr>
          <a:xfrm>
            <a:off x="9520796" y="339918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0" name="Oval 719"/>
          <p:cNvSpPr/>
          <p:nvPr/>
        </p:nvSpPr>
        <p:spPr>
          <a:xfrm>
            <a:off x="9441737" y="345585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1" name="Oval 720"/>
          <p:cNvSpPr/>
          <p:nvPr/>
        </p:nvSpPr>
        <p:spPr>
          <a:xfrm>
            <a:off x="9568775" y="348790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2" name="Oval 721"/>
          <p:cNvSpPr/>
          <p:nvPr/>
        </p:nvSpPr>
        <p:spPr>
          <a:xfrm>
            <a:off x="9613736" y="344550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3" name="Oval 722"/>
          <p:cNvSpPr/>
          <p:nvPr/>
        </p:nvSpPr>
        <p:spPr>
          <a:xfrm>
            <a:off x="9657188" y="347394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4" name="Oval 723"/>
          <p:cNvSpPr/>
          <p:nvPr/>
        </p:nvSpPr>
        <p:spPr>
          <a:xfrm>
            <a:off x="9675595" y="346277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5" name="Oval 724"/>
          <p:cNvSpPr/>
          <p:nvPr/>
        </p:nvSpPr>
        <p:spPr>
          <a:xfrm>
            <a:off x="9404320" y="342100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6" name="Oval 725"/>
          <p:cNvSpPr/>
          <p:nvPr/>
        </p:nvSpPr>
        <p:spPr>
          <a:xfrm>
            <a:off x="9179515" y="342216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7" name="Oval 726"/>
          <p:cNvSpPr/>
          <p:nvPr/>
        </p:nvSpPr>
        <p:spPr>
          <a:xfrm>
            <a:off x="9635462" y="338874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8" name="Oval 727"/>
          <p:cNvSpPr/>
          <p:nvPr/>
        </p:nvSpPr>
        <p:spPr>
          <a:xfrm>
            <a:off x="9086575" y="339068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9" name="Oval 728"/>
          <p:cNvSpPr/>
          <p:nvPr/>
        </p:nvSpPr>
        <p:spPr>
          <a:xfrm>
            <a:off x="9244995" y="341631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0" name="Oval 729"/>
          <p:cNvSpPr/>
          <p:nvPr/>
        </p:nvSpPr>
        <p:spPr>
          <a:xfrm>
            <a:off x="9539505" y="344518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1" name="Oval 730"/>
          <p:cNvSpPr/>
          <p:nvPr/>
        </p:nvSpPr>
        <p:spPr>
          <a:xfrm>
            <a:off x="9549765" y="346306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2" name="Oval 731"/>
          <p:cNvSpPr/>
          <p:nvPr/>
        </p:nvSpPr>
        <p:spPr>
          <a:xfrm>
            <a:off x="9548859" y="339959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3" name="Oval 732"/>
          <p:cNvSpPr/>
          <p:nvPr/>
        </p:nvSpPr>
        <p:spPr>
          <a:xfrm>
            <a:off x="9363282" y="339508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4" name="Oval 733"/>
          <p:cNvSpPr/>
          <p:nvPr/>
        </p:nvSpPr>
        <p:spPr>
          <a:xfrm>
            <a:off x="9498165" y="340713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5" name="Oval 734"/>
          <p:cNvSpPr/>
          <p:nvPr/>
        </p:nvSpPr>
        <p:spPr>
          <a:xfrm>
            <a:off x="9191585" y="344576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6" name="Oval 735"/>
          <p:cNvSpPr/>
          <p:nvPr/>
        </p:nvSpPr>
        <p:spPr>
          <a:xfrm>
            <a:off x="9744696" y="346768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7" name="Oval 736"/>
          <p:cNvSpPr/>
          <p:nvPr/>
        </p:nvSpPr>
        <p:spPr>
          <a:xfrm>
            <a:off x="9789054" y="341683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8" name="Oval 737"/>
          <p:cNvSpPr/>
          <p:nvPr/>
        </p:nvSpPr>
        <p:spPr>
          <a:xfrm>
            <a:off x="9570284" y="343272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9" name="Oval 738"/>
          <p:cNvSpPr/>
          <p:nvPr/>
        </p:nvSpPr>
        <p:spPr>
          <a:xfrm>
            <a:off x="9744395" y="346703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0" name="Oval 739"/>
          <p:cNvSpPr/>
          <p:nvPr/>
        </p:nvSpPr>
        <p:spPr>
          <a:xfrm>
            <a:off x="9719349" y="347169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1" name="Oval 740"/>
          <p:cNvSpPr/>
          <p:nvPr/>
        </p:nvSpPr>
        <p:spPr>
          <a:xfrm>
            <a:off x="9463463" y="346809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2" name="Oval 741"/>
          <p:cNvSpPr/>
          <p:nvPr/>
        </p:nvSpPr>
        <p:spPr>
          <a:xfrm>
            <a:off x="9404924" y="339764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3" name="Oval 742"/>
          <p:cNvSpPr/>
          <p:nvPr/>
        </p:nvSpPr>
        <p:spPr>
          <a:xfrm>
            <a:off x="9702451" y="344635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4" name="Oval 743"/>
          <p:cNvSpPr/>
          <p:nvPr/>
        </p:nvSpPr>
        <p:spPr>
          <a:xfrm>
            <a:off x="9705770" y="346100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5" name="Oval 744"/>
          <p:cNvSpPr/>
          <p:nvPr/>
        </p:nvSpPr>
        <p:spPr>
          <a:xfrm>
            <a:off x="9606192" y="343274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6" name="Oval 745"/>
          <p:cNvSpPr/>
          <p:nvPr/>
        </p:nvSpPr>
        <p:spPr>
          <a:xfrm>
            <a:off x="9599855" y="347826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7" name="Oval 746"/>
          <p:cNvSpPr/>
          <p:nvPr/>
        </p:nvSpPr>
        <p:spPr>
          <a:xfrm>
            <a:off x="9560024" y="347371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8" name="Oval 747"/>
          <p:cNvSpPr/>
          <p:nvPr/>
        </p:nvSpPr>
        <p:spPr>
          <a:xfrm>
            <a:off x="9637273" y="348318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9" name="Oval 748"/>
          <p:cNvSpPr/>
          <p:nvPr/>
        </p:nvSpPr>
        <p:spPr>
          <a:xfrm>
            <a:off x="9578431" y="340699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0" name="Oval 749"/>
          <p:cNvSpPr/>
          <p:nvPr/>
        </p:nvSpPr>
        <p:spPr>
          <a:xfrm>
            <a:off x="9657490" y="3655475"/>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1" name="Oval 750"/>
          <p:cNvSpPr/>
          <p:nvPr/>
        </p:nvSpPr>
        <p:spPr>
          <a:xfrm>
            <a:off x="9002990" y="363956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2" name="Oval 751"/>
          <p:cNvSpPr/>
          <p:nvPr/>
        </p:nvSpPr>
        <p:spPr>
          <a:xfrm>
            <a:off x="9423934" y="3655577"/>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3" name="Oval 752"/>
          <p:cNvSpPr/>
          <p:nvPr/>
        </p:nvSpPr>
        <p:spPr>
          <a:xfrm>
            <a:off x="9107094" y="359356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4" name="Oval 753"/>
          <p:cNvSpPr/>
          <p:nvPr/>
        </p:nvSpPr>
        <p:spPr>
          <a:xfrm>
            <a:off x="9209388" y="368697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5" name="Oval 754"/>
          <p:cNvSpPr/>
          <p:nvPr/>
        </p:nvSpPr>
        <p:spPr>
          <a:xfrm>
            <a:off x="9525624" y="3615710"/>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6" name="Oval 755"/>
          <p:cNvSpPr/>
          <p:nvPr/>
        </p:nvSpPr>
        <p:spPr>
          <a:xfrm>
            <a:off x="9567870" y="365614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7" name="Oval 756"/>
          <p:cNvSpPr/>
          <p:nvPr/>
        </p:nvSpPr>
        <p:spPr>
          <a:xfrm>
            <a:off x="9234735" y="359768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8" name="Oval 757"/>
          <p:cNvSpPr/>
          <p:nvPr/>
        </p:nvSpPr>
        <p:spPr>
          <a:xfrm>
            <a:off x="8672270" y="3618547"/>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9" name="Oval 758"/>
          <p:cNvSpPr/>
          <p:nvPr/>
        </p:nvSpPr>
        <p:spPr>
          <a:xfrm>
            <a:off x="9477042" y="361204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0" name="Oval 759"/>
          <p:cNvSpPr/>
          <p:nvPr/>
        </p:nvSpPr>
        <p:spPr>
          <a:xfrm>
            <a:off x="9298707" y="362477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1" name="Oval 760"/>
          <p:cNvSpPr/>
          <p:nvPr/>
        </p:nvSpPr>
        <p:spPr>
          <a:xfrm>
            <a:off x="8890738" y="367745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2" name="Oval 761"/>
          <p:cNvSpPr/>
          <p:nvPr/>
        </p:nvSpPr>
        <p:spPr>
          <a:xfrm>
            <a:off x="8102864" y="3665771"/>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3" name="Oval 762"/>
          <p:cNvSpPr/>
          <p:nvPr/>
        </p:nvSpPr>
        <p:spPr>
          <a:xfrm>
            <a:off x="9320131" y="3632568"/>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4" name="Oval 763"/>
          <p:cNvSpPr/>
          <p:nvPr/>
        </p:nvSpPr>
        <p:spPr>
          <a:xfrm>
            <a:off x="8677098" y="361256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5" name="Oval 764"/>
          <p:cNvSpPr/>
          <p:nvPr/>
        </p:nvSpPr>
        <p:spPr>
          <a:xfrm>
            <a:off x="9020491" y="3679490"/>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6" name="Oval 765"/>
          <p:cNvSpPr/>
          <p:nvPr/>
        </p:nvSpPr>
        <p:spPr>
          <a:xfrm>
            <a:off x="8783616" y="367219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7" name="Oval 766"/>
          <p:cNvSpPr/>
          <p:nvPr/>
        </p:nvSpPr>
        <p:spPr>
          <a:xfrm>
            <a:off x="9092912" y="3629637"/>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8" name="Oval 767"/>
          <p:cNvSpPr/>
          <p:nvPr/>
        </p:nvSpPr>
        <p:spPr>
          <a:xfrm>
            <a:off x="9601062" y="368782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9" name="Oval 768"/>
          <p:cNvSpPr/>
          <p:nvPr/>
        </p:nvSpPr>
        <p:spPr>
          <a:xfrm>
            <a:off x="8595926" y="366758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0" name="Oval 769"/>
          <p:cNvSpPr/>
          <p:nvPr/>
        </p:nvSpPr>
        <p:spPr>
          <a:xfrm>
            <a:off x="9031355" y="367396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1" name="Oval 770"/>
          <p:cNvSpPr/>
          <p:nvPr/>
        </p:nvSpPr>
        <p:spPr>
          <a:xfrm>
            <a:off x="8416384" y="363482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2" name="Oval 771"/>
          <p:cNvSpPr/>
          <p:nvPr/>
        </p:nvSpPr>
        <p:spPr>
          <a:xfrm>
            <a:off x="9060625" y="3611127"/>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3" name="Oval 772"/>
          <p:cNvSpPr/>
          <p:nvPr/>
        </p:nvSpPr>
        <p:spPr>
          <a:xfrm>
            <a:off x="8921517" y="3599917"/>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4" name="TextBox 773"/>
          <p:cNvSpPr txBox="1"/>
          <p:nvPr/>
        </p:nvSpPr>
        <p:spPr>
          <a:xfrm>
            <a:off x="10195560" y="3369563"/>
            <a:ext cx="1005840" cy="429768"/>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00407A"/>
                </a:solidFill>
                <a:latin typeface="Arial"/>
              </a:rPr>
              <a:t>120 of 123</a:t>
            </a:r>
          </a:p>
          <a:p>
            <a:pPr algn="l">
              <a:lnSpc>
                <a:spcPct val="109000"/>
              </a:lnSpc>
              <a:spcBef>
                <a:spcPts val="0"/>
              </a:spcBef>
              <a:spcAft>
                <a:spcPts val="0"/>
              </a:spcAft>
            </a:pPr>
            <a:r>
              <a:rPr sz="1250" b="0">
                <a:solidFill>
                  <a:srgbClr val="00407A"/>
                </a:solidFill>
                <a:latin typeface="Arial"/>
              </a:rPr>
              <a:t>are “yes”</a:t>
            </a:r>
          </a:p>
        </p:txBody>
      </p:sp>
      <p:sp>
        <p:nvSpPr>
          <p:cNvPr id="775" name="TextBox 774"/>
          <p:cNvSpPr txBox="1"/>
          <p:nvPr/>
        </p:nvSpPr>
        <p:spPr>
          <a:xfrm>
            <a:off x="6391656" y="3927348"/>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9B</a:t>
            </a:r>
          </a:p>
        </p:txBody>
      </p:sp>
      <p:sp>
        <p:nvSpPr>
          <p:cNvPr id="776" name="Oval 775"/>
          <p:cNvSpPr/>
          <p:nvPr/>
        </p:nvSpPr>
        <p:spPr>
          <a:xfrm>
            <a:off x="9829489" y="390812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7" name="Oval 776"/>
          <p:cNvSpPr/>
          <p:nvPr/>
        </p:nvSpPr>
        <p:spPr>
          <a:xfrm>
            <a:off x="9825566" y="397545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8" name="Oval 777"/>
          <p:cNvSpPr/>
          <p:nvPr/>
        </p:nvSpPr>
        <p:spPr>
          <a:xfrm>
            <a:off x="9768836" y="392251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9" name="Oval 778"/>
          <p:cNvSpPr/>
          <p:nvPr/>
        </p:nvSpPr>
        <p:spPr>
          <a:xfrm>
            <a:off x="8172870" y="393413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0" name="Oval 779"/>
          <p:cNvSpPr/>
          <p:nvPr/>
        </p:nvSpPr>
        <p:spPr>
          <a:xfrm>
            <a:off x="9477646" y="389102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1" name="Oval 780"/>
          <p:cNvSpPr/>
          <p:nvPr/>
        </p:nvSpPr>
        <p:spPr>
          <a:xfrm>
            <a:off x="9716633" y="396164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2" name="Oval 781"/>
          <p:cNvSpPr/>
          <p:nvPr/>
        </p:nvSpPr>
        <p:spPr>
          <a:xfrm>
            <a:off x="9755559" y="395688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3" name="Oval 782"/>
          <p:cNvSpPr/>
          <p:nvPr/>
        </p:nvSpPr>
        <p:spPr>
          <a:xfrm>
            <a:off x="9737454" y="391996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4" name="Oval 783"/>
          <p:cNvSpPr/>
          <p:nvPr/>
        </p:nvSpPr>
        <p:spPr>
          <a:xfrm>
            <a:off x="9164729" y="390285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5" name="Oval 784"/>
          <p:cNvSpPr/>
          <p:nvPr/>
        </p:nvSpPr>
        <p:spPr>
          <a:xfrm>
            <a:off x="9750731" y="396229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6" name="Oval 785"/>
          <p:cNvSpPr/>
          <p:nvPr/>
        </p:nvSpPr>
        <p:spPr>
          <a:xfrm>
            <a:off x="9743188" y="390119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7" name="Oval 786"/>
          <p:cNvSpPr/>
          <p:nvPr/>
        </p:nvSpPr>
        <p:spPr>
          <a:xfrm>
            <a:off x="9786338" y="394263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8" name="Oval 787"/>
          <p:cNvSpPr/>
          <p:nvPr/>
        </p:nvSpPr>
        <p:spPr>
          <a:xfrm>
            <a:off x="9237149" y="392169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9" name="Oval 788"/>
          <p:cNvSpPr/>
          <p:nvPr/>
        </p:nvSpPr>
        <p:spPr>
          <a:xfrm>
            <a:off x="9673785" y="396425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0" name="Oval 789"/>
          <p:cNvSpPr/>
          <p:nvPr/>
        </p:nvSpPr>
        <p:spPr>
          <a:xfrm>
            <a:off x="9773363" y="392522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1" name="Oval 790"/>
          <p:cNvSpPr/>
          <p:nvPr/>
        </p:nvSpPr>
        <p:spPr>
          <a:xfrm>
            <a:off x="9574810" y="395973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2" name="Oval 791"/>
          <p:cNvSpPr/>
          <p:nvPr/>
        </p:nvSpPr>
        <p:spPr>
          <a:xfrm>
            <a:off x="9300216" y="393270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3" name="Oval 792"/>
          <p:cNvSpPr/>
          <p:nvPr/>
        </p:nvSpPr>
        <p:spPr>
          <a:xfrm>
            <a:off x="9503596" y="395945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4" name="Oval 793"/>
          <p:cNvSpPr/>
          <p:nvPr/>
        </p:nvSpPr>
        <p:spPr>
          <a:xfrm>
            <a:off x="9608908" y="389898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5" name="Oval 794"/>
          <p:cNvSpPr/>
          <p:nvPr/>
        </p:nvSpPr>
        <p:spPr>
          <a:xfrm>
            <a:off x="9754051" y="393030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6" name="Oval 795"/>
          <p:cNvSpPr/>
          <p:nvPr/>
        </p:nvSpPr>
        <p:spPr>
          <a:xfrm>
            <a:off x="9435702" y="389363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7" name="Oval 796"/>
          <p:cNvSpPr/>
          <p:nvPr/>
        </p:nvSpPr>
        <p:spPr>
          <a:xfrm>
            <a:off x="9711202" y="395618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8" name="Oval 797"/>
          <p:cNvSpPr/>
          <p:nvPr/>
        </p:nvSpPr>
        <p:spPr>
          <a:xfrm>
            <a:off x="9598950" y="393841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9" name="Oval 798"/>
          <p:cNvSpPr/>
          <p:nvPr/>
        </p:nvSpPr>
        <p:spPr>
          <a:xfrm>
            <a:off x="9257367" y="398473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0" name="Oval 799"/>
          <p:cNvSpPr/>
          <p:nvPr/>
        </p:nvSpPr>
        <p:spPr>
          <a:xfrm>
            <a:off x="9291163" y="397022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1" name="Oval 800"/>
          <p:cNvSpPr/>
          <p:nvPr/>
        </p:nvSpPr>
        <p:spPr>
          <a:xfrm>
            <a:off x="9497561" y="396232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2" name="Oval 801"/>
          <p:cNvSpPr/>
          <p:nvPr/>
        </p:nvSpPr>
        <p:spPr>
          <a:xfrm>
            <a:off x="9675293" y="391551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3" name="Oval 802"/>
          <p:cNvSpPr/>
          <p:nvPr/>
        </p:nvSpPr>
        <p:spPr>
          <a:xfrm>
            <a:off x="9517779" y="398612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4" name="Oval 803"/>
          <p:cNvSpPr/>
          <p:nvPr/>
        </p:nvSpPr>
        <p:spPr>
          <a:xfrm>
            <a:off x="9619469" y="398539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5" name="Oval 804"/>
          <p:cNvSpPr/>
          <p:nvPr/>
        </p:nvSpPr>
        <p:spPr>
          <a:xfrm>
            <a:off x="9682837" y="398946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6" name="Oval 805"/>
          <p:cNvSpPr/>
          <p:nvPr/>
        </p:nvSpPr>
        <p:spPr>
          <a:xfrm>
            <a:off x="9692795" y="392231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7" name="Oval 806"/>
          <p:cNvSpPr/>
          <p:nvPr/>
        </p:nvSpPr>
        <p:spPr>
          <a:xfrm>
            <a:off x="9834618" y="391898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8" name="Oval 807"/>
          <p:cNvSpPr/>
          <p:nvPr/>
        </p:nvSpPr>
        <p:spPr>
          <a:xfrm>
            <a:off x="9648437" y="393063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9" name="Oval 808"/>
          <p:cNvSpPr/>
          <p:nvPr/>
        </p:nvSpPr>
        <p:spPr>
          <a:xfrm>
            <a:off x="9464670" y="389968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0" name="Oval 809"/>
          <p:cNvSpPr/>
          <p:nvPr/>
        </p:nvSpPr>
        <p:spPr>
          <a:xfrm>
            <a:off x="9707581" y="396502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1" name="Oval 810"/>
          <p:cNvSpPr/>
          <p:nvPr/>
        </p:nvSpPr>
        <p:spPr>
          <a:xfrm>
            <a:off x="9358454" y="396460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2" name="Oval 811"/>
          <p:cNvSpPr/>
          <p:nvPr/>
        </p:nvSpPr>
        <p:spPr>
          <a:xfrm>
            <a:off x="9410657" y="396346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3" name="Oval 812"/>
          <p:cNvSpPr/>
          <p:nvPr/>
        </p:nvSpPr>
        <p:spPr>
          <a:xfrm>
            <a:off x="9595027" y="398783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4" name="Oval 813"/>
          <p:cNvSpPr/>
          <p:nvPr/>
        </p:nvSpPr>
        <p:spPr>
          <a:xfrm>
            <a:off x="9663525" y="399012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5" name="Oval 814"/>
          <p:cNvSpPr/>
          <p:nvPr/>
        </p:nvSpPr>
        <p:spPr>
          <a:xfrm>
            <a:off x="9508123" y="395037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6" name="Oval 815"/>
          <p:cNvSpPr/>
          <p:nvPr/>
        </p:nvSpPr>
        <p:spPr>
          <a:xfrm>
            <a:off x="9719651" y="394571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7" name="Oval 816"/>
          <p:cNvSpPr/>
          <p:nvPr/>
        </p:nvSpPr>
        <p:spPr>
          <a:xfrm>
            <a:off x="9844274" y="394479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8" name="Oval 817"/>
          <p:cNvSpPr/>
          <p:nvPr/>
        </p:nvSpPr>
        <p:spPr>
          <a:xfrm>
            <a:off x="9703658" y="392369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9" name="Oval 818"/>
          <p:cNvSpPr/>
          <p:nvPr/>
        </p:nvSpPr>
        <p:spPr>
          <a:xfrm>
            <a:off x="9766121" y="397662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0" name="Oval 819"/>
          <p:cNvSpPr/>
          <p:nvPr/>
        </p:nvSpPr>
        <p:spPr>
          <a:xfrm>
            <a:off x="9773061" y="397300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1" name="Oval 820"/>
          <p:cNvSpPr/>
          <p:nvPr/>
        </p:nvSpPr>
        <p:spPr>
          <a:xfrm>
            <a:off x="9747110" y="390564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2" name="Oval 821"/>
          <p:cNvSpPr/>
          <p:nvPr/>
        </p:nvSpPr>
        <p:spPr>
          <a:xfrm>
            <a:off x="9621280" y="389289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3" name="Oval 822"/>
          <p:cNvSpPr/>
          <p:nvPr/>
        </p:nvSpPr>
        <p:spPr>
          <a:xfrm>
            <a:off x="9297198" y="393082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4" name="Oval 823"/>
          <p:cNvSpPr/>
          <p:nvPr/>
        </p:nvSpPr>
        <p:spPr>
          <a:xfrm>
            <a:off x="9727496" y="391212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5" name="Oval 824"/>
          <p:cNvSpPr/>
          <p:nvPr/>
        </p:nvSpPr>
        <p:spPr>
          <a:xfrm>
            <a:off x="9840050" y="390038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6" name="Oval 825"/>
          <p:cNvSpPr/>
          <p:nvPr/>
        </p:nvSpPr>
        <p:spPr>
          <a:xfrm>
            <a:off x="9094421" y="395754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7" name="Oval 826"/>
          <p:cNvSpPr/>
          <p:nvPr/>
        </p:nvSpPr>
        <p:spPr>
          <a:xfrm>
            <a:off x="9747110" y="394247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8" name="Oval 827"/>
          <p:cNvSpPr/>
          <p:nvPr/>
        </p:nvSpPr>
        <p:spPr>
          <a:xfrm>
            <a:off x="9791770" y="395866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9" name="Oval 828"/>
          <p:cNvSpPr/>
          <p:nvPr/>
        </p:nvSpPr>
        <p:spPr>
          <a:xfrm>
            <a:off x="9650550" y="396149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0" name="Oval 829"/>
          <p:cNvSpPr/>
          <p:nvPr/>
        </p:nvSpPr>
        <p:spPr>
          <a:xfrm>
            <a:off x="9760991" y="396755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1" name="Oval 830"/>
          <p:cNvSpPr/>
          <p:nvPr/>
        </p:nvSpPr>
        <p:spPr>
          <a:xfrm>
            <a:off x="9885614" y="392826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2" name="Oval 831"/>
          <p:cNvSpPr/>
          <p:nvPr/>
        </p:nvSpPr>
        <p:spPr>
          <a:xfrm>
            <a:off x="9832204" y="394444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3" name="Oval 832"/>
          <p:cNvSpPr/>
          <p:nvPr/>
        </p:nvSpPr>
        <p:spPr>
          <a:xfrm>
            <a:off x="9831903" y="397401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4" name="Oval 833"/>
          <p:cNvSpPr/>
          <p:nvPr/>
        </p:nvSpPr>
        <p:spPr>
          <a:xfrm>
            <a:off x="9780605" y="391038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5" name="Oval 834"/>
          <p:cNvSpPr/>
          <p:nvPr/>
        </p:nvSpPr>
        <p:spPr>
          <a:xfrm>
            <a:off x="9825566" y="398768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6" name="Oval 835"/>
          <p:cNvSpPr/>
          <p:nvPr/>
        </p:nvSpPr>
        <p:spPr>
          <a:xfrm>
            <a:off x="9806254" y="394343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7" name="Oval 836"/>
          <p:cNvSpPr/>
          <p:nvPr/>
        </p:nvSpPr>
        <p:spPr>
          <a:xfrm>
            <a:off x="9840955" y="397864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8" name="Oval 837"/>
          <p:cNvSpPr/>
          <p:nvPr/>
        </p:nvSpPr>
        <p:spPr>
          <a:xfrm>
            <a:off x="9673483" y="393573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9" name="Oval 838"/>
          <p:cNvSpPr/>
          <p:nvPr/>
        </p:nvSpPr>
        <p:spPr>
          <a:xfrm>
            <a:off x="9712711" y="39819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0" name="Oval 839"/>
          <p:cNvSpPr/>
          <p:nvPr/>
        </p:nvSpPr>
        <p:spPr>
          <a:xfrm>
            <a:off x="9709693" y="392000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1" name="Oval 840"/>
          <p:cNvSpPr/>
          <p:nvPr/>
        </p:nvSpPr>
        <p:spPr>
          <a:xfrm>
            <a:off x="9639687" y="395815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2" name="Oval 841"/>
          <p:cNvSpPr/>
          <p:nvPr/>
        </p:nvSpPr>
        <p:spPr>
          <a:xfrm>
            <a:off x="9849706" y="398922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3" name="Oval 842"/>
          <p:cNvSpPr/>
          <p:nvPr/>
        </p:nvSpPr>
        <p:spPr>
          <a:xfrm>
            <a:off x="9813798" y="393546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4" name="Oval 843"/>
          <p:cNvSpPr/>
          <p:nvPr/>
        </p:nvSpPr>
        <p:spPr>
          <a:xfrm>
            <a:off x="9776380" y="390210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5" name="Oval 844"/>
          <p:cNvSpPr/>
          <p:nvPr/>
        </p:nvSpPr>
        <p:spPr>
          <a:xfrm>
            <a:off x="9685251" y="395877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6" name="Oval 845"/>
          <p:cNvSpPr/>
          <p:nvPr/>
        </p:nvSpPr>
        <p:spPr>
          <a:xfrm>
            <a:off x="9794184" y="399082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7" name="Oval 846"/>
          <p:cNvSpPr/>
          <p:nvPr/>
        </p:nvSpPr>
        <p:spPr>
          <a:xfrm>
            <a:off x="9831903" y="394842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8" name="Oval 847"/>
          <p:cNvSpPr/>
          <p:nvPr/>
        </p:nvSpPr>
        <p:spPr>
          <a:xfrm>
            <a:off x="9788149" y="397686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9" name="Oval 848"/>
          <p:cNvSpPr/>
          <p:nvPr/>
        </p:nvSpPr>
        <p:spPr>
          <a:xfrm>
            <a:off x="9824359" y="396569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0" name="Oval 849"/>
          <p:cNvSpPr/>
          <p:nvPr/>
        </p:nvSpPr>
        <p:spPr>
          <a:xfrm>
            <a:off x="9761293" y="392392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1" name="Oval 850"/>
          <p:cNvSpPr/>
          <p:nvPr/>
        </p:nvSpPr>
        <p:spPr>
          <a:xfrm>
            <a:off x="9591105" y="392508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2" name="Oval 851"/>
          <p:cNvSpPr/>
          <p:nvPr/>
        </p:nvSpPr>
        <p:spPr>
          <a:xfrm>
            <a:off x="9813496" y="389166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3" name="Oval 852"/>
          <p:cNvSpPr/>
          <p:nvPr/>
        </p:nvSpPr>
        <p:spPr>
          <a:xfrm>
            <a:off x="9173178" y="389360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4" name="Oval 853"/>
          <p:cNvSpPr/>
          <p:nvPr/>
        </p:nvSpPr>
        <p:spPr>
          <a:xfrm>
            <a:off x="9459239" y="391923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5" name="Oval 854"/>
          <p:cNvSpPr/>
          <p:nvPr/>
        </p:nvSpPr>
        <p:spPr>
          <a:xfrm>
            <a:off x="9289654" y="394810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6" name="Oval 855"/>
          <p:cNvSpPr/>
          <p:nvPr/>
        </p:nvSpPr>
        <p:spPr>
          <a:xfrm>
            <a:off x="9805348" y="396598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7" name="Oval 856"/>
          <p:cNvSpPr/>
          <p:nvPr/>
        </p:nvSpPr>
        <p:spPr>
          <a:xfrm>
            <a:off x="9552179" y="390251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8" name="Oval 857"/>
          <p:cNvSpPr/>
          <p:nvPr/>
        </p:nvSpPr>
        <p:spPr>
          <a:xfrm>
            <a:off x="9730816" y="389800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9" name="Oval 858"/>
          <p:cNvSpPr/>
          <p:nvPr/>
        </p:nvSpPr>
        <p:spPr>
          <a:xfrm>
            <a:off x="9657792" y="391005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0" name="Oval 859"/>
          <p:cNvSpPr/>
          <p:nvPr/>
        </p:nvSpPr>
        <p:spPr>
          <a:xfrm>
            <a:off x="9604080" y="394868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1" name="Oval 860"/>
          <p:cNvSpPr/>
          <p:nvPr/>
        </p:nvSpPr>
        <p:spPr>
          <a:xfrm>
            <a:off x="9845481" y="397060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2" name="Oval 861"/>
          <p:cNvSpPr/>
          <p:nvPr/>
        </p:nvSpPr>
        <p:spPr>
          <a:xfrm>
            <a:off x="9749826" y="391975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3" name="Oval 862"/>
          <p:cNvSpPr/>
          <p:nvPr/>
        </p:nvSpPr>
        <p:spPr>
          <a:xfrm>
            <a:off x="9828583" y="393564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4" name="Oval 863"/>
          <p:cNvSpPr/>
          <p:nvPr/>
        </p:nvSpPr>
        <p:spPr>
          <a:xfrm>
            <a:off x="9802633" y="396995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5" name="Oval 864"/>
          <p:cNvSpPr/>
          <p:nvPr/>
        </p:nvSpPr>
        <p:spPr>
          <a:xfrm>
            <a:off x="9732928" y="397461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6" name="Oval 865"/>
          <p:cNvSpPr/>
          <p:nvPr/>
        </p:nvSpPr>
        <p:spPr>
          <a:xfrm>
            <a:off x="9744696" y="397101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7" name="Oval 866"/>
          <p:cNvSpPr/>
          <p:nvPr/>
        </p:nvSpPr>
        <p:spPr>
          <a:xfrm>
            <a:off x="9189171" y="390056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8" name="Oval 867"/>
          <p:cNvSpPr/>
          <p:nvPr/>
        </p:nvSpPr>
        <p:spPr>
          <a:xfrm>
            <a:off x="9858759" y="394927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9" name="Oval 868"/>
          <p:cNvSpPr/>
          <p:nvPr/>
        </p:nvSpPr>
        <p:spPr>
          <a:xfrm>
            <a:off x="9829790" y="396392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0" name="Oval 869"/>
          <p:cNvSpPr/>
          <p:nvPr/>
        </p:nvSpPr>
        <p:spPr>
          <a:xfrm>
            <a:off x="9708788" y="393566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1" name="Oval 870"/>
          <p:cNvSpPr/>
          <p:nvPr/>
        </p:nvSpPr>
        <p:spPr>
          <a:xfrm>
            <a:off x="9671371" y="398118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2" name="Oval 871"/>
          <p:cNvSpPr/>
          <p:nvPr/>
        </p:nvSpPr>
        <p:spPr>
          <a:xfrm>
            <a:off x="9789959" y="397663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3" name="Oval 872"/>
          <p:cNvSpPr/>
          <p:nvPr/>
        </p:nvSpPr>
        <p:spPr>
          <a:xfrm>
            <a:off x="9746809" y="398610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4" name="Oval 873"/>
          <p:cNvSpPr/>
          <p:nvPr/>
        </p:nvSpPr>
        <p:spPr>
          <a:xfrm>
            <a:off x="9602873" y="390991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5" name="Oval 874"/>
          <p:cNvSpPr/>
          <p:nvPr/>
        </p:nvSpPr>
        <p:spPr>
          <a:xfrm>
            <a:off x="9834920" y="4158395"/>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6" name="Oval 875"/>
          <p:cNvSpPr/>
          <p:nvPr/>
        </p:nvSpPr>
        <p:spPr>
          <a:xfrm>
            <a:off x="8974927" y="414248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7" name="Oval 876"/>
          <p:cNvSpPr/>
          <p:nvPr/>
        </p:nvSpPr>
        <p:spPr>
          <a:xfrm>
            <a:off x="9343064" y="4158497"/>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8" name="Oval 877"/>
          <p:cNvSpPr/>
          <p:nvPr/>
        </p:nvSpPr>
        <p:spPr>
          <a:xfrm>
            <a:off x="9568171" y="409648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9" name="Oval 878"/>
          <p:cNvSpPr/>
          <p:nvPr/>
        </p:nvSpPr>
        <p:spPr>
          <a:xfrm>
            <a:off x="9768233" y="418989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0" name="Oval 879"/>
          <p:cNvSpPr/>
          <p:nvPr/>
        </p:nvSpPr>
        <p:spPr>
          <a:xfrm>
            <a:off x="9551273" y="4118630"/>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1" name="Oval 880"/>
          <p:cNvSpPr/>
          <p:nvPr/>
        </p:nvSpPr>
        <p:spPr>
          <a:xfrm>
            <a:off x="9731117" y="415906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2" name="Oval 881"/>
          <p:cNvSpPr/>
          <p:nvPr/>
        </p:nvSpPr>
        <p:spPr>
          <a:xfrm>
            <a:off x="9592010" y="410060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3" name="Oval 882"/>
          <p:cNvSpPr/>
          <p:nvPr/>
        </p:nvSpPr>
        <p:spPr>
          <a:xfrm>
            <a:off x="9168953" y="4121467"/>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4" name="Oval 883"/>
          <p:cNvSpPr/>
          <p:nvPr/>
        </p:nvSpPr>
        <p:spPr>
          <a:xfrm>
            <a:off x="9690683" y="411496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5" name="Oval 884"/>
          <p:cNvSpPr/>
          <p:nvPr/>
        </p:nvSpPr>
        <p:spPr>
          <a:xfrm>
            <a:off x="9393155" y="412769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6" name="Oval 885"/>
          <p:cNvSpPr/>
          <p:nvPr/>
        </p:nvSpPr>
        <p:spPr>
          <a:xfrm>
            <a:off x="7396764" y="418037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7" name="Oval 886"/>
          <p:cNvSpPr/>
          <p:nvPr/>
        </p:nvSpPr>
        <p:spPr>
          <a:xfrm>
            <a:off x="7382883" y="4168691"/>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8" name="Oval 887"/>
          <p:cNvSpPr/>
          <p:nvPr/>
        </p:nvSpPr>
        <p:spPr>
          <a:xfrm>
            <a:off x="9167746" y="4135488"/>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9" name="Oval 888"/>
          <p:cNvSpPr/>
          <p:nvPr/>
        </p:nvSpPr>
        <p:spPr>
          <a:xfrm>
            <a:off x="9292974" y="411548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0" name="Oval 889"/>
          <p:cNvSpPr/>
          <p:nvPr/>
        </p:nvSpPr>
        <p:spPr>
          <a:xfrm>
            <a:off x="9358152" y="4182410"/>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1" name="Oval 890"/>
          <p:cNvSpPr/>
          <p:nvPr/>
        </p:nvSpPr>
        <p:spPr>
          <a:xfrm>
            <a:off x="9333710" y="417511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2" name="Oval 891"/>
          <p:cNvSpPr/>
          <p:nvPr/>
        </p:nvSpPr>
        <p:spPr>
          <a:xfrm>
            <a:off x="7296281" y="4132557"/>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3" name="Oval 892"/>
          <p:cNvSpPr/>
          <p:nvPr/>
        </p:nvSpPr>
        <p:spPr>
          <a:xfrm>
            <a:off x="9573905" y="419074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4" name="Oval 893"/>
          <p:cNvSpPr/>
          <p:nvPr/>
        </p:nvSpPr>
        <p:spPr>
          <a:xfrm>
            <a:off x="8750725" y="417050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5" name="Oval 894"/>
          <p:cNvSpPr/>
          <p:nvPr/>
        </p:nvSpPr>
        <p:spPr>
          <a:xfrm>
            <a:off x="9306854" y="417688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6" name="Oval 895"/>
          <p:cNvSpPr/>
          <p:nvPr/>
        </p:nvSpPr>
        <p:spPr>
          <a:xfrm>
            <a:off x="8138772" y="413774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7" name="Oval 896"/>
          <p:cNvSpPr/>
          <p:nvPr/>
        </p:nvSpPr>
        <p:spPr>
          <a:xfrm>
            <a:off x="9767629" y="4114047"/>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8" name="Oval 897"/>
          <p:cNvSpPr/>
          <p:nvPr/>
        </p:nvSpPr>
        <p:spPr>
          <a:xfrm>
            <a:off x="8936906" y="4102837"/>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9" name="TextBox 898"/>
          <p:cNvSpPr txBox="1"/>
          <p:nvPr/>
        </p:nvSpPr>
        <p:spPr>
          <a:xfrm>
            <a:off x="10195560" y="3872483"/>
            <a:ext cx="1005840" cy="429768"/>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00407A"/>
                </a:solidFill>
                <a:latin typeface="Arial"/>
              </a:rPr>
              <a:t>118 of 123</a:t>
            </a:r>
          </a:p>
          <a:p>
            <a:pPr algn="l">
              <a:lnSpc>
                <a:spcPct val="109000"/>
              </a:lnSpc>
              <a:spcBef>
                <a:spcPts val="0"/>
              </a:spcBef>
              <a:spcAft>
                <a:spcPts val="0"/>
              </a:spcAft>
            </a:pPr>
            <a:r>
              <a:rPr sz="1250" b="0">
                <a:solidFill>
                  <a:srgbClr val="00407A"/>
                </a:solidFill>
                <a:latin typeface="Arial"/>
              </a:rPr>
              <a:t>are “yes”</a:t>
            </a:r>
          </a:p>
        </p:txBody>
      </p:sp>
      <p:sp>
        <p:nvSpPr>
          <p:cNvPr id="900" name="TextBox 899"/>
          <p:cNvSpPr txBox="1"/>
          <p:nvPr/>
        </p:nvSpPr>
        <p:spPr>
          <a:xfrm>
            <a:off x="6391656" y="4430268"/>
            <a:ext cx="603504" cy="27432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27B</a:t>
            </a:r>
          </a:p>
        </p:txBody>
      </p:sp>
      <p:sp>
        <p:nvSpPr>
          <p:cNvPr id="901" name="Oval 900"/>
          <p:cNvSpPr/>
          <p:nvPr/>
        </p:nvSpPr>
        <p:spPr>
          <a:xfrm>
            <a:off x="9956224" y="441104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 name="Oval 901"/>
          <p:cNvSpPr/>
          <p:nvPr/>
        </p:nvSpPr>
        <p:spPr>
          <a:xfrm>
            <a:off x="8723869" y="447837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 name="Oval 902"/>
          <p:cNvSpPr/>
          <p:nvPr/>
        </p:nvSpPr>
        <p:spPr>
          <a:xfrm>
            <a:off x="9133648" y="442543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 name="Oval 903"/>
          <p:cNvSpPr/>
          <p:nvPr/>
        </p:nvSpPr>
        <p:spPr>
          <a:xfrm>
            <a:off x="8387114" y="443705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 name="Oval 904"/>
          <p:cNvSpPr/>
          <p:nvPr/>
        </p:nvSpPr>
        <p:spPr>
          <a:xfrm>
            <a:off x="9742282" y="439394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 name="Oval 905"/>
          <p:cNvSpPr/>
          <p:nvPr/>
        </p:nvSpPr>
        <p:spPr>
          <a:xfrm>
            <a:off x="9076919" y="446456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 name="Oval 906"/>
          <p:cNvSpPr/>
          <p:nvPr/>
        </p:nvSpPr>
        <p:spPr>
          <a:xfrm>
            <a:off x="9656283" y="445980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 name="Oval 907"/>
          <p:cNvSpPr/>
          <p:nvPr/>
        </p:nvSpPr>
        <p:spPr>
          <a:xfrm>
            <a:off x="9972821" y="442288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 name="Oval 908"/>
          <p:cNvSpPr/>
          <p:nvPr/>
        </p:nvSpPr>
        <p:spPr>
          <a:xfrm>
            <a:off x="8966780" y="440577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0" name="Oval 909"/>
          <p:cNvSpPr/>
          <p:nvPr/>
        </p:nvSpPr>
        <p:spPr>
          <a:xfrm>
            <a:off x="9737454" y="446521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1" name="Oval 910"/>
          <p:cNvSpPr/>
          <p:nvPr/>
        </p:nvSpPr>
        <p:spPr>
          <a:xfrm>
            <a:off x="9006007" y="440411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2" name="Oval 911"/>
          <p:cNvSpPr/>
          <p:nvPr/>
        </p:nvSpPr>
        <p:spPr>
          <a:xfrm>
            <a:off x="9753447" y="444555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Oval 912"/>
          <p:cNvSpPr/>
          <p:nvPr/>
        </p:nvSpPr>
        <p:spPr>
          <a:xfrm>
            <a:off x="9939628" y="442461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4" name="Oval 913"/>
          <p:cNvSpPr/>
          <p:nvPr/>
        </p:nvSpPr>
        <p:spPr>
          <a:xfrm>
            <a:off x="9384404" y="446717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Oval 914"/>
          <p:cNvSpPr/>
          <p:nvPr/>
        </p:nvSpPr>
        <p:spPr>
          <a:xfrm>
            <a:off x="9469800" y="442814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6" name="Oval 915"/>
          <p:cNvSpPr/>
          <p:nvPr/>
        </p:nvSpPr>
        <p:spPr>
          <a:xfrm>
            <a:off x="7839736" y="446265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Oval 916"/>
          <p:cNvSpPr/>
          <p:nvPr/>
        </p:nvSpPr>
        <p:spPr>
          <a:xfrm>
            <a:off x="9420313" y="443562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8" name="Oval 917"/>
          <p:cNvSpPr/>
          <p:nvPr/>
        </p:nvSpPr>
        <p:spPr>
          <a:xfrm>
            <a:off x="9067867" y="446237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9" name="Oval 918"/>
          <p:cNvSpPr/>
          <p:nvPr/>
        </p:nvSpPr>
        <p:spPr>
          <a:xfrm>
            <a:off x="9724177" y="440190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0" name="Oval 919"/>
          <p:cNvSpPr/>
          <p:nvPr/>
        </p:nvSpPr>
        <p:spPr>
          <a:xfrm>
            <a:off x="9640592" y="443322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 name="Oval 920"/>
          <p:cNvSpPr/>
          <p:nvPr/>
        </p:nvSpPr>
        <p:spPr>
          <a:xfrm>
            <a:off x="9751033" y="439655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2" name="Oval 921"/>
          <p:cNvSpPr/>
          <p:nvPr/>
        </p:nvSpPr>
        <p:spPr>
          <a:xfrm>
            <a:off x="9352720" y="445910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3" name="Oval 922"/>
          <p:cNvSpPr/>
          <p:nvPr/>
        </p:nvSpPr>
        <p:spPr>
          <a:xfrm>
            <a:off x="9679820" y="444133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4" name="Oval 923"/>
          <p:cNvSpPr/>
          <p:nvPr/>
        </p:nvSpPr>
        <p:spPr>
          <a:xfrm>
            <a:off x="9662922" y="448765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5" name="Oval 924"/>
          <p:cNvSpPr/>
          <p:nvPr/>
        </p:nvSpPr>
        <p:spPr>
          <a:xfrm>
            <a:off x="9320131" y="447314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Oval 925"/>
          <p:cNvSpPr/>
          <p:nvPr/>
        </p:nvSpPr>
        <p:spPr>
          <a:xfrm>
            <a:off x="9545842" y="446524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7" name="Oval 926"/>
          <p:cNvSpPr/>
          <p:nvPr/>
        </p:nvSpPr>
        <p:spPr>
          <a:xfrm>
            <a:off x="9440832" y="441843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8" name="Oval 927"/>
          <p:cNvSpPr/>
          <p:nvPr/>
        </p:nvSpPr>
        <p:spPr>
          <a:xfrm>
            <a:off x="9206371" y="448904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9" name="Oval 928"/>
          <p:cNvSpPr/>
          <p:nvPr/>
        </p:nvSpPr>
        <p:spPr>
          <a:xfrm>
            <a:off x="9273360" y="448831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0" name="Oval 929"/>
          <p:cNvSpPr/>
          <p:nvPr/>
        </p:nvSpPr>
        <p:spPr>
          <a:xfrm>
            <a:off x="9248918" y="449238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1" name="Oval 930"/>
          <p:cNvSpPr/>
          <p:nvPr/>
        </p:nvSpPr>
        <p:spPr>
          <a:xfrm>
            <a:off x="8741673" y="442523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2" name="Oval 931"/>
          <p:cNvSpPr/>
          <p:nvPr/>
        </p:nvSpPr>
        <p:spPr>
          <a:xfrm>
            <a:off x="9803538" y="442190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3" name="Oval 932"/>
          <p:cNvSpPr/>
          <p:nvPr/>
        </p:nvSpPr>
        <p:spPr>
          <a:xfrm>
            <a:off x="9477042" y="443355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Oval 933"/>
          <p:cNvSpPr/>
          <p:nvPr/>
        </p:nvSpPr>
        <p:spPr>
          <a:xfrm>
            <a:off x="9378973" y="440260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5" name="Oval 934"/>
          <p:cNvSpPr/>
          <p:nvPr/>
        </p:nvSpPr>
        <p:spPr>
          <a:xfrm>
            <a:off x="8700031" y="446794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6" name="Oval 935"/>
          <p:cNvSpPr/>
          <p:nvPr/>
        </p:nvSpPr>
        <p:spPr>
          <a:xfrm>
            <a:off x="8064843" y="446752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Oval 936"/>
          <p:cNvSpPr/>
          <p:nvPr/>
        </p:nvSpPr>
        <p:spPr>
          <a:xfrm>
            <a:off x="9603778" y="446638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8" name="Oval 937"/>
          <p:cNvSpPr/>
          <p:nvPr/>
        </p:nvSpPr>
        <p:spPr>
          <a:xfrm>
            <a:off x="9288749" y="449075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9" name="Oval 938"/>
          <p:cNvSpPr/>
          <p:nvPr/>
        </p:nvSpPr>
        <p:spPr>
          <a:xfrm>
            <a:off x="9189171" y="449304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Oval 939"/>
          <p:cNvSpPr/>
          <p:nvPr/>
        </p:nvSpPr>
        <p:spPr>
          <a:xfrm>
            <a:off x="9208785" y="445329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1" name="Oval 940"/>
          <p:cNvSpPr/>
          <p:nvPr/>
        </p:nvSpPr>
        <p:spPr>
          <a:xfrm>
            <a:off x="9676802" y="444863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2" name="Oval 941"/>
          <p:cNvSpPr/>
          <p:nvPr/>
        </p:nvSpPr>
        <p:spPr>
          <a:xfrm>
            <a:off x="8869615" y="444771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3" name="Oval 942"/>
          <p:cNvSpPr/>
          <p:nvPr/>
        </p:nvSpPr>
        <p:spPr>
          <a:xfrm>
            <a:off x="9493639" y="442661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4" name="Oval 943"/>
          <p:cNvSpPr/>
          <p:nvPr/>
        </p:nvSpPr>
        <p:spPr>
          <a:xfrm>
            <a:off x="9840653" y="447954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5" name="Oval 944"/>
          <p:cNvSpPr/>
          <p:nvPr/>
        </p:nvSpPr>
        <p:spPr>
          <a:xfrm>
            <a:off x="9741075" y="447592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6" name="Oval 945"/>
          <p:cNvSpPr/>
          <p:nvPr/>
        </p:nvSpPr>
        <p:spPr>
          <a:xfrm>
            <a:off x="9797201" y="440856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7" name="Oval 946"/>
          <p:cNvSpPr/>
          <p:nvPr/>
        </p:nvSpPr>
        <p:spPr>
          <a:xfrm>
            <a:off x="9907341" y="439581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8" name="Oval 947"/>
          <p:cNvSpPr/>
          <p:nvPr/>
        </p:nvSpPr>
        <p:spPr>
          <a:xfrm>
            <a:off x="8727189" y="443374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9" name="Oval 948"/>
          <p:cNvSpPr/>
          <p:nvPr/>
        </p:nvSpPr>
        <p:spPr>
          <a:xfrm>
            <a:off x="9565154" y="441504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Oval 949"/>
          <p:cNvSpPr/>
          <p:nvPr/>
        </p:nvSpPr>
        <p:spPr>
          <a:xfrm>
            <a:off x="9960147" y="440330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 name="Oval 950"/>
          <p:cNvSpPr/>
          <p:nvPr/>
        </p:nvSpPr>
        <p:spPr>
          <a:xfrm>
            <a:off x="8879272" y="446046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Oval 951"/>
          <p:cNvSpPr/>
          <p:nvPr/>
        </p:nvSpPr>
        <p:spPr>
          <a:xfrm>
            <a:off x="9740472" y="444539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3" name="Oval 952"/>
          <p:cNvSpPr/>
          <p:nvPr/>
        </p:nvSpPr>
        <p:spPr>
          <a:xfrm>
            <a:off x="9952603" y="446158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4" name="Oval 953"/>
          <p:cNvSpPr/>
          <p:nvPr/>
        </p:nvSpPr>
        <p:spPr>
          <a:xfrm>
            <a:off x="9668051" y="446441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Oval 954"/>
          <p:cNvSpPr/>
          <p:nvPr/>
        </p:nvSpPr>
        <p:spPr>
          <a:xfrm>
            <a:off x="9524116" y="447047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6" name="Oval 955"/>
          <p:cNvSpPr/>
          <p:nvPr/>
        </p:nvSpPr>
        <p:spPr>
          <a:xfrm>
            <a:off x="9961958" y="443118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7" name="Oval 956"/>
          <p:cNvSpPr/>
          <p:nvPr/>
        </p:nvSpPr>
        <p:spPr>
          <a:xfrm>
            <a:off x="9936611" y="444736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Oval 957"/>
          <p:cNvSpPr/>
          <p:nvPr/>
        </p:nvSpPr>
        <p:spPr>
          <a:xfrm>
            <a:off x="9836127" y="447693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9" name="Oval 958"/>
          <p:cNvSpPr/>
          <p:nvPr/>
        </p:nvSpPr>
        <p:spPr>
          <a:xfrm>
            <a:off x="9922428" y="441330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 name="Oval 959"/>
          <p:cNvSpPr/>
          <p:nvPr/>
        </p:nvSpPr>
        <p:spPr>
          <a:xfrm>
            <a:off x="9916695" y="449060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Oval 960"/>
          <p:cNvSpPr/>
          <p:nvPr/>
        </p:nvSpPr>
        <p:spPr>
          <a:xfrm>
            <a:off x="9923333" y="444635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2" name="Oval 961"/>
          <p:cNvSpPr/>
          <p:nvPr/>
        </p:nvSpPr>
        <p:spPr>
          <a:xfrm>
            <a:off x="9949284" y="448156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Oval 962"/>
          <p:cNvSpPr/>
          <p:nvPr/>
        </p:nvSpPr>
        <p:spPr>
          <a:xfrm>
            <a:off x="9876260" y="443865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4" name="Oval 963"/>
          <p:cNvSpPr/>
          <p:nvPr/>
        </p:nvSpPr>
        <p:spPr>
          <a:xfrm>
            <a:off x="10005108" y="448484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Oval 964"/>
          <p:cNvSpPr/>
          <p:nvPr/>
        </p:nvSpPr>
        <p:spPr>
          <a:xfrm>
            <a:off x="9970709" y="442292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6" name="Oval 965"/>
          <p:cNvSpPr/>
          <p:nvPr/>
        </p:nvSpPr>
        <p:spPr>
          <a:xfrm>
            <a:off x="9779398" y="446107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Oval 966"/>
          <p:cNvSpPr/>
          <p:nvPr/>
        </p:nvSpPr>
        <p:spPr>
          <a:xfrm>
            <a:off x="9937818" y="449214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8" name="Oval 967"/>
          <p:cNvSpPr/>
          <p:nvPr/>
        </p:nvSpPr>
        <p:spPr>
          <a:xfrm>
            <a:off x="9965277" y="443838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Oval 968"/>
          <p:cNvSpPr/>
          <p:nvPr/>
        </p:nvSpPr>
        <p:spPr>
          <a:xfrm>
            <a:off x="9874148" y="440502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0" name="Oval 969"/>
          <p:cNvSpPr/>
          <p:nvPr/>
        </p:nvSpPr>
        <p:spPr>
          <a:xfrm>
            <a:off x="9512347" y="446169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Oval 970"/>
          <p:cNvSpPr/>
          <p:nvPr/>
        </p:nvSpPr>
        <p:spPr>
          <a:xfrm>
            <a:off x="9843369" y="449374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 name="Oval 971"/>
          <p:cNvSpPr/>
          <p:nvPr/>
        </p:nvSpPr>
        <p:spPr>
          <a:xfrm>
            <a:off x="9959242" y="445134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Oval 972"/>
          <p:cNvSpPr/>
          <p:nvPr/>
        </p:nvSpPr>
        <p:spPr>
          <a:xfrm>
            <a:off x="9958940" y="447978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4" name="Oval 973"/>
          <p:cNvSpPr/>
          <p:nvPr/>
        </p:nvSpPr>
        <p:spPr>
          <a:xfrm>
            <a:off x="9931481" y="446861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Oval 974"/>
          <p:cNvSpPr/>
          <p:nvPr/>
        </p:nvSpPr>
        <p:spPr>
          <a:xfrm>
            <a:off x="9873544" y="442684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 name="Oval 975"/>
          <p:cNvSpPr/>
          <p:nvPr/>
        </p:nvSpPr>
        <p:spPr>
          <a:xfrm>
            <a:off x="9050968" y="442800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Oval 976"/>
          <p:cNvSpPr/>
          <p:nvPr/>
        </p:nvSpPr>
        <p:spPr>
          <a:xfrm>
            <a:off x="9964372" y="439458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 name="Oval 977"/>
          <p:cNvSpPr/>
          <p:nvPr/>
        </p:nvSpPr>
        <p:spPr>
          <a:xfrm>
            <a:off x="9367808" y="439652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Oval 978"/>
          <p:cNvSpPr/>
          <p:nvPr/>
        </p:nvSpPr>
        <p:spPr>
          <a:xfrm>
            <a:off x="9015965" y="4422157"/>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0" name="Oval 979"/>
          <p:cNvSpPr/>
          <p:nvPr/>
        </p:nvSpPr>
        <p:spPr>
          <a:xfrm>
            <a:off x="9509933" y="445102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Oval 980"/>
          <p:cNvSpPr/>
          <p:nvPr/>
        </p:nvSpPr>
        <p:spPr>
          <a:xfrm>
            <a:off x="9621581" y="446890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2" name="Oval 981"/>
          <p:cNvSpPr/>
          <p:nvPr/>
        </p:nvSpPr>
        <p:spPr>
          <a:xfrm>
            <a:off x="9587182" y="4405433"/>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Oval 982"/>
          <p:cNvSpPr/>
          <p:nvPr/>
        </p:nvSpPr>
        <p:spPr>
          <a:xfrm>
            <a:off x="9757672" y="440092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4" name="Oval 983"/>
          <p:cNvSpPr/>
          <p:nvPr/>
        </p:nvSpPr>
        <p:spPr>
          <a:xfrm>
            <a:off x="9516874" y="441297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Oval 984"/>
          <p:cNvSpPr/>
          <p:nvPr/>
        </p:nvSpPr>
        <p:spPr>
          <a:xfrm>
            <a:off x="9476137" y="445160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6" name="Oval 985"/>
          <p:cNvSpPr/>
          <p:nvPr/>
        </p:nvSpPr>
        <p:spPr>
          <a:xfrm>
            <a:off x="9952603" y="447352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Oval 986"/>
          <p:cNvSpPr/>
          <p:nvPr/>
        </p:nvSpPr>
        <p:spPr>
          <a:xfrm>
            <a:off x="9907642" y="442267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8" name="Oval 987"/>
          <p:cNvSpPr/>
          <p:nvPr/>
        </p:nvSpPr>
        <p:spPr>
          <a:xfrm>
            <a:off x="9713918" y="4438565"/>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Oval 988"/>
          <p:cNvSpPr/>
          <p:nvPr/>
        </p:nvSpPr>
        <p:spPr>
          <a:xfrm>
            <a:off x="9995754" y="4472870"/>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0" name="Oval 989"/>
          <p:cNvSpPr/>
          <p:nvPr/>
        </p:nvSpPr>
        <p:spPr>
          <a:xfrm>
            <a:off x="9932990" y="447753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Oval 990"/>
          <p:cNvSpPr/>
          <p:nvPr/>
        </p:nvSpPr>
        <p:spPr>
          <a:xfrm>
            <a:off x="9946568" y="447393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2" name="Oval 991"/>
          <p:cNvSpPr/>
          <p:nvPr/>
        </p:nvSpPr>
        <p:spPr>
          <a:xfrm>
            <a:off x="9333408" y="4403482"/>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Oval 992"/>
          <p:cNvSpPr/>
          <p:nvPr/>
        </p:nvSpPr>
        <p:spPr>
          <a:xfrm>
            <a:off x="9985193" y="445219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4" name="Oval 993"/>
          <p:cNvSpPr/>
          <p:nvPr/>
        </p:nvSpPr>
        <p:spPr>
          <a:xfrm>
            <a:off x="9962561" y="4466848"/>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5" name="Oval 994"/>
          <p:cNvSpPr/>
          <p:nvPr/>
        </p:nvSpPr>
        <p:spPr>
          <a:xfrm>
            <a:off x="9875958" y="443858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6" name="Oval 995"/>
          <p:cNvSpPr/>
          <p:nvPr/>
        </p:nvSpPr>
        <p:spPr>
          <a:xfrm>
            <a:off x="9922730" y="4484104"/>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7" name="Oval 996"/>
          <p:cNvSpPr/>
          <p:nvPr/>
        </p:nvSpPr>
        <p:spPr>
          <a:xfrm>
            <a:off x="9776079" y="4479551"/>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8" name="Oval 997"/>
          <p:cNvSpPr/>
          <p:nvPr/>
        </p:nvSpPr>
        <p:spPr>
          <a:xfrm>
            <a:off x="9913074" y="4489026"/>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9" name="Oval 998"/>
          <p:cNvSpPr/>
          <p:nvPr/>
        </p:nvSpPr>
        <p:spPr>
          <a:xfrm>
            <a:off x="9382292" y="4412839"/>
            <a:ext cx="73152" cy="73152"/>
          </a:xfrm>
          <a:prstGeom prst="ellipse">
            <a:avLst/>
          </a:prstGeom>
          <a:solidFill>
            <a:srgbClr val="1D8DB0"/>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Oval 999"/>
          <p:cNvSpPr/>
          <p:nvPr/>
        </p:nvSpPr>
        <p:spPr>
          <a:xfrm>
            <a:off x="9439625" y="4661315"/>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1" name="Oval 1000"/>
          <p:cNvSpPr/>
          <p:nvPr/>
        </p:nvSpPr>
        <p:spPr>
          <a:xfrm>
            <a:off x="7907027" y="464540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2" name="Oval 1001"/>
          <p:cNvSpPr/>
          <p:nvPr/>
        </p:nvSpPr>
        <p:spPr>
          <a:xfrm>
            <a:off x="7612215" y="4661417"/>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3" name="Oval 1002"/>
          <p:cNvSpPr/>
          <p:nvPr/>
        </p:nvSpPr>
        <p:spPr>
          <a:xfrm>
            <a:off x="7869911" y="459940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4" name="Oval 1003"/>
          <p:cNvSpPr/>
          <p:nvPr/>
        </p:nvSpPr>
        <p:spPr>
          <a:xfrm>
            <a:off x="8673477" y="469281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5" name="Oval 1004"/>
          <p:cNvSpPr/>
          <p:nvPr/>
        </p:nvSpPr>
        <p:spPr>
          <a:xfrm>
            <a:off x="9008723" y="4621550"/>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6" name="Oval 1005"/>
          <p:cNvSpPr/>
          <p:nvPr/>
        </p:nvSpPr>
        <p:spPr>
          <a:xfrm>
            <a:off x="9267325" y="4661986"/>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7" name="Oval 1006"/>
          <p:cNvSpPr/>
          <p:nvPr/>
        </p:nvSpPr>
        <p:spPr>
          <a:xfrm>
            <a:off x="9100456" y="460352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8" name="Oval 1007"/>
          <p:cNvSpPr/>
          <p:nvPr/>
        </p:nvSpPr>
        <p:spPr>
          <a:xfrm>
            <a:off x="9657188" y="4624387"/>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9" name="Oval 1008"/>
          <p:cNvSpPr/>
          <p:nvPr/>
        </p:nvSpPr>
        <p:spPr>
          <a:xfrm>
            <a:off x="8904015" y="461788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0" name="Oval 1009"/>
          <p:cNvSpPr/>
          <p:nvPr/>
        </p:nvSpPr>
        <p:spPr>
          <a:xfrm>
            <a:off x="9044330" y="463061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1" name="Oval 1010"/>
          <p:cNvSpPr/>
          <p:nvPr/>
        </p:nvSpPr>
        <p:spPr>
          <a:xfrm>
            <a:off x="8011433" y="468329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2" name="Oval 1011"/>
          <p:cNvSpPr/>
          <p:nvPr/>
        </p:nvSpPr>
        <p:spPr>
          <a:xfrm>
            <a:off x="8863882" y="4671611"/>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3" name="Oval 1012"/>
          <p:cNvSpPr/>
          <p:nvPr/>
        </p:nvSpPr>
        <p:spPr>
          <a:xfrm>
            <a:off x="8820430" y="4638408"/>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4" name="Oval 1013"/>
          <p:cNvSpPr/>
          <p:nvPr/>
        </p:nvSpPr>
        <p:spPr>
          <a:xfrm>
            <a:off x="7710284" y="4618409"/>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5" name="Oval 1014"/>
          <p:cNvSpPr/>
          <p:nvPr/>
        </p:nvSpPr>
        <p:spPr>
          <a:xfrm>
            <a:off x="9119768" y="4685330"/>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6" name="Oval 1015"/>
          <p:cNvSpPr/>
          <p:nvPr/>
        </p:nvSpPr>
        <p:spPr>
          <a:xfrm>
            <a:off x="9151754" y="467803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7" name="Oval 1016"/>
          <p:cNvSpPr/>
          <p:nvPr/>
        </p:nvSpPr>
        <p:spPr>
          <a:xfrm>
            <a:off x="7087468" y="4635477"/>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8" name="Oval 1017"/>
          <p:cNvSpPr/>
          <p:nvPr/>
        </p:nvSpPr>
        <p:spPr>
          <a:xfrm>
            <a:off x="7557296" y="4693663"/>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9" name="Oval 1018"/>
          <p:cNvSpPr/>
          <p:nvPr/>
        </p:nvSpPr>
        <p:spPr>
          <a:xfrm>
            <a:off x="7125187" y="467342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0" name="Oval 1019"/>
          <p:cNvSpPr/>
          <p:nvPr/>
        </p:nvSpPr>
        <p:spPr>
          <a:xfrm>
            <a:off x="7957117" y="467980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1" name="Oval 1020"/>
          <p:cNvSpPr/>
          <p:nvPr/>
        </p:nvSpPr>
        <p:spPr>
          <a:xfrm>
            <a:off x="7108289" y="4640662"/>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2" name="Oval 1021"/>
          <p:cNvSpPr/>
          <p:nvPr/>
        </p:nvSpPr>
        <p:spPr>
          <a:xfrm>
            <a:off x="7404610" y="4616967"/>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3" name="Oval 1022"/>
          <p:cNvSpPr/>
          <p:nvPr/>
        </p:nvSpPr>
        <p:spPr>
          <a:xfrm>
            <a:off x="7275158" y="4605757"/>
            <a:ext cx="73152" cy="73152"/>
          </a:xfrm>
          <a:prstGeom prst="ellipse">
            <a:avLst/>
          </a:prstGeom>
          <a:solidFill>
            <a:srgbClr val="E97132"/>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4" name="TextBox 1023"/>
          <p:cNvSpPr txBox="1"/>
          <p:nvPr/>
        </p:nvSpPr>
        <p:spPr>
          <a:xfrm>
            <a:off x="10195560" y="4375404"/>
            <a:ext cx="1005840" cy="429768"/>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00407A"/>
                </a:solidFill>
                <a:latin typeface="Arial"/>
              </a:rPr>
              <a:t>108 of 123</a:t>
            </a:r>
          </a:p>
          <a:p>
            <a:pPr algn="l">
              <a:lnSpc>
                <a:spcPct val="109000"/>
              </a:lnSpc>
              <a:spcBef>
                <a:spcPts val="0"/>
              </a:spcBef>
              <a:spcAft>
                <a:spcPts val="0"/>
              </a:spcAft>
            </a:pPr>
            <a:r>
              <a:rPr sz="1250" b="0">
                <a:solidFill>
                  <a:srgbClr val="00407A"/>
                </a:solidFill>
                <a:latin typeface="Arial"/>
              </a:rPr>
              <a:t>are “yes”</a:t>
            </a:r>
          </a:p>
        </p:txBody>
      </p:sp>
      <p:sp>
        <p:nvSpPr>
          <p:cNvPr id="1025" name="TextBox 1024"/>
          <p:cNvSpPr txBox="1"/>
          <p:nvPr/>
        </p:nvSpPr>
        <p:spPr>
          <a:xfrm>
            <a:off x="6391656" y="5029200"/>
            <a:ext cx="4800600" cy="219456"/>
          </a:xfrm>
          <a:prstGeom prst="rect">
            <a:avLst/>
          </a:prstGeom>
          <a:noFill/>
        </p:spPr>
        <p:txBody>
          <a:bodyPr wrap="square" lIns="0" rIns="0" tIns="0" bIns="0" anchor="t">
            <a:noAutofit/>
          </a:bodyPr>
          <a:lstStyle/>
          <a:p>
            <a:pPr algn="l">
              <a:lnSpc>
                <a:spcPct val="109000"/>
              </a:lnSpc>
              <a:spcBef>
                <a:spcPts val="0"/>
              </a:spcBef>
              <a:spcAft>
                <a:spcPts val="0"/>
              </a:spcAft>
            </a:pPr>
            <a:r>
              <a:rPr sz="1100" b="0">
                <a:solidFill>
                  <a:srgbClr val="4A5A66"/>
                </a:solidFill>
                <a:latin typeface="Arial"/>
              </a:rPr>
              <a:t>Yes probability of each design • dashed line: the 0.5 threshold</a:t>
            </a:r>
          </a:p>
        </p:txBody>
      </p:sp>
      <p:sp>
        <p:nvSpPr>
          <p:cNvPr id="1026" name="Rounded Rectangle 1025"/>
          <p:cNvSpPr/>
          <p:nvPr/>
        </p:nvSpPr>
        <p:spPr>
          <a:xfrm>
            <a:off x="813816" y="5715000"/>
            <a:ext cx="10561320" cy="603504"/>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7" name="TextBox 1026"/>
          <p:cNvSpPr txBox="1"/>
          <p:nvPr/>
        </p:nvSpPr>
        <p:spPr>
          <a:xfrm>
            <a:off x="987552" y="5769864"/>
            <a:ext cx="10213848" cy="493776"/>
          </a:xfrm>
          <a:prstGeom prst="rect">
            <a:avLst/>
          </a:prstGeom>
          <a:noFill/>
        </p:spPr>
        <p:txBody>
          <a:bodyPr wrap="square" lIns="0" rIns="0" tIns="0" bIns="0" anchor="ctr">
            <a:noAutofit/>
          </a:bodyPr>
          <a:lstStyle/>
          <a:p>
            <a:pPr algn="l">
              <a:lnSpc>
                <a:spcPct val="109000"/>
              </a:lnSpc>
              <a:spcBef>
                <a:spcPts val="0"/>
              </a:spcBef>
              <a:spcAft>
                <a:spcPts val="0"/>
              </a:spcAft>
            </a:pPr>
            <a:r>
              <a:rPr sz="1500" b="1">
                <a:solidFill>
                  <a:srgbClr val="00407A"/>
                </a:solidFill>
                <a:latin typeface="Arial"/>
              </a:rPr>
              <a:t>Only KEV-27B’s compile answers are right for most designs of both groups: 108 of 114 and 9 of 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Failure reasons: correct answers per class</a:t>
            </a:r>
          </a:p>
        </p:txBody>
      </p:sp>
      <p:sp>
        <p:nvSpPr>
          <p:cNvPr id="3" name="TextBox 2"/>
          <p:cNvSpPr txBox="1"/>
          <p:nvPr/>
        </p:nvSpPr>
        <p:spPr>
          <a:xfrm>
            <a:off x="813816" y="1261872"/>
            <a:ext cx="1056132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The 16 test designs by their true reason. Each cell: correct answers, no examples → three examples.</a:t>
            </a:r>
          </a:p>
        </p:txBody>
      </p:sp>
      <p:sp>
        <p:nvSpPr>
          <p:cNvPr id="4" name="TextBox 3"/>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4  •  APPENDIX</a:t>
            </a:r>
          </a:p>
        </p:txBody>
      </p:sp>
      <p:sp>
        <p:nvSpPr>
          <p:cNvPr id="5" name="TextBox 4"/>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26</a:t>
            </a:r>
          </a:p>
        </p:txBody>
      </p:sp>
      <p:graphicFrame>
        <p:nvGraphicFramePr>
          <p:cNvPr id="6" name="Table 5"/>
          <p:cNvGraphicFramePr>
            <a:graphicFrameLocks noGrp="1"/>
          </p:cNvGraphicFramePr>
          <p:nvPr/>
        </p:nvGraphicFramePr>
        <p:xfrm>
          <a:off x="813816" y="1810512"/>
          <a:ext cx="10561320" cy="3749031"/>
        </p:xfrm>
        <a:graphic>
          <a:graphicData uri="http://schemas.openxmlformats.org/drawingml/2006/table">
            <a:tbl>
              <a:tblPr firstRow="1" bandRow="1">
                <a:tableStyleId>{5C22544A-7EE6-4342-B048-85BDC9FD1C3A}</a:tableStyleId>
              </a:tblPr>
              <a:tblGrid>
                <a:gridCol w="3566160"/>
                <a:gridCol w="914400"/>
                <a:gridCol w="1520190"/>
                <a:gridCol w="1520190"/>
                <a:gridCol w="1520190"/>
                <a:gridCol w="1520190"/>
              </a:tblGrid>
              <a:tr h="411480">
                <a:tc>
                  <a:txBody>
                    <a:bodyPr/>
                    <a:lstStyle/>
                    <a:p>
                      <a:pPr algn="l">
                        <a:lnSpc>
                          <a:spcPct val="103000"/>
                        </a:lnSpc>
                        <a:spcBef>
                          <a:spcPts val="0"/>
                        </a:spcBef>
                        <a:spcAft>
                          <a:spcPts val="0"/>
                        </a:spcAft>
                      </a:pPr>
                      <a:r>
                        <a:rPr sz="1400" b="1">
                          <a:solidFill>
                            <a:srgbClr val="FFFFFF"/>
                          </a:solidFill>
                          <a:latin typeface="Arial"/>
                        </a:rPr>
                        <a:t>True reason</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Designs</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0.8B</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4B</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9B</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27B</a:t>
                      </a:r>
                    </a:p>
                  </a:txBody>
                  <a:tcPr marL="109728" marR="91440" marT="45720" marB="36576" anchor="ctr">
                    <a:solidFill>
                      <a:srgbClr val="00407A"/>
                    </a:solidFill>
                    <a:lnL>
                      <a:noFill/>
                    </a:lnL>
                    <a:lnR>
                      <a:noFill/>
                    </a:lnR>
                    <a:lnT>
                      <a:noFill/>
                    </a:lnT>
                    <a:lnB>
                      <a:noFill/>
                    </a:lnB>
                  </a:tcPr>
                </a:tc>
              </a:tr>
              <a:tr h="370839">
                <a:tc>
                  <a:txBody>
                    <a:bodyPr/>
                    <a:lstStyle/>
                    <a:p>
                      <a:pPr algn="l">
                        <a:lnSpc>
                          <a:spcPct val="103000"/>
                        </a:lnSpc>
                        <a:spcBef>
                          <a:spcPts val="0"/>
                        </a:spcBef>
                        <a:spcAft>
                          <a:spcPts val="0"/>
                        </a:spcAft>
                      </a:pPr>
                      <a:r>
                        <a:rPr sz="1400" b="0">
                          <a:solidFill>
                            <a:srgbClr val="00407A"/>
                          </a:solidFill>
                          <a:latin typeface="Arial"/>
                        </a:rPr>
                        <a:t>More than one driver</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 → 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 → 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 → 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 → 0</a:t>
                      </a:r>
                    </a:p>
                  </a:txBody>
                  <a:tcPr marL="109728" marR="91440" marT="45720" marB="36576" anchor="ctr">
                    <a:solidFill>
                      <a:srgbClr val="E3EFF5"/>
                    </a:solidFill>
                    <a:lnL>
                      <a:noFill/>
                    </a:lnL>
                    <a:lnR>
                      <a:noFill/>
                    </a:lnR>
                    <a:lnT>
                      <a:noFill/>
                    </a:lnT>
                    <a:lnB>
                      <a:noFill/>
                    </a:lnB>
                  </a:tcPr>
                </a:tc>
              </a:tr>
              <a:tr h="370839">
                <a:tc>
                  <a:txBody>
                    <a:bodyPr/>
                    <a:lstStyle/>
                    <a:p>
                      <a:pPr algn="l">
                        <a:lnSpc>
                          <a:spcPct val="103000"/>
                        </a:lnSpc>
                        <a:spcBef>
                          <a:spcPts val="0"/>
                        </a:spcBef>
                        <a:spcAft>
                          <a:spcPts val="0"/>
                        </a:spcAft>
                      </a:pPr>
                      <a:r>
                        <a:rPr sz="1400" b="0">
                          <a:solidFill>
                            <a:srgbClr val="00407A"/>
                          </a:solidFill>
                          <a:latin typeface="Arial"/>
                        </a:rPr>
                        <a:t>Illegal code</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 → 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 → 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 → 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 → 1</a:t>
                      </a:r>
                    </a:p>
                  </a:txBody>
                  <a:tcPr marL="109728" marR="91440" marT="45720" marB="36576" anchor="ctr">
                    <a:solidFill>
                      <a:srgbClr val="FFFFFF"/>
                    </a:solidFill>
                    <a:lnL>
                      <a:noFill/>
                    </a:lnL>
                    <a:lnR>
                      <a:noFill/>
                    </a:lnR>
                    <a:lnT>
                      <a:noFill/>
                    </a:lnT>
                    <a:lnB>
                      <a:noFill/>
                    </a:lnB>
                  </a:tcPr>
                </a:tc>
              </a:tr>
              <a:tr h="370839">
                <a:tc>
                  <a:txBody>
                    <a:bodyPr/>
                    <a:lstStyle/>
                    <a:p>
                      <a:pPr algn="l">
                        <a:lnSpc>
                          <a:spcPct val="103000"/>
                        </a:lnSpc>
                        <a:spcBef>
                          <a:spcPts val="0"/>
                        </a:spcBef>
                        <a:spcAft>
                          <a:spcPts val="0"/>
                        </a:spcAft>
                      </a:pPr>
                      <a:r>
                        <a:rPr sz="1400" b="0">
                          <a:solidFill>
                            <a:srgbClr val="00407A"/>
                          </a:solidFill>
                          <a:latin typeface="Arial"/>
                        </a:rPr>
                        <a:t>Unsupported construct</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 → 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 → 1</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 → 1</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 → 1</a:t>
                      </a:r>
                    </a:p>
                  </a:txBody>
                  <a:tcPr marL="109728" marR="91440" marT="45720" marB="36576" anchor="ctr">
                    <a:solidFill>
                      <a:srgbClr val="E3EFF5"/>
                    </a:solidFill>
                    <a:lnL>
                      <a:noFill/>
                    </a:lnL>
                    <a:lnR>
                      <a:noFill/>
                    </a:lnR>
                    <a:lnT>
                      <a:noFill/>
                    </a:lnT>
                    <a:lnB>
                      <a:noFill/>
                    </a:lnB>
                  </a:tcPr>
                </a:tc>
              </a:tr>
              <a:tr h="370839">
                <a:tc>
                  <a:txBody>
                    <a:bodyPr/>
                    <a:lstStyle/>
                    <a:p>
                      <a:pPr algn="l">
                        <a:lnSpc>
                          <a:spcPct val="103000"/>
                        </a:lnSpc>
                        <a:spcBef>
                          <a:spcPts val="0"/>
                        </a:spcBef>
                        <a:spcAft>
                          <a:spcPts val="0"/>
                        </a:spcAft>
                      </a:pPr>
                      <a:r>
                        <a:rPr sz="1400" b="0">
                          <a:solidFill>
                            <a:srgbClr val="00407A"/>
                          </a:solidFill>
                          <a:latin typeface="Arial"/>
                        </a:rPr>
                        <a:t>Unsupported timing control</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3</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 → 1</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3 → 3</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3 → 3</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3 → 3</a:t>
                      </a:r>
                    </a:p>
                  </a:txBody>
                  <a:tcPr marL="109728" marR="91440" marT="45720" marB="36576" anchor="ctr">
                    <a:solidFill>
                      <a:srgbClr val="FFFFFF"/>
                    </a:solidFill>
                    <a:lnL>
                      <a:noFill/>
                    </a:lnL>
                    <a:lnR>
                      <a:noFill/>
                    </a:lnR>
                    <a:lnT>
                      <a:noFill/>
                    </a:lnT>
                    <a:lnB>
                      <a:noFill/>
                    </a:lnB>
                  </a:tcPr>
                </a:tc>
              </a:tr>
              <a:tr h="370839">
                <a:tc>
                  <a:txBody>
                    <a:bodyPr/>
                    <a:lstStyle/>
                    <a:p>
                      <a:pPr algn="l">
                        <a:lnSpc>
                          <a:spcPct val="103000"/>
                        </a:lnSpc>
                        <a:spcBef>
                          <a:spcPts val="0"/>
                        </a:spcBef>
                        <a:spcAft>
                          <a:spcPts val="0"/>
                        </a:spcAft>
                      </a:pPr>
                      <a:r>
                        <a:rPr sz="1400" b="0">
                          <a:solidFill>
                            <a:srgbClr val="00407A"/>
                          </a:solidFill>
                          <a:latin typeface="Arial"/>
                        </a:rPr>
                        <a:t>Simulation-only statement</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5</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3 → 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5 → 5</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5 → 5</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5 → 5</a:t>
                      </a:r>
                    </a:p>
                  </a:txBody>
                  <a:tcPr marL="109728" marR="91440" marT="45720" marB="36576" anchor="ctr">
                    <a:solidFill>
                      <a:srgbClr val="E3EFF5"/>
                    </a:solidFill>
                    <a:lnL>
                      <a:noFill/>
                    </a:lnL>
                    <a:lnR>
                      <a:noFill/>
                    </a:lnR>
                    <a:lnT>
                      <a:noFill/>
                    </a:lnT>
                    <a:lnB>
                      <a:noFill/>
                    </a:lnB>
                  </a:tcPr>
                </a:tc>
              </a:tr>
              <a:tr h="370839">
                <a:tc>
                  <a:txBody>
                    <a:bodyPr/>
                    <a:lstStyle/>
                    <a:p>
                      <a:pPr algn="l">
                        <a:lnSpc>
                          <a:spcPct val="103000"/>
                        </a:lnSpc>
                        <a:spcBef>
                          <a:spcPts val="0"/>
                        </a:spcBef>
                        <a:spcAft>
                          <a:spcPts val="0"/>
                        </a:spcAft>
                      </a:pPr>
                      <a:r>
                        <a:rPr sz="1400" b="0">
                          <a:solidFill>
                            <a:srgbClr val="00407A"/>
                          </a:solidFill>
                          <a:latin typeface="Arial"/>
                        </a:rPr>
                        <a:t>Asynchronous reset</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 → 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 → 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 → 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 → 0</a:t>
                      </a:r>
                    </a:p>
                  </a:txBody>
                  <a:tcPr marL="109728" marR="91440" marT="45720" marB="36576" anchor="ctr">
                    <a:solidFill>
                      <a:srgbClr val="FFFFFF"/>
                    </a:solidFill>
                    <a:lnL>
                      <a:noFill/>
                    </a:lnL>
                    <a:lnR>
                      <a:noFill/>
                    </a:lnR>
                    <a:lnT>
                      <a:noFill/>
                    </a:lnT>
                    <a:lnB>
                      <a:noFill/>
                    </a:lnB>
                  </a:tcPr>
                </a:tc>
              </a:tr>
              <a:tr h="370839">
                <a:tc>
                  <a:txBody>
                    <a:bodyPr/>
                    <a:lstStyle/>
                    <a:p>
                      <a:pPr algn="l">
                        <a:lnSpc>
                          <a:spcPct val="103000"/>
                        </a:lnSpc>
                        <a:spcBef>
                          <a:spcPts val="0"/>
                        </a:spcBef>
                        <a:spcAft>
                          <a:spcPts val="0"/>
                        </a:spcAft>
                      </a:pPr>
                      <a:r>
                        <a:rPr sz="1400" b="0">
                          <a:solidFill>
                            <a:srgbClr val="00407A"/>
                          </a:solidFill>
                          <a:latin typeface="Arial"/>
                        </a:rPr>
                        <a:t>Mixed assignment styles</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2</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 → 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 → 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 → 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2 → 2</a:t>
                      </a:r>
                    </a:p>
                  </a:txBody>
                  <a:tcPr marL="109728" marR="91440" marT="45720" marB="36576" anchor="ctr">
                    <a:solidFill>
                      <a:srgbClr val="E3EFF5"/>
                    </a:solidFill>
                    <a:lnL>
                      <a:noFill/>
                    </a:lnL>
                    <a:lnR>
                      <a:noFill/>
                    </a:lnR>
                    <a:lnT>
                      <a:noFill/>
                    </a:lnT>
                    <a:lnB>
                      <a:noFill/>
                    </a:lnB>
                  </a:tcPr>
                </a:tc>
              </a:tr>
              <a:tr h="370839">
                <a:tc>
                  <a:txBody>
                    <a:bodyPr/>
                    <a:lstStyle/>
                    <a:p>
                      <a:pPr algn="l">
                        <a:lnSpc>
                          <a:spcPct val="103000"/>
                        </a:lnSpc>
                        <a:spcBef>
                          <a:spcPts val="0"/>
                        </a:spcBef>
                        <a:spcAft>
                          <a:spcPts val="0"/>
                        </a:spcAft>
                      </a:pPr>
                      <a:r>
                        <a:rPr sz="1400" b="0">
                          <a:solidFill>
                            <a:srgbClr val="00407A"/>
                          </a:solidFill>
                          <a:latin typeface="Arial"/>
                        </a:rPr>
                        <a:t>Module-instance mismatch</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2</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 → 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 → 1</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2 → 2</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2 → 2</a:t>
                      </a:r>
                    </a:p>
                  </a:txBody>
                  <a:tcPr marL="109728" marR="91440" marT="45720" marB="36576" anchor="ctr">
                    <a:solidFill>
                      <a:srgbClr val="FFFFFF"/>
                    </a:solidFill>
                    <a:lnL>
                      <a:noFill/>
                    </a:lnL>
                    <a:lnR>
                      <a:noFill/>
                    </a:lnR>
                    <a:lnT>
                      <a:noFill/>
                    </a:lnT>
                    <a:lnB>
                      <a:noFill/>
                    </a:lnB>
                  </a:tcPr>
                </a:tc>
              </a:tr>
              <a:tr h="370839">
                <a:tc>
                  <a:txBody>
                    <a:bodyPr/>
                    <a:lstStyle/>
                    <a:p>
                      <a:pPr algn="l">
                        <a:lnSpc>
                          <a:spcPct val="103000"/>
                        </a:lnSpc>
                        <a:spcBef>
                          <a:spcPts val="0"/>
                        </a:spcBef>
                        <a:spcAft>
                          <a:spcPts val="0"/>
                        </a:spcAft>
                      </a:pPr>
                      <a:r>
                        <a:rPr sz="1400" b="0">
                          <a:solidFill>
                            <a:srgbClr val="00407A"/>
                          </a:solidFill>
                          <a:latin typeface="Arial"/>
                        </a:rPr>
                        <a:t>Equal weight per class (balanced accuracy)</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17.9% → 4.2%</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37.5% → 43.8%</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50.0% → 50.0%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87.5% → 75.0%</a:t>
                      </a:r>
                    </a:p>
                  </a:txBody>
                  <a:tcPr marL="109728" marR="91440" marT="45720" marB="36576" anchor="ctr">
                    <a:solidFill>
                      <a:srgbClr val="E3EFF5"/>
                    </a:solidFill>
                    <a:lnL>
                      <a:noFill/>
                    </a:lnL>
                    <a:lnR>
                      <a:noFill/>
                    </a:lnR>
                    <a:lnT>
                      <a:noFill/>
                    </a:lnT>
                    <a:lnB>
                      <a:noFill/>
                    </a:lnB>
                  </a:tcPr>
                </a:tc>
              </a:tr>
            </a:tbl>
          </a:graphicData>
        </a:graphic>
      </p:graphicFrame>
      <p:sp>
        <p:nvSpPr>
          <p:cNvPr id="7" name="TextBox 6"/>
          <p:cNvSpPr txBox="1"/>
          <p:nvPr/>
        </p:nvSpPr>
        <p:spPr>
          <a:xfrm>
            <a:off x="868680" y="5669280"/>
            <a:ext cx="10424160" cy="502920"/>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4A5A66"/>
                </a:solidFill>
                <a:latin typeface="Arial"/>
              </a:rPr>
              <a:t>No test design has the reason event_list or unbounded_loop. The models chose event_list 6 times without examples and 16 times with examples (7, 3, 4, 2); it is one of the three example classes.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Ranking score and probability error, yes/no checks</a:t>
            </a:r>
          </a:p>
        </p:txBody>
      </p:sp>
      <p:sp>
        <p:nvSpPr>
          <p:cNvPr id="3" name="TextBox 2"/>
          <p:cNvSpPr txBox="1"/>
          <p:nvPr/>
        </p:nvSpPr>
        <p:spPr>
          <a:xfrm>
            <a:off x="813816" y="1261872"/>
            <a:ext cx="1056132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A model can rank well and still decide badly at the 0.5 threshold. Cells: no examples → three examples.</a:t>
            </a:r>
          </a:p>
        </p:txBody>
      </p:sp>
      <p:sp>
        <p:nvSpPr>
          <p:cNvPr id="4" name="TextBox 3"/>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4  •  APPENDIX</a:t>
            </a:r>
          </a:p>
        </p:txBody>
      </p:sp>
      <p:sp>
        <p:nvSpPr>
          <p:cNvPr id="5" name="TextBox 4"/>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27</a:t>
            </a:r>
          </a:p>
        </p:txBody>
      </p:sp>
      <p:graphicFrame>
        <p:nvGraphicFramePr>
          <p:cNvPr id="6" name="Table 5"/>
          <p:cNvGraphicFramePr>
            <a:graphicFrameLocks noGrp="1"/>
          </p:cNvGraphicFramePr>
          <p:nvPr/>
        </p:nvGraphicFramePr>
        <p:xfrm>
          <a:off x="813816" y="1828800"/>
          <a:ext cx="10561320" cy="2148840"/>
        </p:xfrm>
        <a:graphic>
          <a:graphicData uri="http://schemas.openxmlformats.org/drawingml/2006/table">
            <a:tbl>
              <a:tblPr firstRow="1" bandRow="1">
                <a:tableStyleId>{5C22544A-7EE6-4342-B048-85BDC9FD1C3A}</a:tableStyleId>
              </a:tblPr>
              <a:tblGrid>
                <a:gridCol w="3611880"/>
                <a:gridCol w="1737360"/>
                <a:gridCol w="1737360"/>
                <a:gridCol w="1737360"/>
                <a:gridCol w="1737360"/>
              </a:tblGrid>
              <a:tr h="411480">
                <a:tc>
                  <a:txBody>
                    <a:bodyPr/>
                    <a:lstStyle/>
                    <a:p>
                      <a:pPr algn="l">
                        <a:lnSpc>
                          <a:spcPct val="103000"/>
                        </a:lnSpc>
                        <a:spcBef>
                          <a:spcPts val="0"/>
                        </a:spcBef>
                        <a:spcAft>
                          <a:spcPts val="0"/>
                        </a:spcAft>
                      </a:pPr>
                      <a:r>
                        <a:rPr sz="1400" b="1">
                          <a:solidFill>
                            <a:srgbClr val="FFFFFF"/>
                          </a:solidFill>
                          <a:latin typeface="Arial"/>
                        </a:rPr>
                        <a:t>Probability metric</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0.8B</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4B</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9B</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27B</a:t>
                      </a:r>
                    </a:p>
                  </a:txBody>
                  <a:tcPr marL="109728" marR="91440" marT="45720" marB="36576" anchor="ctr">
                    <a:solidFill>
                      <a:srgbClr val="00407A"/>
                    </a:solidFill>
                    <a:lnL>
                      <a:noFill/>
                    </a:lnL>
                    <a:lnR>
                      <a:noFill/>
                    </a:lnR>
                    <a:lnT>
                      <a:noFill/>
                    </a:lnT>
                    <a:lnB>
                      <a:noFill/>
                    </a:lnB>
                  </a:tcPr>
                </a:tc>
              </a:tr>
              <a:tr h="434340">
                <a:tc>
                  <a:txBody>
                    <a:bodyPr/>
                    <a:lstStyle/>
                    <a:p>
                      <a:pPr algn="l">
                        <a:lnSpc>
                          <a:spcPct val="103000"/>
                        </a:lnSpc>
                        <a:spcBef>
                          <a:spcPts val="0"/>
                        </a:spcBef>
                        <a:spcAft>
                          <a:spcPts val="0"/>
                        </a:spcAft>
                      </a:pPr>
                      <a:r>
                        <a:rPr sz="1500" b="0">
                          <a:solidFill>
                            <a:srgbClr val="00407A"/>
                          </a:solidFill>
                          <a:latin typeface="Arial"/>
                        </a:rPr>
                        <a:t>Compile: ranking score (AUROC)</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0.563 → 0.577</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0.763 → 0.868</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0.692 → 0.875</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0.994 → 0.989</a:t>
                      </a:r>
                    </a:p>
                  </a:txBody>
                  <a:tcPr marL="109728" marR="91440" marT="45720" marB="36576" anchor="ctr">
                    <a:solidFill>
                      <a:srgbClr val="E3EFF5"/>
                    </a:solidFill>
                    <a:lnL>
                      <a:noFill/>
                    </a:lnL>
                    <a:lnR>
                      <a:noFill/>
                    </a:lnR>
                    <a:lnT>
                      <a:noFill/>
                    </a:lnT>
                    <a:lnB>
                      <a:noFill/>
                    </a:lnB>
                  </a:tcPr>
                </a:tc>
              </a:tr>
              <a:tr h="434340">
                <a:tc>
                  <a:txBody>
                    <a:bodyPr/>
                    <a:lstStyle/>
                    <a:p>
                      <a:pPr algn="l">
                        <a:lnSpc>
                          <a:spcPct val="103000"/>
                        </a:lnSpc>
                        <a:spcBef>
                          <a:spcPts val="0"/>
                        </a:spcBef>
                        <a:spcAft>
                          <a:spcPts val="0"/>
                        </a:spcAft>
                      </a:pPr>
                      <a:r>
                        <a:rPr sz="1500" b="0">
                          <a:solidFill>
                            <a:srgbClr val="00407A"/>
                          </a:solidFill>
                          <a:latin typeface="Arial"/>
                        </a:rPr>
                        <a:t>Compile: probability error (Brier)</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0.334 → 0.420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0.064 → 0.056</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0.066 → 0.057</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0.030 → 0.068</a:t>
                      </a:r>
                    </a:p>
                  </a:txBody>
                  <a:tcPr marL="109728" marR="91440" marT="45720" marB="36576" anchor="ctr">
                    <a:solidFill>
                      <a:srgbClr val="FFFFFF"/>
                    </a:solidFill>
                    <a:lnL>
                      <a:noFill/>
                    </a:lnL>
                    <a:lnR>
                      <a:noFill/>
                    </a:lnR>
                    <a:lnT>
                      <a:noFill/>
                    </a:lnT>
                    <a:lnB>
                      <a:noFill/>
                    </a:lnB>
                  </a:tcPr>
                </a:tc>
              </a:tr>
              <a:tr h="434340">
                <a:tc>
                  <a:txBody>
                    <a:bodyPr/>
                    <a:lstStyle/>
                    <a:p>
                      <a:pPr algn="l">
                        <a:lnSpc>
                          <a:spcPct val="103000"/>
                        </a:lnSpc>
                        <a:spcBef>
                          <a:spcPts val="0"/>
                        </a:spcBef>
                        <a:spcAft>
                          <a:spcPts val="0"/>
                        </a:spcAft>
                      </a:pPr>
                      <a:r>
                        <a:rPr sz="1500" b="0">
                          <a:solidFill>
                            <a:srgbClr val="00407A"/>
                          </a:solidFill>
                          <a:latin typeface="Arial"/>
                        </a:rPr>
                        <a:t>Synthesis: ranking score (AUROC)</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0.490 → 0.566</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0.714 → 0.816</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0.740 → 0.796</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0.814 → 0.918</a:t>
                      </a:r>
                    </a:p>
                  </a:txBody>
                  <a:tcPr marL="109728" marR="91440" marT="45720" marB="36576" anchor="ctr">
                    <a:solidFill>
                      <a:srgbClr val="E3EFF5"/>
                    </a:solidFill>
                    <a:lnL>
                      <a:noFill/>
                    </a:lnL>
                    <a:lnR>
                      <a:noFill/>
                    </a:lnR>
                    <a:lnT>
                      <a:noFill/>
                    </a:lnT>
                    <a:lnB>
                      <a:noFill/>
                    </a:lnB>
                  </a:tcPr>
                </a:tc>
              </a:tr>
              <a:tr h="434340">
                <a:tc>
                  <a:txBody>
                    <a:bodyPr/>
                    <a:lstStyle/>
                    <a:p>
                      <a:pPr algn="l">
                        <a:lnSpc>
                          <a:spcPct val="103000"/>
                        </a:lnSpc>
                        <a:spcBef>
                          <a:spcPts val="0"/>
                        </a:spcBef>
                        <a:spcAft>
                          <a:spcPts val="0"/>
                        </a:spcAft>
                      </a:pPr>
                      <a:r>
                        <a:rPr sz="1500" b="0">
                          <a:solidFill>
                            <a:srgbClr val="00407A"/>
                          </a:solidFill>
                          <a:latin typeface="Arial"/>
                        </a:rPr>
                        <a:t>Synthesis: probability error (Brier)</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0.187 → 0.416</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0.148 → 0.130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0.144 → 0.123</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0.128 → 0.088</a:t>
                      </a:r>
                    </a:p>
                  </a:txBody>
                  <a:tcPr marL="109728" marR="91440" marT="45720" marB="36576" anchor="ctr">
                    <a:solidFill>
                      <a:srgbClr val="FFFFFF"/>
                    </a:solidFill>
                    <a:lnL>
                      <a:noFill/>
                    </a:lnL>
                    <a:lnR>
                      <a:noFill/>
                    </a:lnR>
                    <a:lnT>
                      <a:noFill/>
                    </a:lnT>
                    <a:lnB>
                      <a:noFill/>
                    </a:lnB>
                  </a:tcPr>
                </a:tc>
              </a:tr>
            </a:tbl>
          </a:graphicData>
        </a:graphic>
      </p:graphicFrame>
      <p:sp>
        <p:nvSpPr>
          <p:cNvPr id="7" name="Rounded Rectangle 6"/>
          <p:cNvSpPr/>
          <p:nvPr/>
        </p:nvSpPr>
        <p:spPr>
          <a:xfrm>
            <a:off x="813816" y="4251960"/>
            <a:ext cx="5166360" cy="1325880"/>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13816" y="4251960"/>
            <a:ext cx="5166360" cy="41148"/>
          </a:xfrm>
          <a:prstGeom prst="rect">
            <a:avLst/>
          </a:prstGeom>
          <a:solidFill>
            <a:srgbClr val="1D8D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6" y="4379976"/>
            <a:ext cx="4709160" cy="365760"/>
          </a:xfrm>
          <a:prstGeom prst="rect">
            <a:avLst/>
          </a:prstGeom>
          <a:noFill/>
        </p:spPr>
        <p:txBody>
          <a:bodyPr wrap="square" lIns="0" rIns="0" tIns="0" bIns="0" anchor="t">
            <a:noAutofit/>
          </a:bodyPr>
          <a:lstStyle/>
          <a:p>
            <a:pPr algn="l">
              <a:lnSpc>
                <a:spcPct val="109000"/>
              </a:lnSpc>
              <a:spcBef>
                <a:spcPts val="0"/>
              </a:spcBef>
              <a:spcAft>
                <a:spcPts val="0"/>
              </a:spcAft>
            </a:pPr>
            <a:r>
              <a:rPr sz="1700" b="1">
                <a:solidFill>
                  <a:srgbClr val="00407A"/>
                </a:solidFill>
                <a:latin typeface="Arial"/>
              </a:rPr>
              <a:t>Ranking score: higher is better</a:t>
            </a:r>
          </a:p>
        </p:txBody>
      </p:sp>
      <p:sp>
        <p:nvSpPr>
          <p:cNvPr id="10" name="TextBox 9"/>
          <p:cNvSpPr txBox="1"/>
          <p:nvPr/>
        </p:nvSpPr>
        <p:spPr>
          <a:xfrm>
            <a:off x="1042416" y="4754880"/>
            <a:ext cx="4709160" cy="758952"/>
          </a:xfrm>
          <a:prstGeom prst="rect">
            <a:avLst/>
          </a:prstGeom>
          <a:noFill/>
        </p:spPr>
        <p:txBody>
          <a:bodyPr wrap="square" lIns="0" rIns="0" tIns="0" bIns="0" anchor="t">
            <a:noAutofit/>
          </a:bodyPr>
          <a:lstStyle/>
          <a:p>
            <a:pPr algn="l">
              <a:lnSpc>
                <a:spcPct val="109000"/>
              </a:lnSpc>
              <a:spcBef>
                <a:spcPts val="0"/>
              </a:spcBef>
              <a:spcAft>
                <a:spcPts val="0"/>
              </a:spcAft>
            </a:pPr>
            <a:r>
              <a:rPr sz="1350" b="0">
                <a:solidFill>
                  <a:srgbClr val="00407A"/>
                </a:solidFill>
                <a:latin typeface="Arial"/>
              </a:rPr>
              <a:t>Chance = 0.5; perfect ordering = 1. The probability that a design that works gets a higher yes probability than a design that fails.</a:t>
            </a:r>
          </a:p>
        </p:txBody>
      </p:sp>
      <p:sp>
        <p:nvSpPr>
          <p:cNvPr id="11" name="Rounded Rectangle 10"/>
          <p:cNvSpPr/>
          <p:nvPr/>
        </p:nvSpPr>
        <p:spPr>
          <a:xfrm>
            <a:off x="6208776" y="4251960"/>
            <a:ext cx="5166360" cy="1325880"/>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8776" y="4251960"/>
            <a:ext cx="5166360" cy="41148"/>
          </a:xfrm>
          <a:prstGeom prst="rect">
            <a:avLst/>
          </a:prstGeom>
          <a:solidFill>
            <a:srgbClr val="1D8D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4379976"/>
            <a:ext cx="4709160" cy="365760"/>
          </a:xfrm>
          <a:prstGeom prst="rect">
            <a:avLst/>
          </a:prstGeom>
          <a:noFill/>
        </p:spPr>
        <p:txBody>
          <a:bodyPr wrap="square" lIns="0" rIns="0" tIns="0" bIns="0" anchor="t">
            <a:noAutofit/>
          </a:bodyPr>
          <a:lstStyle/>
          <a:p>
            <a:pPr algn="l">
              <a:lnSpc>
                <a:spcPct val="109000"/>
              </a:lnSpc>
              <a:spcBef>
                <a:spcPts val="0"/>
              </a:spcBef>
              <a:spcAft>
                <a:spcPts val="0"/>
              </a:spcAft>
            </a:pPr>
            <a:r>
              <a:rPr sz="1700" b="1">
                <a:solidFill>
                  <a:srgbClr val="00407A"/>
                </a:solidFill>
                <a:latin typeface="Arial"/>
              </a:rPr>
              <a:t>Probability error: lower is better</a:t>
            </a:r>
          </a:p>
        </p:txBody>
      </p:sp>
      <p:sp>
        <p:nvSpPr>
          <p:cNvPr id="14" name="TextBox 13"/>
          <p:cNvSpPr txBox="1"/>
          <p:nvPr/>
        </p:nvSpPr>
        <p:spPr>
          <a:xfrm>
            <a:off x="6437376" y="4754880"/>
            <a:ext cx="4709160" cy="758952"/>
          </a:xfrm>
          <a:prstGeom prst="rect">
            <a:avLst/>
          </a:prstGeom>
          <a:noFill/>
        </p:spPr>
        <p:txBody>
          <a:bodyPr wrap="square" lIns="0" rIns="0" tIns="0" bIns="0" anchor="t">
            <a:noAutofit/>
          </a:bodyPr>
          <a:lstStyle/>
          <a:p>
            <a:pPr algn="l">
              <a:lnSpc>
                <a:spcPct val="109000"/>
              </a:lnSpc>
              <a:spcBef>
                <a:spcPts val="0"/>
              </a:spcBef>
              <a:spcAft>
                <a:spcPts val="0"/>
              </a:spcAft>
            </a:pPr>
            <a:r>
              <a:rPr sz="1350" b="0">
                <a:solidFill>
                  <a:srgbClr val="00407A"/>
                </a:solidFill>
                <a:latin typeface="Arial"/>
              </a:rPr>
              <a:t>Mean squared error of the yes probability. Zero is perfect; a confident wrong answer costs more than an unsure one.</a:t>
            </a:r>
          </a:p>
        </p:txBody>
      </p:sp>
      <p:sp>
        <p:nvSpPr>
          <p:cNvPr id="15" name="Rounded Rectangle 14"/>
          <p:cNvSpPr/>
          <p:nvPr/>
        </p:nvSpPr>
        <p:spPr>
          <a:xfrm>
            <a:off x="813816" y="5715000"/>
            <a:ext cx="10561320" cy="603504"/>
          </a:xfrm>
          <a:prstGeom prst="roundRect">
            <a:avLst>
              <a:gd name="adj" fmla="val 6000"/>
            </a:avLst>
          </a:prstGeom>
          <a:solidFill>
            <a:srgbClr val="E3E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7552" y="5769864"/>
            <a:ext cx="10213848" cy="493776"/>
          </a:xfrm>
          <a:prstGeom prst="rect">
            <a:avLst/>
          </a:prstGeom>
          <a:noFill/>
        </p:spPr>
        <p:txBody>
          <a:bodyPr wrap="square" lIns="0" rIns="0" tIns="0" bIns="0" anchor="ctr">
            <a:noAutofit/>
          </a:bodyPr>
          <a:lstStyle/>
          <a:p>
            <a:pPr algn="l">
              <a:lnSpc>
                <a:spcPct val="109000"/>
              </a:lnSpc>
              <a:spcBef>
                <a:spcPts val="0"/>
              </a:spcBef>
              <a:spcAft>
                <a:spcPts val="0"/>
              </a:spcAft>
            </a:pPr>
            <a:r>
              <a:rPr sz="1500" b="1">
                <a:solidFill>
                  <a:srgbClr val="00407A"/>
                </a:solidFill>
                <a:latin typeface="Arial"/>
              </a:rPr>
              <a:t>KEV-27B’s synthesis ranking score rises from 0.814 to 0.918 with examples, while its failure detection at 0.5 rises from 4 to 12 of 24.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Within one level, and mean level error</a:t>
            </a:r>
          </a:p>
        </p:txBody>
      </p:sp>
      <p:sp>
        <p:nvSpPr>
          <p:cNvPr id="3" name="TextBox 2"/>
          <p:cNvSpPr txBox="1"/>
          <p:nvPr/>
        </p:nvSpPr>
        <p:spPr>
          <a:xfrm>
            <a:off x="813816" y="1261872"/>
            <a:ext cx="1056132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Within one level: higher is better. Mean level error: lower is better. Each cell: no examples → three examples.</a:t>
            </a:r>
          </a:p>
        </p:txBody>
      </p:sp>
      <p:sp>
        <p:nvSpPr>
          <p:cNvPr id="4" name="TextBox 3"/>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4  •  APPENDIX</a:t>
            </a:r>
          </a:p>
        </p:txBody>
      </p:sp>
      <p:sp>
        <p:nvSpPr>
          <p:cNvPr id="5" name="TextBox 4"/>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28</a:t>
            </a:r>
          </a:p>
        </p:txBody>
      </p:sp>
      <p:graphicFrame>
        <p:nvGraphicFramePr>
          <p:cNvPr id="6" name="Table 5"/>
          <p:cNvGraphicFramePr>
            <a:graphicFrameLocks noGrp="1"/>
          </p:cNvGraphicFramePr>
          <p:nvPr/>
        </p:nvGraphicFramePr>
        <p:xfrm>
          <a:off x="813816" y="1810512"/>
          <a:ext cx="10561320" cy="3657600"/>
        </p:xfrm>
        <a:graphic>
          <a:graphicData uri="http://schemas.openxmlformats.org/drawingml/2006/table">
            <a:tbl>
              <a:tblPr firstRow="1" bandRow="1">
                <a:tableStyleId>{5C22544A-7EE6-4342-B048-85BDC9FD1C3A}</a:tableStyleId>
              </a:tblPr>
              <a:tblGrid>
                <a:gridCol w="1463040"/>
                <a:gridCol w="2011680"/>
                <a:gridCol w="1771650"/>
                <a:gridCol w="1771650"/>
                <a:gridCol w="1771650"/>
                <a:gridCol w="1771650"/>
              </a:tblGrid>
              <a:tr h="411480">
                <a:tc>
                  <a:txBody>
                    <a:bodyPr/>
                    <a:lstStyle/>
                    <a:p>
                      <a:pPr algn="l">
                        <a:lnSpc>
                          <a:spcPct val="103000"/>
                        </a:lnSpc>
                        <a:spcBef>
                          <a:spcPts val="0"/>
                        </a:spcBef>
                        <a:spcAft>
                          <a:spcPts val="0"/>
                        </a:spcAft>
                      </a:pPr>
                      <a:r>
                        <a:rPr sz="1400" b="1">
                          <a:solidFill>
                            <a:srgbClr val="FFFFFF"/>
                          </a:solidFill>
                          <a:latin typeface="Arial"/>
                        </a:rPr>
                        <a:t>Question</a:t>
                      </a:r>
                    </a:p>
                  </a:txBody>
                  <a:tcPr marL="109728" marR="91440" marT="45720" marB="36576" anchor="ctr">
                    <a:solidFill>
                      <a:srgbClr val="00407A"/>
                    </a:solidFill>
                    <a:lnL>
                      <a:noFill/>
                    </a:lnL>
                    <a:lnR>
                      <a:noFill/>
                    </a:lnR>
                    <a:lnT>
                      <a:noFill/>
                    </a:lnT>
                    <a:lnB>
                      <a:noFill/>
                    </a:lnB>
                  </a:tcPr>
                </a:tc>
                <a:tc>
                  <a:txBody>
                    <a:bodyPr/>
                    <a:lstStyle/>
                    <a:p>
                      <a:pPr algn="l">
                        <a:lnSpc>
                          <a:spcPct val="103000"/>
                        </a:lnSpc>
                        <a:spcBef>
                          <a:spcPts val="0"/>
                        </a:spcBef>
                        <a:spcAft>
                          <a:spcPts val="0"/>
                        </a:spcAft>
                      </a:pPr>
                      <a:r>
                        <a:rPr sz="1400" b="1">
                          <a:solidFill>
                            <a:srgbClr val="FFFFFF"/>
                          </a:solidFill>
                          <a:latin typeface="Arial"/>
                        </a:rPr>
                        <a:t>Measure</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0.8B</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4B</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9B</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27B</a:t>
                      </a:r>
                    </a:p>
                  </a:txBody>
                  <a:tcPr marL="109728" marR="91440" marT="45720" marB="36576" anchor="ctr">
                    <a:solidFill>
                      <a:srgbClr val="00407A"/>
                    </a:solidFill>
                    <a:lnL>
                      <a:noFill/>
                    </a:lnL>
                    <a:lnR>
                      <a:noFill/>
                    </a:lnR>
                    <a:lnT>
                      <a:noFill/>
                    </a:lnT>
                    <a:lnB>
                      <a:noFill/>
                    </a:lnB>
                  </a:tcPr>
                </a:tc>
              </a:tr>
              <a:tr h="405765">
                <a:tc>
                  <a:txBody>
                    <a:bodyPr/>
                    <a:lstStyle/>
                    <a:p>
                      <a:pPr algn="l">
                        <a:lnSpc>
                          <a:spcPct val="103000"/>
                        </a:lnSpc>
                        <a:spcBef>
                          <a:spcPts val="0"/>
                        </a:spcBef>
                        <a:spcAft>
                          <a:spcPts val="0"/>
                        </a:spcAft>
                      </a:pPr>
                      <a:r>
                        <a:rPr sz="1400" b="0">
                          <a:solidFill>
                            <a:srgbClr val="00407A"/>
                          </a:solidFill>
                          <a:latin typeface="Arial"/>
                        </a:rPr>
                        <a:t>Area</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400" b="0">
                          <a:solidFill>
                            <a:srgbClr val="00407A"/>
                          </a:solidFill>
                          <a:latin typeface="Arial"/>
                        </a:rPr>
                        <a:t>Within one level</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66.3% → 12.0%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70.7% → 93.5%</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90.2% → 92.4%</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100.0% → 100.0%</a:t>
                      </a:r>
                    </a:p>
                  </a:txBody>
                  <a:tcPr marL="109728" marR="91440" marT="45720" marB="36576" anchor="ctr">
                    <a:solidFill>
                      <a:srgbClr val="E3EFF5"/>
                    </a:solidFill>
                    <a:lnL>
                      <a:noFill/>
                    </a:lnL>
                    <a:lnR>
                      <a:noFill/>
                    </a:lnR>
                    <a:lnT>
                      <a:noFill/>
                    </a:lnT>
                    <a:lnB>
                      <a:noFill/>
                    </a:lnB>
                  </a:tcPr>
                </a:tc>
              </a:tr>
              <a:tr h="405765">
                <a:tc>
                  <a:txBody>
                    <a:bodyPr/>
                    <a:lstStyle/>
                    <a:p>
                      <a:pPr algn="l">
                        <a:lnSpc>
                          <a:spcPct val="103000"/>
                        </a:lnSpc>
                        <a:spcBef>
                          <a:spcPts val="0"/>
                        </a:spcBef>
                        <a:spcAft>
                          <a:spcPts val="0"/>
                        </a:spcAft>
                      </a:pPr>
                      <a:r>
                        <a:rPr sz="1400" b="0">
                          <a:solidFill>
                            <a:srgbClr val="00407A"/>
                          </a:solidFill>
                          <a:latin typeface="Arial"/>
                        </a:rPr>
                        <a:t>Area</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400" b="0">
                          <a:solidFill>
                            <a:srgbClr val="00407A"/>
                          </a:solidFill>
                          <a:latin typeface="Arial"/>
                        </a:rPr>
                        <a:t>Mean level error</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0.99 → 1.63</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0.71 → 0.88</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0.65 → 0.75</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0.48 → 0.44</a:t>
                      </a:r>
                    </a:p>
                  </a:txBody>
                  <a:tcPr marL="109728" marR="91440" marT="45720" marB="36576" anchor="ctr">
                    <a:solidFill>
                      <a:srgbClr val="FFFFFF"/>
                    </a:solidFill>
                    <a:lnL>
                      <a:noFill/>
                    </a:lnL>
                    <a:lnR>
                      <a:noFill/>
                    </a:lnR>
                    <a:lnT>
                      <a:noFill/>
                    </a:lnT>
                    <a:lnB>
                      <a:noFill/>
                    </a:lnB>
                  </a:tcPr>
                </a:tc>
              </a:tr>
              <a:tr h="405765">
                <a:tc>
                  <a:txBody>
                    <a:bodyPr/>
                    <a:lstStyle/>
                    <a:p>
                      <a:pPr algn="l">
                        <a:lnSpc>
                          <a:spcPct val="103000"/>
                        </a:lnSpc>
                        <a:spcBef>
                          <a:spcPts val="0"/>
                        </a:spcBef>
                        <a:spcAft>
                          <a:spcPts val="0"/>
                        </a:spcAft>
                      </a:pPr>
                      <a:r>
                        <a:rPr sz="1400" b="0">
                          <a:solidFill>
                            <a:srgbClr val="00407A"/>
                          </a:solidFill>
                          <a:latin typeface="Arial"/>
                        </a:rPr>
                        <a:t>Power</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400" b="0">
                          <a:solidFill>
                            <a:srgbClr val="00407A"/>
                          </a:solidFill>
                          <a:latin typeface="Arial"/>
                        </a:rPr>
                        <a:t>Within one level</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82.4% → 8.2%</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91.8% → 88.2%</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92.9% → 69.4%</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64.7% → 87.1%</a:t>
                      </a:r>
                    </a:p>
                  </a:txBody>
                  <a:tcPr marL="109728" marR="91440" marT="45720" marB="36576" anchor="ctr">
                    <a:solidFill>
                      <a:srgbClr val="E3EFF5"/>
                    </a:solidFill>
                    <a:lnL>
                      <a:noFill/>
                    </a:lnL>
                    <a:lnR>
                      <a:noFill/>
                    </a:lnR>
                    <a:lnT>
                      <a:noFill/>
                    </a:lnT>
                    <a:lnB>
                      <a:noFill/>
                    </a:lnB>
                  </a:tcPr>
                </a:tc>
              </a:tr>
              <a:tr h="405765">
                <a:tc>
                  <a:txBody>
                    <a:bodyPr/>
                    <a:lstStyle/>
                    <a:p>
                      <a:pPr algn="l">
                        <a:lnSpc>
                          <a:spcPct val="103000"/>
                        </a:lnSpc>
                        <a:spcBef>
                          <a:spcPts val="0"/>
                        </a:spcBef>
                        <a:spcAft>
                          <a:spcPts val="0"/>
                        </a:spcAft>
                      </a:pPr>
                      <a:r>
                        <a:rPr sz="1400" b="0">
                          <a:solidFill>
                            <a:srgbClr val="00407A"/>
                          </a:solidFill>
                          <a:latin typeface="Arial"/>
                        </a:rPr>
                        <a:t>Power</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400" b="0">
                          <a:solidFill>
                            <a:srgbClr val="00407A"/>
                          </a:solidFill>
                          <a:latin typeface="Arial"/>
                        </a:rPr>
                        <a:t>Mean level error</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0.97 → 1.61</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0.75 → 0.99</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0.90 → 1.06</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1.07 → 1.04</a:t>
                      </a:r>
                    </a:p>
                  </a:txBody>
                  <a:tcPr marL="109728" marR="91440" marT="45720" marB="36576" anchor="ctr">
                    <a:solidFill>
                      <a:srgbClr val="FFFFFF"/>
                    </a:solidFill>
                    <a:lnL>
                      <a:noFill/>
                    </a:lnL>
                    <a:lnR>
                      <a:noFill/>
                    </a:lnR>
                    <a:lnT>
                      <a:noFill/>
                    </a:lnT>
                    <a:lnB>
                      <a:noFill/>
                    </a:lnB>
                  </a:tcPr>
                </a:tc>
              </a:tr>
              <a:tr h="405765">
                <a:tc>
                  <a:txBody>
                    <a:bodyPr/>
                    <a:lstStyle/>
                    <a:p>
                      <a:pPr algn="l">
                        <a:lnSpc>
                          <a:spcPct val="103000"/>
                        </a:lnSpc>
                        <a:spcBef>
                          <a:spcPts val="0"/>
                        </a:spcBef>
                        <a:spcAft>
                          <a:spcPts val="0"/>
                        </a:spcAft>
                      </a:pPr>
                      <a:r>
                        <a:rPr sz="1400" b="0">
                          <a:solidFill>
                            <a:srgbClr val="00407A"/>
                          </a:solidFill>
                          <a:latin typeface="Arial"/>
                        </a:rPr>
                        <a:t>Frequency</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400" b="0">
                          <a:solidFill>
                            <a:srgbClr val="00407A"/>
                          </a:solidFill>
                          <a:latin typeface="Arial"/>
                        </a:rPr>
                        <a:t>Within one level</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31.5% → 62.0%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31.5% → 51.1%</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33.7% → 51.1%</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31.5% → 83.7%</a:t>
                      </a:r>
                    </a:p>
                  </a:txBody>
                  <a:tcPr marL="109728" marR="91440" marT="45720" marB="36576" anchor="ctr">
                    <a:solidFill>
                      <a:srgbClr val="E3EFF5"/>
                    </a:solidFill>
                    <a:lnL>
                      <a:noFill/>
                    </a:lnL>
                    <a:lnR>
                      <a:noFill/>
                    </a:lnR>
                    <a:lnT>
                      <a:noFill/>
                    </a:lnT>
                    <a:lnB>
                      <a:noFill/>
                    </a:lnB>
                  </a:tcPr>
                </a:tc>
              </a:tr>
              <a:tr h="405765">
                <a:tc>
                  <a:txBody>
                    <a:bodyPr/>
                    <a:lstStyle/>
                    <a:p>
                      <a:pPr algn="l">
                        <a:lnSpc>
                          <a:spcPct val="103000"/>
                        </a:lnSpc>
                        <a:spcBef>
                          <a:spcPts val="0"/>
                        </a:spcBef>
                        <a:spcAft>
                          <a:spcPts val="0"/>
                        </a:spcAft>
                      </a:pPr>
                      <a:r>
                        <a:rPr sz="1400" b="0">
                          <a:solidFill>
                            <a:srgbClr val="00407A"/>
                          </a:solidFill>
                          <a:latin typeface="Arial"/>
                        </a:rPr>
                        <a:t>Frequency</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400" b="0">
                          <a:solidFill>
                            <a:srgbClr val="00407A"/>
                          </a:solidFill>
                          <a:latin typeface="Arial"/>
                        </a:rPr>
                        <a:t>Mean level error</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1.12 → 0.93</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1.32 → 1.00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1.21 → 1.05</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1.24 → 0.87</a:t>
                      </a:r>
                    </a:p>
                  </a:txBody>
                  <a:tcPr marL="109728" marR="91440" marT="45720" marB="36576" anchor="ctr">
                    <a:solidFill>
                      <a:srgbClr val="FFFFFF"/>
                    </a:solidFill>
                    <a:lnL>
                      <a:noFill/>
                    </a:lnL>
                    <a:lnR>
                      <a:noFill/>
                    </a:lnR>
                    <a:lnT>
                      <a:noFill/>
                    </a:lnT>
                    <a:lnB>
                      <a:noFill/>
                    </a:lnB>
                  </a:tcPr>
                </a:tc>
              </a:tr>
              <a:tr h="405765">
                <a:tc>
                  <a:txBody>
                    <a:bodyPr/>
                    <a:lstStyle/>
                    <a:p>
                      <a:pPr algn="l">
                        <a:lnSpc>
                          <a:spcPct val="103000"/>
                        </a:lnSpc>
                        <a:spcBef>
                          <a:spcPts val="0"/>
                        </a:spcBef>
                        <a:spcAft>
                          <a:spcPts val="0"/>
                        </a:spcAft>
                      </a:pPr>
                      <a:r>
                        <a:rPr sz="1400" b="0">
                          <a:solidFill>
                            <a:srgbClr val="00407A"/>
                          </a:solidFill>
                          <a:latin typeface="Arial"/>
                        </a:rPr>
                        <a:t>Slack</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400" b="0">
                          <a:solidFill>
                            <a:srgbClr val="00407A"/>
                          </a:solidFill>
                          <a:latin typeface="Arial"/>
                        </a:rPr>
                        <a:t>Within one level</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30.4% → 85.9%</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28.3% → 32.6%</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12.0% → 76.1%</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40.2% → 90.2%</a:t>
                      </a:r>
                    </a:p>
                  </a:txBody>
                  <a:tcPr marL="109728" marR="91440" marT="45720" marB="36576" anchor="ctr">
                    <a:solidFill>
                      <a:srgbClr val="E3EFF5"/>
                    </a:solidFill>
                    <a:lnL>
                      <a:noFill/>
                    </a:lnL>
                    <a:lnR>
                      <a:noFill/>
                    </a:lnR>
                    <a:lnT>
                      <a:noFill/>
                    </a:lnT>
                    <a:lnB>
                      <a:noFill/>
                    </a:lnB>
                  </a:tcPr>
                </a:tc>
              </a:tr>
              <a:tr h="405765">
                <a:tc>
                  <a:txBody>
                    <a:bodyPr/>
                    <a:lstStyle/>
                    <a:p>
                      <a:pPr algn="l">
                        <a:lnSpc>
                          <a:spcPct val="103000"/>
                        </a:lnSpc>
                        <a:spcBef>
                          <a:spcPts val="0"/>
                        </a:spcBef>
                        <a:spcAft>
                          <a:spcPts val="0"/>
                        </a:spcAft>
                      </a:pPr>
                      <a:r>
                        <a:rPr sz="1400" b="0">
                          <a:solidFill>
                            <a:srgbClr val="00407A"/>
                          </a:solidFill>
                          <a:latin typeface="Arial"/>
                        </a:rPr>
                        <a:t>Slack</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400" b="0">
                          <a:solidFill>
                            <a:srgbClr val="00407A"/>
                          </a:solidFill>
                          <a:latin typeface="Arial"/>
                        </a:rPr>
                        <a:t>Mean level error</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1.51 → 0.76</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1.65 → 1.44</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1.74 → 1.47</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1.62 → 0.92</a:t>
                      </a:r>
                    </a:p>
                  </a:txBody>
                  <a:tcPr marL="109728" marR="91440" marT="45720" marB="36576" anchor="ctr">
                    <a:solidFill>
                      <a:srgbClr val="FFFFFF"/>
                    </a:solidFill>
                    <a:lnL>
                      <a:noFill/>
                    </a:lnL>
                    <a:lnR>
                      <a:noFill/>
                    </a:lnR>
                    <a:lnT>
                      <a:noFill/>
                    </a:lnT>
                    <a:lnB>
                      <a:noFill/>
                    </a:lnB>
                  </a:tcPr>
                </a:tc>
              </a:tr>
            </a:tbl>
          </a:graphicData>
        </a:graphic>
      </p:graphicFrame>
      <p:sp>
        <p:nvSpPr>
          <p:cNvPr id="7" name="TextBox 6"/>
          <p:cNvSpPr txBox="1"/>
          <p:nvPr/>
        </p:nvSpPr>
        <p:spPr>
          <a:xfrm>
            <a:off x="868680" y="5715000"/>
            <a:ext cx="10424160" cy="457200"/>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4A5A66"/>
                </a:solidFill>
                <a:latin typeface="Arial"/>
              </a:rPr>
              <a:t>Mean level error uses the probability-weighted expected level, not only the most likely level. The level ranges are decades, so one level is not a fixed physical error.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Pair questions: both orders, one order, neither</a:t>
            </a:r>
          </a:p>
        </p:txBody>
      </p:sp>
      <p:sp>
        <p:nvSpPr>
          <p:cNvPr id="3" name="TextBox 2"/>
          <p:cNvSpPr txBox="1"/>
          <p:nvPr/>
        </p:nvSpPr>
        <p:spPr>
          <a:xfrm>
            <a:off x="813816" y="1261872"/>
            <a:ext cx="1056132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Counts per pair. Each pair has two answers, one per order. Each cell: no examples → three examples.</a:t>
            </a:r>
          </a:p>
        </p:txBody>
      </p:sp>
      <p:sp>
        <p:nvSpPr>
          <p:cNvPr id="4" name="TextBox 3"/>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4  •  APPENDIX</a:t>
            </a:r>
          </a:p>
        </p:txBody>
      </p:sp>
      <p:sp>
        <p:nvSpPr>
          <p:cNvPr id="5" name="TextBox 4"/>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29</a:t>
            </a:r>
          </a:p>
        </p:txBody>
      </p:sp>
      <p:graphicFrame>
        <p:nvGraphicFramePr>
          <p:cNvPr id="6" name="Table 5"/>
          <p:cNvGraphicFramePr>
            <a:graphicFrameLocks noGrp="1"/>
          </p:cNvGraphicFramePr>
          <p:nvPr/>
        </p:nvGraphicFramePr>
        <p:xfrm>
          <a:off x="813816" y="1810512"/>
          <a:ext cx="10561320" cy="3794760"/>
        </p:xfrm>
        <a:graphic>
          <a:graphicData uri="http://schemas.openxmlformats.org/drawingml/2006/table">
            <a:tbl>
              <a:tblPr firstRow="1" bandRow="1">
                <a:tableStyleId>{5C22544A-7EE6-4342-B048-85BDC9FD1C3A}</a:tableStyleId>
              </a:tblPr>
              <a:tblGrid>
                <a:gridCol w="3108960"/>
                <a:gridCol w="914400"/>
                <a:gridCol w="1634490"/>
                <a:gridCol w="1634490"/>
                <a:gridCol w="1634490"/>
                <a:gridCol w="1634490"/>
              </a:tblGrid>
              <a:tr h="411480">
                <a:tc>
                  <a:txBody>
                    <a:bodyPr/>
                    <a:lstStyle/>
                    <a:p>
                      <a:pPr algn="l">
                        <a:lnSpc>
                          <a:spcPct val="103000"/>
                        </a:lnSpc>
                        <a:spcBef>
                          <a:spcPts val="0"/>
                        </a:spcBef>
                        <a:spcAft>
                          <a:spcPts val="0"/>
                        </a:spcAft>
                      </a:pPr>
                      <a:r>
                        <a:rPr sz="1400" b="1">
                          <a:solidFill>
                            <a:srgbClr val="FFFFFF"/>
                          </a:solidFill>
                          <a:latin typeface="Arial"/>
                        </a:rPr>
                        <a:t>Pair outcome</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Pairs</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0.8B</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4B</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9B</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27B</a:t>
                      </a:r>
                    </a:p>
                  </a:txBody>
                  <a:tcPr marL="109728" marR="91440" marT="45720" marB="36576" anchor="ctr">
                    <a:solidFill>
                      <a:srgbClr val="00407A"/>
                    </a:solidFill>
                    <a:lnL>
                      <a:noFill/>
                    </a:lnL>
                    <a:lnR>
                      <a:noFill/>
                    </a:lnR>
                    <a:lnT>
                      <a:noFill/>
                    </a:lnT>
                    <a:lnB>
                      <a:noFill/>
                    </a:lnB>
                  </a:tcPr>
                </a:tc>
              </a:tr>
              <a:tr h="375920">
                <a:tc>
                  <a:txBody>
                    <a:bodyPr/>
                    <a:lstStyle/>
                    <a:p>
                      <a:pPr algn="l">
                        <a:lnSpc>
                          <a:spcPct val="103000"/>
                        </a:lnSpc>
                        <a:spcBef>
                          <a:spcPts val="0"/>
                        </a:spcBef>
                        <a:spcAft>
                          <a:spcPts val="0"/>
                        </a:spcAft>
                      </a:pPr>
                      <a:r>
                        <a:rPr sz="1400" b="0">
                          <a:solidFill>
                            <a:srgbClr val="00407A"/>
                          </a:solidFill>
                          <a:latin typeface="Arial"/>
                        </a:rPr>
                        <a:t>Area: both orders correct</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23</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5 → 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13 → 10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19 → 12</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17 → 20</a:t>
                      </a:r>
                    </a:p>
                  </a:txBody>
                  <a:tcPr marL="109728" marR="91440" marT="45720" marB="36576" anchor="ctr">
                    <a:solidFill>
                      <a:srgbClr val="E3EFF5"/>
                    </a:solidFill>
                    <a:lnL>
                      <a:noFill/>
                    </a:lnL>
                    <a:lnR>
                      <a:noFill/>
                    </a:lnR>
                    <a:lnT>
                      <a:noFill/>
                    </a:lnT>
                    <a:lnB>
                      <a:noFill/>
                    </a:lnB>
                  </a:tcPr>
                </a:tc>
              </a:tr>
              <a:tr h="375920">
                <a:tc>
                  <a:txBody>
                    <a:bodyPr/>
                    <a:lstStyle/>
                    <a:p>
                      <a:pPr algn="l">
                        <a:lnSpc>
                          <a:spcPct val="103000"/>
                        </a:lnSpc>
                        <a:spcBef>
                          <a:spcPts val="0"/>
                        </a:spcBef>
                        <a:spcAft>
                          <a:spcPts val="0"/>
                        </a:spcAft>
                      </a:pPr>
                      <a:r>
                        <a:rPr sz="1400" b="0">
                          <a:solidFill>
                            <a:srgbClr val="00407A"/>
                          </a:solidFill>
                          <a:latin typeface="Arial"/>
                        </a:rPr>
                        <a:t>Area: one order correct</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23</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12 → 23</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9 → 11</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2 → 11</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2 → 1</a:t>
                      </a:r>
                    </a:p>
                  </a:txBody>
                  <a:tcPr marL="109728" marR="91440" marT="45720" marB="36576" anchor="ctr">
                    <a:solidFill>
                      <a:srgbClr val="FFFFFF"/>
                    </a:solidFill>
                    <a:lnL>
                      <a:noFill/>
                    </a:lnL>
                    <a:lnR>
                      <a:noFill/>
                    </a:lnR>
                    <a:lnT>
                      <a:noFill/>
                    </a:lnT>
                    <a:lnB>
                      <a:noFill/>
                    </a:lnB>
                  </a:tcPr>
                </a:tc>
              </a:tr>
              <a:tr h="375920">
                <a:tc>
                  <a:txBody>
                    <a:bodyPr/>
                    <a:lstStyle/>
                    <a:p>
                      <a:pPr algn="l">
                        <a:lnSpc>
                          <a:spcPct val="103000"/>
                        </a:lnSpc>
                        <a:spcBef>
                          <a:spcPts val="0"/>
                        </a:spcBef>
                        <a:spcAft>
                          <a:spcPts val="0"/>
                        </a:spcAft>
                      </a:pPr>
                      <a:r>
                        <a:rPr sz="1400" b="0">
                          <a:solidFill>
                            <a:srgbClr val="00407A"/>
                          </a:solidFill>
                          <a:latin typeface="Arial"/>
                        </a:rPr>
                        <a:t>Area: neither order correct</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23</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6 → 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 → 2</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2 → 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4 → 2</a:t>
                      </a:r>
                    </a:p>
                  </a:txBody>
                  <a:tcPr marL="109728" marR="91440" marT="45720" marB="36576" anchor="ctr">
                    <a:solidFill>
                      <a:srgbClr val="E3EFF5"/>
                    </a:solidFill>
                    <a:lnL>
                      <a:noFill/>
                    </a:lnL>
                    <a:lnR>
                      <a:noFill/>
                    </a:lnR>
                    <a:lnT>
                      <a:noFill/>
                    </a:lnT>
                    <a:lnB>
                      <a:noFill/>
                    </a:lnB>
                  </a:tcPr>
                </a:tc>
              </a:tr>
              <a:tr h="375920">
                <a:tc>
                  <a:txBody>
                    <a:bodyPr/>
                    <a:lstStyle/>
                    <a:p>
                      <a:pPr algn="l">
                        <a:lnSpc>
                          <a:spcPct val="103000"/>
                        </a:lnSpc>
                        <a:spcBef>
                          <a:spcPts val="0"/>
                        </a:spcBef>
                        <a:spcAft>
                          <a:spcPts val="0"/>
                        </a:spcAft>
                      </a:pPr>
                      <a:r>
                        <a:rPr sz="1400" b="0">
                          <a:solidFill>
                            <a:srgbClr val="00407A"/>
                          </a:solidFill>
                          <a:latin typeface="Arial"/>
                        </a:rPr>
                        <a:t>Power: both orders correct</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22</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6 → 3</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3 → 8</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9 → 11</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14 → 17</a:t>
                      </a:r>
                    </a:p>
                  </a:txBody>
                  <a:tcPr marL="109728" marR="91440" marT="45720" marB="36576" anchor="ctr">
                    <a:solidFill>
                      <a:srgbClr val="FFFFFF"/>
                    </a:solidFill>
                    <a:lnL>
                      <a:noFill/>
                    </a:lnL>
                    <a:lnR>
                      <a:noFill/>
                    </a:lnR>
                    <a:lnT>
                      <a:noFill/>
                    </a:lnT>
                    <a:lnB>
                      <a:noFill/>
                    </a:lnB>
                  </a:tcPr>
                </a:tc>
              </a:tr>
              <a:tr h="375920">
                <a:tc>
                  <a:txBody>
                    <a:bodyPr/>
                    <a:lstStyle/>
                    <a:p>
                      <a:pPr algn="l">
                        <a:lnSpc>
                          <a:spcPct val="103000"/>
                        </a:lnSpc>
                        <a:spcBef>
                          <a:spcPts val="0"/>
                        </a:spcBef>
                        <a:spcAft>
                          <a:spcPts val="0"/>
                        </a:spcAft>
                      </a:pPr>
                      <a:r>
                        <a:rPr sz="1400" b="0">
                          <a:solidFill>
                            <a:srgbClr val="00407A"/>
                          </a:solidFill>
                          <a:latin typeface="Arial"/>
                        </a:rPr>
                        <a:t>Power: one order correct</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22</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16 → 18</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19 → 12</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11 → 9</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3 → 1</a:t>
                      </a:r>
                    </a:p>
                  </a:txBody>
                  <a:tcPr marL="109728" marR="91440" marT="45720" marB="36576" anchor="ctr">
                    <a:solidFill>
                      <a:srgbClr val="E3EFF5"/>
                    </a:solidFill>
                    <a:lnL>
                      <a:noFill/>
                    </a:lnL>
                    <a:lnR>
                      <a:noFill/>
                    </a:lnR>
                    <a:lnT>
                      <a:noFill/>
                    </a:lnT>
                    <a:lnB>
                      <a:noFill/>
                    </a:lnB>
                  </a:tcPr>
                </a:tc>
              </a:tr>
              <a:tr h="375920">
                <a:tc>
                  <a:txBody>
                    <a:bodyPr/>
                    <a:lstStyle/>
                    <a:p>
                      <a:pPr algn="l">
                        <a:lnSpc>
                          <a:spcPct val="103000"/>
                        </a:lnSpc>
                        <a:spcBef>
                          <a:spcPts val="0"/>
                        </a:spcBef>
                        <a:spcAft>
                          <a:spcPts val="0"/>
                        </a:spcAft>
                      </a:pPr>
                      <a:r>
                        <a:rPr sz="1400" b="0">
                          <a:solidFill>
                            <a:srgbClr val="00407A"/>
                          </a:solidFill>
                          <a:latin typeface="Arial"/>
                        </a:rPr>
                        <a:t>Power: neither order correct</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22</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 → 1</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 → 2</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2 → 2</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5 → 4</a:t>
                      </a:r>
                    </a:p>
                  </a:txBody>
                  <a:tcPr marL="109728" marR="91440" marT="45720" marB="36576" anchor="ctr">
                    <a:solidFill>
                      <a:srgbClr val="FFFFFF"/>
                    </a:solidFill>
                    <a:lnL>
                      <a:noFill/>
                    </a:lnL>
                    <a:lnR>
                      <a:noFill/>
                    </a:lnR>
                    <a:lnT>
                      <a:noFill/>
                    </a:lnT>
                    <a:lnB>
                      <a:noFill/>
                    </a:lnB>
                  </a:tcPr>
                </a:tc>
              </a:tr>
              <a:tr h="375920">
                <a:tc>
                  <a:txBody>
                    <a:bodyPr/>
                    <a:lstStyle/>
                    <a:p>
                      <a:pPr algn="l">
                        <a:lnSpc>
                          <a:spcPct val="103000"/>
                        </a:lnSpc>
                        <a:spcBef>
                          <a:spcPts val="0"/>
                        </a:spcBef>
                        <a:spcAft>
                          <a:spcPts val="0"/>
                        </a:spcAft>
                      </a:pPr>
                      <a:r>
                        <a:rPr sz="1400" b="0">
                          <a:solidFill>
                            <a:srgbClr val="00407A"/>
                          </a:solidFill>
                          <a:latin typeface="Arial"/>
                        </a:rPr>
                        <a:t>Frequency: both orders correct</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6</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3 → 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4 → 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4 → 4</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5 → 5</a:t>
                      </a:r>
                    </a:p>
                  </a:txBody>
                  <a:tcPr marL="109728" marR="91440" marT="45720" marB="36576" anchor="ctr">
                    <a:solidFill>
                      <a:srgbClr val="E3EFF5"/>
                    </a:solidFill>
                    <a:lnL>
                      <a:noFill/>
                    </a:lnL>
                    <a:lnR>
                      <a:noFill/>
                    </a:lnR>
                    <a:lnT>
                      <a:noFill/>
                    </a:lnT>
                    <a:lnB>
                      <a:noFill/>
                    </a:lnB>
                  </a:tcPr>
                </a:tc>
              </a:tr>
              <a:tr h="375920">
                <a:tc>
                  <a:txBody>
                    <a:bodyPr/>
                    <a:lstStyle/>
                    <a:p>
                      <a:pPr algn="l">
                        <a:lnSpc>
                          <a:spcPct val="103000"/>
                        </a:lnSpc>
                        <a:spcBef>
                          <a:spcPts val="0"/>
                        </a:spcBef>
                        <a:spcAft>
                          <a:spcPts val="0"/>
                        </a:spcAft>
                      </a:pPr>
                      <a:r>
                        <a:rPr sz="1400" b="0">
                          <a:solidFill>
                            <a:srgbClr val="00407A"/>
                          </a:solidFill>
                          <a:latin typeface="Arial"/>
                        </a:rPr>
                        <a:t>Frequency: one order correct</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6</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2 → 6</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2 → 6</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 → 1</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 → 1</a:t>
                      </a:r>
                    </a:p>
                  </a:txBody>
                  <a:tcPr marL="109728" marR="91440" marT="45720" marB="36576" anchor="ctr">
                    <a:solidFill>
                      <a:srgbClr val="FFFFFF"/>
                    </a:solidFill>
                    <a:lnL>
                      <a:noFill/>
                    </a:lnL>
                    <a:lnR>
                      <a:noFill/>
                    </a:lnR>
                    <a:lnT>
                      <a:noFill/>
                    </a:lnT>
                    <a:lnB>
                      <a:noFill/>
                    </a:lnB>
                  </a:tcPr>
                </a:tc>
              </a:tr>
              <a:tr h="375920">
                <a:tc>
                  <a:txBody>
                    <a:bodyPr/>
                    <a:lstStyle/>
                    <a:p>
                      <a:pPr algn="l">
                        <a:lnSpc>
                          <a:spcPct val="103000"/>
                        </a:lnSpc>
                        <a:spcBef>
                          <a:spcPts val="0"/>
                        </a:spcBef>
                        <a:spcAft>
                          <a:spcPts val="0"/>
                        </a:spcAft>
                      </a:pPr>
                      <a:r>
                        <a:rPr sz="1400" b="0">
                          <a:solidFill>
                            <a:srgbClr val="00407A"/>
                          </a:solidFill>
                          <a:latin typeface="Arial"/>
                        </a:rPr>
                        <a:t>Frequency: neither order correct</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6</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 → 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0 → 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 → 1</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 → 0</a:t>
                      </a:r>
                    </a:p>
                  </a:txBody>
                  <a:tcPr marL="109728" marR="91440" marT="45720" marB="36576" anchor="ctr">
                    <a:solidFill>
                      <a:srgbClr val="E3EFF5"/>
                    </a:solidFill>
                    <a:lnL>
                      <a:noFill/>
                    </a:lnL>
                    <a:lnR>
                      <a:noFill/>
                    </a:lnR>
                    <a:lnT>
                      <a:noFill/>
                    </a:lnT>
                    <a:lnB>
                      <a:noFill/>
                    </a:lnB>
                  </a:tcPr>
                </a:tc>
              </a:tr>
            </a:tbl>
          </a:graphicData>
        </a:graphic>
      </p:graphicFrame>
      <p:sp>
        <p:nvSpPr>
          <p:cNvPr id="7" name="TextBox 6"/>
          <p:cNvSpPr txBox="1"/>
          <p:nvPr/>
        </p:nvSpPr>
        <p:spPr>
          <a:xfrm>
            <a:off x="868680" y="5760720"/>
            <a:ext cx="10424160" cy="457200"/>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4A5A66"/>
                </a:solidFill>
                <a:latin typeface="Arial"/>
              </a:rPr>
              <a:t>The two correct letters of a pair are opposite, so “one order correct” means the same letter in both orders. A letter swap can still be wrong in both orders.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Design groups in the test split</a:t>
            </a:r>
          </a:p>
        </p:txBody>
      </p:sp>
      <p:sp>
        <p:nvSpPr>
          <p:cNvPr id="3" name="TextBox 2"/>
          <p:cNvSpPr txBox="1"/>
          <p:nvPr/>
        </p:nvSpPr>
        <p:spPr>
          <a:xfrm>
            <a:off x="813816" y="1261872"/>
            <a:ext cx="1056132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The retained designs by the group of the dataset plan. Pairs come from the REvolution candidates.</a:t>
            </a:r>
          </a:p>
        </p:txBody>
      </p:sp>
      <p:sp>
        <p:nvSpPr>
          <p:cNvPr id="4" name="TextBox 3"/>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4  •  APPENDIX</a:t>
            </a:r>
          </a:p>
        </p:txBody>
      </p:sp>
      <p:sp>
        <p:nvSpPr>
          <p:cNvPr id="5" name="TextBox 4"/>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30</a:t>
            </a:r>
          </a:p>
        </p:txBody>
      </p:sp>
      <p:graphicFrame>
        <p:nvGraphicFramePr>
          <p:cNvPr id="6" name="Table 5"/>
          <p:cNvGraphicFramePr>
            <a:graphicFrameLocks noGrp="1"/>
          </p:cNvGraphicFramePr>
          <p:nvPr/>
        </p:nvGraphicFramePr>
        <p:xfrm>
          <a:off x="813816" y="1810512"/>
          <a:ext cx="10561320" cy="3520440"/>
        </p:xfrm>
        <a:graphic>
          <a:graphicData uri="http://schemas.openxmlformats.org/drawingml/2006/table">
            <a:tbl>
              <a:tblPr firstRow="1" bandRow="1">
                <a:tableStyleId>{5C22544A-7EE6-4342-B048-85BDC9FD1C3A}</a:tableStyleId>
              </a:tblPr>
              <a:tblGrid>
                <a:gridCol w="5074920"/>
                <a:gridCol w="1645920"/>
                <a:gridCol w="1737360"/>
                <a:gridCol w="2103120"/>
              </a:tblGrid>
              <a:tr h="411480">
                <a:tc>
                  <a:txBody>
                    <a:bodyPr/>
                    <a:lstStyle/>
                    <a:p>
                      <a:pPr algn="l">
                        <a:lnSpc>
                          <a:spcPct val="103000"/>
                        </a:lnSpc>
                        <a:spcBef>
                          <a:spcPts val="0"/>
                        </a:spcBef>
                        <a:spcAft>
                          <a:spcPts val="0"/>
                        </a:spcAft>
                      </a:pPr>
                      <a:r>
                        <a:rPr sz="1400" b="1">
                          <a:solidFill>
                            <a:srgbClr val="FFFFFF"/>
                          </a:solidFill>
                          <a:latin typeface="Arial"/>
                        </a:rPr>
                        <a:t>Design group</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All retained</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Test designs</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Test synthesis failures</a:t>
                      </a:r>
                    </a:p>
                  </a:txBody>
                  <a:tcPr marL="109728" marR="91440" marT="45720" marB="36576" anchor="ctr">
                    <a:solidFill>
                      <a:srgbClr val="00407A"/>
                    </a:solidFill>
                    <a:lnL>
                      <a:noFill/>
                    </a:lnL>
                    <a:lnR>
                      <a:noFill/>
                    </a:lnR>
                    <a:lnT>
                      <a:noFill/>
                    </a:lnT>
                    <a:lnB>
                      <a:noFill/>
                    </a:lnB>
                  </a:tcPr>
                </a:tc>
              </a:tr>
              <a:tr h="388620">
                <a:tc>
                  <a:txBody>
                    <a:bodyPr/>
                    <a:lstStyle/>
                    <a:p>
                      <a:pPr algn="l">
                        <a:lnSpc>
                          <a:spcPct val="103000"/>
                        </a:lnSpc>
                        <a:spcBef>
                          <a:spcPts val="0"/>
                        </a:spcBef>
                        <a:spcAft>
                          <a:spcPts val="0"/>
                        </a:spcAft>
                      </a:pPr>
                      <a:r>
                        <a:rPr sz="1500" b="0">
                          <a:solidFill>
                            <a:srgbClr val="00407A"/>
                          </a:solidFill>
                          <a:latin typeface="Arial"/>
                        </a:rPr>
                        <a:t>MetRex designs</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40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31</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a:t>
                      </a:r>
                    </a:p>
                  </a:txBody>
                  <a:tcPr marL="109728" marR="91440" marT="45720" marB="36576" anchor="ctr">
                    <a:solidFill>
                      <a:srgbClr val="E3EFF5"/>
                    </a:solidFill>
                    <a:lnL>
                      <a:noFill/>
                    </a:lnL>
                    <a:lnR>
                      <a:noFill/>
                    </a:lnR>
                    <a:lnT>
                      <a:noFill/>
                    </a:lnT>
                    <a:lnB>
                      <a:noFill/>
                    </a:lnB>
                  </a:tcPr>
                </a:tc>
              </a:tr>
              <a:tr h="388620">
                <a:tc>
                  <a:txBody>
                    <a:bodyPr/>
                    <a:lstStyle/>
                    <a:p>
                      <a:pPr algn="l">
                        <a:lnSpc>
                          <a:spcPct val="103000"/>
                        </a:lnSpc>
                        <a:spcBef>
                          <a:spcPts val="0"/>
                        </a:spcBef>
                        <a:spcAft>
                          <a:spcPts val="0"/>
                        </a:spcAft>
                      </a:pPr>
                      <a:r>
                        <a:rPr sz="1500" b="0">
                          <a:solidFill>
                            <a:srgbClr val="00407A"/>
                          </a:solidFill>
                          <a:latin typeface="Arial"/>
                        </a:rPr>
                        <a:t>Injected synthesis errors (mutants)</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16</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9</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9</a:t>
                      </a:r>
                    </a:p>
                  </a:txBody>
                  <a:tcPr marL="109728" marR="91440" marT="45720" marB="36576" anchor="ctr">
                    <a:solidFill>
                      <a:srgbClr val="FFFFFF"/>
                    </a:solidFill>
                    <a:lnL>
                      <a:noFill/>
                    </a:lnL>
                    <a:lnR>
                      <a:noFill/>
                    </a:lnR>
                    <a:lnT>
                      <a:noFill/>
                    </a:lnT>
                    <a:lnB>
                      <a:noFill/>
                    </a:lnB>
                  </a:tcPr>
                </a:tc>
              </a:tr>
              <a:tr h="388620">
                <a:tc>
                  <a:txBody>
                    <a:bodyPr/>
                    <a:lstStyle/>
                    <a:p>
                      <a:pPr algn="l">
                        <a:lnSpc>
                          <a:spcPct val="103000"/>
                        </a:lnSpc>
                        <a:spcBef>
                          <a:spcPts val="0"/>
                        </a:spcBef>
                        <a:spcAft>
                          <a:spcPts val="0"/>
                        </a:spcAft>
                      </a:pPr>
                      <a:r>
                        <a:rPr sz="1500" b="0">
                          <a:solidFill>
                            <a:srgbClr val="00407A"/>
                          </a:solidFill>
                          <a:latin typeface="Arial"/>
                        </a:rPr>
                        <a:t>LLM-written candidates, natural result</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20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17</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a:t>
                      </a:r>
                    </a:p>
                  </a:txBody>
                  <a:tcPr marL="109728" marR="91440" marT="45720" marB="36576" anchor="ctr">
                    <a:solidFill>
                      <a:srgbClr val="E3EFF5"/>
                    </a:solidFill>
                    <a:lnL>
                      <a:noFill/>
                    </a:lnL>
                    <a:lnR>
                      <a:noFill/>
                    </a:lnR>
                    <a:lnT>
                      <a:noFill/>
                    </a:lnT>
                    <a:lnB>
                      <a:noFill/>
                    </a:lnB>
                  </a:tcPr>
                </a:tc>
              </a:tr>
              <a:tr h="388620">
                <a:tc>
                  <a:txBody>
                    <a:bodyPr/>
                    <a:lstStyle/>
                    <a:p>
                      <a:pPr algn="l">
                        <a:lnSpc>
                          <a:spcPct val="103000"/>
                        </a:lnSpc>
                        <a:spcBef>
                          <a:spcPts val="0"/>
                        </a:spcBef>
                        <a:spcAft>
                          <a:spcPts val="0"/>
                        </a:spcAft>
                      </a:pPr>
                      <a:r>
                        <a:rPr sz="1500" b="0">
                          <a:solidFill>
                            <a:srgbClr val="00407A"/>
                          </a:solidFill>
                          <a:latin typeface="Arial"/>
                        </a:rPr>
                        <a:t>Injected compile errors</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8</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8</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8</a:t>
                      </a:r>
                    </a:p>
                  </a:txBody>
                  <a:tcPr marL="109728" marR="91440" marT="45720" marB="36576" anchor="ctr">
                    <a:solidFill>
                      <a:srgbClr val="FFFFFF"/>
                    </a:solidFill>
                    <a:lnL>
                      <a:noFill/>
                    </a:lnL>
                    <a:lnR>
                      <a:noFill/>
                    </a:lnR>
                    <a:lnT>
                      <a:noFill/>
                    </a:lnT>
                    <a:lnB>
                      <a:noFill/>
                    </a:lnB>
                  </a:tcPr>
                </a:tc>
              </a:tr>
              <a:tr h="388620">
                <a:tc>
                  <a:txBody>
                    <a:bodyPr/>
                    <a:lstStyle/>
                    <a:p>
                      <a:pPr algn="l">
                        <a:lnSpc>
                          <a:spcPct val="103000"/>
                        </a:lnSpc>
                        <a:spcBef>
                          <a:spcPts val="0"/>
                        </a:spcBef>
                        <a:spcAft>
                          <a:spcPts val="0"/>
                        </a:spcAft>
                      </a:pPr>
                      <a:r>
                        <a:rPr sz="1500" b="0">
                          <a:solidFill>
                            <a:srgbClr val="00407A"/>
                          </a:solidFill>
                          <a:latin typeface="Arial"/>
                        </a:rPr>
                        <a:t>Human-written reference designs</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15</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11</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a:t>
                      </a:r>
                    </a:p>
                  </a:txBody>
                  <a:tcPr marL="109728" marR="91440" marT="45720" marB="36576" anchor="ctr">
                    <a:solidFill>
                      <a:srgbClr val="E3EFF5"/>
                    </a:solidFill>
                    <a:lnL>
                      <a:noFill/>
                    </a:lnL>
                    <a:lnR>
                      <a:noFill/>
                    </a:lnR>
                    <a:lnT>
                      <a:noFill/>
                    </a:lnT>
                    <a:lnB>
                      <a:noFill/>
                    </a:lnB>
                  </a:tcPr>
                </a:tc>
              </a:tr>
              <a:tr h="388620">
                <a:tc>
                  <a:txBody>
                    <a:bodyPr/>
                    <a:lstStyle/>
                    <a:p>
                      <a:pPr algn="l">
                        <a:lnSpc>
                          <a:spcPct val="103000"/>
                        </a:lnSpc>
                        <a:spcBef>
                          <a:spcPts val="0"/>
                        </a:spcBef>
                        <a:spcAft>
                          <a:spcPts val="0"/>
                        </a:spcAft>
                      </a:pPr>
                      <a:r>
                        <a:rPr sz="1500" b="0">
                          <a:solidFill>
                            <a:srgbClr val="00407A"/>
                          </a:solidFill>
                          <a:latin typeface="Arial"/>
                        </a:rPr>
                        <a:t>REvolution ASP-DAC 2026 candidates (pairs)</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32</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28</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a:t>
                      </a:r>
                    </a:p>
                  </a:txBody>
                  <a:tcPr marL="109728" marR="91440" marT="45720" marB="36576" anchor="ctr">
                    <a:solidFill>
                      <a:srgbClr val="FFFFFF"/>
                    </a:solidFill>
                    <a:lnL>
                      <a:noFill/>
                    </a:lnL>
                    <a:lnR>
                      <a:noFill/>
                    </a:lnR>
                    <a:lnT>
                      <a:noFill/>
                    </a:lnT>
                    <a:lnB>
                      <a:noFill/>
                    </a:lnB>
                  </a:tcPr>
                </a:tc>
              </a:tr>
              <a:tr h="388620">
                <a:tc>
                  <a:txBody>
                    <a:bodyPr/>
                    <a:lstStyle/>
                    <a:p>
                      <a:pPr algn="l">
                        <a:lnSpc>
                          <a:spcPct val="103000"/>
                        </a:lnSpc>
                        <a:spcBef>
                          <a:spcPts val="0"/>
                        </a:spcBef>
                        <a:spcAft>
                          <a:spcPts val="0"/>
                        </a:spcAft>
                      </a:pPr>
                      <a:r>
                        <a:rPr sz="1500" b="0">
                          <a:solidFill>
                            <a:srgbClr val="00407A"/>
                          </a:solidFill>
                          <a:latin typeface="Arial"/>
                        </a:rPr>
                        <a:t>ARES v0 designs</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9</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0</a:t>
                      </a:r>
                    </a:p>
                  </a:txBody>
                  <a:tcPr marL="109728" marR="91440" marT="45720" marB="36576" anchor="ctr">
                    <a:solidFill>
                      <a:srgbClr val="E3EFF5"/>
                    </a:solidFill>
                    <a:lnL>
                      <a:noFill/>
                    </a:lnL>
                    <a:lnR>
                      <a:noFill/>
                    </a:lnR>
                    <a:lnT>
                      <a:noFill/>
                    </a:lnT>
                    <a:lnB>
                      <a:noFill/>
                    </a:lnB>
                  </a:tcPr>
                </a:tc>
              </a:tr>
              <a:tr h="388620">
                <a:tc>
                  <a:txBody>
                    <a:bodyPr/>
                    <a:lstStyle/>
                    <a:p>
                      <a:pPr algn="l">
                        <a:lnSpc>
                          <a:spcPct val="103000"/>
                        </a:lnSpc>
                        <a:spcBef>
                          <a:spcPts val="0"/>
                        </a:spcBef>
                        <a:spcAft>
                          <a:spcPts val="0"/>
                        </a:spcAft>
                      </a:pPr>
                      <a:r>
                        <a:rPr sz="1500" b="0">
                          <a:solidFill>
                            <a:srgbClr val="00407A"/>
                          </a:solidFill>
                          <a:latin typeface="Arial"/>
                        </a:rPr>
                        <a:t>Accepted edits and rejected twins (traps)</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10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500" b="0">
                          <a:solidFill>
                            <a:srgbClr val="00407A"/>
                          </a:solidFill>
                          <a:latin typeface="Arial"/>
                        </a:rPr>
                        <a:t>6</a:t>
                      </a:r>
                    </a:p>
                  </a:txBody>
                  <a:tcPr marL="109728" marR="91440" marT="45720" marB="36576" anchor="ctr">
                    <a:solidFill>
                      <a:srgbClr val="FFFFFF"/>
                    </a:solidFill>
                    <a:lnL>
                      <a:noFill/>
                    </a:lnL>
                    <a:lnR>
                      <a:noFill/>
                    </a:lnR>
                    <a:lnT>
                      <a:noFill/>
                    </a:lnT>
                    <a:lnB>
                      <a:noFill/>
                    </a:lnB>
                  </a:tcPr>
                </a:tc>
              </a:tr>
            </a:tbl>
          </a:graphicData>
        </a:graphic>
      </p:graphicFrame>
      <p:sp>
        <p:nvSpPr>
          <p:cNvPr id="7" name="TextBox 6"/>
          <p:cNvSpPr txBox="1"/>
          <p:nvPr/>
        </p:nvSpPr>
        <p:spPr>
          <a:xfrm>
            <a:off x="868680" y="5577840"/>
            <a:ext cx="10424160" cy="502920"/>
          </a:xfrm>
          <a:prstGeom prst="rect">
            <a:avLst/>
          </a:prstGeom>
          <a:noFill/>
        </p:spPr>
        <p:txBody>
          <a:bodyPr wrap="square" lIns="0" rIns="0" tIns="0" bIns="0" anchor="t">
            <a:noAutofit/>
          </a:bodyPr>
          <a:lstStyle/>
          <a:p>
            <a:pPr algn="l">
              <a:lnSpc>
                <a:spcPct val="109000"/>
              </a:lnSpc>
              <a:spcBef>
                <a:spcPts val="0"/>
              </a:spcBef>
              <a:spcAft>
                <a:spcPts val="0"/>
              </a:spcAft>
            </a:pPr>
            <a:r>
              <a:rPr sz="1300" b="0">
                <a:solidFill>
                  <a:srgbClr val="4A5A66"/>
                </a:solidFill>
                <a:latin typeface="Arial"/>
              </a:rPr>
              <a:t>Not measured here: energy per operation, functional equivalence, post-route timing, measured chips, other model families, and the rename and comment controls of the earlier plan.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The Condor runs of the two experiments</a:t>
            </a:r>
          </a:p>
        </p:txBody>
      </p:sp>
      <p:sp>
        <p:nvSpPr>
          <p:cNvPr id="3" name="TextBox 2"/>
          <p:cNvSpPr txBox="1"/>
          <p:nvPr/>
        </p:nvSpPr>
        <p:spPr>
          <a:xfrm>
            <a:off x="813816" y="1261872"/>
            <a:ext cx="1056132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Job times include the setup and differ in hardware: not a speed ranking. All requests answered, zero errors.</a:t>
            </a:r>
          </a:p>
        </p:txBody>
      </p:sp>
      <p:sp>
        <p:nvSpPr>
          <p:cNvPr id="4" name="TextBox 3"/>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4  •  APPENDIX</a:t>
            </a:r>
          </a:p>
        </p:txBody>
      </p:sp>
      <p:sp>
        <p:nvSpPr>
          <p:cNvPr id="5" name="TextBox 4"/>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31</a:t>
            </a:r>
          </a:p>
        </p:txBody>
      </p:sp>
      <p:graphicFrame>
        <p:nvGraphicFramePr>
          <p:cNvPr id="6" name="Table 5"/>
          <p:cNvGraphicFramePr>
            <a:graphicFrameLocks noGrp="1"/>
          </p:cNvGraphicFramePr>
          <p:nvPr/>
        </p:nvGraphicFramePr>
        <p:xfrm>
          <a:off x="813816" y="1810512"/>
          <a:ext cx="10561320" cy="3749032"/>
        </p:xfrm>
        <a:graphic>
          <a:graphicData uri="http://schemas.openxmlformats.org/drawingml/2006/table">
            <a:tbl>
              <a:tblPr firstRow="1" bandRow="1">
                <a:tableStyleId>{5C22544A-7EE6-4342-B048-85BDC9FD1C3A}</a:tableStyleId>
              </a:tblPr>
              <a:tblGrid>
                <a:gridCol w="1737360"/>
                <a:gridCol w="1371600"/>
                <a:gridCol w="822960"/>
                <a:gridCol w="1828800"/>
                <a:gridCol w="1463040"/>
                <a:gridCol w="3337560"/>
              </a:tblGrid>
              <a:tr h="411480">
                <a:tc>
                  <a:txBody>
                    <a:bodyPr/>
                    <a:lstStyle/>
                    <a:p>
                      <a:pPr algn="l">
                        <a:lnSpc>
                          <a:spcPct val="103000"/>
                        </a:lnSpc>
                        <a:spcBef>
                          <a:spcPts val="0"/>
                        </a:spcBef>
                        <a:spcAft>
                          <a:spcPts val="0"/>
                        </a:spcAft>
                      </a:pPr>
                      <a:r>
                        <a:rPr sz="1400" b="1">
                          <a:solidFill>
                            <a:srgbClr val="FFFFFF"/>
                          </a:solidFill>
                          <a:latin typeface="Arial"/>
                        </a:rPr>
                        <a:t>Experiment</a:t>
                      </a:r>
                    </a:p>
                  </a:txBody>
                  <a:tcPr marL="109728" marR="91440" marT="45720" marB="36576" anchor="ctr">
                    <a:solidFill>
                      <a:srgbClr val="00407A"/>
                    </a:solidFill>
                    <a:lnL>
                      <a:noFill/>
                    </a:lnL>
                    <a:lnR>
                      <a:noFill/>
                    </a:lnR>
                    <a:lnT>
                      <a:noFill/>
                    </a:lnT>
                    <a:lnB>
                      <a:noFill/>
                    </a:lnB>
                  </a:tcPr>
                </a:tc>
                <a:tc>
                  <a:txBody>
                    <a:bodyPr/>
                    <a:lstStyle/>
                    <a:p>
                      <a:pPr algn="l">
                        <a:lnSpc>
                          <a:spcPct val="103000"/>
                        </a:lnSpc>
                        <a:spcBef>
                          <a:spcPts val="0"/>
                        </a:spcBef>
                        <a:spcAft>
                          <a:spcPts val="0"/>
                        </a:spcAft>
                      </a:pPr>
                      <a:r>
                        <a:rPr sz="1400" b="1">
                          <a:solidFill>
                            <a:srgbClr val="FFFFFF"/>
                          </a:solidFill>
                          <a:latin typeface="Arial"/>
                        </a:rPr>
                        <a:t>Model</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Job</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GPU</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Job time</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400" b="1">
                          <a:solidFill>
                            <a:srgbClr val="FFFFFF"/>
                          </a:solidFill>
                          <a:latin typeface="Arial"/>
                        </a:rPr>
                        <a:t>Median model time per request</a:t>
                      </a:r>
                    </a:p>
                  </a:txBody>
                  <a:tcPr marL="109728" marR="91440" marT="45720" marB="36576" anchor="ctr">
                    <a:solidFill>
                      <a:srgbClr val="00407A"/>
                    </a:solidFill>
                    <a:lnL>
                      <a:noFill/>
                    </a:lnL>
                    <a:lnR>
                      <a:noFill/>
                    </a:lnR>
                    <a:lnT>
                      <a:noFill/>
                    </a:lnT>
                    <a:lnB>
                      <a:noFill/>
                    </a:lnB>
                  </a:tcPr>
                </a:tc>
              </a:tr>
              <a:tr h="417194">
                <a:tc>
                  <a:txBody>
                    <a:bodyPr/>
                    <a:lstStyle/>
                    <a:p>
                      <a:pPr algn="l">
                        <a:lnSpc>
                          <a:spcPct val="103000"/>
                        </a:lnSpc>
                        <a:spcBef>
                          <a:spcPts val="0"/>
                        </a:spcBef>
                        <a:spcAft>
                          <a:spcPts val="0"/>
                        </a:spcAft>
                      </a:pPr>
                      <a:r>
                        <a:rPr sz="1400" b="0">
                          <a:solidFill>
                            <a:srgbClr val="00407A"/>
                          </a:solidFill>
                          <a:latin typeface="Arial"/>
                        </a:rPr>
                        <a:t>no examples</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400" b="0">
                          <a:solidFill>
                            <a:srgbClr val="00407A"/>
                          </a:solidFill>
                          <a:latin typeface="Arial"/>
                        </a:rPr>
                        <a:t>KEV-0.8B</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4.0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RTX 3080 Ti</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125 s</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109 ms</a:t>
                      </a:r>
                    </a:p>
                  </a:txBody>
                  <a:tcPr marL="109728" marR="91440" marT="45720" marB="36576" anchor="ctr">
                    <a:solidFill>
                      <a:srgbClr val="E3EFF5"/>
                    </a:solidFill>
                    <a:lnL>
                      <a:noFill/>
                    </a:lnL>
                    <a:lnR>
                      <a:noFill/>
                    </a:lnR>
                    <a:lnT>
                      <a:noFill/>
                    </a:lnT>
                    <a:lnB>
                      <a:noFill/>
                    </a:lnB>
                  </a:tcPr>
                </a:tc>
              </a:tr>
              <a:tr h="417194">
                <a:tc>
                  <a:txBody>
                    <a:bodyPr/>
                    <a:lstStyle/>
                    <a:p>
                      <a:pPr algn="l">
                        <a:lnSpc>
                          <a:spcPct val="103000"/>
                        </a:lnSpc>
                        <a:spcBef>
                          <a:spcPts val="0"/>
                        </a:spcBef>
                        <a:spcAft>
                          <a:spcPts val="0"/>
                        </a:spcAft>
                      </a:pPr>
                      <a:r>
                        <a:rPr sz="1400" b="0">
                          <a:solidFill>
                            <a:srgbClr val="00407A"/>
                          </a:solidFill>
                          <a:latin typeface="Arial"/>
                        </a:rPr>
                        <a:t>no examples</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400" b="0">
                          <a:solidFill>
                            <a:srgbClr val="00407A"/>
                          </a:solidFill>
                          <a:latin typeface="Arial"/>
                        </a:rPr>
                        <a:t>KEV-4B</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5.0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A100 80 GB</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187 s</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201 ms</a:t>
                      </a:r>
                    </a:p>
                  </a:txBody>
                  <a:tcPr marL="109728" marR="91440" marT="45720" marB="36576" anchor="ctr">
                    <a:solidFill>
                      <a:srgbClr val="FFFFFF"/>
                    </a:solidFill>
                    <a:lnL>
                      <a:noFill/>
                    </a:lnL>
                    <a:lnR>
                      <a:noFill/>
                    </a:lnR>
                    <a:lnT>
                      <a:noFill/>
                    </a:lnT>
                    <a:lnB>
                      <a:noFill/>
                    </a:lnB>
                  </a:tcPr>
                </a:tc>
              </a:tr>
              <a:tr h="417194">
                <a:tc>
                  <a:txBody>
                    <a:bodyPr/>
                    <a:lstStyle/>
                    <a:p>
                      <a:pPr algn="l">
                        <a:lnSpc>
                          <a:spcPct val="103000"/>
                        </a:lnSpc>
                        <a:spcBef>
                          <a:spcPts val="0"/>
                        </a:spcBef>
                        <a:spcAft>
                          <a:spcPts val="0"/>
                        </a:spcAft>
                      </a:pPr>
                      <a:r>
                        <a:rPr sz="1400" b="0">
                          <a:solidFill>
                            <a:srgbClr val="00407A"/>
                          </a:solidFill>
                          <a:latin typeface="Arial"/>
                        </a:rPr>
                        <a:t>no examples</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400" b="0">
                          <a:solidFill>
                            <a:srgbClr val="00407A"/>
                          </a:solidFill>
                          <a:latin typeface="Arial"/>
                        </a:rPr>
                        <a:t>KEV-9B</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6.0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A100 80 GB</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204 s</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244 ms</a:t>
                      </a:r>
                    </a:p>
                  </a:txBody>
                  <a:tcPr marL="109728" marR="91440" marT="45720" marB="36576" anchor="ctr">
                    <a:solidFill>
                      <a:srgbClr val="E3EFF5"/>
                    </a:solidFill>
                    <a:lnL>
                      <a:noFill/>
                    </a:lnL>
                    <a:lnR>
                      <a:noFill/>
                    </a:lnR>
                    <a:lnT>
                      <a:noFill/>
                    </a:lnT>
                    <a:lnB>
                      <a:noFill/>
                    </a:lnB>
                  </a:tcPr>
                </a:tc>
              </a:tr>
              <a:tr h="417194">
                <a:tc>
                  <a:txBody>
                    <a:bodyPr/>
                    <a:lstStyle/>
                    <a:p>
                      <a:pPr algn="l">
                        <a:lnSpc>
                          <a:spcPct val="103000"/>
                        </a:lnSpc>
                        <a:spcBef>
                          <a:spcPts val="0"/>
                        </a:spcBef>
                        <a:spcAft>
                          <a:spcPts val="0"/>
                        </a:spcAft>
                      </a:pPr>
                      <a:r>
                        <a:rPr sz="1400" b="0">
                          <a:solidFill>
                            <a:srgbClr val="00407A"/>
                          </a:solidFill>
                          <a:latin typeface="Arial"/>
                        </a:rPr>
                        <a:t>no examples</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400" b="0">
                          <a:solidFill>
                            <a:srgbClr val="00407A"/>
                          </a:solidFill>
                          <a:latin typeface="Arial"/>
                        </a:rPr>
                        <a:t>KEV-27B</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7.0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A100 80 GB</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400 s</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668 ms</a:t>
                      </a:r>
                    </a:p>
                  </a:txBody>
                  <a:tcPr marL="109728" marR="91440" marT="45720" marB="36576" anchor="ctr">
                    <a:solidFill>
                      <a:srgbClr val="FFFFFF"/>
                    </a:solidFill>
                    <a:lnL>
                      <a:noFill/>
                    </a:lnL>
                    <a:lnR>
                      <a:noFill/>
                    </a:lnR>
                    <a:lnT>
                      <a:noFill/>
                    </a:lnT>
                    <a:lnB>
                      <a:noFill/>
                    </a:lnB>
                  </a:tcPr>
                </a:tc>
              </a:tr>
              <a:tr h="417194">
                <a:tc>
                  <a:txBody>
                    <a:bodyPr/>
                    <a:lstStyle/>
                    <a:p>
                      <a:pPr algn="l">
                        <a:lnSpc>
                          <a:spcPct val="103000"/>
                        </a:lnSpc>
                        <a:spcBef>
                          <a:spcPts val="0"/>
                        </a:spcBef>
                        <a:spcAft>
                          <a:spcPts val="0"/>
                        </a:spcAft>
                      </a:pPr>
                      <a:r>
                        <a:rPr sz="1400" b="0">
                          <a:solidFill>
                            <a:srgbClr val="00407A"/>
                          </a:solidFill>
                          <a:latin typeface="Arial"/>
                        </a:rPr>
                        <a:t>three examples</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400" b="0">
                          <a:solidFill>
                            <a:srgbClr val="00407A"/>
                          </a:solidFill>
                          <a:latin typeface="Arial"/>
                        </a:rPr>
                        <a:t>KEV-0.8B</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8.0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RTX 5060 Ti</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276 s</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179 ms</a:t>
                      </a:r>
                    </a:p>
                  </a:txBody>
                  <a:tcPr marL="109728" marR="91440" marT="45720" marB="36576" anchor="ctr">
                    <a:solidFill>
                      <a:srgbClr val="E3EFF5"/>
                    </a:solidFill>
                    <a:lnL>
                      <a:noFill/>
                    </a:lnL>
                    <a:lnR>
                      <a:noFill/>
                    </a:lnR>
                    <a:lnT>
                      <a:noFill/>
                    </a:lnT>
                    <a:lnB>
                      <a:noFill/>
                    </a:lnB>
                  </a:tcPr>
                </a:tc>
              </a:tr>
              <a:tr h="417194">
                <a:tc>
                  <a:txBody>
                    <a:bodyPr/>
                    <a:lstStyle/>
                    <a:p>
                      <a:pPr algn="l">
                        <a:lnSpc>
                          <a:spcPct val="103000"/>
                        </a:lnSpc>
                        <a:spcBef>
                          <a:spcPts val="0"/>
                        </a:spcBef>
                        <a:spcAft>
                          <a:spcPts val="0"/>
                        </a:spcAft>
                      </a:pPr>
                      <a:r>
                        <a:rPr sz="1400" b="0">
                          <a:solidFill>
                            <a:srgbClr val="00407A"/>
                          </a:solidFill>
                          <a:latin typeface="Arial"/>
                        </a:rPr>
                        <a:t>three examples</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400" b="0">
                          <a:solidFill>
                            <a:srgbClr val="00407A"/>
                          </a:solidFill>
                          <a:latin typeface="Arial"/>
                        </a:rPr>
                        <a:t>KEV-4B</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9.0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RTX 3090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599 s</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555 ms</a:t>
                      </a:r>
                    </a:p>
                  </a:txBody>
                  <a:tcPr marL="109728" marR="91440" marT="45720" marB="36576" anchor="ctr">
                    <a:solidFill>
                      <a:srgbClr val="FFFFFF"/>
                    </a:solidFill>
                    <a:lnL>
                      <a:noFill/>
                    </a:lnL>
                    <a:lnR>
                      <a:noFill/>
                    </a:lnR>
                    <a:lnT>
                      <a:noFill/>
                    </a:lnT>
                    <a:lnB>
                      <a:noFill/>
                    </a:lnB>
                  </a:tcPr>
                </a:tc>
              </a:tr>
              <a:tr h="417194">
                <a:tc>
                  <a:txBody>
                    <a:bodyPr/>
                    <a:lstStyle/>
                    <a:p>
                      <a:pPr algn="l">
                        <a:lnSpc>
                          <a:spcPct val="103000"/>
                        </a:lnSpc>
                        <a:spcBef>
                          <a:spcPts val="0"/>
                        </a:spcBef>
                        <a:spcAft>
                          <a:spcPts val="0"/>
                        </a:spcAft>
                      </a:pPr>
                      <a:r>
                        <a:rPr sz="1400" b="0">
                          <a:solidFill>
                            <a:srgbClr val="00407A"/>
                          </a:solidFill>
                          <a:latin typeface="Arial"/>
                        </a:rPr>
                        <a:t>three examples</a:t>
                      </a:r>
                    </a:p>
                  </a:txBody>
                  <a:tcPr marL="109728" marR="91440" marT="45720" marB="36576" anchor="ctr">
                    <a:solidFill>
                      <a:srgbClr val="E3EFF5"/>
                    </a:solidFill>
                    <a:lnL>
                      <a:noFill/>
                    </a:lnL>
                    <a:lnR>
                      <a:noFill/>
                    </a:lnR>
                    <a:lnT>
                      <a:noFill/>
                    </a:lnT>
                    <a:lnB>
                      <a:noFill/>
                    </a:lnB>
                  </a:tcPr>
                </a:tc>
                <a:tc>
                  <a:txBody>
                    <a:bodyPr/>
                    <a:lstStyle/>
                    <a:p>
                      <a:pPr algn="l">
                        <a:lnSpc>
                          <a:spcPct val="103000"/>
                        </a:lnSpc>
                        <a:spcBef>
                          <a:spcPts val="0"/>
                        </a:spcBef>
                        <a:spcAft>
                          <a:spcPts val="0"/>
                        </a:spcAft>
                      </a:pPr>
                      <a:r>
                        <a:rPr sz="1400" b="0">
                          <a:solidFill>
                            <a:srgbClr val="00407A"/>
                          </a:solidFill>
                          <a:latin typeface="Arial"/>
                        </a:rPr>
                        <a:t>KEV-9B</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10.0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RTX PRO 5000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418 s</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301 ms</a:t>
                      </a:r>
                    </a:p>
                  </a:txBody>
                  <a:tcPr marL="109728" marR="91440" marT="45720" marB="36576" anchor="ctr">
                    <a:solidFill>
                      <a:srgbClr val="E3EFF5"/>
                    </a:solidFill>
                    <a:lnL>
                      <a:noFill/>
                    </a:lnL>
                    <a:lnR>
                      <a:noFill/>
                    </a:lnR>
                    <a:lnT>
                      <a:noFill/>
                    </a:lnT>
                    <a:lnB>
                      <a:noFill/>
                    </a:lnB>
                  </a:tcPr>
                </a:tc>
              </a:tr>
              <a:tr h="417194">
                <a:tc>
                  <a:txBody>
                    <a:bodyPr/>
                    <a:lstStyle/>
                    <a:p>
                      <a:pPr algn="l">
                        <a:lnSpc>
                          <a:spcPct val="103000"/>
                        </a:lnSpc>
                        <a:spcBef>
                          <a:spcPts val="0"/>
                        </a:spcBef>
                        <a:spcAft>
                          <a:spcPts val="0"/>
                        </a:spcAft>
                      </a:pPr>
                      <a:r>
                        <a:rPr sz="1400" b="0">
                          <a:solidFill>
                            <a:srgbClr val="00407A"/>
                          </a:solidFill>
                          <a:latin typeface="Arial"/>
                        </a:rPr>
                        <a:t>three examples</a:t>
                      </a:r>
                    </a:p>
                  </a:txBody>
                  <a:tcPr marL="109728" marR="91440" marT="45720" marB="36576" anchor="ctr">
                    <a:solidFill>
                      <a:srgbClr val="FFFFFF"/>
                    </a:solidFill>
                    <a:lnL>
                      <a:noFill/>
                    </a:lnL>
                    <a:lnR>
                      <a:noFill/>
                    </a:lnR>
                    <a:lnT>
                      <a:noFill/>
                    </a:lnT>
                    <a:lnB>
                      <a:noFill/>
                    </a:lnB>
                  </a:tcPr>
                </a:tc>
                <a:tc>
                  <a:txBody>
                    <a:bodyPr/>
                    <a:lstStyle/>
                    <a:p>
                      <a:pPr algn="l">
                        <a:lnSpc>
                          <a:spcPct val="103000"/>
                        </a:lnSpc>
                        <a:spcBef>
                          <a:spcPts val="0"/>
                        </a:spcBef>
                        <a:spcAft>
                          <a:spcPts val="0"/>
                        </a:spcAft>
                      </a:pPr>
                      <a:r>
                        <a:rPr sz="1400" b="0">
                          <a:solidFill>
                            <a:srgbClr val="00407A"/>
                          </a:solidFill>
                          <a:latin typeface="Arial"/>
                        </a:rPr>
                        <a:t>KEV-27B</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11.0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A100 80 GB</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1074 s</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1062 ms</a:t>
                      </a:r>
                    </a:p>
                  </a:txBody>
                  <a:tcPr marL="109728" marR="91440" marT="45720" marB="36576" anchor="ctr">
                    <a:solidFill>
                      <a:srgbClr val="FFFFFF"/>
                    </a:solidFill>
                    <a:lnL>
                      <a:noFill/>
                    </a:lnL>
                    <a:lnR>
                      <a:noFill/>
                    </a:lnR>
                    <a:lnT>
                      <a:noFill/>
                    </a:lnT>
                    <a:lnB>
                      <a:noFill/>
                    </a:lnB>
                  </a:tcPr>
                </a:tc>
              </a:tr>
            </a:tbl>
          </a:graphicData>
        </a:graphic>
      </p:graphicFrame>
      <p:sp>
        <p:nvSpPr>
          <p:cNvPr id="7" name="TextBox 6"/>
          <p:cNvSpPr txBox="1"/>
          <p:nvPr/>
        </p:nvSpPr>
        <p:spPr>
          <a:xfrm>
            <a:off x="868680" y="5669280"/>
            <a:ext cx="10424160" cy="548640"/>
          </a:xfrm>
          <a:prstGeom prst="rect">
            <a:avLst/>
          </a:prstGeom>
          <a:noFill/>
        </p:spPr>
        <p:txBody>
          <a:bodyPr wrap="square" lIns="0" rIns="0" tIns="0" bIns="0" anchor="t">
            <a:noAutofit/>
          </a:bodyPr>
          <a:lstStyle/>
          <a:p>
            <a:pPr algn="l">
              <a:lnSpc>
                <a:spcPct val="109000"/>
              </a:lnSpc>
              <a:spcBef>
                <a:spcPts val="0"/>
              </a:spcBef>
              <a:spcAft>
                <a:spcPts val="0"/>
              </a:spcAft>
            </a:pPr>
            <a:r>
              <a:rPr sz="1250" b="0">
                <a:solidFill>
                  <a:srgbClr val="4A5A66"/>
                </a:solidFill>
                <a:latin typeface="Arial"/>
              </a:rPr>
              <a:t>No examples: 348 requests per model (both splits), maximum input 7,706 tokens. Three examples: 725 requests per model, maximum input 8,607 tokens; 3 requests exceed 8,192 tokens, the validated context of 0.8B, 4B, and 9B.</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8FA"/>
        </a:solidFill>
        <a:effectLst/>
      </p:bgPr>
    </p:bg>
    <p:spTree>
      <p:nvGrpSpPr>
        <p:cNvPr id="1" name=""/>
        <p:cNvGrpSpPr/>
        <p:nvPr/>
      </p:nvGrpSpPr>
      <p:grpSpPr/>
      <p:sp>
        <p:nvSpPr>
          <p:cNvPr id="2" name="TextBox 1"/>
          <p:cNvSpPr txBox="1"/>
          <p:nvPr/>
        </p:nvSpPr>
        <p:spPr>
          <a:xfrm>
            <a:off x="813816" y="594360"/>
            <a:ext cx="10561320" cy="621792"/>
          </a:xfrm>
          <a:prstGeom prst="rect">
            <a:avLst/>
          </a:prstGeom>
          <a:noFill/>
        </p:spPr>
        <p:txBody>
          <a:bodyPr wrap="square" lIns="0" rIns="0" tIns="0" bIns="0" anchor="t">
            <a:noAutofit/>
          </a:bodyPr>
          <a:lstStyle/>
          <a:p>
            <a:pPr algn="l">
              <a:lnSpc>
                <a:spcPct val="109000"/>
              </a:lnSpc>
              <a:spcBef>
                <a:spcPts val="0"/>
              </a:spcBef>
              <a:spcAft>
                <a:spcPts val="0"/>
              </a:spcAft>
            </a:pPr>
            <a:r>
              <a:rPr sz="3100" b="1">
                <a:solidFill>
                  <a:srgbClr val="00407A"/>
                </a:solidFill>
                <a:latin typeface="Arial"/>
              </a:rPr>
              <a:t>Files and checksums for reproduction</a:t>
            </a:r>
          </a:p>
        </p:txBody>
      </p:sp>
      <p:sp>
        <p:nvSpPr>
          <p:cNvPr id="3" name="TextBox 2"/>
          <p:cNvSpPr txBox="1"/>
          <p:nvPr/>
        </p:nvSpPr>
        <p:spPr>
          <a:xfrm>
            <a:off x="813816" y="1261872"/>
            <a:ext cx="10561320" cy="438912"/>
          </a:xfrm>
          <a:prstGeom prst="rect">
            <a:avLst/>
          </a:prstGeom>
          <a:noFill/>
        </p:spPr>
        <p:txBody>
          <a:bodyPr wrap="square" lIns="0" rIns="0" tIns="0" bIns="0" anchor="t">
            <a:noAutofit/>
          </a:bodyPr>
          <a:lstStyle/>
          <a:p>
            <a:pPr algn="l">
              <a:lnSpc>
                <a:spcPct val="109000"/>
              </a:lnSpc>
              <a:spcBef>
                <a:spcPts val="0"/>
              </a:spcBef>
              <a:spcAft>
                <a:spcPts val="0"/>
              </a:spcAft>
            </a:pPr>
            <a:r>
              <a:rPr sz="1600" b="0">
                <a:solidFill>
                  <a:srgbClr val="4A5A66"/>
                </a:solidFill>
                <a:latin typeface="Arial"/>
              </a:rPr>
              <a:t>Every number is tied to the frozen question files and the saved answers. No model was rerun for this deck.</a:t>
            </a:r>
          </a:p>
        </p:txBody>
      </p:sp>
      <p:sp>
        <p:nvSpPr>
          <p:cNvPr id="4" name="TextBox 3"/>
          <p:cNvSpPr txBox="1"/>
          <p:nvPr/>
        </p:nvSpPr>
        <p:spPr>
          <a:xfrm>
            <a:off x="813816" y="6437376"/>
            <a:ext cx="9738360" cy="201168"/>
          </a:xfrm>
          <a:prstGeom prst="rect">
            <a:avLst/>
          </a:prstGeom>
          <a:noFill/>
        </p:spPr>
        <p:txBody>
          <a:bodyPr wrap="square" lIns="0" rIns="0" tIns="0" bIns="0" anchor="t">
            <a:noAutofit/>
          </a:bodyPr>
          <a:lstStyle/>
          <a:p>
            <a:pPr algn="l">
              <a:lnSpc>
                <a:spcPct val="109000"/>
              </a:lnSpc>
              <a:spcBef>
                <a:spcPts val="0"/>
              </a:spcBef>
              <a:spcAft>
                <a:spcPts val="0"/>
              </a:spcAft>
            </a:pPr>
            <a:r>
              <a:rPr sz="1050" b="0">
                <a:solidFill>
                  <a:srgbClr val="4A5A66"/>
                </a:solidFill>
                <a:latin typeface="Arial"/>
              </a:rPr>
              <a:t>KEV v1.0  •  Dataset v1  |  PART 4  •  APPENDIX</a:t>
            </a:r>
          </a:p>
        </p:txBody>
      </p:sp>
      <p:sp>
        <p:nvSpPr>
          <p:cNvPr id="5" name="TextBox 4"/>
          <p:cNvSpPr txBox="1"/>
          <p:nvPr/>
        </p:nvSpPr>
        <p:spPr>
          <a:xfrm>
            <a:off x="10835640" y="6419088"/>
            <a:ext cx="530352" cy="228600"/>
          </a:xfrm>
          <a:prstGeom prst="rect">
            <a:avLst/>
          </a:prstGeom>
          <a:noFill/>
        </p:spPr>
        <p:txBody>
          <a:bodyPr wrap="square" lIns="0" rIns="0" tIns="0" bIns="0" anchor="t">
            <a:noAutofit/>
          </a:bodyPr>
          <a:lstStyle/>
          <a:p>
            <a:pPr algn="r">
              <a:lnSpc>
                <a:spcPct val="109000"/>
              </a:lnSpc>
              <a:spcBef>
                <a:spcPts val="0"/>
              </a:spcBef>
              <a:spcAft>
                <a:spcPts val="0"/>
              </a:spcAft>
            </a:pPr>
            <a:r>
              <a:rPr sz="1100" b="0">
                <a:solidFill>
                  <a:srgbClr val="4A5A66"/>
                </a:solidFill>
                <a:latin typeface="Arial"/>
              </a:rPr>
              <a:t>32</a:t>
            </a:r>
          </a:p>
        </p:txBody>
      </p:sp>
      <p:graphicFrame>
        <p:nvGraphicFramePr>
          <p:cNvPr id="6" name="Table 5"/>
          <p:cNvGraphicFramePr>
            <a:graphicFrameLocks noGrp="1"/>
          </p:cNvGraphicFramePr>
          <p:nvPr/>
        </p:nvGraphicFramePr>
        <p:xfrm>
          <a:off x="813816" y="1810512"/>
          <a:ext cx="10561320" cy="2194560"/>
        </p:xfrm>
        <a:graphic>
          <a:graphicData uri="http://schemas.openxmlformats.org/drawingml/2006/table">
            <a:tbl>
              <a:tblPr firstRow="1" bandRow="1">
                <a:tableStyleId>{5C22544A-7EE6-4342-B048-85BDC9FD1C3A}</a:tableStyleId>
              </a:tblPr>
              <a:tblGrid>
                <a:gridCol w="1828800"/>
                <a:gridCol w="2560320"/>
                <a:gridCol w="2743200"/>
                <a:gridCol w="3429000"/>
              </a:tblGrid>
              <a:tr h="411480">
                <a:tc>
                  <a:txBody>
                    <a:bodyPr/>
                    <a:lstStyle/>
                    <a:p>
                      <a:pPr algn="l">
                        <a:lnSpc>
                          <a:spcPct val="103000"/>
                        </a:lnSpc>
                        <a:spcBef>
                          <a:spcPts val="0"/>
                        </a:spcBef>
                        <a:spcAft>
                          <a:spcPts val="0"/>
                        </a:spcAft>
                      </a:pPr>
                      <a:r>
                        <a:rPr sz="1300" b="1">
                          <a:solidFill>
                            <a:srgbClr val="FFFFFF"/>
                          </a:solidFill>
                          <a:latin typeface="Arial"/>
                        </a:rPr>
                        <a:t>Model</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300" b="1">
                          <a:solidFill>
                            <a:srgbClr val="FFFFFF"/>
                          </a:solidFill>
                          <a:latin typeface="Arial"/>
                        </a:rPr>
                        <a:t>Condor job, no examples</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300" b="1">
                          <a:solidFill>
                            <a:srgbClr val="FFFFFF"/>
                          </a:solidFill>
                          <a:latin typeface="Arial"/>
                        </a:rPr>
                        <a:t>Condor job, three examples</a:t>
                      </a:r>
                    </a:p>
                  </a:txBody>
                  <a:tcPr marL="109728" marR="91440" marT="45720" marB="36576" anchor="ctr">
                    <a:solidFill>
                      <a:srgbClr val="00407A"/>
                    </a:solidFill>
                    <a:lnL>
                      <a:noFill/>
                    </a:lnL>
                    <a:lnR>
                      <a:noFill/>
                    </a:lnR>
                    <a:lnT>
                      <a:noFill/>
                    </a:lnT>
                    <a:lnB>
                      <a:noFill/>
                    </a:lnB>
                  </a:tcPr>
                </a:tc>
                <a:tc>
                  <a:txBody>
                    <a:bodyPr/>
                    <a:lstStyle/>
                    <a:p>
                      <a:pPr algn="ctr">
                        <a:lnSpc>
                          <a:spcPct val="103000"/>
                        </a:lnSpc>
                        <a:spcBef>
                          <a:spcPts val="0"/>
                        </a:spcBef>
                        <a:spcAft>
                          <a:spcPts val="0"/>
                        </a:spcAft>
                      </a:pPr>
                      <a:r>
                        <a:rPr sz="1300" b="1">
                          <a:solidFill>
                            <a:srgbClr val="FFFFFF"/>
                          </a:solidFill>
                          <a:latin typeface="Arial"/>
                        </a:rPr>
                        <a:t>Checkpoint revision (prefix)</a:t>
                      </a:r>
                    </a:p>
                  </a:txBody>
                  <a:tcPr marL="109728" marR="91440" marT="45720" marB="36576" anchor="ctr">
                    <a:solidFill>
                      <a:srgbClr val="00407A"/>
                    </a:solidFill>
                    <a:lnL>
                      <a:noFill/>
                    </a:lnL>
                    <a:lnR>
                      <a:noFill/>
                    </a:lnR>
                    <a:lnT>
                      <a:noFill/>
                    </a:lnT>
                    <a:lnB>
                      <a:noFill/>
                    </a:lnB>
                  </a:tcPr>
                </a:tc>
              </a:tr>
              <a:tr h="445770">
                <a:tc>
                  <a:txBody>
                    <a:bodyPr/>
                    <a:lstStyle/>
                    <a:p>
                      <a:pPr algn="l">
                        <a:lnSpc>
                          <a:spcPct val="103000"/>
                        </a:lnSpc>
                        <a:spcBef>
                          <a:spcPts val="0"/>
                        </a:spcBef>
                        <a:spcAft>
                          <a:spcPts val="0"/>
                        </a:spcAft>
                      </a:pPr>
                      <a:r>
                        <a:rPr sz="1400" b="0">
                          <a:solidFill>
                            <a:srgbClr val="00407A"/>
                          </a:solidFill>
                          <a:latin typeface="Arial"/>
                        </a:rPr>
                        <a:t>KEV-0.8B</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4.0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8.0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bf75a6a8848e</a:t>
                      </a:r>
                    </a:p>
                  </a:txBody>
                  <a:tcPr marL="109728" marR="91440" marT="45720" marB="36576" anchor="ctr">
                    <a:solidFill>
                      <a:srgbClr val="E3EFF5"/>
                    </a:solidFill>
                    <a:lnL>
                      <a:noFill/>
                    </a:lnL>
                    <a:lnR>
                      <a:noFill/>
                    </a:lnR>
                    <a:lnT>
                      <a:noFill/>
                    </a:lnT>
                    <a:lnB>
                      <a:noFill/>
                    </a:lnB>
                  </a:tcPr>
                </a:tc>
              </a:tr>
              <a:tr h="445770">
                <a:tc>
                  <a:txBody>
                    <a:bodyPr/>
                    <a:lstStyle/>
                    <a:p>
                      <a:pPr algn="l">
                        <a:lnSpc>
                          <a:spcPct val="103000"/>
                        </a:lnSpc>
                        <a:spcBef>
                          <a:spcPts val="0"/>
                        </a:spcBef>
                        <a:spcAft>
                          <a:spcPts val="0"/>
                        </a:spcAft>
                      </a:pPr>
                      <a:r>
                        <a:rPr sz="1400" b="0">
                          <a:solidFill>
                            <a:srgbClr val="00407A"/>
                          </a:solidFill>
                          <a:latin typeface="Arial"/>
                        </a:rPr>
                        <a:t>KEV-4B</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5.0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9.0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6cfce5c2fa4b</a:t>
                      </a:r>
                    </a:p>
                  </a:txBody>
                  <a:tcPr marL="109728" marR="91440" marT="45720" marB="36576" anchor="ctr">
                    <a:solidFill>
                      <a:srgbClr val="FFFFFF"/>
                    </a:solidFill>
                    <a:lnL>
                      <a:noFill/>
                    </a:lnL>
                    <a:lnR>
                      <a:noFill/>
                    </a:lnR>
                    <a:lnT>
                      <a:noFill/>
                    </a:lnT>
                    <a:lnB>
                      <a:noFill/>
                    </a:lnB>
                  </a:tcPr>
                </a:tc>
              </a:tr>
              <a:tr h="445770">
                <a:tc>
                  <a:txBody>
                    <a:bodyPr/>
                    <a:lstStyle/>
                    <a:p>
                      <a:pPr algn="l">
                        <a:lnSpc>
                          <a:spcPct val="103000"/>
                        </a:lnSpc>
                        <a:spcBef>
                          <a:spcPts val="0"/>
                        </a:spcBef>
                        <a:spcAft>
                          <a:spcPts val="0"/>
                        </a:spcAft>
                      </a:pPr>
                      <a:r>
                        <a:rPr sz="1400" b="0">
                          <a:solidFill>
                            <a:srgbClr val="00407A"/>
                          </a:solidFill>
                          <a:latin typeface="Arial"/>
                        </a:rPr>
                        <a:t>KEV-9B</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6.0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10.0</a:t>
                      </a:r>
                    </a:p>
                  </a:txBody>
                  <a:tcPr marL="109728" marR="91440" marT="45720" marB="36576" anchor="ctr">
                    <a:solidFill>
                      <a:srgbClr val="E3EFF5"/>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db029f08b290</a:t>
                      </a:r>
                    </a:p>
                  </a:txBody>
                  <a:tcPr marL="109728" marR="91440" marT="45720" marB="36576" anchor="ctr">
                    <a:solidFill>
                      <a:srgbClr val="E3EFF5"/>
                    </a:solidFill>
                    <a:lnL>
                      <a:noFill/>
                    </a:lnL>
                    <a:lnR>
                      <a:noFill/>
                    </a:lnR>
                    <a:lnT>
                      <a:noFill/>
                    </a:lnT>
                    <a:lnB>
                      <a:noFill/>
                    </a:lnB>
                  </a:tcPr>
                </a:tc>
              </a:tr>
              <a:tr h="445770">
                <a:tc>
                  <a:txBody>
                    <a:bodyPr/>
                    <a:lstStyle/>
                    <a:p>
                      <a:pPr algn="l">
                        <a:lnSpc>
                          <a:spcPct val="103000"/>
                        </a:lnSpc>
                        <a:spcBef>
                          <a:spcPts val="0"/>
                        </a:spcBef>
                        <a:spcAft>
                          <a:spcPts val="0"/>
                        </a:spcAft>
                      </a:pPr>
                      <a:r>
                        <a:rPr sz="1400" b="0">
                          <a:solidFill>
                            <a:srgbClr val="00407A"/>
                          </a:solidFill>
                          <a:latin typeface="Arial"/>
                        </a:rPr>
                        <a:t>KEV-27B</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7.0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11.0</a:t>
                      </a:r>
                    </a:p>
                  </a:txBody>
                  <a:tcPr marL="109728" marR="91440" marT="45720" marB="36576" anchor="ctr">
                    <a:solidFill>
                      <a:srgbClr val="FFFFFF"/>
                    </a:solidFill>
                    <a:lnL>
                      <a:noFill/>
                    </a:lnL>
                    <a:lnR>
                      <a:noFill/>
                    </a:lnR>
                    <a:lnT>
                      <a:noFill/>
                    </a:lnT>
                    <a:lnB>
                      <a:noFill/>
                    </a:lnB>
                  </a:tcPr>
                </a:tc>
                <a:tc>
                  <a:txBody>
                    <a:bodyPr/>
                    <a:lstStyle/>
                    <a:p>
                      <a:pPr algn="ctr">
                        <a:lnSpc>
                          <a:spcPct val="103000"/>
                        </a:lnSpc>
                        <a:spcBef>
                          <a:spcPts val="0"/>
                        </a:spcBef>
                        <a:spcAft>
                          <a:spcPts val="0"/>
                        </a:spcAft>
                      </a:pPr>
                      <a:r>
                        <a:rPr sz="1400" b="0">
                          <a:solidFill>
                            <a:srgbClr val="00407A"/>
                          </a:solidFill>
                          <a:latin typeface="Arial"/>
                        </a:rPr>
                        <a:t>af0e6d551bdc</a:t>
                      </a:r>
                    </a:p>
                  </a:txBody>
                  <a:tcPr marL="109728" marR="91440" marT="45720" marB="36576" anchor="ctr">
                    <a:solidFill>
                      <a:srgbClr val="FFFFFF"/>
                    </a:solidFill>
                    <a:lnL>
                      <a:noFill/>
                    </a:lnL>
                    <a:lnR>
                      <a:noFill/>
                    </a:lnR>
                    <a:lnT>
                      <a:noFill/>
                    </a:lnT>
                    <a:lnB>
                      <a:noFill/>
                    </a:lnB>
                  </a:tcPr>
                </a:tc>
              </a:tr>
            </a:tbl>
          </a:graphicData>
        </a:graphic>
      </p:graphicFrame>
      <p:sp>
        <p:nvSpPr>
          <p:cNvPr id="7" name="TextBox 6"/>
          <p:cNvSpPr txBox="1"/>
          <p:nvPr/>
        </p:nvSpPr>
        <p:spPr>
          <a:xfrm>
            <a:off x="960120" y="4251960"/>
            <a:ext cx="10149840" cy="365760"/>
          </a:xfrm>
          <a:prstGeom prst="rect">
            <a:avLst/>
          </a:prstGeom>
          <a:noFill/>
        </p:spPr>
        <p:txBody>
          <a:bodyPr wrap="square" lIns="0" rIns="0" tIns="0" bIns="0" anchor="t">
            <a:noAutofit/>
          </a:bodyPr>
          <a:lstStyle/>
          <a:p>
            <a:pPr algn="l">
              <a:lnSpc>
                <a:spcPct val="109000"/>
              </a:lnSpc>
              <a:spcBef>
                <a:spcPts val="0"/>
              </a:spcBef>
              <a:spcAft>
                <a:spcPts val="0"/>
              </a:spcAft>
            </a:pPr>
            <a:r>
              <a:rPr sz="2000" b="1">
                <a:solidFill>
                  <a:srgbClr val="00407A"/>
                </a:solidFill>
                <a:latin typeface="Arial"/>
              </a:rPr>
              <a:t>Inputs and evidence</a:t>
            </a:r>
          </a:p>
        </p:txBody>
      </p:sp>
      <p:sp>
        <p:nvSpPr>
          <p:cNvPr id="8" name="TextBox 7"/>
          <p:cNvSpPr txBox="1"/>
          <p:nvPr/>
        </p:nvSpPr>
        <p:spPr>
          <a:xfrm>
            <a:off x="960120" y="4709160"/>
            <a:ext cx="10149840" cy="914400"/>
          </a:xfrm>
          <a:prstGeom prst="rect">
            <a:avLst/>
          </a:prstGeom>
          <a:noFill/>
        </p:spPr>
        <p:txBody>
          <a:bodyPr wrap="square" lIns="0" rIns="0" tIns="0" bIns="0" anchor="t">
            <a:noAutofit/>
          </a:bodyPr>
          <a:lstStyle/>
          <a:p>
            <a:pPr algn="l">
              <a:lnSpc>
                <a:spcPct val="109000"/>
              </a:lnSpc>
              <a:spcBef>
                <a:spcPts val="0"/>
              </a:spcBef>
              <a:spcAft>
                <a:spcPts val="0"/>
              </a:spcAft>
            </a:pPr>
            <a:r>
              <a:rPr sz="1400" b="0">
                <a:solidFill>
                  <a:srgbClr val="00407A"/>
                </a:solidFill>
                <a:latin typeface="Arial"/>
              </a:rPr>
              <a:t>Questions: data/questions/dataset_v1.jsonl and dataset_v1_fewshot3.jsonl (harness/fewshot.py)</a:t>
            </a:r>
          </a:p>
          <a:p>
            <a:pPr algn="l">
              <a:lnSpc>
                <a:spcPct val="109000"/>
              </a:lnSpc>
              <a:spcBef>
                <a:spcPts val="0"/>
              </a:spcBef>
              <a:spcAft>
                <a:spcPts val="0"/>
              </a:spcAft>
            </a:pPr>
            <a:r>
              <a:rPr sz="1400" b="0">
                <a:solidFill>
                  <a:srgbClr val="00407A"/>
                </a:solidFill>
                <a:latin typeface="Arial"/>
              </a:rPr>
              <a:t>Answers, scores, manifests, and comparisons: results/kev/dataset_v1_&lt;model&gt;_2026101[45]/ and results/kev/dataset_v1_fewshot3_&lt;model&gt;_20261016/</a:t>
            </a:r>
          </a:p>
          <a:p>
            <a:pPr algn="l">
              <a:lnSpc>
                <a:spcPct val="109000"/>
              </a:lnSpc>
              <a:spcBef>
                <a:spcPts val="0"/>
              </a:spcBef>
              <a:spcAft>
                <a:spcPts val="0"/>
              </a:spcAft>
            </a:pPr>
            <a:r>
              <a:rPr sz="1400" b="0">
                <a:solidFill>
                  <a:srgbClr val="00407A"/>
                </a:solidFill>
                <a:latin typeface="Arial"/>
              </a:rPr>
              <a:t>Verified tables and the build: presentations/data/verified_metrics.json, verified_metrics_fewshot3.json, compare_fewshot3.csv; presentations/src/analyse_kev.py, build_kev_findings.py</a:t>
            </a:r>
          </a:p>
        </p:txBody>
      </p:sp>
    </p:spTree>
  </p:cSld>
  <p:clrMapOvr>
    <a:masterClrMapping/>
  </p:clrMapOvr>
</p:sld>
</file>

<file path=ppt/theme/theme1.xml><?xml version="1.0" encoding="utf-8"?>
<a:theme xmlns:a="http://schemas.openxmlformats.org/drawingml/2006/main" name="TinyTapeOut 2026: jullie feedback">
  <a:themeElements>
    <a:clrScheme name="TinyTapeOut 2026: jullie feedback">
      <a:dk1>
        <a:srgbClr val="00407A"/>
      </a:dk1>
      <a:lt1>
        <a:srgbClr val="F4F8FA"/>
      </a:lt1>
      <a:dk2>
        <a:srgbClr val="3D6E9A"/>
      </a:dk2>
      <a:lt2>
        <a:srgbClr val="DCE6ED"/>
      </a:lt2>
      <a:accent1>
        <a:srgbClr val="52BDEC"/>
      </a:accent1>
      <a:accent2>
        <a:srgbClr val="0B5A93"/>
      </a:accent2>
      <a:accent3>
        <a:srgbClr val="BFDDEC"/>
      </a:accent3>
      <a:accent4>
        <a:srgbClr val="1D8DB0"/>
      </a:accent4>
      <a:accent5>
        <a:srgbClr val="4A5A66"/>
      </a:accent5>
      <a:accent6>
        <a:srgbClr val="C8D3DA"/>
      </a:accent6>
      <a:hlink>
        <a:srgbClr val="0563C1"/>
      </a:hlink>
      <a:folHlink>
        <a:srgbClr val="954F72"/>
      </a:folHlink>
    </a:clrScheme>
    <a:fontScheme name="TinyTapeOut 2026: jullie feedbac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608</Words>
  <Application>Microsoft Office PowerPoint</Application>
  <PresentationFormat>Widescreen</PresentationFormat>
  <Paragraphs>96</Paragraphs>
  <Slides>7</Slides>
  <Notes>7</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7</vt:i4>
      </vt:variant>
    </vt:vector>
  </HeadingPairs>
  <TitlesOfParts>
    <vt:vector size="9" baseType="lpstr">
      <vt:lpstr>Arial</vt:lpstr>
      <vt:lpstr>TinyTapeOut 2026: jullie feedback</vt:lpstr>
      <vt:lpstr>Wat jullie ervan vonden</vt:lpstr>
      <vt:lpstr>De cijfers</vt:lpstr>
      <vt:lpstr>Jullie beste moment</vt:lpstr>
      <vt:lpstr>Waar jullie vastliepen</vt:lpstr>
      <vt:lpstr>Volgend jaar</vt:lpstr>
      <vt:lpstr>Jullie chips opmeten</vt:lpstr>
      <vt:lpstr>Bedankt!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KEV on RTL: what the four KEV sizes can tell about an RTL design</dc:title>
  <dc:subject>Dataset v1; KEV v1.0 0.8B, 4B, 9B, 27B; 725 test questions; without and with three solved examples</dc:subject>
  <dc:creator>JEV_RTL study</dc:creator>
  <cp:lastModifiedBy>Marian Verhelst</cp:lastModifiedBy>
  <cp:revision>1</cp:revision>
  <dcterms:created xsi:type="dcterms:W3CDTF">2026-10-14T20:01:21Z</dcterms:created>
  <dcterms:modified xsi:type="dcterms:W3CDTF">2026-10-14T20:04:01Z</dcterms:modified>
  <cp:keywords>RTL, KEV, synthesis, compilation, area, power, timing</cp:keywords>
</cp:coreProperties>
</file>